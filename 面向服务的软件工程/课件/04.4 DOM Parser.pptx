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5"/>
  </p:notesMasterIdLst>
  <p:sldIdLst>
    <p:sldId id="256" r:id="rId2"/>
    <p:sldId id="478" r:id="rId3"/>
    <p:sldId id="480" r:id="rId4"/>
    <p:sldId id="483" r:id="rId5"/>
    <p:sldId id="481" r:id="rId6"/>
    <p:sldId id="482" r:id="rId7"/>
    <p:sldId id="484" r:id="rId8"/>
    <p:sldId id="485" r:id="rId9"/>
    <p:sldId id="487" r:id="rId10"/>
    <p:sldId id="486" r:id="rId11"/>
    <p:sldId id="488" r:id="rId12"/>
    <p:sldId id="489" r:id="rId13"/>
    <p:sldId id="490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7" autoAdjust="0"/>
    <p:restoredTop sz="73973" autoAdjust="0"/>
  </p:normalViewPr>
  <p:slideViewPr>
    <p:cSldViewPr>
      <p:cViewPr varScale="1">
        <p:scale>
          <a:sx n="115" d="100"/>
          <a:sy n="115" d="100"/>
        </p:scale>
        <p:origin x="18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35970226-996F-460A-A6C6-4ACC405D54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E2F09020-462B-4B48-A06A-9574F0B2D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B0AA1D98-93C6-4BE4-9C5F-E7DABF457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562F71-1E6C-41EE-ACF8-7A616AE7BBE7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E6B6AA4A-C943-4791-977F-06D259787C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299EA4FA-B197-4E7E-833B-B4862E72D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2051D9FE-87D8-4A4C-B1C8-7BD791C1C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D7A626A-0774-4841-B9EA-E5FA3FBDB1B8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587943E5-4CDD-4777-83CB-DBD97E9E7E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71CE7DF3-78E4-4BDE-AE43-08A073B1C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ACCDC7CE-8436-4B88-9AAF-F92F78FE3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84E756C-B8CB-4D28-9243-D2D8D29F9235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A361C464-744D-4F3E-AC11-137C6BFFAA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42E6D981-22F7-4892-A64F-E08144F40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983702C2-1E96-49BD-B67B-CD0CCFB04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1B2216-7E50-45FD-9570-46E1934FEEBA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E7B161CA-9795-4B08-81B7-5268818F65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87729577-A4C0-42BE-920F-13AB64BF6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8830F345-CF9B-48DC-BCEC-3A4E97BC1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D568BD-8BDC-4932-BEF1-EAD87A8AC8CB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B017E934-2383-44A5-883E-4929D0C6FB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F40F48B2-87F3-44E1-835B-E5FF2A1F3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C041E544-B330-46FD-9051-96387CB62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5C4A94-CC30-4801-BE32-F105F361789B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A426FC4B-C455-404A-8EE3-BB50D3185A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F293C478-BFEA-4E9D-BF2B-B09FD432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50F3C14B-2DF5-4964-8451-53225862D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2C1C1B-9042-4A14-A419-C5C94966A1CD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28BCBE54-585C-4664-AC66-5BAC2FD327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CA288930-0C38-494E-BB4B-2C46699A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F66BDF15-574B-4C0E-A402-826404B79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B45137-69D6-472A-B9E6-88D41C0F8077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FF73209F-887F-4B3C-B5E3-91AC52A081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E4287399-2E54-4AC3-90E9-EA137D162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CB4125DA-3ED9-41F1-8768-3D26C9905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A8AE2B-F174-4376-AB93-B05CD133430A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9B9A8175-D843-4FDF-B750-D9854D2051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57D492BF-71C9-4A3F-A982-95FAD562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89246017-A5FC-4A54-8F5D-971347257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E1E08D-2A12-4D5C-B510-22DC8B807C6B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B04A4DAC-A7D1-4240-9C34-31B51E9CF6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D41A6995-1FDB-4E4E-91CD-038669472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8FED47B8-B513-4BC9-80CB-0BEABB0F3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C9E518-FE09-466D-9587-68A15D6D3981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34122D92-7CCF-4DEB-A5C1-FF0A5629C1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518F96C1-82F5-4DAC-8EAD-A7CB7D9C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C9ADA01C-3E08-4FD9-9FED-0E7C9395D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65827B-A575-4288-A93A-5D592B57BDC4}" type="slidenum">
              <a:rPr lang="en-US" altLang="zh-CN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sz="2800" dirty="0"/>
              <a:t>DOM Parser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4276D77F-AE2F-42EA-B9D8-44B7369A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DOM Basics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99D431-8A71-492E-81A7-B159EB57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800" dirty="0"/>
              <a:t>Document Object Model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cs typeface="+mn-cs"/>
              </a:rPr>
              <a:t>API that defines the objects present in an XML document and the methods and properties that are used to define them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800" dirty="0"/>
              <a:t>DOM parser reads and loads an entire XML document into memory as a tree structure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800" dirty="0"/>
              <a:t>DOM stresses an Object Model over a Data Model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cs typeface="+mn-cs"/>
              </a:rPr>
              <a:t>Objects protect their data using </a:t>
            </a:r>
            <a:r>
              <a:rPr lang="en-US" altLang="zh-CN" sz="2400" dirty="0" err="1">
                <a:cs typeface="+mn-cs"/>
              </a:rPr>
              <a:t>accessors</a:t>
            </a:r>
            <a:r>
              <a:rPr lang="en-US" altLang="zh-CN" sz="2400" dirty="0">
                <a:cs typeface="+mn-cs"/>
              </a:rPr>
              <a:t> methods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cs typeface="+mn-cs"/>
              </a:rPr>
              <a:t>Data models are centered around the data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800" dirty="0"/>
              <a:t>Every object in the DOM API is considered a node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cs typeface="+mn-cs"/>
              </a:rPr>
              <a:t>Data is encapsulated within the node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cs typeface="+mn-cs"/>
              </a:rPr>
              <a:t>Special node subtypes for each data type</a:t>
            </a:r>
            <a:endParaRPr lang="zh-CN" altLang="en-US" sz="2400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012F7BF2-B35C-4E71-AEFA-6A984F02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B15F99A-5AEA-467F-AB81-D60E5F8B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en-US" altLang="zh-CN"/>
              <a:t>DOM Processing Overview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6EA2F-1CD5-4463-B41C-E6AE36236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3138487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Basic DOM Processing Flow</a:t>
            </a:r>
          </a:p>
          <a:p>
            <a:pPr lvl="1"/>
            <a:r>
              <a:rPr lang="en-US" altLang="zh-CN" sz="2000" dirty="0"/>
              <a:t>1. Application creates a DOM Parser</a:t>
            </a:r>
          </a:p>
          <a:p>
            <a:pPr lvl="1"/>
            <a:r>
              <a:rPr lang="en-US" altLang="zh-CN" sz="2000" dirty="0"/>
              <a:t>2. Parser reads in XML and any vocabulary</a:t>
            </a:r>
          </a:p>
          <a:p>
            <a:pPr lvl="1"/>
            <a:r>
              <a:rPr lang="en-US" altLang="zh-CN" sz="2000" dirty="0"/>
              <a:t>3. Parser returns any errors to the application</a:t>
            </a:r>
          </a:p>
          <a:p>
            <a:pPr lvl="1"/>
            <a:r>
              <a:rPr lang="en-US" altLang="zh-CN" sz="2000" dirty="0"/>
              <a:t>4. Parser generates a DOM Tree</a:t>
            </a:r>
          </a:p>
          <a:p>
            <a:pPr lvl="1"/>
            <a:r>
              <a:rPr lang="en-US" altLang="zh-CN" sz="2000" dirty="0"/>
              <a:t>5. Application can read, write, or update the DOM Tree</a:t>
            </a:r>
          </a:p>
          <a:p>
            <a:pPr lvl="1"/>
            <a:r>
              <a:rPr lang="en-US" altLang="zh-CN" sz="2000" dirty="0"/>
              <a:t>6. Application writes final XML to output</a:t>
            </a:r>
            <a:endParaRPr lang="zh-CN" altLang="en-US" sz="2000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3E89546D-D76D-4275-92EC-C23E51BC65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000"/>
          </a:p>
        </p:txBody>
      </p:sp>
      <p:pic>
        <p:nvPicPr>
          <p:cNvPr id="8197" name="Picture 2">
            <a:extLst>
              <a:ext uri="{FF2B5EF4-FFF2-40B4-BE49-F238E27FC236}">
                <a16:creationId xmlns:a16="http://schemas.microsoft.com/office/drawing/2014/main" id="{912CD4B4-3FD9-4FA6-9842-954798EEA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267200"/>
            <a:ext cx="60198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4369E0F7-4CF3-4A41-95A1-6CE39B44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DOM Abstract Tree Model</a:t>
            </a:r>
            <a:endParaRPr lang="zh-CN" altLang="en-US"/>
          </a:p>
        </p:txBody>
      </p:sp>
      <p:sp>
        <p:nvSpPr>
          <p:cNvPr id="10243" name="灯片编号占位符 3">
            <a:extLst>
              <a:ext uri="{FF2B5EF4-FFF2-40B4-BE49-F238E27FC236}">
                <a16:creationId xmlns:a16="http://schemas.microsoft.com/office/drawing/2014/main" id="{D20615DF-F1CB-4924-A0BD-08BF01A8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000"/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DF5559B0-3839-462D-9CDA-9C0782DE8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7" y="1447800"/>
            <a:ext cx="66262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04BDA8E2-D265-4E68-ABB4-E2287547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Real DOM Tree Structure</a:t>
            </a:r>
            <a:endParaRPr lang="zh-CN" altLang="en-US"/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64594C21-62A6-4CF8-9F45-6D20F6F9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000"/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E7C3A53E-8F93-424E-9B04-29683AD46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9725"/>
            <a:ext cx="66294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98B0B-BE6F-44DB-B51B-41F1348A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Node Contents and Values for DOM Tree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3D76D-F2E5-4E28-8AD7-2A9A4047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1157287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Each node in a DOM tree contains attributes describing names, values, and parent/child/sibling relationships</a:t>
            </a:r>
            <a:endParaRPr lang="zh-CN" altLang="en-US" sz="2400" dirty="0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15032512-1DB4-4089-B38C-04C787F7EE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000"/>
          </a:p>
        </p:txBody>
      </p:sp>
      <p:pic>
        <p:nvPicPr>
          <p:cNvPr id="14341" name="Picture 2">
            <a:extLst>
              <a:ext uri="{FF2B5EF4-FFF2-40B4-BE49-F238E27FC236}">
                <a16:creationId xmlns:a16="http://schemas.microsoft.com/office/drawing/2014/main" id="{699169B5-5663-4D6D-9FEE-41A81DCCE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184400"/>
            <a:ext cx="66294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A2FF688B-5A80-4CCF-8133-5EB98243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Node Interface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D976D-AB9D-46FA-ADDC-B86E5E0BE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Everything is a node in the DOM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Contains attributes and method for determining: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Node name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Type of node (element, text, attribute, and so forth)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Relationships (parent, siblings, children)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Has methods for modifying structure: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Adding children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Replacing children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Deleting children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The top-level node is called the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DocumentElement</a:t>
            </a:r>
            <a:r>
              <a:rPr lang="en-US" altLang="zh-CN" dirty="0"/>
              <a:t> Node: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Represents the entire document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Only a single element child node is allowed ("root")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May have other children nodes (comments, PIs, and so forth)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A </a:t>
            </a:r>
            <a:r>
              <a:rPr lang="en-US" altLang="zh-CN" b="1" dirty="0"/>
              <a:t>Node Interface </a:t>
            </a:r>
            <a:r>
              <a:rPr lang="en-US" altLang="zh-CN" dirty="0"/>
              <a:t>Model is used to access the individual elements in the node tree</a:t>
            </a:r>
            <a:endParaRPr lang="zh-CN" altLang="en-US" dirty="0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0754B901-AB36-4F3F-B1DE-E1DEFE89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7EC713AF-ED2F-455E-9A23-DD937773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Node Types</a:t>
            </a:r>
            <a:endParaRPr lang="zh-CN" altLang="en-US"/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0E5C5270-FA85-420E-9D88-0AA1A09FD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43858"/>
            <a:ext cx="8229600" cy="3138263"/>
          </a:xfrm>
        </p:spPr>
        <p:txBody>
          <a:bodyPr/>
          <a:lstStyle/>
          <a:p>
            <a:r>
              <a:rPr lang="en-US" altLang="zh-CN" sz="2000" dirty="0"/>
              <a:t>The following are some common node types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And some less common node types</a:t>
            </a:r>
            <a:endParaRPr lang="zh-CN" altLang="en-US" sz="2000" dirty="0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2AD1F068-46E7-461C-A9E9-037B570D37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000"/>
          </a:p>
        </p:txBody>
      </p:sp>
      <p:pic>
        <p:nvPicPr>
          <p:cNvPr id="18437" name="Picture 3">
            <a:extLst>
              <a:ext uri="{FF2B5EF4-FFF2-40B4-BE49-F238E27FC236}">
                <a16:creationId xmlns:a16="http://schemas.microsoft.com/office/drawing/2014/main" id="{B8DDB340-B13C-47C7-B7C3-82560EA72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42352"/>
            <a:ext cx="63246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5">
            <a:extLst>
              <a:ext uri="{FF2B5EF4-FFF2-40B4-BE49-F238E27FC236}">
                <a16:creationId xmlns:a16="http://schemas.microsoft.com/office/drawing/2014/main" id="{8B130B7E-985D-4630-9F5A-BB90F7A1A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4251373"/>
            <a:ext cx="6121400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6298E5D9-32DF-4333-B4D1-176DE5A9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DOM Application Structure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5C193-3FFB-42E5-B44C-862A85D47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Parser creation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Define factory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Configure parser settings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Create parser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Parse document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Dealing with parsing errors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Exceptions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SAX-style error handling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Navigating the document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Traversing document tree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Processing the document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Modifying contents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Modifying structure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cs typeface="+mn-cs"/>
              </a:rPr>
              <a:t>Moving nodes</a:t>
            </a:r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D75080A2-A918-4CA8-8499-384C013F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DDAEC0D6-A483-4D1E-BA8D-96D9381D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Parser Creation: Four Steps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8A32D-E763-46E1-A6E6-C7947EF42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sz="1800" dirty="0"/>
              <a:t>Step 1: Create new instance of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DocumentBuilderFactory</a:t>
            </a:r>
            <a:endParaRPr lang="en-US" altLang="zh-CN" sz="1800" dirty="0"/>
          </a:p>
          <a:p>
            <a:pPr lvl="1">
              <a:defRPr/>
            </a:pPr>
            <a:r>
              <a:rPr lang="en-US" altLang="zh-CN" sz="1600" dirty="0"/>
              <a:t>JAXP dynamically locates the real DOM implementation</a:t>
            </a:r>
          </a:p>
          <a:p>
            <a:pPr lvl="1">
              <a:defRPr/>
            </a:pPr>
            <a:r>
              <a:rPr lang="en-US" altLang="zh-CN" sz="1600" dirty="0"/>
              <a:t>Application doesn't care what DOM parser is used</a:t>
            </a:r>
          </a:p>
          <a:p>
            <a:pPr lvl="1">
              <a:defRPr/>
            </a:pPr>
            <a:endParaRPr lang="en-US" altLang="zh-CN" sz="1600" dirty="0"/>
          </a:p>
          <a:p>
            <a:pPr>
              <a:defRPr/>
            </a:pPr>
            <a:endParaRPr lang="en-US" altLang="zh-CN" sz="1600" dirty="0"/>
          </a:p>
          <a:p>
            <a:pPr>
              <a:defRPr/>
            </a:pPr>
            <a:r>
              <a:rPr lang="en-US" altLang="zh-CN" sz="1800" dirty="0"/>
              <a:t>Step 2: Set any desired parsing options</a:t>
            </a:r>
          </a:p>
          <a:p>
            <a:pPr lvl="1">
              <a:defRPr/>
            </a:pPr>
            <a:r>
              <a:rPr lang="en-US" altLang="zh-CN" sz="1600" dirty="0">
                <a:cs typeface="+mn-cs"/>
              </a:rPr>
              <a:t>Some behaviors of the parser can be altered</a:t>
            </a:r>
          </a:p>
          <a:p>
            <a:pPr lvl="1">
              <a:defRPr/>
            </a:pPr>
            <a:r>
              <a:rPr lang="en-US" altLang="zh-CN" sz="1600" dirty="0">
                <a:cs typeface="+mn-cs"/>
              </a:rPr>
              <a:t>All available features and properties are shown later</a:t>
            </a:r>
          </a:p>
          <a:p>
            <a:pPr lvl="1">
              <a:defRPr/>
            </a:pPr>
            <a:endParaRPr lang="en-US" altLang="zh-CN" sz="1600" dirty="0">
              <a:cs typeface="+mn-cs"/>
            </a:endParaRPr>
          </a:p>
          <a:p>
            <a:pPr lvl="1">
              <a:defRPr/>
            </a:pPr>
            <a:endParaRPr lang="en-US" altLang="zh-CN" sz="1600" dirty="0">
              <a:cs typeface="+mn-cs"/>
            </a:endParaRPr>
          </a:p>
          <a:p>
            <a:pPr>
              <a:defRPr/>
            </a:pPr>
            <a:r>
              <a:rPr lang="en-US" altLang="zh-CN" sz="1800" dirty="0"/>
              <a:t>Step 3: Create a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</a:t>
            </a:r>
            <a:r>
              <a:rPr lang="en-US" altLang="zh-CN" sz="1800" dirty="0"/>
              <a:t> from the factory</a:t>
            </a:r>
          </a:p>
          <a:p>
            <a:pPr lvl="1">
              <a:defRPr/>
            </a:pPr>
            <a:r>
              <a:rPr lang="en-US" altLang="zh-CN" sz="1600" dirty="0">
                <a:cs typeface="+mn-cs"/>
              </a:rPr>
              <a:t>Multiple parsers can be generated from a single factory</a:t>
            </a:r>
          </a:p>
          <a:p>
            <a:pPr lvl="1">
              <a:defRPr/>
            </a:pPr>
            <a:endParaRPr lang="en-US" altLang="zh-CN" sz="1600" dirty="0">
              <a:cs typeface="+mn-cs"/>
            </a:endParaRPr>
          </a:p>
          <a:p>
            <a:pPr lvl="1">
              <a:defRPr/>
            </a:pPr>
            <a:endParaRPr lang="en-US" altLang="zh-CN" sz="1600" dirty="0">
              <a:cs typeface="+mn-cs"/>
            </a:endParaRPr>
          </a:p>
          <a:p>
            <a:pPr>
              <a:defRPr/>
            </a:pPr>
            <a:r>
              <a:rPr lang="en-US" altLang="zh-CN" sz="1800" dirty="0"/>
              <a:t>Step 4: Parse the XML file and obtain the Document</a:t>
            </a:r>
          </a:p>
          <a:p>
            <a:pPr lvl="1">
              <a:defRPr/>
            </a:pPr>
            <a:r>
              <a:rPr lang="en-US" altLang="zh-CN" sz="1600" dirty="0">
                <a:cs typeface="+mn-cs"/>
              </a:rPr>
              <a:t>The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parse() </a:t>
            </a:r>
            <a:r>
              <a:rPr lang="en-US" altLang="zh-CN" sz="1600" dirty="0">
                <a:cs typeface="+mn-cs"/>
              </a:rPr>
              <a:t>method does it all in one call</a:t>
            </a:r>
            <a:endParaRPr lang="zh-CN" altLang="en-US" sz="1600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C28D2EA9-2864-4769-9BC7-C525C4CA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000"/>
          </a:p>
        </p:txBody>
      </p:sp>
      <p:pic>
        <p:nvPicPr>
          <p:cNvPr id="22533" name="Picture 3">
            <a:extLst>
              <a:ext uri="{FF2B5EF4-FFF2-40B4-BE49-F238E27FC236}">
                <a16:creationId xmlns:a16="http://schemas.microsoft.com/office/drawing/2014/main" id="{DD4966E7-1BA3-4496-94D4-43127212C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6" y="2209800"/>
            <a:ext cx="5410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>
            <a:extLst>
              <a:ext uri="{FF2B5EF4-FFF2-40B4-BE49-F238E27FC236}">
                <a16:creationId xmlns:a16="http://schemas.microsoft.com/office/drawing/2014/main" id="{FC33213F-A4E3-4035-9993-0E6CA5DC3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07" y="3770882"/>
            <a:ext cx="57150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5">
            <a:extLst>
              <a:ext uri="{FF2B5EF4-FFF2-40B4-BE49-F238E27FC236}">
                <a16:creationId xmlns:a16="http://schemas.microsoft.com/office/drawing/2014/main" id="{9002ACD7-73E6-40CF-8348-894B42B7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6" y="5029200"/>
            <a:ext cx="7086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6">
            <a:extLst>
              <a:ext uri="{FF2B5EF4-FFF2-40B4-BE49-F238E27FC236}">
                <a16:creationId xmlns:a16="http://schemas.microsoft.com/office/drawing/2014/main" id="{A8BC8350-DA42-4627-BD0C-F6750DB98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59" y="6154739"/>
            <a:ext cx="64008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8E8472C2-51AF-4259-9502-2801CE0E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Setting DOM Options</a:t>
            </a:r>
            <a:endParaRPr lang="zh-CN" altLang="en-US"/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46AE255F-C625-402E-82AA-9B459615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685800"/>
          </a:xfrm>
        </p:spPr>
        <p:txBody>
          <a:bodyPr/>
          <a:lstStyle/>
          <a:p>
            <a:r>
              <a:rPr lang="en-US" altLang="zh-CN" sz="2000" dirty="0"/>
              <a:t>Option settings are made to the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DocumentBuilderFactory</a:t>
            </a:r>
            <a:r>
              <a:rPr lang="en-US" altLang="zh-CN" sz="2000" dirty="0"/>
              <a:t> class prior to generating an implementing parser</a:t>
            </a:r>
            <a:endParaRPr lang="zh-CN" altLang="en-US" sz="2000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8931C505-A5C9-4FA1-B456-9F3251E1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000"/>
          </a:p>
        </p:txBody>
      </p:sp>
      <p:pic>
        <p:nvPicPr>
          <p:cNvPr id="24581" name="Picture 2">
            <a:extLst>
              <a:ext uri="{FF2B5EF4-FFF2-40B4-BE49-F238E27FC236}">
                <a16:creationId xmlns:a16="http://schemas.microsoft.com/office/drawing/2014/main" id="{1B1D51AA-6A4B-4B68-9476-E62EEAF15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2286000"/>
            <a:ext cx="63531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E7B277A6-93E9-40FE-877F-DEA0CE48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Exception Handling during Parsing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266F4-EDDB-4EFE-9CC7-3587938DD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CN" sz="2800" dirty="0"/>
              <a:t>Many things can go wrong when parsing a document</a:t>
            </a:r>
          </a:p>
          <a:p>
            <a:pPr>
              <a:defRPr/>
            </a:pPr>
            <a:r>
              <a:rPr lang="en-US" altLang="zh-CN" sz="2800" dirty="0"/>
              <a:t>Common exceptions that can be thrown are:</a:t>
            </a:r>
          </a:p>
          <a:p>
            <a:pPr lvl="1">
              <a:defRPr/>
            </a:pPr>
            <a:r>
              <a:rPr lang="en-US" altLang="zh-CN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javax.xml.parsers.ParserConfigurationException</a:t>
            </a:r>
            <a:endParaRPr lang="en-US" altLang="zh-C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defRPr/>
            </a:pPr>
            <a:r>
              <a:rPr lang="en-US" altLang="zh-CN" sz="1900" dirty="0">
                <a:cs typeface="+mn-cs"/>
              </a:rPr>
              <a:t>Thrown when set to a bad configuration</a:t>
            </a:r>
          </a:p>
          <a:p>
            <a:pPr lvl="1">
              <a:defRPr/>
            </a:pPr>
            <a:r>
              <a:rPr lang="en-US" altLang="zh-CN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java.lang.IllegalArgumentException</a:t>
            </a:r>
            <a:endParaRPr lang="en-US" altLang="zh-C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defRPr/>
            </a:pPr>
            <a:r>
              <a:rPr lang="en-US" altLang="zh-CN" sz="1900" dirty="0">
                <a:cs typeface="+mn-cs"/>
              </a:rPr>
              <a:t>Thrown when bad arguments passed</a:t>
            </a:r>
          </a:p>
          <a:p>
            <a:pPr lvl="1">
              <a:defRPr/>
            </a:pPr>
            <a:r>
              <a:rPr lang="en-US" altLang="zh-CN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java.io.IOException</a:t>
            </a:r>
            <a:endParaRPr lang="en-US" altLang="zh-C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defRPr/>
            </a:pPr>
            <a:r>
              <a:rPr lang="en-US" altLang="zh-CN" sz="1900" dirty="0">
                <a:cs typeface="+mn-cs"/>
              </a:rPr>
              <a:t>Thrown when XML source cannot be opened</a:t>
            </a:r>
          </a:p>
          <a:p>
            <a:pPr lvl="1">
              <a:defRPr/>
            </a:pPr>
            <a:r>
              <a:rPr lang="en-US" altLang="zh-CN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org.xml.sax.SAXException</a:t>
            </a:r>
            <a:endParaRPr lang="en-US" altLang="zh-C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defRPr/>
            </a:pPr>
            <a:r>
              <a:rPr lang="en-US" altLang="zh-CN" sz="1900" dirty="0">
                <a:cs typeface="+mn-cs"/>
              </a:rPr>
              <a:t>Thrown when XML contains errors</a:t>
            </a:r>
          </a:p>
          <a:p>
            <a:pPr>
              <a:defRPr/>
            </a:pPr>
            <a:r>
              <a:rPr lang="en-US" altLang="zh-CN" sz="2800" dirty="0"/>
              <a:t>A SAX style error handler can be supplied to the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DocumentBuilder</a:t>
            </a:r>
            <a:r>
              <a:rPr lang="en-US" altLang="zh-CN" sz="2800" dirty="0"/>
              <a:t> using the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setErrorHandler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zh-CN" sz="2800" dirty="0"/>
              <a:t>method</a:t>
            </a:r>
            <a:endParaRPr lang="zh-CN" altLang="en-US" sz="2800" dirty="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FAF8234-80D9-4FEE-80F4-C94EB29B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8956626B-8E32-41D5-9D36-E65D764F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en-US" altLang="zh-CN"/>
              <a:t>Navigating the Document Tree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2DB3C-F735-4332-A250-0584B346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2681287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Once a document is obtained from the parser, it is available for processing</a:t>
            </a:r>
          </a:p>
          <a:p>
            <a:pPr lvl="1"/>
            <a:r>
              <a:rPr lang="en-US" altLang="zh-CN" dirty="0"/>
              <a:t>Begin at the root element node</a:t>
            </a:r>
          </a:p>
          <a:p>
            <a:pPr lvl="1"/>
            <a:r>
              <a:rPr lang="en-US" altLang="zh-CN" dirty="0"/>
              <a:t>Recursively walk through the tree</a:t>
            </a:r>
          </a:p>
          <a:p>
            <a:r>
              <a:rPr lang="en-US" altLang="zh-CN" dirty="0"/>
              <a:t>Every node has getter methods to its relatives</a:t>
            </a:r>
          </a:p>
          <a:p>
            <a:pPr lvl="1"/>
            <a:r>
              <a:rPr lang="en-US" altLang="zh-CN" dirty="0"/>
              <a:t>Document, Parent, Children, Siblings</a:t>
            </a:r>
            <a:endParaRPr lang="zh-CN" altLang="en-US" dirty="0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B8E525C0-F3E7-4FDE-9AC7-6D67C6CF65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1F6A43-170D-45B7-83F8-7E610B7F8C42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000"/>
          </a:p>
        </p:txBody>
      </p:sp>
      <p:pic>
        <p:nvPicPr>
          <p:cNvPr id="28677" name="Picture 2">
            <a:extLst>
              <a:ext uri="{FF2B5EF4-FFF2-40B4-BE49-F238E27FC236}">
                <a16:creationId xmlns:a16="http://schemas.microsoft.com/office/drawing/2014/main" id="{4526B17D-833E-4469-97E6-0939B55CB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0"/>
            <a:ext cx="7381875" cy="249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4516</TotalTime>
  <Words>613</Words>
  <Application>Microsoft Office PowerPoint</Application>
  <PresentationFormat>全屏显示(4:3)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Verdana</vt:lpstr>
      <vt:lpstr>Wingdings</vt:lpstr>
      <vt:lpstr>software</vt:lpstr>
      <vt:lpstr>DOM Parser Service-Oriented Software Engineering</vt:lpstr>
      <vt:lpstr>DOM Basics</vt:lpstr>
      <vt:lpstr>DOM Processing Overview</vt:lpstr>
      <vt:lpstr>DOM Abstract Tree Model</vt:lpstr>
      <vt:lpstr>Real DOM Tree Structure</vt:lpstr>
      <vt:lpstr>Node Contents and Values for DOM Tree</vt:lpstr>
      <vt:lpstr>Node Interface</vt:lpstr>
      <vt:lpstr>Node Types</vt:lpstr>
      <vt:lpstr>DOM Application Structure</vt:lpstr>
      <vt:lpstr>Parser Creation: Four Steps</vt:lpstr>
      <vt:lpstr>Setting DOM Options</vt:lpstr>
      <vt:lpstr>Exception Handling during Parsing</vt:lpstr>
      <vt:lpstr>Navigating the Document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142</cp:revision>
  <cp:lastPrinted>1601-01-01T00:00:00Z</cp:lastPrinted>
  <dcterms:created xsi:type="dcterms:W3CDTF">1601-01-01T00:00:00Z</dcterms:created>
  <dcterms:modified xsi:type="dcterms:W3CDTF">2023-10-12T03:03:03Z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