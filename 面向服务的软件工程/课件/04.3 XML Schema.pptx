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36"/>
  </p:notesMasterIdLst>
  <p:sldIdLst>
    <p:sldId id="256" r:id="rId2"/>
    <p:sldId id="357" r:id="rId3"/>
    <p:sldId id="358" r:id="rId4"/>
    <p:sldId id="360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382" r:id="rId27"/>
    <p:sldId id="383" r:id="rId28"/>
    <p:sldId id="384" r:id="rId29"/>
    <p:sldId id="385" r:id="rId30"/>
    <p:sldId id="386" r:id="rId31"/>
    <p:sldId id="387" r:id="rId32"/>
    <p:sldId id="388" r:id="rId33"/>
    <p:sldId id="389" r:id="rId34"/>
    <p:sldId id="394" r:id="rId3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993300"/>
    <a:srgbClr val="00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87" autoAdjust="0"/>
    <p:restoredTop sz="73973" autoAdjust="0"/>
  </p:normalViewPr>
  <p:slideViewPr>
    <p:cSldViewPr>
      <p:cViewPr varScale="1">
        <p:scale>
          <a:sx n="71" d="100"/>
          <a:sy n="71" d="100"/>
        </p:scale>
        <p:origin x="651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868D0D-C398-4CF8-83A5-18BAC79F81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236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00FA0C8-3306-4722-B4E6-46F822739A9A}" type="slidenum">
              <a:rPr lang="en-US" altLang="zh-CN" smtClean="0"/>
              <a:pPr eaLnBrk="1" hangingPunct="1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38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13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5C32682-ABAF-4D98-8C9F-9F68FB93E5C8}" type="slidenum">
              <a:rPr lang="en-US" altLang="zh-CN" smtClean="0"/>
              <a:pPr eaLnBrk="1" hangingPunct="1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2586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470B583-1990-4F20-A81F-83EB0B644D27}" type="slidenum">
              <a:rPr lang="en-US" altLang="zh-CN" smtClean="0"/>
              <a:pPr eaLnBrk="1" hangingPunct="1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380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5A4C9F4-0E3A-4A71-8E70-2E207E6E1054}" type="slidenum">
              <a:rPr lang="en-US" altLang="zh-CN" smtClean="0"/>
              <a:pPr eaLnBrk="1" hangingPunct="1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6407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8381C92-B5CF-4467-B55F-E8C28E58DDD1}" type="slidenum">
              <a:rPr lang="en-US" altLang="zh-CN" smtClean="0"/>
              <a:pPr eaLnBrk="1" hangingPunct="1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9399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549D4E2-00F0-4747-B19B-6A1E4BC43E12}" type="slidenum">
              <a:rPr lang="en-US" altLang="zh-CN" smtClean="0"/>
              <a:pPr eaLnBrk="1" hangingPunct="1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7167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965A908-C30F-4F03-99EF-39460321347D}" type="slidenum">
              <a:rPr lang="en-US" altLang="zh-CN" smtClean="0"/>
              <a:pPr eaLnBrk="1" hangingPunct="1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1931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74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ECE787D-9D93-4E1B-8F27-958E3D02A003}" type="slidenum">
              <a:rPr lang="en-US" altLang="zh-CN" smtClean="0"/>
              <a:pPr eaLnBrk="1" hangingPunct="1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012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DEAB505-1DF2-4770-A711-563BA4AE7CD0}" type="slidenum">
              <a:rPr lang="en-US" altLang="zh-CN" smtClean="0"/>
              <a:pPr eaLnBrk="1" hangingPunct="1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7131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95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EF304AC-6263-4FC1-BE64-7077B587EF9F}" type="slidenum">
              <a:rPr lang="en-US" altLang="zh-CN" smtClean="0"/>
              <a:pPr eaLnBrk="1" hangingPunct="1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4191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05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47B3EC8-7DEB-44C8-9B14-0BA8787EF242}" type="slidenum">
              <a:rPr lang="en-US" altLang="zh-CN" smtClean="0"/>
              <a:pPr eaLnBrk="1" hangingPunct="1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3868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15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FE0EDB2-46A6-4632-98CC-B417C8EA1AF6}" type="slidenum">
              <a:rPr lang="en-US" altLang="zh-CN" smtClean="0"/>
              <a:pPr eaLnBrk="1" hangingPunct="1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8297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25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5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6C6E756-A358-4DB3-B017-F79E6FDBB5F9}" type="slidenum">
              <a:rPr lang="en-US" altLang="zh-CN" smtClean="0"/>
              <a:pPr eaLnBrk="1" hangingPunct="1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4425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D851268-9929-4309-B4B0-85EA8BB11BE5}" type="slidenum">
              <a:rPr lang="en-US" altLang="zh-CN" smtClean="0"/>
              <a:pPr eaLnBrk="1" hangingPunct="1"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1438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46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AE91920-E329-4FE0-8A97-1393315979B5}" type="slidenum">
              <a:rPr lang="en-US" altLang="zh-CN" smtClean="0"/>
              <a:pPr eaLnBrk="1" hangingPunct="1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65504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56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7D7159F-EA9F-47C1-8B5A-95604EFE560F}" type="slidenum">
              <a:rPr lang="en-US" altLang="zh-CN" smtClean="0"/>
              <a:pPr eaLnBrk="1" hangingPunct="1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01281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66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34BF452-CC73-47E4-AEEA-AAD5A07F6D95}" type="slidenum">
              <a:rPr lang="en-US" altLang="zh-CN" smtClean="0"/>
              <a:pPr eaLnBrk="1" hangingPunct="1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7791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769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7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BE96066-0CC8-409F-8377-04DF6D27DF81}" type="slidenum">
              <a:rPr lang="en-US" altLang="zh-CN" smtClean="0"/>
              <a:pPr eaLnBrk="1" hangingPunct="1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290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87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8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610C63C-3EA0-4134-BB52-972B039B4BBE}" type="slidenum">
              <a:rPr lang="en-US" altLang="zh-CN" smtClean="0"/>
              <a:pPr eaLnBrk="1" hangingPunct="1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2803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97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7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926CA91-B799-4730-B933-E3ECDB312CEA}" type="slidenum">
              <a:rPr lang="en-US" altLang="zh-CN" smtClean="0"/>
              <a:pPr eaLnBrk="1" hangingPunct="1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06388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07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8A9224F-FD19-409D-ABAA-7B47FB9E9360}" type="slidenum">
              <a:rPr lang="en-US" altLang="zh-CN" smtClean="0"/>
              <a:pPr eaLnBrk="1" hangingPunct="1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03670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17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1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3AEAA74-B62C-43E0-A287-2E9522CE75F1}" type="slidenum">
              <a:rPr lang="en-US" altLang="zh-CN" smtClean="0"/>
              <a:pPr eaLnBrk="1" hangingPunct="1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76193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28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28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5E66E3F-178C-4779-998D-FDFEE5C5C8FE}" type="slidenum">
              <a:rPr lang="en-US" altLang="zh-CN" smtClean="0"/>
              <a:pPr eaLnBrk="1" hangingPunct="1"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40271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0D5B0F6-627A-4F21-8356-CD8949FC8C7E}" type="slidenum">
              <a:rPr lang="en-US" altLang="zh-CN" smtClean="0"/>
              <a:pPr eaLnBrk="1" hangingPunct="1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34641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48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30B4F5C-2DD8-49F0-BEE7-71C9210C9772}" type="slidenum">
              <a:rPr lang="en-US" altLang="zh-CN" smtClean="0"/>
              <a:pPr eaLnBrk="1" hangingPunct="1"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8065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58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8F5B16F-6DED-4A83-88E6-845191D436CD}" type="slidenum">
              <a:rPr lang="en-US" altLang="zh-CN" smtClean="0"/>
              <a:pPr eaLnBrk="1" hangingPunct="1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11814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69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69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BEA9BDD-5111-4959-8D8E-88B05F1DA82A}" type="slidenum">
              <a:rPr lang="en-US" altLang="zh-CN" smtClean="0"/>
              <a:pPr eaLnBrk="1" hangingPunct="1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49810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79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7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4401125-FE3B-4518-9E05-00ACDA73D91F}" type="slidenum">
              <a:rPr lang="en-US" altLang="zh-CN" smtClean="0"/>
              <a:pPr eaLnBrk="1" hangingPunct="1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5490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89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89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6DFDD8E-2AEE-4E27-9658-66C5372A738F}" type="slidenum">
              <a:rPr lang="en-US" altLang="zh-CN" smtClean="0"/>
              <a:pPr eaLnBrk="1" hangingPunct="1"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77553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99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4EB860A-0506-42A1-BA46-9BBE689DBE26}" type="slidenum">
              <a:rPr lang="en-US" altLang="zh-CN" smtClean="0"/>
              <a:pPr eaLnBrk="1" hangingPunct="1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42415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10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21CCD8C-D63B-46A7-8F7F-A75F7A9E3F1B}" type="slidenum">
              <a:rPr lang="en-US" altLang="zh-CN" smtClean="0"/>
              <a:pPr eaLnBrk="1" hangingPunct="1"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55313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203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9AC5B5B-98DF-4E08-B227-7241B74BF7EA}" type="slidenum">
              <a:rPr lang="en-US" altLang="zh-CN" smtClean="0"/>
              <a:pPr eaLnBrk="1" hangingPunct="1"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35170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30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0F68881-0880-4966-8E4A-0D5CC8A8F07B}" type="slidenum">
              <a:rPr lang="en-US" altLang="zh-CN" smtClean="0"/>
              <a:pPr eaLnBrk="1" hangingPunct="1"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87923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81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8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5F87991-B496-4BCE-8B26-7C1F4CEE965D}" type="slidenum">
              <a:rPr lang="en-US" altLang="zh-CN" smtClean="0"/>
              <a:pPr eaLnBrk="1" hangingPunct="1"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7403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" y="-2853"/>
            <a:ext cx="9144000" cy="537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gray">
          <a:xfrm>
            <a:off x="0" y="5301209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07" y="188640"/>
            <a:ext cx="3163002" cy="7222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CE098-78E7-4D6F-B667-DB0097CCC90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515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5E50B-A953-4918-8716-CAAF4E2659D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94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8620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07FA1-9437-4596-B349-759BEDB2AF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13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07C14-B184-494D-9559-B33678D3E7A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117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E635C-509A-4F47-9595-DC813BD463B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891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DF462-01D9-4967-AECA-CEAD27BF24C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39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C1A58-EAD4-4532-B494-3341F8C2482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83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E78A78-8E68-48C0-A96D-456AAB403E7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53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9776E-7930-43E7-867B-C25687EF30E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73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3505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858121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737"/>
            <a:ext cx="8229600" cy="5348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453336"/>
            <a:ext cx="1578826" cy="3604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Software Institute</a:t>
            </a:r>
          </a:p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Nanjing University</a:t>
            </a:r>
          </a:p>
          <a:p>
            <a:pPr lvl="0"/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Bei</a:t>
            </a:r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Jia</a:t>
            </a:r>
            <a:endParaRPr lang="en-US" altLang="zh-CN" sz="2000" dirty="0">
              <a:solidFill>
                <a:srgbClr val="595959"/>
              </a:solidFill>
              <a:ea typeface="宋体" charset="-122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zh-CN" sz="2800" dirty="0"/>
              <a:t>XML Schema</a:t>
            </a:r>
            <a:br>
              <a:rPr lang="en-US" altLang="zh-CN" sz="2800" dirty="0"/>
            </a:br>
            <a:r>
              <a:rPr lang="en-US" altLang="zh-CN" sz="2800" dirty="0"/>
              <a:t>The Language to define XML type</a:t>
            </a:r>
            <a:br>
              <a:rPr lang="en-US" altLang="zh-CN" sz="2000" dirty="0"/>
            </a:br>
            <a:r>
              <a:rPr lang="en-US" altLang="zh-CN" sz="2000" dirty="0"/>
              <a:t>Service-Oriented Software Engineering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Why Do We Need XML Schema?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CN" dirty="0"/>
              <a:t>Business</a:t>
            </a:r>
          </a:p>
          <a:p>
            <a:pPr lvl="1" eaLnBrk="1" hangingPunct="1"/>
            <a:r>
              <a:rPr lang="en-US" altLang="zh-CN" sz="2400" dirty="0"/>
              <a:t>Desire for increased expressive power for data.</a:t>
            </a:r>
          </a:p>
          <a:p>
            <a:pPr lvl="1" eaLnBrk="1" hangingPunct="1"/>
            <a:r>
              <a:rPr lang="en-US" altLang="zh-CN" sz="2400" dirty="0"/>
              <a:t>Desire to combine vocabularies from different organizations.</a:t>
            </a:r>
          </a:p>
          <a:p>
            <a:pPr lvl="1" eaLnBrk="1" hangingPunct="1"/>
            <a:r>
              <a:rPr lang="en-US" altLang="zh-CN" sz="2400" dirty="0"/>
              <a:t>Lower cost of integration through improved communication. </a:t>
            </a:r>
          </a:p>
          <a:p>
            <a:pPr eaLnBrk="1" hangingPunct="1"/>
            <a:r>
              <a:rPr lang="en-US" altLang="zh-CN" dirty="0"/>
              <a:t>Technical</a:t>
            </a:r>
          </a:p>
          <a:p>
            <a:pPr lvl="1" eaLnBrk="1" hangingPunct="1"/>
            <a:r>
              <a:rPr lang="en-US" altLang="zh-CN" sz="2400" dirty="0"/>
              <a:t>Validate the XML document against a detailed specification.</a:t>
            </a:r>
          </a:p>
          <a:p>
            <a:pPr lvl="1" eaLnBrk="1" hangingPunct="1"/>
            <a:r>
              <a:rPr lang="en-US" altLang="zh-CN" sz="2400" dirty="0"/>
              <a:t>XML instance syntax.</a:t>
            </a:r>
          </a:p>
          <a:p>
            <a:pPr lvl="1" eaLnBrk="1" hangingPunct="1"/>
            <a:r>
              <a:rPr lang="en-US" altLang="zh-CN" sz="2400" dirty="0"/>
              <a:t>Data typing and constraints.</a:t>
            </a:r>
          </a:p>
          <a:p>
            <a:pPr lvl="1" eaLnBrk="1" hangingPunct="1"/>
            <a:r>
              <a:rPr lang="en-US" altLang="zh-CN" sz="2400" dirty="0"/>
              <a:t>Namespaces.</a:t>
            </a:r>
          </a:p>
          <a:p>
            <a:pPr lvl="1" eaLnBrk="1" hangingPunct="1"/>
            <a:r>
              <a:rPr lang="en-US" altLang="zh-CN" sz="2400" dirty="0"/>
              <a:t>Represent relationships among data elements.</a:t>
            </a:r>
          </a:p>
        </p:txBody>
      </p:sp>
      <p:sp>
        <p:nvSpPr>
          <p:cNvPr id="53250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3A454F4-5E86-4E05-8B61-A9E79BDDECDF}" type="slidenum">
              <a:rPr lang="en-US" altLang="zh-CN" smtClean="0"/>
              <a:pPr eaLnBrk="1" hangingPunct="1"/>
              <a:t>2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Features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Use of XML instance syntax to define the structure of an XML document.</a:t>
            </a:r>
          </a:p>
          <a:p>
            <a:pPr eaLnBrk="1" hangingPunct="1"/>
            <a:r>
              <a:rPr lang="en-US" altLang="zh-CN" sz="2800" dirty="0"/>
              <a:t>Much better at expressing data type semantics for element and attribute content.</a:t>
            </a:r>
          </a:p>
          <a:p>
            <a:pPr eaLnBrk="1" hangingPunct="1"/>
            <a:r>
              <a:rPr lang="en-US" altLang="zh-CN" sz="2800" dirty="0"/>
              <a:t>Support for namespaces.</a:t>
            </a:r>
          </a:p>
          <a:p>
            <a:pPr eaLnBrk="1" hangingPunct="1"/>
            <a:r>
              <a:rPr lang="en-US" altLang="zh-CN" sz="2800" dirty="0"/>
              <a:t>Separate definitions of data types from declaration of elements and attributes.</a:t>
            </a:r>
          </a:p>
          <a:p>
            <a:pPr eaLnBrk="1" hangingPunct="1"/>
            <a:r>
              <a:rPr lang="en-US" altLang="zh-CN" sz="2800" dirty="0"/>
              <a:t>Supports representation of uniqueness and relationships among data.</a:t>
            </a:r>
          </a:p>
        </p:txBody>
      </p:sp>
      <p:sp>
        <p:nvSpPr>
          <p:cNvPr id="5427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D551339-6198-40BB-AA0A-43AC01EC08E7}" type="slidenum">
              <a:rPr lang="en-US" altLang="zh-CN" smtClean="0"/>
              <a:pPr eaLnBrk="1" hangingPunct="1"/>
              <a:t>3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Anatomy of an XML Schema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55298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D807EC4-33C6-4B2F-BB93-3E7991286EED}" type="slidenum">
              <a:rPr lang="en-US" altLang="zh-CN" smtClean="0"/>
              <a:pPr eaLnBrk="1" hangingPunct="1"/>
              <a:t>4</a:t>
            </a:fld>
            <a:endParaRPr lang="en-US" altLang="zh-CN"/>
          </a:p>
        </p:txBody>
      </p:sp>
      <p:pic>
        <p:nvPicPr>
          <p:cNvPr id="5530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39" y="990600"/>
            <a:ext cx="8548661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Simple Element Declaration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CN" sz="2400" dirty="0"/>
              <a:t>Use this declaration format for situations where a type definition exists (built-in or otherwise) that suits the nature of the element your are declaring.</a:t>
            </a:r>
          </a:p>
          <a:p>
            <a:pPr eaLnBrk="1" hangingPunct="1"/>
            <a:r>
              <a:rPr lang="en-US" altLang="zh-CN" sz="2400" dirty="0"/>
              <a:t>Here's a declaration for an element with a predefined type. It is declared to occur exactly once:</a:t>
            </a:r>
          </a:p>
          <a:p>
            <a:pPr eaLnBrk="1" hangingPunct="1"/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en-US" altLang="zh-CN" sz="2400" dirty="0" err="1"/>
              <a:t>minOccurs</a:t>
            </a:r>
            <a:r>
              <a:rPr lang="en-US" altLang="zh-CN" sz="2400" dirty="0"/>
              <a:t> and </a:t>
            </a:r>
            <a:r>
              <a:rPr lang="en-US" altLang="zh-CN" sz="2400" dirty="0" err="1"/>
              <a:t>maxOccurs</a:t>
            </a:r>
            <a:r>
              <a:rPr lang="en-US" altLang="zh-CN" sz="2400" dirty="0"/>
              <a:t> are used to indicate the number of elements required/permitted.</a:t>
            </a:r>
          </a:p>
          <a:p>
            <a:pPr eaLnBrk="1" hangingPunct="1"/>
            <a:endParaRPr lang="en-US" altLang="zh-CN" sz="2400" b="1" dirty="0"/>
          </a:p>
          <a:p>
            <a:pPr eaLnBrk="1" hangingPunct="1"/>
            <a:r>
              <a:rPr lang="en-US" altLang="zh-CN" sz="2400" b="1" dirty="0"/>
              <a:t>Note</a:t>
            </a:r>
            <a:r>
              <a:rPr lang="en-US" altLang="zh-CN" sz="2400" dirty="0"/>
              <a:t>: The </a:t>
            </a:r>
            <a:r>
              <a:rPr lang="en-US" altLang="zh-CN" sz="2400" b="1" dirty="0"/>
              <a:t>type</a:t>
            </a:r>
            <a:r>
              <a:rPr lang="en-US" altLang="zh-CN" sz="2400" dirty="0"/>
              <a:t> must be namespace qualified. If the type is not associated with the default namespace of the schema it must be qualified with a namespace prefix representing the proper namespace.</a:t>
            </a:r>
          </a:p>
        </p:txBody>
      </p:sp>
      <p:sp>
        <p:nvSpPr>
          <p:cNvPr id="56322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EFA1F66-6F9D-4BF9-9CC9-A2D292E3CDD9}" type="slidenum">
              <a:rPr lang="en-US" altLang="zh-CN" smtClean="0"/>
              <a:pPr eaLnBrk="1" hangingPunct="1"/>
              <a:t>5</a:t>
            </a:fld>
            <a:endParaRPr lang="en-US" altLang="zh-CN"/>
          </a:p>
        </p:txBody>
      </p:sp>
      <p:pic>
        <p:nvPicPr>
          <p:cNvPr id="5632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2" y="2971800"/>
            <a:ext cx="57689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minOccurs and maxOccurs Facets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CN" sz="2400" b="1" dirty="0" err="1"/>
              <a:t>minOccurs</a:t>
            </a:r>
            <a:r>
              <a:rPr lang="en-US" altLang="zh-CN" sz="2400" b="1" dirty="0"/>
              <a:t> </a:t>
            </a:r>
            <a:r>
              <a:rPr lang="en-US" altLang="zh-CN" sz="2400" dirty="0"/>
              <a:t>attribute specifies the minimum number of times that a component may occur.</a:t>
            </a:r>
          </a:p>
          <a:p>
            <a:pPr eaLnBrk="1" hangingPunct="1"/>
            <a:r>
              <a:rPr lang="en-US" altLang="zh-CN" sz="2400" b="1" dirty="0" err="1"/>
              <a:t>maxOccurs</a:t>
            </a:r>
            <a:r>
              <a:rPr lang="en-US" altLang="zh-CN" sz="2400" b="1" dirty="0"/>
              <a:t> </a:t>
            </a:r>
            <a:r>
              <a:rPr lang="en-US" altLang="zh-CN" sz="2400" dirty="0"/>
              <a:t>attribute specifies the maximum number of times that a component may occur.</a:t>
            </a:r>
          </a:p>
          <a:p>
            <a:pPr eaLnBrk="1" hangingPunct="1"/>
            <a:r>
              <a:rPr lang="en-US" altLang="zh-CN" sz="2400" dirty="0"/>
              <a:t>Components that can have a </a:t>
            </a:r>
            <a:r>
              <a:rPr lang="en-US" altLang="zh-CN" sz="2400" b="1" dirty="0" err="1"/>
              <a:t>minOccurs</a:t>
            </a:r>
            <a:r>
              <a:rPr lang="en-US" altLang="zh-CN" sz="2400" b="1" dirty="0"/>
              <a:t> </a:t>
            </a:r>
            <a:r>
              <a:rPr lang="en-US" altLang="zh-CN" sz="2400" dirty="0"/>
              <a:t>or </a:t>
            </a:r>
            <a:r>
              <a:rPr lang="en-US" altLang="zh-CN" sz="2400" b="1" dirty="0" err="1"/>
              <a:t>maxOccurs</a:t>
            </a:r>
            <a:r>
              <a:rPr lang="en-US" altLang="zh-CN" sz="2400" b="1" dirty="0"/>
              <a:t> </a:t>
            </a:r>
            <a:r>
              <a:rPr lang="en-US" altLang="zh-CN" sz="2400" dirty="0"/>
              <a:t>attribute are:</a:t>
            </a:r>
          </a:p>
          <a:p>
            <a:pPr lvl="1" eaLnBrk="1" hangingPunct="1"/>
            <a:r>
              <a:rPr lang="en-US" altLang="zh-CN" sz="2000" dirty="0"/>
              <a:t>Elements.</a:t>
            </a:r>
          </a:p>
          <a:p>
            <a:pPr lvl="1" eaLnBrk="1" hangingPunct="1"/>
            <a:r>
              <a:rPr lang="en-US" altLang="zh-CN" sz="2000" dirty="0"/>
              <a:t>Groups.</a:t>
            </a:r>
          </a:p>
          <a:p>
            <a:pPr lvl="1" eaLnBrk="1" hangingPunct="1"/>
            <a:r>
              <a:rPr lang="en-US" altLang="zh-CN" sz="2000" dirty="0" err="1"/>
              <a:t>xsd:all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xsd:sequence</a:t>
            </a:r>
            <a:r>
              <a:rPr lang="en-US" altLang="zh-CN" sz="2000" dirty="0"/>
              <a:t>, and </a:t>
            </a:r>
            <a:r>
              <a:rPr lang="en-US" altLang="zh-CN" sz="2000" dirty="0" err="1"/>
              <a:t>xsd:choice</a:t>
            </a:r>
            <a:r>
              <a:rPr lang="en-US" altLang="zh-CN" sz="2000" dirty="0"/>
              <a:t> compositors.</a:t>
            </a:r>
          </a:p>
          <a:p>
            <a:pPr lvl="1" eaLnBrk="1" hangingPunct="1"/>
            <a:r>
              <a:rPr lang="en-US" altLang="zh-CN" sz="2000" dirty="0"/>
              <a:t>Wildcards.</a:t>
            </a:r>
          </a:p>
          <a:p>
            <a:pPr eaLnBrk="1" hangingPunct="1"/>
            <a:r>
              <a:rPr lang="en-US" altLang="zh-CN" sz="2400" dirty="0"/>
              <a:t>Both values default to 1.</a:t>
            </a:r>
          </a:p>
          <a:p>
            <a:pPr eaLnBrk="1" hangingPunct="1"/>
            <a:r>
              <a:rPr lang="en-US" altLang="zh-CN" sz="2400" dirty="0"/>
              <a:t>It is an error if </a:t>
            </a:r>
            <a:r>
              <a:rPr lang="en-US" altLang="zh-CN" sz="2400" b="1" dirty="0" err="1"/>
              <a:t>minOccurs</a:t>
            </a:r>
            <a:r>
              <a:rPr lang="en-US" altLang="zh-CN" sz="2400" dirty="0"/>
              <a:t> is greater that </a:t>
            </a:r>
            <a:r>
              <a:rPr lang="en-US" altLang="zh-CN" sz="2400" b="1" dirty="0" err="1"/>
              <a:t>maxOccurs</a:t>
            </a:r>
            <a:endParaRPr lang="en-US" altLang="zh-CN" sz="2400" b="1" dirty="0"/>
          </a:p>
          <a:p>
            <a:pPr eaLnBrk="1" hangingPunct="1"/>
            <a:r>
              <a:rPr lang="en-US" altLang="zh-CN" sz="2400" b="1" dirty="0" err="1"/>
              <a:t>maxOccurs</a:t>
            </a:r>
            <a:r>
              <a:rPr lang="en-US" altLang="zh-CN" sz="2400" dirty="0"/>
              <a:t> may have the non-numeric value </a:t>
            </a:r>
            <a:r>
              <a:rPr lang="en-US" altLang="zh-CN" sz="2400" b="1" dirty="0"/>
              <a:t>unbounded </a:t>
            </a:r>
            <a:r>
              <a:rPr lang="en-US" altLang="zh-CN" sz="2400" dirty="0"/>
              <a:t>(an infinite number).</a:t>
            </a:r>
          </a:p>
        </p:txBody>
      </p:sp>
      <p:sp>
        <p:nvSpPr>
          <p:cNvPr id="57346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8AAF54B-CAC9-4700-BBA6-E22B90E94DF2}" type="slidenum">
              <a:rPr lang="en-US" altLang="zh-CN" smtClean="0"/>
              <a:pPr eaLnBrk="1" hangingPunct="1"/>
              <a:t>6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b="1" dirty="0"/>
              <a:t>Example: </a:t>
            </a:r>
            <a:r>
              <a:rPr lang="en-US" altLang="zh-CN" sz="3400" b="1" dirty="0" err="1"/>
              <a:t>minOccurs</a:t>
            </a:r>
            <a:r>
              <a:rPr lang="en-US" altLang="zh-CN" sz="3400" b="1" dirty="0"/>
              <a:t> and </a:t>
            </a:r>
            <a:r>
              <a:rPr lang="en-US" altLang="zh-CN" sz="3400" b="1" dirty="0" err="1"/>
              <a:t>maxOccurs</a:t>
            </a:r>
            <a:endParaRPr lang="en-US" altLang="zh-CN" sz="3400" b="1" dirty="0"/>
          </a:p>
        </p:txBody>
      </p:sp>
      <p:sp>
        <p:nvSpPr>
          <p:cNvPr id="58370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C2BF0C0-DFF4-46CD-B2CC-49CA95F01A97}" type="slidenum">
              <a:rPr lang="en-US" altLang="zh-CN" smtClean="0"/>
              <a:pPr eaLnBrk="1" hangingPunct="1"/>
              <a:t>7</a:t>
            </a:fld>
            <a:endParaRPr lang="en-US" altLang="zh-CN"/>
          </a:p>
        </p:txBody>
      </p:sp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1371600"/>
            <a:ext cx="8510587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Declaring Child Elements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2000" dirty="0"/>
              <a:t>Child elements are declared by using a 'compositor' in an element declaration.</a:t>
            </a:r>
          </a:p>
          <a:p>
            <a:pPr eaLnBrk="1" hangingPunct="1">
              <a:lnSpc>
                <a:spcPct val="110000"/>
              </a:lnSpc>
            </a:pPr>
            <a:endParaRPr lang="en-US" altLang="zh-CN" sz="2000" dirty="0"/>
          </a:p>
          <a:p>
            <a:pPr eaLnBrk="1" hangingPunct="1">
              <a:lnSpc>
                <a:spcPct val="110000"/>
              </a:lnSpc>
            </a:pPr>
            <a:endParaRPr lang="en-US" altLang="zh-CN" sz="2000" dirty="0"/>
          </a:p>
          <a:p>
            <a:pPr eaLnBrk="1" hangingPunct="1">
              <a:lnSpc>
                <a:spcPct val="110000"/>
              </a:lnSpc>
            </a:pPr>
            <a:endParaRPr lang="en-US" altLang="zh-CN" sz="2000" dirty="0"/>
          </a:p>
          <a:p>
            <a:pPr eaLnBrk="1" hangingPunct="1">
              <a:lnSpc>
                <a:spcPct val="110000"/>
              </a:lnSpc>
            </a:pPr>
            <a:endParaRPr lang="en-US" altLang="zh-CN" sz="2000" dirty="0"/>
          </a:p>
          <a:p>
            <a:pPr eaLnBrk="1" hangingPunct="1">
              <a:lnSpc>
                <a:spcPct val="110000"/>
              </a:lnSpc>
            </a:pPr>
            <a:endParaRPr lang="en-US" altLang="zh-CN" sz="2000" dirty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altLang="zh-CN" sz="2000" dirty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altLang="zh-CN" sz="2000" dirty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altLang="zh-CN" sz="2000" dirty="0"/>
          </a:p>
          <a:p>
            <a:pPr eaLnBrk="1" hangingPunct="1">
              <a:lnSpc>
                <a:spcPct val="110000"/>
              </a:lnSpc>
            </a:pPr>
            <a:r>
              <a:rPr lang="en-US" altLang="zh-CN" sz="2000" dirty="0"/>
              <a:t>There are three different compositors: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1800" dirty="0" err="1"/>
              <a:t>xsd:sequence</a:t>
            </a:r>
            <a:r>
              <a:rPr lang="en-US" altLang="zh-CN" sz="1800" dirty="0"/>
              <a:t>: the elements may occur only in the order specified according to their min/</a:t>
            </a:r>
            <a:r>
              <a:rPr lang="en-US" altLang="zh-CN" sz="1800" dirty="0" err="1"/>
              <a:t>maxOccurs</a:t>
            </a:r>
            <a:r>
              <a:rPr lang="en-US" altLang="zh-CN" sz="1800" dirty="0"/>
              <a:t> values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1800" dirty="0" err="1"/>
              <a:t>xsd:choice</a:t>
            </a:r>
            <a:r>
              <a:rPr lang="en-US" altLang="zh-CN" sz="1800" dirty="0"/>
              <a:t>: only one of the elements declared may occur but its min/</a:t>
            </a:r>
            <a:r>
              <a:rPr lang="en-US" altLang="zh-CN" sz="1800" dirty="0" err="1"/>
              <a:t>maxOccurs</a:t>
            </a:r>
            <a:r>
              <a:rPr lang="en-US" altLang="zh-CN" sz="1800" dirty="0"/>
              <a:t> values dictate how many times it may occur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1800" dirty="0" err="1"/>
              <a:t>xsd:all</a:t>
            </a:r>
            <a:r>
              <a:rPr lang="en-US" altLang="zh-CN" sz="1800" dirty="0"/>
              <a:t>: the elements must all occur (in accordance with their min/</a:t>
            </a:r>
            <a:r>
              <a:rPr lang="en-US" altLang="zh-CN" sz="1800" dirty="0" err="1"/>
              <a:t>maxOccurs</a:t>
            </a:r>
            <a:r>
              <a:rPr lang="en-US" altLang="zh-CN" sz="1800" dirty="0"/>
              <a:t> values) but order doesn't matter</a:t>
            </a:r>
          </a:p>
        </p:txBody>
      </p:sp>
      <p:sp>
        <p:nvSpPr>
          <p:cNvPr id="5939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DC66C96-570F-48BD-B349-79ADA7D9C83A}" type="slidenum">
              <a:rPr lang="en-US" altLang="zh-CN" smtClean="0"/>
              <a:pPr eaLnBrk="1" hangingPunct="1"/>
              <a:t>8</a:t>
            </a:fld>
            <a:endParaRPr lang="en-US" altLang="zh-CN"/>
          </a:p>
        </p:txBody>
      </p:sp>
      <p:pic>
        <p:nvPicPr>
          <p:cNvPr id="59397" name="Picture 8" descr="新建 BMP 图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92" y="1885950"/>
            <a:ext cx="7848600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Example: Compositors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4814663"/>
          </a:xfrm>
        </p:spPr>
        <p:txBody>
          <a:bodyPr/>
          <a:lstStyle/>
          <a:p>
            <a:pPr eaLnBrk="1" hangingPunct="1"/>
            <a:r>
              <a:rPr lang="en-US" altLang="zh-CN" sz="2800" dirty="0" err="1"/>
              <a:t>firstname</a:t>
            </a:r>
            <a:r>
              <a:rPr lang="en-US" altLang="zh-CN" sz="2800" dirty="0"/>
              <a:t> and </a:t>
            </a:r>
            <a:r>
              <a:rPr lang="en-US" altLang="zh-CN" sz="2800" dirty="0" err="1"/>
              <a:t>lastname</a:t>
            </a:r>
            <a:r>
              <a:rPr lang="en-US" altLang="zh-CN" sz="2800" dirty="0"/>
              <a:t> in the declared order</a:t>
            </a:r>
          </a:p>
          <a:p>
            <a:pPr eaLnBrk="1" hangingPunct="1"/>
            <a:endParaRPr lang="en-US" altLang="zh-CN" sz="2800" dirty="0"/>
          </a:p>
          <a:p>
            <a:pPr marL="0" indent="0" eaLnBrk="1" hangingPunct="1">
              <a:buNone/>
            </a:pPr>
            <a:endParaRPr lang="en-US" altLang="zh-CN" sz="2800" dirty="0"/>
          </a:p>
          <a:p>
            <a:pPr eaLnBrk="1" hangingPunct="1"/>
            <a:r>
              <a:rPr lang="en-US" altLang="zh-CN" sz="2800" dirty="0" err="1"/>
              <a:t>maidenName</a:t>
            </a:r>
            <a:r>
              <a:rPr lang="en-US" altLang="zh-CN" sz="2800" dirty="0"/>
              <a:t> or </a:t>
            </a:r>
            <a:r>
              <a:rPr lang="en-US" altLang="zh-CN" sz="2800" dirty="0" err="1"/>
              <a:t>cityOfBirth</a:t>
            </a:r>
            <a:r>
              <a:rPr lang="en-US" altLang="zh-CN" sz="2800" dirty="0"/>
              <a:t> but not both</a:t>
            </a:r>
          </a:p>
          <a:p>
            <a:pPr eaLnBrk="1" hangingPunct="1"/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/>
            <a:r>
              <a:rPr lang="en-US" altLang="zh-CN" sz="2800" dirty="0"/>
              <a:t>height and weight in any order</a:t>
            </a:r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</p:txBody>
      </p:sp>
      <p:sp>
        <p:nvSpPr>
          <p:cNvPr id="60418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C30C8A9-5AB0-4B5C-B1BC-DC2AEF0FACFF}" type="slidenum">
              <a:rPr lang="en-US" altLang="zh-CN" smtClean="0"/>
              <a:pPr eaLnBrk="1" hangingPunct="1"/>
              <a:t>9</a:t>
            </a:fld>
            <a:endParaRPr lang="en-US" altLang="zh-CN"/>
          </a:p>
        </p:txBody>
      </p:sp>
      <p:pic>
        <p:nvPicPr>
          <p:cNvPr id="6042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89" y="1712912"/>
            <a:ext cx="7429500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03" y="3200400"/>
            <a:ext cx="7745413" cy="104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3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70" y="4710112"/>
            <a:ext cx="695483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Declaring Attributes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CN" sz="2000" dirty="0"/>
              <a:t>Attributes are declared as children of a </a:t>
            </a:r>
            <a:r>
              <a:rPr lang="en-US" altLang="zh-CN" sz="2000" dirty="0" err="1"/>
              <a:t>complexType</a:t>
            </a:r>
            <a:r>
              <a:rPr lang="en-US" altLang="zh-CN" sz="2000" dirty="0"/>
              <a:t> element.</a:t>
            </a:r>
          </a:p>
          <a:p>
            <a:pPr eaLnBrk="1" hangingPunct="1"/>
            <a:endParaRPr lang="en-US" altLang="zh-CN" sz="2000" dirty="0"/>
          </a:p>
          <a:p>
            <a:pPr eaLnBrk="1" hangingPunct="1"/>
            <a:endParaRPr lang="en-US" altLang="zh-CN" sz="2000" dirty="0"/>
          </a:p>
          <a:p>
            <a:pPr eaLnBrk="1" hangingPunct="1"/>
            <a:endParaRPr lang="en-US" altLang="zh-CN" sz="2000" dirty="0"/>
          </a:p>
          <a:p>
            <a:pPr eaLnBrk="1" hangingPunct="1"/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eaLnBrk="1" hangingPunct="1"/>
            <a:r>
              <a:rPr lang="en-US" altLang="zh-CN" sz="2000" dirty="0"/>
              <a:t>Some useful (optional) attributes used in an </a:t>
            </a:r>
            <a:r>
              <a:rPr lang="en-US" altLang="zh-CN" sz="2000" dirty="0" err="1"/>
              <a:t>xsd:attribute</a:t>
            </a:r>
            <a:r>
              <a:rPr lang="en-US" altLang="zh-CN" sz="2000" dirty="0"/>
              <a:t> declaration are:</a:t>
            </a:r>
          </a:p>
          <a:p>
            <a:pPr lvl="1" eaLnBrk="1" hangingPunct="1"/>
            <a:r>
              <a:rPr lang="en-US" altLang="zh-CN" sz="1800" dirty="0"/>
              <a:t>Use: values can be required, prohibited and optional, optional is the default</a:t>
            </a:r>
          </a:p>
          <a:p>
            <a:pPr lvl="1" eaLnBrk="1" hangingPunct="1"/>
            <a:r>
              <a:rPr lang="en-US" altLang="zh-CN" sz="1800" dirty="0"/>
              <a:t>Default: provides a default value for the attribute when it is absent</a:t>
            </a:r>
          </a:p>
          <a:p>
            <a:pPr lvl="1" eaLnBrk="1" hangingPunct="1"/>
            <a:r>
              <a:rPr lang="en-US" altLang="zh-CN" sz="1800" dirty="0"/>
              <a:t>Fixed: fixes the attribute value to the value specified</a:t>
            </a:r>
          </a:p>
          <a:p>
            <a:pPr eaLnBrk="1" hangingPunct="1"/>
            <a:r>
              <a:rPr lang="en-US" altLang="zh-CN" sz="2000" dirty="0"/>
              <a:t>Some rules:</a:t>
            </a:r>
          </a:p>
          <a:p>
            <a:pPr lvl="1" eaLnBrk="1" hangingPunct="1"/>
            <a:r>
              <a:rPr lang="en-US" altLang="zh-CN" sz="1800" dirty="0"/>
              <a:t>The attribute type must be a </a:t>
            </a:r>
            <a:r>
              <a:rPr lang="en-US" altLang="zh-CN" sz="1800" dirty="0" err="1"/>
              <a:t>simpleType</a:t>
            </a:r>
            <a:r>
              <a:rPr lang="en-US" altLang="zh-CN" sz="1800" dirty="0"/>
              <a:t> (that is, non-element)</a:t>
            </a:r>
          </a:p>
          <a:p>
            <a:pPr lvl="1" eaLnBrk="1" hangingPunct="1"/>
            <a:r>
              <a:rPr lang="en-US" altLang="zh-CN" sz="1800" dirty="0"/>
              <a:t>Fixed and default may not be present together on </a:t>
            </a:r>
            <a:r>
              <a:rPr lang="en-US" altLang="zh-CN" sz="1800" dirty="0" err="1"/>
              <a:t>xsd:attribute</a:t>
            </a:r>
            <a:r>
              <a:rPr lang="en-US" altLang="zh-CN" sz="1800" dirty="0"/>
              <a:t>.</a:t>
            </a:r>
          </a:p>
          <a:p>
            <a:pPr lvl="1" eaLnBrk="1" hangingPunct="1"/>
            <a:r>
              <a:rPr lang="en-US" altLang="zh-CN" sz="1800" dirty="0"/>
              <a:t>Use attribute must be "optional" or absent when a default is provided.</a:t>
            </a:r>
          </a:p>
        </p:txBody>
      </p:sp>
      <p:sp>
        <p:nvSpPr>
          <p:cNvPr id="61442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3CBD89A-CBC8-4911-B42B-571E567ADDC5}" type="slidenum">
              <a:rPr lang="en-US" altLang="zh-CN" smtClean="0"/>
              <a:pPr eaLnBrk="1" hangingPunct="1"/>
              <a:t>10</a:t>
            </a:fld>
            <a:endParaRPr lang="en-US" altLang="zh-CN"/>
          </a:p>
        </p:txBody>
      </p:sp>
      <p:pic>
        <p:nvPicPr>
          <p:cNvPr id="6144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19" y="1600200"/>
            <a:ext cx="777240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Example: Attribute Declaration</a:t>
            </a:r>
          </a:p>
        </p:txBody>
      </p:sp>
      <p:sp>
        <p:nvSpPr>
          <p:cNvPr id="62466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E7FDC30-6484-4DA8-9E1C-1F1F8F1B92DF}" type="slidenum">
              <a:rPr lang="en-US" altLang="zh-CN" smtClean="0"/>
              <a:pPr eaLnBrk="1" hangingPunct="1"/>
              <a:t>11</a:t>
            </a:fld>
            <a:endParaRPr lang="en-US" altLang="zh-CN"/>
          </a:p>
        </p:txBody>
      </p: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658938"/>
            <a:ext cx="8378825" cy="413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b="1" dirty="0"/>
              <a:t>Example: An Element with Attributes (1/2)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1600200"/>
          </a:xfrm>
        </p:spPr>
        <p:txBody>
          <a:bodyPr/>
          <a:lstStyle/>
          <a:p>
            <a:pPr eaLnBrk="1" hangingPunct="1"/>
            <a:r>
              <a:rPr lang="en-US" altLang="zh-CN" dirty="0"/>
              <a:t>Element Declaration for an element with sub-elements and attribute.</a:t>
            </a:r>
          </a:p>
        </p:txBody>
      </p:sp>
      <p:sp>
        <p:nvSpPr>
          <p:cNvPr id="63490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27AAF54-4B22-4E98-BD4F-FC85E503E062}" type="slidenum">
              <a:rPr lang="en-US" altLang="zh-CN" smtClean="0"/>
              <a:pPr eaLnBrk="1" hangingPunct="1"/>
              <a:t>12</a:t>
            </a:fld>
            <a:endParaRPr lang="en-US" altLang="zh-CN"/>
          </a:p>
        </p:txBody>
      </p:sp>
      <p:pic>
        <p:nvPicPr>
          <p:cNvPr id="6349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37" y="3071019"/>
            <a:ext cx="7350125" cy="257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b="1" dirty="0"/>
              <a:t>Example: An Element with Attributes (2/2)</a:t>
            </a:r>
          </a:p>
        </p:txBody>
      </p:sp>
      <p:sp>
        <p:nvSpPr>
          <p:cNvPr id="6451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57A9030-B9A6-4B7D-9B92-26392C8D6589}" type="slidenum">
              <a:rPr lang="en-US" altLang="zh-CN" smtClean="0"/>
              <a:pPr eaLnBrk="1" hangingPunct="1"/>
              <a:t>13</a:t>
            </a:fld>
            <a:endParaRPr lang="en-US" altLang="zh-CN"/>
          </a:p>
        </p:txBody>
      </p:sp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63" y="1212925"/>
            <a:ext cx="343217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Attribute Groups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109159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200" dirty="0"/>
              <a:t>If a group of attributes are used together often, an attribute group can be created to formalize the relationship and avoid the need to declare the same attributes in several places.</a:t>
            </a:r>
          </a:p>
        </p:txBody>
      </p:sp>
      <p:sp>
        <p:nvSpPr>
          <p:cNvPr id="65538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DEF83FE-2255-4BE8-A419-8CD371CFBD8D}" type="slidenum">
              <a:rPr lang="en-US" altLang="zh-CN" smtClean="0"/>
              <a:pPr eaLnBrk="1" hangingPunct="1"/>
              <a:t>14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144332"/>
            <a:ext cx="7458635" cy="415366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The XML Schema Type System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2800" dirty="0"/>
              <a:t>The XML Schema type system is partitioned into two distinct categories of types: Simple Types and Complex Types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dirty="0"/>
              <a:t>Simple Types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Cannot have attributes or child elements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Are the atoms of the XML Schema type language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Are used to define other types, both complex and Simple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XML Schema includes more than 40 predefined </a:t>
            </a:r>
            <a:r>
              <a:rPr lang="en-US" altLang="zh-CN" sz="2400" dirty="0" err="1"/>
              <a:t>SimpleTypes</a:t>
            </a:r>
            <a:endParaRPr lang="en-US" altLang="zh-CN" sz="2400" dirty="0"/>
          </a:p>
          <a:p>
            <a:pPr eaLnBrk="1" hangingPunct="1">
              <a:lnSpc>
                <a:spcPct val="110000"/>
              </a:lnSpc>
            </a:pPr>
            <a:r>
              <a:rPr lang="en-US" altLang="zh-CN" sz="2800" dirty="0"/>
              <a:t>Complex Types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May have attributes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May be used in the definition of other complex types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May not be used to define simple types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May have child elements</a:t>
            </a:r>
          </a:p>
        </p:txBody>
      </p:sp>
      <p:sp>
        <p:nvSpPr>
          <p:cNvPr id="66562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542C7B0-0B74-4871-ACBF-F62ECD95C6AE}" type="slidenum">
              <a:rPr lang="en-US" altLang="zh-CN" smtClean="0"/>
              <a:pPr eaLnBrk="1" hangingPunct="1"/>
              <a:t>15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The Built-in Simple Types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000" dirty="0"/>
              <a:t>Primitive Types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1600" dirty="0"/>
              <a:t>string,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1600" dirty="0"/>
              <a:t>Boolean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1600" dirty="0"/>
              <a:t>decimal, float, double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1600" dirty="0"/>
              <a:t>duration, </a:t>
            </a:r>
            <a:r>
              <a:rPr lang="en-US" altLang="zh-CN" sz="1600" dirty="0" err="1"/>
              <a:t>dateTime</a:t>
            </a:r>
            <a:r>
              <a:rPr lang="en-US" altLang="zh-CN" sz="1600" dirty="0"/>
              <a:t>, time, date, </a:t>
            </a:r>
            <a:r>
              <a:rPr lang="en-US" altLang="zh-CN" sz="1600" dirty="0" err="1"/>
              <a:t>gYearMonth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gYear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gMonthDay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gDay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gMonth</a:t>
            </a:r>
            <a:endParaRPr lang="en-US" altLang="zh-CN" sz="16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1600" dirty="0" err="1"/>
              <a:t>hexBinary</a:t>
            </a:r>
            <a:r>
              <a:rPr lang="en-US" altLang="zh-CN" sz="1600" dirty="0"/>
              <a:t>, base64Binary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1600" dirty="0"/>
              <a:t>any URI, </a:t>
            </a:r>
            <a:r>
              <a:rPr lang="en-US" altLang="zh-CN" sz="1600" dirty="0" err="1"/>
              <a:t>QName</a:t>
            </a:r>
            <a:r>
              <a:rPr lang="en-US" altLang="zh-CN" sz="1600" dirty="0"/>
              <a:t>,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1600" dirty="0"/>
              <a:t>NOTATION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 dirty="0"/>
              <a:t>Derived Types (and base type)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1600" dirty="0" err="1"/>
              <a:t>normalizedString</a:t>
            </a:r>
            <a:r>
              <a:rPr lang="en-US" altLang="zh-CN" sz="1600" dirty="0"/>
              <a:t> (string), language (token), token (</a:t>
            </a:r>
            <a:r>
              <a:rPr lang="en-US" altLang="zh-CN" sz="1600" dirty="0" err="1"/>
              <a:t>normalizedString</a:t>
            </a:r>
            <a:r>
              <a:rPr lang="en-US" altLang="zh-CN" sz="1600" dirty="0"/>
              <a:t>), NMTOKEN (token), Name (token), </a:t>
            </a:r>
            <a:r>
              <a:rPr lang="en-US" altLang="zh-CN" sz="1600" dirty="0" err="1"/>
              <a:t>NCName</a:t>
            </a:r>
            <a:r>
              <a:rPr lang="en-US" altLang="zh-CN" sz="1600" dirty="0"/>
              <a:t> (Name), ID (</a:t>
            </a:r>
            <a:r>
              <a:rPr lang="en-US" altLang="zh-CN" sz="1600" dirty="0" err="1"/>
              <a:t>NCName</a:t>
            </a:r>
            <a:r>
              <a:rPr lang="en-US" altLang="zh-CN" sz="1600" dirty="0"/>
              <a:t>), IDREF (</a:t>
            </a:r>
            <a:r>
              <a:rPr lang="en-US" altLang="zh-CN" sz="1600" dirty="0" err="1"/>
              <a:t>NCName</a:t>
            </a:r>
            <a:r>
              <a:rPr lang="en-US" altLang="zh-CN" sz="1600" dirty="0"/>
              <a:t>), IDREFS (list of IDREF), ENTITY (</a:t>
            </a:r>
            <a:r>
              <a:rPr lang="en-US" altLang="zh-CN" sz="1600" dirty="0" err="1"/>
              <a:t>NCName</a:t>
            </a:r>
            <a:r>
              <a:rPr lang="en-US" altLang="zh-CN" sz="1600" dirty="0"/>
              <a:t>), ENTITIES (list of ENTITY)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1600" dirty="0"/>
              <a:t>integer (decimal), </a:t>
            </a:r>
            <a:r>
              <a:rPr lang="en-US" altLang="zh-CN" sz="1600" dirty="0" err="1"/>
              <a:t>nonPositiveInteger</a:t>
            </a:r>
            <a:r>
              <a:rPr lang="en-US" altLang="zh-CN" sz="1600" dirty="0"/>
              <a:t> (</a:t>
            </a:r>
            <a:r>
              <a:rPr lang="en-US" altLang="zh-CN" sz="1600" dirty="0" err="1"/>
              <a:t>intger</a:t>
            </a:r>
            <a:r>
              <a:rPr lang="en-US" altLang="zh-CN" sz="1600" dirty="0"/>
              <a:t>), </a:t>
            </a:r>
            <a:r>
              <a:rPr lang="en-US" altLang="zh-CN" sz="1600" dirty="0" err="1"/>
              <a:t>negativeInteger</a:t>
            </a:r>
            <a:r>
              <a:rPr lang="en-US" altLang="zh-CN" sz="1600" dirty="0"/>
              <a:t> (</a:t>
            </a:r>
            <a:r>
              <a:rPr lang="en-US" altLang="zh-CN" sz="1600" dirty="0" err="1"/>
              <a:t>nonPositiveInteger</a:t>
            </a:r>
            <a:r>
              <a:rPr lang="en-US" altLang="zh-CN" sz="1600" dirty="0"/>
              <a:t>), long (integer),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(long), short 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), byte (short), </a:t>
            </a:r>
            <a:r>
              <a:rPr lang="en-US" altLang="zh-CN" sz="1600" dirty="0" err="1"/>
              <a:t>nonNegativeInteger</a:t>
            </a:r>
            <a:r>
              <a:rPr lang="en-US" altLang="zh-CN" sz="1600" dirty="0"/>
              <a:t> (integer), </a:t>
            </a:r>
            <a:r>
              <a:rPr lang="en-US" altLang="zh-CN" sz="1600" dirty="0" err="1"/>
              <a:t>unsignedLong</a:t>
            </a:r>
            <a:r>
              <a:rPr lang="en-US" altLang="zh-CN" sz="1600" dirty="0"/>
              <a:t> (</a:t>
            </a:r>
            <a:r>
              <a:rPr lang="en-US" altLang="zh-CN" sz="1600" dirty="0" err="1"/>
              <a:t>nonNegativeInteger</a:t>
            </a:r>
            <a:r>
              <a:rPr lang="en-US" altLang="zh-CN" sz="1600" dirty="0"/>
              <a:t>), </a:t>
            </a:r>
            <a:r>
              <a:rPr lang="en-US" altLang="zh-CN" sz="1600" dirty="0" err="1"/>
              <a:t>unsignedInt</a:t>
            </a:r>
            <a:r>
              <a:rPr lang="en-US" altLang="zh-CN" sz="1600" dirty="0"/>
              <a:t> (</a:t>
            </a:r>
            <a:r>
              <a:rPr lang="en-US" altLang="zh-CN" sz="1600" dirty="0" err="1"/>
              <a:t>unsignedLong</a:t>
            </a:r>
            <a:r>
              <a:rPr lang="en-US" altLang="zh-CN" sz="1600" dirty="0"/>
              <a:t>), </a:t>
            </a:r>
            <a:r>
              <a:rPr lang="en-US" altLang="zh-CN" sz="1600" dirty="0" err="1"/>
              <a:t>unsignedShort</a:t>
            </a:r>
            <a:r>
              <a:rPr lang="en-US" altLang="zh-CN" sz="1600" dirty="0"/>
              <a:t> (</a:t>
            </a:r>
            <a:r>
              <a:rPr lang="en-US" altLang="zh-CN" sz="1600" dirty="0" err="1"/>
              <a:t>unsignedInt</a:t>
            </a:r>
            <a:r>
              <a:rPr lang="en-US" altLang="zh-CN" sz="1600" dirty="0"/>
              <a:t>), </a:t>
            </a:r>
            <a:r>
              <a:rPr lang="en-US" altLang="zh-CN" sz="1600" dirty="0" err="1"/>
              <a:t>unsignedByte</a:t>
            </a:r>
            <a:r>
              <a:rPr lang="en-US" altLang="zh-CN" sz="1600" dirty="0"/>
              <a:t> (</a:t>
            </a:r>
            <a:r>
              <a:rPr lang="en-US" altLang="zh-CN" sz="1600" dirty="0" err="1"/>
              <a:t>unsignedShort</a:t>
            </a:r>
            <a:r>
              <a:rPr lang="en-US" altLang="zh-CN" sz="1600" dirty="0"/>
              <a:t>), </a:t>
            </a:r>
            <a:r>
              <a:rPr lang="en-US" altLang="zh-CN" sz="1600" dirty="0" err="1"/>
              <a:t>positiveInteger</a:t>
            </a:r>
            <a:r>
              <a:rPr lang="en-US" altLang="zh-CN" sz="1600" dirty="0"/>
              <a:t> (</a:t>
            </a:r>
            <a:r>
              <a:rPr lang="en-US" altLang="zh-CN" sz="1600" dirty="0" err="1"/>
              <a:t>nonNegativeInteger</a:t>
            </a:r>
            <a:r>
              <a:rPr lang="en-US" altLang="zh-CN" sz="1600" dirty="0"/>
              <a:t>) </a:t>
            </a:r>
          </a:p>
        </p:txBody>
      </p:sp>
      <p:sp>
        <p:nvSpPr>
          <p:cNvPr id="67586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FF328DC-4259-401C-8854-E98A74C985D8}" type="slidenum">
              <a:rPr lang="en-US" altLang="zh-CN" smtClean="0"/>
              <a:pPr eaLnBrk="1" hangingPunct="1"/>
              <a:t>16</a:t>
            </a:fld>
            <a:endParaRPr lang="en-US" altLang="zh-CN"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Creating New Types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New types may be defined from built-in types</a:t>
            </a:r>
          </a:p>
          <a:p>
            <a:pPr eaLnBrk="1" hangingPunct="1"/>
            <a:r>
              <a:rPr lang="en-US" altLang="zh-CN" dirty="0"/>
              <a:t>Adding constraints via </a:t>
            </a:r>
            <a:r>
              <a:rPr lang="en-US" altLang="zh-CN" u="sng" dirty="0"/>
              <a:t>facets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en-US" altLang="zh-CN" dirty="0"/>
              <a:t>Accomplished by restriction or </a:t>
            </a:r>
            <a:r>
              <a:rPr lang="en-US" altLang="zh-CN" sz="3200" dirty="0">
                <a:latin typeface="+mn-lt"/>
                <a:cs typeface="+mn-cs"/>
              </a:rPr>
              <a:t>extension</a:t>
            </a:r>
          </a:p>
          <a:p>
            <a:pPr eaLnBrk="1" hangingPunct="1"/>
            <a:r>
              <a:rPr lang="en-US" altLang="zh-CN" dirty="0"/>
              <a:t>Examples:</a:t>
            </a:r>
          </a:p>
          <a:p>
            <a:pPr lvl="1" eaLnBrk="1" hangingPunct="1"/>
            <a:r>
              <a:rPr lang="en-US" altLang="zh-CN" sz="2400" dirty="0"/>
              <a:t>A string that has a minimum and maximum length.</a:t>
            </a:r>
          </a:p>
          <a:p>
            <a:pPr lvl="1" eaLnBrk="1" hangingPunct="1"/>
            <a:r>
              <a:rPr lang="en-US" altLang="zh-CN" sz="2400" dirty="0"/>
              <a:t>An integer that has minimum and maximum values.</a:t>
            </a:r>
          </a:p>
          <a:p>
            <a:pPr lvl="1" eaLnBrk="1" hangingPunct="1"/>
            <a:r>
              <a:rPr lang="en-US" altLang="zh-CN" sz="2400" dirty="0"/>
              <a:t>A string with an enumerated list of allowed values.</a:t>
            </a:r>
          </a:p>
          <a:p>
            <a:pPr lvl="1" eaLnBrk="1" hangingPunct="1"/>
            <a:r>
              <a:rPr lang="en-US" altLang="zh-CN" sz="2400" dirty="0"/>
              <a:t>A type based on patterns.</a:t>
            </a:r>
          </a:p>
          <a:p>
            <a:pPr lvl="1" eaLnBrk="1" hangingPunct="1"/>
            <a:r>
              <a:rPr lang="en-US" altLang="zh-CN" sz="2400" dirty="0"/>
              <a:t>Complex types defined by extension</a:t>
            </a:r>
          </a:p>
        </p:txBody>
      </p:sp>
      <p:sp>
        <p:nvSpPr>
          <p:cNvPr id="68610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338E62D-0DDC-4B97-BE53-111E6B6957A3}" type="slidenum">
              <a:rPr lang="en-US" altLang="zh-CN" smtClean="0"/>
              <a:pPr eaLnBrk="1" hangingPunct="1"/>
              <a:t>17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Constraining Facets</a:t>
            </a:r>
            <a:r>
              <a:rPr lang="en-US" altLang="zh-CN"/>
              <a:t> 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2800" dirty="0"/>
              <a:t>Facets characterize properties of a </a:t>
            </a:r>
            <a:r>
              <a:rPr lang="en-US" altLang="zh-CN" sz="2800" dirty="0" err="1"/>
              <a:t>simpleTypes</a:t>
            </a:r>
            <a:r>
              <a:rPr lang="en-US" altLang="zh-CN" sz="2800" dirty="0"/>
              <a:t>' value space or lexical space.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Value Space - abstract set of values in the type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Lexical Space - concrete set of literals that you can write down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dirty="0"/>
              <a:t>Fundamental Facets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equal, ordered, bounded, cardinality, numeric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dirty="0"/>
              <a:t>Constraining Facets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length, </a:t>
            </a:r>
            <a:r>
              <a:rPr lang="en-US" altLang="zh-CN" sz="2400" dirty="0" err="1"/>
              <a:t>minLength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maxLength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pattern, enumeration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 err="1"/>
              <a:t>whiteSpace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 err="1"/>
              <a:t>maxInclusive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maxExclusive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minInclusive,minExclusive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 err="1"/>
              <a:t>totalDigits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fractionDigits</a:t>
            </a:r>
            <a:endParaRPr lang="en-US" altLang="zh-CN" sz="2400" dirty="0"/>
          </a:p>
        </p:txBody>
      </p:sp>
      <p:sp>
        <p:nvSpPr>
          <p:cNvPr id="6963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93E538A-3F7D-4D93-AB70-8A32C03BA8DD}" type="slidenum">
              <a:rPr lang="en-US" altLang="zh-CN" smtClean="0"/>
              <a:pPr eaLnBrk="1" hangingPunct="1"/>
              <a:t>18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Example: Constraining Facets</a:t>
            </a:r>
          </a:p>
        </p:txBody>
      </p:sp>
      <p:sp>
        <p:nvSpPr>
          <p:cNvPr id="70658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845B9FC-FBAF-42E5-B059-4FBE6790B54F}" type="slidenum">
              <a:rPr lang="en-US" altLang="zh-CN" smtClean="0"/>
              <a:pPr eaLnBrk="1" hangingPunct="1"/>
              <a:t>19</a:t>
            </a:fld>
            <a:endParaRPr lang="en-US" altLang="zh-CN"/>
          </a:p>
        </p:txBody>
      </p:sp>
      <p:pic>
        <p:nvPicPr>
          <p:cNvPr id="7066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1262"/>
            <a:ext cx="8510588" cy="488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Example: Enumeration Facet</a:t>
            </a:r>
          </a:p>
        </p:txBody>
      </p:sp>
      <p:pic>
        <p:nvPicPr>
          <p:cNvPr id="7168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110" y="1052513"/>
            <a:ext cx="6515779" cy="5348287"/>
          </a:xfrm>
          <a:noFill/>
        </p:spPr>
      </p:pic>
      <p:sp>
        <p:nvSpPr>
          <p:cNvPr id="71682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81A702A-CBEB-4248-801E-B1E452104764}" type="slidenum">
              <a:rPr lang="en-US" altLang="zh-CN" smtClean="0"/>
              <a:pPr eaLnBrk="1" hangingPunct="1"/>
              <a:t>20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Complex Types</a:t>
            </a:r>
          </a:p>
        </p:txBody>
      </p:sp>
      <p:sp>
        <p:nvSpPr>
          <p:cNvPr id="727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Complex types may carry attributes.</a:t>
            </a:r>
          </a:p>
          <a:p>
            <a:pPr eaLnBrk="1" hangingPunct="1"/>
            <a:r>
              <a:rPr lang="en-US" altLang="zh-CN" dirty="0"/>
              <a:t>Complex types can have complex (element) content as well as simple content (character data).</a:t>
            </a:r>
          </a:p>
        </p:txBody>
      </p:sp>
      <p:sp>
        <p:nvSpPr>
          <p:cNvPr id="72706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FF9B873-4646-4189-A8C9-054EBBF35064}" type="slidenum">
              <a:rPr lang="en-US" altLang="zh-CN" smtClean="0"/>
              <a:pPr eaLnBrk="1" hangingPunct="1"/>
              <a:t>21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b="1" dirty="0" err="1"/>
              <a:t>simpleContent</a:t>
            </a:r>
            <a:r>
              <a:rPr lang="en-US" altLang="zh-CN" sz="3400" b="1" dirty="0"/>
              <a:t> and Empty Complex Types</a:t>
            </a:r>
          </a:p>
        </p:txBody>
      </p:sp>
      <p:sp>
        <p:nvSpPr>
          <p:cNvPr id="7373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8"/>
            <a:ext cx="8229600" cy="4540808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Simple</a:t>
            </a:r>
          </a:p>
          <a:p>
            <a:pPr lvl="1" eaLnBrk="1" hangingPunct="1"/>
            <a:r>
              <a:rPr lang="en-US" altLang="zh-CN" sz="2100" dirty="0"/>
              <a:t>Declare using </a:t>
            </a:r>
            <a:r>
              <a:rPr lang="en-US" altLang="zh-CN" sz="2100" b="1" dirty="0"/>
              <a:t>&lt;</a:t>
            </a:r>
            <a:r>
              <a:rPr lang="en-US" altLang="zh-CN" sz="2100" b="1" dirty="0" err="1"/>
              <a:t>xsd:</a:t>
            </a:r>
            <a:r>
              <a:rPr lang="en-US" altLang="zh-CN" sz="2100" b="1" dirty="0" err="1">
                <a:solidFill>
                  <a:srgbClr val="993300"/>
                </a:solidFill>
              </a:rPr>
              <a:t>simpleContent</a:t>
            </a:r>
            <a:r>
              <a:rPr lang="en-US" altLang="zh-CN" sz="2100" b="1" dirty="0"/>
              <a:t>&gt; </a:t>
            </a:r>
            <a:r>
              <a:rPr lang="en-US" altLang="zh-CN" sz="2100" dirty="0"/>
              <a:t>and extension/restriction:</a:t>
            </a:r>
          </a:p>
          <a:p>
            <a:pPr lvl="1" eaLnBrk="1" hangingPunct="1"/>
            <a:endParaRPr lang="en-US" altLang="zh-CN" sz="2100" dirty="0"/>
          </a:p>
          <a:p>
            <a:pPr lvl="1" eaLnBrk="1" hangingPunct="1"/>
            <a:endParaRPr lang="en-US" altLang="zh-CN" sz="2100" dirty="0"/>
          </a:p>
          <a:p>
            <a:pPr lvl="1" eaLnBrk="1" hangingPunct="1"/>
            <a:endParaRPr lang="en-US" altLang="zh-CN" sz="2100" dirty="0"/>
          </a:p>
          <a:p>
            <a:pPr eaLnBrk="1" hangingPunct="1"/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en-US" altLang="zh-CN" sz="2400" dirty="0"/>
              <a:t>Empty</a:t>
            </a:r>
          </a:p>
          <a:p>
            <a:pPr lvl="1" eaLnBrk="1" hangingPunct="1"/>
            <a:r>
              <a:rPr lang="en-US" altLang="zh-CN" sz="2100" dirty="0"/>
              <a:t>Declare by just writing attributes:</a:t>
            </a:r>
          </a:p>
        </p:txBody>
      </p:sp>
      <p:sp>
        <p:nvSpPr>
          <p:cNvPr id="73730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77CD5BA-1480-4C62-9D68-DD9654724BD1}" type="slidenum">
              <a:rPr lang="en-US" altLang="zh-CN" smtClean="0"/>
              <a:pPr eaLnBrk="1" hangingPunct="1"/>
              <a:t>22</a:t>
            </a:fld>
            <a:endParaRPr lang="en-US" altLang="zh-CN"/>
          </a:p>
        </p:txBody>
      </p:sp>
      <p:pic>
        <p:nvPicPr>
          <p:cNvPr id="7373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389580"/>
            <a:ext cx="6665913" cy="216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593545"/>
            <a:ext cx="769302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simpleContent Example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Declaration: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The extension is the addition of the attribute.</a:t>
            </a:r>
          </a:p>
        </p:txBody>
      </p:sp>
      <p:sp>
        <p:nvSpPr>
          <p:cNvPr id="7475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826D527-2683-4953-9749-1992517C39A4}" type="slidenum">
              <a:rPr lang="en-US" altLang="zh-CN" smtClean="0"/>
              <a:pPr eaLnBrk="1" hangingPunct="1"/>
              <a:t>23</a:t>
            </a:fld>
            <a:endParaRPr lang="en-US" altLang="zh-CN"/>
          </a:p>
        </p:txBody>
      </p:sp>
      <p:sp>
        <p:nvSpPr>
          <p:cNvPr id="74757" name="Picture 4"/>
          <p:cNvSpPr>
            <a:spLocks noChangeAspect="1" noChangeArrowheads="1"/>
          </p:cNvSpPr>
          <p:nvPr/>
        </p:nvSpPr>
        <p:spPr bwMode="auto">
          <a:xfrm>
            <a:off x="1066800" y="2051050"/>
            <a:ext cx="6248400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475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828800"/>
            <a:ext cx="6248400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2800" b="1" dirty="0"/>
              <a:t>Element Only and Mixed Complex Types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35192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CN" sz="2400" dirty="0"/>
              <a:t>Element Only</a:t>
            </a:r>
          </a:p>
          <a:p>
            <a:pPr lvl="1" eaLnBrk="1" hangingPunct="1"/>
            <a:r>
              <a:rPr lang="en-US" altLang="zh-CN" sz="2000" dirty="0"/>
              <a:t>Declare using a model group or compositor</a:t>
            </a:r>
          </a:p>
          <a:p>
            <a:pPr lvl="1" eaLnBrk="1" hangingPunct="1"/>
            <a:endParaRPr lang="en-US" altLang="zh-CN" sz="2000" dirty="0"/>
          </a:p>
          <a:p>
            <a:pPr lvl="1" eaLnBrk="1" hangingPunct="1"/>
            <a:endParaRPr lang="en-US" altLang="zh-CN" sz="2000" dirty="0"/>
          </a:p>
          <a:p>
            <a:pPr lvl="1" eaLnBrk="1" hangingPunct="1"/>
            <a:endParaRPr lang="en-US" altLang="zh-CN" sz="2000" dirty="0"/>
          </a:p>
          <a:p>
            <a:pPr lvl="1" eaLnBrk="1" hangingPunct="1"/>
            <a:endParaRPr lang="en-US" altLang="zh-CN" sz="2000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en-US" altLang="zh-CN" sz="2400" dirty="0"/>
              <a:t>Mixed</a:t>
            </a:r>
          </a:p>
          <a:p>
            <a:pPr lvl="1" eaLnBrk="1" hangingPunct="1"/>
            <a:r>
              <a:rPr lang="en-US" altLang="zh-CN" sz="2000" dirty="0"/>
              <a:t>Add mixed="true" attribute on </a:t>
            </a:r>
            <a:r>
              <a:rPr lang="en-US" altLang="zh-CN" sz="2000" dirty="0" err="1"/>
              <a:t>complexType</a:t>
            </a:r>
            <a:r>
              <a:rPr lang="en-US" altLang="zh-CN" sz="2000" dirty="0"/>
              <a:t> element and then declare as with Element Only content model</a:t>
            </a:r>
          </a:p>
        </p:txBody>
      </p:sp>
      <p:sp>
        <p:nvSpPr>
          <p:cNvPr id="75778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A54EB2C-9873-426B-9ECC-17C02693879C}" type="slidenum">
              <a:rPr lang="en-US" altLang="zh-CN" smtClean="0"/>
              <a:pPr eaLnBrk="1" hangingPunct="1"/>
              <a:t>24</a:t>
            </a:fld>
            <a:endParaRPr lang="en-US" altLang="zh-CN"/>
          </a:p>
        </p:txBody>
      </p:sp>
      <p:pic>
        <p:nvPicPr>
          <p:cNvPr id="7578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956" y="1828800"/>
            <a:ext cx="730408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4764881"/>
            <a:ext cx="7315200" cy="150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Model Groups and Compositors</a:t>
            </a:r>
          </a:p>
        </p:txBody>
      </p:sp>
      <p:sp>
        <p:nvSpPr>
          <p:cNvPr id="7680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46622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1800" dirty="0"/>
              <a:t>Model groups allow you to group a set of element declarations together and use them in multiple places.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/>
              <a:t>Model Group with sequence compositor:</a:t>
            </a:r>
          </a:p>
          <a:p>
            <a:pPr eaLnBrk="1" hangingPunct="1">
              <a:lnSpc>
                <a:spcPct val="80000"/>
              </a:lnSpc>
            </a:pPr>
            <a:endParaRPr lang="en-US" altLang="zh-CN" sz="1800" dirty="0"/>
          </a:p>
          <a:p>
            <a:pPr eaLnBrk="1" hangingPunct="1">
              <a:lnSpc>
                <a:spcPct val="80000"/>
              </a:lnSpc>
            </a:pPr>
            <a:endParaRPr lang="en-US" altLang="zh-CN" sz="1800" dirty="0"/>
          </a:p>
          <a:p>
            <a:pPr eaLnBrk="1" hangingPunct="1">
              <a:lnSpc>
                <a:spcPct val="80000"/>
              </a:lnSpc>
            </a:pPr>
            <a:endParaRPr lang="en-US" altLang="zh-CN" sz="1800" dirty="0"/>
          </a:p>
          <a:p>
            <a:pPr eaLnBrk="1" hangingPunct="1">
              <a:lnSpc>
                <a:spcPct val="80000"/>
              </a:lnSpc>
            </a:pPr>
            <a:endParaRPr lang="en-US" altLang="zh-CN" sz="1800" dirty="0"/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zh-CN" sz="1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/>
              <a:t>Model Group with choice compositor:</a:t>
            </a:r>
          </a:p>
          <a:p>
            <a:pPr eaLnBrk="1" hangingPunct="1">
              <a:lnSpc>
                <a:spcPct val="80000"/>
              </a:lnSpc>
            </a:pPr>
            <a:endParaRPr lang="en-US" altLang="zh-CN" sz="1800" dirty="0"/>
          </a:p>
          <a:p>
            <a:pPr eaLnBrk="1" hangingPunct="1">
              <a:lnSpc>
                <a:spcPct val="80000"/>
              </a:lnSpc>
            </a:pPr>
            <a:endParaRPr lang="en-US" altLang="zh-CN" sz="1800" dirty="0"/>
          </a:p>
          <a:p>
            <a:pPr eaLnBrk="1" hangingPunct="1">
              <a:lnSpc>
                <a:spcPct val="80000"/>
              </a:lnSpc>
            </a:pPr>
            <a:endParaRPr lang="en-US" altLang="zh-CN" sz="1800" dirty="0"/>
          </a:p>
          <a:p>
            <a:pPr eaLnBrk="1" hangingPunct="1">
              <a:lnSpc>
                <a:spcPct val="80000"/>
              </a:lnSpc>
            </a:pPr>
            <a:endParaRPr lang="en-US" altLang="zh-CN" sz="1800" dirty="0"/>
          </a:p>
          <a:p>
            <a:pPr eaLnBrk="1" hangingPunct="1">
              <a:lnSpc>
                <a:spcPct val="80000"/>
              </a:lnSpc>
            </a:pPr>
            <a:endParaRPr lang="en-US" altLang="zh-CN" sz="1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/>
              <a:t>Model Group with all compositor:</a:t>
            </a:r>
          </a:p>
          <a:p>
            <a:pPr eaLnBrk="1" hangingPunct="1">
              <a:lnSpc>
                <a:spcPct val="80000"/>
              </a:lnSpc>
            </a:pPr>
            <a:endParaRPr lang="en-US" altLang="zh-CN" sz="1600" dirty="0"/>
          </a:p>
          <a:p>
            <a:pPr eaLnBrk="1" hangingPunct="1">
              <a:lnSpc>
                <a:spcPct val="80000"/>
              </a:lnSpc>
            </a:pPr>
            <a:endParaRPr lang="en-US" altLang="zh-CN" sz="1800" dirty="0"/>
          </a:p>
        </p:txBody>
      </p:sp>
      <p:sp>
        <p:nvSpPr>
          <p:cNvPr id="76802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75A0377-CA81-4183-800D-BC0AD937179E}" type="slidenum">
              <a:rPr lang="en-US" altLang="zh-CN" smtClean="0"/>
              <a:pPr eaLnBrk="1" hangingPunct="1"/>
              <a:t>25</a:t>
            </a:fld>
            <a:endParaRPr lang="en-US" altLang="zh-CN"/>
          </a:p>
        </p:txBody>
      </p:sp>
      <p:pic>
        <p:nvPicPr>
          <p:cNvPr id="7680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28800"/>
            <a:ext cx="6172200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05200"/>
            <a:ext cx="6019800" cy="12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7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181600"/>
            <a:ext cx="57912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2800" b="1" dirty="0"/>
              <a:t>Named versus Anonymous Types (1</a:t>
            </a:r>
            <a:r>
              <a:rPr lang="en-US" altLang="zh-CN" sz="2800" dirty="0"/>
              <a:t>/</a:t>
            </a:r>
            <a:r>
              <a:rPr lang="en-US" altLang="zh-CN" sz="2800" b="1" dirty="0"/>
              <a:t>2)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1690463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When the definition of a new type (Complex or Simple) is nested inside an element declaration it is called an Anonymous type</a:t>
            </a:r>
          </a:p>
          <a:p>
            <a:pPr lvl="1" eaLnBrk="1" hangingPunct="1"/>
            <a:r>
              <a:rPr lang="en-US" altLang="zh-CN" sz="2000" dirty="0"/>
              <a:t>These are also known as inline definitions</a:t>
            </a:r>
          </a:p>
        </p:txBody>
      </p:sp>
      <p:sp>
        <p:nvSpPr>
          <p:cNvPr id="77826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E5F1E37-8C85-4E23-A225-6CAF3A1E61BB}" type="slidenum">
              <a:rPr lang="en-US" altLang="zh-CN" smtClean="0"/>
              <a:pPr eaLnBrk="1" hangingPunct="1"/>
              <a:t>26</a:t>
            </a:fld>
            <a:endParaRPr lang="en-US" altLang="zh-CN"/>
          </a:p>
        </p:txBody>
      </p:sp>
      <p:pic>
        <p:nvPicPr>
          <p:cNvPr id="7782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85578"/>
            <a:ext cx="7341225" cy="3796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2800" b="1" dirty="0"/>
              <a:t>Named versus Anonymous Types (2</a:t>
            </a:r>
            <a:r>
              <a:rPr lang="en-US" altLang="zh-CN" sz="2800" dirty="0"/>
              <a:t>/</a:t>
            </a:r>
            <a:r>
              <a:rPr lang="en-US" altLang="zh-CN" sz="2800" b="1" dirty="0"/>
              <a:t>2)</a:t>
            </a:r>
          </a:p>
        </p:txBody>
      </p:sp>
      <p:sp>
        <p:nvSpPr>
          <p:cNvPr id="7885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76063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This accomplishes the same thing but it's reusable.</a:t>
            </a:r>
          </a:p>
        </p:txBody>
      </p:sp>
      <p:sp>
        <p:nvSpPr>
          <p:cNvPr id="78850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0F82639-B24F-4CA8-8054-6C9EDF35C6AF}" type="slidenum">
              <a:rPr lang="en-US" altLang="zh-CN" smtClean="0"/>
              <a:pPr eaLnBrk="1" hangingPunct="1"/>
              <a:t>27</a:t>
            </a:fld>
            <a:endParaRPr lang="en-US" altLang="zh-CN"/>
          </a:p>
        </p:txBody>
      </p:sp>
      <p:pic>
        <p:nvPicPr>
          <p:cNvPr id="788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52" y="1709775"/>
            <a:ext cx="7404100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b="1" dirty="0"/>
              <a:t>Anonymous Types in Attribute Declarations</a:t>
            </a:r>
          </a:p>
        </p:txBody>
      </p:sp>
      <p:sp>
        <p:nvSpPr>
          <p:cNvPr id="7987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1080863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Anonymous types can also be used in attribute declarations.</a:t>
            </a:r>
          </a:p>
        </p:txBody>
      </p:sp>
      <p:sp>
        <p:nvSpPr>
          <p:cNvPr id="7987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E5EACD4-CCD6-42AD-A5B9-7FF5FE52A656}" type="slidenum">
              <a:rPr lang="en-US" altLang="zh-CN" smtClean="0"/>
              <a:pPr eaLnBrk="1" hangingPunct="1"/>
              <a:t>28</a:t>
            </a:fld>
            <a:endParaRPr lang="en-US" altLang="zh-CN"/>
          </a:p>
        </p:txBody>
      </p:sp>
      <p:pic>
        <p:nvPicPr>
          <p:cNvPr id="7987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154" y="2046287"/>
            <a:ext cx="7241433" cy="435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Global versus Local Types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Types can be declared local to an element.</a:t>
            </a:r>
          </a:p>
          <a:p>
            <a:pPr lvl="1" eaLnBrk="1" hangingPunct="1"/>
            <a:r>
              <a:rPr lang="en-US" altLang="zh-CN" dirty="0"/>
              <a:t>Anonymous types are local types.</a:t>
            </a:r>
          </a:p>
          <a:p>
            <a:pPr eaLnBrk="1" hangingPunct="1"/>
            <a:r>
              <a:rPr lang="en-US" altLang="zh-CN" dirty="0"/>
              <a:t>Types can be declared globally as a direct child of the schema element.</a:t>
            </a:r>
          </a:p>
          <a:p>
            <a:pPr lvl="1" eaLnBrk="1" hangingPunct="1"/>
            <a:r>
              <a:rPr lang="en-US" altLang="zh-CN" dirty="0"/>
              <a:t>Named types are global types.</a:t>
            </a:r>
          </a:p>
          <a:p>
            <a:pPr eaLnBrk="1" hangingPunct="1"/>
            <a:r>
              <a:rPr lang="en-US" altLang="zh-CN" dirty="0"/>
              <a:t>Only top-level types can be named and reused.</a:t>
            </a:r>
          </a:p>
        </p:txBody>
      </p:sp>
      <p:sp>
        <p:nvSpPr>
          <p:cNvPr id="80898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47FBCD-0B5C-4A8A-B100-1519EBBB43CB}" type="slidenum">
              <a:rPr lang="en-US" altLang="zh-CN" smtClean="0"/>
              <a:pPr eaLnBrk="1" hangingPunct="1"/>
              <a:t>29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b="1" dirty="0"/>
              <a:t>Example: Global Definitions and Declarations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1233263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An element declaration that uses a global </a:t>
            </a:r>
            <a:r>
              <a:rPr lang="en-US" altLang="zh-CN" sz="2400" dirty="0" err="1"/>
              <a:t>complexType</a:t>
            </a:r>
            <a:r>
              <a:rPr lang="en-US" altLang="zh-CN" sz="2400" dirty="0"/>
              <a:t>, which itself uses a global model group:</a:t>
            </a:r>
          </a:p>
        </p:txBody>
      </p:sp>
      <p:sp>
        <p:nvSpPr>
          <p:cNvPr id="81922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6B6E473-0C25-43D4-B695-8B8B449BC450}" type="slidenum">
              <a:rPr lang="en-US" altLang="zh-CN" smtClean="0"/>
              <a:pPr eaLnBrk="1" hangingPunct="1"/>
              <a:t>30</a:t>
            </a:fld>
            <a:endParaRPr lang="en-US" altLang="zh-CN" dirty="0"/>
          </a:p>
        </p:txBody>
      </p:sp>
      <p:pic>
        <p:nvPicPr>
          <p:cNvPr id="8192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54250"/>
            <a:ext cx="7272338" cy="368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Putting a Schema in a Namespace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How do I associate a set of components with a particular namespace?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The </a:t>
            </a:r>
            <a:r>
              <a:rPr lang="en-US" altLang="zh-CN" sz="2000" dirty="0" err="1"/>
              <a:t>targetNamespace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elementFormDefault</a:t>
            </a:r>
            <a:r>
              <a:rPr lang="en-US" altLang="zh-CN" sz="2000" dirty="0"/>
              <a:t> and </a:t>
            </a:r>
            <a:r>
              <a:rPr lang="en-US" altLang="zh-CN" sz="2000" dirty="0" err="1"/>
              <a:t>attributeFormDefault</a:t>
            </a:r>
            <a:r>
              <a:rPr lang="en-US" altLang="zh-CN" sz="2000" dirty="0"/>
              <a:t> attributes.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Now the </a:t>
            </a:r>
            <a:r>
              <a:rPr lang="en-US" altLang="zh-CN" sz="2400" b="1" dirty="0"/>
              <a:t>&lt;quantity&gt; </a:t>
            </a:r>
            <a:r>
              <a:rPr lang="en-US" altLang="zh-CN" sz="2400" dirty="0"/>
              <a:t>element will be "in" the namespace with the URI: </a:t>
            </a:r>
            <a:r>
              <a:rPr lang="en-US" altLang="zh-CN" sz="2400" b="1" dirty="0">
                <a:solidFill>
                  <a:srgbClr val="993300"/>
                </a:solidFill>
              </a:rPr>
              <a:t>http://www.ibm.com/Schemas/WD03/target</a:t>
            </a:r>
          </a:p>
        </p:txBody>
      </p:sp>
      <p:sp>
        <p:nvSpPr>
          <p:cNvPr id="82946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C776973-2238-4ABA-967C-DBAAE594CB1A}" type="slidenum">
              <a:rPr lang="en-US" altLang="zh-CN" smtClean="0"/>
              <a:pPr eaLnBrk="1" hangingPunct="1"/>
              <a:t>31</a:t>
            </a:fld>
            <a:endParaRPr lang="en-US" altLang="zh-CN"/>
          </a:p>
        </p:txBody>
      </p:sp>
      <p:pic>
        <p:nvPicPr>
          <p:cNvPr id="8294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44" y="2836862"/>
            <a:ext cx="81946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Finding the Schema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2528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000" dirty="0"/>
              <a:t>Instance documents reference the schema using the following element syntax: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/>
              <a:t>To reference the schema on the previous slide use:</a:t>
            </a:r>
          </a:p>
        </p:txBody>
      </p:sp>
      <p:sp>
        <p:nvSpPr>
          <p:cNvPr id="83970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A84A40A-2068-4BDF-B468-37D275A5168F}" type="slidenum">
              <a:rPr lang="en-US" altLang="zh-CN" smtClean="0"/>
              <a:pPr eaLnBrk="1" hangingPunct="1"/>
              <a:t>32</a:t>
            </a:fld>
            <a:endParaRPr lang="en-US" altLang="zh-CN"/>
          </a:p>
        </p:txBody>
      </p:sp>
      <p:pic>
        <p:nvPicPr>
          <p:cNvPr id="8397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5770"/>
            <a:ext cx="754380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683000"/>
            <a:ext cx="7086600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XML Schema Instance Namespace</a:t>
            </a:r>
          </a:p>
        </p:txBody>
      </p:sp>
      <p:sp>
        <p:nvSpPr>
          <p:cNvPr id="8499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2528663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XML Schema Instance Namespace - </a:t>
            </a:r>
            <a:r>
              <a:rPr lang="en-US" altLang="zh-CN" sz="2800" dirty="0" err="1"/>
              <a:t>xsi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http://www.w3.org/2001/XMLSchema-instance</a:t>
            </a:r>
          </a:p>
          <a:p>
            <a:pPr lvl="1" eaLnBrk="1" hangingPunct="1"/>
            <a:r>
              <a:rPr lang="en-US" altLang="zh-CN" sz="2300" b="1" dirty="0" err="1"/>
              <a:t>schemaLocation</a:t>
            </a:r>
            <a:r>
              <a:rPr lang="en-US" altLang="zh-CN" sz="2300" b="1" dirty="0"/>
              <a:t>, </a:t>
            </a:r>
            <a:r>
              <a:rPr lang="en-US" altLang="zh-CN" sz="2300" b="1" dirty="0" err="1"/>
              <a:t>noNamespaceSchemaLocation</a:t>
            </a:r>
            <a:endParaRPr lang="en-US" altLang="zh-CN" sz="2300" b="1" dirty="0"/>
          </a:p>
          <a:p>
            <a:pPr lvl="1" eaLnBrk="1" hangingPunct="1"/>
            <a:r>
              <a:rPr lang="en-US" altLang="zh-CN" sz="2300" b="1" dirty="0"/>
              <a:t>type</a:t>
            </a:r>
          </a:p>
          <a:p>
            <a:pPr lvl="1" eaLnBrk="1" hangingPunct="1"/>
            <a:r>
              <a:rPr lang="en-US" altLang="zh-CN" sz="2300" b="1" dirty="0"/>
              <a:t>Nil</a:t>
            </a:r>
          </a:p>
        </p:txBody>
      </p:sp>
      <p:sp>
        <p:nvSpPr>
          <p:cNvPr id="8499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1F0ABB2-1C99-411A-8ED4-37F421176D25}" type="slidenum">
              <a:rPr lang="en-US" altLang="zh-CN" smtClean="0"/>
              <a:pPr eaLnBrk="1" hangingPunct="1"/>
              <a:t>33</a:t>
            </a:fld>
            <a:endParaRPr lang="en-US" altLang="zh-CN"/>
          </a:p>
        </p:txBody>
      </p:sp>
      <p:pic>
        <p:nvPicPr>
          <p:cNvPr id="8499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81" y="3657600"/>
            <a:ext cx="8299450" cy="171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References</a:t>
            </a:r>
          </a:p>
        </p:txBody>
      </p:sp>
      <p:sp>
        <p:nvSpPr>
          <p:cNvPr id="9011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93FFA50-B2E1-41DD-A1C2-474CDBD07DBB}" type="slidenum">
              <a:rPr lang="en-US" altLang="zh-CN" smtClean="0"/>
              <a:pPr eaLnBrk="1" hangingPunct="1"/>
              <a:t>34</a:t>
            </a:fld>
            <a:endParaRPr lang="en-US" altLang="zh-CN"/>
          </a:p>
        </p:txBody>
      </p:sp>
      <p:pic>
        <p:nvPicPr>
          <p:cNvPr id="901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200150"/>
            <a:ext cx="7554913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softwar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4454</TotalTime>
  <Words>1448</Words>
  <Application>Microsoft Office PowerPoint</Application>
  <PresentationFormat>全屏显示(4:3)</PresentationFormat>
  <Paragraphs>293</Paragraphs>
  <Slides>34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8" baseType="lpstr">
      <vt:lpstr>Arial</vt:lpstr>
      <vt:lpstr>Verdana</vt:lpstr>
      <vt:lpstr>Wingdings</vt:lpstr>
      <vt:lpstr>software</vt:lpstr>
      <vt:lpstr>XML Schema The Language to define XML type Service-Oriented Software Engineering</vt:lpstr>
      <vt:lpstr>Why Do We Need XML Schema?</vt:lpstr>
      <vt:lpstr>Features</vt:lpstr>
      <vt:lpstr>Anatomy of an XML Schema</vt:lpstr>
      <vt:lpstr>Simple Element Declaration</vt:lpstr>
      <vt:lpstr>minOccurs and maxOccurs Facets</vt:lpstr>
      <vt:lpstr>Example: minOccurs and maxOccurs</vt:lpstr>
      <vt:lpstr>Declaring Child Elements</vt:lpstr>
      <vt:lpstr>Example: Compositors</vt:lpstr>
      <vt:lpstr>Declaring Attributes</vt:lpstr>
      <vt:lpstr>Example: Attribute Declaration</vt:lpstr>
      <vt:lpstr>Example: An Element with Attributes (1/2)</vt:lpstr>
      <vt:lpstr>Example: An Element with Attributes (2/2)</vt:lpstr>
      <vt:lpstr>Attribute Groups</vt:lpstr>
      <vt:lpstr>The XML Schema Type System</vt:lpstr>
      <vt:lpstr>The Built-in Simple Types</vt:lpstr>
      <vt:lpstr>Creating New Types</vt:lpstr>
      <vt:lpstr>Constraining Facets </vt:lpstr>
      <vt:lpstr>Example: Constraining Facets</vt:lpstr>
      <vt:lpstr>Example: Enumeration Facet</vt:lpstr>
      <vt:lpstr>Complex Types</vt:lpstr>
      <vt:lpstr>simpleContent and Empty Complex Types</vt:lpstr>
      <vt:lpstr>simpleContent Example</vt:lpstr>
      <vt:lpstr>Element Only and Mixed Complex Types</vt:lpstr>
      <vt:lpstr>Model Groups and Compositors</vt:lpstr>
      <vt:lpstr>Named versus Anonymous Types (1/2)</vt:lpstr>
      <vt:lpstr>Named versus Anonymous Types (2/2)</vt:lpstr>
      <vt:lpstr>Anonymous Types in Attribute Declarations</vt:lpstr>
      <vt:lpstr>Global versus Local Types</vt:lpstr>
      <vt:lpstr>Example: Global Definitions and Declarations</vt:lpstr>
      <vt:lpstr>Putting a Schema in a Namespace</vt:lpstr>
      <vt:lpstr>Finding the Schema</vt:lpstr>
      <vt:lpstr>XML Schema Instance Namespace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beijia</dc:creator>
  <cp:lastModifiedBy>jia bei</cp:lastModifiedBy>
  <cp:revision>139</cp:revision>
  <cp:lastPrinted>1601-01-01T00:00:00Z</cp:lastPrinted>
  <dcterms:created xsi:type="dcterms:W3CDTF">1601-01-01T00:00:00Z</dcterms:created>
  <dcterms:modified xsi:type="dcterms:W3CDTF">2023-09-21T02:27:21Z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