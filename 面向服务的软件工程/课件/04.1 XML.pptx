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2"/>
  </p:notesMasterIdLst>
  <p:sldIdLst>
    <p:sldId id="256" r:id="rId2"/>
    <p:sldId id="262" r:id="rId3"/>
    <p:sldId id="263" r:id="rId4"/>
    <p:sldId id="264" r:id="rId5"/>
    <p:sldId id="265" r:id="rId6"/>
    <p:sldId id="274" r:id="rId7"/>
    <p:sldId id="266" r:id="rId8"/>
    <p:sldId id="267" r:id="rId9"/>
    <p:sldId id="269" r:id="rId10"/>
    <p:sldId id="270" r:id="rId11"/>
    <p:sldId id="272" r:id="rId12"/>
    <p:sldId id="273" r:id="rId13"/>
    <p:sldId id="275" r:id="rId14"/>
    <p:sldId id="276" r:id="rId15"/>
    <p:sldId id="277" r:id="rId16"/>
    <p:sldId id="268" r:id="rId17"/>
    <p:sldId id="271" r:id="rId18"/>
    <p:sldId id="279" r:id="rId19"/>
    <p:sldId id="280" r:id="rId20"/>
    <p:sldId id="281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7" autoAdjust="0"/>
    <p:restoredTop sz="73973" autoAdjust="0"/>
  </p:normalViewPr>
  <p:slideViewPr>
    <p:cSldViewPr>
      <p:cViewPr varScale="1">
        <p:scale>
          <a:sx n="71" d="100"/>
          <a:sy n="71" d="100"/>
        </p:scale>
        <p:origin x="651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EEBF844-B86D-4371-AB5F-2C32BB171C45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48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A95A246-0ADF-4CC4-802A-CE354434D7C2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493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485BE0A-EBFB-4715-83D4-B1F5CAD86A74}" type="slidenum">
              <a:rPr lang="en-US" altLang="zh-CN" smtClean="0"/>
              <a:pPr eaLnBrk="1" hangingPunct="1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441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1E7F197-CF20-445B-B0A7-509D6170FF0E}" type="slidenum">
              <a:rPr lang="en-US" altLang="zh-CN" smtClean="0"/>
              <a:pPr eaLnBrk="1" hangingPunct="1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538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DEEE215-D2AD-48D8-B29F-886F4AF01C96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994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3DF1091-458C-4B4B-8148-882672E05C88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0807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E640150-CDF5-4E01-ADE5-49C4436A6795}" type="slidenum">
              <a:rPr lang="en-US" altLang="zh-CN" smtClean="0"/>
              <a:pPr eaLnBrk="1" hangingPunct="1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252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39FA43D-78AC-4558-A7BD-5966D53E026D}" type="slidenum">
              <a:rPr lang="en-US" altLang="zh-CN" smtClean="0"/>
              <a:pPr eaLnBrk="1" hangingPunct="1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194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A1AD87-CAAE-4AD0-BF8A-7179F53DB5A4}" type="slidenum">
              <a:rPr lang="en-US" altLang="zh-CN" smtClean="0"/>
              <a:pPr eaLnBrk="1" hangingPunct="1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002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A510EA7-85EC-4060-9076-8F28DA2D65CE}" type="slidenum">
              <a:rPr lang="en-US" altLang="zh-CN" smtClean="0"/>
              <a:pPr eaLnBrk="1" hangingPunct="1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325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03FA55F-DE23-484A-B41E-D3E140601227}" type="slidenum">
              <a:rPr lang="en-US" altLang="zh-CN" smtClean="0"/>
              <a:pPr eaLnBrk="1" hangingPunct="1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721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68F2CDB-6889-412A-AD20-934D2A1F8EDB}" type="slidenum">
              <a:rPr lang="en-US" altLang="zh-CN" smtClean="0"/>
              <a:pPr eaLnBrk="1" hangingPunct="1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2428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6CA8610-96A0-423D-97F7-F635A1523602}" type="slidenum">
              <a:rPr lang="en-US" altLang="zh-CN" smtClean="0"/>
              <a:pPr eaLnBrk="1" hangingPunct="1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48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110FCDD-41FA-4736-91EB-7DFAB0B3A46F}" type="slidenum">
              <a:rPr lang="en-US" altLang="zh-CN" smtClean="0"/>
              <a:pPr eaLnBrk="1" hangingPunct="1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8107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FF4D546-C419-4D82-9E35-92CD588C2CC5}" type="slidenum">
              <a:rPr lang="en-US" altLang="zh-CN" smtClean="0"/>
              <a:pPr eaLnBrk="1" hangingPunct="1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434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F9456C5-00A0-41E1-9FC0-E09D49AD7A38}" type="slidenum">
              <a:rPr lang="en-US" altLang="zh-CN" smtClean="0"/>
              <a:pPr eaLnBrk="1" hangingPunct="1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016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93BC3AE-C465-46F5-80C2-30DBB6143F57}" type="slidenum">
              <a:rPr lang="en-US" altLang="zh-CN" smtClean="0"/>
              <a:pPr eaLnBrk="1" hangingPunct="1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5201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CA87959-7A95-4FD1-897A-C14451319863}" type="slidenum">
              <a:rPr lang="en-US" altLang="zh-CN" smtClean="0"/>
              <a:pPr eaLnBrk="1" hangingPunct="1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314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B4D7269-CC2B-4F7F-A794-4E7250021EC9}" type="slidenum">
              <a:rPr lang="en-US" altLang="zh-CN" smtClean="0"/>
              <a:pPr eaLnBrk="1" hangingPunct="1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058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>
              <a:spcBef>
                <a:spcPts val="125"/>
              </a:spcBef>
            </a:pPr>
            <a:r>
              <a:rPr lang="en-US" altLang="zh-CN" sz="2800" dirty="0"/>
              <a:t>XML</a:t>
            </a:r>
            <a:br>
              <a:rPr lang="en-US" altLang="zh-CN" sz="2800" dirty="0"/>
            </a:br>
            <a:r>
              <a:rPr lang="en-US" altLang="zh-CN" sz="2800" dirty="0"/>
              <a:t>Structural Data in Pure Text 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What Is XML?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sz="2400" dirty="0"/>
              <a:t>At its core XML is text formatted to follow a well-defined set of rules.</a:t>
            </a:r>
          </a:p>
          <a:p>
            <a:pPr eaLnBrk="1" hangingPunct="1"/>
            <a:r>
              <a:rPr lang="en-US" altLang="zh-CN" sz="2400" dirty="0"/>
              <a:t>XML documents consist primarily of tags and text.</a:t>
            </a:r>
          </a:p>
          <a:p>
            <a:pPr eaLnBrk="1" hangingPunct="1"/>
            <a:r>
              <a:rPr lang="en-US" altLang="zh-CN" sz="2400" dirty="0"/>
              <a:t>This text may be stored/represented in:</a:t>
            </a:r>
          </a:p>
          <a:p>
            <a:pPr lvl="1" eaLnBrk="1" hangingPunct="1"/>
            <a:r>
              <a:rPr lang="en-US" altLang="zh-CN" sz="2000" dirty="0"/>
              <a:t>A normal file stored on disk</a:t>
            </a:r>
          </a:p>
          <a:p>
            <a:pPr lvl="1" eaLnBrk="1" hangingPunct="1"/>
            <a:r>
              <a:rPr lang="en-US" altLang="zh-CN" sz="2000" dirty="0"/>
              <a:t>A message being sent over HTTP</a:t>
            </a:r>
          </a:p>
          <a:p>
            <a:pPr lvl="1" eaLnBrk="1" hangingPunct="1"/>
            <a:r>
              <a:rPr lang="en-US" altLang="zh-CN" sz="2000" dirty="0"/>
              <a:t>A character string in a programming language</a:t>
            </a:r>
          </a:p>
          <a:p>
            <a:pPr lvl="1" eaLnBrk="1" hangingPunct="1"/>
            <a:r>
              <a:rPr lang="en-US" altLang="zh-CN" sz="2000" dirty="0"/>
              <a:t>A CLOB (character large object) in a database</a:t>
            </a:r>
          </a:p>
          <a:p>
            <a:pPr lvl="1" eaLnBrk="1" hangingPunct="1"/>
            <a:r>
              <a:rPr lang="en-US" altLang="zh-CN" sz="2000" dirty="0"/>
              <a:t>Any other way textual data can be used</a:t>
            </a:r>
          </a:p>
          <a:p>
            <a:r>
              <a:rPr lang="en-US" altLang="zh-CN" sz="2400" dirty="0"/>
              <a:t>XML documents do not need to exist as documents. For simplicity they will be referred to as though they are documents and files. --they may be:</a:t>
            </a:r>
          </a:p>
          <a:p>
            <a:pPr lvl="1" eaLnBrk="1" hangingPunct="1"/>
            <a:r>
              <a:rPr lang="en-US" altLang="zh-CN" sz="2000" dirty="0"/>
              <a:t>Byte streams sent between applications</a:t>
            </a:r>
          </a:p>
          <a:p>
            <a:pPr lvl="1" eaLnBrk="1" hangingPunct="1"/>
            <a:r>
              <a:rPr lang="en-US" altLang="zh-CN" sz="2000" dirty="0"/>
              <a:t>Fields in a database record</a:t>
            </a:r>
          </a:p>
          <a:p>
            <a:pPr lvl="1" eaLnBrk="1" hangingPunct="1"/>
            <a:r>
              <a:rPr lang="en-US" altLang="zh-CN" sz="2000" dirty="0"/>
              <a:t>Collections of XML </a:t>
            </a:r>
            <a:r>
              <a:rPr lang="en-US" altLang="zh-CN" sz="2000" dirty="0" err="1"/>
              <a:t>Infoset</a:t>
            </a:r>
            <a:r>
              <a:rPr lang="en-US" altLang="zh-CN" sz="2000" dirty="0"/>
              <a:t> information items</a:t>
            </a:r>
          </a:p>
        </p:txBody>
      </p:sp>
      <p:sp>
        <p:nvSpPr>
          <p:cNvPr id="1126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E7ABFC4-B73F-4547-9011-DD27968E8E42}" type="slidenum">
              <a:rPr lang="en-US" altLang="zh-CN" smtClean="0"/>
              <a:pPr eaLnBrk="1" hangingPunct="1"/>
              <a:t>2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/>
              <a:t>Example Tree Representation of XML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233263"/>
          </a:xfrm>
        </p:spPr>
        <p:txBody>
          <a:bodyPr/>
          <a:lstStyle/>
          <a:p>
            <a:pPr eaLnBrk="1" hangingPunct="1"/>
            <a:r>
              <a:rPr lang="en-US" altLang="zh-CN" dirty="0"/>
              <a:t>XML documents should be thought of as a hierarchical tree structure.</a:t>
            </a: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874409B-E8CA-492B-AC6F-84BDB77B63FF}" type="slidenum">
              <a:rPr lang="en-US" altLang="zh-CN" smtClean="0"/>
              <a:pPr eaLnBrk="1" hangingPunct="1"/>
              <a:t>3</a:t>
            </a:fld>
            <a:endParaRPr lang="en-US" altLang="zh-CN"/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67818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Basic Structure</a:t>
            </a:r>
          </a:p>
        </p:txBody>
      </p:sp>
      <p:sp>
        <p:nvSpPr>
          <p:cNvPr id="1331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23334D9-3D8B-46EF-B7DE-C241248CDF0C}" type="slidenum">
              <a:rPr lang="en-US" altLang="zh-CN" smtClean="0"/>
              <a:pPr eaLnBrk="1" hangingPunct="1"/>
              <a:t>4</a:t>
            </a:fld>
            <a:endParaRPr lang="en-US" altLang="zh-CN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207" y="1219200"/>
            <a:ext cx="7086600" cy="518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Basics of </a:t>
            </a:r>
            <a:r>
              <a:rPr lang="en-US" altLang="zh-CN" i="1"/>
              <a:t>Well-formed </a:t>
            </a:r>
            <a:r>
              <a:rPr lang="en-US" altLang="zh-CN"/>
              <a:t>XML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XML documents are considered to be </a:t>
            </a:r>
            <a:r>
              <a:rPr lang="en-US" altLang="zh-CN" i="1" dirty="0">
                <a:solidFill>
                  <a:srgbClr val="FF0000"/>
                </a:solidFill>
              </a:rPr>
              <a:t>well-formed</a:t>
            </a:r>
            <a:r>
              <a:rPr lang="en-US" altLang="zh-CN" i="1" dirty="0"/>
              <a:t> </a:t>
            </a:r>
            <a:r>
              <a:rPr lang="en-US" altLang="zh-CN" dirty="0"/>
              <a:t>when they adhere to a set of five rules that define basic XML syntax and structure + a sixth for worldwide conformity.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Single root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Element Tag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Element Nesting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Element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Element 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XML Declaration</a:t>
            </a:r>
          </a:p>
        </p:txBody>
      </p:sp>
      <p:sp>
        <p:nvSpPr>
          <p:cNvPr id="1433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3F23C44-B707-44C3-8E49-EF77DB3B6CEB}" type="slidenum">
              <a:rPr lang="en-US" altLang="zh-CN" smtClean="0"/>
              <a:pPr eaLnBrk="1" hangingPunct="1"/>
              <a:t>5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 Single Root Element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1570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All XML documents must have a single root element.</a:t>
            </a:r>
            <a:endParaRPr lang="en-US" altLang="zh-CN" sz="2800" dirty="0"/>
          </a:p>
        </p:txBody>
      </p:sp>
      <p:sp>
        <p:nvSpPr>
          <p:cNvPr id="1536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882F585-E393-42EA-B9D7-B97916E647AA}" type="slidenum">
              <a:rPr lang="en-US" altLang="zh-CN" smtClean="0"/>
              <a:pPr eaLnBrk="1" hangingPunct="1"/>
              <a:t>6</a:t>
            </a:fld>
            <a:endParaRPr lang="en-US" altLang="zh-CN"/>
          </a:p>
        </p:txBody>
      </p:sp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62200"/>
            <a:ext cx="7924800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Element Tag Rules</a:t>
            </a: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831343B-8D16-4414-AE69-81FEB0A87944}" type="slidenum">
              <a:rPr lang="en-US" altLang="zh-CN" smtClean="0"/>
              <a:pPr eaLnBrk="1" hangingPunct="1"/>
              <a:t>7</a:t>
            </a:fld>
            <a:endParaRPr lang="en-US" altLang="zh-CN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6200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 Element Nesting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2147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Elements must be properly nested.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The end tags of inner elements must occur before the end tags of outer elements.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Any number of child elements or data may be nested within the start and end tags of an element.</a:t>
            </a:r>
          </a:p>
        </p:txBody>
      </p:sp>
      <p:sp>
        <p:nvSpPr>
          <p:cNvPr id="1741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7993CEB-66A9-4748-8035-65195DB413C1}" type="slidenum">
              <a:rPr lang="en-US" altLang="zh-CN" smtClean="0"/>
              <a:pPr eaLnBrk="1" hangingPunct="1"/>
              <a:t>8</a:t>
            </a:fld>
            <a:endParaRPr lang="en-US" altLang="zh-CN"/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200400"/>
            <a:ext cx="5791200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/>
              <a:t>4. Element Rules : XML Naming (1/2)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XML name construction:</a:t>
            </a:r>
          </a:p>
          <a:p>
            <a:pPr lvl="1" eaLnBrk="1" hangingPunct="1"/>
            <a:r>
              <a:rPr lang="en-US" altLang="zh-CN" dirty="0"/>
              <a:t>The first character must be A-Z, a-z, or _ (underscore)</a:t>
            </a:r>
          </a:p>
          <a:p>
            <a:pPr lvl="1" eaLnBrk="1" hangingPunct="1"/>
            <a:r>
              <a:rPr lang="en-US" altLang="zh-CN" dirty="0"/>
              <a:t>Any number of subsequent letters, numbers, hyphens, periods, colons, and underscore characters.</a:t>
            </a:r>
          </a:p>
          <a:p>
            <a:pPr lvl="1" eaLnBrk="1" hangingPunct="1"/>
            <a:r>
              <a:rPr lang="en-US" altLang="zh-CN" dirty="0"/>
              <a:t>XML names are case sensitive.</a:t>
            </a:r>
          </a:p>
          <a:p>
            <a:pPr lvl="1" eaLnBrk="1" hangingPunct="1"/>
            <a:r>
              <a:rPr lang="en-US" altLang="zh-CN" dirty="0"/>
              <a:t>Names cannot contain spaces.</a:t>
            </a:r>
          </a:p>
          <a:p>
            <a:pPr lvl="2" eaLnBrk="1" hangingPunct="1"/>
            <a:r>
              <a:rPr lang="en-US" altLang="zh-CN" dirty="0"/>
              <a:t>Names must not have a prefix of xml in any case combination (such names are reserved).</a:t>
            </a:r>
          </a:p>
        </p:txBody>
      </p:sp>
      <p:sp>
        <p:nvSpPr>
          <p:cNvPr id="1843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D42EC37-BB78-41B6-8911-476291DD6DCC}" type="slidenum">
              <a:rPr lang="en-US" altLang="zh-CN" smtClean="0"/>
              <a:pPr eaLnBrk="1" hangingPunct="1"/>
              <a:t>9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/>
              <a:t>4. Element Rules : XML Naming (2/2)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928463"/>
          </a:xfrm>
        </p:spPr>
        <p:txBody>
          <a:bodyPr/>
          <a:lstStyle/>
          <a:p>
            <a:pPr eaLnBrk="1" hangingPunct="1"/>
            <a:r>
              <a:rPr lang="en-US" altLang="zh-CN" dirty="0"/>
              <a:t>Tag Naming - Samples</a:t>
            </a:r>
          </a:p>
        </p:txBody>
      </p:sp>
      <p:sp>
        <p:nvSpPr>
          <p:cNvPr id="1945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AAA2E0A-2AC0-4483-9B91-0571D1808AEC}" type="slidenum">
              <a:rPr lang="en-US" altLang="zh-CN" smtClean="0"/>
              <a:pPr eaLnBrk="1" hangingPunct="1"/>
              <a:t>10</a:t>
            </a:fld>
            <a:endParaRPr lang="en-US" altLang="zh-CN"/>
          </a:p>
        </p:txBody>
      </p:sp>
      <p:pic>
        <p:nvPicPr>
          <p:cNvPr id="1946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33600"/>
            <a:ext cx="5791200" cy="388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4. Element Rules : Element Content</a:t>
            </a:r>
            <a:br>
              <a:rPr lang="en-US" altLang="zh-CN" sz="2800" dirty="0"/>
            </a:br>
            <a:r>
              <a:rPr lang="en-US" altLang="zh-CN" sz="2800" dirty="0"/>
              <a:t>(General)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2286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An XML instance is composed of </a:t>
            </a:r>
            <a:r>
              <a:rPr lang="en-US" altLang="zh-CN" sz="2400" i="1" dirty="0">
                <a:solidFill>
                  <a:srgbClr val="FF0000"/>
                </a:solidFill>
              </a:rPr>
              <a:t>elements</a:t>
            </a:r>
            <a:r>
              <a:rPr lang="en-US" altLang="zh-CN" sz="2400" i="1" dirty="0"/>
              <a:t> </a:t>
            </a:r>
            <a:r>
              <a:rPr lang="en-US" altLang="zh-CN" sz="2400" dirty="0"/>
              <a:t>expressed in tag pairs (except for empty tags) plus optional </a:t>
            </a:r>
            <a:r>
              <a:rPr lang="en-US" altLang="zh-CN" sz="2400" i="1" dirty="0">
                <a:solidFill>
                  <a:srgbClr val="FF0000"/>
                </a:solidFill>
              </a:rPr>
              <a:t>attributes</a:t>
            </a:r>
            <a:r>
              <a:rPr lang="en-US" altLang="zh-CN" sz="2400" i="1" dirty="0"/>
              <a:t> </a:t>
            </a:r>
            <a:r>
              <a:rPr lang="en-US" altLang="zh-CN" sz="2400" dirty="0"/>
              <a:t>that always have quoted values and optional </a:t>
            </a:r>
            <a:r>
              <a:rPr lang="en-US" altLang="zh-CN" sz="2400" i="1" dirty="0">
                <a:solidFill>
                  <a:srgbClr val="FF0000"/>
                </a:solidFill>
              </a:rPr>
              <a:t>data</a:t>
            </a:r>
            <a:r>
              <a:rPr lang="en-US" altLang="zh-CN" sz="2400" i="1" dirty="0"/>
              <a:t> </a:t>
            </a:r>
            <a:r>
              <a:rPr lang="en-US" altLang="zh-CN" sz="2400" dirty="0"/>
              <a:t>that appears between the element start tag and the element end tag.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Mixed content - element content that contains data (PCDATA is shown) and other elements.</a:t>
            </a:r>
          </a:p>
        </p:txBody>
      </p:sp>
      <p:sp>
        <p:nvSpPr>
          <p:cNvPr id="2048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C4F3808-E6C3-405F-9BD6-3CAB1B85FB04}" type="slidenum">
              <a:rPr lang="en-US" altLang="zh-CN" smtClean="0"/>
              <a:pPr eaLnBrk="1" hangingPunct="1"/>
              <a:t>11</a:t>
            </a:fld>
            <a:endParaRPr lang="en-US" altLang="zh-CN"/>
          </a:p>
        </p:txBody>
      </p:sp>
      <p:pic>
        <p:nvPicPr>
          <p:cNvPr id="2048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733800"/>
            <a:ext cx="5867400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4. Element Rules : Element Content (Data)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Element data content is handled in one of two ways:</a:t>
            </a:r>
          </a:p>
          <a:p>
            <a:pPr lvl="1" eaLnBrk="1" hangingPunct="1"/>
            <a:r>
              <a:rPr lang="en-US" altLang="zh-CN" dirty="0"/>
              <a:t>1. Parsed Character Data (PCDATA): is examined by the XML parser to discover XML content embedded within it.</a:t>
            </a:r>
          </a:p>
          <a:p>
            <a:pPr lvl="1" eaLnBrk="1" hangingPunct="1"/>
            <a:r>
              <a:rPr lang="en-US" altLang="zh-CN" dirty="0"/>
              <a:t>2. Character Data (CDATA): is delimited by the special syntax &lt;![CDATA[ ... ]]&gt; and is not processed by the parser.</a:t>
            </a:r>
          </a:p>
        </p:txBody>
      </p:sp>
      <p:sp>
        <p:nvSpPr>
          <p:cNvPr id="2150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391AE42-276F-484A-B828-68891EF2C49F}" type="slidenum">
              <a:rPr lang="en-US" altLang="zh-CN" smtClean="0"/>
              <a:pPr eaLnBrk="1" hangingPunct="1"/>
              <a:t>12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4. Element Rules : </a:t>
            </a:r>
            <a:br>
              <a:rPr lang="en-US" altLang="zh-CN" sz="2800" dirty="0"/>
            </a:br>
            <a:r>
              <a:rPr lang="en-US" altLang="en-US" sz="2800" dirty="0"/>
              <a:t>PCDATA - Parsed Character Data</a:t>
            </a:r>
            <a:endParaRPr lang="en-US" altLang="zh-CN" sz="28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9190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Predefined entities exist to address ambiguous syntax situations, situations where the literal would be interpreted as part of the XML document syntax rather than its content.</a:t>
            </a:r>
          </a:p>
        </p:txBody>
      </p:sp>
      <p:sp>
        <p:nvSpPr>
          <p:cNvPr id="22530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E965EBF-92FD-4B5E-AFDC-539CE2DDE935}" type="slidenum">
              <a:rPr lang="en-US" altLang="zh-CN" smtClean="0"/>
              <a:pPr eaLnBrk="1" hangingPunct="1"/>
              <a:t>13</a:t>
            </a:fld>
            <a:endParaRPr lang="en-US" altLang="zh-CN"/>
          </a:p>
        </p:txBody>
      </p:sp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151" y="2819400"/>
            <a:ext cx="6248400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4. Element Rules : </a:t>
            </a:r>
            <a:br>
              <a:rPr lang="en-US" altLang="zh-CN" sz="2800" dirty="0"/>
            </a:br>
            <a:r>
              <a:rPr lang="en-US" altLang="zh-CN" sz="2800" dirty="0"/>
              <a:t>C</a:t>
            </a:r>
            <a:r>
              <a:rPr lang="en-US" altLang="en-US" sz="2800" dirty="0"/>
              <a:t>DATA - Character Data</a:t>
            </a:r>
            <a:endParaRPr lang="en-US" altLang="zh-CN" sz="2800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Syntax:</a:t>
            </a:r>
          </a:p>
          <a:p>
            <a:pPr eaLnBrk="1" hangingPunct="1"/>
            <a:endParaRPr lang="en-US" altLang="zh-CN" sz="2400" dirty="0"/>
          </a:p>
          <a:p>
            <a:pPr lvl="1" eaLnBrk="1" hangingPunct="1"/>
            <a:r>
              <a:rPr lang="en-US" altLang="zh-CN" sz="2000" dirty="0"/>
              <a:t>Note: Anything except the literal string "</a:t>
            </a:r>
            <a:r>
              <a:rPr lang="en-US" altLang="zh-CN" sz="2000" b="1" dirty="0"/>
              <a:t>]]&gt;</a:t>
            </a:r>
            <a:r>
              <a:rPr lang="en-US" altLang="zh-CN" sz="2000" dirty="0"/>
              <a:t>"; to embed "</a:t>
            </a:r>
            <a:r>
              <a:rPr lang="en-US" altLang="zh-CN" sz="2000" b="1" dirty="0"/>
              <a:t>]]&gt;</a:t>
            </a:r>
            <a:r>
              <a:rPr lang="en-US" altLang="zh-CN" sz="2000" dirty="0"/>
              <a:t>" use "</a:t>
            </a:r>
            <a:r>
              <a:rPr lang="en-US" altLang="zh-CN" sz="2000" b="1" dirty="0"/>
              <a:t>]]&amp;</a:t>
            </a:r>
            <a:r>
              <a:rPr lang="en-US" altLang="zh-CN" sz="2000" b="1" dirty="0" err="1"/>
              <a:t>gt</a:t>
            </a:r>
            <a:r>
              <a:rPr lang="en-US" altLang="zh-CN" sz="2000" b="1" dirty="0"/>
              <a:t>;</a:t>
            </a:r>
            <a:r>
              <a:rPr lang="en-US" altLang="zh-CN" sz="2000" dirty="0"/>
              <a:t>"</a:t>
            </a:r>
          </a:p>
          <a:p>
            <a:pPr eaLnBrk="1" hangingPunct="1"/>
            <a:r>
              <a:rPr lang="en-US" altLang="zh-CN" sz="2400" dirty="0"/>
              <a:t>CDATA is not parsed and is treated as-is.</a:t>
            </a:r>
          </a:p>
          <a:p>
            <a:pPr eaLnBrk="1" hangingPunct="1"/>
            <a:r>
              <a:rPr lang="en-US" altLang="zh-CN" sz="2400" dirty="0"/>
              <a:t>Useful for embedding other languages within the XML.</a:t>
            </a:r>
          </a:p>
          <a:p>
            <a:pPr lvl="1" eaLnBrk="1" hangingPunct="1"/>
            <a:r>
              <a:rPr lang="en-US" altLang="zh-CN" sz="2000" dirty="0"/>
              <a:t>HTML documents.</a:t>
            </a:r>
          </a:p>
          <a:p>
            <a:pPr lvl="1" eaLnBrk="1" hangingPunct="1"/>
            <a:r>
              <a:rPr lang="en-US" altLang="zh-CN" sz="2000" dirty="0"/>
              <a:t>XML documents.</a:t>
            </a:r>
          </a:p>
          <a:p>
            <a:pPr lvl="1" eaLnBrk="1" hangingPunct="1"/>
            <a:r>
              <a:rPr lang="en-US" altLang="zh-CN" sz="2000" dirty="0"/>
              <a:t>JavaScript source.</a:t>
            </a:r>
          </a:p>
          <a:p>
            <a:pPr lvl="1" eaLnBrk="1" hangingPunct="1"/>
            <a:r>
              <a:rPr lang="en-US" altLang="zh-CN" sz="2000" dirty="0"/>
              <a:t>Or any other text with a lot of special characters.</a:t>
            </a:r>
          </a:p>
          <a:p>
            <a:pPr eaLnBrk="1" hangingPunct="1"/>
            <a:r>
              <a:rPr lang="en-US" altLang="zh-CN" sz="2400" dirty="0"/>
              <a:t>Generally speaking the escaping rules inside a CDATA section are those of the embedded language</a:t>
            </a:r>
          </a:p>
          <a:p>
            <a:pPr lvl="1" eaLnBrk="1" hangingPunct="1"/>
            <a:r>
              <a:rPr lang="en-US" altLang="zh-CN" sz="2000" dirty="0"/>
              <a:t>For example, to escape an ampersand in </a:t>
            </a:r>
            <a:r>
              <a:rPr lang="en-US" altLang="zh-CN" sz="2000" dirty="0" err="1"/>
              <a:t>Javascript</a:t>
            </a:r>
            <a:r>
              <a:rPr lang="en-US" altLang="zh-CN" sz="2000" dirty="0"/>
              <a:t> use &amp;#38;.</a:t>
            </a: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BC3E2B9-0E7B-483E-BD8C-FD54488DB3AB}" type="slidenum">
              <a:rPr lang="en-US" altLang="zh-CN" smtClean="0"/>
              <a:pPr eaLnBrk="1" hangingPunct="1"/>
              <a:t>14</a:t>
            </a:fld>
            <a:endParaRPr lang="en-US" altLang="zh-CN"/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76200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4. Element Rules : </a:t>
            </a:r>
            <a:br>
              <a:rPr lang="en-US" altLang="zh-CN" sz="2800" dirty="0"/>
            </a:br>
            <a:r>
              <a:rPr lang="en-US" altLang="zh-CN" sz="2800" dirty="0"/>
              <a:t>C</a:t>
            </a:r>
            <a:r>
              <a:rPr lang="en-US" altLang="en-US" sz="2800" dirty="0"/>
              <a:t>DATA - Character Data</a:t>
            </a:r>
            <a:r>
              <a:rPr lang="en-US" altLang="zh-CN" sz="2800" dirty="0"/>
              <a:t> (Cont.)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450028" y="1371600"/>
            <a:ext cx="8229600" cy="45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These script elements contain JavaScript:</a:t>
            </a:r>
          </a:p>
        </p:txBody>
      </p:sp>
      <p:sp>
        <p:nvSpPr>
          <p:cNvPr id="2457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DFF559D-E1ED-4827-BB2A-E22BDFBA6B0F}" type="slidenum">
              <a:rPr lang="en-US" altLang="zh-CN" smtClean="0"/>
              <a:pPr eaLnBrk="1" hangingPunct="1"/>
              <a:t>15</a:t>
            </a:fld>
            <a:endParaRPr lang="en-US" altLang="zh-CN"/>
          </a:p>
        </p:txBody>
      </p:sp>
      <p:pic>
        <p:nvPicPr>
          <p:cNvPr id="2458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67056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381000" y="4267200"/>
            <a:ext cx="7924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3538" indent="-363538">
              <a:lnSpc>
                <a:spcPct val="80000"/>
              </a:lnSpc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</a:pPr>
            <a:r>
              <a:rPr lang="en-US" altLang="en-US" sz="2800" dirty="0">
                <a:solidFill>
                  <a:srgbClr val="00708E"/>
                </a:solidFill>
                <a:latin typeface="+mn-lt"/>
                <a:ea typeface="+mn-ea"/>
              </a:rPr>
              <a:t>This </a:t>
            </a:r>
            <a:r>
              <a:rPr lang="en-US" altLang="en-US" sz="2800" dirty="0" err="1">
                <a:solidFill>
                  <a:srgbClr val="00708E"/>
                </a:solidFill>
                <a:latin typeface="+mn-lt"/>
                <a:ea typeface="+mn-ea"/>
              </a:rPr>
              <a:t>nameXML</a:t>
            </a:r>
            <a:r>
              <a:rPr lang="en-US" altLang="en-US" sz="2800" dirty="0">
                <a:solidFill>
                  <a:srgbClr val="00708E"/>
                </a:solidFill>
                <a:latin typeface="+mn-lt"/>
                <a:ea typeface="+mn-ea"/>
              </a:rPr>
              <a:t> element stores actual XML to be treated as text:</a:t>
            </a:r>
            <a:endParaRPr lang="en-US" altLang="zh-CN" sz="2800" dirty="0">
              <a:solidFill>
                <a:srgbClr val="00708E"/>
              </a:solidFill>
              <a:latin typeface="+mn-lt"/>
              <a:ea typeface="+mn-ea"/>
            </a:endParaRPr>
          </a:p>
        </p:txBody>
      </p:sp>
      <p:pic>
        <p:nvPicPr>
          <p:cNvPr id="2458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976813"/>
            <a:ext cx="7010400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5. Element Attributes</a:t>
            </a:r>
            <a:endParaRPr lang="en-US" altLang="zh-CN"/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Attributes are used to attach information to elements.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Attributes consist of a name="value" pair, where the name is a legal XML name. This is often referred to as a "key-value" pair.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Attributes are placed in the start tag of the element to which they apply.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An element may have several attributes, each uniquely named.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Examples: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lnSpc>
                <a:spcPct val="110000"/>
              </a:lnSpc>
            </a:pPr>
            <a:endParaRPr lang="en-US" altLang="zh-CN" sz="240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Notice the different usage of the attribute "type" in the two elements; semantically they are not the same.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Attributes must have a value.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Values must be quoted with either double or single quotes.</a:t>
            </a:r>
          </a:p>
        </p:txBody>
      </p:sp>
      <p:sp>
        <p:nvSpPr>
          <p:cNvPr id="2560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84F9B91-93D9-4441-9E3B-F987FC145767}" type="slidenum">
              <a:rPr lang="en-US" altLang="zh-CN" smtClean="0"/>
              <a:pPr eaLnBrk="1" hangingPunct="1"/>
              <a:t>16</a:t>
            </a:fld>
            <a:endParaRPr lang="en-US" altLang="zh-CN" dirty="0"/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284662"/>
            <a:ext cx="71628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6. </a:t>
            </a:r>
            <a:r>
              <a:rPr lang="en-US" altLang="en-US" dirty="0"/>
              <a:t>XML Declaration</a:t>
            </a:r>
            <a:endParaRPr lang="en-US" altLang="zh-CN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/>
              <a:t>The XML Declaration is an optional first line in all XML documents:</a:t>
            </a:r>
          </a:p>
          <a:p>
            <a:pPr eaLnBrk="1" hangingPunct="1">
              <a:lnSpc>
                <a:spcPct val="110000"/>
              </a:lnSpc>
            </a:pPr>
            <a:endParaRPr lang="en-US" altLang="zh-CN" sz="2400" dirty="0"/>
          </a:p>
          <a:p>
            <a:pPr eaLnBrk="1" hangingPunct="1">
              <a:lnSpc>
                <a:spcPct val="110000"/>
              </a:lnSpc>
            </a:pPr>
            <a:endParaRPr lang="en-US" altLang="zh-CN" sz="2400" dirty="0"/>
          </a:p>
          <a:p>
            <a:pPr marL="363538" lvl="1" indent="0" eaLnBrk="1" hangingPunct="1">
              <a:lnSpc>
                <a:spcPct val="110000"/>
              </a:lnSpc>
              <a:buNone/>
            </a:pPr>
            <a:endParaRPr lang="en-US" altLang="zh-CN" sz="1800" dirty="0"/>
          </a:p>
          <a:p>
            <a:pPr marL="363538" lvl="1" indent="0" eaLnBrk="1" hangingPunct="1">
              <a:lnSpc>
                <a:spcPct val="110000"/>
              </a:lnSpc>
              <a:buNone/>
            </a:pPr>
            <a:endParaRPr lang="en-US" altLang="zh-CN" sz="18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If this declaration is used, the version attribute is mandatory.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The </a:t>
            </a:r>
            <a:r>
              <a:rPr lang="en-US" altLang="zh-CN" sz="2400" b="1" dirty="0"/>
              <a:t>encoding </a:t>
            </a:r>
            <a:r>
              <a:rPr lang="en-US" altLang="zh-CN" sz="2400" dirty="0"/>
              <a:t>attribute indicates the character encoding used in the document; if UTF-8 or UTF-16 is used it may be omitted.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The </a:t>
            </a:r>
            <a:r>
              <a:rPr lang="en-US" altLang="zh-CN" sz="2400" b="1" dirty="0"/>
              <a:t>stand-alone </a:t>
            </a:r>
            <a:r>
              <a:rPr lang="en-US" altLang="zh-CN" sz="2400" dirty="0"/>
              <a:t>attribute is included here for completeness: it is used to indicate if this XML document depends on information declared externally to </a:t>
            </a:r>
            <a:r>
              <a:rPr lang="en-US" altLang="zh-CN" sz="2400" i="1" dirty="0"/>
              <a:t>this </a:t>
            </a:r>
            <a:r>
              <a:rPr lang="en-US" altLang="zh-CN" sz="2400" dirty="0"/>
              <a:t>document; value may be yes or no.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Comments are </a:t>
            </a:r>
            <a:r>
              <a:rPr lang="en-US" altLang="zh-CN" sz="2400" b="1" i="1" dirty="0"/>
              <a:t>not </a:t>
            </a:r>
            <a:r>
              <a:rPr lang="en-US" altLang="zh-CN" sz="2400" dirty="0"/>
              <a:t>allowed before this statement.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dirty="0"/>
              <a:t>The XML Declaration follows the syntax of a </a:t>
            </a:r>
            <a:r>
              <a:rPr lang="en-US" altLang="zh-CN" sz="2400" i="1" dirty="0"/>
              <a:t>Processing Instruction </a:t>
            </a:r>
            <a:r>
              <a:rPr lang="en-US" altLang="zh-CN" sz="2400" dirty="0"/>
              <a:t>or PI, but it is considered to be unique and is treated separately in the 1.0 XML specification.</a:t>
            </a:r>
          </a:p>
        </p:txBody>
      </p:sp>
      <p:sp>
        <p:nvSpPr>
          <p:cNvPr id="26626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C66D0B2-E720-4B47-AD9A-52AE56BCCA74}" type="slidenum">
              <a:rPr lang="en-US" altLang="zh-CN" smtClean="0"/>
              <a:pPr eaLnBrk="1" hangingPunct="1"/>
              <a:t>17</a:t>
            </a:fld>
            <a:endParaRPr lang="en-US" altLang="zh-CN"/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1200"/>
            <a:ext cx="64770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Comments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16142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&lt;!-- --&gt; </a:t>
            </a:r>
            <a:r>
              <a:rPr lang="en-US" altLang="zh-CN" sz="2400" dirty="0"/>
              <a:t>Defines a comment.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 space after the beginning and before the trailing hyphens is</a:t>
            </a:r>
            <a:r>
              <a:rPr lang="en-US" altLang="zh-CN" sz="2400" dirty="0"/>
              <a:t> </a:t>
            </a:r>
            <a:r>
              <a:rPr lang="en-US" altLang="en-US" sz="2400" dirty="0"/>
              <a:t>recommended but not required.</a:t>
            </a:r>
            <a:endParaRPr lang="en-US" altLang="zh-CN" sz="2400" dirty="0"/>
          </a:p>
        </p:txBody>
      </p:sp>
      <p:sp>
        <p:nvSpPr>
          <p:cNvPr id="28674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49BB848-632A-4B94-9788-AE4DDC67CA7D}" type="slidenum">
              <a:rPr lang="en-US" altLang="zh-CN" smtClean="0"/>
              <a:pPr eaLnBrk="1" hangingPunct="1"/>
              <a:t>18</a:t>
            </a:fld>
            <a:endParaRPr lang="en-US" altLang="zh-CN"/>
          </a:p>
        </p:txBody>
      </p:sp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414" y="2514600"/>
            <a:ext cx="5791200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545054" y="49530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</a:pPr>
            <a:r>
              <a:rPr lang="en-US" altLang="zh-CN" sz="2400" dirty="0">
                <a:solidFill>
                  <a:srgbClr val="00708E"/>
                </a:solidFill>
                <a:latin typeface="+mn-lt"/>
                <a:ea typeface="+mn-ea"/>
              </a:rPr>
              <a:t>Improper usage:</a:t>
            </a:r>
          </a:p>
        </p:txBody>
      </p:sp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54" y="5532120"/>
            <a:ext cx="69342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Processing Instruction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zh-CN" sz="2400" dirty="0"/>
              <a:t>Syntax &lt;? target </a:t>
            </a:r>
            <a:r>
              <a:rPr lang="en-US" altLang="zh-CN" sz="2400" dirty="0" err="1"/>
              <a:t>arg</a:t>
            </a:r>
            <a:r>
              <a:rPr lang="en-US" altLang="zh-CN" sz="2400" dirty="0"/>
              <a:t>*?&gt;</a:t>
            </a:r>
          </a:p>
          <a:p>
            <a:pPr eaLnBrk="1" hangingPunct="1"/>
            <a:r>
              <a:rPr lang="en-US" altLang="zh-CN" sz="2400" dirty="0"/>
              <a:t>Processing Instruction is often abbreviated as PI in documentation.</a:t>
            </a:r>
          </a:p>
          <a:p>
            <a:pPr eaLnBrk="1" hangingPunct="1"/>
            <a:r>
              <a:rPr lang="en-US" altLang="zh-CN" sz="2400" dirty="0"/>
              <a:t>A feature inherited from SGML.</a:t>
            </a:r>
          </a:p>
          <a:p>
            <a:pPr eaLnBrk="1" hangingPunct="1"/>
            <a:r>
              <a:rPr lang="en-US" altLang="zh-CN" sz="2400" dirty="0"/>
              <a:t>Used to embed application-specific instructions in documents.</a:t>
            </a:r>
          </a:p>
          <a:p>
            <a:pPr eaLnBrk="1" hangingPunct="1"/>
            <a:r>
              <a:rPr lang="en-US" altLang="zh-CN" sz="2400" dirty="0"/>
              <a:t>The target name immediately follows "&lt;?" and is used to associate the PI with an application.</a:t>
            </a:r>
          </a:p>
          <a:p>
            <a:pPr eaLnBrk="1" hangingPunct="1"/>
            <a:r>
              <a:rPr lang="en-US" altLang="zh-CN" sz="2400" dirty="0"/>
              <a:t>May include zero or more arguments.</a:t>
            </a:r>
          </a:p>
          <a:p>
            <a:pPr eaLnBrk="1" hangingPunct="1"/>
            <a:r>
              <a:rPr lang="en-US" altLang="zh-CN" sz="2400" dirty="0"/>
              <a:t>May be preceded by comments.</a:t>
            </a:r>
          </a:p>
          <a:p>
            <a:pPr eaLnBrk="1" hangingPunct="1"/>
            <a:r>
              <a:rPr lang="en-US" altLang="zh-CN" sz="2400" dirty="0"/>
              <a:t>For example,</a:t>
            </a:r>
          </a:p>
          <a:p>
            <a:pPr marL="0" indent="0" eaLnBrk="1" hangingPunct="1">
              <a:buNone/>
            </a:pP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   which is a generally available </a:t>
            </a:r>
            <a:r>
              <a:rPr lang="en-US" altLang="zh-CN" sz="2400" dirty="0" err="1"/>
              <a:t>stylesheet</a:t>
            </a:r>
            <a:r>
              <a:rPr lang="en-US" altLang="zh-CN" sz="2400" dirty="0"/>
              <a:t> for simple formatting.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5A84BD8-B25B-4841-9CC3-D4749BC7C4D9}" type="slidenum">
              <a:rPr lang="en-US" altLang="zh-CN" smtClean="0"/>
              <a:pPr eaLnBrk="1" hangingPunct="1"/>
              <a:t>19</a:t>
            </a:fld>
            <a:endParaRPr lang="en-US" altLang="zh-CN"/>
          </a:p>
        </p:txBody>
      </p:sp>
      <p:pic>
        <p:nvPicPr>
          <p:cNvPr id="2970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257800"/>
            <a:ext cx="64770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Well-formed versus Valid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 well-formed XML document: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Consists of XML elements that are nested within another.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Has a unique root element.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Follows the XML naming conventions.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Follows the XML rules for quoting attributes.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Has tags that are properly terminated.</a:t>
            </a:r>
          </a:p>
          <a:p>
            <a:pPr>
              <a:lnSpc>
                <a:spcPct val="110000"/>
              </a:lnSpc>
            </a:pPr>
            <a:r>
              <a:rPr lang="en-US" altLang="zh-CN" sz="2400" dirty="0"/>
              <a:t>All XML parsers check for well-</a:t>
            </a:r>
            <a:r>
              <a:rPr lang="en-US" altLang="zh-CN" sz="2400" dirty="0" err="1"/>
              <a:t>formedness</a:t>
            </a:r>
            <a:r>
              <a:rPr lang="en-US" altLang="zh-CN" sz="2400" dirty="0"/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/>
              <a:t>A valid XML document has an associated </a:t>
            </a:r>
            <a:r>
              <a:rPr lang="en-US" altLang="zh-CN" sz="2400" i="1" dirty="0"/>
              <a:t>vocabulary </a:t>
            </a:r>
            <a:r>
              <a:rPr lang="en-US" altLang="zh-CN" sz="2400" dirty="0"/>
              <a:t>and obeys the structural rules specified by that vocabulary.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Associated vocabulary is typically defined by either a DTD or an XML Schema.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 dirty="0"/>
              <a:t>XML parsers may be validating or non-validating depending upon whether or not they can apply an associated grammar.</a:t>
            </a:r>
          </a:p>
        </p:txBody>
      </p:sp>
      <p:sp>
        <p:nvSpPr>
          <p:cNvPr id="30722" name="灯片编号占位符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1F5F2E8-61FB-475B-A1D3-15A11FE07150}" type="slidenum">
              <a:rPr lang="en-US" altLang="zh-CN" smtClean="0"/>
              <a:pPr eaLnBrk="1" hangingPunct="1"/>
              <a:t>20</a:t>
            </a:fld>
            <a:endParaRPr lang="en-US" altLang="zh-CN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4455</TotalTime>
  <Words>1139</Words>
  <Application>Microsoft Office PowerPoint</Application>
  <PresentationFormat>全屏显示(4:3)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Arial</vt:lpstr>
      <vt:lpstr>Verdana</vt:lpstr>
      <vt:lpstr>Wingdings</vt:lpstr>
      <vt:lpstr>software</vt:lpstr>
      <vt:lpstr>XML Structural Data in Pure Text  Service-Oriented Software Engineering</vt:lpstr>
      <vt:lpstr>What Is XML?</vt:lpstr>
      <vt:lpstr>Example Tree Representation of XML</vt:lpstr>
      <vt:lpstr>Basic Structure</vt:lpstr>
      <vt:lpstr>Basics of Well-formed XML</vt:lpstr>
      <vt:lpstr>1. Single Root Element</vt:lpstr>
      <vt:lpstr>2. Element Tag Rules</vt:lpstr>
      <vt:lpstr>3. Element Nesting</vt:lpstr>
      <vt:lpstr>4. Element Rules : XML Naming (1/2)</vt:lpstr>
      <vt:lpstr>4. Element Rules : XML Naming (2/2)</vt:lpstr>
      <vt:lpstr>4. Element Rules : Element Content (General)</vt:lpstr>
      <vt:lpstr>4. Element Rules : Element Content (Data)</vt:lpstr>
      <vt:lpstr>4. Element Rules :  PCDATA - Parsed Character Data</vt:lpstr>
      <vt:lpstr>4. Element Rules :  CDATA - Character Data</vt:lpstr>
      <vt:lpstr>4. Element Rules :  CDATA - Character Data (Cont.)</vt:lpstr>
      <vt:lpstr>5. Element Attributes</vt:lpstr>
      <vt:lpstr>6. XML Declaration</vt:lpstr>
      <vt:lpstr>Comments</vt:lpstr>
      <vt:lpstr>Processing Instruction</vt:lpstr>
      <vt:lpstr>Well-formed versus Valid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137</cp:revision>
  <cp:lastPrinted>1601-01-01T00:00:00Z</cp:lastPrinted>
  <dcterms:created xsi:type="dcterms:W3CDTF">1601-01-01T00:00:00Z</dcterms:created>
  <dcterms:modified xsi:type="dcterms:W3CDTF">2023-09-21T02:25:19Z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