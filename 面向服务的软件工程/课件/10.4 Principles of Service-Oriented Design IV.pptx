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87" r:id="rId1"/>
  </p:sldMasterIdLst>
  <p:notesMasterIdLst>
    <p:notesMasterId r:id="rId70"/>
  </p:notesMasterIdLst>
  <p:sldIdLst>
    <p:sldId id="256" r:id="rId2"/>
    <p:sldId id="461" r:id="rId3"/>
    <p:sldId id="462" r:id="rId4"/>
    <p:sldId id="463" r:id="rId5"/>
    <p:sldId id="524" r:id="rId6"/>
    <p:sldId id="464" r:id="rId7"/>
    <p:sldId id="525" r:id="rId8"/>
    <p:sldId id="465" r:id="rId9"/>
    <p:sldId id="466" r:id="rId10"/>
    <p:sldId id="467" r:id="rId11"/>
    <p:sldId id="468" r:id="rId12"/>
    <p:sldId id="469" r:id="rId13"/>
    <p:sldId id="351" r:id="rId14"/>
    <p:sldId id="470" r:id="rId15"/>
    <p:sldId id="472" r:id="rId16"/>
    <p:sldId id="275" r:id="rId17"/>
    <p:sldId id="416" r:id="rId18"/>
    <p:sldId id="418" r:id="rId19"/>
    <p:sldId id="281" r:id="rId20"/>
    <p:sldId id="285" r:id="rId21"/>
    <p:sldId id="292" r:id="rId22"/>
    <p:sldId id="474" r:id="rId23"/>
    <p:sldId id="475" r:id="rId24"/>
    <p:sldId id="526" r:id="rId25"/>
    <p:sldId id="527" r:id="rId26"/>
    <p:sldId id="476" r:id="rId27"/>
    <p:sldId id="477" r:id="rId28"/>
    <p:sldId id="479" r:id="rId29"/>
    <p:sldId id="480" r:id="rId30"/>
    <p:sldId id="481" r:id="rId31"/>
    <p:sldId id="482" r:id="rId32"/>
    <p:sldId id="484" r:id="rId33"/>
    <p:sldId id="485" r:id="rId34"/>
    <p:sldId id="528" r:id="rId35"/>
    <p:sldId id="532" r:id="rId36"/>
    <p:sldId id="488" r:id="rId37"/>
    <p:sldId id="489" r:id="rId38"/>
    <p:sldId id="490" r:id="rId39"/>
    <p:sldId id="492" r:id="rId40"/>
    <p:sldId id="493" r:id="rId41"/>
    <p:sldId id="533" r:id="rId42"/>
    <p:sldId id="534" r:id="rId43"/>
    <p:sldId id="535" r:id="rId44"/>
    <p:sldId id="497" r:id="rId45"/>
    <p:sldId id="501" r:id="rId46"/>
    <p:sldId id="502" r:id="rId47"/>
    <p:sldId id="503" r:id="rId48"/>
    <p:sldId id="504" r:id="rId49"/>
    <p:sldId id="505" r:id="rId50"/>
    <p:sldId id="506" r:id="rId51"/>
    <p:sldId id="507" r:id="rId52"/>
    <p:sldId id="508" r:id="rId53"/>
    <p:sldId id="312" r:id="rId54"/>
    <p:sldId id="509" r:id="rId55"/>
    <p:sldId id="510" r:id="rId56"/>
    <p:sldId id="531" r:id="rId57"/>
    <p:sldId id="511" r:id="rId58"/>
    <p:sldId id="512" r:id="rId59"/>
    <p:sldId id="318" r:id="rId60"/>
    <p:sldId id="448" r:id="rId61"/>
    <p:sldId id="513" r:id="rId62"/>
    <p:sldId id="514" r:id="rId63"/>
    <p:sldId id="516" r:id="rId64"/>
    <p:sldId id="325" r:id="rId65"/>
    <p:sldId id="523" r:id="rId66"/>
    <p:sldId id="521" r:id="rId67"/>
    <p:sldId id="522" r:id="rId68"/>
    <p:sldId id="536" r:id="rId6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75" autoAdjust="0"/>
    <p:restoredTop sz="95773" autoAdjust="0"/>
  </p:normalViewPr>
  <p:slideViewPr>
    <p:cSldViewPr>
      <p:cViewPr varScale="1">
        <p:scale>
          <a:sx n="121" d="100"/>
          <a:sy n="121" d="100"/>
        </p:scale>
        <p:origin x="57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7558E13F-FE63-444C-A476-70D713D82D76}" type="slidenum">
              <a:rPr lang="en-US" altLang="zh-CN"/>
              <a:pPr>
                <a:defRPr/>
              </a:pPr>
              <a:t>‹#›</a:t>
            </a:fld>
            <a:endParaRPr lang="en-US" altLang="zh-CN" dirty="0"/>
          </a:p>
        </p:txBody>
      </p:sp>
    </p:spTree>
    <p:extLst>
      <p:ext uri="{BB962C8B-B14F-4D97-AF65-F5344CB8AC3E}">
        <p14:creationId xmlns:p14="http://schemas.microsoft.com/office/powerpoint/2010/main" val="20189568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B4E60E6-1E8D-4C65-9E34-43E124A6425A}" type="slidenum">
              <a:rPr lang="en-US" altLang="zh-CN" smtClean="0"/>
              <a:pPr eaLnBrk="1" hangingPunct="1"/>
              <a:t>1</a:t>
            </a:fld>
            <a:endParaRPr lang="en-US" altLang="zh-CN" smtClean="0"/>
          </a:p>
        </p:txBody>
      </p:sp>
    </p:spTree>
    <p:extLst>
      <p:ext uri="{BB962C8B-B14F-4D97-AF65-F5344CB8AC3E}">
        <p14:creationId xmlns:p14="http://schemas.microsoft.com/office/powerpoint/2010/main" val="4244325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49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7EBA15C-4BC9-4440-880C-0D0FF09E9252}" type="slidenum">
              <a:rPr lang="en-US" altLang="zh-CN" smtClean="0"/>
              <a:pPr eaLnBrk="1" hangingPunct="1"/>
              <a:t>2</a:t>
            </a:fld>
            <a:endParaRPr lang="en-US" altLang="zh-CN" smtClean="0"/>
          </a:p>
        </p:txBody>
      </p:sp>
    </p:spTree>
    <p:extLst>
      <p:ext uri="{BB962C8B-B14F-4D97-AF65-F5344CB8AC3E}">
        <p14:creationId xmlns:p14="http://schemas.microsoft.com/office/powerpoint/2010/main" val="2537662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6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B140DF7-21D0-4BF8-96C9-9ACA038A9D0C}" type="slidenum">
              <a:rPr lang="en-US" altLang="zh-CN" smtClean="0"/>
              <a:pPr eaLnBrk="1" hangingPunct="1"/>
              <a:t>3</a:t>
            </a:fld>
            <a:endParaRPr lang="en-US" altLang="zh-CN" smtClean="0"/>
          </a:p>
        </p:txBody>
      </p:sp>
    </p:spTree>
    <p:extLst>
      <p:ext uri="{BB962C8B-B14F-4D97-AF65-F5344CB8AC3E}">
        <p14:creationId xmlns:p14="http://schemas.microsoft.com/office/powerpoint/2010/main" val="190361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927E613-AAC0-40F3-A9C7-8C90D9FD55CA}" type="slidenum">
              <a:rPr lang="en-US" altLang="zh-CN" smtClean="0"/>
              <a:pPr eaLnBrk="1" hangingPunct="1"/>
              <a:t>4</a:t>
            </a:fld>
            <a:endParaRPr lang="en-US" altLang="zh-CN" smtClean="0"/>
          </a:p>
        </p:txBody>
      </p:sp>
    </p:spTree>
    <p:extLst>
      <p:ext uri="{BB962C8B-B14F-4D97-AF65-F5344CB8AC3E}">
        <p14:creationId xmlns:p14="http://schemas.microsoft.com/office/powerpoint/2010/main" val="3508177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927E613-AAC0-40F3-A9C7-8C90D9FD55CA}" type="slidenum">
              <a:rPr lang="en-US" altLang="zh-CN" smtClean="0"/>
              <a:pPr eaLnBrk="1" hangingPunct="1"/>
              <a:t>5</a:t>
            </a:fld>
            <a:endParaRPr lang="en-US" altLang="zh-CN" smtClean="0"/>
          </a:p>
        </p:txBody>
      </p:sp>
    </p:spTree>
    <p:extLst>
      <p:ext uri="{BB962C8B-B14F-4D97-AF65-F5344CB8AC3E}">
        <p14:creationId xmlns:p14="http://schemas.microsoft.com/office/powerpoint/2010/main" val="2600675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AC89C69-E7F7-4272-989F-ADB6800B81C3}" type="slidenum">
              <a:rPr lang="en-US" altLang="zh-CN" smtClean="0"/>
              <a:pPr eaLnBrk="1" hangingPunct="1"/>
              <a:t>6</a:t>
            </a:fld>
            <a:endParaRPr lang="en-US" altLang="zh-CN" smtClean="0"/>
          </a:p>
        </p:txBody>
      </p:sp>
    </p:spTree>
    <p:extLst>
      <p:ext uri="{BB962C8B-B14F-4D97-AF65-F5344CB8AC3E}">
        <p14:creationId xmlns:p14="http://schemas.microsoft.com/office/powerpoint/2010/main" val="2487287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AC89C69-E7F7-4272-989F-ADB6800B81C3}" type="slidenum">
              <a:rPr lang="en-US" altLang="zh-CN" smtClean="0"/>
              <a:pPr eaLnBrk="1" hangingPunct="1"/>
              <a:t>7</a:t>
            </a:fld>
            <a:endParaRPr lang="en-US" altLang="zh-CN" smtClean="0"/>
          </a:p>
        </p:txBody>
      </p:sp>
    </p:spTree>
    <p:extLst>
      <p:ext uri="{BB962C8B-B14F-4D97-AF65-F5344CB8AC3E}">
        <p14:creationId xmlns:p14="http://schemas.microsoft.com/office/powerpoint/2010/main" val="1282702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20C9F5F-FBAE-49E5-8B64-BEC0858B8CA8}" type="slidenum">
              <a:rPr lang="en-US" altLang="zh-CN" smtClean="0"/>
              <a:pPr eaLnBrk="1" hangingPunct="1"/>
              <a:t>8</a:t>
            </a:fld>
            <a:endParaRPr lang="en-US" altLang="zh-CN" smtClean="0"/>
          </a:p>
        </p:txBody>
      </p:sp>
    </p:spTree>
    <p:extLst>
      <p:ext uri="{BB962C8B-B14F-4D97-AF65-F5344CB8AC3E}">
        <p14:creationId xmlns:p14="http://schemas.microsoft.com/office/powerpoint/2010/main" val="3683886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E3A4B6B-6B6E-45B9-A6AE-9BC3A407E62C}" type="slidenum">
              <a:rPr lang="en-US" altLang="zh-CN" smtClean="0"/>
              <a:pPr eaLnBrk="1" hangingPunct="1"/>
              <a:t>9</a:t>
            </a:fld>
            <a:endParaRPr lang="en-US" altLang="zh-CN" smtClean="0"/>
          </a:p>
        </p:txBody>
      </p:sp>
    </p:spTree>
    <p:extLst>
      <p:ext uri="{BB962C8B-B14F-4D97-AF65-F5344CB8AC3E}">
        <p14:creationId xmlns:p14="http://schemas.microsoft.com/office/powerpoint/2010/main" val="1888222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852472C-371E-4332-A52D-7ADD21CFA21C}" type="slidenum">
              <a:rPr lang="en-US" altLang="zh-CN" smtClean="0"/>
              <a:pPr eaLnBrk="1" hangingPunct="1"/>
              <a:t>10</a:t>
            </a:fld>
            <a:endParaRPr lang="en-US" altLang="zh-CN" smtClean="0"/>
          </a:p>
        </p:txBody>
      </p:sp>
    </p:spTree>
    <p:extLst>
      <p:ext uri="{BB962C8B-B14F-4D97-AF65-F5344CB8AC3E}">
        <p14:creationId xmlns:p14="http://schemas.microsoft.com/office/powerpoint/2010/main" val="3027663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60A454B-7A51-4A4D-8616-EC51301B6195}" type="slidenum">
              <a:rPr lang="en-US" altLang="zh-CN" smtClean="0"/>
              <a:pPr eaLnBrk="1" hangingPunct="1"/>
              <a:t>11</a:t>
            </a:fld>
            <a:endParaRPr lang="en-US" altLang="zh-CN" smtClean="0"/>
          </a:p>
        </p:txBody>
      </p:sp>
    </p:spTree>
    <p:extLst>
      <p:ext uri="{BB962C8B-B14F-4D97-AF65-F5344CB8AC3E}">
        <p14:creationId xmlns:p14="http://schemas.microsoft.com/office/powerpoint/2010/main" val="4188445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ea typeface="宋体" charset="-122"/>
            </a:endParaRPr>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9048448-08C1-409E-95F1-8625CA8A0158}" type="slidenum">
              <a:rPr lang="en-US" altLang="zh-CN" smtClean="0"/>
              <a:pPr eaLnBrk="1" hangingPunct="1"/>
              <a:t>12</a:t>
            </a:fld>
            <a:endParaRPr lang="en-US" altLang="zh-CN" smtClean="0"/>
          </a:p>
        </p:txBody>
      </p:sp>
    </p:spTree>
    <p:extLst>
      <p:ext uri="{BB962C8B-B14F-4D97-AF65-F5344CB8AC3E}">
        <p14:creationId xmlns:p14="http://schemas.microsoft.com/office/powerpoint/2010/main" val="3039124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4E35280-9BE3-4C54-83E2-FE539B93C912}" type="slidenum">
              <a:rPr lang="en-US" altLang="zh-CN" smtClean="0"/>
              <a:pPr eaLnBrk="1" hangingPunct="1"/>
              <a:t>13</a:t>
            </a:fld>
            <a:endParaRPr lang="en-US" altLang="zh-CN" smtClean="0"/>
          </a:p>
        </p:txBody>
      </p:sp>
    </p:spTree>
    <p:extLst>
      <p:ext uri="{BB962C8B-B14F-4D97-AF65-F5344CB8AC3E}">
        <p14:creationId xmlns:p14="http://schemas.microsoft.com/office/powerpoint/2010/main" val="3334254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1313DD1-987F-40FF-96C9-DF10B8EF99BE}" type="slidenum">
              <a:rPr lang="en-US" altLang="zh-CN" smtClean="0"/>
              <a:pPr eaLnBrk="1" hangingPunct="1"/>
              <a:t>14</a:t>
            </a:fld>
            <a:endParaRPr lang="en-US" altLang="zh-CN" smtClean="0"/>
          </a:p>
        </p:txBody>
      </p:sp>
    </p:spTree>
    <p:extLst>
      <p:ext uri="{BB962C8B-B14F-4D97-AF65-F5344CB8AC3E}">
        <p14:creationId xmlns:p14="http://schemas.microsoft.com/office/powerpoint/2010/main" val="3737495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93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F3D4B97-93F9-4946-99CF-867B0A1E0878}" type="slidenum">
              <a:rPr lang="en-US" altLang="zh-CN" smtClean="0"/>
              <a:pPr eaLnBrk="1" hangingPunct="1"/>
              <a:t>15</a:t>
            </a:fld>
            <a:endParaRPr lang="en-US" altLang="zh-CN" smtClean="0"/>
          </a:p>
        </p:txBody>
      </p:sp>
    </p:spTree>
    <p:extLst>
      <p:ext uri="{BB962C8B-B14F-4D97-AF65-F5344CB8AC3E}">
        <p14:creationId xmlns:p14="http://schemas.microsoft.com/office/powerpoint/2010/main" val="905773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0853D46-E159-413E-821C-C5AF6D19FABB}" type="slidenum">
              <a:rPr lang="en-US" altLang="zh-CN" smtClean="0"/>
              <a:pPr eaLnBrk="1" hangingPunct="1"/>
              <a:t>16</a:t>
            </a:fld>
            <a:endParaRPr lang="en-US" altLang="zh-CN" smtClean="0"/>
          </a:p>
        </p:txBody>
      </p:sp>
    </p:spTree>
    <p:extLst>
      <p:ext uri="{BB962C8B-B14F-4D97-AF65-F5344CB8AC3E}">
        <p14:creationId xmlns:p14="http://schemas.microsoft.com/office/powerpoint/2010/main" val="2594743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FC68D48-B81A-43AA-9997-EF89F237FDF4}" type="slidenum">
              <a:rPr lang="en-US" altLang="zh-CN" smtClean="0"/>
              <a:pPr eaLnBrk="1" hangingPunct="1"/>
              <a:t>17</a:t>
            </a:fld>
            <a:endParaRPr lang="en-US" altLang="zh-CN" smtClean="0"/>
          </a:p>
        </p:txBody>
      </p:sp>
    </p:spTree>
    <p:extLst>
      <p:ext uri="{BB962C8B-B14F-4D97-AF65-F5344CB8AC3E}">
        <p14:creationId xmlns:p14="http://schemas.microsoft.com/office/powerpoint/2010/main" val="102994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BF47F85-BF7D-48F8-914D-4AF4A98C57A7}" type="slidenum">
              <a:rPr lang="en-US" altLang="zh-CN" smtClean="0"/>
              <a:pPr eaLnBrk="1" hangingPunct="1"/>
              <a:t>18</a:t>
            </a:fld>
            <a:endParaRPr lang="en-US" altLang="zh-CN" smtClean="0"/>
          </a:p>
        </p:txBody>
      </p:sp>
    </p:spTree>
    <p:extLst>
      <p:ext uri="{BB962C8B-B14F-4D97-AF65-F5344CB8AC3E}">
        <p14:creationId xmlns:p14="http://schemas.microsoft.com/office/powerpoint/2010/main" val="79517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6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9D85646-3998-4543-923E-37CDC0C155E5}" type="slidenum">
              <a:rPr lang="en-US" altLang="zh-CN" smtClean="0"/>
              <a:pPr eaLnBrk="1" hangingPunct="1"/>
              <a:t>19</a:t>
            </a:fld>
            <a:endParaRPr lang="en-US" altLang="zh-CN" smtClean="0"/>
          </a:p>
        </p:txBody>
      </p:sp>
    </p:spTree>
    <p:extLst>
      <p:ext uri="{BB962C8B-B14F-4D97-AF65-F5344CB8AC3E}">
        <p14:creationId xmlns:p14="http://schemas.microsoft.com/office/powerpoint/2010/main" val="2679931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9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6988741-7D28-408E-A5DB-2263CC9E2E17}" type="slidenum">
              <a:rPr lang="en-US" altLang="zh-CN" smtClean="0"/>
              <a:pPr eaLnBrk="1" hangingPunct="1"/>
              <a:t>20</a:t>
            </a:fld>
            <a:endParaRPr lang="en-US" altLang="zh-CN" smtClean="0"/>
          </a:p>
        </p:txBody>
      </p:sp>
    </p:spTree>
    <p:extLst>
      <p:ext uri="{BB962C8B-B14F-4D97-AF65-F5344CB8AC3E}">
        <p14:creationId xmlns:p14="http://schemas.microsoft.com/office/powerpoint/2010/main" val="3518123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DC5D475-FF88-4A07-8BDF-3DFDDA629701}" type="slidenum">
              <a:rPr lang="en-US" altLang="zh-CN" smtClean="0"/>
              <a:pPr eaLnBrk="1" hangingPunct="1"/>
              <a:t>21</a:t>
            </a:fld>
            <a:endParaRPr lang="en-US" altLang="zh-CN" smtClean="0"/>
          </a:p>
        </p:txBody>
      </p:sp>
    </p:spTree>
    <p:extLst>
      <p:ext uri="{BB962C8B-B14F-4D97-AF65-F5344CB8AC3E}">
        <p14:creationId xmlns:p14="http://schemas.microsoft.com/office/powerpoint/2010/main" val="3257477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B7CDB2F-28CB-4599-BFC4-1BDBFBAD24E3}" type="slidenum">
              <a:rPr lang="en-US" altLang="zh-CN" smtClean="0"/>
              <a:pPr eaLnBrk="1" hangingPunct="1"/>
              <a:t>22</a:t>
            </a:fld>
            <a:endParaRPr lang="en-US" altLang="zh-CN" smtClean="0"/>
          </a:p>
        </p:txBody>
      </p:sp>
    </p:spTree>
    <p:extLst>
      <p:ext uri="{BB962C8B-B14F-4D97-AF65-F5344CB8AC3E}">
        <p14:creationId xmlns:p14="http://schemas.microsoft.com/office/powerpoint/2010/main" val="1251266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AA1D16B-8D38-41CB-86AF-D97C8B574E25}" type="slidenum">
              <a:rPr lang="en-US" altLang="zh-CN" smtClean="0"/>
              <a:pPr eaLnBrk="1" hangingPunct="1"/>
              <a:t>23</a:t>
            </a:fld>
            <a:endParaRPr lang="en-US" altLang="zh-CN" smtClean="0"/>
          </a:p>
        </p:txBody>
      </p:sp>
    </p:spTree>
    <p:extLst>
      <p:ext uri="{BB962C8B-B14F-4D97-AF65-F5344CB8AC3E}">
        <p14:creationId xmlns:p14="http://schemas.microsoft.com/office/powerpoint/2010/main" val="27504825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AA1D16B-8D38-41CB-86AF-D97C8B574E25}" type="slidenum">
              <a:rPr lang="en-US" altLang="zh-CN" smtClean="0"/>
              <a:pPr eaLnBrk="1" hangingPunct="1"/>
              <a:t>24</a:t>
            </a:fld>
            <a:endParaRPr lang="en-US" altLang="zh-CN" smtClean="0"/>
          </a:p>
        </p:txBody>
      </p:sp>
    </p:spTree>
    <p:extLst>
      <p:ext uri="{BB962C8B-B14F-4D97-AF65-F5344CB8AC3E}">
        <p14:creationId xmlns:p14="http://schemas.microsoft.com/office/powerpoint/2010/main" val="24557102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AA1D16B-8D38-41CB-86AF-D97C8B574E25}" type="slidenum">
              <a:rPr lang="en-US" altLang="zh-CN" smtClean="0"/>
              <a:pPr eaLnBrk="1" hangingPunct="1"/>
              <a:t>25</a:t>
            </a:fld>
            <a:endParaRPr lang="en-US" altLang="zh-CN" smtClean="0"/>
          </a:p>
        </p:txBody>
      </p:sp>
    </p:spTree>
    <p:extLst>
      <p:ext uri="{BB962C8B-B14F-4D97-AF65-F5344CB8AC3E}">
        <p14:creationId xmlns:p14="http://schemas.microsoft.com/office/powerpoint/2010/main" val="42102752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7EDFFBC-AC0D-478B-98B1-D11520A70CE5}" type="slidenum">
              <a:rPr lang="en-US" altLang="zh-CN" smtClean="0"/>
              <a:pPr eaLnBrk="1" hangingPunct="1"/>
              <a:t>26</a:t>
            </a:fld>
            <a:endParaRPr lang="en-US" altLang="zh-CN" smtClean="0"/>
          </a:p>
        </p:txBody>
      </p:sp>
    </p:spTree>
    <p:extLst>
      <p:ext uri="{BB962C8B-B14F-4D97-AF65-F5344CB8AC3E}">
        <p14:creationId xmlns:p14="http://schemas.microsoft.com/office/powerpoint/2010/main" val="1246899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AE4CFB1-7EE4-4271-A2BF-BBC3F6A2DE70}" type="slidenum">
              <a:rPr lang="en-US" altLang="zh-CN" smtClean="0"/>
              <a:pPr eaLnBrk="1" hangingPunct="1"/>
              <a:t>27</a:t>
            </a:fld>
            <a:endParaRPr lang="en-US" altLang="zh-CN" smtClean="0"/>
          </a:p>
        </p:txBody>
      </p:sp>
    </p:spTree>
    <p:extLst>
      <p:ext uri="{BB962C8B-B14F-4D97-AF65-F5344CB8AC3E}">
        <p14:creationId xmlns:p14="http://schemas.microsoft.com/office/powerpoint/2010/main" val="42154233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018D802-CC69-436D-8E85-61F12F99CC2E}" type="slidenum">
              <a:rPr lang="en-US" altLang="zh-CN" smtClean="0"/>
              <a:pPr eaLnBrk="1" hangingPunct="1"/>
              <a:t>28</a:t>
            </a:fld>
            <a:endParaRPr lang="en-US" altLang="zh-CN" smtClean="0"/>
          </a:p>
        </p:txBody>
      </p:sp>
    </p:spTree>
    <p:extLst>
      <p:ext uri="{BB962C8B-B14F-4D97-AF65-F5344CB8AC3E}">
        <p14:creationId xmlns:p14="http://schemas.microsoft.com/office/powerpoint/2010/main" val="2401990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F60BACD-0047-4E13-BDDE-F334828E9EF6}" type="slidenum">
              <a:rPr lang="en-US" altLang="zh-CN" smtClean="0"/>
              <a:pPr eaLnBrk="1" hangingPunct="1"/>
              <a:t>29</a:t>
            </a:fld>
            <a:endParaRPr lang="en-US" altLang="zh-CN" smtClean="0"/>
          </a:p>
        </p:txBody>
      </p:sp>
    </p:spTree>
    <p:extLst>
      <p:ext uri="{BB962C8B-B14F-4D97-AF65-F5344CB8AC3E}">
        <p14:creationId xmlns:p14="http://schemas.microsoft.com/office/powerpoint/2010/main" val="20368530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8A81737-339F-4052-A026-7A6F93031EBB}" type="slidenum">
              <a:rPr lang="en-US" altLang="zh-CN" smtClean="0"/>
              <a:pPr eaLnBrk="1" hangingPunct="1"/>
              <a:t>30</a:t>
            </a:fld>
            <a:endParaRPr lang="en-US" altLang="zh-CN" smtClean="0"/>
          </a:p>
        </p:txBody>
      </p:sp>
    </p:spTree>
    <p:extLst>
      <p:ext uri="{BB962C8B-B14F-4D97-AF65-F5344CB8AC3E}">
        <p14:creationId xmlns:p14="http://schemas.microsoft.com/office/powerpoint/2010/main" val="41880494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D26B240-4787-4D2C-8797-F054C11C57E9}" type="slidenum">
              <a:rPr lang="en-US" altLang="zh-CN" smtClean="0"/>
              <a:pPr eaLnBrk="1" hangingPunct="1"/>
              <a:t>31</a:t>
            </a:fld>
            <a:endParaRPr lang="en-US" altLang="zh-CN" smtClean="0"/>
          </a:p>
        </p:txBody>
      </p:sp>
    </p:spTree>
    <p:extLst>
      <p:ext uri="{BB962C8B-B14F-4D97-AF65-F5344CB8AC3E}">
        <p14:creationId xmlns:p14="http://schemas.microsoft.com/office/powerpoint/2010/main" val="3698310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752A610-4943-4638-AA47-EBCD489843A5}" type="slidenum">
              <a:rPr lang="en-US" altLang="zh-CN" smtClean="0"/>
              <a:pPr eaLnBrk="1" hangingPunct="1"/>
              <a:t>32</a:t>
            </a:fld>
            <a:endParaRPr lang="en-US" altLang="zh-CN" smtClean="0"/>
          </a:p>
        </p:txBody>
      </p:sp>
    </p:spTree>
    <p:extLst>
      <p:ext uri="{BB962C8B-B14F-4D97-AF65-F5344CB8AC3E}">
        <p14:creationId xmlns:p14="http://schemas.microsoft.com/office/powerpoint/2010/main" val="16831267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24D1EBF-ED2E-4637-B07D-FE38094B9E8E}" type="slidenum">
              <a:rPr lang="en-US" altLang="zh-CN" smtClean="0"/>
              <a:pPr eaLnBrk="1" hangingPunct="1"/>
              <a:t>33</a:t>
            </a:fld>
            <a:endParaRPr lang="en-US" altLang="zh-CN" smtClean="0"/>
          </a:p>
        </p:txBody>
      </p:sp>
    </p:spTree>
    <p:extLst>
      <p:ext uri="{BB962C8B-B14F-4D97-AF65-F5344CB8AC3E}">
        <p14:creationId xmlns:p14="http://schemas.microsoft.com/office/powerpoint/2010/main" val="17823260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24D1EBF-ED2E-4637-B07D-FE38094B9E8E}" type="slidenum">
              <a:rPr lang="en-US" altLang="zh-CN" smtClean="0"/>
              <a:pPr eaLnBrk="1" hangingPunct="1"/>
              <a:t>34</a:t>
            </a:fld>
            <a:endParaRPr lang="en-US" altLang="zh-CN" smtClean="0"/>
          </a:p>
        </p:txBody>
      </p:sp>
    </p:spTree>
    <p:extLst>
      <p:ext uri="{BB962C8B-B14F-4D97-AF65-F5344CB8AC3E}">
        <p14:creationId xmlns:p14="http://schemas.microsoft.com/office/powerpoint/2010/main" val="30234104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24D1EBF-ED2E-4637-B07D-FE38094B9E8E}" type="slidenum">
              <a:rPr lang="en-US" altLang="zh-CN" smtClean="0"/>
              <a:pPr eaLnBrk="1" hangingPunct="1"/>
              <a:t>35</a:t>
            </a:fld>
            <a:endParaRPr lang="en-US" altLang="zh-CN" smtClean="0"/>
          </a:p>
        </p:txBody>
      </p:sp>
    </p:spTree>
    <p:extLst>
      <p:ext uri="{BB962C8B-B14F-4D97-AF65-F5344CB8AC3E}">
        <p14:creationId xmlns:p14="http://schemas.microsoft.com/office/powerpoint/2010/main" val="41331511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9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CD8CA39-2B89-4FE3-B275-2C79028F4210}" type="slidenum">
              <a:rPr lang="en-US" altLang="zh-CN" smtClean="0"/>
              <a:pPr eaLnBrk="1" hangingPunct="1"/>
              <a:t>36</a:t>
            </a:fld>
            <a:endParaRPr lang="en-US" altLang="zh-CN" smtClean="0"/>
          </a:p>
        </p:txBody>
      </p:sp>
    </p:spTree>
    <p:extLst>
      <p:ext uri="{BB962C8B-B14F-4D97-AF65-F5344CB8AC3E}">
        <p14:creationId xmlns:p14="http://schemas.microsoft.com/office/powerpoint/2010/main" val="1617421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B874132-9AD6-471D-845D-B37E184E2A51}" type="slidenum">
              <a:rPr lang="en-US" altLang="zh-CN" smtClean="0"/>
              <a:pPr eaLnBrk="1" hangingPunct="1"/>
              <a:t>37</a:t>
            </a:fld>
            <a:endParaRPr lang="en-US" altLang="zh-CN" smtClean="0"/>
          </a:p>
        </p:txBody>
      </p:sp>
    </p:spTree>
    <p:extLst>
      <p:ext uri="{BB962C8B-B14F-4D97-AF65-F5344CB8AC3E}">
        <p14:creationId xmlns:p14="http://schemas.microsoft.com/office/powerpoint/2010/main" val="2960463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922DDF2-4293-42F3-817C-0641A3DADB33}" type="slidenum">
              <a:rPr lang="en-US" altLang="zh-CN" smtClean="0"/>
              <a:pPr eaLnBrk="1" hangingPunct="1"/>
              <a:t>38</a:t>
            </a:fld>
            <a:endParaRPr lang="en-US" altLang="zh-CN" smtClean="0"/>
          </a:p>
        </p:txBody>
      </p:sp>
    </p:spTree>
    <p:extLst>
      <p:ext uri="{BB962C8B-B14F-4D97-AF65-F5344CB8AC3E}">
        <p14:creationId xmlns:p14="http://schemas.microsoft.com/office/powerpoint/2010/main" val="1646097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39BE829-4851-464A-BD6A-2AE49C49DB41}" type="slidenum">
              <a:rPr lang="en-US" altLang="zh-CN" smtClean="0"/>
              <a:pPr eaLnBrk="1" hangingPunct="1"/>
              <a:t>39</a:t>
            </a:fld>
            <a:endParaRPr lang="en-US" altLang="zh-CN" smtClean="0"/>
          </a:p>
        </p:txBody>
      </p:sp>
    </p:spTree>
    <p:extLst>
      <p:ext uri="{BB962C8B-B14F-4D97-AF65-F5344CB8AC3E}">
        <p14:creationId xmlns:p14="http://schemas.microsoft.com/office/powerpoint/2010/main" val="23181689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9D92AA5-03CA-4888-AEDD-B7A72A409F49}" type="slidenum">
              <a:rPr lang="en-US" altLang="zh-CN" smtClean="0"/>
              <a:pPr eaLnBrk="1" hangingPunct="1"/>
              <a:t>40</a:t>
            </a:fld>
            <a:endParaRPr lang="en-US" altLang="zh-CN" smtClean="0"/>
          </a:p>
        </p:txBody>
      </p:sp>
    </p:spTree>
    <p:extLst>
      <p:ext uri="{BB962C8B-B14F-4D97-AF65-F5344CB8AC3E}">
        <p14:creationId xmlns:p14="http://schemas.microsoft.com/office/powerpoint/2010/main" val="33950174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558E13F-FE63-444C-A476-70D713D82D76}" type="slidenum">
              <a:rPr lang="en-US" altLang="zh-CN" smtClean="0"/>
              <a:pPr>
                <a:defRPr/>
              </a:pPr>
              <a:t>41</a:t>
            </a:fld>
            <a:endParaRPr lang="en-US" altLang="zh-CN" dirty="0"/>
          </a:p>
        </p:txBody>
      </p:sp>
    </p:spTree>
    <p:extLst>
      <p:ext uri="{BB962C8B-B14F-4D97-AF65-F5344CB8AC3E}">
        <p14:creationId xmlns:p14="http://schemas.microsoft.com/office/powerpoint/2010/main" val="4167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558E13F-FE63-444C-A476-70D713D82D76}" type="slidenum">
              <a:rPr lang="en-US" altLang="zh-CN" smtClean="0"/>
              <a:pPr>
                <a:defRPr/>
              </a:pPr>
              <a:t>42</a:t>
            </a:fld>
            <a:endParaRPr lang="en-US" altLang="zh-CN" dirty="0"/>
          </a:p>
        </p:txBody>
      </p:sp>
    </p:spTree>
    <p:extLst>
      <p:ext uri="{BB962C8B-B14F-4D97-AF65-F5344CB8AC3E}">
        <p14:creationId xmlns:p14="http://schemas.microsoft.com/office/powerpoint/2010/main" val="2839355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558E13F-FE63-444C-A476-70D713D82D76}" type="slidenum">
              <a:rPr lang="en-US" altLang="zh-CN" smtClean="0"/>
              <a:pPr>
                <a:defRPr/>
              </a:pPr>
              <a:t>43</a:t>
            </a:fld>
            <a:endParaRPr lang="en-US" altLang="zh-CN" dirty="0"/>
          </a:p>
        </p:txBody>
      </p:sp>
    </p:spTree>
    <p:extLst>
      <p:ext uri="{BB962C8B-B14F-4D97-AF65-F5344CB8AC3E}">
        <p14:creationId xmlns:p14="http://schemas.microsoft.com/office/powerpoint/2010/main" val="1042872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7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6FD1C10-D02B-44A5-95BF-F43DCD62548B}" type="slidenum">
              <a:rPr lang="en-US" altLang="zh-CN" smtClean="0"/>
              <a:pPr eaLnBrk="1" hangingPunct="1"/>
              <a:t>44</a:t>
            </a:fld>
            <a:endParaRPr lang="en-US" altLang="zh-CN" smtClean="0"/>
          </a:p>
        </p:txBody>
      </p:sp>
    </p:spTree>
    <p:extLst>
      <p:ext uri="{BB962C8B-B14F-4D97-AF65-F5344CB8AC3E}">
        <p14:creationId xmlns:p14="http://schemas.microsoft.com/office/powerpoint/2010/main" val="228523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8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42B9687-8405-438D-8408-D736B10AA77F}" type="slidenum">
              <a:rPr lang="en-US" altLang="zh-CN" smtClean="0"/>
              <a:pPr eaLnBrk="1" hangingPunct="1"/>
              <a:t>45</a:t>
            </a:fld>
            <a:endParaRPr lang="en-US" altLang="zh-CN" smtClean="0"/>
          </a:p>
        </p:txBody>
      </p:sp>
    </p:spTree>
    <p:extLst>
      <p:ext uri="{BB962C8B-B14F-4D97-AF65-F5344CB8AC3E}">
        <p14:creationId xmlns:p14="http://schemas.microsoft.com/office/powerpoint/2010/main" val="41729865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19D39A8-1591-4822-98FC-6C8AC49C74CF}" type="slidenum">
              <a:rPr lang="en-US" altLang="zh-CN" smtClean="0"/>
              <a:pPr eaLnBrk="1" hangingPunct="1"/>
              <a:t>46</a:t>
            </a:fld>
            <a:endParaRPr lang="en-US" altLang="zh-CN" smtClean="0"/>
          </a:p>
        </p:txBody>
      </p:sp>
    </p:spTree>
    <p:extLst>
      <p:ext uri="{BB962C8B-B14F-4D97-AF65-F5344CB8AC3E}">
        <p14:creationId xmlns:p14="http://schemas.microsoft.com/office/powerpoint/2010/main" val="861451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0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69E6993-C1FF-40EC-8872-261C633460BE}" type="slidenum">
              <a:rPr lang="en-US" altLang="zh-CN" smtClean="0"/>
              <a:pPr eaLnBrk="1" hangingPunct="1"/>
              <a:t>47</a:t>
            </a:fld>
            <a:endParaRPr lang="en-US" altLang="zh-CN" smtClean="0"/>
          </a:p>
        </p:txBody>
      </p:sp>
    </p:spTree>
    <p:extLst>
      <p:ext uri="{BB962C8B-B14F-4D97-AF65-F5344CB8AC3E}">
        <p14:creationId xmlns:p14="http://schemas.microsoft.com/office/powerpoint/2010/main" val="27964464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13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B2C10EE-2708-4451-9EC1-32CAEC17DE53}" type="slidenum">
              <a:rPr lang="en-US" altLang="zh-CN" smtClean="0"/>
              <a:pPr eaLnBrk="1" hangingPunct="1"/>
              <a:t>48</a:t>
            </a:fld>
            <a:endParaRPr lang="en-US" altLang="zh-CN" smtClean="0"/>
          </a:p>
        </p:txBody>
      </p:sp>
    </p:spTree>
    <p:extLst>
      <p:ext uri="{BB962C8B-B14F-4D97-AF65-F5344CB8AC3E}">
        <p14:creationId xmlns:p14="http://schemas.microsoft.com/office/powerpoint/2010/main" val="2992640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2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C7DA023-64C9-4833-AF73-06861A3CFDA0}" type="slidenum">
              <a:rPr lang="en-US" altLang="zh-CN" smtClean="0"/>
              <a:pPr eaLnBrk="1" hangingPunct="1"/>
              <a:t>49</a:t>
            </a:fld>
            <a:endParaRPr lang="en-US" altLang="zh-CN" smtClean="0"/>
          </a:p>
        </p:txBody>
      </p:sp>
    </p:spTree>
    <p:extLst>
      <p:ext uri="{BB962C8B-B14F-4D97-AF65-F5344CB8AC3E}">
        <p14:creationId xmlns:p14="http://schemas.microsoft.com/office/powerpoint/2010/main" val="24085808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3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5422588-2A8A-4834-9CE5-560D343023D3}" type="slidenum">
              <a:rPr lang="en-US" altLang="zh-CN" smtClean="0"/>
              <a:pPr eaLnBrk="1" hangingPunct="1"/>
              <a:t>50</a:t>
            </a:fld>
            <a:endParaRPr lang="en-US" altLang="zh-CN" smtClean="0"/>
          </a:p>
        </p:txBody>
      </p:sp>
    </p:spTree>
    <p:extLst>
      <p:ext uri="{BB962C8B-B14F-4D97-AF65-F5344CB8AC3E}">
        <p14:creationId xmlns:p14="http://schemas.microsoft.com/office/powerpoint/2010/main" val="4965850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43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320603B-7257-4A4F-9C4E-08AABDA13EBA}" type="slidenum">
              <a:rPr lang="en-US" altLang="zh-CN" smtClean="0"/>
              <a:pPr eaLnBrk="1" hangingPunct="1"/>
              <a:t>51</a:t>
            </a:fld>
            <a:endParaRPr lang="en-US" altLang="zh-CN" smtClean="0"/>
          </a:p>
        </p:txBody>
      </p:sp>
    </p:spTree>
    <p:extLst>
      <p:ext uri="{BB962C8B-B14F-4D97-AF65-F5344CB8AC3E}">
        <p14:creationId xmlns:p14="http://schemas.microsoft.com/office/powerpoint/2010/main" val="41382918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5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BD30E0D-4ED2-4693-AC31-46EB6C2805EF}" type="slidenum">
              <a:rPr lang="en-US" altLang="zh-CN" smtClean="0"/>
              <a:pPr eaLnBrk="1" hangingPunct="1"/>
              <a:t>52</a:t>
            </a:fld>
            <a:endParaRPr lang="en-US" altLang="zh-CN" smtClean="0"/>
          </a:p>
        </p:txBody>
      </p:sp>
    </p:spTree>
    <p:extLst>
      <p:ext uri="{BB962C8B-B14F-4D97-AF65-F5344CB8AC3E}">
        <p14:creationId xmlns:p14="http://schemas.microsoft.com/office/powerpoint/2010/main" val="41087232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6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E2CFAA6-2C38-47D7-B640-B95A05442AE5}" type="slidenum">
              <a:rPr lang="en-US" altLang="zh-CN" smtClean="0"/>
              <a:pPr eaLnBrk="1" hangingPunct="1"/>
              <a:t>53</a:t>
            </a:fld>
            <a:endParaRPr lang="en-US" altLang="zh-CN" smtClean="0"/>
          </a:p>
        </p:txBody>
      </p:sp>
    </p:spTree>
    <p:extLst>
      <p:ext uri="{BB962C8B-B14F-4D97-AF65-F5344CB8AC3E}">
        <p14:creationId xmlns:p14="http://schemas.microsoft.com/office/powerpoint/2010/main" val="41257374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74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75FF8BF-E1CC-4CB0-B6DC-DCF91799A423}" type="slidenum">
              <a:rPr lang="en-US" altLang="zh-CN" smtClean="0"/>
              <a:pPr eaLnBrk="1" hangingPunct="1"/>
              <a:t>54</a:t>
            </a:fld>
            <a:endParaRPr lang="en-US" altLang="zh-CN" smtClean="0"/>
          </a:p>
        </p:txBody>
      </p:sp>
    </p:spTree>
    <p:extLst>
      <p:ext uri="{BB962C8B-B14F-4D97-AF65-F5344CB8AC3E}">
        <p14:creationId xmlns:p14="http://schemas.microsoft.com/office/powerpoint/2010/main" val="36347216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8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8546E40-ECEF-478B-8309-9C2530692DBE}" type="slidenum">
              <a:rPr lang="en-US" altLang="zh-CN" smtClean="0"/>
              <a:pPr eaLnBrk="1" hangingPunct="1"/>
              <a:t>55</a:t>
            </a:fld>
            <a:endParaRPr lang="en-US" altLang="zh-CN" smtClean="0"/>
          </a:p>
        </p:txBody>
      </p:sp>
    </p:spTree>
    <p:extLst>
      <p:ext uri="{BB962C8B-B14F-4D97-AF65-F5344CB8AC3E}">
        <p14:creationId xmlns:p14="http://schemas.microsoft.com/office/powerpoint/2010/main" val="34590904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8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8546E40-ECEF-478B-8309-9C2530692DBE}" type="slidenum">
              <a:rPr lang="en-US" altLang="zh-CN" smtClean="0"/>
              <a:pPr eaLnBrk="1" hangingPunct="1"/>
              <a:t>56</a:t>
            </a:fld>
            <a:endParaRPr lang="en-US" altLang="zh-CN" smtClean="0"/>
          </a:p>
        </p:txBody>
      </p:sp>
    </p:spTree>
    <p:extLst>
      <p:ext uri="{BB962C8B-B14F-4D97-AF65-F5344CB8AC3E}">
        <p14:creationId xmlns:p14="http://schemas.microsoft.com/office/powerpoint/2010/main" val="37863963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9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D391EFC-2900-4291-9295-7415F75751AE}" type="slidenum">
              <a:rPr lang="en-US" altLang="zh-CN" smtClean="0"/>
              <a:pPr eaLnBrk="1" hangingPunct="1"/>
              <a:t>57</a:t>
            </a:fld>
            <a:endParaRPr lang="en-US" altLang="zh-CN" smtClean="0"/>
          </a:p>
        </p:txBody>
      </p:sp>
    </p:spTree>
    <p:extLst>
      <p:ext uri="{BB962C8B-B14F-4D97-AF65-F5344CB8AC3E}">
        <p14:creationId xmlns:p14="http://schemas.microsoft.com/office/powerpoint/2010/main" val="34693148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0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B3DDDC2-727A-4C4C-A1F7-C3F28B105795}" type="slidenum">
              <a:rPr lang="en-US" altLang="zh-CN" smtClean="0"/>
              <a:pPr eaLnBrk="1" hangingPunct="1"/>
              <a:t>58</a:t>
            </a:fld>
            <a:endParaRPr lang="en-US" altLang="zh-CN" smtClean="0"/>
          </a:p>
        </p:txBody>
      </p:sp>
    </p:spTree>
    <p:extLst>
      <p:ext uri="{BB962C8B-B14F-4D97-AF65-F5344CB8AC3E}">
        <p14:creationId xmlns:p14="http://schemas.microsoft.com/office/powerpoint/2010/main" val="36579926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1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C4116F0-5996-4D5E-BBF8-37933E74B333}" type="slidenum">
              <a:rPr lang="en-US" altLang="zh-CN" smtClean="0"/>
              <a:pPr eaLnBrk="1" hangingPunct="1"/>
              <a:t>59</a:t>
            </a:fld>
            <a:endParaRPr lang="en-US" altLang="zh-CN" smtClean="0"/>
          </a:p>
        </p:txBody>
      </p:sp>
    </p:spTree>
    <p:extLst>
      <p:ext uri="{BB962C8B-B14F-4D97-AF65-F5344CB8AC3E}">
        <p14:creationId xmlns:p14="http://schemas.microsoft.com/office/powerpoint/2010/main" val="33882448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a:ln/>
        </p:spPr>
      </p:sp>
      <p:sp>
        <p:nvSpPr>
          <p:cNvPr id="1525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25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B4CA3D1-2AEB-4336-A388-9E56CF7D72F4}" type="slidenum">
              <a:rPr lang="en-US" altLang="zh-CN" smtClean="0"/>
              <a:pPr eaLnBrk="1" hangingPunct="1"/>
              <a:t>60</a:t>
            </a:fld>
            <a:endParaRPr lang="en-US" altLang="zh-CN" smtClean="0"/>
          </a:p>
        </p:txBody>
      </p:sp>
    </p:spTree>
    <p:extLst>
      <p:ext uri="{BB962C8B-B14F-4D97-AF65-F5344CB8AC3E}">
        <p14:creationId xmlns:p14="http://schemas.microsoft.com/office/powerpoint/2010/main" val="27207410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a:ln/>
        </p:spPr>
      </p:sp>
      <p:sp>
        <p:nvSpPr>
          <p:cNvPr id="1546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46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1F8DA7-D882-401E-98A1-DC9C92399447}" type="slidenum">
              <a:rPr lang="en-US" altLang="zh-CN" smtClean="0"/>
              <a:pPr eaLnBrk="1" hangingPunct="1"/>
              <a:t>61</a:t>
            </a:fld>
            <a:endParaRPr lang="en-US" altLang="zh-CN" smtClean="0"/>
          </a:p>
        </p:txBody>
      </p:sp>
    </p:spTree>
    <p:extLst>
      <p:ext uri="{BB962C8B-B14F-4D97-AF65-F5344CB8AC3E}">
        <p14:creationId xmlns:p14="http://schemas.microsoft.com/office/powerpoint/2010/main" val="10928671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5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FE939D3-B0B5-47A3-8A21-F4E4CD694C1B}" type="slidenum">
              <a:rPr lang="en-US" altLang="zh-CN" smtClean="0"/>
              <a:pPr eaLnBrk="1" hangingPunct="1"/>
              <a:t>62</a:t>
            </a:fld>
            <a:endParaRPr lang="en-US" altLang="zh-CN" smtClean="0"/>
          </a:p>
        </p:txBody>
      </p:sp>
    </p:spTree>
    <p:extLst>
      <p:ext uri="{BB962C8B-B14F-4D97-AF65-F5344CB8AC3E}">
        <p14:creationId xmlns:p14="http://schemas.microsoft.com/office/powerpoint/2010/main" val="39252308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a:ln/>
        </p:spPr>
      </p:sp>
      <p:sp>
        <p:nvSpPr>
          <p:cNvPr id="157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7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15119DE-5B10-45C9-97E6-03EADB970033}" type="slidenum">
              <a:rPr lang="en-US" altLang="zh-CN" smtClean="0"/>
              <a:pPr eaLnBrk="1" hangingPunct="1"/>
              <a:t>63</a:t>
            </a:fld>
            <a:endParaRPr lang="en-US" altLang="zh-CN" smtClean="0"/>
          </a:p>
        </p:txBody>
      </p:sp>
    </p:spTree>
    <p:extLst>
      <p:ext uri="{BB962C8B-B14F-4D97-AF65-F5344CB8AC3E}">
        <p14:creationId xmlns:p14="http://schemas.microsoft.com/office/powerpoint/2010/main" val="7827546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a:ln/>
        </p:spPr>
      </p:sp>
      <p:sp>
        <p:nvSpPr>
          <p:cNvPr id="159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9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02BCB4A-0BB6-4D4C-865C-C19E72279DE7}" type="slidenum">
              <a:rPr lang="en-US" altLang="zh-CN" smtClean="0"/>
              <a:pPr eaLnBrk="1" hangingPunct="1"/>
              <a:t>64</a:t>
            </a:fld>
            <a:endParaRPr lang="en-US" altLang="zh-CN" smtClean="0"/>
          </a:p>
        </p:txBody>
      </p:sp>
    </p:spTree>
    <p:extLst>
      <p:ext uri="{BB962C8B-B14F-4D97-AF65-F5344CB8AC3E}">
        <p14:creationId xmlns:p14="http://schemas.microsoft.com/office/powerpoint/2010/main" val="12534495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0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71B4234-1A73-4D01-A3FD-F98AEFFFF333}" type="slidenum">
              <a:rPr lang="en-US" altLang="zh-CN" smtClean="0"/>
              <a:pPr eaLnBrk="1" hangingPunct="1"/>
              <a:t>65</a:t>
            </a:fld>
            <a:endParaRPr lang="en-US" altLang="zh-CN" smtClean="0"/>
          </a:p>
        </p:txBody>
      </p:sp>
    </p:spTree>
    <p:extLst>
      <p:ext uri="{BB962C8B-B14F-4D97-AF65-F5344CB8AC3E}">
        <p14:creationId xmlns:p14="http://schemas.microsoft.com/office/powerpoint/2010/main" val="34717376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a:ln/>
        </p:spPr>
      </p:sp>
      <p:sp>
        <p:nvSpPr>
          <p:cNvPr id="161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1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5DC383A-E6A5-4E94-9707-362B96901D09}" type="slidenum">
              <a:rPr lang="en-US" altLang="zh-CN" smtClean="0"/>
              <a:pPr eaLnBrk="1" hangingPunct="1"/>
              <a:t>66</a:t>
            </a:fld>
            <a:endParaRPr lang="en-US" altLang="zh-CN" smtClean="0"/>
          </a:p>
        </p:txBody>
      </p:sp>
    </p:spTree>
    <p:extLst>
      <p:ext uri="{BB962C8B-B14F-4D97-AF65-F5344CB8AC3E}">
        <p14:creationId xmlns:p14="http://schemas.microsoft.com/office/powerpoint/2010/main" val="15812036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2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7455CDF-45BE-4778-B326-15C69CDCC64F}" type="slidenum">
              <a:rPr lang="en-US" altLang="zh-CN" smtClean="0"/>
              <a:pPr eaLnBrk="1" hangingPunct="1"/>
              <a:t>67</a:t>
            </a:fld>
            <a:endParaRPr lang="en-US" altLang="zh-CN" smtClean="0"/>
          </a:p>
        </p:txBody>
      </p:sp>
    </p:spTree>
    <p:extLst>
      <p:ext uri="{BB962C8B-B14F-4D97-AF65-F5344CB8AC3E}">
        <p14:creationId xmlns:p14="http://schemas.microsoft.com/office/powerpoint/2010/main" val="23375312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smtClean="0"/>
              <a:t>单击此处编辑母版副标题样式</a:t>
            </a:r>
            <a:endParaRPr lang="en-US" altLang="zh-CN" noProof="0" dirty="0" smtClean="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a:extLst/>
        </p:spPr>
        <p:txBody>
          <a:bodyPr/>
          <a:lstStyle>
            <a:lvl1pPr>
              <a:defRPr sz="4000"/>
            </a:lvl1pPr>
          </a:lstStyle>
          <a:p>
            <a:pPr lvl="0"/>
            <a:r>
              <a:rPr lang="zh-CN" altLang="en-US" noProof="0" smtClean="0"/>
              <a:t>单击此处编辑母版标题样式</a:t>
            </a:r>
            <a:endParaRPr lang="en-US" altLang="ko-KR" noProof="0" dirty="0" smtClean="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a:ex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pPr>
              <a:defRPr/>
            </a:pPr>
            <a:fld id="{B0CCA853-7886-4B7F-B904-6F1595ACC1C8}" type="slidenum">
              <a:rPr lang="en-US" altLang="zh-CN" smtClean="0"/>
              <a:pPr>
                <a:defRPr/>
              </a:pPr>
              <a:t>‹#›</a:t>
            </a:fld>
            <a:endParaRPr lang="en-US" altLang="zh-CN" dirty="0"/>
          </a:p>
        </p:txBody>
      </p:sp>
    </p:spTree>
    <p:extLst>
      <p:ext uri="{BB962C8B-B14F-4D97-AF65-F5344CB8AC3E}">
        <p14:creationId xmlns:p14="http://schemas.microsoft.com/office/powerpoint/2010/main" val="3865151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84B63D2F-1439-45F1-AA6B-85DF63D362F1}" type="slidenum">
              <a:rPr lang="en-US" altLang="zh-CN" smtClean="0"/>
              <a:pPr>
                <a:defRPr/>
              </a:pPr>
              <a:t>‹#›</a:t>
            </a:fld>
            <a:endParaRPr lang="en-US" altLang="zh-CN" dirty="0"/>
          </a:p>
        </p:txBody>
      </p:sp>
    </p:spTree>
    <p:extLst>
      <p:ext uri="{BB962C8B-B14F-4D97-AF65-F5344CB8AC3E}">
        <p14:creationId xmlns:p14="http://schemas.microsoft.com/office/powerpoint/2010/main" val="352948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灯片编号占位符 5"/>
          <p:cNvSpPr>
            <a:spLocks noGrp="1"/>
          </p:cNvSpPr>
          <p:nvPr>
            <p:ph type="sldNum" sz="quarter" idx="11"/>
          </p:nvPr>
        </p:nvSpPr>
        <p:spPr/>
        <p:txBody>
          <a:bodyPr/>
          <a:lstStyle>
            <a:lvl1pPr>
              <a:defRPr/>
            </a:lvl1pPr>
          </a:lstStyle>
          <a:p>
            <a:pPr>
              <a:defRPr/>
            </a:pPr>
            <a:fld id="{5C60BD53-8731-4EAA-AF88-6755B56A08E5}" type="slidenum">
              <a:rPr lang="en-US" altLang="zh-CN" smtClean="0"/>
              <a:pPr>
                <a:defRPr/>
              </a:pPr>
              <a:t>‹#›</a:t>
            </a:fld>
            <a:endParaRPr lang="en-US" altLang="zh-CN" dirty="0"/>
          </a:p>
        </p:txBody>
      </p:sp>
    </p:spTree>
    <p:extLst>
      <p:ext uri="{BB962C8B-B14F-4D97-AF65-F5344CB8AC3E}">
        <p14:creationId xmlns:p14="http://schemas.microsoft.com/office/powerpoint/2010/main" val="38828620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8" name="灯片编号占位符 7"/>
          <p:cNvSpPr>
            <a:spLocks noGrp="1"/>
          </p:cNvSpPr>
          <p:nvPr>
            <p:ph type="sldNum" sz="quarter" idx="11"/>
          </p:nvPr>
        </p:nvSpPr>
        <p:spPr/>
        <p:txBody>
          <a:bodyPr/>
          <a:lstStyle>
            <a:lvl1pPr>
              <a:defRPr/>
            </a:lvl1pPr>
          </a:lstStyle>
          <a:p>
            <a:pPr>
              <a:defRPr/>
            </a:pPr>
            <a:fld id="{BCC3AB0D-7539-480B-BEFB-5E665473FF34}" type="slidenum">
              <a:rPr lang="en-US" altLang="zh-CN" smtClean="0"/>
              <a:pPr>
                <a:defRPr/>
              </a:pPr>
              <a:t>‹#›</a:t>
            </a:fld>
            <a:endParaRPr lang="en-US" altLang="zh-CN" dirty="0"/>
          </a:p>
        </p:txBody>
      </p:sp>
      <p:sp>
        <p:nvSpPr>
          <p:cNvPr id="9"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398134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灯片编号占位符 3"/>
          <p:cNvSpPr>
            <a:spLocks noGrp="1"/>
          </p:cNvSpPr>
          <p:nvPr>
            <p:ph type="sldNum" sz="quarter" idx="11"/>
          </p:nvPr>
        </p:nvSpPr>
        <p:spPr/>
        <p:txBody>
          <a:bodyPr/>
          <a:lstStyle>
            <a:lvl1pPr>
              <a:defRPr/>
            </a:lvl1pPr>
          </a:lstStyle>
          <a:p>
            <a:pPr>
              <a:defRPr/>
            </a:pPr>
            <a:fld id="{C679A13A-4B27-4CD1-B730-16211D0D0784}" type="slidenum">
              <a:rPr lang="en-US" altLang="zh-CN" smtClean="0"/>
              <a:pPr>
                <a:defRPr/>
              </a:pPr>
              <a:t>‹#›</a:t>
            </a:fld>
            <a:endParaRPr lang="en-US" altLang="zh-CN" dirty="0"/>
          </a:p>
        </p:txBody>
      </p:sp>
    </p:spTree>
    <p:extLst>
      <p:ext uri="{BB962C8B-B14F-4D97-AF65-F5344CB8AC3E}">
        <p14:creationId xmlns:p14="http://schemas.microsoft.com/office/powerpoint/2010/main" val="2371171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19610F47-A322-4898-8419-96A20C633C66}" type="slidenum">
              <a:rPr lang="en-US" altLang="zh-CN" smtClean="0"/>
              <a:pPr>
                <a:defRPr/>
              </a:pPr>
              <a:t>‹#›</a:t>
            </a:fld>
            <a:endParaRPr lang="en-US" altLang="zh-CN" dirty="0"/>
          </a:p>
        </p:txBody>
      </p:sp>
    </p:spTree>
    <p:extLst>
      <p:ext uri="{BB962C8B-B14F-4D97-AF65-F5344CB8AC3E}">
        <p14:creationId xmlns:p14="http://schemas.microsoft.com/office/powerpoint/2010/main" val="1728918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BE7FA5E3-69CF-4D65-871A-1C8EDE3C7C05}" type="slidenum">
              <a:rPr lang="en-US" altLang="zh-CN" smtClean="0"/>
              <a:pPr>
                <a:defRPr/>
              </a:pPr>
              <a:t>‹#›</a:t>
            </a:fld>
            <a:endParaRPr lang="en-US" altLang="zh-CN" dirty="0"/>
          </a:p>
        </p:txBody>
      </p:sp>
    </p:spTree>
    <p:extLst>
      <p:ext uri="{BB962C8B-B14F-4D97-AF65-F5344CB8AC3E}">
        <p14:creationId xmlns:p14="http://schemas.microsoft.com/office/powerpoint/2010/main" val="3924396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0D8C029E-B249-47CF-944A-5B08B42BF773}" type="slidenum">
              <a:rPr lang="en-US" altLang="zh-CN" smtClean="0"/>
              <a:pPr>
                <a:defRPr/>
              </a:pPr>
              <a:t>‹#›</a:t>
            </a:fld>
            <a:endParaRPr lang="en-US" altLang="zh-CN" dirty="0"/>
          </a:p>
        </p:txBody>
      </p:sp>
    </p:spTree>
    <p:extLst>
      <p:ext uri="{BB962C8B-B14F-4D97-AF65-F5344CB8AC3E}">
        <p14:creationId xmlns:p14="http://schemas.microsoft.com/office/powerpoint/2010/main" val="1302830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1"/>
          </p:nvPr>
        </p:nvSpPr>
        <p:spPr/>
        <p:txBody>
          <a:bodyPr/>
          <a:lstStyle>
            <a:lvl1pPr>
              <a:defRPr/>
            </a:lvl1pPr>
          </a:lstStyle>
          <a:p>
            <a:pPr>
              <a:defRPr/>
            </a:pPr>
            <a:fld id="{8267FDDB-730D-4343-9E5B-FA2E659E9D38}" type="slidenum">
              <a:rPr lang="en-US" altLang="zh-CN" smtClean="0"/>
              <a:pPr>
                <a:defRPr/>
              </a:pPr>
              <a:t>‹#›</a:t>
            </a:fld>
            <a:endParaRPr lang="en-US" altLang="zh-CN" dirty="0"/>
          </a:p>
        </p:txBody>
      </p:sp>
    </p:spTree>
    <p:extLst>
      <p:ext uri="{BB962C8B-B14F-4D97-AF65-F5344CB8AC3E}">
        <p14:creationId xmlns:p14="http://schemas.microsoft.com/office/powerpoint/2010/main" val="1121530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1"/>
          </p:nvPr>
        </p:nvSpPr>
        <p:spPr/>
        <p:txBody>
          <a:bodyPr/>
          <a:lstStyle>
            <a:lvl1pPr>
              <a:defRPr/>
            </a:lvl1pPr>
          </a:lstStyle>
          <a:p>
            <a:pPr>
              <a:defRPr/>
            </a:pPr>
            <a:fld id="{9EDF8DD5-94A0-4005-B6C8-88C278BD0C07}" type="slidenum">
              <a:rPr lang="en-US" altLang="zh-CN" smtClean="0"/>
              <a:pPr>
                <a:defRPr/>
              </a:pPr>
              <a:t>‹#›</a:t>
            </a:fld>
            <a:endParaRPr lang="en-US" altLang="zh-CN" dirty="0"/>
          </a:p>
        </p:txBody>
      </p:sp>
    </p:spTree>
    <p:extLst>
      <p:ext uri="{BB962C8B-B14F-4D97-AF65-F5344CB8AC3E}">
        <p14:creationId xmlns:p14="http://schemas.microsoft.com/office/powerpoint/2010/main" val="234273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152525"/>
            <a:ext cx="8229600" cy="5248275"/>
          </a:xfrm>
        </p:spPr>
        <p:txBody>
          <a:bodyPr/>
          <a:lstStyle/>
          <a:p>
            <a:r>
              <a:rPr lang="zh-CN" altLang="en-US" smtClean="0"/>
              <a:t>单击图标添加表格</a:t>
            </a:r>
            <a:endParaRPr lang="zh-CN" altLang="en-US"/>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5C60BD53-8731-4EAA-AF88-6755B56A08E5}" type="slidenum">
              <a:rPr lang="en-US" altLang="zh-CN" smtClean="0"/>
              <a:pPr>
                <a:defRPr/>
              </a:pPr>
              <a:t>‹#›</a:t>
            </a:fld>
            <a:endParaRPr lang="en-US" altLang="zh-CN" dirty="0"/>
          </a:p>
        </p:txBody>
      </p:sp>
    </p:spTree>
    <p:extLst>
      <p:ext uri="{BB962C8B-B14F-4D97-AF65-F5344CB8AC3E}">
        <p14:creationId xmlns:p14="http://schemas.microsoft.com/office/powerpoint/2010/main" val="858581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5C60BD53-8731-4EAA-AF88-6755B56A08E5}" type="slidenum">
              <a:rPr lang="en-US" altLang="zh-CN" smtClean="0"/>
              <a:pPr>
                <a:defRPr/>
              </a:pPr>
              <a:t>‹#›</a:t>
            </a:fld>
            <a:endParaRPr lang="en-US" altLang="zh-CN" dirty="0"/>
          </a:p>
        </p:txBody>
      </p:sp>
    </p:spTree>
    <p:extLst>
      <p:ext uri="{BB962C8B-B14F-4D97-AF65-F5344CB8AC3E}">
        <p14:creationId xmlns:p14="http://schemas.microsoft.com/office/powerpoint/2010/main" val="1302994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5C60BD53-8731-4EAA-AF88-6755B56A08E5}" type="slidenum">
              <a:rPr lang="en-US" altLang="zh-CN" smtClean="0"/>
              <a:pPr>
                <a:defRPr/>
              </a:pPr>
              <a:t>‹#›</a:t>
            </a:fld>
            <a:endParaRPr lang="en-US" altLang="zh-CN" dirty="0"/>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a:ex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4288" r:id="rId1"/>
    <p:sldLayoutId id="2147484289" r:id="rId2"/>
    <p:sldLayoutId id="2147484290" r:id="rId3"/>
    <p:sldLayoutId id="2147484291" r:id="rId4"/>
    <p:sldLayoutId id="2147484292" r:id="rId5"/>
    <p:sldLayoutId id="2147484293" r:id="rId6"/>
    <p:sldLayoutId id="2147484294" r:id="rId7"/>
    <p:sldLayoutId id="2147484295" r:id="rId8"/>
    <p:sldLayoutId id="2147484296" r:id="rId9"/>
    <p:sldLayoutId id="2147484297" r:id="rId10"/>
    <p:sldLayoutId id="2147484298" r:id="rId11"/>
    <p:sldLayoutId id="2147484299" r:id="rId12"/>
    <p:sldLayoutId id="2147484300" r:id="rId1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calis2.nju.edu.cn:8080/opac/item.php?marc_no=000346523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lvl="0"/>
            <a:r>
              <a:rPr lang="en-US" altLang="zh-CN" sz="2000" dirty="0">
                <a:solidFill>
                  <a:srgbClr val="595959"/>
                </a:solidFill>
                <a:ea typeface="宋体" charset="-122"/>
              </a:rPr>
              <a:t>Software Institute</a:t>
            </a:r>
          </a:p>
          <a:p>
            <a:pPr lvl="0"/>
            <a:r>
              <a:rPr lang="en-US" altLang="zh-CN" sz="2000" dirty="0">
                <a:solidFill>
                  <a:srgbClr val="595959"/>
                </a:solidFill>
                <a:ea typeface="宋体" charset="-122"/>
              </a:rPr>
              <a:t>Nanjing University</a:t>
            </a:r>
          </a:p>
          <a:p>
            <a:pPr lvl="0"/>
            <a:r>
              <a:rPr lang="en-US" altLang="zh-CN" sz="2000" dirty="0" err="1">
                <a:solidFill>
                  <a:srgbClr val="595959"/>
                </a:solidFill>
                <a:ea typeface="宋体" charset="-122"/>
              </a:rPr>
              <a:t>Bei</a:t>
            </a:r>
            <a:r>
              <a:rPr lang="en-US" altLang="zh-CN" sz="2000" dirty="0">
                <a:solidFill>
                  <a:srgbClr val="595959"/>
                </a:solidFill>
                <a:ea typeface="宋体" charset="-122"/>
              </a:rPr>
              <a:t> Jia</a:t>
            </a:r>
          </a:p>
        </p:txBody>
      </p:sp>
      <p:sp>
        <p:nvSpPr>
          <p:cNvPr id="3074" name="Rectangle 2"/>
          <p:cNvSpPr>
            <a:spLocks noGrp="1" noChangeArrowheads="1"/>
          </p:cNvSpPr>
          <p:nvPr>
            <p:ph type="ctrTitle" sz="quarter"/>
          </p:nvPr>
        </p:nvSpPr>
        <p:spPr/>
        <p:txBody>
          <a:bodyPr/>
          <a:lstStyle/>
          <a:p>
            <a:r>
              <a:rPr lang="en-US" altLang="zh-CN" sz="2800" dirty="0">
                <a:solidFill>
                  <a:srgbClr val="FFFFFF"/>
                </a:solidFill>
                <a:ea typeface="宋体" charset="-122"/>
              </a:rPr>
              <a:t>Principles of Service-Oriented Design </a:t>
            </a:r>
            <a:r>
              <a:rPr lang="en-US" altLang="zh-CN" sz="2800" dirty="0" smtClean="0">
                <a:solidFill>
                  <a:srgbClr val="FFFFFF"/>
                </a:solidFill>
                <a:ea typeface="宋体" charset="-122"/>
              </a:rPr>
              <a:t>IV</a:t>
            </a:r>
            <a:br>
              <a:rPr lang="en-US" altLang="zh-CN" sz="2800" dirty="0" smtClean="0">
                <a:solidFill>
                  <a:srgbClr val="FFFFFF"/>
                </a:solidFill>
                <a:ea typeface="宋体" charset="-122"/>
              </a:rPr>
            </a:br>
            <a:r>
              <a:rPr lang="en-US" altLang="zh-CN" sz="2000" dirty="0" smtClean="0">
                <a:solidFill>
                  <a:srgbClr val="FFFFFF"/>
                </a:solidFill>
                <a:ea typeface="宋体" charset="-122"/>
              </a:rPr>
              <a:t>Service-Oriented </a:t>
            </a:r>
            <a:r>
              <a:rPr lang="en-US" altLang="zh-CN" sz="2000" dirty="0">
                <a:solidFill>
                  <a:srgbClr val="FFFFFF"/>
                </a:solidFill>
                <a:ea typeface="宋体" charset="-122"/>
              </a:rPr>
              <a:t>Software Engineering</a:t>
            </a:r>
            <a:endParaRPr lang="en-US" altLang="zh-CN" sz="2000" dirty="0" smtClean="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dirty="0" smtClean="0"/>
              <a:t>服务可发现性（可解释性与交流</a:t>
            </a:r>
            <a:r>
              <a:rPr lang="zh-CN" altLang="en-US" dirty="0"/>
              <a:t>）</a:t>
            </a:r>
            <a:endParaRPr lang="zh-CN" altLang="en-US" dirty="0" smtClean="0"/>
          </a:p>
        </p:txBody>
      </p:sp>
      <p:sp>
        <p:nvSpPr>
          <p:cNvPr id="4099" name="内容占位符 2"/>
          <p:cNvSpPr>
            <a:spLocks noGrp="1"/>
          </p:cNvSpPr>
          <p:nvPr>
            <p:ph idx="1"/>
          </p:nvPr>
        </p:nvSpPr>
        <p:spPr>
          <a:xfrm>
            <a:off x="457200" y="1052737"/>
            <a:ext cx="8229600" cy="1440159"/>
          </a:xfrm>
        </p:spPr>
        <p:txBody>
          <a:bodyPr/>
          <a:lstStyle/>
          <a:p>
            <a:r>
              <a:rPr lang="zh-CN" altLang="en-US" dirty="0" smtClean="0"/>
              <a:t>“发现</a:t>
            </a:r>
            <a:r>
              <a:rPr lang="zh-CN" altLang="en-US" dirty="0"/>
              <a:t>”</a:t>
            </a:r>
            <a:r>
              <a:rPr lang="zh-CN" altLang="en-US" dirty="0" smtClean="0"/>
              <a:t>可以帮助我们确定得要完成的自动化需求是否已经存在于服务库存中</a:t>
            </a:r>
          </a:p>
        </p:txBody>
      </p:sp>
      <p:sp>
        <p:nvSpPr>
          <p:cNvPr id="410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7CFC443-4CEC-47F7-AC8F-92CDBEBB070B}" type="slidenum">
              <a:rPr lang="en-US" altLang="zh-CN" smtClean="0"/>
              <a:pPr eaLnBrk="1" hangingPunct="1"/>
              <a:t>2</a:t>
            </a:fld>
            <a:endParaRPr lang="en-US" altLang="zh-CN" smtClean="0"/>
          </a:p>
        </p:txBody>
      </p:sp>
      <p:pic>
        <p:nvPicPr>
          <p:cNvPr id="2" name="图片 1"/>
          <p:cNvPicPr>
            <a:picLocks noChangeAspect="1"/>
          </p:cNvPicPr>
          <p:nvPr/>
        </p:nvPicPr>
        <p:blipFill>
          <a:blip r:embed="rId3"/>
          <a:stretch>
            <a:fillRect/>
          </a:stretch>
        </p:blipFill>
        <p:spPr>
          <a:xfrm>
            <a:off x="683568" y="2793684"/>
            <a:ext cx="4808743" cy="3393182"/>
          </a:xfrm>
          <a:prstGeom prst="rect">
            <a:avLst/>
          </a:prstGeom>
        </p:spPr>
      </p:pic>
      <p:sp>
        <p:nvSpPr>
          <p:cNvPr id="5" name="矩形 4"/>
          <p:cNvSpPr/>
          <p:nvPr/>
        </p:nvSpPr>
        <p:spPr>
          <a:xfrm>
            <a:off x="5292080" y="4863427"/>
            <a:ext cx="2749624" cy="1323439"/>
          </a:xfrm>
          <a:prstGeom prst="rect">
            <a:avLst/>
          </a:prstGeom>
        </p:spPr>
        <p:txBody>
          <a:bodyPr wrap="square">
            <a:spAutoFit/>
          </a:bodyPr>
          <a:lstStyle/>
          <a:p>
            <a:r>
              <a:rPr lang="en-US" altLang="zh-CN" sz="1600" dirty="0"/>
              <a:t>Discovery helps us </a:t>
            </a:r>
            <a:r>
              <a:rPr lang="en-US" altLang="zh-CN" sz="1600" dirty="0" smtClean="0"/>
              <a:t>determine whether </a:t>
            </a:r>
            <a:r>
              <a:rPr lang="en-US" altLang="zh-CN" sz="1600" dirty="0"/>
              <a:t>the </a:t>
            </a:r>
            <a:r>
              <a:rPr lang="en-US" altLang="zh-CN" sz="1600" dirty="0" smtClean="0"/>
              <a:t>automation requirements </a:t>
            </a:r>
            <a:r>
              <a:rPr lang="en-US" altLang="zh-CN" sz="1600" dirty="0"/>
              <a:t>we need </a:t>
            </a:r>
            <a:r>
              <a:rPr lang="en-US" altLang="zh-CN" sz="1600" dirty="0" smtClean="0"/>
              <a:t>to fulfill </a:t>
            </a:r>
            <a:r>
              <a:rPr lang="en-US" altLang="zh-CN" sz="1600" dirty="0"/>
              <a:t>already exist </a:t>
            </a:r>
            <a:r>
              <a:rPr lang="en-US" altLang="zh-CN" sz="1600" dirty="0" smtClean="0"/>
              <a:t>within a </a:t>
            </a:r>
            <a:r>
              <a:rPr lang="en-US" altLang="zh-CN" sz="1600" dirty="0"/>
              <a:t>service </a:t>
            </a:r>
            <a:r>
              <a:rPr lang="en-US" altLang="zh-CN" sz="1600" dirty="0" smtClean="0"/>
              <a:t>inventory</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smtClean="0"/>
              <a:t>发现</a:t>
            </a:r>
          </a:p>
        </p:txBody>
      </p:sp>
      <p:sp>
        <p:nvSpPr>
          <p:cNvPr id="3" name="内容占位符 2"/>
          <p:cNvSpPr>
            <a:spLocks noGrp="1"/>
          </p:cNvSpPr>
          <p:nvPr>
            <p:ph idx="1"/>
          </p:nvPr>
        </p:nvSpPr>
        <p:spPr/>
        <p:txBody>
          <a:bodyPr>
            <a:normAutofit fontScale="70000" lnSpcReduction="20000"/>
          </a:bodyPr>
          <a:lstStyle/>
          <a:p>
            <a:pPr>
              <a:lnSpc>
                <a:spcPct val="120000"/>
              </a:lnSpc>
              <a:defRPr/>
            </a:pPr>
            <a:r>
              <a:rPr lang="zh-CN" altLang="en-US" dirty="0" smtClean="0"/>
              <a:t>发现，在一个特定的环境中搜索和查找的过程</a:t>
            </a:r>
            <a:endParaRPr lang="en-US" altLang="zh-CN" dirty="0" smtClean="0"/>
          </a:p>
          <a:p>
            <a:pPr>
              <a:lnSpc>
                <a:spcPct val="120000"/>
              </a:lnSpc>
              <a:defRPr/>
            </a:pPr>
            <a:r>
              <a:rPr lang="zh-CN" altLang="en-US" dirty="0" smtClean="0"/>
              <a:t>发现需要：</a:t>
            </a:r>
            <a:endParaRPr lang="en-US" altLang="zh-CN" dirty="0" smtClean="0"/>
          </a:p>
          <a:p>
            <a:pPr lvl="1">
              <a:lnSpc>
                <a:spcPct val="120000"/>
              </a:lnSpc>
              <a:defRPr/>
            </a:pPr>
            <a:r>
              <a:rPr lang="zh-CN" altLang="en-US" dirty="0" smtClean="0">
                <a:cs typeface="+mn-cs"/>
              </a:rPr>
              <a:t>统一的，用于交流可发现资源的信息</a:t>
            </a:r>
            <a:r>
              <a:rPr lang="en-US" altLang="zh-CN" dirty="0" smtClean="0">
                <a:cs typeface="+mn-cs"/>
              </a:rPr>
              <a:t>(</a:t>
            </a:r>
            <a:r>
              <a:rPr lang="zh-CN" altLang="en-US" dirty="0" smtClean="0">
                <a:cs typeface="+mn-cs"/>
              </a:rPr>
              <a:t>元信息</a:t>
            </a:r>
            <a:r>
              <a:rPr lang="en-US" altLang="zh-CN" dirty="0" smtClean="0">
                <a:cs typeface="+mn-cs"/>
              </a:rPr>
              <a:t>)</a:t>
            </a:r>
            <a:r>
              <a:rPr lang="zh-CN" altLang="en-US" dirty="0" smtClean="0">
                <a:cs typeface="+mn-cs"/>
              </a:rPr>
              <a:t>的手段</a:t>
            </a:r>
            <a:endParaRPr lang="en-US" altLang="zh-CN" dirty="0" smtClean="0">
              <a:cs typeface="+mn-cs"/>
            </a:endParaRPr>
          </a:p>
          <a:p>
            <a:pPr lvl="1">
              <a:lnSpc>
                <a:spcPct val="120000"/>
              </a:lnSpc>
              <a:defRPr/>
            </a:pPr>
            <a:r>
              <a:rPr lang="zh-CN" altLang="en-US" dirty="0" smtClean="0">
                <a:cs typeface="+mn-cs"/>
              </a:rPr>
              <a:t>由那些最能了解底层资源的人员来准确定义的元信息</a:t>
            </a:r>
            <a:endParaRPr lang="en-US" altLang="zh-CN" dirty="0" smtClean="0">
              <a:cs typeface="+mn-cs"/>
            </a:endParaRPr>
          </a:p>
          <a:p>
            <a:pPr lvl="1">
              <a:lnSpc>
                <a:spcPct val="120000"/>
              </a:lnSpc>
              <a:defRPr/>
            </a:pPr>
            <a:r>
              <a:rPr lang="zh-CN" altLang="en-US" dirty="0" smtClean="0">
                <a:cs typeface="+mn-cs"/>
              </a:rPr>
              <a:t>由那些拥有合适的交流技巧的人员来清晰记录的元信息</a:t>
            </a:r>
            <a:endParaRPr lang="en-US" altLang="zh-CN" dirty="0" smtClean="0">
              <a:cs typeface="+mn-cs"/>
            </a:endParaRPr>
          </a:p>
          <a:p>
            <a:pPr lvl="1">
              <a:lnSpc>
                <a:spcPct val="120000"/>
              </a:lnSpc>
              <a:defRPr/>
            </a:pPr>
            <a:r>
              <a:rPr lang="zh-CN" altLang="en-US" dirty="0" smtClean="0">
                <a:cs typeface="+mn-cs"/>
              </a:rPr>
              <a:t>按照一致的格式集中存储和维护元信息</a:t>
            </a:r>
            <a:endParaRPr lang="en-US" altLang="zh-CN" dirty="0" smtClean="0">
              <a:cs typeface="+mn-cs"/>
            </a:endParaRPr>
          </a:p>
          <a:p>
            <a:pPr lvl="1">
              <a:lnSpc>
                <a:spcPct val="120000"/>
              </a:lnSpc>
              <a:defRPr/>
            </a:pPr>
            <a:r>
              <a:rPr lang="zh-CN" altLang="en-US" dirty="0" smtClean="0">
                <a:cs typeface="+mn-cs"/>
              </a:rPr>
              <a:t>使元信息可以让期望发现资源的人们所访问</a:t>
            </a:r>
            <a:endParaRPr lang="en-US" altLang="zh-CN" dirty="0" smtClean="0">
              <a:cs typeface="+mn-cs"/>
            </a:endParaRPr>
          </a:p>
          <a:p>
            <a:pPr lvl="1">
              <a:lnSpc>
                <a:spcPct val="120000"/>
              </a:lnSpc>
              <a:defRPr/>
            </a:pPr>
            <a:r>
              <a:rPr lang="zh-CN" altLang="en-US" dirty="0" smtClean="0">
                <a:cs typeface="+mn-cs"/>
              </a:rPr>
              <a:t>采用响应标准驱动 </a:t>
            </a:r>
            <a:r>
              <a:rPr lang="en-US" altLang="zh-CN" dirty="0" smtClean="0">
                <a:cs typeface="+mn-cs"/>
              </a:rPr>
              <a:t>(</a:t>
            </a:r>
            <a:r>
              <a:rPr lang="en-US" altLang="zh-CN" dirty="0" smtClean="0"/>
              <a:t>criteria-driven) </a:t>
            </a:r>
            <a:r>
              <a:rPr lang="zh-CN" altLang="en-US" dirty="0" smtClean="0"/>
              <a:t>方式，有效搜索元信息</a:t>
            </a:r>
            <a:endParaRPr lang="en-US" altLang="zh-CN" dirty="0" smtClean="0">
              <a:cs typeface="+mn-cs"/>
            </a:endParaRPr>
          </a:p>
          <a:p>
            <a:pPr lvl="1">
              <a:lnSpc>
                <a:spcPct val="120000"/>
              </a:lnSpc>
              <a:defRPr/>
            </a:pPr>
            <a:r>
              <a:rPr lang="zh-CN" altLang="en-US" dirty="0" smtClean="0">
                <a:cs typeface="+mn-cs"/>
              </a:rPr>
              <a:t>那些需要审查查询结果的人员应当能够清晰理解元信息</a:t>
            </a:r>
            <a:endParaRPr lang="en-US" altLang="zh-CN" dirty="0" smtClean="0">
              <a:cs typeface="+mn-cs"/>
            </a:endParaRPr>
          </a:p>
          <a:p>
            <a:pPr>
              <a:lnSpc>
                <a:spcPct val="120000"/>
              </a:lnSpc>
              <a:defRPr/>
            </a:pPr>
            <a:r>
              <a:rPr lang="zh-CN" altLang="en-US" dirty="0" smtClean="0"/>
              <a:t>元信息的类型包括：</a:t>
            </a:r>
            <a:endParaRPr lang="en-US" altLang="zh-CN" dirty="0" smtClean="0"/>
          </a:p>
          <a:p>
            <a:pPr lvl="1">
              <a:lnSpc>
                <a:spcPct val="120000"/>
              </a:lnSpc>
              <a:defRPr/>
            </a:pPr>
            <a:r>
              <a:rPr lang="zh-CN" altLang="en-US" dirty="0" smtClean="0">
                <a:cs typeface="+mn-cs"/>
              </a:rPr>
              <a:t>资源的目标</a:t>
            </a:r>
            <a:endParaRPr lang="en-US" altLang="zh-CN" dirty="0" smtClean="0">
              <a:cs typeface="+mn-cs"/>
            </a:endParaRPr>
          </a:p>
          <a:p>
            <a:pPr lvl="1">
              <a:lnSpc>
                <a:spcPct val="120000"/>
              </a:lnSpc>
              <a:defRPr/>
            </a:pPr>
            <a:r>
              <a:rPr lang="zh-CN" altLang="en-US" dirty="0" smtClean="0">
                <a:cs typeface="+mn-cs"/>
              </a:rPr>
              <a:t>资源的能力</a:t>
            </a:r>
            <a:endParaRPr lang="en-US" altLang="zh-CN" dirty="0" smtClean="0">
              <a:cs typeface="+mn-cs"/>
            </a:endParaRPr>
          </a:p>
          <a:p>
            <a:pPr lvl="1">
              <a:lnSpc>
                <a:spcPct val="120000"/>
              </a:lnSpc>
              <a:defRPr/>
            </a:pPr>
            <a:r>
              <a:rPr lang="zh-CN" altLang="en-US" dirty="0" smtClean="0">
                <a:cs typeface="+mn-cs"/>
              </a:rPr>
              <a:t>资源能力的限制</a:t>
            </a:r>
            <a:endParaRPr lang="zh-CN" altLang="en-US" dirty="0"/>
          </a:p>
        </p:txBody>
      </p:sp>
      <p:sp>
        <p:nvSpPr>
          <p:cNvPr id="512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6931306-8549-4DAE-9132-4AA732D5E81C}" type="slidenum">
              <a:rPr lang="en-US" altLang="zh-CN" smtClean="0"/>
              <a:pPr eaLnBrk="1" hangingPunct="1"/>
              <a:t>3</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dirty="0" smtClean="0"/>
              <a:t>可发现性 </a:t>
            </a:r>
            <a:r>
              <a:rPr lang="en-US" altLang="zh-CN" dirty="0" smtClean="0"/>
              <a:t>(1/2)</a:t>
            </a:r>
            <a:endParaRPr lang="zh-CN" altLang="en-US" dirty="0" smtClean="0"/>
          </a:p>
        </p:txBody>
      </p:sp>
      <p:sp>
        <p:nvSpPr>
          <p:cNvPr id="6147" name="内容占位符 2"/>
          <p:cNvSpPr>
            <a:spLocks noGrp="1"/>
          </p:cNvSpPr>
          <p:nvPr>
            <p:ph idx="1"/>
          </p:nvPr>
        </p:nvSpPr>
        <p:spPr>
          <a:xfrm>
            <a:off x="457200" y="1052737"/>
            <a:ext cx="8229600" cy="1584175"/>
          </a:xfrm>
        </p:spPr>
        <p:txBody>
          <a:bodyPr/>
          <a:lstStyle/>
          <a:p>
            <a:r>
              <a:rPr lang="zh-CN" altLang="en-US" dirty="0" smtClean="0"/>
              <a:t>服务配备元信息，并加入到发现搜索可达的范围</a:t>
            </a:r>
          </a:p>
        </p:txBody>
      </p:sp>
      <p:sp>
        <p:nvSpPr>
          <p:cNvPr id="614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D7D1E2F-AD9A-4BD7-8B06-4D971D724137}" type="slidenum">
              <a:rPr lang="en-US" altLang="zh-CN" smtClean="0"/>
              <a:pPr eaLnBrk="1" hangingPunct="1"/>
              <a:t>4</a:t>
            </a:fld>
            <a:endParaRPr lang="en-US" altLang="zh-CN" smtClean="0"/>
          </a:p>
        </p:txBody>
      </p:sp>
      <p:pic>
        <p:nvPicPr>
          <p:cNvPr id="5" name="图片 4"/>
          <p:cNvPicPr>
            <a:picLocks noChangeAspect="1"/>
          </p:cNvPicPr>
          <p:nvPr/>
        </p:nvPicPr>
        <p:blipFill>
          <a:blip r:embed="rId3"/>
          <a:stretch>
            <a:fillRect/>
          </a:stretch>
        </p:blipFill>
        <p:spPr>
          <a:xfrm>
            <a:off x="2085975" y="2973686"/>
            <a:ext cx="4895850" cy="2286000"/>
          </a:xfrm>
          <a:prstGeom prst="rect">
            <a:avLst/>
          </a:prstGeom>
        </p:spPr>
      </p:pic>
      <p:sp>
        <p:nvSpPr>
          <p:cNvPr id="7" name="矩形 6"/>
          <p:cNvSpPr/>
          <p:nvPr/>
        </p:nvSpPr>
        <p:spPr>
          <a:xfrm>
            <a:off x="1555290" y="5554898"/>
            <a:ext cx="6033420" cy="584775"/>
          </a:xfrm>
          <a:prstGeom prst="rect">
            <a:avLst/>
          </a:prstGeom>
        </p:spPr>
        <p:txBody>
          <a:bodyPr wrap="square">
            <a:spAutoFit/>
          </a:bodyPr>
          <a:lstStyle/>
          <a:p>
            <a:r>
              <a:rPr lang="en-US" altLang="zh-CN" sz="1600" dirty="0"/>
              <a:t>A simplified example of common discoverability </a:t>
            </a:r>
            <a:r>
              <a:rPr lang="en-US" altLang="zh-CN" sz="1600" dirty="0" smtClean="0"/>
              <a:t>meta data—a </a:t>
            </a:r>
            <a:r>
              <a:rPr lang="en-US" altLang="zh-CN" sz="1600" dirty="0"/>
              <a:t>standardized expression of a service’s </a:t>
            </a:r>
            <a:r>
              <a:rPr lang="en-US" altLang="zh-CN" sz="1600" dirty="0" smtClean="0"/>
              <a:t>purpose and </a:t>
            </a:r>
            <a:r>
              <a:rPr lang="en-US" altLang="zh-CN" sz="1600" dirty="0"/>
              <a:t>capabilities.</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dirty="0" smtClean="0"/>
              <a:t>可发现性 </a:t>
            </a:r>
            <a:r>
              <a:rPr lang="en-US" altLang="zh-CN" dirty="0" smtClean="0"/>
              <a:t>(2/2)</a:t>
            </a:r>
            <a:endParaRPr lang="zh-CN" altLang="en-US" dirty="0" smtClean="0"/>
          </a:p>
        </p:txBody>
      </p:sp>
      <p:sp>
        <p:nvSpPr>
          <p:cNvPr id="6147" name="内容占位符 2"/>
          <p:cNvSpPr>
            <a:spLocks noGrp="1"/>
          </p:cNvSpPr>
          <p:nvPr>
            <p:ph idx="1"/>
          </p:nvPr>
        </p:nvSpPr>
        <p:spPr>
          <a:xfrm>
            <a:off x="457200" y="1052737"/>
            <a:ext cx="8229600" cy="1080119"/>
          </a:xfrm>
        </p:spPr>
        <p:txBody>
          <a:bodyPr/>
          <a:lstStyle/>
          <a:p>
            <a:r>
              <a:rPr lang="zh-CN" altLang="en-US" dirty="0" smtClean="0"/>
              <a:t>人的发现过程包括查询和过滤</a:t>
            </a:r>
          </a:p>
        </p:txBody>
      </p:sp>
      <p:sp>
        <p:nvSpPr>
          <p:cNvPr id="614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D7D1E2F-AD9A-4BD7-8B06-4D971D724137}" type="slidenum">
              <a:rPr lang="en-US" altLang="zh-CN" smtClean="0"/>
              <a:pPr eaLnBrk="1" hangingPunct="1"/>
              <a:t>5</a:t>
            </a:fld>
            <a:endParaRPr lang="en-US" altLang="zh-CN" smtClean="0"/>
          </a:p>
        </p:txBody>
      </p:sp>
      <p:pic>
        <p:nvPicPr>
          <p:cNvPr id="4" name="图片 3"/>
          <p:cNvPicPr>
            <a:picLocks noChangeAspect="1"/>
          </p:cNvPicPr>
          <p:nvPr/>
        </p:nvPicPr>
        <p:blipFill>
          <a:blip r:embed="rId3"/>
          <a:stretch>
            <a:fillRect/>
          </a:stretch>
        </p:blipFill>
        <p:spPr>
          <a:xfrm>
            <a:off x="1862137" y="2132856"/>
            <a:ext cx="5343525" cy="3762375"/>
          </a:xfrm>
          <a:prstGeom prst="rect">
            <a:avLst/>
          </a:prstGeom>
        </p:spPr>
      </p:pic>
      <p:sp>
        <p:nvSpPr>
          <p:cNvPr id="5" name="矩形 4"/>
          <p:cNvSpPr/>
          <p:nvPr/>
        </p:nvSpPr>
        <p:spPr>
          <a:xfrm>
            <a:off x="1043608" y="6111255"/>
            <a:ext cx="7488832" cy="338554"/>
          </a:xfrm>
          <a:prstGeom prst="rect">
            <a:avLst/>
          </a:prstGeom>
        </p:spPr>
        <p:txBody>
          <a:bodyPr wrap="square">
            <a:spAutoFit/>
          </a:bodyPr>
          <a:lstStyle/>
          <a:p>
            <a:r>
              <a:rPr lang="zh-CN" altLang="en-US" sz="1600" dirty="0"/>
              <a:t>The human discovery process </a:t>
            </a:r>
            <a:r>
              <a:rPr lang="zh-CN" altLang="en-US" sz="1600" dirty="0" smtClean="0"/>
              <a:t>essentially consists </a:t>
            </a:r>
            <a:r>
              <a:rPr lang="zh-CN" altLang="en-US" sz="1600" dirty="0"/>
              <a:t>of querying and filtering</a:t>
            </a:r>
          </a:p>
        </p:txBody>
      </p:sp>
    </p:spTree>
    <p:extLst>
      <p:ext uri="{BB962C8B-B14F-4D97-AF65-F5344CB8AC3E}">
        <p14:creationId xmlns:p14="http://schemas.microsoft.com/office/powerpoint/2010/main" val="2944680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smtClean="0"/>
              <a:t>可解释性 </a:t>
            </a:r>
            <a:r>
              <a:rPr lang="en-US" altLang="zh-CN" dirty="0" smtClean="0"/>
              <a:t>(1/2)</a:t>
            </a:r>
            <a:endParaRPr lang="zh-CN" altLang="en-US" dirty="0" smtClean="0"/>
          </a:p>
        </p:txBody>
      </p:sp>
      <p:sp>
        <p:nvSpPr>
          <p:cNvPr id="7171" name="内容占位符 2"/>
          <p:cNvSpPr>
            <a:spLocks noGrp="1"/>
          </p:cNvSpPr>
          <p:nvPr>
            <p:ph idx="1"/>
          </p:nvPr>
        </p:nvSpPr>
        <p:spPr>
          <a:xfrm>
            <a:off x="457200" y="1052737"/>
            <a:ext cx="8229600" cy="1944215"/>
          </a:xfrm>
        </p:spPr>
        <p:txBody>
          <a:bodyPr/>
          <a:lstStyle/>
          <a:p>
            <a:r>
              <a:rPr lang="zh-CN" altLang="en-US" dirty="0"/>
              <a:t>被</a:t>
            </a:r>
            <a:r>
              <a:rPr lang="zh-CN" altLang="en-US" dirty="0" smtClean="0"/>
              <a:t>发现后，服务的目标和能力应当能够被清晰地理解。这种</a:t>
            </a:r>
            <a:r>
              <a:rPr lang="en-US" altLang="zh-CN" dirty="0" smtClean="0"/>
              <a:t>“</a:t>
            </a:r>
            <a:r>
              <a:rPr lang="zh-CN" altLang="en-US" dirty="0" smtClean="0"/>
              <a:t>交流质量</a:t>
            </a:r>
            <a:r>
              <a:rPr lang="en-US" altLang="zh-CN" dirty="0" smtClean="0"/>
              <a:t>”</a:t>
            </a:r>
            <a:r>
              <a:rPr lang="zh-CN" altLang="en-US" dirty="0" smtClean="0"/>
              <a:t>或清晰的级别被称为可解释性 </a:t>
            </a:r>
            <a:r>
              <a:rPr lang="en-US" altLang="zh-CN" dirty="0" smtClean="0"/>
              <a:t>(interpretability)</a:t>
            </a:r>
            <a:endParaRPr lang="zh-CN" altLang="en-US" dirty="0" smtClean="0"/>
          </a:p>
        </p:txBody>
      </p:sp>
      <p:sp>
        <p:nvSpPr>
          <p:cNvPr id="717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AA46CE1-AF06-4D53-8C46-234D49C497DD}" type="slidenum">
              <a:rPr lang="en-US" altLang="zh-CN" smtClean="0"/>
              <a:pPr eaLnBrk="1" hangingPunct="1"/>
              <a:t>6</a:t>
            </a:fld>
            <a:endParaRPr lang="en-US" altLang="zh-CN" smtClean="0"/>
          </a:p>
        </p:txBody>
      </p:sp>
      <p:pic>
        <p:nvPicPr>
          <p:cNvPr id="4" name="图片 3"/>
          <p:cNvPicPr>
            <a:picLocks noChangeAspect="1"/>
          </p:cNvPicPr>
          <p:nvPr/>
        </p:nvPicPr>
        <p:blipFill>
          <a:blip r:embed="rId3"/>
          <a:stretch>
            <a:fillRect/>
          </a:stretch>
        </p:blipFill>
        <p:spPr>
          <a:xfrm>
            <a:off x="2697696" y="3100392"/>
            <a:ext cx="3672408" cy="2591028"/>
          </a:xfrm>
          <a:prstGeom prst="rect">
            <a:avLst/>
          </a:prstGeom>
        </p:spPr>
      </p:pic>
      <p:sp>
        <p:nvSpPr>
          <p:cNvPr id="6" name="矩形 5"/>
          <p:cNvSpPr/>
          <p:nvPr/>
        </p:nvSpPr>
        <p:spPr>
          <a:xfrm>
            <a:off x="1293574" y="5753063"/>
            <a:ext cx="6556852" cy="584775"/>
          </a:xfrm>
          <a:prstGeom prst="rect">
            <a:avLst/>
          </a:prstGeom>
        </p:spPr>
        <p:txBody>
          <a:bodyPr wrap="square">
            <a:spAutoFit/>
          </a:bodyPr>
          <a:lstStyle/>
          <a:p>
            <a:r>
              <a:rPr lang="en-US" altLang="zh-CN" sz="1600" dirty="0"/>
              <a:t>The communications quality of service meta data represents the extent </a:t>
            </a:r>
            <a:r>
              <a:rPr lang="en-US" altLang="zh-CN" sz="1600" dirty="0" smtClean="0"/>
              <a:t>to which </a:t>
            </a:r>
            <a:r>
              <a:rPr lang="en-US" altLang="zh-CN" sz="1600" dirty="0"/>
              <a:t>the design characteristic of interpretability is implemented</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smtClean="0"/>
              <a:t>可解释性 </a:t>
            </a:r>
            <a:r>
              <a:rPr lang="en-US" altLang="zh-CN" dirty="0" smtClean="0"/>
              <a:t>(2/2)</a:t>
            </a:r>
            <a:endParaRPr lang="zh-CN" altLang="en-US" dirty="0" smtClean="0"/>
          </a:p>
        </p:txBody>
      </p:sp>
      <p:sp>
        <p:nvSpPr>
          <p:cNvPr id="7171" name="内容占位符 2"/>
          <p:cNvSpPr>
            <a:spLocks noGrp="1"/>
          </p:cNvSpPr>
          <p:nvPr>
            <p:ph idx="1"/>
          </p:nvPr>
        </p:nvSpPr>
        <p:spPr>
          <a:xfrm>
            <a:off x="457200" y="1052737"/>
            <a:ext cx="8229600" cy="1944215"/>
          </a:xfrm>
        </p:spPr>
        <p:txBody>
          <a:bodyPr/>
          <a:lstStyle/>
          <a:p>
            <a:r>
              <a:rPr lang="zh-CN" altLang="en-US" dirty="0" smtClean="0"/>
              <a:t>人评估发现过程的结果，</a:t>
            </a:r>
            <a:r>
              <a:rPr lang="zh-CN" altLang="en-US" dirty="0"/>
              <a:t>并</a:t>
            </a:r>
            <a:r>
              <a:rPr lang="zh-CN" altLang="en-US" dirty="0" smtClean="0"/>
              <a:t>选择一个有能力完成自动化需求的服务的过程，是解释过程的一部分</a:t>
            </a:r>
          </a:p>
        </p:txBody>
      </p:sp>
      <p:sp>
        <p:nvSpPr>
          <p:cNvPr id="717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AA46CE1-AF06-4D53-8C46-234D49C497DD}" type="slidenum">
              <a:rPr lang="en-US" altLang="zh-CN" smtClean="0"/>
              <a:pPr eaLnBrk="1" hangingPunct="1"/>
              <a:t>7</a:t>
            </a:fld>
            <a:endParaRPr lang="en-US" altLang="zh-CN" smtClean="0"/>
          </a:p>
        </p:txBody>
      </p:sp>
      <p:pic>
        <p:nvPicPr>
          <p:cNvPr id="4" name="图片 3"/>
          <p:cNvPicPr>
            <a:picLocks noChangeAspect="1"/>
          </p:cNvPicPr>
          <p:nvPr/>
        </p:nvPicPr>
        <p:blipFill>
          <a:blip r:embed="rId3"/>
          <a:stretch>
            <a:fillRect/>
          </a:stretch>
        </p:blipFill>
        <p:spPr>
          <a:xfrm>
            <a:off x="1619672" y="2852936"/>
            <a:ext cx="5705475" cy="2943225"/>
          </a:xfrm>
          <a:prstGeom prst="rect">
            <a:avLst/>
          </a:prstGeom>
        </p:spPr>
      </p:pic>
      <p:sp>
        <p:nvSpPr>
          <p:cNvPr id="6" name="矩形 5"/>
          <p:cNvSpPr/>
          <p:nvPr/>
        </p:nvSpPr>
        <p:spPr>
          <a:xfrm>
            <a:off x="1671836" y="5935821"/>
            <a:ext cx="5724128" cy="584775"/>
          </a:xfrm>
          <a:prstGeom prst="rect">
            <a:avLst/>
          </a:prstGeom>
        </p:spPr>
        <p:txBody>
          <a:bodyPr wrap="square">
            <a:spAutoFit/>
          </a:bodyPr>
          <a:lstStyle/>
          <a:p>
            <a:r>
              <a:rPr lang="en-US" altLang="zh-CN" sz="1600" dirty="0"/>
              <a:t>The interpretation process follows </a:t>
            </a:r>
            <a:r>
              <a:rPr lang="en-US" altLang="zh-CN" sz="1600" dirty="0" smtClean="0"/>
              <a:t>the discovery </a:t>
            </a:r>
            <a:r>
              <a:rPr lang="en-US" altLang="zh-CN" sz="1600" dirty="0"/>
              <a:t>process </a:t>
            </a:r>
            <a:r>
              <a:rPr lang="en-US" altLang="zh-CN" sz="1600" dirty="0" smtClean="0"/>
              <a:t>and consists of assessment and, ultimately</a:t>
            </a:r>
            <a:r>
              <a:rPr lang="en-US" altLang="zh-CN" sz="1600" dirty="0"/>
              <a:t>, selection</a:t>
            </a:r>
            <a:endParaRPr lang="zh-CN" altLang="en-US" sz="1600" dirty="0"/>
          </a:p>
        </p:txBody>
      </p:sp>
    </p:spTree>
    <p:extLst>
      <p:ext uri="{BB962C8B-B14F-4D97-AF65-F5344CB8AC3E}">
        <p14:creationId xmlns:p14="http://schemas.microsoft.com/office/powerpoint/2010/main" val="1279964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smtClean="0"/>
              <a:t>发现和解释的执行过程</a:t>
            </a:r>
          </a:p>
        </p:txBody>
      </p:sp>
      <p:sp>
        <p:nvSpPr>
          <p:cNvPr id="819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D08B55F-EC22-4975-825C-6C441C82DE14}" type="slidenum">
              <a:rPr lang="en-US" altLang="zh-CN" smtClean="0"/>
              <a:pPr eaLnBrk="1" hangingPunct="1"/>
              <a:t>8</a:t>
            </a:fld>
            <a:endParaRPr lang="en-US" altLang="zh-CN" smtClean="0"/>
          </a:p>
        </p:txBody>
      </p:sp>
      <p:pic>
        <p:nvPicPr>
          <p:cNvPr id="3" name="图片 2"/>
          <p:cNvPicPr>
            <a:picLocks noChangeAspect="1"/>
          </p:cNvPicPr>
          <p:nvPr/>
        </p:nvPicPr>
        <p:blipFill>
          <a:blip r:embed="rId3"/>
          <a:stretch>
            <a:fillRect/>
          </a:stretch>
        </p:blipFill>
        <p:spPr>
          <a:xfrm>
            <a:off x="2206152" y="985564"/>
            <a:ext cx="4936249" cy="58724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smtClean="0"/>
              <a:t>设计时发现 </a:t>
            </a:r>
            <a:r>
              <a:rPr lang="en-US" altLang="zh-CN" smtClean="0"/>
              <a:t>vs. </a:t>
            </a:r>
            <a:r>
              <a:rPr lang="zh-CN" altLang="en-US" smtClean="0"/>
              <a:t>运行时发现</a:t>
            </a:r>
            <a:endParaRPr lang="zh-CN" altLang="en-US" dirty="0"/>
          </a:p>
        </p:txBody>
      </p:sp>
      <p:sp>
        <p:nvSpPr>
          <p:cNvPr id="3" name="内容占位符 2"/>
          <p:cNvSpPr>
            <a:spLocks noGrp="1"/>
          </p:cNvSpPr>
          <p:nvPr>
            <p:ph sz="half" idx="1"/>
          </p:nvPr>
        </p:nvSpPr>
        <p:spPr>
          <a:xfrm>
            <a:off x="395536" y="1484784"/>
            <a:ext cx="2998694" cy="4493096"/>
          </a:xfrm>
        </p:spPr>
        <p:txBody>
          <a:bodyPr anchor="ctr">
            <a:normAutofit fontScale="85000" lnSpcReduction="10000"/>
          </a:bodyPr>
          <a:lstStyle/>
          <a:p>
            <a:pPr>
              <a:lnSpc>
                <a:spcPct val="120000"/>
              </a:lnSpc>
            </a:pPr>
            <a:r>
              <a:rPr lang="zh-CN" altLang="en-US" dirty="0" smtClean="0"/>
              <a:t>由人来完成发现的手动过程称为设计时发现 </a:t>
            </a:r>
            <a:r>
              <a:rPr lang="en-US" altLang="zh-CN" dirty="0" smtClean="0"/>
              <a:t>(design-time discovery)</a:t>
            </a:r>
          </a:p>
          <a:p>
            <a:pPr>
              <a:lnSpc>
                <a:spcPct val="120000"/>
              </a:lnSpc>
            </a:pPr>
            <a:r>
              <a:rPr lang="zh-CN" altLang="en-US" dirty="0" smtClean="0"/>
              <a:t>建立具有动态发现查询能力的程序和服务，被称为运行时发现 </a:t>
            </a:r>
            <a:r>
              <a:rPr lang="en-US" altLang="zh-CN" dirty="0" smtClean="0"/>
              <a:t>(runtime discovery)</a:t>
            </a:r>
            <a:endParaRPr lang="zh-CN" altLang="en-US" dirty="0"/>
          </a:p>
        </p:txBody>
      </p:sp>
      <p:sp>
        <p:nvSpPr>
          <p:cNvPr id="11268"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C4C390F-16DE-4839-802C-B8E5D49A7AB1}" type="slidenum">
              <a:rPr lang="en-US" altLang="zh-CN" smtClean="0"/>
              <a:pPr/>
              <a:t>9</a:t>
            </a:fld>
            <a:endParaRPr lang="en-US" altLang="zh-CN" smtClean="0"/>
          </a:p>
        </p:txBody>
      </p:sp>
      <p:pic>
        <p:nvPicPr>
          <p:cNvPr id="4" name="图片 3"/>
          <p:cNvPicPr>
            <a:picLocks noChangeAspect="1"/>
          </p:cNvPicPr>
          <p:nvPr/>
        </p:nvPicPr>
        <p:blipFill>
          <a:blip r:embed="rId3"/>
          <a:stretch>
            <a:fillRect/>
          </a:stretch>
        </p:blipFill>
        <p:spPr>
          <a:xfrm>
            <a:off x="3563888" y="1052736"/>
            <a:ext cx="4824536" cy="5338437"/>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smtClean="0"/>
              <a:t>可发现性元信息</a:t>
            </a:r>
          </a:p>
        </p:txBody>
      </p:sp>
      <p:sp>
        <p:nvSpPr>
          <p:cNvPr id="12291" name="内容占位符 2"/>
          <p:cNvSpPr>
            <a:spLocks noGrp="1"/>
          </p:cNvSpPr>
          <p:nvPr>
            <p:ph sz="half" idx="1"/>
          </p:nvPr>
        </p:nvSpPr>
        <p:spPr/>
        <p:txBody>
          <a:bodyPr/>
          <a:lstStyle/>
          <a:p>
            <a:r>
              <a:rPr lang="zh-CN" altLang="en-US" dirty="0" smtClean="0"/>
              <a:t>功能性元数据</a:t>
            </a:r>
            <a:endParaRPr lang="en-US" altLang="zh-CN" dirty="0" smtClean="0"/>
          </a:p>
          <a:p>
            <a:pPr lvl="1"/>
            <a:r>
              <a:rPr lang="zh-CN" altLang="en-US" dirty="0" smtClean="0"/>
              <a:t>通过应用标准化服务合约原则，服务的技术合约在一定程度上统一表示服务的目标和能力</a:t>
            </a:r>
            <a:endParaRPr lang="en-US" altLang="zh-CN" dirty="0" smtClean="0"/>
          </a:p>
          <a:p>
            <a:pPr lvl="1"/>
            <a:r>
              <a:rPr lang="zh-CN" altLang="en-US" dirty="0" smtClean="0"/>
              <a:t>如何编制元信息，决定服务否能被定位和理解</a:t>
            </a:r>
            <a:endParaRPr lang="en-US" altLang="zh-CN" dirty="0" smtClean="0"/>
          </a:p>
          <a:p>
            <a:pPr lvl="1"/>
            <a:r>
              <a:rPr lang="zh-CN" altLang="en-US" dirty="0" smtClean="0"/>
              <a:t>功能上的可发现性通常与服务和能力的标注的清晰度和恰当程度相关</a:t>
            </a:r>
          </a:p>
        </p:txBody>
      </p:sp>
      <p:sp>
        <p:nvSpPr>
          <p:cNvPr id="12292" name="内容占位符 3"/>
          <p:cNvSpPr>
            <a:spLocks noGrp="1"/>
          </p:cNvSpPr>
          <p:nvPr>
            <p:ph sz="half" idx="2"/>
          </p:nvPr>
        </p:nvSpPr>
        <p:spPr/>
        <p:txBody>
          <a:bodyPr/>
          <a:lstStyle/>
          <a:p>
            <a:r>
              <a:rPr lang="zh-CN" altLang="en-US" dirty="0" smtClean="0"/>
              <a:t>服务质量元数据</a:t>
            </a:r>
            <a:endParaRPr lang="en-US" altLang="zh-CN" dirty="0" smtClean="0"/>
          </a:p>
          <a:p>
            <a:pPr lvl="1"/>
            <a:r>
              <a:rPr lang="zh-CN" altLang="en-US" dirty="0" smtClean="0"/>
              <a:t>服务质量元数据包括行为特征、操作阈值和策略</a:t>
            </a:r>
            <a:endParaRPr lang="en-US" altLang="zh-CN" dirty="0" smtClean="0"/>
          </a:p>
          <a:p>
            <a:pPr lvl="1"/>
            <a:r>
              <a:rPr lang="zh-CN" altLang="en-US" dirty="0" smtClean="0"/>
              <a:t>选择对目标最合适的服务，并确定成预期的运行需求</a:t>
            </a:r>
            <a:endParaRPr lang="en-US" altLang="zh-CN" dirty="0" smtClean="0"/>
          </a:p>
          <a:p>
            <a:pPr lvl="1"/>
            <a:r>
              <a:rPr lang="zh-CN" altLang="en-US" dirty="0" smtClean="0"/>
              <a:t>可以添加到服务注册表，并纳入复杂的查询条件之中</a:t>
            </a:r>
          </a:p>
        </p:txBody>
      </p:sp>
      <p:sp>
        <p:nvSpPr>
          <p:cNvPr id="12293"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269BF9C-3E5C-4054-B655-C4527FC1E7F9}" type="slidenum">
              <a:rPr lang="en-US" altLang="zh-CN" smtClean="0"/>
              <a:pPr eaLnBrk="1" hangingPunct="1"/>
              <a:t>10</a:t>
            </a:fld>
            <a:endParaRPr lang="en-US" altLang="zh-CN"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smtClean="0"/>
              <a:t>服务可发现性度量</a:t>
            </a:r>
            <a:r>
              <a:rPr lang="en-US" altLang="zh-CN" smtClean="0"/>
              <a:t>——</a:t>
            </a:r>
            <a:r>
              <a:rPr lang="zh-CN" altLang="en-US" smtClean="0"/>
              <a:t>基本级别</a:t>
            </a:r>
          </a:p>
        </p:txBody>
      </p:sp>
      <p:sp>
        <p:nvSpPr>
          <p:cNvPr id="3" name="内容占位符 2"/>
          <p:cNvSpPr>
            <a:spLocks noGrp="1"/>
          </p:cNvSpPr>
          <p:nvPr>
            <p:ph sz="half" idx="1"/>
          </p:nvPr>
        </p:nvSpPr>
        <p:spPr/>
        <p:txBody>
          <a:bodyPr>
            <a:noAutofit/>
          </a:bodyPr>
          <a:lstStyle/>
          <a:p>
            <a:pPr marL="514350" indent="-514350">
              <a:lnSpc>
                <a:spcPct val="120000"/>
              </a:lnSpc>
              <a:buFont typeface="+mj-lt"/>
              <a:buAutoNum type="arabicPeriod"/>
              <a:defRPr/>
            </a:pPr>
            <a:r>
              <a:rPr lang="zh-CN" altLang="en-US" sz="1800" dirty="0" smtClean="0"/>
              <a:t>功能性的元信息是否已经用清晰的自然语言记录</a:t>
            </a:r>
            <a:r>
              <a:rPr lang="en-US" altLang="zh-CN" sz="1800" dirty="0" smtClean="0"/>
              <a:t>?</a:t>
            </a:r>
          </a:p>
          <a:p>
            <a:pPr marL="514350" indent="-514350">
              <a:lnSpc>
                <a:spcPct val="120000"/>
              </a:lnSpc>
              <a:buFont typeface="+mj-lt"/>
              <a:buAutoNum type="arabicPeriod"/>
              <a:defRPr/>
            </a:pPr>
            <a:r>
              <a:rPr lang="zh-CN" altLang="en-US" sz="1800" dirty="0" smtClean="0"/>
              <a:t>如果是，那么这些功能性元信息是否已经被清楚地表达为以可发现性为目标的服务合约的一部分</a:t>
            </a:r>
            <a:r>
              <a:rPr lang="en-US" altLang="zh-CN" sz="1800" dirty="0" smtClean="0"/>
              <a:t>?</a:t>
            </a:r>
          </a:p>
          <a:p>
            <a:pPr marL="514350" indent="-514350">
              <a:lnSpc>
                <a:spcPct val="120000"/>
              </a:lnSpc>
              <a:buFont typeface="+mj-lt"/>
              <a:buAutoNum type="arabicPeriod"/>
              <a:defRPr/>
            </a:pPr>
            <a:r>
              <a:rPr lang="zh-CN" altLang="en-US" sz="1800" dirty="0" smtClean="0"/>
              <a:t>关于服务质量的信息是否已经使用非技术性的自然语言进行记录</a:t>
            </a:r>
            <a:r>
              <a:rPr lang="en-US" altLang="zh-CN" sz="1800" dirty="0" smtClean="0"/>
              <a:t>?</a:t>
            </a:r>
          </a:p>
          <a:p>
            <a:pPr marL="514350" indent="-514350">
              <a:lnSpc>
                <a:spcPct val="120000"/>
              </a:lnSpc>
              <a:buFont typeface="+mj-lt"/>
              <a:buAutoNum type="arabicPeriod"/>
              <a:defRPr/>
            </a:pPr>
            <a:r>
              <a:rPr lang="zh-CN" altLang="en-US" sz="1800" dirty="0" smtClean="0"/>
              <a:t>服务质量元信息是否己经被清楚地表达为服务合约或者一个正式的</a:t>
            </a:r>
            <a:r>
              <a:rPr lang="en-US" altLang="zh-CN" sz="1800" dirty="0" smtClean="0"/>
              <a:t>SLA </a:t>
            </a:r>
            <a:r>
              <a:rPr lang="zh-CN" altLang="en-US" sz="1800" dirty="0" smtClean="0"/>
              <a:t>的一部分</a:t>
            </a:r>
            <a:r>
              <a:rPr lang="en-US" altLang="zh-CN" sz="1800" dirty="0" smtClean="0"/>
              <a:t>?</a:t>
            </a:r>
          </a:p>
          <a:p>
            <a:pPr marL="514350" indent="-514350">
              <a:lnSpc>
                <a:spcPct val="120000"/>
              </a:lnSpc>
              <a:buFont typeface="+mj-lt"/>
              <a:buAutoNum type="arabicPeriod"/>
              <a:defRPr/>
            </a:pPr>
            <a:r>
              <a:rPr lang="zh-CN" altLang="en-US" sz="1800" dirty="0" smtClean="0"/>
              <a:t>一个服务概要文档或者</a:t>
            </a:r>
            <a:r>
              <a:rPr lang="en-US" altLang="zh-CN" sz="1800" dirty="0" smtClean="0"/>
              <a:t>(</a:t>
            </a:r>
            <a:r>
              <a:rPr lang="zh-CN" altLang="en-US" sz="1800" dirty="0" smtClean="0"/>
              <a:t>如果一个服务注册表存在的话</a:t>
            </a:r>
            <a:r>
              <a:rPr lang="en-US" altLang="zh-CN" sz="1800" dirty="0" smtClean="0"/>
              <a:t>)</a:t>
            </a:r>
            <a:r>
              <a:rPr lang="zh-CN" altLang="en-US" sz="1800" dirty="0" smtClean="0"/>
              <a:t>相应的服务注册记录是否已经被创建</a:t>
            </a:r>
            <a:r>
              <a:rPr lang="en-US" altLang="zh-CN" sz="1800" dirty="0" smtClean="0"/>
              <a:t>?</a:t>
            </a:r>
          </a:p>
        </p:txBody>
      </p:sp>
      <p:sp>
        <p:nvSpPr>
          <p:cNvPr id="4" name="内容占位符 3"/>
          <p:cNvSpPr>
            <a:spLocks noGrp="1"/>
          </p:cNvSpPr>
          <p:nvPr>
            <p:ph sz="half" idx="2"/>
          </p:nvPr>
        </p:nvSpPr>
        <p:spPr/>
        <p:txBody>
          <a:bodyPr>
            <a:normAutofit fontScale="70000" lnSpcReduction="20000"/>
          </a:bodyPr>
          <a:lstStyle/>
          <a:p>
            <a:pPr marL="514350" indent="-514350">
              <a:lnSpc>
                <a:spcPct val="120000"/>
              </a:lnSpc>
              <a:buFont typeface="+mj-lt"/>
              <a:buAutoNum type="arabicPeriod" startAt="6"/>
              <a:defRPr/>
            </a:pPr>
            <a:r>
              <a:rPr lang="zh-CN" altLang="en-US" sz="2900" dirty="0" smtClean="0"/>
              <a:t>服务概要</a:t>
            </a:r>
            <a:r>
              <a:rPr lang="en-US" altLang="zh-CN" sz="2900" dirty="0" smtClean="0"/>
              <a:t>/</a:t>
            </a:r>
            <a:r>
              <a:rPr lang="zh-CN" altLang="en-US" sz="2900" dirty="0" smtClean="0"/>
              <a:t>注册记录是否包含了所有相关的功能性元信息</a:t>
            </a:r>
            <a:r>
              <a:rPr lang="en-US" altLang="zh-CN" sz="2900" dirty="0" smtClean="0"/>
              <a:t>?</a:t>
            </a:r>
          </a:p>
          <a:p>
            <a:pPr marL="514350" indent="-514350">
              <a:lnSpc>
                <a:spcPct val="120000"/>
              </a:lnSpc>
              <a:buFont typeface="+mj-lt"/>
              <a:buAutoNum type="arabicPeriod" startAt="6"/>
              <a:defRPr/>
            </a:pPr>
            <a:r>
              <a:rPr lang="zh-CN" altLang="en-US" sz="2900" dirty="0" smtClean="0"/>
              <a:t>服务概要</a:t>
            </a:r>
            <a:r>
              <a:rPr lang="en-US" altLang="zh-CN" sz="2900" dirty="0" smtClean="0"/>
              <a:t>/</a:t>
            </a:r>
            <a:r>
              <a:rPr lang="zh-CN" altLang="en-US" sz="2900" dirty="0" smtClean="0"/>
              <a:t>注册记录是否包含了所有相关的服务质量元信息</a:t>
            </a:r>
            <a:r>
              <a:rPr lang="en-US" altLang="zh-CN" sz="2900" dirty="0" smtClean="0"/>
              <a:t>?</a:t>
            </a:r>
          </a:p>
          <a:p>
            <a:pPr marL="514350" indent="-514350">
              <a:lnSpc>
                <a:spcPct val="120000"/>
              </a:lnSpc>
              <a:buFont typeface="+mj-lt"/>
              <a:buAutoNum type="arabicPeriod" startAt="6"/>
              <a:defRPr/>
            </a:pPr>
            <a:r>
              <a:rPr lang="zh-CN" altLang="en-US" sz="2900" dirty="0" smtClean="0"/>
              <a:t>业务主题专家是否对以业务为中心的可发现性元信息的定义做出贡献</a:t>
            </a:r>
            <a:r>
              <a:rPr lang="en-US" altLang="zh-CN" sz="2900" dirty="0" smtClean="0"/>
              <a:t>?</a:t>
            </a:r>
          </a:p>
          <a:p>
            <a:pPr marL="514350" indent="-514350">
              <a:lnSpc>
                <a:spcPct val="120000"/>
              </a:lnSpc>
              <a:buFont typeface="+mj-lt"/>
              <a:buAutoNum type="arabicPeriod" startAt="6"/>
              <a:defRPr/>
            </a:pPr>
            <a:r>
              <a:rPr lang="zh-CN" altLang="en-US" sz="2900" dirty="0" smtClean="0"/>
              <a:t>所有的可发现性元文档是否符合标准和约定以保证一致性</a:t>
            </a:r>
            <a:r>
              <a:rPr lang="en-US" altLang="zh-CN" sz="2900" dirty="0" smtClean="0"/>
              <a:t>?</a:t>
            </a:r>
          </a:p>
          <a:p>
            <a:pPr marL="514350" indent="-514350">
              <a:lnSpc>
                <a:spcPct val="120000"/>
              </a:lnSpc>
              <a:buFont typeface="+mj-lt"/>
              <a:buAutoNum type="arabicPeriod" startAt="6"/>
              <a:defRPr/>
            </a:pPr>
            <a:r>
              <a:rPr lang="zh-CN" altLang="en-US" sz="2900" dirty="0" smtClean="0"/>
              <a:t>所有的可发现性元文档是否被一个交流专家复审和精化过</a:t>
            </a:r>
            <a:r>
              <a:rPr lang="en-US" altLang="zh-CN" sz="2900" dirty="0" smtClean="0"/>
              <a:t>?</a:t>
            </a:r>
            <a:endParaRPr lang="zh-CN" altLang="en-US" sz="2900" dirty="0" smtClean="0"/>
          </a:p>
        </p:txBody>
      </p:sp>
      <p:sp>
        <p:nvSpPr>
          <p:cNvPr id="13317"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A5E5942-B0EC-47B8-89B2-43EF3C983C68}" type="slidenum">
              <a:rPr lang="en-US" altLang="zh-CN" smtClean="0"/>
              <a:pPr eaLnBrk="1" hangingPunct="1"/>
              <a:t>11</a:t>
            </a:fld>
            <a:endParaRPr lang="en-US" altLang="zh-CN"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smtClean="0"/>
              <a:t>服务可发现性度量</a:t>
            </a:r>
            <a:r>
              <a:rPr lang="en-US" altLang="zh-CN" smtClean="0"/>
              <a:t>——</a:t>
            </a:r>
            <a:r>
              <a:rPr lang="zh-CN" altLang="en-US" smtClean="0"/>
              <a:t>定制分级系统</a:t>
            </a:r>
          </a:p>
        </p:txBody>
      </p:sp>
      <p:sp>
        <p:nvSpPr>
          <p:cNvPr id="6" name="内容占位符 5"/>
          <p:cNvSpPr>
            <a:spLocks noGrp="1"/>
          </p:cNvSpPr>
          <p:nvPr>
            <p:ph idx="1"/>
          </p:nvPr>
        </p:nvSpPr>
        <p:spPr/>
        <p:txBody>
          <a:bodyPr>
            <a:normAutofit fontScale="92500"/>
          </a:bodyPr>
          <a:lstStyle/>
          <a:p>
            <a:pPr>
              <a:lnSpc>
                <a:spcPct val="110000"/>
              </a:lnSpc>
              <a:defRPr/>
            </a:pPr>
            <a:r>
              <a:rPr lang="zh-CN" altLang="en-US" dirty="0" smtClean="0"/>
              <a:t>对于一项给定的服务，用来建立其可发现性（和可解释性） 级别的元数据质量依赖于</a:t>
            </a:r>
            <a:r>
              <a:rPr lang="en-US" altLang="zh-CN" dirty="0" smtClean="0"/>
              <a:t>:</a:t>
            </a:r>
          </a:p>
          <a:p>
            <a:pPr lvl="1">
              <a:lnSpc>
                <a:spcPct val="110000"/>
              </a:lnSpc>
              <a:defRPr/>
            </a:pPr>
            <a:r>
              <a:rPr lang="zh-CN" altLang="en-US" dirty="0" smtClean="0">
                <a:cs typeface="+mn-cs"/>
              </a:rPr>
              <a:t>信息在多大程度上精确地表达了该服务的功能和服务质量的细节</a:t>
            </a:r>
          </a:p>
          <a:p>
            <a:pPr lvl="1">
              <a:lnSpc>
                <a:spcPct val="110000"/>
              </a:lnSpc>
              <a:defRPr/>
            </a:pPr>
            <a:r>
              <a:rPr lang="zh-CN" altLang="en-US" dirty="0">
                <a:cs typeface="+mn-cs"/>
              </a:rPr>
              <a:t>这些</a:t>
            </a:r>
            <a:r>
              <a:rPr lang="zh-CN" altLang="en-US" dirty="0" smtClean="0">
                <a:cs typeface="+mn-cs"/>
              </a:rPr>
              <a:t>细节在多大程度上，跟服务周边的企业环境相关联和融合</a:t>
            </a:r>
            <a:endParaRPr lang="en-US" altLang="zh-CN" dirty="0" smtClean="0">
              <a:cs typeface="+mn-cs"/>
            </a:endParaRPr>
          </a:p>
          <a:p>
            <a:pPr>
              <a:lnSpc>
                <a:spcPct val="110000"/>
              </a:lnSpc>
              <a:defRPr/>
            </a:pPr>
            <a:r>
              <a:rPr lang="zh-CN" altLang="en-US" dirty="0" smtClean="0"/>
              <a:t>度量一个服务的实际可发现性需要</a:t>
            </a:r>
            <a:r>
              <a:rPr lang="en-US" altLang="zh-CN" dirty="0" smtClean="0"/>
              <a:t>:	</a:t>
            </a:r>
          </a:p>
          <a:p>
            <a:pPr lvl="1">
              <a:lnSpc>
                <a:spcPct val="110000"/>
              </a:lnSpc>
              <a:defRPr/>
            </a:pPr>
            <a:r>
              <a:rPr lang="zh-CN" altLang="en-US" dirty="0" smtClean="0">
                <a:cs typeface="+mn-cs"/>
              </a:rPr>
              <a:t>对服务的功能上下文及其能力的全方位的理解</a:t>
            </a:r>
            <a:endParaRPr lang="en-US" altLang="zh-CN" dirty="0" smtClean="0">
              <a:cs typeface="+mn-cs"/>
            </a:endParaRPr>
          </a:p>
          <a:p>
            <a:pPr lvl="1">
              <a:lnSpc>
                <a:spcPct val="110000"/>
              </a:lnSpc>
              <a:defRPr/>
            </a:pPr>
            <a:r>
              <a:rPr lang="zh-CN" altLang="en-US" dirty="0" smtClean="0">
                <a:cs typeface="+mn-cs"/>
              </a:rPr>
              <a:t>服务所处环境的第一手资料（包括所使用的标准发现平台）</a:t>
            </a:r>
            <a:endParaRPr lang="zh-CN" altLang="en-US" dirty="0"/>
          </a:p>
        </p:txBody>
      </p:sp>
      <p:sp>
        <p:nvSpPr>
          <p:cNvPr id="14340"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AB9C11D-5F96-4CDC-BD83-C42B0FB24537}" type="slidenum">
              <a:rPr lang="en-US" altLang="zh-CN" smtClean="0"/>
              <a:pPr eaLnBrk="1" hangingPunct="1"/>
              <a:t>12</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smtClean="0"/>
              <a:t>可发现性与服务设计</a:t>
            </a:r>
          </a:p>
        </p:txBody>
      </p:sp>
      <p:sp>
        <p:nvSpPr>
          <p:cNvPr id="15363" name="内容占位符 5"/>
          <p:cNvSpPr>
            <a:spLocks noGrp="1"/>
          </p:cNvSpPr>
          <p:nvPr>
            <p:ph idx="1"/>
          </p:nvPr>
        </p:nvSpPr>
        <p:spPr/>
        <p:txBody>
          <a:bodyPr/>
          <a:lstStyle/>
          <a:p>
            <a:r>
              <a:rPr lang="zh-CN" altLang="en-US" dirty="0" smtClean="0"/>
              <a:t>服务可发现性与服务建模</a:t>
            </a:r>
            <a:endParaRPr lang="en-US" altLang="zh-CN" dirty="0" smtClean="0"/>
          </a:p>
          <a:p>
            <a:pPr lvl="1"/>
            <a:r>
              <a:rPr lang="zh-CN" altLang="en-US" dirty="0" smtClean="0"/>
              <a:t>伴随服务建模，考虑服务可发现性</a:t>
            </a:r>
            <a:endParaRPr lang="en-US" altLang="zh-CN" dirty="0" smtClean="0"/>
          </a:p>
          <a:p>
            <a:r>
              <a:rPr lang="zh-CN" altLang="en-US" dirty="0" smtClean="0"/>
              <a:t>服务可发现性与粒度</a:t>
            </a:r>
            <a:endParaRPr lang="en-US" altLang="zh-CN" dirty="0" smtClean="0"/>
          </a:p>
          <a:p>
            <a:pPr lvl="1"/>
            <a:r>
              <a:rPr lang="zh-CN" altLang="en-US" dirty="0" smtClean="0"/>
              <a:t>粒度中立</a:t>
            </a:r>
            <a:endParaRPr lang="en-US" altLang="zh-CN" dirty="0" smtClean="0"/>
          </a:p>
          <a:p>
            <a:r>
              <a:rPr lang="zh-CN" altLang="en-US" dirty="0" smtClean="0"/>
              <a:t>服务可发现性与策略断言</a:t>
            </a:r>
            <a:endParaRPr lang="en-US" altLang="zh-CN" dirty="0" smtClean="0"/>
          </a:p>
          <a:p>
            <a:pPr lvl="1"/>
            <a:r>
              <a:rPr lang="zh-CN" altLang="en-US" dirty="0" smtClean="0"/>
              <a:t>策略是服务信息的一部分</a:t>
            </a:r>
            <a:endParaRPr lang="en-US" altLang="zh-CN" dirty="0" smtClean="0"/>
          </a:p>
          <a:p>
            <a:r>
              <a:rPr lang="zh-CN" altLang="en-US" dirty="0" smtClean="0"/>
              <a:t>服务可发现性与服务模型</a:t>
            </a:r>
            <a:endParaRPr lang="en-US" altLang="zh-CN" dirty="0" smtClean="0"/>
          </a:p>
        </p:txBody>
      </p:sp>
      <p:sp>
        <p:nvSpPr>
          <p:cNvPr id="15364"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FB64BC1-A5BC-4539-BB83-18A1A52F682D}" type="slidenum">
              <a:rPr lang="en-US" altLang="zh-CN" smtClean="0"/>
              <a:pPr eaLnBrk="1" hangingPunct="1"/>
              <a:t>13</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mtClean="0"/>
              <a:t>服务可发现性与服务建模</a:t>
            </a:r>
          </a:p>
        </p:txBody>
      </p:sp>
      <p:sp>
        <p:nvSpPr>
          <p:cNvPr id="16387" name="内容占位符 2"/>
          <p:cNvSpPr>
            <a:spLocks noGrp="1"/>
          </p:cNvSpPr>
          <p:nvPr>
            <p:ph sz="half" idx="1"/>
          </p:nvPr>
        </p:nvSpPr>
        <p:spPr>
          <a:xfrm>
            <a:off x="457200" y="1600200"/>
            <a:ext cx="3178696" cy="4530725"/>
          </a:xfrm>
        </p:spPr>
        <p:txBody>
          <a:bodyPr anchor="ctr"/>
          <a:lstStyle/>
          <a:p>
            <a:r>
              <a:rPr lang="zh-CN" altLang="en-US" dirty="0" smtClean="0"/>
              <a:t>服务可发现原则要求以统一的方式，从服务生命周期的开始，记录所有元数据</a:t>
            </a:r>
            <a:endParaRPr lang="en-US" altLang="zh-CN" dirty="0" smtClean="0"/>
          </a:p>
          <a:p>
            <a:r>
              <a:rPr lang="zh-CN" altLang="en-US" dirty="0" smtClean="0"/>
              <a:t>在服务建模过程中，业务和技术专家一起协作，来建立服务候选</a:t>
            </a:r>
          </a:p>
        </p:txBody>
      </p:sp>
      <p:sp>
        <p:nvSpPr>
          <p:cNvPr id="16388"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821EEDC-3DBA-41EA-9518-C0F46A8920E1}" type="slidenum">
              <a:rPr lang="en-US" altLang="zh-CN" smtClean="0"/>
              <a:pPr/>
              <a:t>14</a:t>
            </a:fld>
            <a:endParaRPr lang="en-US" altLang="zh-CN" smtClean="0"/>
          </a:p>
        </p:txBody>
      </p:sp>
      <p:pic>
        <p:nvPicPr>
          <p:cNvPr id="3" name="图片 2"/>
          <p:cNvPicPr>
            <a:picLocks noChangeAspect="1"/>
          </p:cNvPicPr>
          <p:nvPr/>
        </p:nvPicPr>
        <p:blipFill>
          <a:blip r:embed="rId3"/>
          <a:stretch>
            <a:fillRect/>
          </a:stretch>
        </p:blipFill>
        <p:spPr>
          <a:xfrm>
            <a:off x="3708400" y="1270000"/>
            <a:ext cx="4724259" cy="4134594"/>
          </a:xfrm>
          <a:prstGeom prst="rect">
            <a:avLst/>
          </a:prstGeom>
        </p:spPr>
      </p:pic>
      <p:sp>
        <p:nvSpPr>
          <p:cNvPr id="5" name="矩形 4"/>
          <p:cNvSpPr/>
          <p:nvPr/>
        </p:nvSpPr>
        <p:spPr>
          <a:xfrm>
            <a:off x="3833942" y="5630128"/>
            <a:ext cx="4572000" cy="830997"/>
          </a:xfrm>
          <a:prstGeom prst="rect">
            <a:avLst/>
          </a:prstGeom>
        </p:spPr>
        <p:txBody>
          <a:bodyPr>
            <a:spAutoFit/>
          </a:bodyPr>
          <a:lstStyle/>
          <a:p>
            <a:r>
              <a:rPr lang="en-US" altLang="zh-CN" sz="1600" dirty="0"/>
              <a:t>Discoverability is one of the few principles that is actively applied during both the </a:t>
            </a:r>
            <a:r>
              <a:rPr lang="en-US" altLang="zh-CN" sz="1600" dirty="0" smtClean="0"/>
              <a:t>service-oriented analysis </a:t>
            </a:r>
            <a:r>
              <a:rPr lang="en-US" altLang="zh-CN" sz="1600" dirty="0"/>
              <a:t>and design stages</a:t>
            </a:r>
            <a:endParaRPr lang="zh-CN" altLang="en-US" sz="16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dirty="0"/>
              <a:t>其他</a:t>
            </a:r>
            <a:endParaRPr lang="zh-CN" altLang="en-US" dirty="0" smtClean="0"/>
          </a:p>
        </p:txBody>
      </p:sp>
      <p:sp>
        <p:nvSpPr>
          <p:cNvPr id="18435" name="内容占位符 2"/>
          <p:cNvSpPr>
            <a:spLocks noGrp="1"/>
          </p:cNvSpPr>
          <p:nvPr>
            <p:ph idx="1"/>
          </p:nvPr>
        </p:nvSpPr>
        <p:spPr/>
        <p:txBody>
          <a:bodyPr>
            <a:normAutofit fontScale="77500" lnSpcReduction="20000"/>
          </a:bodyPr>
          <a:lstStyle/>
          <a:p>
            <a:pPr>
              <a:lnSpc>
                <a:spcPct val="120000"/>
              </a:lnSpc>
            </a:pPr>
            <a:r>
              <a:rPr lang="zh-CN" altLang="en-US" sz="3500" dirty="0"/>
              <a:t>服务可发现性与粒度</a:t>
            </a:r>
            <a:endParaRPr lang="en-US" altLang="zh-CN" sz="3500" dirty="0"/>
          </a:p>
          <a:p>
            <a:pPr lvl="1">
              <a:lnSpc>
                <a:spcPct val="120000"/>
              </a:lnSpc>
            </a:pPr>
            <a:r>
              <a:rPr lang="zh-CN" altLang="en-US" sz="3000" dirty="0"/>
              <a:t>除非有某些安全或者隐私因素需要考虑，服务可发现性通常不对任何一个级别的服务粒度产生直接影响</a:t>
            </a:r>
            <a:endParaRPr lang="en-US" altLang="zh-CN" sz="3000" dirty="0"/>
          </a:p>
          <a:p>
            <a:pPr lvl="1">
              <a:lnSpc>
                <a:spcPct val="120000"/>
              </a:lnSpc>
            </a:pPr>
            <a:r>
              <a:rPr lang="zh-CN" altLang="en-US" sz="3000" dirty="0"/>
              <a:t>所加入的元数据往往以注释的形式来描述已经作为技术服务合约而定义过的内容</a:t>
            </a:r>
            <a:endParaRPr lang="en-US" altLang="zh-CN" sz="3000" dirty="0"/>
          </a:p>
          <a:p>
            <a:pPr>
              <a:lnSpc>
                <a:spcPct val="120000"/>
              </a:lnSpc>
            </a:pPr>
            <a:r>
              <a:rPr lang="zh-CN" altLang="en-US" sz="3500" dirty="0"/>
              <a:t>服务可发现性与策略断言</a:t>
            </a:r>
            <a:endParaRPr lang="en-US" altLang="zh-CN" sz="3500" dirty="0"/>
          </a:p>
          <a:p>
            <a:pPr lvl="1">
              <a:lnSpc>
                <a:spcPct val="120000"/>
              </a:lnSpc>
            </a:pPr>
            <a:r>
              <a:rPr lang="zh-CN" altLang="en-US" sz="3000" dirty="0"/>
              <a:t>在</a:t>
            </a:r>
            <a:r>
              <a:rPr lang="en-US" altLang="zh-CN" sz="3000" dirty="0"/>
              <a:t>WS-Policy</a:t>
            </a:r>
            <a:r>
              <a:rPr lang="zh-CN" altLang="en-US" sz="3000" dirty="0"/>
              <a:t>框架中，可以使用策略断言来展示者服务消费者设计人员的优先和所应遵从的选项</a:t>
            </a:r>
            <a:endParaRPr lang="en-US" altLang="zh-CN" sz="3000" dirty="0"/>
          </a:p>
          <a:p>
            <a:pPr lvl="1">
              <a:lnSpc>
                <a:spcPct val="120000"/>
              </a:lnSpc>
            </a:pPr>
            <a:r>
              <a:rPr lang="zh-CN" altLang="en-US" sz="3000" dirty="0" smtClean="0"/>
              <a:t>既</a:t>
            </a:r>
            <a:r>
              <a:rPr lang="zh-CN" altLang="en-US" sz="3000" dirty="0"/>
              <a:t>能表达功能性元数据，又能表达服务质量元数据</a:t>
            </a:r>
          </a:p>
          <a:p>
            <a:pPr lvl="1">
              <a:lnSpc>
                <a:spcPct val="120000"/>
              </a:lnSpc>
            </a:pPr>
            <a:r>
              <a:rPr lang="zh-CN" altLang="en-US" sz="3000" dirty="0"/>
              <a:t>仅面向技术专家</a:t>
            </a:r>
            <a:endParaRPr lang="en-US" altLang="zh-CN" sz="3000" dirty="0"/>
          </a:p>
          <a:p>
            <a:pPr>
              <a:lnSpc>
                <a:spcPct val="120000"/>
              </a:lnSpc>
            </a:pPr>
            <a:r>
              <a:rPr lang="zh-CN" altLang="en-US" sz="3500" dirty="0"/>
              <a:t>服务可发现性与服务模型</a:t>
            </a:r>
            <a:endParaRPr lang="en-US" altLang="zh-CN" sz="3500" dirty="0"/>
          </a:p>
          <a:p>
            <a:pPr lvl="1">
              <a:lnSpc>
                <a:spcPct val="120000"/>
              </a:lnSpc>
            </a:pPr>
            <a:r>
              <a:rPr lang="zh-CN" altLang="en-US" sz="3000" dirty="0"/>
              <a:t>无论其服务模型如何，都应当是可发现</a:t>
            </a:r>
            <a:r>
              <a:rPr lang="zh-CN" altLang="en-US" sz="3000" dirty="0" smtClean="0"/>
              <a:t>的</a:t>
            </a:r>
            <a:endParaRPr lang="zh-CN" altLang="en-US" sz="3000" dirty="0"/>
          </a:p>
        </p:txBody>
      </p:sp>
      <p:sp>
        <p:nvSpPr>
          <p:cNvPr id="1843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ABD8C8E-5F3A-4DFF-BA8D-200116A9E6FB}" type="slidenum">
              <a:rPr lang="en-US" altLang="zh-CN" smtClean="0"/>
              <a:pPr eaLnBrk="1" hangingPunct="1"/>
              <a:t>15</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dirty="0" smtClean="0"/>
              <a:t>服务可发现性与其他原则 </a:t>
            </a:r>
            <a:r>
              <a:rPr lang="en-US" altLang="zh-CN" dirty="0" smtClean="0"/>
              <a:t>I</a:t>
            </a:r>
            <a:endParaRPr lang="zh-CN" altLang="en-US" dirty="0" smtClean="0"/>
          </a:p>
        </p:txBody>
      </p:sp>
      <p:sp>
        <p:nvSpPr>
          <p:cNvPr id="20483"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77DE51A-9E86-436E-BC38-BE058E0EE26A}" type="slidenum">
              <a:rPr lang="en-US" altLang="zh-CN" smtClean="0"/>
              <a:pPr eaLnBrk="1" hangingPunct="1"/>
              <a:t>16</a:t>
            </a:fld>
            <a:endParaRPr lang="en-US" altLang="zh-CN" smtClean="0"/>
          </a:p>
        </p:txBody>
      </p:sp>
      <p:pic>
        <p:nvPicPr>
          <p:cNvPr id="3" name="图片 2"/>
          <p:cNvPicPr>
            <a:picLocks noChangeAspect="1"/>
          </p:cNvPicPr>
          <p:nvPr/>
        </p:nvPicPr>
        <p:blipFill>
          <a:blip r:embed="rId3"/>
          <a:stretch>
            <a:fillRect/>
          </a:stretch>
        </p:blipFill>
        <p:spPr>
          <a:xfrm>
            <a:off x="747712" y="1556792"/>
            <a:ext cx="7572375" cy="45339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smtClean="0"/>
              <a:t>服务可发现性与其他原则 </a:t>
            </a:r>
            <a:r>
              <a:rPr lang="en-US" altLang="zh-CN" smtClean="0"/>
              <a:t>II</a:t>
            </a:r>
            <a:endParaRPr lang="zh-CN" altLang="en-US" dirty="0" smtClean="0"/>
          </a:p>
        </p:txBody>
      </p:sp>
      <p:sp>
        <p:nvSpPr>
          <p:cNvPr id="21507" name="内容占位符 2"/>
          <p:cNvSpPr>
            <a:spLocks noGrp="1"/>
          </p:cNvSpPr>
          <p:nvPr>
            <p:ph idx="1"/>
          </p:nvPr>
        </p:nvSpPr>
        <p:spPr/>
        <p:txBody>
          <a:bodyPr>
            <a:normAutofit fontScale="85000" lnSpcReduction="10000"/>
          </a:bodyPr>
          <a:lstStyle/>
          <a:p>
            <a:pPr>
              <a:lnSpc>
                <a:spcPct val="120000"/>
              </a:lnSpc>
            </a:pPr>
            <a:r>
              <a:rPr lang="zh-CN" altLang="en-US" dirty="0" smtClean="0"/>
              <a:t>服务可发现性与标准化服务合约</a:t>
            </a:r>
            <a:endParaRPr lang="en-US" altLang="zh-CN" dirty="0" smtClean="0"/>
          </a:p>
          <a:p>
            <a:pPr lvl="1">
              <a:lnSpc>
                <a:spcPct val="120000"/>
              </a:lnSpc>
            </a:pPr>
            <a:r>
              <a:rPr lang="zh-CN" altLang="en-US" dirty="0" smtClean="0"/>
              <a:t>使服务更加容易可发现和可解释会影响服务合约的内容</a:t>
            </a:r>
            <a:endParaRPr lang="en-US" altLang="zh-CN" dirty="0" smtClean="0"/>
          </a:p>
          <a:p>
            <a:pPr lvl="1">
              <a:lnSpc>
                <a:spcPct val="120000"/>
              </a:lnSpc>
            </a:pPr>
            <a:r>
              <a:rPr lang="zh-CN" altLang="en-US" dirty="0" smtClean="0"/>
              <a:t>服务可发现性会直接地影响功能表达设计标准的确定</a:t>
            </a:r>
            <a:endParaRPr lang="en-US" altLang="zh-CN" dirty="0" smtClean="0"/>
          </a:p>
          <a:p>
            <a:pPr>
              <a:lnSpc>
                <a:spcPct val="120000"/>
              </a:lnSpc>
            </a:pPr>
            <a:r>
              <a:rPr lang="zh-CN" altLang="en-US" dirty="0" smtClean="0"/>
              <a:t>服务可发现性与服务抽象</a:t>
            </a:r>
            <a:endParaRPr lang="en-US" altLang="zh-CN" dirty="0" smtClean="0"/>
          </a:p>
          <a:p>
            <a:pPr lvl="1">
              <a:lnSpc>
                <a:spcPct val="120000"/>
              </a:lnSpc>
            </a:pPr>
            <a:r>
              <a:rPr lang="zh-CN" altLang="en-US" dirty="0" smtClean="0"/>
              <a:t>服务抽象的原则需要减少合约当中所发布的信息数量；服务可发现性则要求提供更多的信息；两者之间需要取得平衡</a:t>
            </a:r>
            <a:endParaRPr lang="en-US" altLang="zh-CN" dirty="0" smtClean="0"/>
          </a:p>
          <a:p>
            <a:pPr lvl="1">
              <a:lnSpc>
                <a:spcPct val="120000"/>
              </a:lnSpc>
            </a:pPr>
            <a:r>
              <a:rPr lang="zh-CN" altLang="en-US" dirty="0" smtClean="0"/>
              <a:t>一旦实现了可发现性和抽象之间的适当的平衡，那么随后实现的服务的可发现性将基于那些已发布的（而不是被抽象的</a:t>
            </a:r>
            <a:r>
              <a:rPr lang="zh-CN" altLang="en-US" dirty="0"/>
              <a:t>）</a:t>
            </a:r>
            <a:r>
              <a:rPr lang="zh-CN" altLang="en-US" dirty="0" smtClean="0"/>
              <a:t>元信息</a:t>
            </a:r>
            <a:endParaRPr lang="en-US" altLang="zh-CN" dirty="0" smtClean="0"/>
          </a:p>
        </p:txBody>
      </p:sp>
      <p:sp>
        <p:nvSpPr>
          <p:cNvPr id="21508"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7466597-528B-4F7F-8FC6-767BB26CC828}" type="slidenum">
              <a:rPr lang="en-US" altLang="zh-CN" smtClean="0"/>
              <a:pPr/>
              <a:t>17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服务可发现性与其他原则 </a:t>
            </a:r>
            <a:r>
              <a:rPr lang="en-US" altLang="zh-CN" smtClean="0"/>
              <a:t>III</a:t>
            </a:r>
            <a:endParaRPr lang="zh-CN" altLang="en-US" dirty="0" smtClean="0"/>
          </a:p>
        </p:txBody>
      </p:sp>
      <p:sp>
        <p:nvSpPr>
          <p:cNvPr id="23555" name="内容占位符 2"/>
          <p:cNvSpPr>
            <a:spLocks noGrp="1"/>
          </p:cNvSpPr>
          <p:nvPr>
            <p:ph idx="1"/>
          </p:nvPr>
        </p:nvSpPr>
        <p:spPr/>
        <p:txBody>
          <a:bodyPr>
            <a:normAutofit fontScale="92500"/>
          </a:bodyPr>
          <a:lstStyle/>
          <a:p>
            <a:r>
              <a:rPr lang="zh-CN" altLang="en-US" dirty="0" smtClean="0"/>
              <a:t>服务可发现性与服务可复用性</a:t>
            </a:r>
            <a:endParaRPr lang="en-US" altLang="zh-CN" dirty="0" smtClean="0"/>
          </a:p>
          <a:p>
            <a:pPr lvl="1"/>
            <a:r>
              <a:rPr lang="zh-CN" altLang="en-US" dirty="0" smtClean="0"/>
              <a:t>强调服务可发现性的主要目的是支持服务可复用性</a:t>
            </a:r>
            <a:endParaRPr lang="en-US" altLang="zh-CN" dirty="0" smtClean="0"/>
          </a:p>
          <a:p>
            <a:pPr lvl="1"/>
            <a:r>
              <a:rPr lang="zh-CN" altLang="en-US" dirty="0" smtClean="0"/>
              <a:t>当表述可复用功能时，应当应用可发现性相关的设计标准，以保证能通过实际的技术合约把服务的目的和能力尽可能清楚地表述出来</a:t>
            </a:r>
            <a:endParaRPr lang="en-US" altLang="zh-CN" dirty="0" smtClean="0"/>
          </a:p>
          <a:p>
            <a:r>
              <a:rPr lang="zh-CN" altLang="en-US" dirty="0" smtClean="0"/>
              <a:t>服务可发现性与服务可组合性</a:t>
            </a:r>
            <a:endParaRPr lang="en-US" altLang="zh-CN" dirty="0" smtClean="0"/>
          </a:p>
          <a:p>
            <a:pPr lvl="1"/>
            <a:r>
              <a:rPr lang="zh-CN" altLang="en-US" dirty="0" smtClean="0"/>
              <a:t>潜在的组合成员应当容易定位和识别，以避免在无意间创建冗余的服务逻辑</a:t>
            </a:r>
            <a:endParaRPr lang="en-US" altLang="zh-CN" dirty="0" smtClean="0"/>
          </a:p>
          <a:p>
            <a:pPr lvl="1"/>
            <a:r>
              <a:rPr lang="zh-CN" altLang="en-US" dirty="0" smtClean="0"/>
              <a:t>当服务组合为了适应上层业务流程的变化或者为了增加整体的业务需求实现而发生演变时，需要查找从组合的原始版本创建以来，新加入的服务和功能</a:t>
            </a:r>
            <a:endParaRPr lang="zh-CN" altLang="en-US" dirty="0"/>
          </a:p>
        </p:txBody>
      </p:sp>
      <p:sp>
        <p:nvSpPr>
          <p:cNvPr id="23556"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F87EC0C-F7BC-4461-828D-1F4FD2F134C7}" type="slidenum">
              <a:rPr lang="en-US" altLang="zh-CN" smtClean="0"/>
              <a:pPr/>
              <a:t>18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服务可发现性的相关风险</a:t>
            </a:r>
          </a:p>
        </p:txBody>
      </p:sp>
      <p:sp>
        <p:nvSpPr>
          <p:cNvPr id="25603" name="内容占位符 2"/>
          <p:cNvSpPr>
            <a:spLocks noGrp="1"/>
          </p:cNvSpPr>
          <p:nvPr>
            <p:ph idx="1"/>
          </p:nvPr>
        </p:nvSpPr>
        <p:spPr/>
        <p:txBody>
          <a:bodyPr/>
          <a:lstStyle/>
          <a:p>
            <a:r>
              <a:rPr lang="zh-CN" altLang="en-US" dirty="0" smtClean="0"/>
              <a:t>可发现性在实施后的应用</a:t>
            </a:r>
            <a:endParaRPr lang="en-US" altLang="zh-CN" dirty="0" smtClean="0"/>
          </a:p>
          <a:p>
            <a:pPr lvl="1"/>
            <a:r>
              <a:rPr lang="zh-CN" altLang="en-US" dirty="0"/>
              <a:t>在服务定义完毕后，再记录元数据，甚至由其他人员来加以记录，从而导致发现性和可解释性元数据的质量的损失</a:t>
            </a:r>
            <a:endParaRPr lang="en-US" altLang="zh-CN" dirty="0"/>
          </a:p>
          <a:p>
            <a:pPr lvl="1"/>
            <a:r>
              <a:rPr lang="zh-CN" altLang="en-US" dirty="0"/>
              <a:t>应当在设计阶段</a:t>
            </a:r>
            <a:r>
              <a:rPr lang="zh-CN" altLang="en-US" dirty="0" smtClean="0"/>
              <a:t>，早于服务最初发布时，就</a:t>
            </a:r>
            <a:r>
              <a:rPr lang="zh-CN" altLang="en-US" dirty="0"/>
              <a:t>把那些元信息添加到文档</a:t>
            </a:r>
            <a:r>
              <a:rPr lang="zh-CN" altLang="en-US" dirty="0" smtClean="0"/>
              <a:t>中</a:t>
            </a:r>
            <a:endParaRPr lang="en-US" altLang="zh-CN" dirty="0" smtClean="0"/>
          </a:p>
          <a:p>
            <a:r>
              <a:rPr lang="zh-CN" altLang="en-US" dirty="0" smtClean="0"/>
              <a:t>由不擅交流的人员来应用本原则</a:t>
            </a:r>
            <a:endParaRPr lang="en-US" altLang="zh-CN" dirty="0" smtClean="0"/>
          </a:p>
          <a:p>
            <a:pPr lvl="1"/>
            <a:r>
              <a:rPr lang="zh-CN" altLang="en-US" dirty="0"/>
              <a:t>如果可发现性信息仅仅是由业务或者技术专家创建的，那么它很可能不足以应付</a:t>
            </a:r>
            <a:r>
              <a:rPr lang="zh-CN" altLang="en-US" dirty="0" smtClean="0"/>
              <a:t>其他的项目</a:t>
            </a:r>
            <a:r>
              <a:rPr lang="zh-CN" altLang="en-US" dirty="0"/>
              <a:t>组成员的</a:t>
            </a:r>
            <a:r>
              <a:rPr lang="zh-CN" altLang="en-US" dirty="0" smtClean="0"/>
              <a:t>使用</a:t>
            </a:r>
            <a:endParaRPr lang="zh-CN" altLang="en-US" dirty="0"/>
          </a:p>
        </p:txBody>
      </p:sp>
      <p:sp>
        <p:nvSpPr>
          <p:cNvPr id="2560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D0A9914-B03D-4194-AF9E-340FF5FDB23C}" type="slidenum">
              <a:rPr lang="en-US" altLang="zh-CN" smtClean="0"/>
              <a:pPr eaLnBrk="1" hangingPunct="1"/>
              <a:t>19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67544" y="985424"/>
            <a:ext cx="4572000" cy="5846820"/>
          </a:xfrm>
          <a:prstGeom prst="rect">
            <a:avLst/>
          </a:prstGeom>
        </p:spPr>
      </p:pic>
      <p:sp>
        <p:nvSpPr>
          <p:cNvPr id="28674" name="标题 1"/>
          <p:cNvSpPr>
            <a:spLocks noGrp="1"/>
          </p:cNvSpPr>
          <p:nvPr>
            <p:ph type="title"/>
          </p:nvPr>
        </p:nvSpPr>
        <p:spPr/>
        <p:txBody>
          <a:bodyPr/>
          <a:lstStyle/>
          <a:p>
            <a:r>
              <a:rPr lang="zh-CN" altLang="en-US" smtClean="0"/>
              <a:t>案例研究</a:t>
            </a:r>
            <a:r>
              <a:rPr lang="en-US" altLang="zh-CN" smtClean="0"/>
              <a:t>——</a:t>
            </a:r>
            <a:r>
              <a:rPr lang="zh-CN" altLang="en-US" smtClean="0"/>
              <a:t>服务概要</a:t>
            </a:r>
            <a:r>
              <a:rPr lang="en-US" altLang="zh-CN" smtClean="0"/>
              <a:t>(</a:t>
            </a:r>
            <a:r>
              <a:rPr lang="zh-CN" altLang="en-US" smtClean="0"/>
              <a:t>功能元信息</a:t>
            </a:r>
            <a:r>
              <a:rPr lang="en-US" altLang="zh-CN" smtClean="0"/>
              <a:t>)</a:t>
            </a:r>
            <a:endParaRPr lang="zh-CN" altLang="en-US" smtClean="0"/>
          </a:p>
        </p:txBody>
      </p:sp>
      <p:sp>
        <p:nvSpPr>
          <p:cNvPr id="28675" name="内容占位符 3"/>
          <p:cNvSpPr>
            <a:spLocks noGrp="1"/>
          </p:cNvSpPr>
          <p:nvPr>
            <p:ph idx="1"/>
          </p:nvPr>
        </p:nvSpPr>
        <p:spPr>
          <a:xfrm>
            <a:off x="5378624" y="2103654"/>
            <a:ext cx="3384376" cy="3020068"/>
          </a:xfrm>
        </p:spPr>
        <p:txBody>
          <a:bodyPr>
            <a:normAutofit/>
          </a:bodyPr>
          <a:lstStyle/>
          <a:p>
            <a:r>
              <a:rPr lang="zh-CN" altLang="en-US" sz="2800" dirty="0" smtClean="0"/>
              <a:t>为每个服务创建一个正式的概要文档，以标准方式来结构化地组织元数据</a:t>
            </a:r>
            <a:endParaRPr lang="en-US" altLang="zh-CN" sz="2800" dirty="0" smtClean="0"/>
          </a:p>
        </p:txBody>
      </p:sp>
      <p:sp>
        <p:nvSpPr>
          <p:cNvPr id="2867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25F905C-19DE-4EBD-9B84-71A7583B9753}" type="slidenum">
              <a:rPr lang="en-US" altLang="zh-CN" smtClean="0"/>
              <a:pPr eaLnBrk="1" hangingPunct="1"/>
              <a:t>20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案例研究</a:t>
            </a:r>
            <a:r>
              <a:rPr lang="en-US" altLang="zh-CN" smtClean="0"/>
              <a:t>——</a:t>
            </a:r>
            <a:r>
              <a:rPr lang="zh-CN" altLang="en-US" smtClean="0"/>
              <a:t>相关的服务质量元信息</a:t>
            </a:r>
          </a:p>
        </p:txBody>
      </p:sp>
      <p:sp>
        <p:nvSpPr>
          <p:cNvPr id="4" name="内容占位符 3"/>
          <p:cNvSpPr>
            <a:spLocks noGrp="1"/>
          </p:cNvSpPr>
          <p:nvPr>
            <p:ph idx="1"/>
          </p:nvPr>
        </p:nvSpPr>
        <p:spPr/>
        <p:txBody>
          <a:bodyPr>
            <a:normAutofit/>
          </a:bodyPr>
          <a:lstStyle/>
          <a:p>
            <a:pPr>
              <a:defRPr/>
            </a:pPr>
            <a:r>
              <a:rPr lang="zh-CN" altLang="en-US" dirty="0" smtClean="0"/>
              <a:t>将</a:t>
            </a:r>
            <a:r>
              <a:rPr lang="en-US" altLang="zh-CN" dirty="0" smtClean="0"/>
              <a:t>SLA</a:t>
            </a:r>
            <a:r>
              <a:rPr lang="zh-CN" altLang="en-US" dirty="0" smtClean="0"/>
              <a:t>以独立文档的方式，放置到</a:t>
            </a:r>
            <a:r>
              <a:rPr lang="en-US" altLang="zh-CN" dirty="0" smtClean="0"/>
              <a:t>Materials </a:t>
            </a:r>
            <a:r>
              <a:rPr lang="zh-CN" altLang="en-US" dirty="0" smtClean="0"/>
              <a:t>服务当中</a:t>
            </a:r>
            <a:endParaRPr lang="en-US" altLang="zh-CN" dirty="0" smtClean="0"/>
          </a:p>
          <a:p>
            <a:pPr>
              <a:defRPr/>
            </a:pPr>
            <a:r>
              <a:rPr lang="en-US" altLang="zh-CN" dirty="0" smtClean="0"/>
              <a:t>SLA</a:t>
            </a:r>
            <a:r>
              <a:rPr lang="zh-CN" altLang="en-US" dirty="0" smtClean="0"/>
              <a:t>被认为是</a:t>
            </a:r>
            <a:r>
              <a:rPr lang="en-US" altLang="zh-CN" dirty="0" smtClean="0"/>
              <a:t>Materials</a:t>
            </a:r>
            <a:r>
              <a:rPr lang="zh-CN" altLang="en-US" dirty="0" smtClean="0"/>
              <a:t>服务合约的一个正式的扩展，包含：</a:t>
            </a:r>
            <a:endParaRPr lang="en-US" altLang="zh-CN" dirty="0" smtClean="0"/>
          </a:p>
          <a:p>
            <a:pPr lvl="1">
              <a:defRPr/>
            </a:pPr>
            <a:r>
              <a:rPr lang="zh-CN" altLang="en-US" dirty="0" smtClean="0">
                <a:cs typeface="+mn-cs"/>
              </a:rPr>
              <a:t>服务可用性</a:t>
            </a:r>
            <a:endParaRPr lang="en-US" altLang="zh-CN" dirty="0" smtClean="0">
              <a:cs typeface="+mn-cs"/>
            </a:endParaRPr>
          </a:p>
          <a:p>
            <a:pPr lvl="1">
              <a:defRPr/>
            </a:pPr>
            <a:r>
              <a:rPr lang="zh-CN" altLang="en-US" dirty="0" smtClean="0">
                <a:cs typeface="+mn-cs"/>
              </a:rPr>
              <a:t>对每个能力保证的响应时间</a:t>
            </a:r>
            <a:endParaRPr lang="en-US" altLang="zh-CN" dirty="0" smtClean="0">
              <a:cs typeface="+mn-cs"/>
            </a:endParaRPr>
          </a:p>
          <a:p>
            <a:pPr lvl="1">
              <a:defRPr/>
            </a:pPr>
            <a:r>
              <a:rPr lang="zh-CN" altLang="en-US" dirty="0" smtClean="0">
                <a:cs typeface="+mn-cs"/>
              </a:rPr>
              <a:t>输入输出值的允许范围</a:t>
            </a:r>
            <a:endParaRPr lang="en-US" altLang="zh-CN" dirty="0" smtClean="0">
              <a:cs typeface="+mn-cs"/>
            </a:endParaRPr>
          </a:p>
          <a:p>
            <a:pPr lvl="1">
              <a:defRPr/>
            </a:pPr>
            <a:r>
              <a:rPr lang="zh-CN" altLang="en-US" dirty="0" smtClean="0">
                <a:cs typeface="+mn-cs"/>
              </a:rPr>
              <a:t>服务或者其任一能力的有效期限</a:t>
            </a:r>
            <a:endParaRPr lang="en-US" altLang="zh-CN" dirty="0" smtClean="0">
              <a:cs typeface="+mn-cs"/>
            </a:endParaRPr>
          </a:p>
          <a:p>
            <a:pPr lvl="1">
              <a:defRPr/>
            </a:pPr>
            <a:r>
              <a:rPr lang="zh-CN" altLang="en-US" dirty="0" smtClean="0">
                <a:cs typeface="+mn-cs"/>
              </a:rPr>
              <a:t>故障状态时的响应过程</a:t>
            </a:r>
            <a:endParaRPr lang="en-US" altLang="zh-CN" dirty="0" smtClean="0">
              <a:cs typeface="+mn-cs"/>
            </a:endParaRPr>
          </a:p>
          <a:p>
            <a:pPr lvl="1">
              <a:defRPr/>
            </a:pPr>
            <a:r>
              <a:rPr lang="zh-CN" altLang="en-US" dirty="0" smtClean="0">
                <a:cs typeface="+mn-cs"/>
              </a:rPr>
              <a:t>使用需求和策略</a:t>
            </a:r>
            <a:endParaRPr lang="zh-CN" altLang="en-US" dirty="0"/>
          </a:p>
        </p:txBody>
      </p:sp>
      <p:sp>
        <p:nvSpPr>
          <p:cNvPr id="2970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3AC33D3-CFF9-4847-9878-82CB1DFB05D9}" type="slidenum">
              <a:rPr lang="en-US" altLang="zh-CN" smtClean="0"/>
              <a:pPr eaLnBrk="1" hangingPunct="1"/>
              <a:t>21</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5"/>
          <p:cNvSpPr>
            <a:spLocks noGrp="1"/>
          </p:cNvSpPr>
          <p:nvPr>
            <p:ph type="title"/>
          </p:nvPr>
        </p:nvSpPr>
        <p:spPr/>
        <p:txBody>
          <a:bodyPr>
            <a:normAutofit fontScale="90000"/>
          </a:bodyPr>
          <a:lstStyle/>
          <a:p>
            <a:pPr>
              <a:defRPr/>
            </a:pPr>
            <a:r>
              <a:rPr lang="zh-CN" altLang="en-US" dirty="0" smtClean="0"/>
              <a:t>服务可组合性</a:t>
            </a:r>
            <a:r>
              <a:rPr lang="en-US" altLang="zh-CN" dirty="0" smtClean="0"/>
              <a:t/>
            </a:r>
            <a:br>
              <a:rPr lang="en-US" altLang="zh-CN" dirty="0" smtClean="0"/>
            </a:br>
            <a:r>
              <a:rPr lang="zh-CN" altLang="en-US" dirty="0"/>
              <a:t>（</a:t>
            </a:r>
            <a:r>
              <a:rPr lang="zh-CN" altLang="en-US" dirty="0" smtClean="0"/>
              <a:t>组合成员设计与复杂组合）</a:t>
            </a:r>
          </a:p>
        </p:txBody>
      </p:sp>
      <p:sp>
        <p:nvSpPr>
          <p:cNvPr id="30723" name="内容占位符 6"/>
          <p:cNvSpPr>
            <a:spLocks noGrp="1"/>
          </p:cNvSpPr>
          <p:nvPr>
            <p:ph idx="1"/>
          </p:nvPr>
        </p:nvSpPr>
        <p:spPr>
          <a:xfrm>
            <a:off x="457200" y="1052737"/>
            <a:ext cx="8229600" cy="1440159"/>
          </a:xfrm>
        </p:spPr>
        <p:txBody>
          <a:bodyPr/>
          <a:lstStyle/>
          <a:p>
            <a:r>
              <a:rPr lang="zh-CN" altLang="en-US" dirty="0" smtClean="0"/>
              <a:t>服务组合是</a:t>
            </a:r>
            <a:r>
              <a:rPr lang="en-US" altLang="zh-CN" dirty="0" smtClean="0"/>
              <a:t>SOA </a:t>
            </a:r>
            <a:r>
              <a:rPr lang="zh-CN" altLang="en-US" dirty="0" smtClean="0"/>
              <a:t>的核心概念，代表设计特性和运行时的动态性</a:t>
            </a:r>
          </a:p>
        </p:txBody>
      </p:sp>
      <p:sp>
        <p:nvSpPr>
          <p:cNvPr id="30724"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198E9D4-6B83-421E-A6E0-6399B1AE9973}" type="slidenum">
              <a:rPr lang="en-US" altLang="zh-CN" smtClean="0"/>
              <a:pPr eaLnBrk="1" hangingPunct="1"/>
              <a:t>22</a:t>
            </a:fld>
            <a:endParaRPr lang="en-US" altLang="zh-CN" smtClean="0"/>
          </a:p>
        </p:txBody>
      </p:sp>
      <p:pic>
        <p:nvPicPr>
          <p:cNvPr id="2" name="图片 1"/>
          <p:cNvPicPr>
            <a:picLocks noChangeAspect="1"/>
          </p:cNvPicPr>
          <p:nvPr/>
        </p:nvPicPr>
        <p:blipFill>
          <a:blip r:embed="rId3"/>
          <a:stretch>
            <a:fillRect/>
          </a:stretch>
        </p:blipFill>
        <p:spPr>
          <a:xfrm>
            <a:off x="182822" y="2749315"/>
            <a:ext cx="5282806" cy="3008684"/>
          </a:xfrm>
          <a:prstGeom prst="rect">
            <a:avLst/>
          </a:prstGeom>
        </p:spPr>
      </p:pic>
      <p:sp>
        <p:nvSpPr>
          <p:cNvPr id="3" name="矩形 2"/>
          <p:cNvSpPr/>
          <p:nvPr/>
        </p:nvSpPr>
        <p:spPr>
          <a:xfrm>
            <a:off x="5306616" y="3449675"/>
            <a:ext cx="3456384" cy="2308324"/>
          </a:xfrm>
          <a:prstGeom prst="rect">
            <a:avLst/>
          </a:prstGeom>
        </p:spPr>
        <p:txBody>
          <a:bodyPr wrap="square">
            <a:spAutoFit/>
          </a:bodyPr>
          <a:lstStyle/>
          <a:p>
            <a:r>
              <a:rPr lang="en-US" altLang="zh-CN" sz="1600" dirty="0"/>
              <a:t>Assembling capabilities from different sources to solve a larger problem is the foundation </a:t>
            </a:r>
            <a:r>
              <a:rPr lang="en-US" altLang="zh-CN" sz="1600" dirty="0" smtClean="0"/>
              <a:t>of distributed </a:t>
            </a:r>
            <a:r>
              <a:rPr lang="en-US" altLang="zh-CN" sz="1600" dirty="0"/>
              <a:t>computing. This principle introduces new design considerations that ensure </a:t>
            </a:r>
            <a:r>
              <a:rPr lang="en-US" altLang="zh-CN" sz="1600" dirty="0" smtClean="0"/>
              <a:t>that services </a:t>
            </a:r>
            <a:r>
              <a:rPr lang="en-US" altLang="zh-CN" sz="1600" dirty="0"/>
              <a:t>are able to participate in multiple compositions to solve multiple larger problems</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171575" y="1875121"/>
            <a:ext cx="6724650" cy="4991100"/>
          </a:xfrm>
          <a:prstGeom prst="rect">
            <a:avLst/>
          </a:prstGeom>
        </p:spPr>
      </p:pic>
      <p:sp>
        <p:nvSpPr>
          <p:cNvPr id="31746" name="标题 5"/>
          <p:cNvSpPr>
            <a:spLocks noGrp="1"/>
          </p:cNvSpPr>
          <p:nvPr>
            <p:ph type="title"/>
          </p:nvPr>
        </p:nvSpPr>
        <p:spPr/>
        <p:txBody>
          <a:bodyPr/>
          <a:lstStyle/>
          <a:p>
            <a:r>
              <a:rPr lang="zh-CN" altLang="en-US" dirty="0" smtClean="0"/>
              <a:t>组合（</a:t>
            </a:r>
            <a:r>
              <a:rPr lang="en-US" altLang="zh-CN" dirty="0" smtClean="0"/>
              <a:t>1/3</a:t>
            </a:r>
            <a:r>
              <a:rPr lang="zh-CN" altLang="en-US" dirty="0" smtClean="0"/>
              <a:t>）</a:t>
            </a:r>
          </a:p>
        </p:txBody>
      </p:sp>
      <p:sp>
        <p:nvSpPr>
          <p:cNvPr id="31747" name="内容占位符 6"/>
          <p:cNvSpPr>
            <a:spLocks noGrp="1"/>
          </p:cNvSpPr>
          <p:nvPr>
            <p:ph sz="half" idx="1"/>
          </p:nvPr>
        </p:nvSpPr>
        <p:spPr>
          <a:xfrm>
            <a:off x="467544" y="1340768"/>
            <a:ext cx="7859713" cy="533400"/>
          </a:xfrm>
        </p:spPr>
        <p:txBody>
          <a:bodyPr/>
          <a:lstStyle/>
          <a:p>
            <a:r>
              <a:rPr lang="zh-CN" altLang="en-US" dirty="0" smtClean="0"/>
              <a:t>组合与分解密切相关</a:t>
            </a:r>
          </a:p>
        </p:txBody>
      </p:sp>
      <p:sp>
        <p:nvSpPr>
          <p:cNvPr id="31748"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349601-1E49-4B66-83EB-AE84BD99C65E}" type="slidenum">
              <a:rPr lang="en-US" altLang="zh-CN" smtClean="0"/>
              <a:pPr eaLnBrk="1" hangingPunct="1"/>
              <a:t>23</a:t>
            </a:fld>
            <a:endParaRPr lang="en-US" altLang="zh-CN"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5"/>
          <p:cNvSpPr>
            <a:spLocks noGrp="1"/>
          </p:cNvSpPr>
          <p:nvPr>
            <p:ph type="title"/>
          </p:nvPr>
        </p:nvSpPr>
        <p:spPr/>
        <p:txBody>
          <a:bodyPr/>
          <a:lstStyle/>
          <a:p>
            <a:r>
              <a:rPr lang="zh-CN" altLang="en-US" dirty="0" smtClean="0"/>
              <a:t>组合（</a:t>
            </a:r>
            <a:r>
              <a:rPr lang="en-US" altLang="zh-CN" dirty="0" smtClean="0"/>
              <a:t>2/3</a:t>
            </a:r>
            <a:r>
              <a:rPr lang="zh-CN" altLang="en-US" dirty="0" smtClean="0"/>
              <a:t>）</a:t>
            </a:r>
          </a:p>
        </p:txBody>
      </p:sp>
      <p:sp>
        <p:nvSpPr>
          <p:cNvPr id="31747" name="内容占位符 6"/>
          <p:cNvSpPr>
            <a:spLocks noGrp="1"/>
          </p:cNvSpPr>
          <p:nvPr>
            <p:ph sz="half" idx="1"/>
          </p:nvPr>
        </p:nvSpPr>
        <p:spPr>
          <a:xfrm>
            <a:off x="467544" y="1340768"/>
            <a:ext cx="7859713" cy="533400"/>
          </a:xfrm>
        </p:spPr>
        <p:txBody>
          <a:bodyPr/>
          <a:lstStyle/>
          <a:p>
            <a:r>
              <a:rPr lang="zh-CN" altLang="en-US" dirty="0" smtClean="0"/>
              <a:t>使用组合解决初始问题</a:t>
            </a:r>
          </a:p>
        </p:txBody>
      </p:sp>
      <p:sp>
        <p:nvSpPr>
          <p:cNvPr id="31748"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349601-1E49-4B66-83EB-AE84BD99C65E}" type="slidenum">
              <a:rPr lang="en-US" altLang="zh-CN" smtClean="0"/>
              <a:pPr eaLnBrk="1" hangingPunct="1"/>
              <a:t>24</a:t>
            </a:fld>
            <a:endParaRPr lang="en-US" altLang="zh-CN" smtClean="0"/>
          </a:p>
        </p:txBody>
      </p:sp>
      <p:pic>
        <p:nvPicPr>
          <p:cNvPr id="2" name="图片 1"/>
          <p:cNvPicPr>
            <a:picLocks noChangeAspect="1"/>
          </p:cNvPicPr>
          <p:nvPr/>
        </p:nvPicPr>
        <p:blipFill>
          <a:blip r:embed="rId3"/>
          <a:stretch>
            <a:fillRect/>
          </a:stretch>
        </p:blipFill>
        <p:spPr>
          <a:xfrm>
            <a:off x="901725" y="2132856"/>
            <a:ext cx="6991350" cy="3867150"/>
          </a:xfrm>
          <a:prstGeom prst="rect">
            <a:avLst/>
          </a:prstGeom>
        </p:spPr>
      </p:pic>
    </p:spTree>
    <p:extLst>
      <p:ext uri="{BB962C8B-B14F-4D97-AF65-F5344CB8AC3E}">
        <p14:creationId xmlns:p14="http://schemas.microsoft.com/office/powerpoint/2010/main" val="13276655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5"/>
          <p:cNvSpPr>
            <a:spLocks noGrp="1"/>
          </p:cNvSpPr>
          <p:nvPr>
            <p:ph type="title"/>
          </p:nvPr>
        </p:nvSpPr>
        <p:spPr/>
        <p:txBody>
          <a:bodyPr/>
          <a:lstStyle/>
          <a:p>
            <a:r>
              <a:rPr lang="zh-CN" altLang="en-US" dirty="0" smtClean="0"/>
              <a:t>组合（</a:t>
            </a:r>
            <a:r>
              <a:rPr lang="en-US" altLang="zh-CN" dirty="0" smtClean="0"/>
              <a:t>3/3</a:t>
            </a:r>
            <a:r>
              <a:rPr lang="zh-CN" altLang="en-US" dirty="0" smtClean="0"/>
              <a:t>）</a:t>
            </a:r>
          </a:p>
        </p:txBody>
      </p:sp>
      <p:sp>
        <p:nvSpPr>
          <p:cNvPr id="31747" name="内容占位符 6"/>
          <p:cNvSpPr>
            <a:spLocks noGrp="1"/>
          </p:cNvSpPr>
          <p:nvPr>
            <p:ph sz="half" idx="1"/>
          </p:nvPr>
        </p:nvSpPr>
        <p:spPr>
          <a:xfrm>
            <a:off x="467544" y="1340768"/>
            <a:ext cx="7859713" cy="533400"/>
          </a:xfrm>
        </p:spPr>
        <p:txBody>
          <a:bodyPr/>
          <a:lstStyle/>
          <a:p>
            <a:r>
              <a:rPr lang="zh-CN" altLang="en-US" dirty="0" smtClean="0"/>
              <a:t>使用组合解决其他问题</a:t>
            </a:r>
          </a:p>
        </p:txBody>
      </p:sp>
      <p:sp>
        <p:nvSpPr>
          <p:cNvPr id="31748"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349601-1E49-4B66-83EB-AE84BD99C65E}" type="slidenum">
              <a:rPr lang="en-US" altLang="zh-CN" smtClean="0"/>
              <a:pPr eaLnBrk="1" hangingPunct="1"/>
              <a:t>25</a:t>
            </a:fld>
            <a:endParaRPr lang="en-US" altLang="zh-CN" smtClean="0"/>
          </a:p>
        </p:txBody>
      </p:sp>
      <p:pic>
        <p:nvPicPr>
          <p:cNvPr id="2" name="图片 1"/>
          <p:cNvPicPr>
            <a:picLocks noChangeAspect="1"/>
          </p:cNvPicPr>
          <p:nvPr/>
        </p:nvPicPr>
        <p:blipFill>
          <a:blip r:embed="rId3"/>
          <a:stretch>
            <a:fillRect/>
          </a:stretch>
        </p:blipFill>
        <p:spPr>
          <a:xfrm>
            <a:off x="1403648" y="2276872"/>
            <a:ext cx="3990975" cy="4067175"/>
          </a:xfrm>
          <a:prstGeom prst="rect">
            <a:avLst/>
          </a:prstGeom>
        </p:spPr>
      </p:pic>
      <p:sp>
        <p:nvSpPr>
          <p:cNvPr id="4" name="矩形 3"/>
          <p:cNvSpPr/>
          <p:nvPr/>
        </p:nvSpPr>
        <p:spPr>
          <a:xfrm>
            <a:off x="5508104" y="4509120"/>
            <a:ext cx="3352800" cy="1077218"/>
          </a:xfrm>
          <a:prstGeom prst="rect">
            <a:avLst/>
          </a:prstGeom>
        </p:spPr>
        <p:txBody>
          <a:bodyPr wrap="square">
            <a:spAutoFit/>
          </a:bodyPr>
          <a:lstStyle/>
          <a:p>
            <a:r>
              <a:rPr lang="en-US" altLang="zh-CN" sz="1600" dirty="0"/>
              <a:t>The same units originally created to solve </a:t>
            </a:r>
            <a:r>
              <a:rPr lang="en-US" altLang="zh-CN" sz="1600" dirty="0" smtClean="0"/>
              <a:t>Big Problem </a:t>
            </a:r>
            <a:r>
              <a:rPr lang="en-US" altLang="zh-CN" sz="1600" dirty="0"/>
              <a:t>A are recomposed to collectively solve </a:t>
            </a:r>
            <a:r>
              <a:rPr lang="en-US" altLang="zh-CN" sz="1600" dirty="0" smtClean="0"/>
              <a:t>a different </a:t>
            </a:r>
            <a:r>
              <a:rPr lang="en-US" altLang="zh-CN" sz="1600" dirty="0"/>
              <a:t>problem</a:t>
            </a:r>
            <a:endParaRPr lang="zh-CN" altLang="en-US" sz="1600" dirty="0"/>
          </a:p>
        </p:txBody>
      </p:sp>
    </p:spTree>
    <p:extLst>
      <p:ext uri="{BB962C8B-B14F-4D97-AF65-F5344CB8AC3E}">
        <p14:creationId xmlns:p14="http://schemas.microsoft.com/office/powerpoint/2010/main" val="35781380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smtClean="0"/>
              <a:t>传统组合</a:t>
            </a:r>
          </a:p>
        </p:txBody>
      </p:sp>
      <p:sp>
        <p:nvSpPr>
          <p:cNvPr id="32771" name="内容占位符 2"/>
          <p:cNvSpPr>
            <a:spLocks noGrp="1"/>
          </p:cNvSpPr>
          <p:nvPr>
            <p:ph sz="half" idx="1"/>
          </p:nvPr>
        </p:nvSpPr>
        <p:spPr/>
        <p:txBody>
          <a:bodyPr/>
          <a:lstStyle/>
          <a:p>
            <a:r>
              <a:rPr lang="zh-CN" altLang="en-US" sz="2400" dirty="0" smtClean="0"/>
              <a:t>动态链接库</a:t>
            </a:r>
            <a:r>
              <a:rPr lang="en-US" altLang="zh-CN" sz="2400" dirty="0" smtClean="0"/>
              <a:t>(DLL)</a:t>
            </a:r>
            <a:endParaRPr lang="zh-CN" altLang="en-US" sz="2400" dirty="0" smtClean="0"/>
          </a:p>
        </p:txBody>
      </p:sp>
      <p:sp>
        <p:nvSpPr>
          <p:cNvPr id="32772" name="内容占位符 3"/>
          <p:cNvSpPr>
            <a:spLocks noGrp="1"/>
          </p:cNvSpPr>
          <p:nvPr>
            <p:ph sz="half" idx="2"/>
          </p:nvPr>
        </p:nvSpPr>
        <p:spPr/>
        <p:txBody>
          <a:bodyPr/>
          <a:lstStyle/>
          <a:p>
            <a:r>
              <a:rPr lang="zh-CN" altLang="en-US" sz="2400" dirty="0" smtClean="0"/>
              <a:t>面向对象分析设计</a:t>
            </a:r>
            <a:r>
              <a:rPr lang="en-US" altLang="zh-CN" sz="2400" dirty="0" smtClean="0"/>
              <a:t>(OOAD)</a:t>
            </a:r>
            <a:endParaRPr lang="zh-CN" altLang="en-US" sz="2400" dirty="0" smtClean="0"/>
          </a:p>
        </p:txBody>
      </p:sp>
      <p:sp>
        <p:nvSpPr>
          <p:cNvPr id="32773"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26CA687-9B06-4963-959F-4AAC085ABEBB}" type="slidenum">
              <a:rPr lang="en-US" altLang="zh-CN" smtClean="0"/>
              <a:pPr eaLnBrk="1" hangingPunct="1"/>
              <a:t>26</a:t>
            </a:fld>
            <a:endParaRPr lang="en-US" altLang="zh-CN" smtClean="0"/>
          </a:p>
        </p:txBody>
      </p:sp>
      <p:pic>
        <p:nvPicPr>
          <p:cNvPr id="2" name="图片 1"/>
          <p:cNvPicPr>
            <a:picLocks noChangeAspect="1"/>
          </p:cNvPicPr>
          <p:nvPr/>
        </p:nvPicPr>
        <p:blipFill>
          <a:blip r:embed="rId3"/>
          <a:stretch>
            <a:fillRect/>
          </a:stretch>
        </p:blipFill>
        <p:spPr>
          <a:xfrm>
            <a:off x="200025" y="2441574"/>
            <a:ext cx="4371975" cy="2847975"/>
          </a:xfrm>
          <a:prstGeom prst="rect">
            <a:avLst/>
          </a:prstGeom>
        </p:spPr>
      </p:pic>
      <p:sp>
        <p:nvSpPr>
          <p:cNvPr id="4" name="矩形 3"/>
          <p:cNvSpPr/>
          <p:nvPr/>
        </p:nvSpPr>
        <p:spPr>
          <a:xfrm>
            <a:off x="233362" y="5544244"/>
            <a:ext cx="4305300" cy="1077218"/>
          </a:xfrm>
          <a:prstGeom prst="rect">
            <a:avLst/>
          </a:prstGeom>
        </p:spPr>
        <p:txBody>
          <a:bodyPr wrap="square">
            <a:spAutoFit/>
          </a:bodyPr>
          <a:lstStyle/>
          <a:p>
            <a:r>
              <a:rPr lang="en-US" altLang="zh-CN" sz="1600" dirty="0"/>
              <a:t>Multiple executable files accessing </a:t>
            </a:r>
            <a:r>
              <a:rPr lang="en-US" altLang="zh-CN" sz="1600" dirty="0" smtClean="0"/>
              <a:t>reusable dynamic </a:t>
            </a:r>
            <a:r>
              <a:rPr lang="en-US" altLang="zh-CN" sz="1600" dirty="0"/>
              <a:t>link libraries. This architecture is</a:t>
            </a:r>
          </a:p>
          <a:p>
            <a:r>
              <a:rPr lang="en-US" altLang="zh-CN" sz="1600" dirty="0"/>
              <a:t>reminiscent of the relationship between </a:t>
            </a:r>
            <a:r>
              <a:rPr lang="en-US" altLang="zh-CN" sz="1600" dirty="0" smtClean="0"/>
              <a:t>task and </a:t>
            </a:r>
            <a:r>
              <a:rPr lang="en-US" altLang="zh-CN" sz="1600" dirty="0"/>
              <a:t>agnostic services.</a:t>
            </a:r>
            <a:endParaRPr lang="zh-CN" altLang="en-US" sz="1600" dirty="0"/>
          </a:p>
        </p:txBody>
      </p:sp>
      <p:pic>
        <p:nvPicPr>
          <p:cNvPr id="5" name="图片 4"/>
          <p:cNvPicPr>
            <a:picLocks noChangeAspect="1"/>
          </p:cNvPicPr>
          <p:nvPr/>
        </p:nvPicPr>
        <p:blipFill>
          <a:blip r:embed="rId4"/>
          <a:stretch>
            <a:fillRect/>
          </a:stretch>
        </p:blipFill>
        <p:spPr>
          <a:xfrm>
            <a:off x="4786619" y="2412998"/>
            <a:ext cx="4391025" cy="2905125"/>
          </a:xfrm>
          <a:prstGeom prst="rect">
            <a:avLst/>
          </a:prstGeom>
        </p:spPr>
      </p:pic>
      <p:sp>
        <p:nvSpPr>
          <p:cNvPr id="7" name="矩形 6"/>
          <p:cNvSpPr/>
          <p:nvPr/>
        </p:nvSpPr>
        <p:spPr>
          <a:xfrm>
            <a:off x="5020258" y="5613837"/>
            <a:ext cx="3942184" cy="584775"/>
          </a:xfrm>
          <a:prstGeom prst="rect">
            <a:avLst/>
          </a:prstGeom>
        </p:spPr>
        <p:txBody>
          <a:bodyPr wrap="square">
            <a:spAutoFit/>
          </a:bodyPr>
          <a:lstStyle/>
          <a:p>
            <a:r>
              <a:rPr lang="en-US" altLang="zh-CN" sz="1600" dirty="0"/>
              <a:t>A simple object hierarchy in which an </a:t>
            </a:r>
            <a:r>
              <a:rPr lang="en-US" altLang="zh-CN" sz="1600" dirty="0" smtClean="0"/>
              <a:t>aggregate object </a:t>
            </a:r>
            <a:r>
              <a:rPr lang="en-US" altLang="zh-CN" sz="1600" dirty="0"/>
              <a:t>composes others</a:t>
            </a:r>
            <a:endParaRPr lang="zh-CN" altLang="en-US" sz="16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面向服务的组合</a:t>
            </a:r>
            <a:endParaRPr lang="en-US" altLang="zh-CN" dirty="0"/>
          </a:p>
        </p:txBody>
      </p:sp>
      <p:sp>
        <p:nvSpPr>
          <p:cNvPr id="4" name="内容占位符 3"/>
          <p:cNvSpPr>
            <a:spLocks noGrp="1"/>
          </p:cNvSpPr>
          <p:nvPr>
            <p:ph sz="half" idx="1"/>
          </p:nvPr>
        </p:nvSpPr>
        <p:spPr>
          <a:xfrm>
            <a:off x="457200" y="1152525"/>
            <a:ext cx="3322712" cy="5248275"/>
          </a:xfrm>
        </p:spPr>
        <p:txBody>
          <a:bodyPr>
            <a:normAutofit fontScale="85000" lnSpcReduction="10000"/>
          </a:bodyPr>
          <a:lstStyle/>
          <a:p>
            <a:pPr>
              <a:lnSpc>
                <a:spcPct val="120000"/>
              </a:lnSpc>
            </a:pPr>
            <a:r>
              <a:rPr lang="zh-CN" altLang="en-US" dirty="0"/>
              <a:t>服务</a:t>
            </a:r>
            <a:r>
              <a:rPr lang="zh-CN" altLang="en-US" dirty="0" smtClean="0"/>
              <a:t>组合 </a:t>
            </a:r>
            <a:r>
              <a:rPr lang="en-US" altLang="zh-CN" dirty="0" smtClean="0"/>
              <a:t>(</a:t>
            </a:r>
            <a:r>
              <a:rPr lang="en-US" altLang="zh-CN" dirty="0"/>
              <a:t>compositions) </a:t>
            </a:r>
            <a:r>
              <a:rPr lang="zh-CN" altLang="en-US" dirty="0"/>
              <a:t>是在设计</a:t>
            </a:r>
            <a:r>
              <a:rPr lang="zh-CN" altLang="en-US" dirty="0" smtClean="0"/>
              <a:t>时定义的</a:t>
            </a:r>
            <a:r>
              <a:rPr lang="zh-CN" altLang="en-US" dirty="0"/>
              <a:t>，为适应多个场景、用以支持业务流程工作流</a:t>
            </a:r>
            <a:r>
              <a:rPr lang="zh-CN" altLang="en-US" dirty="0" smtClean="0"/>
              <a:t>逻辑所需的</a:t>
            </a:r>
            <a:r>
              <a:rPr lang="zh-CN" altLang="en-US" dirty="0"/>
              <a:t>能力间交互</a:t>
            </a:r>
            <a:endParaRPr lang="en-US" altLang="zh-CN" dirty="0"/>
          </a:p>
          <a:p>
            <a:pPr>
              <a:lnSpc>
                <a:spcPct val="120000"/>
              </a:lnSpc>
            </a:pPr>
            <a:r>
              <a:rPr lang="zh-CN" altLang="en-US" dirty="0"/>
              <a:t>组合实例</a:t>
            </a:r>
            <a:r>
              <a:rPr lang="en-US" altLang="zh-CN" dirty="0"/>
              <a:t>(composition instance) </a:t>
            </a:r>
            <a:r>
              <a:rPr lang="zh-CN" altLang="en-US" dirty="0"/>
              <a:t>代表当工作流逻辑被</a:t>
            </a:r>
            <a:r>
              <a:rPr lang="zh-CN" altLang="en-US" dirty="0" smtClean="0"/>
              <a:t>一系列服务</a:t>
            </a:r>
            <a:r>
              <a:rPr lang="zh-CN" altLang="en-US" dirty="0"/>
              <a:t>实例执行时，实际上发生的</a:t>
            </a:r>
            <a:r>
              <a:rPr lang="zh-CN" altLang="en-US" dirty="0" smtClean="0"/>
              <a:t>事情</a:t>
            </a:r>
            <a:endParaRPr lang="en-US" altLang="zh-CN" dirty="0" smtClean="0"/>
          </a:p>
        </p:txBody>
      </p:sp>
      <p:sp>
        <p:nvSpPr>
          <p:cNvPr id="3379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FBF466C-B522-400C-A055-6FB4955A699E}" type="slidenum">
              <a:rPr lang="en-US" altLang="zh-CN" smtClean="0"/>
              <a:pPr eaLnBrk="1" hangingPunct="1"/>
              <a:t>27</a:t>
            </a:fld>
            <a:endParaRPr lang="en-US" altLang="zh-CN" smtClean="0"/>
          </a:p>
        </p:txBody>
      </p:sp>
      <p:sp>
        <p:nvSpPr>
          <p:cNvPr id="3" name="矩形 2"/>
          <p:cNvSpPr/>
          <p:nvPr/>
        </p:nvSpPr>
        <p:spPr>
          <a:xfrm>
            <a:off x="4553102" y="5589240"/>
            <a:ext cx="4572000" cy="646331"/>
          </a:xfrm>
          <a:prstGeom prst="rect">
            <a:avLst/>
          </a:prstGeom>
        </p:spPr>
        <p:txBody>
          <a:bodyPr>
            <a:spAutoFit/>
          </a:bodyPr>
          <a:lstStyle/>
          <a:p>
            <a:r>
              <a:rPr lang="en-US" altLang="zh-CN" dirty="0"/>
              <a:t>A service-oriented composition equivalent </a:t>
            </a:r>
            <a:r>
              <a:rPr lang="en-US" altLang="zh-CN" dirty="0" smtClean="0"/>
              <a:t>to past </a:t>
            </a:r>
            <a:r>
              <a:rPr lang="en-US" altLang="zh-CN" dirty="0"/>
              <a:t>composition variations</a:t>
            </a:r>
            <a:endParaRPr lang="zh-CN" altLang="en-US" dirty="0"/>
          </a:p>
        </p:txBody>
      </p:sp>
      <p:pic>
        <p:nvPicPr>
          <p:cNvPr id="5" name="图片 4"/>
          <p:cNvPicPr>
            <a:picLocks noChangeAspect="1"/>
          </p:cNvPicPr>
          <p:nvPr/>
        </p:nvPicPr>
        <p:blipFill>
          <a:blip r:embed="rId3"/>
          <a:stretch>
            <a:fillRect/>
          </a:stretch>
        </p:blipFill>
        <p:spPr>
          <a:xfrm>
            <a:off x="3977935" y="1844824"/>
            <a:ext cx="5139832" cy="318799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组合成员和控制器 </a:t>
            </a:r>
            <a:r>
              <a:rPr lang="en-US" altLang="zh-CN" smtClean="0"/>
              <a:t>(1/3)</a:t>
            </a:r>
            <a:endParaRPr lang="zh-CN" altLang="en-US" dirty="0" smtClean="0"/>
          </a:p>
        </p:txBody>
      </p:sp>
      <p:sp>
        <p:nvSpPr>
          <p:cNvPr id="3" name="内容占位符 2"/>
          <p:cNvSpPr>
            <a:spLocks noGrp="1"/>
          </p:cNvSpPr>
          <p:nvPr>
            <p:ph sz="half" idx="1"/>
          </p:nvPr>
        </p:nvSpPr>
        <p:spPr/>
        <p:txBody>
          <a:bodyPr>
            <a:normAutofit fontScale="92500"/>
          </a:bodyPr>
          <a:lstStyle/>
          <a:p>
            <a:r>
              <a:rPr lang="zh-CN" altLang="en-US" dirty="0" smtClean="0"/>
              <a:t>当参与组合的时候，根据服务在整个组合配置中的设置，它们可以实现不同的角色</a:t>
            </a:r>
            <a:endParaRPr lang="en-US" altLang="zh-CN" dirty="0" smtClean="0"/>
          </a:p>
          <a:p>
            <a:pPr lvl="1"/>
            <a:r>
              <a:rPr lang="zh-CN" altLang="en-US" dirty="0" smtClean="0"/>
              <a:t>组合控制器 </a:t>
            </a:r>
            <a:r>
              <a:rPr lang="en-US" altLang="zh-CN" dirty="0" smtClean="0"/>
              <a:t>(Composition Controller) </a:t>
            </a:r>
            <a:r>
              <a:rPr lang="zh-CN" altLang="en-US" dirty="0" smtClean="0"/>
              <a:t>位于组合层次结构的顶端，包含了调用其他服务能力的逻辑</a:t>
            </a:r>
            <a:endParaRPr lang="en-US" altLang="zh-CN" dirty="0" smtClean="0"/>
          </a:p>
          <a:p>
            <a:pPr lvl="1"/>
            <a:r>
              <a:rPr lang="zh-CN" altLang="en-US" dirty="0" smtClean="0"/>
              <a:t>组合成员 </a:t>
            </a:r>
            <a:r>
              <a:rPr lang="en-US" altLang="zh-CN" dirty="0" smtClean="0"/>
              <a:t>(Composition Member) </a:t>
            </a:r>
            <a:r>
              <a:rPr lang="zh-CN" altLang="en-US" dirty="0" smtClean="0"/>
              <a:t>代表一个被其他服务所包含的服务，他的能力被另一个服务调用</a:t>
            </a:r>
            <a:endParaRPr lang="zh-CN" altLang="en-US" dirty="0"/>
          </a:p>
        </p:txBody>
      </p:sp>
      <p:sp>
        <p:nvSpPr>
          <p:cNvPr id="38916"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4964C24-167C-47AE-863D-507BB8D6C345}" type="slidenum">
              <a:rPr lang="en-US" altLang="zh-CN" smtClean="0"/>
              <a:pPr/>
              <a:t>28</a:t>
            </a:fld>
            <a:endParaRPr lang="en-US" altLang="zh-CN" smtClean="0"/>
          </a:p>
        </p:txBody>
      </p:sp>
      <p:pic>
        <p:nvPicPr>
          <p:cNvPr id="2" name="图片 1"/>
          <p:cNvPicPr>
            <a:picLocks noChangeAspect="1"/>
          </p:cNvPicPr>
          <p:nvPr/>
        </p:nvPicPr>
        <p:blipFill>
          <a:blip r:embed="rId3"/>
          <a:stretch>
            <a:fillRect/>
          </a:stretch>
        </p:blipFill>
        <p:spPr>
          <a:xfrm>
            <a:off x="4533900" y="1781747"/>
            <a:ext cx="4565961" cy="3705398"/>
          </a:xfrm>
          <a:prstGeom prst="rect">
            <a:avLst/>
          </a:prstGeom>
        </p:spPr>
      </p:pic>
      <p:sp>
        <p:nvSpPr>
          <p:cNvPr id="5" name="矩形 4"/>
          <p:cNvSpPr/>
          <p:nvPr/>
        </p:nvSpPr>
        <p:spPr>
          <a:xfrm>
            <a:off x="5004048" y="5558636"/>
            <a:ext cx="3888432" cy="830997"/>
          </a:xfrm>
          <a:prstGeom prst="rect">
            <a:avLst/>
          </a:prstGeom>
        </p:spPr>
        <p:txBody>
          <a:bodyPr wrap="square">
            <a:spAutoFit/>
          </a:bodyPr>
          <a:lstStyle/>
          <a:p>
            <a:r>
              <a:rPr lang="en-US" altLang="zh-CN" sz="1600" dirty="0"/>
              <a:t>Services assume composition roles based on how their individual capabilities participate within </a:t>
            </a:r>
            <a:r>
              <a:rPr lang="en-US" altLang="zh-CN" sz="1600" dirty="0" smtClean="0"/>
              <a:t>the composition</a:t>
            </a:r>
            <a:r>
              <a:rPr lang="en-US" altLang="zh-CN" sz="1600" dirty="0"/>
              <a:t>.</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smtClean="0"/>
              <a:t>组合成员和控制器 </a:t>
            </a:r>
            <a:r>
              <a:rPr lang="en-US" altLang="zh-CN" dirty="0" smtClean="0"/>
              <a:t>(2/3)</a:t>
            </a:r>
            <a:endParaRPr lang="zh-CN" altLang="en-US" dirty="0" smtClean="0"/>
          </a:p>
        </p:txBody>
      </p:sp>
      <p:sp>
        <p:nvSpPr>
          <p:cNvPr id="39939" name="内容占位符 2"/>
          <p:cNvSpPr>
            <a:spLocks noGrp="1"/>
          </p:cNvSpPr>
          <p:nvPr>
            <p:ph sz="half" idx="1"/>
          </p:nvPr>
        </p:nvSpPr>
        <p:spPr>
          <a:xfrm>
            <a:off x="5724128" y="1484784"/>
            <a:ext cx="3106688" cy="4530725"/>
          </a:xfrm>
        </p:spPr>
        <p:txBody>
          <a:bodyPr anchor="ctr">
            <a:normAutofit/>
          </a:bodyPr>
          <a:lstStyle/>
          <a:p>
            <a:r>
              <a:rPr lang="zh-CN" altLang="en-US" sz="2400" dirty="0" smtClean="0"/>
              <a:t>一个组合成员也许还会包含其他的组合成员，而这些成员同样还可以包含其他的组合成员</a:t>
            </a:r>
            <a:endParaRPr lang="en-US" altLang="zh-CN" sz="2400" dirty="0" smtClean="0"/>
          </a:p>
          <a:p>
            <a:r>
              <a:rPr lang="zh-CN" altLang="en-US" sz="2400" dirty="0" smtClean="0"/>
              <a:t>包含其他服务的组合成员可以进一步被称为子控制器</a:t>
            </a:r>
            <a:r>
              <a:rPr lang="en-US" altLang="zh-CN" sz="2400" dirty="0" smtClean="0"/>
              <a:t>(sub-controllers) </a:t>
            </a:r>
            <a:endParaRPr lang="zh-CN" altLang="en-US" sz="2400" dirty="0" smtClean="0"/>
          </a:p>
        </p:txBody>
      </p:sp>
      <p:sp>
        <p:nvSpPr>
          <p:cNvPr id="39940"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55EAF49-19AF-4633-BF6A-D59B9E864A8A}" type="slidenum">
              <a:rPr lang="en-US" altLang="zh-CN" smtClean="0"/>
              <a:pPr/>
              <a:t>29</a:t>
            </a:fld>
            <a:endParaRPr lang="en-US" altLang="zh-CN" smtClean="0"/>
          </a:p>
        </p:txBody>
      </p:sp>
      <p:pic>
        <p:nvPicPr>
          <p:cNvPr id="6" name="图片 5"/>
          <p:cNvPicPr>
            <a:picLocks noChangeAspect="1"/>
          </p:cNvPicPr>
          <p:nvPr/>
        </p:nvPicPr>
        <p:blipFill>
          <a:blip r:embed="rId3"/>
          <a:stretch>
            <a:fillRect/>
          </a:stretch>
        </p:blipFill>
        <p:spPr>
          <a:xfrm>
            <a:off x="297541" y="1189416"/>
            <a:ext cx="4595522" cy="4826093"/>
          </a:xfrm>
          <a:prstGeom prst="rect">
            <a:avLst/>
          </a:prstGeom>
        </p:spPr>
      </p:pic>
      <p:sp>
        <p:nvSpPr>
          <p:cNvPr id="8" name="矩形 7"/>
          <p:cNvSpPr/>
          <p:nvPr/>
        </p:nvSpPr>
        <p:spPr>
          <a:xfrm>
            <a:off x="107504" y="6073463"/>
            <a:ext cx="5290975" cy="830997"/>
          </a:xfrm>
          <a:prstGeom prst="rect">
            <a:avLst/>
          </a:prstGeom>
        </p:spPr>
        <p:txBody>
          <a:bodyPr wrap="square">
            <a:spAutoFit/>
          </a:bodyPr>
          <a:lstStyle/>
          <a:p>
            <a:r>
              <a:rPr lang="en-US" altLang="zh-CN" sz="1600" dirty="0"/>
              <a:t>The same services from Composition A are reutilized as participants in a </a:t>
            </a:r>
            <a:r>
              <a:rPr lang="en-US" altLang="zh-CN" sz="1600" dirty="0" smtClean="0"/>
              <a:t>new composition. New </a:t>
            </a:r>
            <a:r>
              <a:rPr lang="en-US" altLang="zh-CN" sz="1600" dirty="0"/>
              <a:t>capabilities are now involved, which changes service composition roles</a:t>
            </a:r>
            <a:endParaRPr lang="zh-CN" alt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zh-CN" altLang="en-US" smtClean="0"/>
              <a:t>组合成员和控制器 </a:t>
            </a:r>
            <a:r>
              <a:rPr lang="en-US" altLang="zh-CN" smtClean="0"/>
              <a:t>(3/3)</a:t>
            </a:r>
            <a:endParaRPr lang="zh-CN" altLang="en-US" dirty="0" smtClean="0"/>
          </a:p>
        </p:txBody>
      </p:sp>
      <p:sp>
        <p:nvSpPr>
          <p:cNvPr id="3" name="内容占位符 2"/>
          <p:cNvSpPr>
            <a:spLocks noGrp="1"/>
          </p:cNvSpPr>
          <p:nvPr>
            <p:ph idx="1"/>
          </p:nvPr>
        </p:nvSpPr>
        <p:spPr/>
        <p:txBody>
          <a:bodyPr/>
          <a:lstStyle/>
          <a:p>
            <a:r>
              <a:rPr lang="zh-CN" altLang="en-US" dirty="0" smtClean="0"/>
              <a:t>服务组合实际上是服务能力组合，相对服务能力来说，服务的角色是暂时的</a:t>
            </a:r>
            <a:r>
              <a:rPr lang="en-US" altLang="zh-CN" dirty="0" smtClean="0"/>
              <a:t>…</a:t>
            </a:r>
          </a:p>
          <a:p>
            <a:pPr lvl="1"/>
            <a:r>
              <a:rPr lang="zh-CN" altLang="en-US" dirty="0" smtClean="0"/>
              <a:t>组合控制器能力 </a:t>
            </a:r>
            <a:r>
              <a:rPr lang="en-US" altLang="zh-CN" dirty="0" smtClean="0"/>
              <a:t>(composition controller capability) </a:t>
            </a:r>
          </a:p>
          <a:p>
            <a:pPr lvl="1"/>
            <a:r>
              <a:rPr lang="zh-CN" altLang="en-US" dirty="0" smtClean="0"/>
              <a:t>组合成员能力 </a:t>
            </a:r>
            <a:r>
              <a:rPr lang="en-US" altLang="zh-CN" dirty="0" smtClean="0"/>
              <a:t>(composition member capability)</a:t>
            </a:r>
          </a:p>
          <a:p>
            <a:r>
              <a:rPr lang="zh-CN" altLang="en-US" dirty="0" smtClean="0"/>
              <a:t>指定控制器 </a:t>
            </a:r>
            <a:r>
              <a:rPr lang="en-US" altLang="zh-CN" dirty="0" smtClean="0"/>
              <a:t>(designated controller)</a:t>
            </a:r>
            <a:r>
              <a:rPr lang="zh-CN" altLang="en-US" dirty="0" smtClean="0"/>
              <a:t>，作为任务服务，只有一个开启业务流程（涉及多个其他服务的组合）的能力，只能承担控制器的角色</a:t>
            </a:r>
            <a:endParaRPr lang="en-US" altLang="zh-CN" dirty="0" smtClean="0"/>
          </a:p>
        </p:txBody>
      </p:sp>
      <p:sp>
        <p:nvSpPr>
          <p:cNvPr id="4096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D53B4110-0FD5-4C38-84D8-F0B92459E640}" type="slidenum">
              <a:rPr lang="en-US" altLang="zh-CN" smtClean="0"/>
              <a:pPr/>
              <a:t>30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dirty="0"/>
              <a:t>服务</a:t>
            </a:r>
            <a:r>
              <a:rPr lang="zh-CN" altLang="en-US" dirty="0" smtClean="0"/>
              <a:t>组合的质量度量</a:t>
            </a:r>
          </a:p>
        </p:txBody>
      </p:sp>
      <p:sp>
        <p:nvSpPr>
          <p:cNvPr id="3" name="内容占位符 2"/>
          <p:cNvSpPr>
            <a:spLocks noGrp="1"/>
          </p:cNvSpPr>
          <p:nvPr>
            <p:ph sz="half" idx="1"/>
          </p:nvPr>
        </p:nvSpPr>
        <p:spPr>
          <a:xfrm>
            <a:off x="457200" y="1600200"/>
            <a:ext cx="2746648" cy="4530725"/>
          </a:xfrm>
        </p:spPr>
        <p:txBody>
          <a:bodyPr anchor="ctr">
            <a:noAutofit/>
          </a:bodyPr>
          <a:lstStyle/>
          <a:p>
            <a:pPr>
              <a:defRPr/>
            </a:pPr>
            <a:r>
              <a:rPr lang="zh-CN" altLang="en-US" dirty="0" smtClean="0"/>
              <a:t>由组合控制</a:t>
            </a:r>
            <a:r>
              <a:rPr lang="zh-CN" altLang="en-US" dirty="0"/>
              <a:t>器</a:t>
            </a:r>
            <a:r>
              <a:rPr lang="zh-CN" altLang="en-US" dirty="0" smtClean="0"/>
              <a:t>提所供</a:t>
            </a:r>
            <a:r>
              <a:rPr lang="zh-CN" altLang="en-US" dirty="0"/>
              <a:t>的服务</a:t>
            </a:r>
            <a:r>
              <a:rPr lang="zh-CN" altLang="en-US" dirty="0" smtClean="0"/>
              <a:t>质量，由所有参与了该组合的成员可组合的集体度量所决定</a:t>
            </a:r>
            <a:endParaRPr lang="en-US" altLang="zh-CN" dirty="0" smtClean="0"/>
          </a:p>
        </p:txBody>
      </p:sp>
      <p:sp>
        <p:nvSpPr>
          <p:cNvPr id="4198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6E028A4-CC07-4870-8FF5-A32247FC2C8C}" type="slidenum">
              <a:rPr lang="en-US" altLang="zh-CN" smtClean="0"/>
              <a:pPr eaLnBrk="1" hangingPunct="1"/>
              <a:t>31</a:t>
            </a:fld>
            <a:endParaRPr lang="en-US" altLang="zh-CN" smtClean="0"/>
          </a:p>
        </p:txBody>
      </p:sp>
      <p:sp>
        <p:nvSpPr>
          <p:cNvPr id="7" name="矩形 6"/>
          <p:cNvSpPr/>
          <p:nvPr/>
        </p:nvSpPr>
        <p:spPr>
          <a:xfrm>
            <a:off x="3738188" y="5158102"/>
            <a:ext cx="4572000" cy="1323439"/>
          </a:xfrm>
          <a:prstGeom prst="rect">
            <a:avLst/>
          </a:prstGeom>
        </p:spPr>
        <p:txBody>
          <a:bodyPr>
            <a:spAutoFit/>
          </a:bodyPr>
          <a:lstStyle/>
          <a:p>
            <a:r>
              <a:rPr lang="en-US" altLang="zh-CN" sz="1600" dirty="0"/>
              <a:t>Even though Capability A’s native autonomy is high, its overall autonomy (the autonomy of the</a:t>
            </a:r>
          </a:p>
          <a:p>
            <a:r>
              <a:rPr lang="en-US" altLang="zh-CN" sz="1600" dirty="0"/>
              <a:t>composition it encapsulates) is lower due to the fact that the autonomy level of one of its </a:t>
            </a:r>
            <a:r>
              <a:rPr lang="en-US" altLang="zh-CN" sz="1600" dirty="0" smtClean="0"/>
              <a:t>composed service </a:t>
            </a:r>
            <a:r>
              <a:rPr lang="en-US" altLang="zh-CN" sz="1600" dirty="0"/>
              <a:t>capabilities is low</a:t>
            </a:r>
            <a:endParaRPr lang="zh-CN" altLang="en-US" sz="1600" dirty="0"/>
          </a:p>
        </p:txBody>
      </p:sp>
      <p:pic>
        <p:nvPicPr>
          <p:cNvPr id="8" name="图片 7"/>
          <p:cNvPicPr>
            <a:picLocks noChangeAspect="1"/>
          </p:cNvPicPr>
          <p:nvPr/>
        </p:nvPicPr>
        <p:blipFill>
          <a:blip r:embed="rId3"/>
          <a:stretch>
            <a:fillRect/>
          </a:stretch>
        </p:blipFill>
        <p:spPr>
          <a:xfrm>
            <a:off x="3707904" y="1268760"/>
            <a:ext cx="4632568" cy="373519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smtClean="0"/>
              <a:t>服务组合和</a:t>
            </a:r>
            <a:r>
              <a:rPr lang="en-US" altLang="zh-CN" smtClean="0"/>
              <a:t>Web </a:t>
            </a:r>
            <a:r>
              <a:rPr lang="zh-CN" altLang="en-US" smtClean="0"/>
              <a:t>服务</a:t>
            </a:r>
          </a:p>
        </p:txBody>
      </p:sp>
      <p:sp>
        <p:nvSpPr>
          <p:cNvPr id="43011" name="内容占位符 5"/>
          <p:cNvSpPr>
            <a:spLocks noGrp="1"/>
          </p:cNvSpPr>
          <p:nvPr>
            <p:ph idx="1"/>
          </p:nvPr>
        </p:nvSpPr>
        <p:spPr/>
        <p:txBody>
          <a:bodyPr/>
          <a:lstStyle/>
          <a:p>
            <a:pPr>
              <a:lnSpc>
                <a:spcPct val="150000"/>
              </a:lnSpc>
            </a:pPr>
            <a:r>
              <a:rPr lang="zh-CN" altLang="en-US" dirty="0" smtClean="0"/>
              <a:t>通过</a:t>
            </a:r>
            <a:r>
              <a:rPr lang="en-US" altLang="zh-CN" dirty="0" smtClean="0"/>
              <a:t>Web </a:t>
            </a:r>
            <a:r>
              <a:rPr lang="zh-CN" altLang="en-US" dirty="0" smtClean="0"/>
              <a:t>服务的调用建立可组合性</a:t>
            </a:r>
            <a:endParaRPr lang="en-US" altLang="zh-CN" dirty="0" smtClean="0"/>
          </a:p>
          <a:p>
            <a:pPr>
              <a:lnSpc>
                <a:spcPct val="150000"/>
              </a:lnSpc>
            </a:pPr>
            <a:r>
              <a:rPr lang="zh-CN" altLang="en-US" dirty="0" smtClean="0"/>
              <a:t>组合的</a:t>
            </a:r>
            <a:r>
              <a:rPr lang="zh-CN" altLang="en-US" dirty="0"/>
              <a:t>质量</a:t>
            </a:r>
            <a:r>
              <a:rPr lang="zh-CN" altLang="en-US" dirty="0" smtClean="0"/>
              <a:t>由设计原则加以保证</a:t>
            </a:r>
          </a:p>
        </p:txBody>
      </p:sp>
      <p:sp>
        <p:nvSpPr>
          <p:cNvPr id="43012"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A666086-D863-4185-9F89-06E8E9884BC4}" type="slidenum">
              <a:rPr lang="en-US" altLang="zh-CN" smtClean="0"/>
              <a:pPr eaLnBrk="1" hangingPunct="1"/>
              <a:t>32</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5"/>
          <p:cNvSpPr>
            <a:spLocks noGrp="1"/>
          </p:cNvSpPr>
          <p:nvPr>
            <p:ph type="title"/>
          </p:nvPr>
        </p:nvSpPr>
        <p:spPr/>
        <p:txBody>
          <a:bodyPr/>
          <a:lstStyle/>
          <a:p>
            <a:r>
              <a:rPr lang="zh-CN" altLang="en-US" smtClean="0"/>
              <a:t>服务活动</a:t>
            </a:r>
          </a:p>
        </p:txBody>
      </p:sp>
      <p:sp>
        <p:nvSpPr>
          <p:cNvPr id="44035" name="内容占位符 6"/>
          <p:cNvSpPr>
            <a:spLocks noGrp="1"/>
          </p:cNvSpPr>
          <p:nvPr>
            <p:ph idx="1"/>
          </p:nvPr>
        </p:nvSpPr>
        <p:spPr>
          <a:xfrm>
            <a:off x="457200" y="1052737"/>
            <a:ext cx="8229600" cy="1440159"/>
          </a:xfrm>
        </p:spPr>
        <p:txBody>
          <a:bodyPr/>
          <a:lstStyle/>
          <a:p>
            <a:r>
              <a:rPr lang="zh-CN" altLang="en-US" sz="2400" dirty="0" smtClean="0"/>
              <a:t>服务活动 </a:t>
            </a:r>
            <a:r>
              <a:rPr lang="en-US" altLang="zh-CN" sz="2400" dirty="0" smtClean="0"/>
              <a:t>(service activity)</a:t>
            </a:r>
            <a:r>
              <a:rPr lang="zh-CN" altLang="en-US" sz="2400" dirty="0" smtClean="0"/>
              <a:t>，服务间的消息路径映射</a:t>
            </a:r>
            <a:endParaRPr lang="en-US" altLang="zh-CN" sz="2400" dirty="0" smtClean="0"/>
          </a:p>
          <a:p>
            <a:r>
              <a:rPr lang="zh-CN" altLang="en-US" sz="2400" dirty="0" smtClean="0"/>
              <a:t>基本 </a:t>
            </a:r>
            <a:r>
              <a:rPr lang="en-US" altLang="zh-CN" sz="2400" dirty="0" smtClean="0"/>
              <a:t>(primitive) </a:t>
            </a:r>
            <a:r>
              <a:rPr lang="zh-CN" altLang="en-US" sz="2400" dirty="0" smtClean="0"/>
              <a:t>服务活动</a:t>
            </a:r>
            <a:r>
              <a:rPr lang="en-US" altLang="zh-CN" sz="2400" dirty="0" smtClean="0"/>
              <a:t> vs.</a:t>
            </a:r>
            <a:r>
              <a:rPr lang="zh-CN" altLang="en-US" sz="2400" dirty="0" smtClean="0"/>
              <a:t>复杂 </a:t>
            </a:r>
            <a:r>
              <a:rPr lang="en-US" altLang="zh-CN" sz="2400" dirty="0" smtClean="0"/>
              <a:t>(complex) </a:t>
            </a:r>
            <a:r>
              <a:rPr lang="zh-CN" altLang="en-US" sz="2400" dirty="0" smtClean="0"/>
              <a:t>服务活动</a:t>
            </a:r>
          </a:p>
        </p:txBody>
      </p:sp>
      <p:sp>
        <p:nvSpPr>
          <p:cNvPr id="4403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C777CDB-DC23-4B35-8BD7-6970D221CBF8}" type="slidenum">
              <a:rPr lang="en-US" altLang="zh-CN" smtClean="0"/>
              <a:pPr eaLnBrk="1" hangingPunct="1"/>
              <a:t>33</a:t>
            </a:fld>
            <a:endParaRPr lang="en-US" altLang="zh-CN" smtClean="0"/>
          </a:p>
        </p:txBody>
      </p:sp>
      <p:pic>
        <p:nvPicPr>
          <p:cNvPr id="2" name="图片 1"/>
          <p:cNvPicPr>
            <a:picLocks noChangeAspect="1"/>
          </p:cNvPicPr>
          <p:nvPr/>
        </p:nvPicPr>
        <p:blipFill>
          <a:blip r:embed="rId3"/>
          <a:stretch>
            <a:fillRect/>
          </a:stretch>
        </p:blipFill>
        <p:spPr>
          <a:xfrm>
            <a:off x="2123728" y="2955160"/>
            <a:ext cx="5276850" cy="2028825"/>
          </a:xfrm>
          <a:prstGeom prst="rect">
            <a:avLst/>
          </a:prstGeom>
        </p:spPr>
      </p:pic>
      <p:sp>
        <p:nvSpPr>
          <p:cNvPr id="4" name="矩形 3"/>
          <p:cNvSpPr/>
          <p:nvPr/>
        </p:nvSpPr>
        <p:spPr>
          <a:xfrm>
            <a:off x="1922562" y="5301208"/>
            <a:ext cx="5222676" cy="830997"/>
          </a:xfrm>
          <a:prstGeom prst="rect">
            <a:avLst/>
          </a:prstGeom>
        </p:spPr>
        <p:txBody>
          <a:bodyPr wrap="square">
            <a:spAutoFit/>
          </a:bodyPr>
          <a:lstStyle/>
          <a:p>
            <a:r>
              <a:rPr lang="en-US" altLang="zh-CN" sz="1600" dirty="0"/>
              <a:t>An example of a primitive service activity. The consumer program interacts </a:t>
            </a:r>
            <a:r>
              <a:rPr lang="en-US" altLang="zh-CN" sz="1600" dirty="0" smtClean="0"/>
              <a:t>with Capability </a:t>
            </a:r>
            <a:r>
              <a:rPr lang="en-US" altLang="zh-CN" sz="1600" dirty="0"/>
              <a:t>A of Service A to carry out a simple point-to-point data exchange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5"/>
          <p:cNvSpPr>
            <a:spLocks noGrp="1"/>
          </p:cNvSpPr>
          <p:nvPr>
            <p:ph type="title"/>
          </p:nvPr>
        </p:nvSpPr>
        <p:spPr/>
        <p:txBody>
          <a:bodyPr/>
          <a:lstStyle/>
          <a:p>
            <a:r>
              <a:rPr lang="zh-CN" altLang="en-US" smtClean="0"/>
              <a:t>服务活动</a:t>
            </a:r>
          </a:p>
        </p:txBody>
      </p:sp>
      <p:sp>
        <p:nvSpPr>
          <p:cNvPr id="44035" name="内容占位符 6"/>
          <p:cNvSpPr>
            <a:spLocks noGrp="1"/>
          </p:cNvSpPr>
          <p:nvPr>
            <p:ph idx="1"/>
          </p:nvPr>
        </p:nvSpPr>
        <p:spPr>
          <a:xfrm>
            <a:off x="457200" y="1052737"/>
            <a:ext cx="8229600" cy="1440159"/>
          </a:xfrm>
        </p:spPr>
        <p:txBody>
          <a:bodyPr/>
          <a:lstStyle/>
          <a:p>
            <a:r>
              <a:rPr lang="zh-CN" altLang="en-US" sz="2400" dirty="0"/>
              <a:t>服务</a:t>
            </a:r>
            <a:r>
              <a:rPr lang="zh-CN" altLang="en-US" sz="2400" dirty="0" smtClean="0"/>
              <a:t>活动 </a:t>
            </a:r>
            <a:r>
              <a:rPr lang="en-US" altLang="zh-CN" sz="2400" dirty="0" smtClean="0"/>
              <a:t>(</a:t>
            </a:r>
            <a:r>
              <a:rPr lang="en-US" altLang="zh-CN" sz="2400" dirty="0"/>
              <a:t>service activity)</a:t>
            </a:r>
            <a:r>
              <a:rPr lang="zh-CN" altLang="en-US" sz="2400" dirty="0"/>
              <a:t>，服务间的消息路径映射</a:t>
            </a:r>
            <a:endParaRPr lang="en-US" altLang="zh-CN" sz="2400" dirty="0"/>
          </a:p>
          <a:p>
            <a:r>
              <a:rPr lang="zh-CN" altLang="en-US" sz="2400" dirty="0" smtClean="0"/>
              <a:t>基本 </a:t>
            </a:r>
            <a:r>
              <a:rPr lang="en-US" altLang="zh-CN" sz="2400" dirty="0" smtClean="0"/>
              <a:t>(</a:t>
            </a:r>
            <a:r>
              <a:rPr lang="en-US" altLang="zh-CN" sz="2400" dirty="0"/>
              <a:t>primitive</a:t>
            </a:r>
            <a:r>
              <a:rPr lang="en-US" altLang="zh-CN" sz="2400" dirty="0" smtClean="0"/>
              <a:t>) </a:t>
            </a:r>
            <a:r>
              <a:rPr lang="zh-CN" altLang="en-US" sz="2400" dirty="0" smtClean="0"/>
              <a:t>服务</a:t>
            </a:r>
            <a:r>
              <a:rPr lang="zh-CN" altLang="en-US" sz="2400" dirty="0"/>
              <a:t>活动</a:t>
            </a:r>
            <a:r>
              <a:rPr lang="en-US" altLang="zh-CN" sz="2400" dirty="0"/>
              <a:t> vs.</a:t>
            </a:r>
            <a:r>
              <a:rPr lang="zh-CN" altLang="en-US" sz="2400" dirty="0" smtClean="0"/>
              <a:t>复杂 </a:t>
            </a:r>
            <a:r>
              <a:rPr lang="en-US" altLang="zh-CN" sz="2400" dirty="0" smtClean="0"/>
              <a:t>(</a:t>
            </a:r>
            <a:r>
              <a:rPr lang="en-US" altLang="zh-CN" sz="2400" dirty="0"/>
              <a:t>complex) </a:t>
            </a:r>
            <a:r>
              <a:rPr lang="zh-CN" altLang="en-US" sz="2400" dirty="0"/>
              <a:t>服务活动</a:t>
            </a:r>
          </a:p>
        </p:txBody>
      </p:sp>
      <p:sp>
        <p:nvSpPr>
          <p:cNvPr id="4403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C777CDB-DC23-4B35-8BD7-6970D221CBF8}" type="slidenum">
              <a:rPr lang="en-US" altLang="zh-CN" smtClean="0"/>
              <a:pPr eaLnBrk="1" hangingPunct="1"/>
              <a:t>34</a:t>
            </a:fld>
            <a:endParaRPr lang="en-US" altLang="zh-CN" smtClean="0"/>
          </a:p>
        </p:txBody>
      </p:sp>
      <p:pic>
        <p:nvPicPr>
          <p:cNvPr id="2" name="图片 1"/>
          <p:cNvPicPr>
            <a:picLocks noChangeAspect="1"/>
          </p:cNvPicPr>
          <p:nvPr/>
        </p:nvPicPr>
        <p:blipFill>
          <a:blip r:embed="rId3"/>
          <a:stretch>
            <a:fillRect/>
          </a:stretch>
        </p:blipFill>
        <p:spPr>
          <a:xfrm>
            <a:off x="1979712" y="2334649"/>
            <a:ext cx="4731618" cy="3625707"/>
          </a:xfrm>
          <a:prstGeom prst="rect">
            <a:avLst/>
          </a:prstGeom>
        </p:spPr>
      </p:pic>
      <p:sp>
        <p:nvSpPr>
          <p:cNvPr id="4" name="矩形 3"/>
          <p:cNvSpPr/>
          <p:nvPr/>
        </p:nvSpPr>
        <p:spPr>
          <a:xfrm>
            <a:off x="1511660" y="5960356"/>
            <a:ext cx="6120680" cy="584775"/>
          </a:xfrm>
          <a:prstGeom prst="rect">
            <a:avLst/>
          </a:prstGeom>
        </p:spPr>
        <p:txBody>
          <a:bodyPr wrap="square">
            <a:spAutoFit/>
          </a:bodyPr>
          <a:lstStyle/>
          <a:p>
            <a:r>
              <a:rPr lang="en-US" altLang="zh-CN" sz="1600" dirty="0"/>
              <a:t>A complex service activity spanning a service composition. The numbered arrows represent the </a:t>
            </a:r>
            <a:r>
              <a:rPr lang="en-US" altLang="zh-CN" sz="1600" dirty="0" smtClean="0"/>
              <a:t>activity sequence</a:t>
            </a:r>
            <a:endParaRPr lang="zh-CN" altLang="en-US" sz="1600" dirty="0"/>
          </a:p>
        </p:txBody>
      </p:sp>
    </p:spTree>
    <p:extLst>
      <p:ext uri="{BB962C8B-B14F-4D97-AF65-F5344CB8AC3E}">
        <p14:creationId xmlns:p14="http://schemas.microsoft.com/office/powerpoint/2010/main" val="3776870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5"/>
          <p:cNvSpPr>
            <a:spLocks noGrp="1"/>
          </p:cNvSpPr>
          <p:nvPr>
            <p:ph type="title"/>
          </p:nvPr>
        </p:nvSpPr>
        <p:spPr/>
        <p:txBody>
          <a:bodyPr/>
          <a:lstStyle/>
          <a:p>
            <a:r>
              <a:rPr lang="zh-CN" altLang="en-US" dirty="0"/>
              <a:t>组合启动器</a:t>
            </a:r>
            <a:endParaRPr lang="zh-CN" altLang="en-US" dirty="0" smtClean="0"/>
          </a:p>
        </p:txBody>
      </p:sp>
      <p:sp>
        <p:nvSpPr>
          <p:cNvPr id="44035" name="内容占位符 6"/>
          <p:cNvSpPr>
            <a:spLocks noGrp="1"/>
          </p:cNvSpPr>
          <p:nvPr>
            <p:ph idx="1"/>
          </p:nvPr>
        </p:nvSpPr>
        <p:spPr>
          <a:xfrm>
            <a:off x="457200" y="1052737"/>
            <a:ext cx="8229600" cy="1440159"/>
          </a:xfrm>
        </p:spPr>
        <p:txBody>
          <a:bodyPr/>
          <a:lstStyle/>
          <a:p>
            <a:r>
              <a:rPr lang="zh-CN" altLang="en-US" sz="2400" dirty="0" smtClean="0"/>
              <a:t>服务组合的参与者和控制器构成服务组合边界</a:t>
            </a:r>
            <a:endParaRPr lang="en-US" altLang="zh-CN" sz="2400" dirty="0" smtClean="0"/>
          </a:p>
          <a:p>
            <a:r>
              <a:rPr lang="zh-CN" altLang="en-US" sz="2400" dirty="0"/>
              <a:t>边界外的组合</a:t>
            </a:r>
            <a:r>
              <a:rPr lang="zh-CN" altLang="en-US" sz="2400" dirty="0" smtClean="0"/>
              <a:t>启动器 </a:t>
            </a:r>
            <a:r>
              <a:rPr lang="en-US" altLang="zh-CN" sz="2400" dirty="0" smtClean="0"/>
              <a:t>(</a:t>
            </a:r>
            <a:r>
              <a:rPr lang="en-US" altLang="zh-CN" sz="2400" dirty="0"/>
              <a:t>composition </a:t>
            </a:r>
            <a:r>
              <a:rPr lang="en-US" altLang="zh-CN" sz="2400" dirty="0" smtClean="0"/>
              <a:t>initiator) </a:t>
            </a:r>
            <a:r>
              <a:rPr lang="zh-CN" altLang="en-US" sz="2400" dirty="0" smtClean="0"/>
              <a:t>负责</a:t>
            </a:r>
            <a:r>
              <a:rPr lang="zh-CN" altLang="en-US" sz="2400" dirty="0"/>
              <a:t>激活组合控制器以启动服务</a:t>
            </a:r>
            <a:r>
              <a:rPr lang="zh-CN" altLang="en-US" sz="2400" dirty="0" smtClean="0"/>
              <a:t>组合</a:t>
            </a:r>
            <a:endParaRPr lang="zh-CN" altLang="en-US" sz="2400" dirty="0"/>
          </a:p>
        </p:txBody>
      </p:sp>
      <p:sp>
        <p:nvSpPr>
          <p:cNvPr id="4403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C777CDB-DC23-4B35-8BD7-6970D221CBF8}" type="slidenum">
              <a:rPr lang="en-US" altLang="zh-CN" smtClean="0"/>
              <a:pPr eaLnBrk="1" hangingPunct="1"/>
              <a:t>35</a:t>
            </a:fld>
            <a:endParaRPr lang="en-US" altLang="zh-CN" smtClean="0"/>
          </a:p>
        </p:txBody>
      </p:sp>
      <p:pic>
        <p:nvPicPr>
          <p:cNvPr id="2" name="图片 1"/>
          <p:cNvPicPr>
            <a:picLocks noChangeAspect="1"/>
          </p:cNvPicPr>
          <p:nvPr/>
        </p:nvPicPr>
        <p:blipFill>
          <a:blip r:embed="rId3"/>
          <a:stretch>
            <a:fillRect/>
          </a:stretch>
        </p:blipFill>
        <p:spPr>
          <a:xfrm>
            <a:off x="2123728" y="2664156"/>
            <a:ext cx="4731618" cy="3625707"/>
          </a:xfrm>
          <a:prstGeom prst="rect">
            <a:avLst/>
          </a:prstGeom>
        </p:spPr>
      </p:pic>
      <p:sp>
        <p:nvSpPr>
          <p:cNvPr id="13" name="剪去单角的矩形 12"/>
          <p:cNvSpPr/>
          <p:nvPr/>
        </p:nvSpPr>
        <p:spPr>
          <a:xfrm rot="16200000">
            <a:off x="2676683" y="2111201"/>
            <a:ext cx="3625707" cy="4731618"/>
          </a:xfrm>
          <a:prstGeom prst="snip1Rect">
            <a:avLst>
              <a:gd name="adj" fmla="val 50000"/>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855346" y="5917893"/>
            <a:ext cx="1605086" cy="369332"/>
          </a:xfrm>
          <a:prstGeom prst="rect">
            <a:avLst/>
          </a:prstGeom>
          <a:noFill/>
        </p:spPr>
        <p:txBody>
          <a:bodyPr wrap="square" rtlCol="0">
            <a:spAutoFit/>
          </a:bodyPr>
          <a:lstStyle/>
          <a:p>
            <a:r>
              <a:rPr lang="zh-CN" altLang="en-US" dirty="0" smtClean="0"/>
              <a:t>服务组合边界</a:t>
            </a:r>
            <a:endParaRPr lang="zh-CN" altLang="en-US" dirty="0"/>
          </a:p>
        </p:txBody>
      </p:sp>
      <p:sp>
        <p:nvSpPr>
          <p:cNvPr id="18" name="Line 11"/>
          <p:cNvSpPr>
            <a:spLocks noChangeShapeType="1"/>
          </p:cNvSpPr>
          <p:nvPr/>
        </p:nvSpPr>
        <p:spPr bwMode="auto">
          <a:xfrm flipV="1">
            <a:off x="1187623" y="3501008"/>
            <a:ext cx="1296143" cy="9760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Text Box 12"/>
          <p:cNvSpPr txBox="1">
            <a:spLocks noChangeArrowheads="1"/>
          </p:cNvSpPr>
          <p:nvPr/>
        </p:nvSpPr>
        <p:spPr bwMode="auto">
          <a:xfrm>
            <a:off x="457200" y="4477009"/>
            <a:ext cx="2303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smtClean="0"/>
              <a:t>组合启动器</a:t>
            </a:r>
            <a:endParaRPr lang="en-US" altLang="zh-CN" dirty="0"/>
          </a:p>
        </p:txBody>
      </p:sp>
    </p:spTree>
    <p:extLst>
      <p:ext uri="{BB962C8B-B14F-4D97-AF65-F5344CB8AC3E}">
        <p14:creationId xmlns:p14="http://schemas.microsoft.com/office/powerpoint/2010/main" val="3501754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linds(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8" grpId="0" animBg="1"/>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5"/>
          <p:cNvSpPr>
            <a:spLocks noGrp="1"/>
          </p:cNvSpPr>
          <p:nvPr>
            <p:ph type="title"/>
          </p:nvPr>
        </p:nvSpPr>
        <p:spPr/>
        <p:txBody>
          <a:bodyPr/>
          <a:lstStyle/>
          <a:p>
            <a:r>
              <a:rPr lang="zh-CN" altLang="en-US" smtClean="0"/>
              <a:t>服务库存演化的阶段（</a:t>
            </a:r>
            <a:r>
              <a:rPr lang="en-US" altLang="zh-CN" smtClean="0"/>
              <a:t>1/3</a:t>
            </a:r>
            <a:r>
              <a:rPr lang="zh-CN" altLang="en-US" smtClean="0"/>
              <a:t>）</a:t>
            </a:r>
          </a:p>
        </p:txBody>
      </p:sp>
      <p:sp>
        <p:nvSpPr>
          <p:cNvPr id="48132"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A8ECB04-21D1-46D3-AEDB-BEABF6229B4C}" type="slidenum">
              <a:rPr lang="en-US" altLang="zh-CN" smtClean="0"/>
              <a:pPr eaLnBrk="1" hangingPunct="1"/>
              <a:t>36</a:t>
            </a:fld>
            <a:endParaRPr lang="en-US" altLang="zh-CN" smtClean="0"/>
          </a:p>
        </p:txBody>
      </p:sp>
      <p:pic>
        <p:nvPicPr>
          <p:cNvPr id="2" name="图片 1"/>
          <p:cNvPicPr>
            <a:picLocks noChangeAspect="1"/>
          </p:cNvPicPr>
          <p:nvPr/>
        </p:nvPicPr>
        <p:blipFill>
          <a:blip r:embed="rId3"/>
          <a:stretch>
            <a:fillRect/>
          </a:stretch>
        </p:blipFill>
        <p:spPr>
          <a:xfrm>
            <a:off x="1403648" y="2132856"/>
            <a:ext cx="6096000" cy="3714750"/>
          </a:xfrm>
          <a:prstGeom prst="rect">
            <a:avLst/>
          </a:prstGeom>
        </p:spPr>
      </p:pic>
      <p:sp>
        <p:nvSpPr>
          <p:cNvPr id="4" name="矩形 3"/>
          <p:cNvSpPr/>
          <p:nvPr/>
        </p:nvSpPr>
        <p:spPr>
          <a:xfrm>
            <a:off x="1904492" y="5847606"/>
            <a:ext cx="5094312" cy="584775"/>
          </a:xfrm>
          <a:prstGeom prst="rect">
            <a:avLst/>
          </a:prstGeom>
        </p:spPr>
        <p:txBody>
          <a:bodyPr wrap="square">
            <a:spAutoFit/>
          </a:bodyPr>
          <a:lstStyle/>
          <a:p>
            <a:r>
              <a:rPr lang="en-US" altLang="zh-CN" sz="1600" dirty="0"/>
              <a:t>The service inventory is born, as the initial projects begin to deliver standardized services</a:t>
            </a:r>
            <a:endParaRPr lang="zh-CN" altLang="en-US" sz="1600" dirty="0"/>
          </a:p>
        </p:txBody>
      </p:sp>
      <p:sp>
        <p:nvSpPr>
          <p:cNvPr id="9" name="内容占位符 5"/>
          <p:cNvSpPr>
            <a:spLocks noGrp="1"/>
          </p:cNvSpPr>
          <p:nvPr>
            <p:ph idx="1"/>
          </p:nvPr>
        </p:nvSpPr>
        <p:spPr>
          <a:xfrm>
            <a:off x="457200" y="1052737"/>
            <a:ext cx="8229600" cy="936103"/>
          </a:xfrm>
        </p:spPr>
        <p:txBody>
          <a:bodyPr/>
          <a:lstStyle/>
          <a:p>
            <a:r>
              <a:rPr lang="zh-CN" altLang="en-US" dirty="0"/>
              <a:t>阶段</a:t>
            </a:r>
            <a:r>
              <a:rPr lang="en-US" altLang="zh-CN" dirty="0"/>
              <a:t>1 :</a:t>
            </a:r>
            <a:r>
              <a:rPr lang="zh-CN" altLang="en-US" dirty="0"/>
              <a:t>初始服务交付项目</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服务库存演化的阶段（</a:t>
            </a:r>
            <a:r>
              <a:rPr lang="en-US" altLang="zh-CN" smtClean="0"/>
              <a:t>2/3</a:t>
            </a:r>
            <a:r>
              <a:rPr lang="zh-CN" altLang="en-US" smtClean="0"/>
              <a:t>）</a:t>
            </a:r>
          </a:p>
        </p:txBody>
      </p:sp>
      <p:sp>
        <p:nvSpPr>
          <p:cNvPr id="49155" name="内容占位符 5"/>
          <p:cNvSpPr>
            <a:spLocks noGrp="1"/>
          </p:cNvSpPr>
          <p:nvPr>
            <p:ph idx="1"/>
          </p:nvPr>
        </p:nvSpPr>
        <p:spPr>
          <a:xfrm>
            <a:off x="457200" y="1052737"/>
            <a:ext cx="8229600" cy="936103"/>
          </a:xfrm>
        </p:spPr>
        <p:txBody>
          <a:bodyPr/>
          <a:lstStyle/>
          <a:p>
            <a:r>
              <a:rPr lang="zh-CN" altLang="en-US" dirty="0" smtClean="0"/>
              <a:t>阶段</a:t>
            </a:r>
            <a:r>
              <a:rPr lang="en-US" altLang="zh-CN" dirty="0" smtClean="0"/>
              <a:t>2: </a:t>
            </a:r>
            <a:r>
              <a:rPr lang="zh-CN" altLang="en-US" dirty="0" smtClean="0"/>
              <a:t>混合应用和成长中的服务库存</a:t>
            </a:r>
          </a:p>
        </p:txBody>
      </p:sp>
      <p:sp>
        <p:nvSpPr>
          <p:cNvPr id="4915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12CE64A-ADD5-4405-A367-A83B54FF355C}" type="slidenum">
              <a:rPr lang="en-US" altLang="zh-CN" smtClean="0"/>
              <a:pPr eaLnBrk="1" hangingPunct="1"/>
              <a:t>37</a:t>
            </a:fld>
            <a:endParaRPr lang="en-US" altLang="zh-CN" smtClean="0"/>
          </a:p>
        </p:txBody>
      </p:sp>
      <p:pic>
        <p:nvPicPr>
          <p:cNvPr id="2" name="图片 1"/>
          <p:cNvPicPr>
            <a:picLocks noChangeAspect="1"/>
          </p:cNvPicPr>
          <p:nvPr/>
        </p:nvPicPr>
        <p:blipFill>
          <a:blip r:embed="rId3"/>
          <a:stretch>
            <a:fillRect/>
          </a:stretch>
        </p:blipFill>
        <p:spPr>
          <a:xfrm>
            <a:off x="1404937" y="1844824"/>
            <a:ext cx="6257925" cy="3800475"/>
          </a:xfrm>
          <a:prstGeom prst="rect">
            <a:avLst/>
          </a:prstGeom>
        </p:spPr>
      </p:pic>
      <p:sp>
        <p:nvSpPr>
          <p:cNvPr id="4" name="矩形 3"/>
          <p:cNvSpPr/>
          <p:nvPr/>
        </p:nvSpPr>
        <p:spPr>
          <a:xfrm>
            <a:off x="1187624" y="5606389"/>
            <a:ext cx="7128792" cy="830997"/>
          </a:xfrm>
          <a:prstGeom prst="rect">
            <a:avLst/>
          </a:prstGeom>
        </p:spPr>
        <p:txBody>
          <a:bodyPr wrap="square">
            <a:spAutoFit/>
          </a:bodyPr>
          <a:lstStyle/>
          <a:p>
            <a:r>
              <a:rPr lang="en-US" altLang="zh-CN" sz="1600" dirty="0"/>
              <a:t>The quantity of services increases as do the options for service compositions. But, the service </a:t>
            </a:r>
            <a:r>
              <a:rPr lang="en-US" altLang="zh-CN" sz="1600" dirty="0" smtClean="0"/>
              <a:t>inventory is </a:t>
            </a:r>
            <a:r>
              <a:rPr lang="en-US" altLang="zh-CN" sz="1600" dirty="0"/>
              <a:t>still incomplete. (Red colored symbols represent existing agnostic services being reused </a:t>
            </a:r>
            <a:r>
              <a:rPr lang="en-US" altLang="zh-CN" sz="1600" dirty="0" smtClean="0"/>
              <a:t>as part </a:t>
            </a:r>
            <a:r>
              <a:rPr lang="en-US" altLang="zh-CN" sz="1600" dirty="0"/>
              <a:t>of new compositions.)</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smtClean="0"/>
              <a:t>服务库存演化的阶段（</a:t>
            </a:r>
            <a:r>
              <a:rPr lang="en-US" altLang="zh-CN" smtClean="0"/>
              <a:t>3/3</a:t>
            </a:r>
            <a:r>
              <a:rPr lang="zh-CN" altLang="en-US" smtClean="0"/>
              <a:t>）</a:t>
            </a:r>
          </a:p>
        </p:txBody>
      </p:sp>
      <p:sp>
        <p:nvSpPr>
          <p:cNvPr id="50180"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BC4ECAC-230D-4CA1-9884-EC7463A5F7A4}" type="slidenum">
              <a:rPr lang="en-US" altLang="zh-CN" smtClean="0"/>
              <a:pPr eaLnBrk="1" hangingPunct="1"/>
              <a:t>38</a:t>
            </a:fld>
            <a:endParaRPr lang="en-US" altLang="zh-CN" smtClean="0"/>
          </a:p>
        </p:txBody>
      </p:sp>
      <p:pic>
        <p:nvPicPr>
          <p:cNvPr id="2" name="图片 1"/>
          <p:cNvPicPr>
            <a:picLocks noChangeAspect="1"/>
          </p:cNvPicPr>
          <p:nvPr/>
        </p:nvPicPr>
        <p:blipFill>
          <a:blip r:embed="rId3"/>
          <a:stretch>
            <a:fillRect/>
          </a:stretch>
        </p:blipFill>
        <p:spPr>
          <a:xfrm>
            <a:off x="1443037" y="2008039"/>
            <a:ext cx="6257925" cy="3324225"/>
          </a:xfrm>
          <a:prstGeom prst="rect">
            <a:avLst/>
          </a:prstGeom>
        </p:spPr>
      </p:pic>
      <p:sp>
        <p:nvSpPr>
          <p:cNvPr id="4" name="矩形 3"/>
          <p:cNvSpPr/>
          <p:nvPr/>
        </p:nvSpPr>
        <p:spPr>
          <a:xfrm>
            <a:off x="1943706" y="5585069"/>
            <a:ext cx="5364597" cy="861774"/>
          </a:xfrm>
          <a:prstGeom prst="rect">
            <a:avLst/>
          </a:prstGeom>
        </p:spPr>
        <p:txBody>
          <a:bodyPr wrap="square">
            <a:spAutoFit/>
          </a:bodyPr>
          <a:lstStyle/>
          <a:p>
            <a:r>
              <a:rPr lang="en-US" altLang="zh-CN" sz="1600" dirty="0"/>
              <a:t>The evolution of a service inventory is relatively complete. As the inventory grows, so does the </a:t>
            </a:r>
            <a:r>
              <a:rPr lang="en-US" altLang="zh-CN" sz="1600" dirty="0" smtClean="0"/>
              <a:t>complexity potential </a:t>
            </a:r>
            <a:r>
              <a:rPr lang="en-US" altLang="zh-CN" sz="1600" dirty="0"/>
              <a:t>of the average service composition</a:t>
            </a:r>
            <a:endParaRPr lang="zh-CN" altLang="en-US" sz="1600" dirty="0"/>
          </a:p>
        </p:txBody>
      </p:sp>
      <p:sp>
        <p:nvSpPr>
          <p:cNvPr id="10" name="内容占位符 5"/>
          <p:cNvSpPr>
            <a:spLocks noGrp="1"/>
          </p:cNvSpPr>
          <p:nvPr>
            <p:ph idx="1"/>
          </p:nvPr>
        </p:nvSpPr>
        <p:spPr>
          <a:xfrm>
            <a:off x="457200" y="1052737"/>
            <a:ext cx="8229600" cy="936103"/>
          </a:xfrm>
        </p:spPr>
        <p:txBody>
          <a:bodyPr/>
          <a:lstStyle/>
          <a:p>
            <a:r>
              <a:rPr lang="zh-CN" altLang="en-US" dirty="0"/>
              <a:t>阶段</a:t>
            </a:r>
            <a:r>
              <a:rPr lang="en-US" altLang="zh-CN" dirty="0"/>
              <a:t>3: </a:t>
            </a:r>
            <a:r>
              <a:rPr lang="zh-CN" altLang="en-US" dirty="0"/>
              <a:t>服务</a:t>
            </a:r>
            <a:r>
              <a:rPr lang="zh-CN" altLang="en-US" dirty="0" smtClean="0"/>
              <a:t>库存基本构建完毕</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复杂服务组合</a:t>
            </a:r>
          </a:p>
        </p:txBody>
      </p:sp>
      <p:sp>
        <p:nvSpPr>
          <p:cNvPr id="3" name="内容占位符 2"/>
          <p:cNvSpPr>
            <a:spLocks noGrp="1"/>
          </p:cNvSpPr>
          <p:nvPr>
            <p:ph idx="1"/>
          </p:nvPr>
        </p:nvSpPr>
        <p:spPr/>
        <p:txBody>
          <a:bodyPr/>
          <a:lstStyle/>
          <a:p>
            <a:r>
              <a:rPr lang="zh-CN" altLang="en-US" dirty="0" smtClean="0"/>
              <a:t>以</a:t>
            </a:r>
            <a:r>
              <a:rPr lang="en-US" altLang="zh-CN" dirty="0" smtClean="0"/>
              <a:t>Web Service</a:t>
            </a:r>
            <a:r>
              <a:rPr lang="zh-CN" altLang="en-US" dirty="0" smtClean="0"/>
              <a:t>实现的一个复杂服务组合有以下特性</a:t>
            </a:r>
            <a:r>
              <a:rPr lang="en-US" altLang="zh-CN" dirty="0" smtClean="0"/>
              <a:t>:</a:t>
            </a:r>
          </a:p>
          <a:p>
            <a:pPr lvl="1"/>
            <a:r>
              <a:rPr lang="zh-CN" altLang="en-US" dirty="0" smtClean="0"/>
              <a:t>一般会利用某种形式的上下文或者事务管理系统</a:t>
            </a:r>
            <a:endParaRPr lang="en-US" altLang="zh-CN" dirty="0" smtClean="0"/>
          </a:p>
          <a:p>
            <a:pPr lvl="1"/>
            <a:r>
              <a:rPr lang="zh-CN" altLang="en-US" dirty="0" smtClean="0"/>
              <a:t>广泛使用</a:t>
            </a:r>
            <a:r>
              <a:rPr lang="en-US" altLang="zh-CN" dirty="0" smtClean="0"/>
              <a:t>SOAP</a:t>
            </a:r>
            <a:r>
              <a:rPr lang="zh-CN" altLang="en-US" dirty="0" smtClean="0"/>
              <a:t>头</a:t>
            </a:r>
            <a:endParaRPr lang="en-US" altLang="zh-CN" dirty="0" smtClean="0"/>
          </a:p>
          <a:p>
            <a:pPr lvl="1"/>
            <a:r>
              <a:rPr lang="zh-CN" altLang="en-US" dirty="0" smtClean="0"/>
              <a:t>拥有全面的异常处理特性</a:t>
            </a:r>
            <a:endParaRPr lang="en-US" altLang="zh-CN" dirty="0" smtClean="0"/>
          </a:p>
          <a:p>
            <a:pPr lvl="1"/>
            <a:r>
              <a:rPr lang="zh-CN" altLang="en-US" dirty="0" smtClean="0"/>
              <a:t>需要支持多种运行时场景</a:t>
            </a:r>
            <a:endParaRPr lang="en-US" altLang="zh-CN" dirty="0" smtClean="0"/>
          </a:p>
          <a:p>
            <a:pPr lvl="1"/>
            <a:r>
              <a:rPr lang="zh-CN" altLang="en-US" dirty="0" smtClean="0"/>
              <a:t>提高管理的需求</a:t>
            </a:r>
            <a:endParaRPr lang="en-US" altLang="zh-CN" dirty="0" smtClean="0"/>
          </a:p>
          <a:p>
            <a:pPr lvl="1"/>
            <a:r>
              <a:rPr lang="zh-CN" altLang="en-US" dirty="0" smtClean="0"/>
              <a:t>更可能担任一个任务为中心的业务服务</a:t>
            </a:r>
            <a:endParaRPr lang="zh-CN" altLang="en-US" dirty="0"/>
          </a:p>
        </p:txBody>
      </p:sp>
      <p:sp>
        <p:nvSpPr>
          <p:cNvPr id="5120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57AF5C0-16BE-4CD0-A69B-EF6D379E7A95}" type="slidenum">
              <a:rPr lang="en-US" altLang="zh-CN" smtClean="0"/>
              <a:pPr/>
              <a:t>39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smtClean="0"/>
              <a:t>组合的演化周期状态</a:t>
            </a:r>
          </a:p>
        </p:txBody>
      </p:sp>
      <p:sp>
        <p:nvSpPr>
          <p:cNvPr id="3" name="内容占位符 2"/>
          <p:cNvSpPr>
            <a:spLocks noGrp="1"/>
          </p:cNvSpPr>
          <p:nvPr>
            <p:ph idx="1"/>
          </p:nvPr>
        </p:nvSpPr>
        <p:spPr/>
        <p:txBody>
          <a:bodyPr/>
          <a:lstStyle/>
          <a:p>
            <a:r>
              <a:rPr lang="zh-CN" altLang="en-US" dirty="0" smtClean="0"/>
              <a:t>服务可组合性度量高度依赖于相关原则己经被应用的程度</a:t>
            </a:r>
            <a:endParaRPr lang="en-US" altLang="zh-CN" dirty="0" smtClean="0"/>
          </a:p>
          <a:p>
            <a:r>
              <a:rPr lang="zh-CN" altLang="en-US" dirty="0" smtClean="0"/>
              <a:t>在不同的生命周期，其他原则对可组合性有不同影响</a:t>
            </a:r>
            <a:endParaRPr lang="en-US" altLang="zh-CN" dirty="0" smtClean="0"/>
          </a:p>
          <a:p>
            <a:pPr lvl="1"/>
            <a:r>
              <a:rPr lang="zh-CN" altLang="en-US" dirty="0" smtClean="0"/>
              <a:t>设计阶段，选择组合成员</a:t>
            </a:r>
            <a:r>
              <a:rPr lang="zh-CN" altLang="en-US" dirty="0"/>
              <a:t>和设计服务</a:t>
            </a:r>
            <a:r>
              <a:rPr lang="zh-CN" altLang="en-US" dirty="0" smtClean="0"/>
              <a:t>组合的</a:t>
            </a:r>
            <a:r>
              <a:rPr lang="zh-CN" altLang="en-US" dirty="0" smtClean="0"/>
              <a:t>阶段</a:t>
            </a:r>
            <a:endParaRPr lang="en-US" altLang="zh-CN" dirty="0" smtClean="0"/>
          </a:p>
          <a:p>
            <a:pPr lvl="1"/>
            <a:r>
              <a:rPr lang="zh-CN" altLang="en-US" dirty="0" smtClean="0"/>
              <a:t>运行</a:t>
            </a:r>
            <a:r>
              <a:rPr lang="zh-CN" altLang="en-US" dirty="0"/>
              <a:t>（</a:t>
            </a:r>
            <a:r>
              <a:rPr lang="zh-CN" altLang="en-US" dirty="0" smtClean="0"/>
              <a:t>实现</a:t>
            </a:r>
            <a:r>
              <a:rPr lang="zh-CN" altLang="en-US" dirty="0"/>
              <a:t>）</a:t>
            </a:r>
            <a:r>
              <a:rPr lang="zh-CN" altLang="en-US" dirty="0" smtClean="0"/>
              <a:t>阶段，组合处于可操作和活跃的阶段</a:t>
            </a:r>
            <a:endParaRPr lang="en-US" altLang="zh-CN" dirty="0" smtClean="0"/>
          </a:p>
          <a:p>
            <a:pPr lvl="1"/>
            <a:r>
              <a:rPr lang="zh-CN" altLang="en-US" dirty="0" smtClean="0"/>
              <a:t>治理阶段</a:t>
            </a:r>
            <a:r>
              <a:rPr lang="zh-CN" altLang="en-US" dirty="0"/>
              <a:t>，考虑服务</a:t>
            </a:r>
            <a:r>
              <a:rPr lang="zh-CN" altLang="en-US" dirty="0" smtClean="0"/>
              <a:t>组合的长期</a:t>
            </a:r>
            <a:r>
              <a:rPr lang="zh-CN" altLang="en-US" dirty="0" smtClean="0"/>
              <a:t>演化，</a:t>
            </a:r>
            <a:r>
              <a:rPr lang="zh-CN" altLang="en-US" dirty="0" smtClean="0"/>
              <a:t>包括其成员服务潜在的重新组合</a:t>
            </a:r>
            <a:endParaRPr lang="zh-CN" altLang="en-US" dirty="0"/>
          </a:p>
        </p:txBody>
      </p:sp>
      <p:sp>
        <p:nvSpPr>
          <p:cNvPr id="52228"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4D94492-7FFF-49DC-AAAB-EE21980313D1}" type="slidenum">
              <a:rPr lang="en-US" altLang="zh-CN" smtClean="0"/>
              <a:pPr/>
              <a:t>40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组合的演化周期状态</a:t>
            </a:r>
            <a:r>
              <a:rPr lang="en-US" altLang="zh-CN" dirty="0"/>
              <a:t>——</a:t>
            </a:r>
            <a:br>
              <a:rPr lang="en-US" altLang="zh-CN" dirty="0"/>
            </a:br>
            <a:r>
              <a:rPr lang="zh-CN" altLang="en-US" dirty="0"/>
              <a:t>组合设计评估</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852762594"/>
              </p:ext>
            </p:extLst>
          </p:nvPr>
        </p:nvGraphicFramePr>
        <p:xfrm>
          <a:off x="107504" y="1196752"/>
          <a:ext cx="8896388" cy="5191760"/>
        </p:xfrm>
        <a:graphic>
          <a:graphicData uri="http://schemas.openxmlformats.org/drawingml/2006/table">
            <a:tbl>
              <a:tblPr firstRow="1" bandRow="1">
                <a:tableStyleId>{5C22544A-7EE6-4342-B048-85BDC9FD1C3A}</a:tableStyleId>
              </a:tblPr>
              <a:tblGrid>
                <a:gridCol w="1662430">
                  <a:extLst>
                    <a:ext uri="{9D8B030D-6E8A-4147-A177-3AD203B41FA5}">
                      <a16:colId xmlns:a16="http://schemas.microsoft.com/office/drawing/2014/main" val="20000"/>
                    </a:ext>
                  </a:extLst>
                </a:gridCol>
                <a:gridCol w="6301778">
                  <a:extLst>
                    <a:ext uri="{9D8B030D-6E8A-4147-A177-3AD203B41FA5}">
                      <a16:colId xmlns:a16="http://schemas.microsoft.com/office/drawing/2014/main" val="20001"/>
                    </a:ext>
                  </a:extLst>
                </a:gridCol>
                <a:gridCol w="932180">
                  <a:extLst>
                    <a:ext uri="{9D8B030D-6E8A-4147-A177-3AD203B41FA5}">
                      <a16:colId xmlns:a16="http://schemas.microsoft.com/office/drawing/2014/main" val="20002"/>
                    </a:ext>
                  </a:extLst>
                </a:gridCol>
              </a:tblGrid>
              <a:tr h="370840">
                <a:tc>
                  <a:txBody>
                    <a:bodyPr/>
                    <a:lstStyle/>
                    <a:p>
                      <a:r>
                        <a:rPr lang="zh-CN" altLang="en-US" dirty="0" smtClean="0"/>
                        <a:t>设计原则</a:t>
                      </a:r>
                      <a:endParaRPr lang="zh-CN" altLang="en-US" dirty="0"/>
                    </a:p>
                  </a:txBody>
                  <a:tcPr/>
                </a:tc>
                <a:tc>
                  <a:txBody>
                    <a:bodyPr/>
                    <a:lstStyle/>
                    <a:p>
                      <a:r>
                        <a:rPr lang="zh-CN" altLang="en-US" dirty="0" smtClean="0"/>
                        <a:t>关系</a:t>
                      </a:r>
                      <a:endParaRPr lang="zh-CN" altLang="en-US" dirty="0"/>
                    </a:p>
                  </a:txBody>
                  <a:tcPr/>
                </a:tc>
                <a:tc>
                  <a:txBody>
                    <a:bodyPr/>
                    <a:lstStyle/>
                    <a:p>
                      <a:r>
                        <a:rPr lang="zh-CN" altLang="en-US" dirty="0" smtClean="0"/>
                        <a:t>重要性</a:t>
                      </a:r>
                      <a:endParaRPr lang="zh-CN" altLang="en-US" dirty="0"/>
                    </a:p>
                  </a:txBody>
                  <a:tcPr/>
                </a:tc>
                <a:extLst>
                  <a:ext uri="{0D108BD9-81ED-4DB2-BD59-A6C34878D82A}">
                    <a16:rowId xmlns:a16="http://schemas.microsoft.com/office/drawing/2014/main" val="10000"/>
                  </a:ext>
                </a:extLst>
              </a:tr>
              <a:tr h="370840">
                <a:tc>
                  <a:txBody>
                    <a:bodyPr/>
                    <a:lstStyle/>
                    <a:p>
                      <a:r>
                        <a:rPr lang="zh-CN" altLang="en-US" sz="1600" dirty="0" smtClean="0"/>
                        <a:t>标准化服务合约</a:t>
                      </a:r>
                      <a:endParaRPr lang="zh-CN" altLang="en-US" sz="1600" dirty="0"/>
                    </a:p>
                  </a:txBody>
                  <a:tcPr/>
                </a:tc>
                <a:tc>
                  <a:txBody>
                    <a:bodyPr/>
                    <a:lstStyle/>
                    <a:p>
                      <a:r>
                        <a:rPr lang="zh-CN" altLang="en-US" sz="1600" dirty="0" smtClean="0"/>
                        <a:t>提高组合成员服务合约的标准化，同时减少组合内消息转换的必要性。标准化的提高可以极大地降低组合设计的复杂性</a:t>
                      </a:r>
                      <a:endParaRPr lang="zh-CN" altLang="en-US" sz="1600" dirty="0"/>
                    </a:p>
                  </a:txBody>
                  <a:tcPr/>
                </a:tc>
                <a:tc>
                  <a:txBody>
                    <a:bodyPr/>
                    <a:lstStyle/>
                    <a:p>
                      <a:r>
                        <a:rPr lang="zh-CN" altLang="en-US" sz="1600" dirty="0" smtClean="0"/>
                        <a:t>高</a:t>
                      </a:r>
                      <a:endParaRPr lang="zh-CN" altLang="en-US" sz="1600" dirty="0"/>
                    </a:p>
                  </a:txBody>
                  <a:tcPr/>
                </a:tc>
                <a:extLst>
                  <a:ext uri="{0D108BD9-81ED-4DB2-BD59-A6C34878D82A}">
                    <a16:rowId xmlns:a16="http://schemas.microsoft.com/office/drawing/2014/main" val="10001"/>
                  </a:ext>
                </a:extLst>
              </a:tr>
              <a:tr h="370840">
                <a:tc>
                  <a:txBody>
                    <a:bodyPr/>
                    <a:lstStyle/>
                    <a:p>
                      <a:r>
                        <a:rPr lang="zh-CN" altLang="en-US" sz="1600" dirty="0" smtClean="0"/>
                        <a:t>服务松散耦合</a:t>
                      </a:r>
                      <a:endParaRPr lang="zh-CN" altLang="en-US" sz="1600" dirty="0"/>
                    </a:p>
                  </a:txBody>
                  <a:tcPr/>
                </a:tc>
                <a:tc>
                  <a:txBody>
                    <a:bodyPr/>
                    <a:lstStyle/>
                    <a:p>
                      <a:r>
                        <a:rPr lang="zh-CN" altLang="en-US" sz="1600" dirty="0" smtClean="0"/>
                        <a:t>降低依赖需求允许一个服务成为更多种组合的一部分，这样就可以提供更多的设计时选择</a:t>
                      </a:r>
                      <a:endParaRPr lang="zh-CN" altLang="en-US" sz="1600" dirty="0"/>
                    </a:p>
                  </a:txBody>
                  <a:tcPr/>
                </a:tc>
                <a:tc>
                  <a:txBody>
                    <a:bodyPr/>
                    <a:lstStyle/>
                    <a:p>
                      <a:r>
                        <a:rPr lang="zh-CN" altLang="en-US" sz="1600" dirty="0" smtClean="0"/>
                        <a:t>中</a:t>
                      </a:r>
                      <a:endParaRPr lang="en-US" altLang="zh-CN" sz="1600" dirty="0" smtClean="0"/>
                    </a:p>
                  </a:txBody>
                  <a:tcPr/>
                </a:tc>
                <a:extLst>
                  <a:ext uri="{0D108BD9-81ED-4DB2-BD59-A6C34878D82A}">
                    <a16:rowId xmlns:a16="http://schemas.microsoft.com/office/drawing/2014/main" val="10002"/>
                  </a:ext>
                </a:extLst>
              </a:tr>
              <a:tr h="370840">
                <a:tc>
                  <a:txBody>
                    <a:bodyPr/>
                    <a:lstStyle/>
                    <a:p>
                      <a:r>
                        <a:rPr lang="zh-CN" altLang="en-US" sz="1600" dirty="0" smtClean="0"/>
                        <a:t>服务抽象</a:t>
                      </a:r>
                      <a:endParaRPr lang="zh-CN" altLang="en-US" sz="1600" dirty="0"/>
                    </a:p>
                  </a:txBody>
                  <a:tcPr/>
                </a:tc>
                <a:tc>
                  <a:txBody>
                    <a:bodyPr/>
                    <a:lstStyle/>
                    <a:p>
                      <a:r>
                        <a:rPr lang="zh-CN" altLang="en-US" sz="1600" dirty="0" smtClean="0"/>
                        <a:t>增强的信息隐藏降低了对位于组合控制器以下的信息的注意力。这可以简化服务组合的设计，只要所涉及的组合控制器（及子控制器）是完全可信任的</a:t>
                      </a:r>
                      <a:endParaRPr lang="zh-CN" altLang="en-US" sz="1600" dirty="0"/>
                    </a:p>
                  </a:txBody>
                  <a:tcPr/>
                </a:tc>
                <a:tc>
                  <a:txBody>
                    <a:bodyPr/>
                    <a:lstStyle/>
                    <a:p>
                      <a:r>
                        <a:rPr lang="zh-CN" altLang="en-US" sz="1600" dirty="0" smtClean="0"/>
                        <a:t>中</a:t>
                      </a:r>
                      <a:endParaRPr lang="zh-CN" altLang="en-US" sz="1600" dirty="0"/>
                    </a:p>
                  </a:txBody>
                  <a:tcPr/>
                </a:tc>
                <a:extLst>
                  <a:ext uri="{0D108BD9-81ED-4DB2-BD59-A6C34878D82A}">
                    <a16:rowId xmlns:a16="http://schemas.microsoft.com/office/drawing/2014/main" val="10003"/>
                  </a:ext>
                </a:extLst>
              </a:tr>
              <a:tr h="370840">
                <a:tc>
                  <a:txBody>
                    <a:bodyPr/>
                    <a:lstStyle/>
                    <a:p>
                      <a:r>
                        <a:rPr lang="zh-CN" altLang="en-US" sz="1600" dirty="0" smtClean="0"/>
                        <a:t>服务可复用性</a:t>
                      </a:r>
                      <a:endParaRPr lang="zh-CN" altLang="en-US" sz="1600" dirty="0"/>
                    </a:p>
                  </a:txBody>
                  <a:tcPr/>
                </a:tc>
                <a:tc>
                  <a:txBody>
                    <a:bodyPr/>
                    <a:lstStyle/>
                    <a:p>
                      <a:r>
                        <a:rPr lang="zh-CN" altLang="en-US" sz="1600" dirty="0" smtClean="0"/>
                        <a:t>一个服务提供的逻辑越是可以复用，它参与到组合中的机会就越大</a:t>
                      </a:r>
                      <a:endParaRPr lang="zh-CN" altLang="en-US" sz="1600" dirty="0"/>
                    </a:p>
                  </a:txBody>
                  <a:tcPr/>
                </a:tc>
                <a:tc>
                  <a:txBody>
                    <a:bodyPr/>
                    <a:lstStyle/>
                    <a:p>
                      <a:r>
                        <a:rPr lang="zh-CN" altLang="en-US" sz="1600" dirty="0" smtClean="0"/>
                        <a:t>高</a:t>
                      </a:r>
                      <a:endParaRPr lang="zh-CN" altLang="en-US" sz="1600" dirty="0"/>
                    </a:p>
                  </a:txBody>
                  <a:tcPr/>
                </a:tc>
                <a:extLst>
                  <a:ext uri="{0D108BD9-81ED-4DB2-BD59-A6C34878D82A}">
                    <a16:rowId xmlns:a16="http://schemas.microsoft.com/office/drawing/2014/main" val="10004"/>
                  </a:ext>
                </a:extLst>
              </a:tr>
              <a:tr h="370840">
                <a:tc>
                  <a:txBody>
                    <a:bodyPr/>
                    <a:lstStyle/>
                    <a:p>
                      <a:r>
                        <a:rPr lang="zh-CN" altLang="en-US" sz="1600" dirty="0" smtClean="0"/>
                        <a:t>服务自治</a:t>
                      </a:r>
                      <a:endParaRPr lang="zh-CN" altLang="en-US" sz="1600" dirty="0"/>
                    </a:p>
                  </a:txBody>
                  <a:tcPr/>
                </a:tc>
                <a:tc>
                  <a:txBody>
                    <a:bodyPr/>
                    <a:lstStyle/>
                    <a:p>
                      <a:r>
                        <a:rPr lang="zh-CN" altLang="en-US" sz="1600" dirty="0" smtClean="0"/>
                        <a:t>服务合约的自治减少了服务间的功能重叠，这进一步增强了通过在组合成员间建立规范化而进行的组合设计的质量</a:t>
                      </a:r>
                      <a:endParaRPr lang="zh-CN" altLang="en-US" sz="1600" dirty="0"/>
                    </a:p>
                  </a:txBody>
                  <a:tcPr/>
                </a:tc>
                <a:tc>
                  <a:txBody>
                    <a:bodyPr/>
                    <a:lstStyle/>
                    <a:p>
                      <a:r>
                        <a:rPr lang="zh-CN" altLang="en-US" sz="1600" dirty="0" smtClean="0"/>
                        <a:t>中</a:t>
                      </a:r>
                      <a:endParaRPr lang="zh-CN" altLang="en-US" sz="1600" dirty="0"/>
                    </a:p>
                  </a:txBody>
                  <a:tcPr/>
                </a:tc>
                <a:extLst>
                  <a:ext uri="{0D108BD9-81ED-4DB2-BD59-A6C34878D82A}">
                    <a16:rowId xmlns:a16="http://schemas.microsoft.com/office/drawing/2014/main" val="10005"/>
                  </a:ext>
                </a:extLst>
              </a:tr>
              <a:tr h="370840">
                <a:tc>
                  <a:txBody>
                    <a:bodyPr/>
                    <a:lstStyle/>
                    <a:p>
                      <a:r>
                        <a:rPr lang="zh-CN" altLang="en-US" sz="1600" dirty="0" smtClean="0"/>
                        <a:t>服务无状态性</a:t>
                      </a:r>
                      <a:endParaRPr lang="zh-CN" altLang="en-US" sz="1600" dirty="0"/>
                    </a:p>
                  </a:txBody>
                  <a:tcPr/>
                </a:tc>
                <a:tc>
                  <a:txBody>
                    <a:bodyPr/>
                    <a:lstStyle/>
                    <a:p>
                      <a:r>
                        <a:rPr lang="zh-CN" altLang="en-US" sz="1600" dirty="0" smtClean="0"/>
                        <a:t>状态管理责任的减小会影响服务设计，使他们变的更加通用，并且更加依赖于外部环境管理的扩展。从设计的角度来看，如果服务都使用相同的状态管理扩展，那么这样做就可以使服务简化。相反的，如果有些服务需要与其他服务不同的状态管理手段，那么这样做就会增加服务组合的复杂性</a:t>
                      </a:r>
                      <a:endParaRPr lang="zh-CN" altLang="en-US" sz="1600" dirty="0"/>
                    </a:p>
                  </a:txBody>
                  <a:tcPr/>
                </a:tc>
                <a:tc>
                  <a:txBody>
                    <a:bodyPr/>
                    <a:lstStyle/>
                    <a:p>
                      <a:r>
                        <a:rPr lang="zh-CN" altLang="en-US" sz="1600" dirty="0" smtClean="0"/>
                        <a:t>低</a:t>
                      </a:r>
                      <a:endParaRPr lang="zh-CN" altLang="en-US" sz="1600" dirty="0"/>
                    </a:p>
                  </a:txBody>
                  <a:tcPr/>
                </a:tc>
                <a:extLst>
                  <a:ext uri="{0D108BD9-81ED-4DB2-BD59-A6C34878D82A}">
                    <a16:rowId xmlns:a16="http://schemas.microsoft.com/office/drawing/2014/main" val="10006"/>
                  </a:ext>
                </a:extLst>
              </a:tr>
              <a:tr h="370840">
                <a:tc>
                  <a:txBody>
                    <a:bodyPr/>
                    <a:lstStyle/>
                    <a:p>
                      <a:r>
                        <a:rPr lang="zh-CN" altLang="en-US" sz="1600" dirty="0" smtClean="0"/>
                        <a:t>服务可发现性</a:t>
                      </a:r>
                      <a:endParaRPr lang="zh-CN" altLang="en-US" sz="1600" dirty="0"/>
                    </a:p>
                  </a:txBody>
                  <a:tcPr/>
                </a:tc>
                <a:tc>
                  <a:txBody>
                    <a:bodyPr/>
                    <a:lstStyle/>
                    <a:p>
                      <a:r>
                        <a:rPr lang="zh-CN" altLang="en-US" sz="1600" dirty="0" smtClean="0"/>
                        <a:t>对服务组合成员的潜在候选认识得越清楚，利用现有服务库存的机会就越大。因此，服务的可发现性对组合设计过程非常有益</a:t>
                      </a:r>
                      <a:endParaRPr lang="zh-CN" altLang="en-US" sz="1600" dirty="0"/>
                    </a:p>
                  </a:txBody>
                  <a:tcPr/>
                </a:tc>
                <a:tc>
                  <a:txBody>
                    <a:bodyPr/>
                    <a:lstStyle/>
                    <a:p>
                      <a:r>
                        <a:rPr lang="zh-CN" altLang="en-US" sz="1600" dirty="0" smtClean="0"/>
                        <a:t>高</a:t>
                      </a:r>
                      <a:endParaRPr lang="zh-CN" altLang="en-US" sz="1600" dirty="0"/>
                    </a:p>
                  </a:txBody>
                  <a:tcPr/>
                </a:tc>
                <a:extLst>
                  <a:ext uri="{0D108BD9-81ED-4DB2-BD59-A6C34878D82A}">
                    <a16:rowId xmlns:a16="http://schemas.microsoft.com/office/drawing/2014/main" val="10007"/>
                  </a:ext>
                </a:extLst>
              </a:tr>
            </a:tbl>
          </a:graphicData>
        </a:graphic>
      </p:graphicFrame>
      <p:sp>
        <p:nvSpPr>
          <p:cNvPr id="4" name="灯片编号占位符 3"/>
          <p:cNvSpPr>
            <a:spLocks noGrp="1"/>
          </p:cNvSpPr>
          <p:nvPr>
            <p:ph type="sldNum" sz="quarter" idx="11"/>
          </p:nvPr>
        </p:nvSpPr>
        <p:spPr/>
        <p:txBody>
          <a:bodyPr/>
          <a:lstStyle/>
          <a:p>
            <a:pPr>
              <a:defRPr/>
            </a:pPr>
            <a:fld id="{B0CCA853-7886-4B7F-B904-6F1595ACC1C8}" type="slidenum">
              <a:rPr lang="en-US" altLang="zh-CN" smtClean="0"/>
              <a:pPr>
                <a:defRPr/>
              </a:pPr>
              <a:t>41</a:t>
            </a:fld>
            <a:endParaRPr lang="en-US" altLang="zh-CN" dirty="0"/>
          </a:p>
        </p:txBody>
      </p:sp>
    </p:spTree>
    <p:extLst>
      <p:ext uri="{BB962C8B-B14F-4D97-AF65-F5344CB8AC3E}">
        <p14:creationId xmlns:p14="http://schemas.microsoft.com/office/powerpoint/2010/main" val="3564306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组合的演化周期状态</a:t>
            </a:r>
            <a:r>
              <a:rPr lang="en-US" altLang="zh-CN" dirty="0"/>
              <a:t>——</a:t>
            </a:r>
            <a:br>
              <a:rPr lang="en-US" altLang="zh-CN" dirty="0"/>
            </a:br>
            <a:r>
              <a:rPr lang="zh-CN" altLang="en-US" dirty="0"/>
              <a:t>运行</a:t>
            </a:r>
            <a:r>
              <a:rPr lang="en-US" altLang="zh-CN" dirty="0"/>
              <a:t>(</a:t>
            </a:r>
            <a:r>
              <a:rPr lang="zh-CN" altLang="en-US" dirty="0"/>
              <a:t>实现</a:t>
            </a:r>
            <a:r>
              <a:rPr lang="en-US" altLang="zh-CN" smtClean="0"/>
              <a:t>)</a:t>
            </a:r>
            <a:r>
              <a:rPr lang="zh-CN" altLang="en-US" smtClean="0"/>
              <a:t>评估</a:t>
            </a:r>
            <a:endParaRPr lang="zh-CN" altLang="en-US" dirty="0"/>
          </a:p>
        </p:txBody>
      </p:sp>
      <p:graphicFrame>
        <p:nvGraphicFramePr>
          <p:cNvPr id="5" name="内容占位符 4"/>
          <p:cNvGraphicFramePr>
            <a:graphicFrameLocks noGrp="1"/>
          </p:cNvGraphicFramePr>
          <p:nvPr>
            <p:ph idx="1"/>
            <p:extLst>
              <p:ext uri="{D42A27DB-BD31-4B8C-83A1-F6EECF244321}">
                <p14:modId xmlns:p14="http://schemas.microsoft.com/office/powerpoint/2010/main" val="162020511"/>
              </p:ext>
            </p:extLst>
          </p:nvPr>
        </p:nvGraphicFramePr>
        <p:xfrm>
          <a:off x="107504" y="1196752"/>
          <a:ext cx="8896388" cy="5400040"/>
        </p:xfrm>
        <a:graphic>
          <a:graphicData uri="http://schemas.openxmlformats.org/drawingml/2006/table">
            <a:tbl>
              <a:tblPr firstRow="1" bandRow="1">
                <a:tableStyleId>{5C22544A-7EE6-4342-B048-85BDC9FD1C3A}</a:tableStyleId>
              </a:tblPr>
              <a:tblGrid>
                <a:gridCol w="1662430">
                  <a:extLst>
                    <a:ext uri="{9D8B030D-6E8A-4147-A177-3AD203B41FA5}">
                      <a16:colId xmlns:a16="http://schemas.microsoft.com/office/drawing/2014/main" val="20000"/>
                    </a:ext>
                  </a:extLst>
                </a:gridCol>
                <a:gridCol w="6301778">
                  <a:extLst>
                    <a:ext uri="{9D8B030D-6E8A-4147-A177-3AD203B41FA5}">
                      <a16:colId xmlns:a16="http://schemas.microsoft.com/office/drawing/2014/main" val="20001"/>
                    </a:ext>
                  </a:extLst>
                </a:gridCol>
                <a:gridCol w="932180">
                  <a:extLst>
                    <a:ext uri="{9D8B030D-6E8A-4147-A177-3AD203B41FA5}">
                      <a16:colId xmlns:a16="http://schemas.microsoft.com/office/drawing/2014/main" val="20002"/>
                    </a:ext>
                  </a:extLst>
                </a:gridCol>
              </a:tblGrid>
              <a:tr h="370840">
                <a:tc>
                  <a:txBody>
                    <a:bodyPr/>
                    <a:lstStyle/>
                    <a:p>
                      <a:r>
                        <a:rPr lang="zh-CN" altLang="en-US" dirty="0" smtClean="0"/>
                        <a:t>设计原则</a:t>
                      </a:r>
                      <a:endParaRPr lang="zh-CN" altLang="en-US" dirty="0"/>
                    </a:p>
                  </a:txBody>
                  <a:tcPr/>
                </a:tc>
                <a:tc>
                  <a:txBody>
                    <a:bodyPr/>
                    <a:lstStyle/>
                    <a:p>
                      <a:r>
                        <a:rPr lang="zh-CN" altLang="en-US" dirty="0" smtClean="0"/>
                        <a:t>关系</a:t>
                      </a:r>
                      <a:endParaRPr lang="zh-CN" altLang="en-US" dirty="0"/>
                    </a:p>
                  </a:txBody>
                  <a:tcPr/>
                </a:tc>
                <a:tc>
                  <a:txBody>
                    <a:bodyPr/>
                    <a:lstStyle/>
                    <a:p>
                      <a:r>
                        <a:rPr lang="zh-CN" altLang="en-US" dirty="0" smtClean="0"/>
                        <a:t>重要性</a:t>
                      </a:r>
                      <a:endParaRPr lang="zh-CN" altLang="en-US" dirty="0"/>
                    </a:p>
                  </a:txBody>
                  <a:tcPr/>
                </a:tc>
                <a:extLst>
                  <a:ext uri="{0D108BD9-81ED-4DB2-BD59-A6C34878D82A}">
                    <a16:rowId xmlns:a16="http://schemas.microsoft.com/office/drawing/2014/main" val="10000"/>
                  </a:ext>
                </a:extLst>
              </a:tr>
              <a:tr h="370840">
                <a:tc>
                  <a:txBody>
                    <a:bodyPr/>
                    <a:lstStyle/>
                    <a:p>
                      <a:r>
                        <a:rPr lang="zh-CN" altLang="en-US" sz="1600" dirty="0" smtClean="0"/>
                        <a:t>标准化服务合约</a:t>
                      </a:r>
                      <a:endParaRPr lang="zh-CN" altLang="en-US" sz="1600" dirty="0"/>
                    </a:p>
                  </a:txBody>
                  <a:tcPr/>
                </a:tc>
                <a:tc>
                  <a:txBody>
                    <a:bodyPr/>
                    <a:lstStyle/>
                    <a:p>
                      <a:r>
                        <a:rPr lang="zh-CN" altLang="en-US" sz="1600" dirty="0" smtClean="0"/>
                        <a:t>通过减少甚至消除数据转换需求，组合成员和控制器对标准服务合约的使用可以显著地提高服务组合的运行时性能</a:t>
                      </a:r>
                      <a:endParaRPr lang="zh-CN" altLang="en-US" sz="1600" dirty="0"/>
                    </a:p>
                  </a:txBody>
                  <a:tcPr/>
                </a:tc>
                <a:tc>
                  <a:txBody>
                    <a:bodyPr/>
                    <a:lstStyle/>
                    <a:p>
                      <a:r>
                        <a:rPr lang="zh-CN" altLang="en-US" sz="1600" dirty="0" smtClean="0"/>
                        <a:t>高</a:t>
                      </a:r>
                      <a:endParaRPr lang="zh-CN" altLang="en-US" sz="1600" dirty="0"/>
                    </a:p>
                  </a:txBody>
                  <a:tcPr/>
                </a:tc>
                <a:extLst>
                  <a:ext uri="{0D108BD9-81ED-4DB2-BD59-A6C34878D82A}">
                    <a16:rowId xmlns:a16="http://schemas.microsoft.com/office/drawing/2014/main" val="10001"/>
                  </a:ext>
                </a:extLst>
              </a:tr>
              <a:tr h="370840">
                <a:tc>
                  <a:txBody>
                    <a:bodyPr/>
                    <a:lstStyle/>
                    <a:p>
                      <a:r>
                        <a:rPr lang="zh-CN" altLang="en-US" sz="1600" dirty="0" smtClean="0"/>
                        <a:t>服务松散耦合</a:t>
                      </a:r>
                      <a:endParaRPr lang="zh-CN" altLang="en-US" sz="1600" dirty="0"/>
                    </a:p>
                  </a:txBody>
                  <a:tcPr/>
                </a:tc>
                <a:tc>
                  <a:txBody>
                    <a:bodyPr/>
                    <a:lstStyle/>
                    <a:p>
                      <a:r>
                        <a:rPr lang="zh-CN" altLang="en-US" sz="1600" dirty="0" smtClean="0"/>
                        <a:t>实际的运行时组合性能和行为可以通过任何形式的外部耦合的降低来加以改善</a:t>
                      </a:r>
                      <a:endParaRPr lang="zh-CN" altLang="en-US" sz="1600" dirty="0"/>
                    </a:p>
                  </a:txBody>
                  <a:tcPr/>
                </a:tc>
                <a:tc>
                  <a:txBody>
                    <a:bodyPr/>
                    <a:lstStyle/>
                    <a:p>
                      <a:r>
                        <a:rPr lang="zh-CN" altLang="en-US" sz="1600" dirty="0" smtClean="0"/>
                        <a:t>中</a:t>
                      </a:r>
                      <a:endParaRPr lang="en-US" altLang="zh-CN" sz="1600" dirty="0" smtClean="0"/>
                    </a:p>
                  </a:txBody>
                  <a:tcPr/>
                </a:tc>
                <a:extLst>
                  <a:ext uri="{0D108BD9-81ED-4DB2-BD59-A6C34878D82A}">
                    <a16:rowId xmlns:a16="http://schemas.microsoft.com/office/drawing/2014/main" val="10002"/>
                  </a:ext>
                </a:extLst>
              </a:tr>
              <a:tr h="370840">
                <a:tc>
                  <a:txBody>
                    <a:bodyPr/>
                    <a:lstStyle/>
                    <a:p>
                      <a:r>
                        <a:rPr lang="zh-CN" altLang="en-US" sz="1600" dirty="0" smtClean="0"/>
                        <a:t>服务抽象</a:t>
                      </a:r>
                      <a:endParaRPr lang="zh-CN" altLang="en-US" sz="1600" dirty="0"/>
                    </a:p>
                  </a:txBody>
                  <a:tcPr/>
                </a:tc>
                <a:tc>
                  <a:txBody>
                    <a:bodyPr/>
                    <a:lstStyle/>
                    <a:p>
                      <a:r>
                        <a:rPr lang="zh-CN" altLang="en-US" sz="1600" dirty="0" smtClean="0"/>
                        <a:t>一个服务组合成员的底层细节是否再运行时被隐藏，与组合的整体性能并没有直接的关系。事实上，隐藏一个控制器服务的组合细节会提高服务被更多消费者共享的可能性，并可能由此导致使用需求增加</a:t>
                      </a:r>
                      <a:endParaRPr lang="zh-CN" altLang="en-US" sz="1600" dirty="0"/>
                    </a:p>
                  </a:txBody>
                  <a:tcPr/>
                </a:tc>
                <a:tc>
                  <a:txBody>
                    <a:bodyPr/>
                    <a:lstStyle/>
                    <a:p>
                      <a:r>
                        <a:rPr lang="zh-CN" altLang="en-US" sz="1600" dirty="0" smtClean="0"/>
                        <a:t>低</a:t>
                      </a:r>
                      <a:endParaRPr lang="zh-CN" altLang="en-US" sz="1600" dirty="0"/>
                    </a:p>
                  </a:txBody>
                  <a:tcPr/>
                </a:tc>
                <a:extLst>
                  <a:ext uri="{0D108BD9-81ED-4DB2-BD59-A6C34878D82A}">
                    <a16:rowId xmlns:a16="http://schemas.microsoft.com/office/drawing/2014/main" val="10003"/>
                  </a:ext>
                </a:extLst>
              </a:tr>
              <a:tr h="370840">
                <a:tc>
                  <a:txBody>
                    <a:bodyPr/>
                    <a:lstStyle/>
                    <a:p>
                      <a:r>
                        <a:rPr lang="zh-CN" altLang="en-US" sz="1600" dirty="0" smtClean="0"/>
                        <a:t>服务可复用性</a:t>
                      </a:r>
                      <a:endParaRPr lang="zh-CN" altLang="en-US" sz="1600" dirty="0"/>
                    </a:p>
                  </a:txBody>
                  <a:tcPr/>
                </a:tc>
                <a:tc>
                  <a:txBody>
                    <a:bodyPr/>
                    <a:lstStyle/>
                    <a:p>
                      <a:r>
                        <a:rPr lang="zh-CN" altLang="en-US" sz="1600" dirty="0" smtClean="0"/>
                        <a:t>一个可复用服务将很可能需要支持多个服务消费者。如果服务实现环境没有完全准备好，那么它可能也会降低其作为任何一个服务组合的一部分性能</a:t>
                      </a:r>
                      <a:endParaRPr lang="zh-CN" altLang="en-US" sz="1600" dirty="0"/>
                    </a:p>
                  </a:txBody>
                  <a:tcPr/>
                </a:tc>
                <a:tc>
                  <a:txBody>
                    <a:bodyPr/>
                    <a:lstStyle/>
                    <a:p>
                      <a:r>
                        <a:rPr lang="zh-CN" altLang="en-US" sz="1600" dirty="0" smtClean="0"/>
                        <a:t>中</a:t>
                      </a:r>
                      <a:endParaRPr lang="zh-CN" altLang="en-US" sz="1600" dirty="0"/>
                    </a:p>
                  </a:txBody>
                  <a:tcPr/>
                </a:tc>
                <a:extLst>
                  <a:ext uri="{0D108BD9-81ED-4DB2-BD59-A6C34878D82A}">
                    <a16:rowId xmlns:a16="http://schemas.microsoft.com/office/drawing/2014/main" val="10004"/>
                  </a:ext>
                </a:extLst>
              </a:tr>
              <a:tr h="370840">
                <a:tc>
                  <a:txBody>
                    <a:bodyPr/>
                    <a:lstStyle/>
                    <a:p>
                      <a:r>
                        <a:rPr lang="zh-CN" altLang="en-US" sz="1600" dirty="0" smtClean="0"/>
                        <a:t>服务自治</a:t>
                      </a:r>
                      <a:endParaRPr lang="zh-CN" altLang="en-US" sz="1600" dirty="0"/>
                    </a:p>
                  </a:txBody>
                  <a:tcPr/>
                </a:tc>
                <a:tc>
                  <a:txBody>
                    <a:bodyPr/>
                    <a:lstStyle/>
                    <a:p>
                      <a:r>
                        <a:rPr lang="zh-CN" altLang="en-US" sz="1600" dirty="0" smtClean="0"/>
                        <a:t>一个服务对其底层执行环境所施加的控制程度对它作为一个服务组合成员的有效性有直接的影响，这主要与运行时性能和可靠性相关</a:t>
                      </a:r>
                      <a:endParaRPr lang="zh-CN" altLang="en-US" sz="1600" dirty="0"/>
                    </a:p>
                  </a:txBody>
                  <a:tcPr/>
                </a:tc>
                <a:tc>
                  <a:txBody>
                    <a:bodyPr/>
                    <a:lstStyle/>
                    <a:p>
                      <a:r>
                        <a:rPr lang="zh-CN" altLang="en-US" sz="1600" dirty="0" smtClean="0"/>
                        <a:t>高</a:t>
                      </a:r>
                      <a:endParaRPr lang="zh-CN" altLang="en-US" sz="1600" dirty="0"/>
                    </a:p>
                  </a:txBody>
                  <a:tcPr/>
                </a:tc>
                <a:extLst>
                  <a:ext uri="{0D108BD9-81ED-4DB2-BD59-A6C34878D82A}">
                    <a16:rowId xmlns:a16="http://schemas.microsoft.com/office/drawing/2014/main" val="10005"/>
                  </a:ext>
                </a:extLst>
              </a:tr>
              <a:tr h="370840">
                <a:tc>
                  <a:txBody>
                    <a:bodyPr/>
                    <a:lstStyle/>
                    <a:p>
                      <a:r>
                        <a:rPr lang="zh-CN" altLang="en-US" sz="1600" dirty="0" smtClean="0"/>
                        <a:t>服务无状态性</a:t>
                      </a:r>
                      <a:endParaRPr lang="zh-CN" altLang="en-US" sz="1600" dirty="0"/>
                    </a:p>
                  </a:txBody>
                  <a:tcPr/>
                </a:tc>
                <a:tc>
                  <a:txBody>
                    <a:bodyPr/>
                    <a:lstStyle/>
                    <a:p>
                      <a:r>
                        <a:rPr lang="zh-CN" altLang="en-US" sz="1600" dirty="0" smtClean="0"/>
                        <a:t>对一个服务处于无状态条件下的持续时间的最大化，会提高该服务的整体可用性与可访问性。这会有助于提供服务组合的可靠性及其行为的可预测性</a:t>
                      </a:r>
                      <a:endParaRPr lang="zh-CN" altLang="en-US" sz="1600" dirty="0"/>
                    </a:p>
                  </a:txBody>
                  <a:tcPr/>
                </a:tc>
                <a:tc>
                  <a:txBody>
                    <a:bodyPr/>
                    <a:lstStyle/>
                    <a:p>
                      <a:r>
                        <a:rPr lang="zh-CN" altLang="en-US" sz="1600" dirty="0" smtClean="0"/>
                        <a:t>高</a:t>
                      </a:r>
                      <a:endParaRPr lang="zh-CN" altLang="en-US" sz="1600" dirty="0"/>
                    </a:p>
                  </a:txBody>
                  <a:tcPr/>
                </a:tc>
                <a:extLst>
                  <a:ext uri="{0D108BD9-81ED-4DB2-BD59-A6C34878D82A}">
                    <a16:rowId xmlns:a16="http://schemas.microsoft.com/office/drawing/2014/main" val="10006"/>
                  </a:ext>
                </a:extLst>
              </a:tr>
              <a:tr h="370840">
                <a:tc>
                  <a:txBody>
                    <a:bodyPr/>
                    <a:lstStyle/>
                    <a:p>
                      <a:r>
                        <a:rPr lang="zh-CN" altLang="en-US" sz="1600" dirty="0" smtClean="0"/>
                        <a:t>服务可发现性</a:t>
                      </a:r>
                      <a:endParaRPr lang="zh-CN" altLang="en-US" sz="1600" dirty="0"/>
                    </a:p>
                  </a:txBody>
                  <a:tcPr/>
                </a:tc>
                <a:tc>
                  <a:txBody>
                    <a:bodyPr/>
                    <a:lstStyle/>
                    <a:p>
                      <a:r>
                        <a:rPr lang="zh-CN" altLang="en-US" sz="1600" dirty="0" smtClean="0"/>
                        <a:t>在一个服务组合已经被实现之后，可发现性对于它的运行时性能就无足轻重了。事实上，仍然保持可发现性的组合成员能够很好地被其他的组合复用，这会开始竞争它们的资源</a:t>
                      </a:r>
                      <a:endParaRPr lang="zh-CN" altLang="en-US" sz="1600" dirty="0"/>
                    </a:p>
                  </a:txBody>
                  <a:tcPr/>
                </a:tc>
                <a:tc>
                  <a:txBody>
                    <a:bodyPr/>
                    <a:lstStyle/>
                    <a:p>
                      <a:r>
                        <a:rPr lang="zh-CN" altLang="en-US" sz="1600" dirty="0" smtClean="0"/>
                        <a:t>低</a:t>
                      </a:r>
                      <a:endParaRPr lang="zh-CN" altLang="en-US" sz="1600" dirty="0"/>
                    </a:p>
                  </a:txBody>
                  <a:tcPr/>
                </a:tc>
                <a:extLst>
                  <a:ext uri="{0D108BD9-81ED-4DB2-BD59-A6C34878D82A}">
                    <a16:rowId xmlns:a16="http://schemas.microsoft.com/office/drawing/2014/main" val="10007"/>
                  </a:ext>
                </a:extLst>
              </a:tr>
            </a:tbl>
          </a:graphicData>
        </a:graphic>
      </p:graphicFrame>
      <p:sp>
        <p:nvSpPr>
          <p:cNvPr id="4" name="灯片编号占位符 3"/>
          <p:cNvSpPr>
            <a:spLocks noGrp="1"/>
          </p:cNvSpPr>
          <p:nvPr>
            <p:ph type="sldNum" sz="quarter" idx="11"/>
          </p:nvPr>
        </p:nvSpPr>
        <p:spPr/>
        <p:txBody>
          <a:bodyPr/>
          <a:lstStyle/>
          <a:p>
            <a:pPr>
              <a:defRPr/>
            </a:pPr>
            <a:fld id="{B0CCA853-7886-4B7F-B904-6F1595ACC1C8}" type="slidenum">
              <a:rPr lang="en-US" altLang="zh-CN" smtClean="0"/>
              <a:pPr>
                <a:defRPr/>
              </a:pPr>
              <a:t>42</a:t>
            </a:fld>
            <a:endParaRPr lang="en-US" altLang="zh-CN" dirty="0"/>
          </a:p>
        </p:txBody>
      </p:sp>
    </p:spTree>
    <p:extLst>
      <p:ext uri="{BB962C8B-B14F-4D97-AF65-F5344CB8AC3E}">
        <p14:creationId xmlns:p14="http://schemas.microsoft.com/office/powerpoint/2010/main" val="2385084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组合的演化周期状态</a:t>
            </a:r>
            <a:r>
              <a:rPr lang="en-US" altLang="zh-CN" dirty="0"/>
              <a:t>——</a:t>
            </a:r>
            <a:br>
              <a:rPr lang="en-US" altLang="zh-CN" dirty="0"/>
            </a:br>
            <a:r>
              <a:rPr lang="zh-CN" altLang="en-US" dirty="0"/>
              <a:t>组合治理的评估</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815251868"/>
              </p:ext>
            </p:extLst>
          </p:nvPr>
        </p:nvGraphicFramePr>
        <p:xfrm>
          <a:off x="179512" y="1412776"/>
          <a:ext cx="8861638" cy="4851400"/>
        </p:xfrm>
        <a:graphic>
          <a:graphicData uri="http://schemas.openxmlformats.org/drawingml/2006/table">
            <a:tbl>
              <a:tblPr firstRow="1" bandRow="1">
                <a:tableStyleId>{5C22544A-7EE6-4342-B048-85BDC9FD1C3A}</a:tableStyleId>
              </a:tblPr>
              <a:tblGrid>
                <a:gridCol w="1160780">
                  <a:extLst>
                    <a:ext uri="{9D8B030D-6E8A-4147-A177-3AD203B41FA5}">
                      <a16:colId xmlns:a16="http://schemas.microsoft.com/office/drawing/2014/main" val="20000"/>
                    </a:ext>
                  </a:extLst>
                </a:gridCol>
                <a:gridCol w="6768678">
                  <a:extLst>
                    <a:ext uri="{9D8B030D-6E8A-4147-A177-3AD203B41FA5}">
                      <a16:colId xmlns:a16="http://schemas.microsoft.com/office/drawing/2014/main" val="20001"/>
                    </a:ext>
                  </a:extLst>
                </a:gridCol>
                <a:gridCol w="932180">
                  <a:extLst>
                    <a:ext uri="{9D8B030D-6E8A-4147-A177-3AD203B41FA5}">
                      <a16:colId xmlns:a16="http://schemas.microsoft.com/office/drawing/2014/main" val="20002"/>
                    </a:ext>
                  </a:extLst>
                </a:gridCol>
              </a:tblGrid>
              <a:tr h="370840">
                <a:tc>
                  <a:txBody>
                    <a:bodyPr/>
                    <a:lstStyle/>
                    <a:p>
                      <a:r>
                        <a:rPr lang="zh-CN" altLang="en-US" dirty="0" smtClean="0"/>
                        <a:t>设计原则</a:t>
                      </a:r>
                      <a:endParaRPr lang="zh-CN" altLang="en-US" dirty="0"/>
                    </a:p>
                  </a:txBody>
                  <a:tcPr/>
                </a:tc>
                <a:tc>
                  <a:txBody>
                    <a:bodyPr/>
                    <a:lstStyle/>
                    <a:p>
                      <a:r>
                        <a:rPr lang="zh-CN" altLang="en-US" dirty="0" smtClean="0"/>
                        <a:t>关系</a:t>
                      </a:r>
                      <a:endParaRPr lang="zh-CN" altLang="en-US" dirty="0"/>
                    </a:p>
                  </a:txBody>
                  <a:tcPr/>
                </a:tc>
                <a:tc>
                  <a:txBody>
                    <a:bodyPr/>
                    <a:lstStyle/>
                    <a:p>
                      <a:r>
                        <a:rPr lang="zh-CN" altLang="en-US" dirty="0" smtClean="0"/>
                        <a:t>重要性</a:t>
                      </a:r>
                      <a:endParaRPr lang="zh-CN" altLang="en-US" dirty="0"/>
                    </a:p>
                  </a:txBody>
                  <a:tcPr/>
                </a:tc>
                <a:extLst>
                  <a:ext uri="{0D108BD9-81ED-4DB2-BD59-A6C34878D82A}">
                    <a16:rowId xmlns:a16="http://schemas.microsoft.com/office/drawing/2014/main" val="10000"/>
                  </a:ext>
                </a:extLst>
              </a:tr>
              <a:tr h="370840">
                <a:tc>
                  <a:txBody>
                    <a:bodyPr/>
                    <a:lstStyle/>
                    <a:p>
                      <a:r>
                        <a:rPr lang="zh-CN" altLang="en-US" sz="1400" dirty="0" smtClean="0"/>
                        <a:t>标准化</a:t>
                      </a:r>
                      <a:endParaRPr lang="en-US" altLang="zh-CN" sz="1400" dirty="0" smtClean="0"/>
                    </a:p>
                    <a:p>
                      <a:r>
                        <a:rPr lang="zh-CN" altLang="en-US" sz="1400" dirty="0" smtClean="0"/>
                        <a:t>服务合约</a:t>
                      </a:r>
                      <a:endParaRPr lang="zh-CN" altLang="en-US" sz="1400" dirty="0"/>
                    </a:p>
                  </a:txBody>
                  <a:tcPr/>
                </a:tc>
                <a:tc>
                  <a:txBody>
                    <a:bodyPr/>
                    <a:lstStyle/>
                    <a:p>
                      <a:r>
                        <a:rPr lang="zh-CN" altLang="en-US" sz="1400" dirty="0" smtClean="0"/>
                        <a:t>通过使用标准化的服务合约，可以对一个组合进行演化，实现对一个组合成员进行添加和删除（或者重新配置组合中的已有成员）。如果不遵从设计标准，全然不相似的合约设计不仅会增加组合的复杂度，还需要额外做很多工作来解决合约间的不一致</a:t>
                      </a:r>
                      <a:endParaRPr lang="zh-CN" altLang="en-US" sz="1400" dirty="0"/>
                    </a:p>
                  </a:txBody>
                  <a:tcPr/>
                </a:tc>
                <a:tc>
                  <a:txBody>
                    <a:bodyPr/>
                    <a:lstStyle/>
                    <a:p>
                      <a:r>
                        <a:rPr lang="zh-CN" altLang="en-US" sz="1400" dirty="0" smtClean="0"/>
                        <a:t>高</a:t>
                      </a:r>
                      <a:endParaRPr lang="zh-CN" altLang="en-US" sz="1400" dirty="0"/>
                    </a:p>
                  </a:txBody>
                  <a:tcPr/>
                </a:tc>
                <a:extLst>
                  <a:ext uri="{0D108BD9-81ED-4DB2-BD59-A6C34878D82A}">
                    <a16:rowId xmlns:a16="http://schemas.microsoft.com/office/drawing/2014/main" val="10001"/>
                  </a:ext>
                </a:extLst>
              </a:tr>
              <a:tr h="370840">
                <a:tc>
                  <a:txBody>
                    <a:bodyPr/>
                    <a:lstStyle/>
                    <a:p>
                      <a:r>
                        <a:rPr lang="zh-CN" altLang="en-US" sz="1400" dirty="0" smtClean="0"/>
                        <a:t>服务</a:t>
                      </a:r>
                      <a:endParaRPr lang="en-US" altLang="zh-CN" sz="1400" dirty="0" smtClean="0"/>
                    </a:p>
                    <a:p>
                      <a:r>
                        <a:rPr lang="zh-CN" altLang="en-US" sz="1400" dirty="0" smtClean="0"/>
                        <a:t>松散耦合</a:t>
                      </a:r>
                      <a:endParaRPr lang="zh-CN" altLang="en-US" sz="1400" dirty="0"/>
                    </a:p>
                  </a:txBody>
                  <a:tcPr/>
                </a:tc>
                <a:tc>
                  <a:txBody>
                    <a:bodyPr/>
                    <a:lstStyle/>
                    <a:p>
                      <a:r>
                        <a:rPr lang="zh-CN" altLang="en-US" sz="1400" dirty="0" smtClean="0"/>
                        <a:t>通过减少服务间的依赖，松散耦合的关系使得服务组合的改变更加容易（相对于服务间存在或者需要大量依赖关系的情况而言）</a:t>
                      </a:r>
                      <a:endParaRPr lang="zh-CN" altLang="en-US" sz="1400" dirty="0"/>
                    </a:p>
                  </a:txBody>
                  <a:tcPr/>
                </a:tc>
                <a:tc>
                  <a:txBody>
                    <a:bodyPr/>
                    <a:lstStyle/>
                    <a:p>
                      <a:r>
                        <a:rPr lang="zh-CN" altLang="en-US" sz="1400" dirty="0" smtClean="0"/>
                        <a:t>中</a:t>
                      </a:r>
                      <a:endParaRPr lang="en-US" altLang="zh-CN" sz="1400" dirty="0" smtClean="0"/>
                    </a:p>
                  </a:txBody>
                  <a:tcPr/>
                </a:tc>
                <a:extLst>
                  <a:ext uri="{0D108BD9-81ED-4DB2-BD59-A6C34878D82A}">
                    <a16:rowId xmlns:a16="http://schemas.microsoft.com/office/drawing/2014/main" val="10002"/>
                  </a:ext>
                </a:extLst>
              </a:tr>
              <a:tr h="370840">
                <a:tc>
                  <a:txBody>
                    <a:bodyPr/>
                    <a:lstStyle/>
                    <a:p>
                      <a:r>
                        <a:rPr lang="zh-CN" altLang="en-US" sz="1400" dirty="0" smtClean="0"/>
                        <a:t>服务抽象</a:t>
                      </a:r>
                      <a:endParaRPr lang="zh-CN" altLang="en-US" sz="1400" dirty="0"/>
                    </a:p>
                  </a:txBody>
                  <a:tcPr/>
                </a:tc>
                <a:tc>
                  <a:txBody>
                    <a:bodyPr/>
                    <a:lstStyle/>
                    <a:p>
                      <a:r>
                        <a:rPr lang="zh-CN" altLang="en-US" sz="1400" dirty="0" smtClean="0"/>
                        <a:t>通过对服务中每个成员施加信息隐藏的原则，可以使得组合不会收到在一个单独的成员边界内所发生的改变的影响。因此，将对服务的使用限定在服务合约所描述的范围之内（不对其内部的细节作任何的假设）可以延长一个服务组合的潜在寿命</a:t>
                      </a:r>
                      <a:endParaRPr lang="zh-CN" altLang="en-US" sz="1400" dirty="0"/>
                    </a:p>
                  </a:txBody>
                  <a:tcPr/>
                </a:tc>
                <a:tc>
                  <a:txBody>
                    <a:bodyPr/>
                    <a:lstStyle/>
                    <a:p>
                      <a:r>
                        <a:rPr lang="zh-CN" altLang="en-US" sz="1400" dirty="0" smtClean="0"/>
                        <a:t>高</a:t>
                      </a:r>
                      <a:endParaRPr lang="zh-CN" altLang="en-US" sz="1400" dirty="0"/>
                    </a:p>
                  </a:txBody>
                  <a:tcPr/>
                </a:tc>
                <a:extLst>
                  <a:ext uri="{0D108BD9-81ED-4DB2-BD59-A6C34878D82A}">
                    <a16:rowId xmlns:a16="http://schemas.microsoft.com/office/drawing/2014/main" val="10003"/>
                  </a:ext>
                </a:extLst>
              </a:tr>
              <a:tr h="370840">
                <a:tc>
                  <a:txBody>
                    <a:bodyPr/>
                    <a:lstStyle/>
                    <a:p>
                      <a:r>
                        <a:rPr lang="zh-CN" altLang="en-US" sz="1400" dirty="0" smtClean="0"/>
                        <a:t>服务</a:t>
                      </a:r>
                      <a:endParaRPr lang="en-US" altLang="zh-CN" sz="1400" dirty="0" smtClean="0"/>
                    </a:p>
                    <a:p>
                      <a:r>
                        <a:rPr lang="zh-CN" altLang="en-US" sz="1400" dirty="0" smtClean="0"/>
                        <a:t>可复用性</a:t>
                      </a:r>
                      <a:endParaRPr lang="zh-CN" altLang="en-US" sz="1400" dirty="0"/>
                    </a:p>
                  </a:txBody>
                  <a:tcPr/>
                </a:tc>
                <a:tc>
                  <a:txBody>
                    <a:bodyPr/>
                    <a:lstStyle/>
                    <a:p>
                      <a:r>
                        <a:rPr lang="zh-CN" altLang="en-US" sz="1400" dirty="0" smtClean="0"/>
                        <a:t>尽管高复用的服务仍然可能会因为对服务消费者的竞争而影响一个服务组合的稳定性，但是由于这些服务的能力在设计时的目的是通用的这样一个事实，它们可以很容易的适应重组的需求</a:t>
                      </a:r>
                      <a:endParaRPr lang="zh-CN" altLang="en-US" sz="1400" dirty="0"/>
                    </a:p>
                  </a:txBody>
                  <a:tcPr/>
                </a:tc>
                <a:tc>
                  <a:txBody>
                    <a:bodyPr/>
                    <a:lstStyle/>
                    <a:p>
                      <a:r>
                        <a:rPr lang="zh-CN" altLang="en-US" sz="1400" dirty="0" smtClean="0"/>
                        <a:t>低</a:t>
                      </a:r>
                      <a:endParaRPr lang="zh-CN" altLang="en-US" sz="1400" dirty="0"/>
                    </a:p>
                  </a:txBody>
                  <a:tcPr/>
                </a:tc>
                <a:extLst>
                  <a:ext uri="{0D108BD9-81ED-4DB2-BD59-A6C34878D82A}">
                    <a16:rowId xmlns:a16="http://schemas.microsoft.com/office/drawing/2014/main" val="10004"/>
                  </a:ext>
                </a:extLst>
              </a:tr>
              <a:tr h="370840">
                <a:tc>
                  <a:txBody>
                    <a:bodyPr/>
                    <a:lstStyle/>
                    <a:p>
                      <a:r>
                        <a:rPr lang="zh-CN" altLang="en-US" sz="1400" dirty="0" smtClean="0"/>
                        <a:t>服务自治</a:t>
                      </a:r>
                      <a:endParaRPr lang="zh-CN" altLang="en-US" sz="1400" dirty="0"/>
                    </a:p>
                  </a:txBody>
                  <a:tcPr/>
                </a:tc>
                <a:tc>
                  <a:txBody>
                    <a:bodyPr/>
                    <a:lstStyle/>
                    <a:p>
                      <a:r>
                        <a:rPr lang="zh-CN" altLang="en-US" sz="1400" dirty="0" smtClean="0"/>
                        <a:t>更高级别的自治性可以提高服务在重组时的灵活性。因此，这一原则可以改进对组合设计的整体治理</a:t>
                      </a:r>
                      <a:endParaRPr lang="zh-CN" altLang="en-US" sz="1400" dirty="0"/>
                    </a:p>
                  </a:txBody>
                  <a:tcPr/>
                </a:tc>
                <a:tc>
                  <a:txBody>
                    <a:bodyPr/>
                    <a:lstStyle/>
                    <a:p>
                      <a:r>
                        <a:rPr lang="zh-CN" altLang="en-US" sz="1400" dirty="0" smtClean="0"/>
                        <a:t>中</a:t>
                      </a:r>
                      <a:endParaRPr lang="zh-CN" altLang="en-US" sz="1400" dirty="0"/>
                    </a:p>
                  </a:txBody>
                  <a:tcPr/>
                </a:tc>
                <a:extLst>
                  <a:ext uri="{0D108BD9-81ED-4DB2-BD59-A6C34878D82A}">
                    <a16:rowId xmlns:a16="http://schemas.microsoft.com/office/drawing/2014/main" val="10005"/>
                  </a:ext>
                </a:extLst>
              </a:tr>
              <a:tr h="370840">
                <a:tc>
                  <a:txBody>
                    <a:bodyPr/>
                    <a:lstStyle/>
                    <a:p>
                      <a:r>
                        <a:rPr lang="zh-CN" altLang="en-US" sz="1400" dirty="0" smtClean="0"/>
                        <a:t>服务</a:t>
                      </a:r>
                      <a:endParaRPr lang="en-US" altLang="zh-CN" sz="1400" dirty="0" smtClean="0"/>
                    </a:p>
                    <a:p>
                      <a:r>
                        <a:rPr lang="zh-CN" altLang="en-US" sz="1400" dirty="0" smtClean="0"/>
                        <a:t>无状态性</a:t>
                      </a:r>
                      <a:endParaRPr lang="zh-CN" altLang="en-US" sz="1400" dirty="0"/>
                    </a:p>
                  </a:txBody>
                  <a:tcPr/>
                </a:tc>
                <a:tc>
                  <a:txBody>
                    <a:bodyPr/>
                    <a:lstStyle/>
                    <a:p>
                      <a:r>
                        <a:rPr lang="zh-CN" altLang="en-US" sz="1400" dirty="0" smtClean="0"/>
                        <a:t>状态管理通常不会对组合的演化产生直接的影响。然而，它可能会对重组的需求产生帮助，因为减少状态管理过程可以使得服务逻辑更加通用，并因此提高过程的无关性</a:t>
                      </a:r>
                      <a:endParaRPr lang="zh-CN" altLang="en-US" sz="1400" dirty="0"/>
                    </a:p>
                  </a:txBody>
                  <a:tcPr/>
                </a:tc>
                <a:tc>
                  <a:txBody>
                    <a:bodyPr/>
                    <a:lstStyle/>
                    <a:p>
                      <a:r>
                        <a:rPr lang="zh-CN" altLang="en-US" sz="1400" dirty="0" smtClean="0"/>
                        <a:t>低</a:t>
                      </a:r>
                      <a:endParaRPr lang="zh-CN" altLang="en-US" sz="1400" dirty="0"/>
                    </a:p>
                  </a:txBody>
                  <a:tcPr/>
                </a:tc>
                <a:extLst>
                  <a:ext uri="{0D108BD9-81ED-4DB2-BD59-A6C34878D82A}">
                    <a16:rowId xmlns:a16="http://schemas.microsoft.com/office/drawing/2014/main" val="10006"/>
                  </a:ext>
                </a:extLst>
              </a:tr>
              <a:tr h="370840">
                <a:tc>
                  <a:txBody>
                    <a:bodyPr/>
                    <a:lstStyle/>
                    <a:p>
                      <a:r>
                        <a:rPr lang="zh-CN" altLang="en-US" sz="1400" dirty="0" smtClean="0"/>
                        <a:t>服务</a:t>
                      </a:r>
                      <a:endParaRPr lang="en-US" altLang="zh-CN" sz="1400" dirty="0" smtClean="0"/>
                    </a:p>
                    <a:p>
                      <a:r>
                        <a:rPr lang="zh-CN" altLang="en-US" sz="1400" dirty="0" smtClean="0"/>
                        <a:t>可发现性</a:t>
                      </a:r>
                      <a:endParaRPr lang="zh-CN" altLang="en-US" sz="1400" dirty="0"/>
                    </a:p>
                  </a:txBody>
                  <a:tcPr/>
                </a:tc>
                <a:tc>
                  <a:txBody>
                    <a:bodyPr/>
                    <a:lstStyle/>
                    <a:p>
                      <a:r>
                        <a:rPr lang="zh-CN" altLang="en-US" sz="1400" dirty="0" smtClean="0"/>
                        <a:t>一般来说，可发现会有助于对一个已有的服务组合的治理，能这样做的一个原因是它可以持续地提供对于可选的组合成员进行定位的机会。新发现的组合成员可能会有潜力替换或者补充一个现有组合的成员</a:t>
                      </a:r>
                      <a:endParaRPr lang="zh-CN" altLang="en-US" sz="1400" dirty="0"/>
                    </a:p>
                  </a:txBody>
                  <a:tcPr/>
                </a:tc>
                <a:tc>
                  <a:txBody>
                    <a:bodyPr/>
                    <a:lstStyle/>
                    <a:p>
                      <a:r>
                        <a:rPr lang="zh-CN" altLang="en-US" sz="1400" dirty="0" smtClean="0"/>
                        <a:t>中</a:t>
                      </a:r>
                      <a:endParaRPr lang="zh-CN" altLang="en-US" sz="1400" dirty="0"/>
                    </a:p>
                  </a:txBody>
                  <a:tcPr/>
                </a:tc>
                <a:extLst>
                  <a:ext uri="{0D108BD9-81ED-4DB2-BD59-A6C34878D82A}">
                    <a16:rowId xmlns:a16="http://schemas.microsoft.com/office/drawing/2014/main" val="10007"/>
                  </a:ext>
                </a:extLst>
              </a:tr>
            </a:tbl>
          </a:graphicData>
        </a:graphic>
      </p:graphicFrame>
      <p:sp>
        <p:nvSpPr>
          <p:cNvPr id="4" name="灯片编号占位符 3"/>
          <p:cNvSpPr>
            <a:spLocks noGrp="1"/>
          </p:cNvSpPr>
          <p:nvPr>
            <p:ph type="sldNum" sz="quarter" idx="11"/>
          </p:nvPr>
        </p:nvSpPr>
        <p:spPr/>
        <p:txBody>
          <a:bodyPr/>
          <a:lstStyle/>
          <a:p>
            <a:pPr>
              <a:defRPr/>
            </a:pPr>
            <a:fld id="{B0CCA853-7886-4B7F-B904-6F1595ACC1C8}" type="slidenum">
              <a:rPr lang="en-US" altLang="zh-CN" smtClean="0"/>
              <a:pPr>
                <a:defRPr/>
              </a:pPr>
              <a:t>43</a:t>
            </a:fld>
            <a:endParaRPr lang="en-US" altLang="zh-CN" dirty="0"/>
          </a:p>
        </p:txBody>
      </p:sp>
    </p:spTree>
    <p:extLst>
      <p:ext uri="{BB962C8B-B14F-4D97-AF65-F5344CB8AC3E}">
        <p14:creationId xmlns:p14="http://schemas.microsoft.com/office/powerpoint/2010/main" val="14066002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可组合性的度量</a:t>
            </a:r>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en-US" dirty="0" smtClean="0"/>
              <a:t>为了评估一个服务实现可组合性目标的潜力，首先需要单独评估该服务对其他原则的支持力度</a:t>
            </a:r>
            <a:r>
              <a:rPr lang="en-US" altLang="zh-CN" dirty="0" smtClean="0"/>
              <a:t>(</a:t>
            </a:r>
            <a:r>
              <a:rPr lang="zh-CN" altLang="en-US" dirty="0" smtClean="0"/>
              <a:t>以服务能力为级别</a:t>
            </a:r>
            <a:r>
              <a:rPr lang="en-US" altLang="zh-CN" dirty="0" smtClean="0"/>
              <a:t>)</a:t>
            </a:r>
            <a:r>
              <a:rPr lang="zh-CN" altLang="en-US" dirty="0" smtClean="0"/>
              <a:t>，然后才能进行整体的评估</a:t>
            </a:r>
            <a:r>
              <a:rPr lang="en-US" altLang="zh-CN" dirty="0" smtClean="0"/>
              <a:t>(</a:t>
            </a:r>
            <a:r>
              <a:rPr lang="zh-CN" altLang="en-US" dirty="0" smtClean="0"/>
              <a:t>在组合级别</a:t>
            </a:r>
            <a:r>
              <a:rPr lang="en-US" altLang="zh-CN" dirty="0" smtClean="0"/>
              <a:t>)</a:t>
            </a:r>
            <a:r>
              <a:rPr lang="zh-CN" altLang="en-US" dirty="0" smtClean="0"/>
              <a:t>上</a:t>
            </a:r>
            <a:endParaRPr lang="en-US" altLang="zh-CN" dirty="0" smtClean="0"/>
          </a:p>
          <a:p>
            <a:pPr>
              <a:lnSpc>
                <a:spcPct val="110000"/>
              </a:lnSpc>
            </a:pPr>
            <a:r>
              <a:rPr lang="zh-CN" altLang="en-US" dirty="0" smtClean="0"/>
              <a:t>评估可以分为</a:t>
            </a:r>
            <a:r>
              <a:rPr lang="en-US" altLang="zh-CN" dirty="0" smtClean="0"/>
              <a:t>3</a:t>
            </a:r>
            <a:r>
              <a:rPr lang="zh-CN" altLang="en-US" dirty="0" smtClean="0"/>
              <a:t>步</a:t>
            </a:r>
            <a:endParaRPr lang="en-US" altLang="zh-CN" dirty="0" smtClean="0"/>
          </a:p>
          <a:p>
            <a:pPr lvl="1">
              <a:lnSpc>
                <a:spcPct val="110000"/>
              </a:lnSpc>
            </a:pPr>
            <a:r>
              <a:rPr lang="zh-CN" altLang="en-US" dirty="0" smtClean="0"/>
              <a:t>组合设计：服务能力在多大程度上可以被有效组合在一起</a:t>
            </a:r>
            <a:endParaRPr lang="en-US" altLang="zh-CN" dirty="0" smtClean="0"/>
          </a:p>
          <a:p>
            <a:pPr lvl="1">
              <a:lnSpc>
                <a:spcPct val="110000"/>
              </a:lnSpc>
            </a:pPr>
            <a:r>
              <a:rPr lang="zh-CN" altLang="en-US" dirty="0" smtClean="0"/>
              <a:t>组合运行：服务能力在多大程度上满足它在服务组合中所扮演的角色的需要</a:t>
            </a:r>
            <a:endParaRPr lang="en-US" altLang="zh-CN" dirty="0" smtClean="0"/>
          </a:p>
          <a:p>
            <a:pPr lvl="1">
              <a:lnSpc>
                <a:spcPct val="110000"/>
              </a:lnSpc>
            </a:pPr>
            <a:r>
              <a:rPr lang="zh-CN" altLang="en-US" dirty="0" smtClean="0"/>
              <a:t>组合治理：在部署之后，服务能力可以在多大程度上适应组合的变化</a:t>
            </a:r>
            <a:endParaRPr lang="zh-CN" altLang="en-US" dirty="0"/>
          </a:p>
        </p:txBody>
      </p:sp>
      <p:sp>
        <p:nvSpPr>
          <p:cNvPr id="5632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5344131-0069-45BB-B900-CFC150F06D61}" type="slidenum">
              <a:rPr lang="en-US" altLang="zh-CN" smtClean="0"/>
              <a:pPr/>
              <a:t>44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设计阶段（</a:t>
            </a:r>
            <a:r>
              <a:rPr lang="en-US" altLang="zh-CN" dirty="0" smtClean="0"/>
              <a:t>1/2</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244735073"/>
              </p:ext>
            </p:extLst>
          </p:nvPr>
        </p:nvGraphicFramePr>
        <p:xfrm>
          <a:off x="467544" y="1268760"/>
          <a:ext cx="8362950" cy="4973638"/>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864">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23" marB="45723" anchor="ctr"/>
                </a:tc>
                <a:tc hMerge="1">
                  <a:txBody>
                    <a:bodyPr/>
                    <a:lstStyle/>
                    <a:p>
                      <a:endParaRPr lang="zh-CN" altLang="en-US" dirty="0"/>
                    </a:p>
                  </a:txBody>
                  <a:tcPr/>
                </a:tc>
                <a:extLst>
                  <a:ext uri="{0D108BD9-81ED-4DB2-BD59-A6C34878D82A}">
                    <a16:rowId xmlns:a16="http://schemas.microsoft.com/office/drawing/2014/main" val="10000"/>
                  </a:ext>
                </a:extLst>
              </a:tr>
              <a:tr h="579157">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23" marB="45723"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23" marB="45723" anchor="ctr"/>
                </a:tc>
                <a:extLst>
                  <a:ext uri="{0D108BD9-81ED-4DB2-BD59-A6C34878D82A}">
                    <a16:rowId xmlns:a16="http://schemas.microsoft.com/office/drawing/2014/main" val="10001"/>
                  </a:ext>
                </a:extLst>
              </a:tr>
              <a:tr h="1066868">
                <a:tc>
                  <a:txBody>
                    <a:bodyPr/>
                    <a:lstStyle/>
                    <a:p>
                      <a:r>
                        <a:rPr lang="zh-CN" altLang="en-US" sz="1600" kern="1200" baseline="0" dirty="0" smtClean="0">
                          <a:solidFill>
                            <a:schemeClr val="dk1"/>
                          </a:solidFill>
                          <a:latin typeface="+mn-lt"/>
                          <a:ea typeface="+mn-ea"/>
                          <a:cs typeface="+mn-cs"/>
                        </a:rPr>
                        <a:t>标准化服务合约</a:t>
                      </a:r>
                    </a:p>
                    <a:p>
                      <a:r>
                        <a:rPr lang="zh-CN" altLang="en-US" sz="1600" kern="1200" baseline="0" dirty="0" smtClean="0">
                          <a:solidFill>
                            <a:schemeClr val="dk1"/>
                          </a:solidFill>
                          <a:latin typeface="+mn-lt"/>
                          <a:ea typeface="+mn-ea"/>
                          <a:cs typeface="+mn-cs"/>
                        </a:rPr>
                        <a:t>该服务能力所必需的输入输出消息与同一个库存中其他服务</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对于同样的信息集合</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所使用的消息相比是标准化的吗</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如果是，就不需要为该服务能力设计转换层，可以把它结合到该组合中</a:t>
                      </a:r>
                      <a:endParaRPr lang="zh-CN" altLang="en-US" sz="1600" dirty="0"/>
                    </a:p>
                  </a:txBody>
                  <a:tcPr marL="91436" marR="91436" marT="45723" marB="45723" anchor="ctr"/>
                </a:tc>
                <a:tc>
                  <a:txBody>
                    <a:bodyPr/>
                    <a:lstStyle/>
                    <a:p>
                      <a:r>
                        <a:rPr lang="zh-CN" altLang="en-US" sz="1600" dirty="0" smtClean="0"/>
                        <a:t>高</a:t>
                      </a:r>
                      <a:endParaRPr lang="zh-CN" altLang="en-US" sz="1600" dirty="0"/>
                    </a:p>
                  </a:txBody>
                  <a:tcPr marL="91436" marR="91436" marT="45723" marB="45723" anchor="ctr"/>
                </a:tc>
                <a:extLst>
                  <a:ext uri="{0D108BD9-81ED-4DB2-BD59-A6C34878D82A}">
                    <a16:rowId xmlns:a16="http://schemas.microsoft.com/office/drawing/2014/main" val="10002"/>
                  </a:ext>
                </a:extLst>
              </a:tr>
              <a:tr h="823013">
                <a:tc>
                  <a:txBody>
                    <a:bodyPr/>
                    <a:lstStyle/>
                    <a:p>
                      <a:r>
                        <a:rPr lang="zh-CN" altLang="en-US" sz="1600" kern="1200" baseline="0" dirty="0" smtClean="0">
                          <a:solidFill>
                            <a:schemeClr val="dk1"/>
                          </a:solidFill>
                          <a:latin typeface="+mn-lt"/>
                          <a:ea typeface="+mn-ea"/>
                          <a:cs typeface="+mn-cs"/>
                        </a:rPr>
                        <a:t>服务松散耦合</a:t>
                      </a:r>
                    </a:p>
                    <a:p>
                      <a:r>
                        <a:rPr lang="zh-CN" altLang="en-US" sz="1600" kern="1200" baseline="0" dirty="0" smtClean="0">
                          <a:solidFill>
                            <a:schemeClr val="dk1"/>
                          </a:solidFill>
                          <a:latin typeface="+mn-lt"/>
                          <a:ea typeface="+mn-ea"/>
                          <a:cs typeface="+mn-cs"/>
                        </a:rPr>
                        <a:t>服务能力是否避免了高层的实现、技术、合约与逻辑之间以及功能性的耦合</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每个负面的稿合都会为设计引入复杂性和不灵活性，不利于整体的组合</a:t>
                      </a:r>
                      <a:endParaRPr lang="zh-CN" altLang="en-US" sz="1600" dirty="0"/>
                    </a:p>
                  </a:txBody>
                  <a:tcPr marL="91436" marR="91436" marT="45723" marB="45723" anchor="ctr"/>
                </a:tc>
                <a:tc>
                  <a:txBody>
                    <a:bodyPr/>
                    <a:lstStyle/>
                    <a:p>
                      <a:r>
                        <a:rPr lang="zh-CN" altLang="en-US" sz="1600" dirty="0" smtClean="0"/>
                        <a:t>中</a:t>
                      </a:r>
                      <a:endParaRPr lang="zh-CN" altLang="en-US" sz="1600" dirty="0"/>
                    </a:p>
                  </a:txBody>
                  <a:tcPr marL="91436" marR="91436" marT="45723" marB="45723" anchor="ctr"/>
                </a:tc>
                <a:extLst>
                  <a:ext uri="{0D108BD9-81ED-4DB2-BD59-A6C34878D82A}">
                    <a16:rowId xmlns:a16="http://schemas.microsoft.com/office/drawing/2014/main" val="10003"/>
                  </a:ext>
                </a:extLst>
              </a:tr>
              <a:tr h="1066868">
                <a:tc>
                  <a:txBody>
                    <a:bodyPr/>
                    <a:lstStyle/>
                    <a:p>
                      <a:r>
                        <a:rPr lang="zh-CN" altLang="en-US" sz="1600" kern="1200" baseline="0" dirty="0" smtClean="0">
                          <a:solidFill>
                            <a:schemeClr val="dk1"/>
                          </a:solidFill>
                          <a:latin typeface="+mn-lt"/>
                          <a:ea typeface="+mn-ea"/>
                          <a:cs typeface="+mn-cs"/>
                        </a:rPr>
                        <a:t>服务抽象</a:t>
                      </a:r>
                    </a:p>
                    <a:p>
                      <a:r>
                        <a:rPr lang="zh-CN" altLang="en-US" sz="1600" kern="1200" baseline="0" dirty="0" smtClean="0">
                          <a:solidFill>
                            <a:schemeClr val="dk1"/>
                          </a:solidFill>
                          <a:latin typeface="+mn-lt"/>
                          <a:ea typeface="+mn-ea"/>
                          <a:cs typeface="+mn-cs"/>
                        </a:rPr>
                        <a:t>对于该服务能力所抽象的所有的元信息，是否清楚地描述了服务特征的重要性质</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只要使用了合适的保障机制，服务能力就可以被加入到组合中去，同时保持对底层实现细节的抽象</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可能会包含进一步的组合逻辑</a:t>
                      </a:r>
                      <a:r>
                        <a:rPr lang="en-US" altLang="zh-CN" sz="1600" kern="1200" baseline="0" dirty="0" smtClean="0">
                          <a:solidFill>
                            <a:schemeClr val="dk1"/>
                          </a:solidFill>
                          <a:latin typeface="+mn-lt"/>
                          <a:ea typeface="+mn-ea"/>
                          <a:cs typeface="+mn-cs"/>
                        </a:rPr>
                        <a:t>)</a:t>
                      </a:r>
                      <a:endParaRPr lang="zh-CN" altLang="en-US" sz="1600" dirty="0"/>
                    </a:p>
                  </a:txBody>
                  <a:tcPr marL="91436" marR="91436" marT="45723" marB="4572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中</a:t>
                      </a:r>
                    </a:p>
                    <a:p>
                      <a:endParaRPr lang="zh-CN" altLang="en-US" sz="1600" dirty="0"/>
                    </a:p>
                  </a:txBody>
                  <a:tcPr marL="91436" marR="91436" marT="45723" marB="45723" anchor="ctr"/>
                </a:tc>
                <a:extLst>
                  <a:ext uri="{0D108BD9-81ED-4DB2-BD59-A6C34878D82A}">
                    <a16:rowId xmlns:a16="http://schemas.microsoft.com/office/drawing/2014/main" val="10004"/>
                  </a:ext>
                </a:extLst>
              </a:tr>
              <a:tr h="1066868">
                <a:tc>
                  <a:txBody>
                    <a:bodyPr/>
                    <a:lstStyle/>
                    <a:p>
                      <a:r>
                        <a:rPr lang="zh-CN" altLang="en-US" sz="1600" kern="1200" baseline="0" dirty="0" smtClean="0">
                          <a:solidFill>
                            <a:schemeClr val="dk1"/>
                          </a:solidFill>
                          <a:latin typeface="+mn-lt"/>
                          <a:ea typeface="+mn-ea"/>
                          <a:cs typeface="+mn-cs"/>
                        </a:rPr>
                        <a:t>服务可复用性</a:t>
                      </a:r>
                    </a:p>
                    <a:p>
                      <a:r>
                        <a:rPr lang="zh-CN" altLang="en-US" sz="1600" kern="1200" baseline="0" dirty="0" smtClean="0">
                          <a:solidFill>
                            <a:schemeClr val="dk1"/>
                          </a:solidFill>
                          <a:latin typeface="+mn-lt"/>
                          <a:ea typeface="+mn-ea"/>
                          <a:cs typeface="+mn-cs"/>
                        </a:rPr>
                        <a:t>服务能力是为了高可复用性而设计的吗</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那些采取了有针对性的或者完整的可复用性措施的服务能力，会更容易在组合设计中被直接应用</a:t>
                      </a:r>
                      <a:endParaRPr lang="zh-CN" altLang="en-US" sz="1600" dirty="0"/>
                    </a:p>
                  </a:txBody>
                  <a:tcPr marL="91436" marR="91436" marT="45723" marB="45723" anchor="ctr"/>
                </a:tc>
                <a:tc>
                  <a:txBody>
                    <a:bodyPr/>
                    <a:lstStyle/>
                    <a:p>
                      <a:r>
                        <a:rPr lang="zh-CN" altLang="en-US" sz="1600" kern="1200" baseline="0" dirty="0" smtClean="0">
                          <a:solidFill>
                            <a:schemeClr val="dk1"/>
                          </a:solidFill>
                          <a:latin typeface="+mn-lt"/>
                          <a:ea typeface="+mn-ea"/>
                          <a:cs typeface="+mn-cs"/>
                        </a:rPr>
                        <a:t>高</a:t>
                      </a:r>
                      <a:endParaRPr lang="zh-CN" altLang="en-US" sz="1600" dirty="0"/>
                    </a:p>
                  </a:txBody>
                  <a:tcPr marL="91436" marR="91436" marT="45723" marB="45723" anchor="ctr"/>
                </a:tc>
                <a:extLst>
                  <a:ext uri="{0D108BD9-81ED-4DB2-BD59-A6C34878D82A}">
                    <a16:rowId xmlns:a16="http://schemas.microsoft.com/office/drawing/2014/main" val="10005"/>
                  </a:ext>
                </a:extLst>
              </a:tr>
            </a:tbl>
          </a:graphicData>
        </a:graphic>
      </p:graphicFrame>
      <p:sp>
        <p:nvSpPr>
          <p:cNvPr id="57369"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0DD1D3E-CE3A-4943-A240-09B520E8EFBD}" type="slidenum">
              <a:rPr lang="en-US" altLang="zh-CN" smtClean="0"/>
              <a:pPr/>
              <a:t>45</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设计阶段（</a:t>
            </a:r>
            <a:r>
              <a:rPr lang="en-US" altLang="zh-CN" dirty="0" smtClean="0"/>
              <a:t>2/2</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53064020"/>
              </p:ext>
            </p:extLst>
          </p:nvPr>
        </p:nvGraphicFramePr>
        <p:xfrm>
          <a:off x="395536" y="1484784"/>
          <a:ext cx="8506966" cy="4638674"/>
        </p:xfrm>
        <a:graphic>
          <a:graphicData uri="http://schemas.openxmlformats.org/drawingml/2006/table">
            <a:tbl>
              <a:tblPr firstRow="1" bandRow="1">
                <a:tableStyleId>{5C22544A-7EE6-4342-B048-85BDC9FD1C3A}</a:tableStyleId>
              </a:tblPr>
              <a:tblGrid>
                <a:gridCol w="7632560">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891">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26" marB="45726" anchor="ctr"/>
                </a:tc>
                <a:tc hMerge="1">
                  <a:txBody>
                    <a:bodyPr/>
                    <a:lstStyle/>
                    <a:p>
                      <a:endParaRPr lang="zh-CN" altLang="en-US" dirty="0"/>
                    </a:p>
                  </a:txBody>
                  <a:tcPr/>
                </a:tc>
                <a:extLst>
                  <a:ext uri="{0D108BD9-81ED-4DB2-BD59-A6C34878D82A}">
                    <a16:rowId xmlns:a16="http://schemas.microsoft.com/office/drawing/2014/main" val="10000"/>
                  </a:ext>
                </a:extLst>
              </a:tr>
              <a:tr h="579199">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26" marB="45726"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26" marB="45726"/>
                </a:tc>
                <a:extLst>
                  <a:ext uri="{0D108BD9-81ED-4DB2-BD59-A6C34878D82A}">
                    <a16:rowId xmlns:a16="http://schemas.microsoft.com/office/drawing/2014/main" val="10001"/>
                  </a:ext>
                </a:extLst>
              </a:tr>
              <a:tr h="1310819">
                <a:tc>
                  <a:txBody>
                    <a:bodyPr/>
                    <a:lstStyle/>
                    <a:p>
                      <a:r>
                        <a:rPr lang="zh-CN" altLang="en-US" sz="1600" kern="1200" baseline="0" dirty="0" smtClean="0">
                          <a:solidFill>
                            <a:schemeClr val="dk1"/>
                          </a:solidFill>
                          <a:latin typeface="+mn-lt"/>
                          <a:ea typeface="+mn-ea"/>
                          <a:cs typeface="+mn-cs"/>
                        </a:rPr>
                        <a:t>服务自治</a:t>
                      </a:r>
                    </a:p>
                    <a:p>
                      <a:r>
                        <a:rPr lang="zh-CN" altLang="en-US" sz="1600" kern="1200" baseline="0" dirty="0" smtClean="0">
                          <a:solidFill>
                            <a:schemeClr val="dk1"/>
                          </a:solidFill>
                          <a:latin typeface="+mn-lt"/>
                          <a:ea typeface="+mn-ea"/>
                          <a:cs typeface="+mn-cs"/>
                        </a:rPr>
                        <a:t>该能力作为一个服务的一部分的设计，相对于同一个库存内的其他服务来说是规范化的吗</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它是否具有相当级别的服务逻辑的自治</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如果被组合的服务能力来自于那些具有服务合约自治性，同时又不对运行时自治提出过于严格的限制的服务，那么组合设计将会得到直接的简化</a:t>
                      </a:r>
                      <a:endParaRPr lang="zh-CN" altLang="en-US" sz="1600" dirty="0"/>
                    </a:p>
                  </a:txBody>
                  <a:tcPr marL="91436" marR="91436" marT="45726" marB="45726" anchor="ctr"/>
                </a:tc>
                <a:tc>
                  <a:txBody>
                    <a:bodyPr/>
                    <a:lstStyle/>
                    <a:p>
                      <a:r>
                        <a:rPr lang="zh-CN" altLang="en-US" sz="1600" dirty="0" smtClean="0"/>
                        <a:t>中</a:t>
                      </a:r>
                      <a:endParaRPr lang="zh-CN" altLang="en-US" sz="1600" dirty="0"/>
                    </a:p>
                  </a:txBody>
                  <a:tcPr marL="91436" marR="91436" marT="45726" marB="45726"/>
                </a:tc>
                <a:extLst>
                  <a:ext uri="{0D108BD9-81ED-4DB2-BD59-A6C34878D82A}">
                    <a16:rowId xmlns:a16="http://schemas.microsoft.com/office/drawing/2014/main" val="10002"/>
                  </a:ext>
                </a:extLst>
              </a:tr>
              <a:tr h="1066946">
                <a:tc>
                  <a:txBody>
                    <a:bodyPr/>
                    <a:lstStyle/>
                    <a:p>
                      <a:r>
                        <a:rPr lang="zh-CN" altLang="en-US" sz="1600" kern="1200" baseline="0" dirty="0" smtClean="0">
                          <a:solidFill>
                            <a:schemeClr val="dk1"/>
                          </a:solidFill>
                          <a:latin typeface="+mn-lt"/>
                          <a:ea typeface="+mn-ea"/>
                          <a:cs typeface="+mn-cs"/>
                        </a:rPr>
                        <a:t>服务无状态性</a:t>
                      </a:r>
                    </a:p>
                    <a:p>
                      <a:r>
                        <a:rPr lang="zh-CN" altLang="en-US" sz="1600" kern="1200" baseline="0" dirty="0" smtClean="0">
                          <a:solidFill>
                            <a:schemeClr val="dk1"/>
                          </a:solidFill>
                          <a:latin typeface="+mn-lt"/>
                          <a:ea typeface="+mn-ea"/>
                          <a:cs typeface="+mn-cs"/>
                        </a:rPr>
                        <a:t>该服务能力是否利用了和同一个库存内的其他服务相一致的状态管理延迟方法</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如果不是，那么需要对服务活动处理的需求进行评估，以了解由于状态数据的迁移而带来的潜在的不兼容性将如何影响服务的组合</a:t>
                      </a:r>
                      <a:endParaRPr lang="zh-CN" altLang="en-US" sz="1600" dirty="0"/>
                    </a:p>
                  </a:txBody>
                  <a:tcPr marL="91436" marR="91436" marT="45726" marB="45726" anchor="ctr"/>
                </a:tc>
                <a:tc>
                  <a:txBody>
                    <a:bodyPr/>
                    <a:lstStyle/>
                    <a:p>
                      <a:r>
                        <a:rPr lang="zh-CN" altLang="en-US" sz="1600" dirty="0" smtClean="0"/>
                        <a:t>低</a:t>
                      </a:r>
                      <a:endParaRPr lang="zh-CN" altLang="en-US" sz="1600" dirty="0"/>
                    </a:p>
                  </a:txBody>
                  <a:tcPr marL="91436" marR="91436" marT="45726" marB="45726"/>
                </a:tc>
                <a:extLst>
                  <a:ext uri="{0D108BD9-81ED-4DB2-BD59-A6C34878D82A}">
                    <a16:rowId xmlns:a16="http://schemas.microsoft.com/office/drawing/2014/main" val="10003"/>
                  </a:ext>
                </a:extLst>
              </a:tr>
              <a:tr h="1310819">
                <a:tc>
                  <a:txBody>
                    <a:bodyPr/>
                    <a:lstStyle/>
                    <a:p>
                      <a:r>
                        <a:rPr lang="zh-CN" altLang="en-US" sz="1600" kern="1200" baseline="0" dirty="0" smtClean="0">
                          <a:solidFill>
                            <a:schemeClr val="dk1"/>
                          </a:solidFill>
                          <a:latin typeface="+mn-lt"/>
                          <a:ea typeface="+mn-ea"/>
                          <a:cs typeface="+mn-cs"/>
                        </a:rPr>
                        <a:t>服务可发现性</a:t>
                      </a:r>
                    </a:p>
                    <a:p>
                      <a:r>
                        <a:rPr lang="zh-CN" altLang="en-US" sz="1600" kern="1200" baseline="0" dirty="0" smtClean="0">
                          <a:solidFill>
                            <a:schemeClr val="dk1"/>
                          </a:solidFill>
                          <a:latin typeface="+mn-lt"/>
                          <a:ea typeface="+mn-ea"/>
                          <a:cs typeface="+mn-cs"/>
                        </a:rPr>
                        <a:t>服务是否具有所有必须的元数据，以便组合设计人员可以容易地定位和理解该服务</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和本表中的各项相对应的设计特性的记录，包括优点和缺点，有助于组合设计者评估一个服务能力是否适合计划中的组合配置</a:t>
                      </a:r>
                      <a:endParaRPr lang="zh-CN" altLang="en-US" sz="1600" dirty="0"/>
                    </a:p>
                  </a:txBody>
                  <a:tcPr marL="91436" marR="91436" marT="45726" marB="45726" anchor="ctr"/>
                </a:tc>
                <a:tc>
                  <a:txBody>
                    <a:bodyPr/>
                    <a:lstStyle/>
                    <a:p>
                      <a:r>
                        <a:rPr lang="zh-CN" altLang="en-US" sz="1600" dirty="0" smtClean="0"/>
                        <a:t>高</a:t>
                      </a:r>
                      <a:endParaRPr lang="zh-CN" altLang="en-US" sz="1600" dirty="0"/>
                    </a:p>
                  </a:txBody>
                  <a:tcPr marL="91436" marR="91436" marT="45726" marB="45726"/>
                </a:tc>
                <a:extLst>
                  <a:ext uri="{0D108BD9-81ED-4DB2-BD59-A6C34878D82A}">
                    <a16:rowId xmlns:a16="http://schemas.microsoft.com/office/drawing/2014/main" val="10004"/>
                  </a:ext>
                </a:extLst>
              </a:tr>
            </a:tbl>
          </a:graphicData>
        </a:graphic>
      </p:graphicFrame>
      <p:sp>
        <p:nvSpPr>
          <p:cNvPr id="58390"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D7D2B31-2477-4686-987A-724BDA160991}" type="slidenum">
              <a:rPr lang="en-US" altLang="zh-CN" smtClean="0"/>
              <a:pPr/>
              <a:t>46</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运行时阶段（</a:t>
            </a:r>
            <a:r>
              <a:rPr lang="en-US" altLang="zh-CN" dirty="0" smtClean="0"/>
              <a:t>1/3</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29819040"/>
              </p:ext>
            </p:extLst>
          </p:nvPr>
        </p:nvGraphicFramePr>
        <p:xfrm>
          <a:off x="400050" y="1340768"/>
          <a:ext cx="8362950" cy="4881788"/>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796">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14" marB="45714"/>
                </a:tc>
                <a:tc hMerge="1">
                  <a:txBody>
                    <a:bodyPr/>
                    <a:lstStyle/>
                    <a:p>
                      <a:endParaRPr lang="zh-CN" altLang="en-US" dirty="0"/>
                    </a:p>
                  </a:txBody>
                  <a:tcPr/>
                </a:tc>
                <a:extLst>
                  <a:ext uri="{0D108BD9-81ED-4DB2-BD59-A6C34878D82A}">
                    <a16:rowId xmlns:a16="http://schemas.microsoft.com/office/drawing/2014/main" val="10000"/>
                  </a:ext>
                </a:extLst>
              </a:tr>
              <a:tr h="579082">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14" marB="45714"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14" marB="45714" anchor="ctr"/>
                </a:tc>
                <a:extLst>
                  <a:ext uri="{0D108BD9-81ED-4DB2-BD59-A6C34878D82A}">
                    <a16:rowId xmlns:a16="http://schemas.microsoft.com/office/drawing/2014/main" val="10001"/>
                  </a:ext>
                </a:extLst>
              </a:tr>
              <a:tr h="1066735">
                <a:tc>
                  <a:txBody>
                    <a:bodyPr/>
                    <a:lstStyle/>
                    <a:p>
                      <a:r>
                        <a:rPr lang="zh-CN" altLang="en-US" sz="1600" kern="1200" baseline="0" dirty="0" smtClean="0">
                          <a:solidFill>
                            <a:schemeClr val="dk1"/>
                          </a:solidFill>
                          <a:latin typeface="+mn-lt"/>
                          <a:ea typeface="+mn-ea"/>
                          <a:cs typeface="+mn-cs"/>
                        </a:rPr>
                        <a:t>标准化服务合约</a:t>
                      </a:r>
                    </a:p>
                    <a:p>
                      <a:r>
                        <a:rPr lang="zh-CN" altLang="en-US" sz="1600" kern="1200" baseline="0" dirty="0" smtClean="0">
                          <a:solidFill>
                            <a:schemeClr val="dk1"/>
                          </a:solidFill>
                          <a:latin typeface="+mn-lt"/>
                          <a:ea typeface="+mn-ea"/>
                          <a:cs typeface="+mn-cs"/>
                        </a:rPr>
                        <a:t>该服务能力是否消除了对运行时转换的依赖</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尽管这是对设计时提出的问题的重复，但是不同点在于：为了在不同的消息数据模型间进行转换而引发的对转换层的调用会增加运行时的性能开销</a:t>
                      </a:r>
                      <a:endParaRPr lang="zh-CN" altLang="en-US" sz="1600" dirty="0"/>
                    </a:p>
                  </a:txBody>
                  <a:tcPr marL="91436" marR="91436" marT="45714" marB="45714" anchor="ctr"/>
                </a:tc>
                <a:tc>
                  <a:txBody>
                    <a:bodyPr/>
                    <a:lstStyle/>
                    <a:p>
                      <a:r>
                        <a:rPr lang="zh-CN" altLang="en-US" sz="1600" dirty="0" smtClean="0"/>
                        <a:t>高</a:t>
                      </a:r>
                      <a:endParaRPr lang="zh-CN" altLang="en-US" sz="1600" dirty="0"/>
                    </a:p>
                  </a:txBody>
                  <a:tcPr marL="91436" marR="91436" marT="45714" marB="45714" anchor="ctr"/>
                </a:tc>
                <a:extLst>
                  <a:ext uri="{0D108BD9-81ED-4DB2-BD59-A6C34878D82A}">
                    <a16:rowId xmlns:a16="http://schemas.microsoft.com/office/drawing/2014/main" val="10002"/>
                  </a:ext>
                </a:extLst>
              </a:tr>
              <a:tr h="1310562">
                <a:tc>
                  <a:txBody>
                    <a:bodyPr/>
                    <a:lstStyle/>
                    <a:p>
                      <a:r>
                        <a:rPr lang="zh-CN" altLang="en-US" sz="1600" kern="1200" baseline="0" dirty="0" smtClean="0">
                          <a:solidFill>
                            <a:schemeClr val="dk1"/>
                          </a:solidFill>
                          <a:latin typeface="+mn-lt"/>
                          <a:ea typeface="+mn-ea"/>
                          <a:cs typeface="+mn-cs"/>
                        </a:rPr>
                        <a:t>服务松散耦合</a:t>
                      </a:r>
                    </a:p>
                    <a:p>
                      <a:r>
                        <a:rPr lang="zh-CN" altLang="en-US" sz="1600" kern="1200" baseline="0" dirty="0" smtClean="0">
                          <a:solidFill>
                            <a:schemeClr val="dk1"/>
                          </a:solidFill>
                          <a:latin typeface="+mn-lt"/>
                          <a:ea typeface="+mn-ea"/>
                          <a:cs typeface="+mn-cs"/>
                        </a:rPr>
                        <a:t>该服务能力是否不依赖于与整个企业系统的其他部分共享的任何外部实现资源</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判断实现耦合是否会在运行时引入不可预知的行为是可能的，这取决于是谁来评估服务能力以及多少底层细节得到了抽象。作为选择，这些信息也可能被归档在附属的</a:t>
                      </a:r>
                      <a:r>
                        <a:rPr lang="en-US" altLang="zh-CN" sz="1600" kern="1200" baseline="0" dirty="0" smtClean="0">
                          <a:solidFill>
                            <a:schemeClr val="dk1"/>
                          </a:solidFill>
                          <a:latin typeface="+mn-lt"/>
                          <a:ea typeface="+mn-ea"/>
                          <a:cs typeface="+mn-cs"/>
                        </a:rPr>
                        <a:t>SLA </a:t>
                      </a:r>
                      <a:r>
                        <a:rPr lang="zh-CN" altLang="en-US" sz="1600" kern="1200" baseline="0" dirty="0" smtClean="0">
                          <a:solidFill>
                            <a:schemeClr val="dk1"/>
                          </a:solidFill>
                          <a:latin typeface="+mn-lt"/>
                          <a:ea typeface="+mn-ea"/>
                          <a:cs typeface="+mn-cs"/>
                        </a:rPr>
                        <a:t>中</a:t>
                      </a:r>
                      <a:endParaRPr lang="zh-CN" altLang="en-US" sz="1600" dirty="0"/>
                    </a:p>
                  </a:txBody>
                  <a:tcPr marL="91436" marR="91436" marT="45714" marB="45714" anchor="ctr"/>
                </a:tc>
                <a:tc>
                  <a:txBody>
                    <a:bodyPr/>
                    <a:lstStyle/>
                    <a:p>
                      <a:r>
                        <a:rPr lang="zh-CN" altLang="en-US" sz="1600" dirty="0" smtClean="0"/>
                        <a:t>中</a:t>
                      </a:r>
                      <a:endParaRPr lang="zh-CN" altLang="en-US" sz="1600" dirty="0"/>
                    </a:p>
                  </a:txBody>
                  <a:tcPr marL="91436" marR="91436" marT="45714" marB="45714" anchor="ctr"/>
                </a:tc>
                <a:extLst>
                  <a:ext uri="{0D108BD9-81ED-4DB2-BD59-A6C34878D82A}">
                    <a16:rowId xmlns:a16="http://schemas.microsoft.com/office/drawing/2014/main" val="10003"/>
                  </a:ext>
                </a:extLst>
              </a:tr>
              <a:tr h="1554388">
                <a:tc>
                  <a:txBody>
                    <a:bodyPr/>
                    <a:lstStyle/>
                    <a:p>
                      <a:r>
                        <a:rPr lang="zh-CN" altLang="en-US" sz="1600" kern="1200" baseline="0" dirty="0" smtClean="0">
                          <a:solidFill>
                            <a:schemeClr val="dk1"/>
                          </a:solidFill>
                          <a:latin typeface="+mn-lt"/>
                          <a:ea typeface="+mn-ea"/>
                          <a:cs typeface="+mn-cs"/>
                        </a:rPr>
                        <a:t>服务抽象</a:t>
                      </a:r>
                    </a:p>
                    <a:p>
                      <a:r>
                        <a:rPr lang="zh-CN" altLang="en-US" sz="1600" kern="1200" baseline="0" dirty="0" smtClean="0">
                          <a:solidFill>
                            <a:schemeClr val="dk1"/>
                          </a:solidFill>
                          <a:latin typeface="+mn-lt"/>
                          <a:ea typeface="+mn-ea"/>
                          <a:cs typeface="+mn-cs"/>
                        </a:rPr>
                        <a:t>如果底层的实现细节得到了隐藏或保护，该服务能力所具有的所有和组合有关的运行时特性是否都已作为策略、配置或者</a:t>
                      </a:r>
                      <a:r>
                        <a:rPr lang="en-US" altLang="zh-CN" sz="1600" kern="1200" baseline="0" dirty="0" smtClean="0">
                          <a:solidFill>
                            <a:schemeClr val="dk1"/>
                          </a:solidFill>
                          <a:latin typeface="+mn-lt"/>
                          <a:ea typeface="+mn-ea"/>
                          <a:cs typeface="+mn-cs"/>
                        </a:rPr>
                        <a:t>SLA </a:t>
                      </a:r>
                      <a:r>
                        <a:rPr lang="zh-CN" altLang="en-US" sz="1600" kern="1200" baseline="0" dirty="0" smtClean="0">
                          <a:solidFill>
                            <a:schemeClr val="dk1"/>
                          </a:solidFill>
                          <a:latin typeface="+mn-lt"/>
                          <a:ea typeface="+mn-ea"/>
                          <a:cs typeface="+mn-cs"/>
                        </a:rPr>
                        <a:t>中的一部分得到了正确的归档</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只要服务组合的所有者在设计该组合时能够保证遵循已知的服务能力上的限制，并且当能力作为己部署组合的一部分处于活跃状态时，其他的可靠性保障机制都能得到满足，那么抽象就不应成为一个问题</a:t>
                      </a:r>
                      <a:endParaRPr lang="zh-CN" altLang="en-US" sz="1600" dirty="0"/>
                    </a:p>
                  </a:txBody>
                  <a:tcPr marL="91436" marR="91436" marT="45714" marB="45714"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低</a:t>
                      </a:r>
                    </a:p>
                    <a:p>
                      <a:endParaRPr lang="zh-CN" altLang="en-US" sz="1600" dirty="0"/>
                    </a:p>
                  </a:txBody>
                  <a:tcPr marL="91436" marR="91436" marT="45714" marB="45714" anchor="ctr"/>
                </a:tc>
                <a:extLst>
                  <a:ext uri="{0D108BD9-81ED-4DB2-BD59-A6C34878D82A}">
                    <a16:rowId xmlns:a16="http://schemas.microsoft.com/office/drawing/2014/main" val="10004"/>
                  </a:ext>
                </a:extLst>
              </a:tr>
            </a:tbl>
          </a:graphicData>
        </a:graphic>
      </p:graphicFrame>
      <p:sp>
        <p:nvSpPr>
          <p:cNvPr id="5941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09C6F67-B8CB-4BAA-B9EE-A7C4AD98988C}" type="slidenum">
              <a:rPr lang="en-US" altLang="zh-CN" smtClean="0"/>
              <a:pPr/>
              <a:t>47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运行时阶段（</a:t>
            </a:r>
            <a:r>
              <a:rPr lang="en-US" altLang="zh-CN" dirty="0" smtClean="0"/>
              <a:t>2/3</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41271566"/>
              </p:ext>
            </p:extLst>
          </p:nvPr>
        </p:nvGraphicFramePr>
        <p:xfrm>
          <a:off x="403180" y="1772816"/>
          <a:ext cx="8362950" cy="4302663"/>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785">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13" marB="45713" anchor="ctr"/>
                </a:tc>
                <a:tc hMerge="1">
                  <a:txBody>
                    <a:bodyPr/>
                    <a:lstStyle/>
                    <a:p>
                      <a:endParaRPr lang="zh-CN" altLang="en-US" dirty="0"/>
                    </a:p>
                  </a:txBody>
                  <a:tcPr/>
                </a:tc>
                <a:extLst>
                  <a:ext uri="{0D108BD9-81ED-4DB2-BD59-A6C34878D82A}">
                    <a16:rowId xmlns:a16="http://schemas.microsoft.com/office/drawing/2014/main" val="10000"/>
                  </a:ext>
                </a:extLst>
              </a:tr>
              <a:tr h="579035">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13" marB="45713"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13" marB="45713" anchor="ctr"/>
                </a:tc>
                <a:extLst>
                  <a:ext uri="{0D108BD9-81ED-4DB2-BD59-A6C34878D82A}">
                    <a16:rowId xmlns:a16="http://schemas.microsoft.com/office/drawing/2014/main" val="10001"/>
                  </a:ext>
                </a:extLst>
              </a:tr>
              <a:tr h="13104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服务可复用性</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服务能力在其他的服务消费者程序或服务组合那里得到了合理的复用吗</a:t>
                      </a:r>
                      <a:r>
                        <a:rPr lang="en-US" altLang="zh-CN" sz="16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基于能否拿到前面提到的这个统计数据，组合设计者可以评价一个服务能力能否适应新的组合。作为选择，如果服务的所有者可以利用一个强大的托管环境，保证运行时的性能及可预测性，那么并发使用也应该被考虑在内</a:t>
                      </a:r>
                      <a:endParaRPr lang="zh-CN" altLang="en-US" sz="1600" dirty="0"/>
                    </a:p>
                  </a:txBody>
                  <a:tcPr marL="91436" marR="91436" marT="45713" marB="45713" anchor="ctr"/>
                </a:tc>
                <a:tc>
                  <a:txBody>
                    <a:bodyPr/>
                    <a:lstStyle/>
                    <a:p>
                      <a:r>
                        <a:rPr lang="zh-CN" altLang="en-US" sz="1600" dirty="0" smtClean="0"/>
                        <a:t>中</a:t>
                      </a:r>
                      <a:endParaRPr lang="zh-CN" altLang="en-US" sz="1600" dirty="0"/>
                    </a:p>
                  </a:txBody>
                  <a:tcPr marL="91436" marR="91436" marT="45713" marB="45713" anchor="ctr"/>
                </a:tc>
                <a:extLst>
                  <a:ext uri="{0D108BD9-81ED-4DB2-BD59-A6C34878D82A}">
                    <a16:rowId xmlns:a16="http://schemas.microsoft.com/office/drawing/2014/main" val="10002"/>
                  </a:ext>
                </a:extLst>
              </a:tr>
              <a:tr h="2041859">
                <a:tc>
                  <a:txBody>
                    <a:bodyPr/>
                    <a:lstStyle/>
                    <a:p>
                      <a:r>
                        <a:rPr lang="zh-CN" altLang="en-US" sz="1600" kern="1200" baseline="0" dirty="0" smtClean="0">
                          <a:solidFill>
                            <a:schemeClr val="dk1"/>
                          </a:solidFill>
                          <a:latin typeface="+mn-lt"/>
                          <a:ea typeface="+mn-ea"/>
                          <a:cs typeface="+mn-cs"/>
                        </a:rPr>
                        <a:t>服务自治</a:t>
                      </a:r>
                    </a:p>
                    <a:p>
                      <a:r>
                        <a:rPr lang="zh-CN" altLang="en-US" sz="1600" kern="1200" baseline="0" dirty="0" smtClean="0">
                          <a:solidFill>
                            <a:schemeClr val="dk1"/>
                          </a:solidFill>
                          <a:latin typeface="+mn-lt"/>
                          <a:ea typeface="+mn-ea"/>
                          <a:cs typeface="+mn-cs"/>
                        </a:rPr>
                        <a:t>该服务能力在运行时刻对其自身的执行有足够的控制能力吗</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这通常是服务在</a:t>
                      </a:r>
                      <a:r>
                        <a:rPr lang="en-US" altLang="zh-CN" sz="1600" kern="1200" baseline="0" dirty="0" smtClean="0">
                          <a:solidFill>
                            <a:schemeClr val="dk1"/>
                          </a:solidFill>
                          <a:latin typeface="+mn-lt"/>
                          <a:ea typeface="+mn-ea"/>
                          <a:cs typeface="+mn-cs"/>
                        </a:rPr>
                        <a:t>SLA </a:t>
                      </a:r>
                      <a:r>
                        <a:rPr lang="zh-CN" altLang="en-US" sz="1600" kern="1200" baseline="0" dirty="0" smtClean="0">
                          <a:solidFill>
                            <a:schemeClr val="dk1"/>
                          </a:solidFill>
                          <a:latin typeface="+mn-lt"/>
                          <a:ea typeface="+mn-ea"/>
                          <a:cs typeface="+mn-cs"/>
                        </a:rPr>
                        <a:t>或策略中所发布的一个关键信息。提供自治的级别可以使组合设计者能够决定该能力是否会影响组合作为一个整体的性能和可靠性，以及为了提高组合整体的自治能力，是否一定需要降低单个能力的孤立级别</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在这种情形下，可能需要考虑冗余服务实现</a:t>
                      </a:r>
                      <a:r>
                        <a:rPr lang="en-US" altLang="zh-CN" sz="1600" kern="1200" baseline="0" dirty="0" smtClean="0">
                          <a:solidFill>
                            <a:schemeClr val="dk1"/>
                          </a:solidFill>
                          <a:latin typeface="+mn-lt"/>
                          <a:ea typeface="+mn-ea"/>
                          <a:cs typeface="+mn-cs"/>
                        </a:rPr>
                        <a:t>) </a:t>
                      </a:r>
                      <a:endParaRPr lang="zh-CN" altLang="en-US" sz="1600" kern="1200" baseline="0" dirty="0" smtClean="0">
                        <a:solidFill>
                          <a:schemeClr val="dk1"/>
                        </a:solidFill>
                        <a:latin typeface="+mn-lt"/>
                        <a:ea typeface="+mn-ea"/>
                        <a:cs typeface="+mn-cs"/>
                      </a:endParaRPr>
                    </a:p>
                    <a:p>
                      <a:r>
                        <a:rPr lang="zh-CN" altLang="en-US" sz="1600" kern="1200" baseline="0" dirty="0" smtClean="0">
                          <a:solidFill>
                            <a:schemeClr val="dk1"/>
                          </a:solidFill>
                          <a:latin typeface="+mn-lt"/>
                          <a:ea typeface="+mn-ea"/>
                          <a:cs typeface="+mn-cs"/>
                        </a:rPr>
                        <a:t>这种决策也是服务在组合中所扮演的角色的一部分</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如果服务是一个顺序执行过程中的一部分，这种影响将会被放大</a:t>
                      </a:r>
                      <a:r>
                        <a:rPr lang="en-US" altLang="zh-CN" sz="1600" kern="1200" baseline="0" dirty="0" smtClean="0">
                          <a:solidFill>
                            <a:schemeClr val="dk1"/>
                          </a:solidFill>
                          <a:latin typeface="+mn-lt"/>
                          <a:ea typeface="+mn-ea"/>
                          <a:cs typeface="+mn-cs"/>
                        </a:rPr>
                        <a:t>)</a:t>
                      </a:r>
                      <a:endParaRPr lang="zh-CN" altLang="en-US" sz="1600" dirty="0"/>
                    </a:p>
                  </a:txBody>
                  <a:tcPr marL="91436" marR="91436" marT="45713" marB="45713" anchor="ctr"/>
                </a:tc>
                <a:tc>
                  <a:txBody>
                    <a:bodyPr/>
                    <a:lstStyle/>
                    <a:p>
                      <a:r>
                        <a:rPr lang="zh-CN" altLang="en-US" sz="1600" dirty="0" smtClean="0"/>
                        <a:t>高</a:t>
                      </a:r>
                      <a:endParaRPr lang="zh-CN" altLang="en-US" sz="1600" dirty="0"/>
                    </a:p>
                  </a:txBody>
                  <a:tcPr marL="91436" marR="91436" marT="45713" marB="45713" anchor="ctr"/>
                </a:tc>
                <a:extLst>
                  <a:ext uri="{0D108BD9-81ED-4DB2-BD59-A6C34878D82A}">
                    <a16:rowId xmlns:a16="http://schemas.microsoft.com/office/drawing/2014/main" val="10003"/>
                  </a:ext>
                </a:extLst>
              </a:tr>
            </a:tbl>
          </a:graphicData>
        </a:graphic>
      </p:graphicFrame>
      <p:sp>
        <p:nvSpPr>
          <p:cNvPr id="60435"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95274D5-15C5-403A-B1B7-B4E82AF762B5}" type="slidenum">
              <a:rPr lang="en-US" altLang="zh-CN" smtClean="0"/>
              <a:pPr/>
              <a:t>48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运行时阶段（</a:t>
            </a:r>
            <a:r>
              <a:rPr lang="en-US" altLang="zh-CN" dirty="0" smtClean="0"/>
              <a:t>3/3</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239665981"/>
              </p:ext>
            </p:extLst>
          </p:nvPr>
        </p:nvGraphicFramePr>
        <p:xfrm>
          <a:off x="421475" y="2060848"/>
          <a:ext cx="8362950" cy="3571875"/>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906">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28" marB="45728" anchor="ctr"/>
                </a:tc>
                <a:tc hMerge="1">
                  <a:txBody>
                    <a:bodyPr/>
                    <a:lstStyle/>
                    <a:p>
                      <a:endParaRPr lang="zh-CN" altLang="en-US" dirty="0"/>
                    </a:p>
                  </a:txBody>
                  <a:tcPr/>
                </a:tc>
                <a:extLst>
                  <a:ext uri="{0D108BD9-81ED-4DB2-BD59-A6C34878D82A}">
                    <a16:rowId xmlns:a16="http://schemas.microsoft.com/office/drawing/2014/main" val="10000"/>
                  </a:ext>
                </a:extLst>
              </a:tr>
              <a:tr h="579223">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28" marB="45728"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28" marB="45728" anchor="ctr"/>
                </a:tc>
                <a:extLst>
                  <a:ext uri="{0D108BD9-81ED-4DB2-BD59-A6C34878D82A}">
                    <a16:rowId xmlns:a16="http://schemas.microsoft.com/office/drawing/2014/main" val="10001"/>
                  </a:ext>
                </a:extLst>
              </a:tr>
              <a:tr h="1066990">
                <a:tc>
                  <a:txBody>
                    <a:bodyPr/>
                    <a:lstStyle/>
                    <a:p>
                      <a:pPr marL="0" algn="l" defTabSz="914400" rtl="0" eaLnBrk="1" latinLnBrk="0" hangingPunct="1"/>
                      <a:r>
                        <a:rPr lang="zh-CN" altLang="en-US" sz="1600" kern="1200" baseline="0" dirty="0" smtClean="0">
                          <a:solidFill>
                            <a:schemeClr val="dk1"/>
                          </a:solidFill>
                          <a:latin typeface="+mn-lt"/>
                          <a:ea typeface="+mn-ea"/>
                          <a:cs typeface="+mn-cs"/>
                        </a:rPr>
                        <a:t>服务无状态性</a:t>
                      </a:r>
                    </a:p>
                    <a:p>
                      <a:pPr marL="0" algn="l" defTabSz="914400" rtl="0" eaLnBrk="1" latinLnBrk="0" hangingPunct="1"/>
                      <a:r>
                        <a:rPr lang="zh-CN" altLang="en-US" sz="1600" kern="1200" baseline="0" dirty="0" smtClean="0">
                          <a:solidFill>
                            <a:schemeClr val="dk1"/>
                          </a:solidFill>
                          <a:latin typeface="+mn-lt"/>
                          <a:ea typeface="+mn-ea"/>
                          <a:cs typeface="+mn-cs"/>
                        </a:rPr>
                        <a:t>服务能力在运行时能保持一个可接受的无状态性级别吗</a:t>
                      </a:r>
                      <a:r>
                        <a:rPr lang="en-US" altLang="zh-CN" sz="1600" kern="1200" baseline="0" dirty="0" smtClean="0">
                          <a:solidFill>
                            <a:schemeClr val="dk1"/>
                          </a:solidFill>
                          <a:latin typeface="+mn-lt"/>
                          <a:ea typeface="+mn-ea"/>
                          <a:cs typeface="+mn-cs"/>
                        </a:rPr>
                        <a:t>?</a:t>
                      </a:r>
                    </a:p>
                    <a:p>
                      <a:pPr marL="0" algn="l" defTabSz="914400" rtl="0" eaLnBrk="1" latinLnBrk="0" hangingPunct="1"/>
                      <a:r>
                        <a:rPr lang="zh-CN" altLang="en-US" sz="1600" kern="1200" baseline="0" dirty="0" smtClean="0">
                          <a:solidFill>
                            <a:schemeClr val="dk1"/>
                          </a:solidFill>
                          <a:latin typeface="+mn-lt"/>
                          <a:ea typeface="+mn-ea"/>
                          <a:cs typeface="+mn-cs"/>
                        </a:rPr>
                        <a:t>了解一个服务架构是否实现了有意义级别的服务状态管理延迟，这有助于组合设计人员评估一个服务在特定的组合配置中能否处理它所遇到的活动数据</a:t>
                      </a:r>
                    </a:p>
                  </a:txBody>
                  <a:tcPr marL="91436" marR="91436" marT="45728" marB="45728" anchor="ctr"/>
                </a:tc>
                <a:tc>
                  <a:txBody>
                    <a:bodyPr/>
                    <a:lstStyle/>
                    <a:p>
                      <a:pPr marL="0" algn="l" defTabSz="914400" rtl="0" eaLnBrk="1" latinLnBrk="0" hangingPunct="1"/>
                      <a:r>
                        <a:rPr lang="zh-CN" altLang="en-US" sz="1600" kern="1200" baseline="0" dirty="0" smtClean="0">
                          <a:solidFill>
                            <a:schemeClr val="dk1"/>
                          </a:solidFill>
                          <a:latin typeface="+mn-lt"/>
                          <a:ea typeface="+mn-ea"/>
                          <a:cs typeface="+mn-cs"/>
                        </a:rPr>
                        <a:t>高</a:t>
                      </a:r>
                    </a:p>
                  </a:txBody>
                  <a:tcPr marL="91436" marR="91436" marT="45728" marB="45728" anchor="ctr"/>
                </a:tc>
                <a:extLst>
                  <a:ext uri="{0D108BD9-81ED-4DB2-BD59-A6C34878D82A}">
                    <a16:rowId xmlns:a16="http://schemas.microsoft.com/office/drawing/2014/main" val="10002"/>
                  </a:ext>
                </a:extLst>
              </a:tr>
              <a:tr h="1554756">
                <a:tc>
                  <a:txBody>
                    <a:bodyPr/>
                    <a:lstStyle/>
                    <a:p>
                      <a:pPr marL="0" algn="l" defTabSz="914400" rtl="0" eaLnBrk="1" latinLnBrk="0" hangingPunct="1"/>
                      <a:r>
                        <a:rPr lang="zh-CN" altLang="en-US" sz="1600" kern="1200" baseline="0" dirty="0" smtClean="0">
                          <a:solidFill>
                            <a:schemeClr val="dk1"/>
                          </a:solidFill>
                          <a:latin typeface="+mn-lt"/>
                          <a:ea typeface="+mn-ea"/>
                          <a:cs typeface="+mn-cs"/>
                        </a:rPr>
                        <a:t>服务可发现性</a:t>
                      </a:r>
                      <a:endParaRPr lang="en-US" altLang="zh-CN" sz="1600" kern="1200" baseline="0" dirty="0" smtClean="0">
                        <a:solidFill>
                          <a:schemeClr val="dk1"/>
                        </a:solidFill>
                        <a:latin typeface="+mn-lt"/>
                        <a:ea typeface="+mn-ea"/>
                        <a:cs typeface="+mn-cs"/>
                      </a:endParaRPr>
                    </a:p>
                    <a:p>
                      <a:pPr marL="0" algn="l" defTabSz="914400" rtl="0" eaLnBrk="1" latinLnBrk="0" hangingPunct="1"/>
                      <a:r>
                        <a:rPr lang="zh-CN" altLang="en-US" sz="1600" kern="1200" baseline="0" dirty="0" smtClean="0">
                          <a:solidFill>
                            <a:schemeClr val="dk1"/>
                          </a:solidFill>
                          <a:latin typeface="+mn-lt"/>
                          <a:ea typeface="+mn-ea"/>
                          <a:cs typeface="+mn-cs"/>
                        </a:rPr>
                        <a:t>在实现阶段之后，服务的可发现性是否会作为组合的一部分受到任何形式的限制</a:t>
                      </a:r>
                      <a:r>
                        <a:rPr lang="en-US" altLang="zh-CN" sz="1600" kern="1200" baseline="0" dirty="0" smtClean="0">
                          <a:solidFill>
                            <a:schemeClr val="dk1"/>
                          </a:solidFill>
                          <a:latin typeface="+mn-lt"/>
                          <a:ea typeface="+mn-ea"/>
                          <a:cs typeface="+mn-cs"/>
                        </a:rPr>
                        <a:t>?</a:t>
                      </a:r>
                    </a:p>
                    <a:p>
                      <a:pPr marL="0" algn="l" defTabSz="914400" rtl="0" eaLnBrk="1" latinLnBrk="0" hangingPunct="1"/>
                      <a:r>
                        <a:rPr lang="zh-CN" altLang="en-US" sz="1600" kern="1200" baseline="0" dirty="0" smtClean="0">
                          <a:solidFill>
                            <a:schemeClr val="dk1"/>
                          </a:solidFill>
                          <a:latin typeface="+mn-lt"/>
                          <a:ea typeface="+mn-ea"/>
                          <a:cs typeface="+mn-cs"/>
                        </a:rPr>
                        <a:t>对这个问题的回答通常总是</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否</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这是一个值得我们关心的问题，特别是对于那些还没有被使用过，却具有很高的可复用潜力的新服务。然而，这通常需要服务的所有者在考虑服务的可发现性的同时，确保服务不会被过度使用从而危害已有的服务消费者</a:t>
                      </a:r>
                    </a:p>
                  </a:txBody>
                  <a:tcPr marL="91436" marR="91436" marT="45728" marB="45728" anchor="ctr"/>
                </a:tc>
                <a:tc>
                  <a:txBody>
                    <a:bodyPr/>
                    <a:lstStyle/>
                    <a:p>
                      <a:pPr marL="0" algn="l" defTabSz="914400" rtl="0" eaLnBrk="1" latinLnBrk="0" hangingPunct="1"/>
                      <a:r>
                        <a:rPr lang="zh-CN" altLang="en-US" sz="1600" kern="1200" baseline="0" dirty="0" smtClean="0">
                          <a:solidFill>
                            <a:schemeClr val="dk1"/>
                          </a:solidFill>
                          <a:latin typeface="+mn-lt"/>
                          <a:ea typeface="+mn-ea"/>
                          <a:cs typeface="+mn-cs"/>
                        </a:rPr>
                        <a:t>低</a:t>
                      </a:r>
                    </a:p>
                  </a:txBody>
                  <a:tcPr marL="91436" marR="91436" marT="45728" marB="45728" anchor="ctr"/>
                </a:tc>
                <a:extLst>
                  <a:ext uri="{0D108BD9-81ED-4DB2-BD59-A6C34878D82A}">
                    <a16:rowId xmlns:a16="http://schemas.microsoft.com/office/drawing/2014/main" val="10003"/>
                  </a:ext>
                </a:extLst>
              </a:tr>
            </a:tbl>
          </a:graphicData>
        </a:graphic>
      </p:graphicFrame>
      <p:sp>
        <p:nvSpPr>
          <p:cNvPr id="61459"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8CEC87A-ECCE-41E3-963F-D999C1F163D4}" type="slidenum">
              <a:rPr lang="en-US" altLang="zh-CN" smtClean="0"/>
              <a:pPr/>
              <a:t>49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治理阶段（</a:t>
            </a:r>
            <a:r>
              <a:rPr lang="en-US" altLang="zh-CN" dirty="0" smtClean="0"/>
              <a:t>1/3</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160803965"/>
              </p:ext>
            </p:extLst>
          </p:nvPr>
        </p:nvGraphicFramePr>
        <p:xfrm>
          <a:off x="467544" y="1484784"/>
          <a:ext cx="8362950" cy="4638675"/>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891">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26" marB="45726" anchor="ctr"/>
                </a:tc>
                <a:tc hMerge="1">
                  <a:txBody>
                    <a:bodyPr/>
                    <a:lstStyle/>
                    <a:p>
                      <a:endParaRPr lang="zh-CN" altLang="en-US" dirty="0"/>
                    </a:p>
                  </a:txBody>
                  <a:tcPr/>
                </a:tc>
                <a:extLst>
                  <a:ext uri="{0D108BD9-81ED-4DB2-BD59-A6C34878D82A}">
                    <a16:rowId xmlns:a16="http://schemas.microsoft.com/office/drawing/2014/main" val="10000"/>
                  </a:ext>
                </a:extLst>
              </a:tr>
              <a:tr h="579199">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26" marB="45726"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26" marB="45726" anchor="ctr"/>
                </a:tc>
                <a:extLst>
                  <a:ext uri="{0D108BD9-81ED-4DB2-BD59-A6C34878D82A}">
                    <a16:rowId xmlns:a16="http://schemas.microsoft.com/office/drawing/2014/main" val="10001"/>
                  </a:ext>
                </a:extLst>
              </a:tr>
              <a:tr h="1066946">
                <a:tc>
                  <a:txBody>
                    <a:bodyPr/>
                    <a:lstStyle/>
                    <a:p>
                      <a:r>
                        <a:rPr lang="zh-CN" altLang="en-US" sz="1600" kern="1200" baseline="0" dirty="0" smtClean="0">
                          <a:solidFill>
                            <a:schemeClr val="dk1"/>
                          </a:solidFill>
                          <a:latin typeface="+mn-lt"/>
                          <a:ea typeface="+mn-ea"/>
                          <a:cs typeface="+mn-cs"/>
                        </a:rPr>
                        <a:t>标准化服务合约</a:t>
                      </a:r>
                    </a:p>
                    <a:p>
                      <a:r>
                        <a:rPr lang="zh-CN" altLang="en-US" sz="1600" kern="1200" baseline="0" dirty="0" smtClean="0">
                          <a:solidFill>
                            <a:schemeClr val="dk1"/>
                          </a:solidFill>
                          <a:latin typeface="+mn-lt"/>
                          <a:ea typeface="+mn-ea"/>
                          <a:cs typeface="+mn-cs"/>
                        </a:rPr>
                        <a:t>服务能力在需要重新组合时是否不需要引入转换需求</a:t>
                      </a:r>
                      <a:r>
                        <a:rPr lang="en-US" altLang="zh-CN" sz="1600" kern="1200" baseline="0" dirty="0" smtClean="0">
                          <a:solidFill>
                            <a:schemeClr val="dk1"/>
                          </a:solidFill>
                          <a:latin typeface="+mn-lt"/>
                          <a:ea typeface="+mn-ea"/>
                          <a:cs typeface="+mn-cs"/>
                        </a:rPr>
                        <a:t>?</a:t>
                      </a:r>
                      <a:endParaRPr lang="zh-CN" altLang="en-US" sz="1600" kern="1200" baseline="0" dirty="0" smtClean="0">
                        <a:solidFill>
                          <a:schemeClr val="dk1"/>
                        </a:solidFill>
                        <a:latin typeface="+mn-lt"/>
                        <a:ea typeface="+mn-ea"/>
                        <a:cs typeface="+mn-cs"/>
                      </a:endParaRPr>
                    </a:p>
                    <a:p>
                      <a:r>
                        <a:rPr lang="zh-CN" altLang="en-US" sz="1600" kern="1200" baseline="0" dirty="0" smtClean="0">
                          <a:solidFill>
                            <a:schemeClr val="dk1"/>
                          </a:solidFill>
                          <a:latin typeface="+mn-lt"/>
                          <a:ea typeface="+mn-ea"/>
                          <a:cs typeface="+mn-cs"/>
                        </a:rPr>
                        <a:t>这会带来前面两个清单中提到过的同一个问题。如果使用一个服务能力时需要先做转换，那么妄想改变该服务能力在整个组合中的位置就要付出额外的努力</a:t>
                      </a:r>
                      <a:endParaRPr lang="zh-CN" altLang="en-US" sz="1600" dirty="0"/>
                    </a:p>
                  </a:txBody>
                  <a:tcPr marL="91436" marR="91436" marT="45726" marB="45726" anchor="ctr"/>
                </a:tc>
                <a:tc>
                  <a:txBody>
                    <a:bodyPr/>
                    <a:lstStyle/>
                    <a:p>
                      <a:r>
                        <a:rPr lang="zh-CN" altLang="en-US" sz="1600" dirty="0" smtClean="0"/>
                        <a:t>高</a:t>
                      </a:r>
                      <a:endParaRPr lang="zh-CN" altLang="en-US" sz="1600" dirty="0"/>
                    </a:p>
                  </a:txBody>
                  <a:tcPr marL="91436" marR="91436" marT="45726" marB="45726" anchor="ctr"/>
                </a:tc>
                <a:extLst>
                  <a:ext uri="{0D108BD9-81ED-4DB2-BD59-A6C34878D82A}">
                    <a16:rowId xmlns:a16="http://schemas.microsoft.com/office/drawing/2014/main" val="10002"/>
                  </a:ext>
                </a:extLst>
              </a:tr>
              <a:tr h="1066946">
                <a:tc>
                  <a:txBody>
                    <a:bodyPr/>
                    <a:lstStyle/>
                    <a:p>
                      <a:r>
                        <a:rPr lang="zh-CN" altLang="en-US" sz="1600" kern="1200" baseline="0" dirty="0" smtClean="0">
                          <a:solidFill>
                            <a:schemeClr val="dk1"/>
                          </a:solidFill>
                          <a:latin typeface="+mn-lt"/>
                          <a:ea typeface="+mn-ea"/>
                          <a:cs typeface="+mn-cs"/>
                        </a:rPr>
                        <a:t>服务松散耦合</a:t>
                      </a:r>
                    </a:p>
                    <a:p>
                      <a:r>
                        <a:rPr lang="zh-CN" altLang="en-US" sz="1600" kern="1200" baseline="0" dirty="0" smtClean="0">
                          <a:solidFill>
                            <a:schemeClr val="dk1"/>
                          </a:solidFill>
                          <a:latin typeface="+mn-lt"/>
                          <a:ea typeface="+mn-ea"/>
                          <a:cs typeface="+mn-cs"/>
                        </a:rPr>
                        <a:t>该服务能力是否避免了与企业的外层部分的耦合，例如共享资源、上层业务流程等</a:t>
                      </a:r>
                      <a:r>
                        <a:rPr lang="en-US" altLang="zh-CN" sz="1600" kern="1200" baseline="0" dirty="0" smtClean="0">
                          <a:solidFill>
                            <a:schemeClr val="dk1"/>
                          </a:solidFill>
                          <a:latin typeface="+mn-lt"/>
                          <a:ea typeface="+mn-ea"/>
                          <a:cs typeface="+mn-cs"/>
                        </a:rPr>
                        <a:t>? </a:t>
                      </a:r>
                      <a:endParaRPr lang="zh-CN" altLang="en-US" sz="1600" kern="1200" baseline="0" dirty="0" smtClean="0">
                        <a:solidFill>
                          <a:schemeClr val="dk1"/>
                        </a:solidFill>
                        <a:latin typeface="+mn-lt"/>
                        <a:ea typeface="+mn-ea"/>
                        <a:cs typeface="+mn-cs"/>
                      </a:endParaRPr>
                    </a:p>
                    <a:p>
                      <a:r>
                        <a:rPr lang="zh-CN" altLang="en-US" sz="1600" kern="1200" baseline="0" dirty="0" smtClean="0">
                          <a:solidFill>
                            <a:schemeClr val="dk1"/>
                          </a:solidFill>
                          <a:latin typeface="+mn-lt"/>
                          <a:ea typeface="+mn-ea"/>
                          <a:cs typeface="+mn-cs"/>
                        </a:rPr>
                        <a:t>如果</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是</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，那么在特定组合的范围内重复利用该服务能力的机会就会更多</a:t>
                      </a:r>
                    </a:p>
                  </a:txBody>
                  <a:tcPr marL="91436" marR="91436" marT="45726" marB="45726" anchor="ctr"/>
                </a:tc>
                <a:tc>
                  <a:txBody>
                    <a:bodyPr/>
                    <a:lstStyle/>
                    <a:p>
                      <a:r>
                        <a:rPr lang="zh-CN" altLang="en-US" sz="1600" dirty="0" smtClean="0"/>
                        <a:t>中</a:t>
                      </a:r>
                      <a:endParaRPr lang="zh-CN" altLang="en-US" sz="1600" dirty="0"/>
                    </a:p>
                  </a:txBody>
                  <a:tcPr marL="91436" marR="91436" marT="45726" marB="45726" anchor="ctr"/>
                </a:tc>
                <a:extLst>
                  <a:ext uri="{0D108BD9-81ED-4DB2-BD59-A6C34878D82A}">
                    <a16:rowId xmlns:a16="http://schemas.microsoft.com/office/drawing/2014/main" val="10003"/>
                  </a:ext>
                </a:extLst>
              </a:tr>
              <a:tr h="1554693">
                <a:tc>
                  <a:txBody>
                    <a:bodyPr/>
                    <a:lstStyle/>
                    <a:p>
                      <a:r>
                        <a:rPr lang="zh-CN" altLang="en-US" sz="1600" kern="1200" baseline="0" dirty="0" smtClean="0">
                          <a:solidFill>
                            <a:schemeClr val="dk1"/>
                          </a:solidFill>
                          <a:latin typeface="+mn-lt"/>
                          <a:ea typeface="+mn-ea"/>
                          <a:cs typeface="+mn-cs"/>
                        </a:rPr>
                        <a:t>服务抽象</a:t>
                      </a:r>
                    </a:p>
                    <a:p>
                      <a:r>
                        <a:rPr lang="zh-CN" altLang="en-US" sz="1600" kern="1200" baseline="0" dirty="0" smtClean="0">
                          <a:solidFill>
                            <a:schemeClr val="dk1"/>
                          </a:solidFill>
                          <a:latin typeface="+mn-lt"/>
                          <a:ea typeface="+mn-ea"/>
                          <a:cs typeface="+mn-cs"/>
                        </a:rPr>
                        <a:t>描述服务能力的元信息是否通过高层的信息隐藏和访问控制等手段得到了有效的保护</a:t>
                      </a:r>
                      <a:r>
                        <a:rPr lang="en-US" altLang="zh-CN" sz="1600" kern="1200" baseline="0" dirty="0" smtClean="0">
                          <a:solidFill>
                            <a:schemeClr val="dk1"/>
                          </a:solidFill>
                          <a:latin typeface="+mn-lt"/>
                          <a:ea typeface="+mn-ea"/>
                          <a:cs typeface="+mn-cs"/>
                        </a:rPr>
                        <a:t>?</a:t>
                      </a:r>
                      <a:endParaRPr lang="zh-CN" altLang="en-US" sz="1600" kern="1200" baseline="0" dirty="0" smtClean="0">
                        <a:solidFill>
                          <a:schemeClr val="dk1"/>
                        </a:solidFill>
                        <a:latin typeface="+mn-lt"/>
                        <a:ea typeface="+mn-ea"/>
                        <a:cs typeface="+mn-cs"/>
                      </a:endParaRPr>
                    </a:p>
                    <a:p>
                      <a:r>
                        <a:rPr lang="zh-CN" altLang="en-US" sz="1600" kern="1200" baseline="0" dirty="0" smtClean="0">
                          <a:solidFill>
                            <a:schemeClr val="dk1"/>
                          </a:solidFill>
                          <a:latin typeface="+mn-lt"/>
                          <a:ea typeface="+mn-ea"/>
                          <a:cs typeface="+mn-cs"/>
                        </a:rPr>
                        <a:t>如果是这样的话，那么组合设计者在服务能力和组合之间建立非法依赖的机会就会减少。这会为组合设计者与服务所有者双方都带来长期的利益，因为在需要发生改变时，他们对对方的依赖都会比较少</a:t>
                      </a:r>
                      <a:endParaRPr lang="zh-CN" altLang="en-US" sz="1600" dirty="0"/>
                    </a:p>
                  </a:txBody>
                  <a:tcPr marL="91436" marR="91436" marT="45726" marB="45726" anchor="ctr"/>
                </a:tc>
                <a:tc>
                  <a:txBody>
                    <a:bodyPr/>
                    <a:lstStyle/>
                    <a:p>
                      <a:r>
                        <a:rPr lang="zh-CN" altLang="en-US" sz="1600" dirty="0" smtClean="0"/>
                        <a:t>高</a:t>
                      </a:r>
                      <a:endParaRPr lang="zh-CN" altLang="en-US" sz="1600" dirty="0"/>
                    </a:p>
                  </a:txBody>
                  <a:tcPr marL="91436" marR="91436" marT="45726" marB="45726" anchor="ctr"/>
                </a:tc>
                <a:extLst>
                  <a:ext uri="{0D108BD9-81ED-4DB2-BD59-A6C34878D82A}">
                    <a16:rowId xmlns:a16="http://schemas.microsoft.com/office/drawing/2014/main" val="10004"/>
                  </a:ext>
                </a:extLst>
              </a:tr>
            </a:tbl>
          </a:graphicData>
        </a:graphic>
      </p:graphicFrame>
      <p:sp>
        <p:nvSpPr>
          <p:cNvPr id="62486"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D505032-E09E-4D34-9C9F-0C351278045B}" type="slidenum">
              <a:rPr lang="en-US" altLang="zh-CN" smtClean="0"/>
              <a:pPr/>
              <a:t>50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治理阶段（</a:t>
            </a:r>
            <a:r>
              <a:rPr lang="en-US" altLang="zh-CN" dirty="0" smtClean="0"/>
              <a:t>2/3</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510130307"/>
              </p:ext>
            </p:extLst>
          </p:nvPr>
        </p:nvGraphicFramePr>
        <p:xfrm>
          <a:off x="424706" y="2132856"/>
          <a:ext cx="8362950" cy="3327400"/>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840">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anchor="ctr"/>
                </a:tc>
                <a:tc hMerge="1">
                  <a:txBody>
                    <a:bodyPr/>
                    <a:lstStyle/>
                    <a:p>
                      <a:endParaRPr lang="zh-CN" altLang="en-US" dirty="0"/>
                    </a:p>
                  </a:txBody>
                  <a:tcPr/>
                </a:tc>
                <a:extLst>
                  <a:ext uri="{0D108BD9-81ED-4DB2-BD59-A6C34878D82A}">
                    <a16:rowId xmlns:a16="http://schemas.microsoft.com/office/drawing/2014/main" val="10000"/>
                  </a:ext>
                </a:extLst>
              </a:tr>
              <a:tr h="370840">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anchor="ctr"/>
                </a:tc>
                <a:extLst>
                  <a:ext uri="{0D108BD9-81ED-4DB2-BD59-A6C34878D82A}">
                    <a16:rowId xmlns:a16="http://schemas.microsoft.com/office/drawing/2014/main" val="10001"/>
                  </a:ext>
                </a:extLst>
              </a:tr>
              <a:tr h="370840">
                <a:tc>
                  <a:txBody>
                    <a:bodyPr/>
                    <a:lstStyle/>
                    <a:p>
                      <a:r>
                        <a:rPr lang="zh-CN" altLang="en-US" sz="1600" kern="1200" baseline="0" dirty="0" smtClean="0">
                          <a:solidFill>
                            <a:schemeClr val="dk1"/>
                          </a:solidFill>
                          <a:latin typeface="+mn-lt"/>
                          <a:ea typeface="+mn-ea"/>
                          <a:cs typeface="+mn-cs"/>
                        </a:rPr>
                        <a:t>服务可复用性</a:t>
                      </a:r>
                    </a:p>
                    <a:p>
                      <a:r>
                        <a:rPr lang="zh-CN" altLang="en-US" sz="1600" kern="1200" baseline="0" dirty="0" smtClean="0">
                          <a:solidFill>
                            <a:schemeClr val="dk1"/>
                          </a:solidFill>
                          <a:latin typeface="+mn-lt"/>
                          <a:ea typeface="+mn-ea"/>
                          <a:cs typeface="+mn-cs"/>
                        </a:rPr>
                        <a:t>服务合约是不是很通用</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服务是否提供了高级别的可复用性</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如果是这样的话，那么会潜在地有助于服务组合的治理，因为当组合需要改变时，良好的可复用性可能会提低供更多的服务合并方式</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例如当需要处理某个特定类型的文档时，可能会有两或三个类似的服务能力可供组合开发者选择</a:t>
                      </a:r>
                      <a:r>
                        <a:rPr lang="en-US" altLang="zh-CN" sz="1600" kern="1200" baseline="0" dirty="0" smtClean="0">
                          <a:solidFill>
                            <a:schemeClr val="dk1"/>
                          </a:solidFill>
                          <a:latin typeface="+mn-lt"/>
                          <a:ea typeface="+mn-ea"/>
                          <a:cs typeface="+mn-cs"/>
                        </a:rPr>
                        <a:t>)</a:t>
                      </a:r>
                      <a:endParaRPr lang="zh-CN" altLang="en-US" sz="1600" dirty="0"/>
                    </a:p>
                  </a:txBody>
                  <a:tcPr marL="91436" marR="91436" anchor="ctr"/>
                </a:tc>
                <a:tc>
                  <a:txBody>
                    <a:bodyPr/>
                    <a:lstStyle/>
                    <a:p>
                      <a:r>
                        <a:rPr lang="zh-CN" altLang="en-US" sz="1600" dirty="0" smtClean="0"/>
                        <a:t>低</a:t>
                      </a:r>
                      <a:endParaRPr lang="zh-CN" altLang="en-US" sz="1600" dirty="0"/>
                    </a:p>
                  </a:txBody>
                  <a:tcPr marL="91436" marR="91436" anchor="ctr"/>
                </a:tc>
                <a:extLst>
                  <a:ext uri="{0D108BD9-81ED-4DB2-BD59-A6C34878D82A}">
                    <a16:rowId xmlns:a16="http://schemas.microsoft.com/office/drawing/2014/main" val="10002"/>
                  </a:ext>
                </a:extLst>
              </a:tr>
              <a:tr h="370840">
                <a:tc>
                  <a:txBody>
                    <a:bodyPr/>
                    <a:lstStyle/>
                    <a:p>
                      <a:r>
                        <a:rPr lang="zh-CN" altLang="en-US" sz="1600" kern="1200" baseline="0" dirty="0" smtClean="0">
                          <a:solidFill>
                            <a:schemeClr val="dk1"/>
                          </a:solidFill>
                          <a:latin typeface="+mn-lt"/>
                          <a:ea typeface="+mn-ea"/>
                          <a:cs typeface="+mn-cs"/>
                        </a:rPr>
                        <a:t>服务自治</a:t>
                      </a:r>
                    </a:p>
                    <a:p>
                      <a:r>
                        <a:rPr lang="zh-CN" altLang="en-US" sz="1600" kern="1200" baseline="0" dirty="0" smtClean="0">
                          <a:solidFill>
                            <a:schemeClr val="dk1"/>
                          </a:solidFill>
                          <a:latin typeface="+mn-lt"/>
                          <a:ea typeface="+mn-ea"/>
                          <a:cs typeface="+mn-cs"/>
                        </a:rPr>
                        <a:t>服务逻辑是否规范化</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服务实现是否相对孤立</a:t>
                      </a:r>
                      <a:r>
                        <a:rPr lang="en-US" altLang="zh-CN" sz="1600" kern="1200" baseline="0" dirty="0" smtClean="0">
                          <a:solidFill>
                            <a:schemeClr val="dk1"/>
                          </a:solidFill>
                          <a:latin typeface="+mn-lt"/>
                          <a:ea typeface="+mn-ea"/>
                          <a:cs typeface="+mn-cs"/>
                        </a:rPr>
                        <a:t>?</a:t>
                      </a:r>
                      <a:endParaRPr lang="zh-CN" altLang="en-US" sz="1600" kern="1200" baseline="0" dirty="0" smtClean="0">
                        <a:solidFill>
                          <a:schemeClr val="dk1"/>
                        </a:solidFill>
                        <a:latin typeface="+mn-lt"/>
                        <a:ea typeface="+mn-ea"/>
                        <a:cs typeface="+mn-cs"/>
                      </a:endParaRPr>
                    </a:p>
                    <a:p>
                      <a:r>
                        <a:rPr lang="zh-CN" altLang="en-US" sz="1600" kern="1200" baseline="0" dirty="0" smtClean="0">
                          <a:solidFill>
                            <a:schemeClr val="dk1"/>
                          </a:solidFill>
                          <a:latin typeface="+mn-lt"/>
                          <a:ea typeface="+mn-ea"/>
                          <a:cs typeface="+mn-cs"/>
                        </a:rPr>
                        <a:t>如果对这两个问题的回答都是肯定的，那么组合所有者在决定一个修改的组合配置中该如何重新定位或利用服务时将拥有更大的灵活性</a:t>
                      </a:r>
                      <a:endParaRPr lang="zh-CN" altLang="en-US" sz="1600" dirty="0"/>
                    </a:p>
                  </a:txBody>
                  <a:tcPr marL="91436" marR="91436" anchor="ctr"/>
                </a:tc>
                <a:tc>
                  <a:txBody>
                    <a:bodyPr/>
                    <a:lstStyle/>
                    <a:p>
                      <a:r>
                        <a:rPr lang="zh-CN" altLang="en-US" sz="1600" dirty="0" smtClean="0"/>
                        <a:t>中</a:t>
                      </a:r>
                      <a:endParaRPr lang="zh-CN" altLang="en-US" sz="1600" dirty="0"/>
                    </a:p>
                  </a:txBody>
                  <a:tcPr marL="91436" marR="91436" anchor="ctr"/>
                </a:tc>
                <a:extLst>
                  <a:ext uri="{0D108BD9-81ED-4DB2-BD59-A6C34878D82A}">
                    <a16:rowId xmlns:a16="http://schemas.microsoft.com/office/drawing/2014/main" val="10003"/>
                  </a:ext>
                </a:extLst>
              </a:tr>
            </a:tbl>
          </a:graphicData>
        </a:graphic>
      </p:graphicFrame>
      <p:sp>
        <p:nvSpPr>
          <p:cNvPr id="63507"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B7AD605-DF75-4021-8447-F842634D4E2C}" type="slidenum">
              <a:rPr lang="en-US" altLang="zh-CN" smtClean="0"/>
              <a:pPr/>
              <a:t>51</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normAutofit fontScale="90000"/>
          </a:bodyPr>
          <a:lstStyle/>
          <a:p>
            <a:r>
              <a:rPr lang="zh-CN" altLang="en-US" dirty="0" smtClean="0"/>
              <a:t>可组合性的度量</a:t>
            </a:r>
            <a:r>
              <a:rPr lang="en-US" altLang="zh-CN" dirty="0" smtClean="0"/>
              <a:t/>
            </a:r>
            <a:br>
              <a:rPr lang="en-US" altLang="zh-CN" dirty="0" smtClean="0"/>
            </a:br>
            <a:r>
              <a:rPr lang="en-US" altLang="zh-CN" dirty="0" smtClean="0"/>
              <a:t>——</a:t>
            </a:r>
            <a:r>
              <a:rPr lang="zh-CN" altLang="en-US" dirty="0" smtClean="0"/>
              <a:t>治理阶段（</a:t>
            </a:r>
            <a:r>
              <a:rPr lang="en-US" altLang="zh-CN" dirty="0" smtClean="0"/>
              <a:t>3/3</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70079814"/>
              </p:ext>
            </p:extLst>
          </p:nvPr>
        </p:nvGraphicFramePr>
        <p:xfrm>
          <a:off x="412417" y="2132856"/>
          <a:ext cx="8362950" cy="3571875"/>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906">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marT="45728" marB="45728" anchor="ctr"/>
                </a:tc>
                <a:tc hMerge="1">
                  <a:txBody>
                    <a:bodyPr/>
                    <a:lstStyle/>
                    <a:p>
                      <a:endParaRPr lang="zh-CN" altLang="en-US" dirty="0"/>
                    </a:p>
                  </a:txBody>
                  <a:tcPr/>
                </a:tc>
                <a:extLst>
                  <a:ext uri="{0D108BD9-81ED-4DB2-BD59-A6C34878D82A}">
                    <a16:rowId xmlns:a16="http://schemas.microsoft.com/office/drawing/2014/main" val="10000"/>
                  </a:ext>
                </a:extLst>
              </a:tr>
              <a:tr h="579223">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marT="45728" marB="45728" anchor="ctr"/>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marT="45728" marB="45728" anchor="ctr"/>
                </a:tc>
                <a:extLst>
                  <a:ext uri="{0D108BD9-81ED-4DB2-BD59-A6C34878D82A}">
                    <a16:rowId xmlns:a16="http://schemas.microsoft.com/office/drawing/2014/main" val="10001"/>
                  </a:ext>
                </a:extLst>
              </a:tr>
              <a:tr h="1066990">
                <a:tc>
                  <a:txBody>
                    <a:bodyPr/>
                    <a:lstStyle/>
                    <a:p>
                      <a:r>
                        <a:rPr lang="zh-CN" altLang="en-US" sz="1600" kern="1200" baseline="0" dirty="0" smtClean="0">
                          <a:solidFill>
                            <a:schemeClr val="dk1"/>
                          </a:solidFill>
                          <a:latin typeface="+mn-lt"/>
                          <a:ea typeface="+mn-ea"/>
                          <a:cs typeface="+mn-cs"/>
                        </a:rPr>
                        <a:t>服务无状态性</a:t>
                      </a:r>
                    </a:p>
                    <a:p>
                      <a:r>
                        <a:rPr lang="zh-CN" altLang="en-US" sz="1600" kern="1200" baseline="0" dirty="0" smtClean="0">
                          <a:solidFill>
                            <a:schemeClr val="dk1"/>
                          </a:solidFill>
                          <a:latin typeface="+mn-lt"/>
                          <a:ea typeface="+mn-ea"/>
                          <a:cs typeface="+mn-cs"/>
                        </a:rPr>
                        <a:t>服务中实现的状态管理延迟扩展是否能提高上层过程的服务独立性，并且允许服务能力处理更通用的状态数据</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如果能够做到这一点，将有助于获得服务能力的重组合</a:t>
                      </a:r>
                      <a:endParaRPr lang="zh-CN" altLang="en-US" sz="1600" dirty="0"/>
                    </a:p>
                  </a:txBody>
                  <a:tcPr marL="91436" marR="91436" marT="45728" marB="45728" anchor="ctr"/>
                </a:tc>
                <a:tc>
                  <a:txBody>
                    <a:bodyPr/>
                    <a:lstStyle/>
                    <a:p>
                      <a:r>
                        <a:rPr lang="zh-CN" altLang="en-US" sz="1600" dirty="0" smtClean="0"/>
                        <a:t>低</a:t>
                      </a:r>
                      <a:endParaRPr lang="zh-CN" altLang="en-US" sz="1600" dirty="0"/>
                    </a:p>
                  </a:txBody>
                  <a:tcPr marL="91436" marR="91436" marT="45728" marB="45728" anchor="ctr"/>
                </a:tc>
                <a:extLst>
                  <a:ext uri="{0D108BD9-81ED-4DB2-BD59-A6C34878D82A}">
                    <a16:rowId xmlns:a16="http://schemas.microsoft.com/office/drawing/2014/main" val="10002"/>
                  </a:ext>
                </a:extLst>
              </a:tr>
              <a:tr h="1554756">
                <a:tc>
                  <a:txBody>
                    <a:bodyPr/>
                    <a:lstStyle/>
                    <a:p>
                      <a:r>
                        <a:rPr lang="zh-CN" altLang="en-US" sz="1600" kern="1200" baseline="0" dirty="0" smtClean="0">
                          <a:solidFill>
                            <a:schemeClr val="dk1"/>
                          </a:solidFill>
                          <a:latin typeface="+mn-lt"/>
                          <a:ea typeface="+mn-ea"/>
                          <a:cs typeface="+mn-cs"/>
                        </a:rPr>
                        <a:t>服务可发现性</a:t>
                      </a:r>
                    </a:p>
                    <a:p>
                      <a:r>
                        <a:rPr lang="zh-CN" altLang="en-US" sz="1600" kern="1200" baseline="0" dirty="0" smtClean="0">
                          <a:solidFill>
                            <a:schemeClr val="dk1"/>
                          </a:solidFill>
                          <a:latin typeface="+mn-lt"/>
                          <a:ea typeface="+mn-ea"/>
                          <a:cs typeface="+mn-cs"/>
                        </a:rPr>
                        <a:t>描述服务能力的元数据是否容易找到，并且容易解释</a:t>
                      </a:r>
                      <a:r>
                        <a:rPr lang="en-US" altLang="zh-CN" sz="1600" kern="1200" baseline="0" dirty="0" smtClean="0">
                          <a:solidFill>
                            <a:schemeClr val="dk1"/>
                          </a:solidFill>
                          <a:latin typeface="+mn-lt"/>
                          <a:ea typeface="+mn-ea"/>
                          <a:cs typeface="+mn-cs"/>
                        </a:rPr>
                        <a:t>?</a:t>
                      </a:r>
                    </a:p>
                    <a:p>
                      <a:r>
                        <a:rPr lang="zh-CN" altLang="en-US" sz="1600" kern="1200" baseline="0" dirty="0" smtClean="0">
                          <a:solidFill>
                            <a:schemeClr val="dk1"/>
                          </a:solidFill>
                          <a:latin typeface="+mn-lt"/>
                          <a:ea typeface="+mn-ea"/>
                          <a:cs typeface="+mn-cs"/>
                        </a:rPr>
                        <a:t>这一条治理考虑并非针对服务能力和已有的组合之间的关系。相反，它关心的是当一个组合所有者需要在为当前的组合增加服务能力，或者替换已有的服务能力时，是否有能力定位</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发现</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新的服务。通常来说，这方面的考虑是为了在初始的服务实现之后，为服务库的演化与成长做准备</a:t>
                      </a:r>
                      <a:endParaRPr lang="zh-CN" altLang="en-US" sz="1600" dirty="0"/>
                    </a:p>
                  </a:txBody>
                  <a:tcPr marL="91436" marR="91436" marT="45728" marB="45728" anchor="ctr"/>
                </a:tc>
                <a:tc>
                  <a:txBody>
                    <a:bodyPr/>
                    <a:lstStyle/>
                    <a:p>
                      <a:r>
                        <a:rPr lang="zh-CN" altLang="en-US" sz="1600" dirty="0" smtClean="0"/>
                        <a:t>中</a:t>
                      </a:r>
                      <a:endParaRPr lang="zh-CN" altLang="en-US" sz="1600" dirty="0"/>
                    </a:p>
                  </a:txBody>
                  <a:tcPr marL="91436" marR="91436" marT="45728" marB="45728" anchor="ctr"/>
                </a:tc>
                <a:extLst>
                  <a:ext uri="{0D108BD9-81ED-4DB2-BD59-A6C34878D82A}">
                    <a16:rowId xmlns:a16="http://schemas.microsoft.com/office/drawing/2014/main" val="10003"/>
                  </a:ext>
                </a:extLst>
              </a:tr>
            </a:tbl>
          </a:graphicData>
        </a:graphic>
      </p:graphicFrame>
      <p:sp>
        <p:nvSpPr>
          <p:cNvPr id="64531"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1BE5E54-12F8-4401-BB0F-A849DB464741}" type="slidenum">
              <a:rPr lang="en-US" altLang="zh-CN" smtClean="0"/>
              <a:pPr/>
              <a:t>52</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smtClean="0"/>
              <a:t>组合与服务设计</a:t>
            </a:r>
          </a:p>
        </p:txBody>
      </p:sp>
      <p:sp>
        <p:nvSpPr>
          <p:cNvPr id="65539" name="内容占位符 2"/>
          <p:cNvSpPr>
            <a:spLocks noGrp="1"/>
          </p:cNvSpPr>
          <p:nvPr>
            <p:ph idx="1"/>
          </p:nvPr>
        </p:nvSpPr>
        <p:spPr/>
        <p:txBody>
          <a:bodyPr/>
          <a:lstStyle/>
          <a:p>
            <a:r>
              <a:rPr lang="zh-CN" altLang="en-US" dirty="0" smtClean="0"/>
              <a:t>服务可组合性与粒度</a:t>
            </a:r>
            <a:endParaRPr lang="en-US" altLang="zh-CN" dirty="0" smtClean="0"/>
          </a:p>
          <a:p>
            <a:pPr lvl="1"/>
            <a:r>
              <a:rPr lang="zh-CN" altLang="en-US" dirty="0" smtClean="0"/>
              <a:t>粒度影响组合的效率</a:t>
            </a:r>
            <a:endParaRPr lang="en-US" altLang="zh-CN" dirty="0" smtClean="0"/>
          </a:p>
          <a:p>
            <a:r>
              <a:rPr lang="zh-CN" altLang="en-US" dirty="0" smtClean="0"/>
              <a:t>服务可组合性与服务模型</a:t>
            </a:r>
            <a:endParaRPr lang="en-US" altLang="zh-CN" dirty="0" smtClean="0"/>
          </a:p>
          <a:p>
            <a:pPr lvl="1"/>
            <a:r>
              <a:rPr lang="zh-CN" altLang="en-US" dirty="0" smtClean="0"/>
              <a:t>不同模型需要不同可组合性</a:t>
            </a:r>
            <a:endParaRPr lang="en-US" altLang="zh-CN" dirty="0" smtClean="0"/>
          </a:p>
          <a:p>
            <a:r>
              <a:rPr lang="zh-CN" altLang="en-US" dirty="0" smtClean="0"/>
              <a:t>服务可组合性与组合自治</a:t>
            </a:r>
            <a:endParaRPr lang="en-US" altLang="zh-CN" dirty="0" smtClean="0"/>
          </a:p>
          <a:p>
            <a:r>
              <a:rPr lang="zh-CN" altLang="en-US" dirty="0" smtClean="0"/>
              <a:t>服务可组合性与编排</a:t>
            </a:r>
            <a:endParaRPr lang="en-US" altLang="zh-CN" dirty="0" smtClean="0"/>
          </a:p>
          <a:p>
            <a:pPr lvl="1"/>
            <a:r>
              <a:rPr lang="zh-CN" altLang="en-US" dirty="0" smtClean="0"/>
              <a:t>编排导致更加灵活的组合</a:t>
            </a:r>
            <a:endParaRPr lang="en-US" altLang="zh-CN" dirty="0" smtClean="0"/>
          </a:p>
        </p:txBody>
      </p:sp>
      <p:sp>
        <p:nvSpPr>
          <p:cNvPr id="65540"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5B0844D-4E74-469E-AC9A-61C6C7C553CD}" type="slidenum">
              <a:rPr lang="en-US" altLang="zh-CN" smtClean="0"/>
              <a:pPr/>
              <a:t>53</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smtClean="0"/>
              <a:t>服务可组合性与粒度</a:t>
            </a:r>
          </a:p>
        </p:txBody>
      </p:sp>
      <p:sp>
        <p:nvSpPr>
          <p:cNvPr id="3" name="内容占位符 2"/>
          <p:cNvSpPr>
            <a:spLocks noGrp="1"/>
          </p:cNvSpPr>
          <p:nvPr>
            <p:ph idx="1"/>
          </p:nvPr>
        </p:nvSpPr>
        <p:spPr/>
        <p:txBody>
          <a:bodyPr>
            <a:normAutofit/>
          </a:bodyPr>
          <a:lstStyle/>
          <a:p>
            <a:r>
              <a:rPr lang="zh-CN" altLang="en-US" dirty="0" smtClean="0"/>
              <a:t>服务的粒度相关的基本度量指标与趋势</a:t>
            </a:r>
            <a:endParaRPr lang="en-US" altLang="zh-CN" dirty="0" smtClean="0"/>
          </a:p>
          <a:p>
            <a:pPr lvl="1"/>
            <a:r>
              <a:rPr lang="zh-CN" altLang="en-US" dirty="0" smtClean="0"/>
              <a:t>服务粒度，如果一个服务库中细粒度的服务越多，那么一个组合平均需要调用的服务就越多</a:t>
            </a:r>
            <a:endParaRPr lang="en-US" altLang="zh-CN" dirty="0" smtClean="0"/>
          </a:p>
          <a:p>
            <a:pPr lvl="1"/>
            <a:r>
              <a:rPr lang="zh-CN" altLang="en-US" dirty="0" smtClean="0"/>
              <a:t>能力粒度，如果服务所包含的细粒度的能力越多，那么一个组合平均需要组装的能力就越多</a:t>
            </a:r>
            <a:endParaRPr lang="en-US" altLang="zh-CN" dirty="0" smtClean="0"/>
          </a:p>
          <a:p>
            <a:pPr lvl="1"/>
            <a:r>
              <a:rPr lang="zh-CN" altLang="en-US" dirty="0" smtClean="0"/>
              <a:t>数据粒度，粗粒度的数据通常会导致在一个运行时的组合实例中平均需要传输的数据量增大</a:t>
            </a:r>
            <a:endParaRPr lang="en-US" altLang="zh-CN" dirty="0" smtClean="0"/>
          </a:p>
          <a:p>
            <a:pPr lvl="1"/>
            <a:r>
              <a:rPr lang="zh-CN" altLang="en-US" dirty="0" smtClean="0"/>
              <a:t>约束粒度，细粒度的约束会导致在一个通常的服务组合中，涉及数据交换时服务合约层要执行更多的确认逻辑</a:t>
            </a:r>
            <a:endParaRPr lang="zh-CN" altLang="en-US" dirty="0"/>
          </a:p>
        </p:txBody>
      </p:sp>
      <p:sp>
        <p:nvSpPr>
          <p:cNvPr id="6656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D26C27EA-6978-4A93-946D-E4FA96BDC37E}" type="slidenum">
              <a:rPr lang="en-US" altLang="zh-CN" smtClean="0"/>
              <a:pPr/>
              <a:t>54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服务可组合性与服务模型</a:t>
            </a:r>
          </a:p>
        </p:txBody>
      </p:sp>
      <p:sp>
        <p:nvSpPr>
          <p:cNvPr id="9" name="内容占位符 8"/>
          <p:cNvSpPr>
            <a:spLocks noGrp="1"/>
          </p:cNvSpPr>
          <p:nvPr>
            <p:ph sz="half" idx="1"/>
          </p:nvPr>
        </p:nvSpPr>
        <p:spPr>
          <a:xfrm>
            <a:off x="457200" y="1600200"/>
            <a:ext cx="3322638" cy="4530725"/>
          </a:xfrm>
        </p:spPr>
        <p:txBody>
          <a:bodyPr>
            <a:normAutofit fontScale="92500" lnSpcReduction="10000"/>
          </a:bodyPr>
          <a:lstStyle/>
          <a:p>
            <a:pPr>
              <a:defRPr/>
            </a:pPr>
            <a:r>
              <a:rPr lang="zh-CN" altLang="en-US" dirty="0" smtClean="0"/>
              <a:t>任务服务</a:t>
            </a:r>
            <a:endParaRPr lang="en-US" altLang="zh-CN" dirty="0" smtClean="0"/>
          </a:p>
          <a:p>
            <a:pPr lvl="1">
              <a:defRPr/>
            </a:pPr>
            <a:r>
              <a:rPr lang="zh-CN" altLang="en-US" dirty="0" smtClean="0"/>
              <a:t>组合成员</a:t>
            </a:r>
            <a:endParaRPr lang="en-US" altLang="zh-CN" dirty="0" smtClean="0"/>
          </a:p>
          <a:p>
            <a:pPr lvl="1">
              <a:defRPr/>
            </a:pPr>
            <a:r>
              <a:rPr lang="zh-CN" altLang="en-US" dirty="0" smtClean="0"/>
              <a:t>子控制器</a:t>
            </a:r>
            <a:endParaRPr lang="en-US" altLang="zh-CN" dirty="0" smtClean="0"/>
          </a:p>
          <a:p>
            <a:pPr lvl="1">
              <a:defRPr/>
            </a:pPr>
            <a:r>
              <a:rPr lang="zh-CN" altLang="en-US" dirty="0" smtClean="0"/>
              <a:t>指定组合控制器</a:t>
            </a:r>
            <a:endParaRPr lang="en-US" altLang="zh-CN" dirty="0" smtClean="0"/>
          </a:p>
          <a:p>
            <a:pPr>
              <a:defRPr/>
            </a:pPr>
            <a:r>
              <a:rPr lang="zh-CN" altLang="en-US" dirty="0"/>
              <a:t>实体服务</a:t>
            </a:r>
            <a:endParaRPr lang="en-US" altLang="zh-CN" dirty="0"/>
          </a:p>
          <a:p>
            <a:pPr lvl="1">
              <a:defRPr/>
            </a:pPr>
            <a:r>
              <a:rPr lang="zh-CN" altLang="en-US" dirty="0"/>
              <a:t>组合成员</a:t>
            </a:r>
            <a:endParaRPr lang="en-US" altLang="zh-CN" dirty="0"/>
          </a:p>
          <a:p>
            <a:pPr lvl="1">
              <a:defRPr/>
            </a:pPr>
            <a:r>
              <a:rPr lang="zh-CN" altLang="en-US" dirty="0"/>
              <a:t>子控制器</a:t>
            </a:r>
            <a:r>
              <a:rPr lang="en-US" altLang="zh-CN" dirty="0"/>
              <a:t>/</a:t>
            </a:r>
            <a:r>
              <a:rPr lang="zh-CN" altLang="en-US" dirty="0"/>
              <a:t>控制器</a:t>
            </a:r>
            <a:endParaRPr lang="en-US" altLang="zh-CN" dirty="0"/>
          </a:p>
          <a:p>
            <a:pPr>
              <a:defRPr/>
            </a:pPr>
            <a:r>
              <a:rPr lang="zh-CN" altLang="en-US" dirty="0"/>
              <a:t>应用服务</a:t>
            </a:r>
            <a:endParaRPr lang="en-US" altLang="zh-CN" dirty="0"/>
          </a:p>
          <a:p>
            <a:pPr lvl="1">
              <a:defRPr/>
            </a:pPr>
            <a:r>
              <a:rPr lang="zh-CN" altLang="en-US" dirty="0"/>
              <a:t>最有可能用来作为专用组合</a:t>
            </a:r>
            <a:r>
              <a:rPr lang="zh-CN" altLang="en-US" dirty="0" smtClean="0"/>
              <a:t>成员</a:t>
            </a:r>
            <a:endParaRPr lang="en-US" altLang="zh-CN" dirty="0" smtClean="0"/>
          </a:p>
          <a:p>
            <a:pPr lvl="1">
              <a:defRPr/>
            </a:pPr>
            <a:r>
              <a:rPr lang="zh-CN" altLang="en-US" dirty="0" smtClean="0"/>
              <a:t>只</a:t>
            </a:r>
            <a:r>
              <a:rPr lang="zh-CN" altLang="en-US" dirty="0"/>
              <a:t>具有有限的控制器需求</a:t>
            </a:r>
            <a:endParaRPr lang="en-US" altLang="zh-CN" dirty="0"/>
          </a:p>
          <a:p>
            <a:pPr marL="363538" lvl="1" indent="0">
              <a:buNone/>
              <a:defRPr/>
            </a:pPr>
            <a:endParaRPr lang="zh-CN" altLang="en-US" dirty="0"/>
          </a:p>
        </p:txBody>
      </p:sp>
      <p:sp>
        <p:nvSpPr>
          <p:cNvPr id="6758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4A47667-B852-4E95-95A2-6858080EF511}" type="slidenum">
              <a:rPr lang="en-US" altLang="zh-CN" smtClean="0"/>
              <a:pPr eaLnBrk="1" hangingPunct="1"/>
              <a:t>55</a:t>
            </a:fld>
            <a:endParaRPr lang="en-US" altLang="zh-CN" smtClean="0"/>
          </a:p>
        </p:txBody>
      </p:sp>
      <p:pic>
        <p:nvPicPr>
          <p:cNvPr id="3" name="图片 2"/>
          <p:cNvPicPr>
            <a:picLocks noChangeAspect="1"/>
          </p:cNvPicPr>
          <p:nvPr/>
        </p:nvPicPr>
        <p:blipFill>
          <a:blip r:embed="rId3"/>
          <a:stretch>
            <a:fillRect/>
          </a:stretch>
        </p:blipFill>
        <p:spPr>
          <a:xfrm>
            <a:off x="3779838" y="1595187"/>
            <a:ext cx="5364162" cy="3739483"/>
          </a:xfrm>
          <a:prstGeom prst="rect">
            <a:avLst/>
          </a:prstGeom>
        </p:spPr>
      </p:pic>
      <p:sp>
        <p:nvSpPr>
          <p:cNvPr id="5" name="矩形 4"/>
          <p:cNvSpPr/>
          <p:nvPr/>
        </p:nvSpPr>
        <p:spPr>
          <a:xfrm>
            <a:off x="3932511" y="5482399"/>
            <a:ext cx="5058816" cy="830997"/>
          </a:xfrm>
          <a:prstGeom prst="rect">
            <a:avLst/>
          </a:prstGeom>
        </p:spPr>
        <p:txBody>
          <a:bodyPr wrap="square">
            <a:spAutoFit/>
          </a:bodyPr>
          <a:lstStyle/>
          <a:p>
            <a:r>
              <a:rPr lang="en-US" altLang="zh-CN" sz="1600" dirty="0"/>
              <a:t>A task service positioned as a composition member and sub-controller within a complex composition </a:t>
            </a:r>
            <a:r>
              <a:rPr lang="en-US" altLang="zh-CN" sz="1600" dirty="0" smtClean="0"/>
              <a:t>spearheaded by </a:t>
            </a:r>
            <a:r>
              <a:rPr lang="en-US" altLang="zh-CN" sz="1600" dirty="0"/>
              <a:t>a parent orchestrated task service</a:t>
            </a:r>
            <a:endParaRPr lang="zh-CN" altLang="en-US" sz="16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服务可组合性与服务模型</a:t>
            </a:r>
          </a:p>
        </p:txBody>
      </p:sp>
      <p:sp>
        <p:nvSpPr>
          <p:cNvPr id="6758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4A47667-B852-4E95-95A2-6858080EF511}" type="slidenum">
              <a:rPr lang="en-US" altLang="zh-CN" smtClean="0"/>
              <a:pPr eaLnBrk="1" hangingPunct="1"/>
              <a:t>56</a:t>
            </a:fld>
            <a:endParaRPr lang="en-US" altLang="zh-CN" smtClean="0"/>
          </a:p>
        </p:txBody>
      </p:sp>
      <p:pic>
        <p:nvPicPr>
          <p:cNvPr id="2" name="图片 1"/>
          <p:cNvPicPr>
            <a:picLocks noChangeAspect="1"/>
          </p:cNvPicPr>
          <p:nvPr/>
        </p:nvPicPr>
        <p:blipFill>
          <a:blip r:embed="rId3"/>
          <a:stretch>
            <a:fillRect/>
          </a:stretch>
        </p:blipFill>
        <p:spPr>
          <a:xfrm>
            <a:off x="3779838" y="1412776"/>
            <a:ext cx="5153025" cy="3581400"/>
          </a:xfrm>
          <a:prstGeom prst="rect">
            <a:avLst/>
          </a:prstGeom>
        </p:spPr>
      </p:pic>
      <p:sp>
        <p:nvSpPr>
          <p:cNvPr id="4" name="矩形 3"/>
          <p:cNvSpPr/>
          <p:nvPr/>
        </p:nvSpPr>
        <p:spPr>
          <a:xfrm>
            <a:off x="4070350" y="5270163"/>
            <a:ext cx="4572000" cy="584775"/>
          </a:xfrm>
          <a:prstGeom prst="rect">
            <a:avLst/>
          </a:prstGeom>
        </p:spPr>
        <p:txBody>
          <a:bodyPr>
            <a:spAutoFit/>
          </a:bodyPr>
          <a:lstStyle/>
          <a:p>
            <a:r>
              <a:rPr lang="zh-CN" altLang="en-US" sz="1600" dirty="0"/>
              <a:t>An entity service assuming the controller role at the head of a complete composition</a:t>
            </a:r>
          </a:p>
        </p:txBody>
      </p:sp>
      <p:sp>
        <p:nvSpPr>
          <p:cNvPr id="8" name="内容占位符 8"/>
          <p:cNvSpPr>
            <a:spLocks noGrp="1"/>
          </p:cNvSpPr>
          <p:nvPr>
            <p:ph sz="half" idx="1"/>
          </p:nvPr>
        </p:nvSpPr>
        <p:spPr>
          <a:xfrm>
            <a:off x="457200" y="1600200"/>
            <a:ext cx="3322638" cy="4530725"/>
          </a:xfrm>
        </p:spPr>
        <p:txBody>
          <a:bodyPr>
            <a:normAutofit fontScale="92500" lnSpcReduction="10000"/>
          </a:bodyPr>
          <a:lstStyle/>
          <a:p>
            <a:pPr>
              <a:defRPr/>
            </a:pPr>
            <a:r>
              <a:rPr lang="zh-CN" altLang="en-US" dirty="0" smtClean="0"/>
              <a:t>任务服务</a:t>
            </a:r>
            <a:endParaRPr lang="en-US" altLang="zh-CN" dirty="0" smtClean="0"/>
          </a:p>
          <a:p>
            <a:pPr lvl="1">
              <a:defRPr/>
            </a:pPr>
            <a:r>
              <a:rPr lang="zh-CN" altLang="en-US" dirty="0" smtClean="0"/>
              <a:t>组合成员</a:t>
            </a:r>
            <a:endParaRPr lang="en-US" altLang="zh-CN" dirty="0" smtClean="0"/>
          </a:p>
          <a:p>
            <a:pPr lvl="1">
              <a:defRPr/>
            </a:pPr>
            <a:r>
              <a:rPr lang="zh-CN" altLang="en-US" dirty="0" smtClean="0"/>
              <a:t>子控制器</a:t>
            </a:r>
            <a:endParaRPr lang="en-US" altLang="zh-CN" dirty="0" smtClean="0"/>
          </a:p>
          <a:p>
            <a:pPr lvl="1">
              <a:defRPr/>
            </a:pPr>
            <a:r>
              <a:rPr lang="zh-CN" altLang="en-US" dirty="0" smtClean="0"/>
              <a:t>指定组合控制器</a:t>
            </a:r>
            <a:endParaRPr lang="en-US" altLang="zh-CN" dirty="0" smtClean="0"/>
          </a:p>
          <a:p>
            <a:pPr>
              <a:defRPr/>
            </a:pPr>
            <a:r>
              <a:rPr lang="zh-CN" altLang="en-US" dirty="0"/>
              <a:t>实体服务</a:t>
            </a:r>
            <a:endParaRPr lang="en-US" altLang="zh-CN" dirty="0"/>
          </a:p>
          <a:p>
            <a:pPr lvl="1">
              <a:defRPr/>
            </a:pPr>
            <a:r>
              <a:rPr lang="zh-CN" altLang="en-US" dirty="0"/>
              <a:t>组合成员</a:t>
            </a:r>
            <a:endParaRPr lang="en-US" altLang="zh-CN" dirty="0"/>
          </a:p>
          <a:p>
            <a:pPr lvl="1">
              <a:defRPr/>
            </a:pPr>
            <a:r>
              <a:rPr lang="zh-CN" altLang="en-US" dirty="0"/>
              <a:t>子控制器</a:t>
            </a:r>
            <a:r>
              <a:rPr lang="en-US" altLang="zh-CN" dirty="0"/>
              <a:t>/</a:t>
            </a:r>
            <a:r>
              <a:rPr lang="zh-CN" altLang="en-US" dirty="0"/>
              <a:t>控制器</a:t>
            </a:r>
            <a:endParaRPr lang="en-US" altLang="zh-CN" dirty="0"/>
          </a:p>
          <a:p>
            <a:pPr>
              <a:defRPr/>
            </a:pPr>
            <a:r>
              <a:rPr lang="zh-CN" altLang="en-US" dirty="0"/>
              <a:t>应用服务</a:t>
            </a:r>
            <a:endParaRPr lang="en-US" altLang="zh-CN" dirty="0"/>
          </a:p>
          <a:p>
            <a:pPr lvl="1">
              <a:defRPr/>
            </a:pPr>
            <a:r>
              <a:rPr lang="zh-CN" altLang="en-US" dirty="0"/>
              <a:t>最有可能用来作为专用组合</a:t>
            </a:r>
            <a:r>
              <a:rPr lang="zh-CN" altLang="en-US" dirty="0" smtClean="0"/>
              <a:t>成员</a:t>
            </a:r>
            <a:endParaRPr lang="en-US" altLang="zh-CN" dirty="0" smtClean="0"/>
          </a:p>
          <a:p>
            <a:pPr lvl="1">
              <a:defRPr/>
            </a:pPr>
            <a:r>
              <a:rPr lang="zh-CN" altLang="en-US" dirty="0" smtClean="0"/>
              <a:t>只</a:t>
            </a:r>
            <a:r>
              <a:rPr lang="zh-CN" altLang="en-US" dirty="0"/>
              <a:t>具有有限的控制器需求</a:t>
            </a:r>
            <a:endParaRPr lang="en-US" altLang="zh-CN" dirty="0"/>
          </a:p>
          <a:p>
            <a:pPr marL="363538" lvl="1" indent="0">
              <a:buNone/>
              <a:defRPr/>
            </a:pPr>
            <a:endParaRPr lang="zh-CN" altLang="en-US" dirty="0"/>
          </a:p>
        </p:txBody>
      </p:sp>
    </p:spTree>
    <p:extLst>
      <p:ext uri="{BB962C8B-B14F-4D97-AF65-F5344CB8AC3E}">
        <p14:creationId xmlns:p14="http://schemas.microsoft.com/office/powerpoint/2010/main" val="177601906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smtClean="0"/>
              <a:t>服务可组合性与组合自治</a:t>
            </a:r>
          </a:p>
        </p:txBody>
      </p:sp>
      <p:sp>
        <p:nvSpPr>
          <p:cNvPr id="68611" name="内容占位符 2"/>
          <p:cNvSpPr>
            <a:spLocks noGrp="1"/>
          </p:cNvSpPr>
          <p:nvPr>
            <p:ph idx="1"/>
          </p:nvPr>
        </p:nvSpPr>
        <p:spPr/>
        <p:txBody>
          <a:bodyPr/>
          <a:lstStyle/>
          <a:p>
            <a:pPr>
              <a:lnSpc>
                <a:spcPct val="150000"/>
              </a:lnSpc>
            </a:pPr>
            <a:r>
              <a:rPr lang="zh-CN" altLang="en-US" dirty="0" smtClean="0"/>
              <a:t>为提高组合服务的自治性，一种可行的设计选择是把组合本身隔离出来（通常需要为无关的组合成员提供冗余的实现）</a:t>
            </a:r>
            <a:endParaRPr lang="en-US" altLang="zh-CN" dirty="0" smtClean="0"/>
          </a:p>
          <a:p>
            <a:pPr>
              <a:lnSpc>
                <a:spcPct val="150000"/>
              </a:lnSpc>
            </a:pPr>
            <a:r>
              <a:rPr lang="zh-CN" altLang="en-US" dirty="0" smtClean="0"/>
              <a:t>组合自治性可以应用于参与组合的所有成员，也可以应用于其中的一部分</a:t>
            </a:r>
            <a:endParaRPr lang="en-US" altLang="zh-CN" dirty="0" smtClean="0"/>
          </a:p>
        </p:txBody>
      </p:sp>
      <p:sp>
        <p:nvSpPr>
          <p:cNvPr id="6861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88B0A4D-FD07-4B5F-9104-01290057F10B}" type="slidenum">
              <a:rPr lang="en-US" altLang="zh-CN" smtClean="0"/>
              <a:pPr eaLnBrk="1" hangingPunct="1"/>
              <a:t>57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服务可组合性与编排</a:t>
            </a:r>
          </a:p>
        </p:txBody>
      </p:sp>
      <p:sp>
        <p:nvSpPr>
          <p:cNvPr id="69635" name="内容占位符 2"/>
          <p:cNvSpPr>
            <a:spLocks noGrp="1"/>
          </p:cNvSpPr>
          <p:nvPr>
            <p:ph idx="1"/>
          </p:nvPr>
        </p:nvSpPr>
        <p:spPr/>
        <p:txBody>
          <a:bodyPr/>
          <a:lstStyle/>
          <a:p>
            <a:pPr>
              <a:lnSpc>
                <a:spcPct val="150000"/>
              </a:lnSpc>
            </a:pPr>
            <a:r>
              <a:rPr lang="zh-CN" altLang="en-US" dirty="0" smtClean="0"/>
              <a:t>通过整合一个企业内的不同资源来实现一个业务流程逻辑</a:t>
            </a:r>
            <a:endParaRPr lang="en-US" altLang="zh-CN" dirty="0" smtClean="0"/>
          </a:p>
          <a:p>
            <a:pPr>
              <a:lnSpc>
                <a:spcPct val="150000"/>
              </a:lnSpc>
            </a:pPr>
            <a:r>
              <a:rPr lang="en-US" altLang="zh-CN" dirty="0" smtClean="0"/>
              <a:t>WS-BPEL</a:t>
            </a:r>
            <a:r>
              <a:rPr lang="zh-CN" altLang="en-US" dirty="0" smtClean="0"/>
              <a:t>为代表的编排语言</a:t>
            </a:r>
            <a:endParaRPr lang="en-US" altLang="zh-CN" dirty="0" smtClean="0"/>
          </a:p>
          <a:p>
            <a:pPr>
              <a:lnSpc>
                <a:spcPct val="150000"/>
              </a:lnSpc>
            </a:pPr>
            <a:r>
              <a:rPr lang="zh-CN" altLang="en-US" dirty="0" smtClean="0"/>
              <a:t>编排层倾向于表示位于组合层次结构顶端的上层业务逻辑，但它们仍然可以作为组合成员</a:t>
            </a:r>
          </a:p>
        </p:txBody>
      </p:sp>
      <p:sp>
        <p:nvSpPr>
          <p:cNvPr id="6963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A16B464-7AD9-41FC-99A9-E0DB3E5DB094}" type="slidenum">
              <a:rPr lang="en-US" altLang="zh-CN" smtClean="0"/>
              <a:pPr eaLnBrk="1" hangingPunct="1"/>
              <a:t>58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dirty="0" smtClean="0"/>
              <a:t>服务可组合性与其他原则 </a:t>
            </a:r>
            <a:r>
              <a:rPr lang="en-US" altLang="zh-CN" dirty="0" smtClean="0"/>
              <a:t>I</a:t>
            </a:r>
            <a:endParaRPr lang="zh-CN" altLang="en-US" dirty="0" smtClean="0"/>
          </a:p>
        </p:txBody>
      </p:sp>
      <p:sp>
        <p:nvSpPr>
          <p:cNvPr id="7065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B8E1A2A-7AC5-4544-B090-3896DD00AEE6}" type="slidenum">
              <a:rPr lang="en-US" altLang="zh-CN" smtClean="0"/>
              <a:pPr eaLnBrk="1" hangingPunct="1"/>
              <a:t>59</a:t>
            </a:fld>
            <a:endParaRPr lang="en-US" altLang="zh-CN" smtClean="0"/>
          </a:p>
        </p:txBody>
      </p:sp>
      <p:pic>
        <p:nvPicPr>
          <p:cNvPr id="2" name="图片 1"/>
          <p:cNvPicPr>
            <a:picLocks noChangeAspect="1"/>
          </p:cNvPicPr>
          <p:nvPr/>
        </p:nvPicPr>
        <p:blipFill>
          <a:blip r:embed="rId3"/>
          <a:stretch>
            <a:fillRect/>
          </a:stretch>
        </p:blipFill>
        <p:spPr>
          <a:xfrm>
            <a:off x="1115616" y="1052736"/>
            <a:ext cx="7102624" cy="53186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smtClean="0"/>
              <a:t>服务可组合性与其他原则 </a:t>
            </a:r>
            <a:r>
              <a:rPr lang="en-US" altLang="zh-CN" smtClean="0"/>
              <a:t>II</a:t>
            </a:r>
            <a:endParaRPr lang="zh-CN" altLang="en-US" dirty="0" smtClean="0"/>
          </a:p>
        </p:txBody>
      </p:sp>
      <p:sp>
        <p:nvSpPr>
          <p:cNvPr id="71683" name="内容占位符 2"/>
          <p:cNvSpPr>
            <a:spLocks noGrp="1"/>
          </p:cNvSpPr>
          <p:nvPr>
            <p:ph idx="1"/>
          </p:nvPr>
        </p:nvSpPr>
        <p:spPr/>
        <p:txBody>
          <a:bodyPr/>
          <a:lstStyle/>
          <a:p>
            <a:r>
              <a:rPr lang="zh-CN" altLang="en-US" dirty="0" smtClean="0"/>
              <a:t>服务可组合性与标准化服务合约</a:t>
            </a:r>
            <a:endParaRPr lang="en-US" altLang="zh-CN" dirty="0" smtClean="0"/>
          </a:p>
          <a:p>
            <a:pPr lvl="1"/>
            <a:r>
              <a:rPr lang="zh-CN" altLang="en-US" dirty="0" smtClean="0"/>
              <a:t>服务可组合性的应用强调服务间需要一致的合约标准</a:t>
            </a:r>
            <a:endParaRPr lang="en-US" altLang="zh-CN" dirty="0" smtClean="0"/>
          </a:p>
          <a:p>
            <a:pPr lvl="1"/>
            <a:r>
              <a:rPr lang="zh-CN" altLang="en-US" dirty="0" smtClean="0"/>
              <a:t>由服务可组合性原则引起的考虑可以用来帮助形成服务合约设计标准，以便支持特定于组合（尤其是复杂的组合）的需求。</a:t>
            </a:r>
            <a:endParaRPr lang="en-US" altLang="zh-CN" dirty="0" smtClean="0"/>
          </a:p>
          <a:p>
            <a:r>
              <a:rPr lang="zh-CN" altLang="en-US" dirty="0" smtClean="0"/>
              <a:t>服务可组合性与服务松散耦合</a:t>
            </a:r>
            <a:endParaRPr lang="en-US" altLang="zh-CN" dirty="0" smtClean="0"/>
          </a:p>
          <a:p>
            <a:pPr lvl="1"/>
            <a:r>
              <a:rPr lang="zh-CN" altLang="en-US" dirty="0" smtClean="0"/>
              <a:t>服务所具有的依赖关系会造成一些根本性的约束，直接制约服务能够达到的可组合性级别</a:t>
            </a:r>
            <a:endParaRPr lang="zh-CN" altLang="en-US" dirty="0"/>
          </a:p>
        </p:txBody>
      </p:sp>
      <p:sp>
        <p:nvSpPr>
          <p:cNvPr id="7168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AE955CD-D11C-4E38-ADFF-C166460B0654}" type="slidenum">
              <a:rPr lang="en-US" altLang="zh-CN" smtClean="0"/>
              <a:pPr/>
              <a:t>60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服务可组合性与其他原则 </a:t>
            </a:r>
            <a:r>
              <a:rPr lang="en-US" altLang="zh-CN" smtClean="0"/>
              <a:t>III</a:t>
            </a:r>
            <a:endParaRPr lang="zh-CN" altLang="en-US" dirty="0" smtClean="0"/>
          </a:p>
        </p:txBody>
      </p:sp>
      <p:sp>
        <p:nvSpPr>
          <p:cNvPr id="2" name="内容占位符 1"/>
          <p:cNvSpPr>
            <a:spLocks noGrp="1"/>
          </p:cNvSpPr>
          <p:nvPr>
            <p:ph idx="1"/>
          </p:nvPr>
        </p:nvSpPr>
        <p:spPr>
          <a:xfrm>
            <a:off x="457200" y="1052737"/>
            <a:ext cx="8229600" cy="818587"/>
          </a:xfrm>
        </p:spPr>
        <p:txBody>
          <a:bodyPr/>
          <a:lstStyle/>
          <a:p>
            <a:r>
              <a:rPr lang="zh-CN" altLang="en-US" dirty="0" smtClean="0"/>
              <a:t>服务可组合性与服务抽象</a:t>
            </a:r>
            <a:endParaRPr lang="zh-CN" altLang="en-US" dirty="0"/>
          </a:p>
        </p:txBody>
      </p:sp>
      <p:sp>
        <p:nvSpPr>
          <p:cNvPr id="73731"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AE1D28F-46E6-4FB2-B2F3-A430306EBE42}" type="slidenum">
              <a:rPr lang="en-US" altLang="zh-CN" smtClean="0"/>
              <a:pPr/>
              <a:t>61</a:t>
            </a:fld>
            <a:endParaRPr lang="en-US" altLang="zh-CN" smtClean="0"/>
          </a:p>
        </p:txBody>
      </p:sp>
      <p:pic>
        <p:nvPicPr>
          <p:cNvPr id="6" name="图片 5"/>
          <p:cNvPicPr>
            <a:picLocks noChangeAspect="1"/>
          </p:cNvPicPr>
          <p:nvPr/>
        </p:nvPicPr>
        <p:blipFill>
          <a:blip r:embed="rId3"/>
          <a:stretch>
            <a:fillRect/>
          </a:stretch>
        </p:blipFill>
        <p:spPr>
          <a:xfrm>
            <a:off x="304800" y="1732284"/>
            <a:ext cx="4980348" cy="5060676"/>
          </a:xfrm>
          <a:prstGeom prst="rect">
            <a:avLst/>
          </a:prstGeom>
        </p:spPr>
      </p:pic>
      <p:sp>
        <p:nvSpPr>
          <p:cNvPr id="8" name="矩形 7"/>
          <p:cNvSpPr/>
          <p:nvPr/>
        </p:nvSpPr>
        <p:spPr>
          <a:xfrm>
            <a:off x="5285148" y="3890861"/>
            <a:ext cx="3672408" cy="2062103"/>
          </a:xfrm>
          <a:prstGeom prst="rect">
            <a:avLst/>
          </a:prstGeom>
        </p:spPr>
        <p:txBody>
          <a:bodyPr wrap="square">
            <a:spAutoFit/>
          </a:bodyPr>
          <a:lstStyle/>
          <a:p>
            <a:r>
              <a:rPr lang="en-US" altLang="zh-CN" sz="1600" dirty="0"/>
              <a:t>When abstraction is applied to the extent that complex compositions are hidden, </a:t>
            </a:r>
            <a:r>
              <a:rPr lang="en-US" altLang="zh-CN" sz="1600" dirty="0" smtClean="0"/>
              <a:t>the requirement </a:t>
            </a:r>
            <a:r>
              <a:rPr lang="en-US" altLang="zh-CN" sz="1600" dirty="0"/>
              <a:t>for those compositions to perform efficiently and reliably is greatly </a:t>
            </a:r>
            <a:r>
              <a:rPr lang="en-US" altLang="zh-CN" sz="1600" dirty="0" smtClean="0"/>
              <a:t>amplified. In </a:t>
            </a:r>
            <a:r>
              <a:rPr lang="en-US" altLang="zh-CN" sz="1600" dirty="0"/>
              <a:t>return, the composition owner gains greater control over how to evolve the </a:t>
            </a:r>
            <a:r>
              <a:rPr lang="en-US" altLang="zh-CN" sz="1600" dirty="0" smtClean="0"/>
              <a:t>composition configuration</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smtClean="0"/>
              <a:t>服务可组合性与其他原则 </a:t>
            </a:r>
            <a:r>
              <a:rPr lang="en-US" altLang="zh-CN" smtClean="0"/>
              <a:t>IV</a:t>
            </a:r>
            <a:endParaRPr lang="zh-CN" altLang="en-US" dirty="0" smtClean="0"/>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en-US" dirty="0" smtClean="0"/>
              <a:t>服务可组合性与服务可复用性</a:t>
            </a:r>
            <a:endParaRPr lang="en-US" altLang="zh-CN" dirty="0" smtClean="0"/>
          </a:p>
          <a:p>
            <a:pPr lvl="1">
              <a:lnSpc>
                <a:spcPct val="110000"/>
              </a:lnSpc>
            </a:pPr>
            <a:r>
              <a:rPr lang="zh-CN" altLang="en-US" dirty="0" smtClean="0"/>
              <a:t>当一个成熟的服务库存建立起来的时候，服务组合就成为最常用的服务复用方式</a:t>
            </a:r>
            <a:endParaRPr lang="en-US" altLang="zh-CN" dirty="0" smtClean="0"/>
          </a:p>
          <a:p>
            <a:pPr lvl="2">
              <a:lnSpc>
                <a:spcPct val="110000"/>
              </a:lnSpc>
            </a:pPr>
            <a:r>
              <a:rPr lang="zh-CN" altLang="en-US" dirty="0" smtClean="0"/>
              <a:t>可复用但不可组合（参与多个点对点活动）</a:t>
            </a:r>
            <a:endParaRPr lang="en-US" altLang="zh-CN" dirty="0" smtClean="0"/>
          </a:p>
          <a:p>
            <a:pPr lvl="2">
              <a:lnSpc>
                <a:spcPct val="110000"/>
              </a:lnSpc>
            </a:pPr>
            <a:r>
              <a:rPr lang="zh-CN" altLang="en-US" dirty="0" smtClean="0"/>
              <a:t>可组合但不可复用（很高的</a:t>
            </a:r>
            <a:r>
              <a:rPr lang="en-US" altLang="zh-CN" dirty="0" smtClean="0"/>
              <a:t>“</a:t>
            </a:r>
            <a:r>
              <a:rPr lang="zh-CN" altLang="en-US" dirty="0" smtClean="0"/>
              <a:t>服务</a:t>
            </a:r>
            <a:r>
              <a:rPr lang="en-US" altLang="zh-CN" dirty="0" smtClean="0"/>
              <a:t>-</a:t>
            </a:r>
            <a:r>
              <a:rPr lang="zh-CN" altLang="en-US" dirty="0" smtClean="0"/>
              <a:t>消费者</a:t>
            </a:r>
            <a:r>
              <a:rPr lang="en-US" altLang="zh-CN" dirty="0" smtClean="0"/>
              <a:t>”</a:t>
            </a:r>
            <a:r>
              <a:rPr lang="zh-CN" altLang="en-US" dirty="0" smtClean="0"/>
              <a:t>耦合）</a:t>
            </a:r>
            <a:endParaRPr lang="en-US" altLang="zh-CN" dirty="0" smtClean="0"/>
          </a:p>
          <a:p>
            <a:pPr>
              <a:lnSpc>
                <a:spcPct val="110000"/>
              </a:lnSpc>
            </a:pPr>
            <a:r>
              <a:rPr lang="zh-CN" altLang="en-US" dirty="0" smtClean="0"/>
              <a:t>服务可组合性与服务自治</a:t>
            </a:r>
            <a:endParaRPr lang="en-US" altLang="zh-CN" dirty="0" smtClean="0"/>
          </a:p>
          <a:p>
            <a:pPr lvl="1">
              <a:lnSpc>
                <a:spcPct val="110000"/>
              </a:lnSpc>
            </a:pPr>
            <a:r>
              <a:rPr lang="zh-CN" altLang="en-US" dirty="0" smtClean="0"/>
              <a:t>这两个原则之间是“整体</a:t>
            </a:r>
            <a:r>
              <a:rPr lang="en-US" altLang="zh-CN" dirty="0" smtClean="0"/>
              <a:t>-</a:t>
            </a:r>
            <a:r>
              <a:rPr lang="zh-CN" altLang="en-US" dirty="0" smtClean="0"/>
              <a:t>部分</a:t>
            </a:r>
            <a:r>
              <a:rPr lang="zh-CN" altLang="en-US" dirty="0"/>
              <a:t>”</a:t>
            </a:r>
            <a:r>
              <a:rPr lang="zh-CN" altLang="en-US" dirty="0" smtClean="0"/>
              <a:t>的关系</a:t>
            </a:r>
            <a:endParaRPr lang="en-US" altLang="zh-CN" dirty="0" smtClean="0"/>
          </a:p>
          <a:p>
            <a:pPr lvl="1">
              <a:lnSpc>
                <a:spcPct val="110000"/>
              </a:lnSpc>
            </a:pPr>
            <a:r>
              <a:rPr lang="zh-CN" altLang="en-US" dirty="0" smtClean="0"/>
              <a:t>控制器服务在组合其他服务时需要牺牲其自治性（等价于对所有涉及的服务组合成员的自治性的综合度量结果）</a:t>
            </a:r>
            <a:endParaRPr lang="en-US" altLang="zh-CN" dirty="0" smtClean="0"/>
          </a:p>
          <a:p>
            <a:pPr lvl="1">
              <a:lnSpc>
                <a:spcPct val="110000"/>
              </a:lnSpc>
            </a:pPr>
            <a:r>
              <a:rPr lang="zh-CN" altLang="en-US" dirty="0" smtClean="0"/>
              <a:t>服务自治性的提高有助于产生高效的组合成员</a:t>
            </a:r>
            <a:endParaRPr lang="en-US" altLang="zh-CN" dirty="0" smtClean="0"/>
          </a:p>
        </p:txBody>
      </p:sp>
      <p:sp>
        <p:nvSpPr>
          <p:cNvPr id="74756"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AA21F6C-3BFE-4085-BCC3-12D2FA565491}" type="slidenum">
              <a:rPr lang="en-US" altLang="zh-CN" smtClean="0"/>
              <a:pPr/>
              <a:t>62</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smtClean="0"/>
              <a:t>服务可组合性与其他原则 </a:t>
            </a:r>
            <a:r>
              <a:rPr lang="en-US" altLang="zh-CN" smtClean="0"/>
              <a:t>V</a:t>
            </a:r>
            <a:endParaRPr lang="zh-CN" altLang="en-US" dirty="0" smtClean="0"/>
          </a:p>
        </p:txBody>
      </p:sp>
      <p:sp>
        <p:nvSpPr>
          <p:cNvPr id="76803" name="内容占位符 2"/>
          <p:cNvSpPr>
            <a:spLocks noGrp="1"/>
          </p:cNvSpPr>
          <p:nvPr>
            <p:ph idx="1"/>
          </p:nvPr>
        </p:nvSpPr>
        <p:spPr/>
        <p:txBody>
          <a:bodyPr/>
          <a:lstStyle/>
          <a:p>
            <a:r>
              <a:rPr lang="zh-CN" altLang="en-US" dirty="0" smtClean="0"/>
              <a:t>服务可组合性与服务无状态性</a:t>
            </a:r>
            <a:endParaRPr lang="en-US" altLang="zh-CN" dirty="0" smtClean="0"/>
          </a:p>
          <a:p>
            <a:pPr lvl="1"/>
            <a:r>
              <a:rPr lang="zh-CN" altLang="en-US" dirty="0" smtClean="0"/>
              <a:t>尽可能地减轻每个组合成员在状态管理方面的责任，可以更精细、更优化地执行整体的组合实例</a:t>
            </a:r>
            <a:endParaRPr lang="en-US" altLang="zh-CN" dirty="0" smtClean="0"/>
          </a:p>
          <a:p>
            <a:pPr lvl="1"/>
            <a:r>
              <a:rPr lang="zh-CN" altLang="en-US" dirty="0" smtClean="0"/>
              <a:t>为了能够在同一个服务库存中重复地装配出高效的服务组合，服务之间需要能够通过一致并且有效的方式共享状态数据</a:t>
            </a:r>
            <a:endParaRPr lang="en-US" altLang="zh-CN" dirty="0" smtClean="0"/>
          </a:p>
          <a:p>
            <a:r>
              <a:rPr lang="zh-CN" altLang="en-US" dirty="0" smtClean="0"/>
              <a:t>服务可组合性与服务可发现性</a:t>
            </a:r>
            <a:endParaRPr lang="en-US" altLang="zh-CN" dirty="0" smtClean="0"/>
          </a:p>
          <a:p>
            <a:pPr lvl="1"/>
            <a:r>
              <a:rPr lang="zh-CN" altLang="en-US" dirty="0" smtClean="0"/>
              <a:t>作为组合控制器的服务能力可以负责描述它所封装的整个组合逻辑，并达到服务抽象原则所允许的任意程度</a:t>
            </a:r>
            <a:endParaRPr lang="en-US" altLang="zh-CN" dirty="0"/>
          </a:p>
        </p:txBody>
      </p:sp>
      <p:sp>
        <p:nvSpPr>
          <p:cNvPr id="7680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A85CE24-0A76-49F5-ABCD-91E8C280FD56}" type="slidenum">
              <a:rPr lang="en-US" altLang="zh-CN" smtClean="0"/>
              <a:pPr/>
              <a:t>63</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smtClean="0"/>
              <a:t>服务组合的相关风险</a:t>
            </a:r>
          </a:p>
        </p:txBody>
      </p:sp>
      <p:sp>
        <p:nvSpPr>
          <p:cNvPr id="78851" name="内容占位符 2"/>
          <p:cNvSpPr>
            <a:spLocks noGrp="1"/>
          </p:cNvSpPr>
          <p:nvPr>
            <p:ph idx="1"/>
          </p:nvPr>
        </p:nvSpPr>
        <p:spPr/>
        <p:txBody>
          <a:bodyPr/>
          <a:lstStyle/>
          <a:p>
            <a:pPr>
              <a:lnSpc>
                <a:spcPct val="150000"/>
              </a:lnSpc>
            </a:pPr>
            <a:r>
              <a:rPr lang="zh-CN" altLang="en-US" dirty="0" smtClean="0"/>
              <a:t>组合成员成为单点失效的源头</a:t>
            </a:r>
            <a:endParaRPr lang="en-US" altLang="zh-CN" dirty="0" smtClean="0"/>
          </a:p>
          <a:p>
            <a:pPr>
              <a:lnSpc>
                <a:spcPct val="150000"/>
              </a:lnSpc>
            </a:pPr>
            <a:r>
              <a:rPr lang="zh-CN" altLang="en-US" dirty="0" smtClean="0"/>
              <a:t>组合成员成为性能瓶颈</a:t>
            </a:r>
            <a:endParaRPr lang="en-US" altLang="zh-CN" dirty="0" smtClean="0"/>
          </a:p>
          <a:p>
            <a:pPr>
              <a:lnSpc>
                <a:spcPct val="150000"/>
              </a:lnSpc>
            </a:pPr>
            <a:r>
              <a:rPr lang="zh-CN" altLang="en-US" dirty="0" smtClean="0"/>
              <a:t>对于组合中</a:t>
            </a:r>
            <a:r>
              <a:rPr lang="en-US" altLang="zh-CN" dirty="0" smtClean="0"/>
              <a:t>“</a:t>
            </a:r>
            <a:r>
              <a:rPr lang="zh-CN" altLang="en-US" dirty="0" smtClean="0"/>
              <a:t>过度复用</a:t>
            </a:r>
            <a:r>
              <a:rPr lang="en-US" altLang="zh-CN" dirty="0" smtClean="0"/>
              <a:t>”</a:t>
            </a:r>
            <a:r>
              <a:rPr lang="zh-CN" altLang="en-US" dirty="0" smtClean="0"/>
              <a:t>所带来的治理强度</a:t>
            </a:r>
            <a:endParaRPr lang="en-US" altLang="zh-CN" dirty="0" smtClean="0"/>
          </a:p>
        </p:txBody>
      </p:sp>
      <p:sp>
        <p:nvSpPr>
          <p:cNvPr id="7885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A245E5E-2FD1-4E0B-968B-361AC482CAEB}" type="slidenum">
              <a:rPr lang="en-US" altLang="zh-CN" smtClean="0"/>
              <a:pPr eaLnBrk="1" hangingPunct="1"/>
              <a:t>64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r>
              <a:rPr lang="zh-CN" altLang="en-US" smtClean="0"/>
              <a:t>案例研究</a:t>
            </a:r>
            <a:r>
              <a:rPr lang="en-US" altLang="zh-CN" smtClean="0"/>
              <a:t>——</a:t>
            </a:r>
            <a:r>
              <a:rPr lang="zh-CN" altLang="en-US" smtClean="0"/>
              <a:t>背景</a:t>
            </a:r>
          </a:p>
        </p:txBody>
      </p:sp>
      <p:sp>
        <p:nvSpPr>
          <p:cNvPr id="7987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36D620E-5E00-4D27-A3AF-55F42D161EBC}" type="slidenum">
              <a:rPr lang="en-US" altLang="zh-CN" smtClean="0"/>
              <a:pPr eaLnBrk="1" hangingPunct="1"/>
              <a:t>65</a:t>
            </a:fld>
            <a:endParaRPr lang="en-US" altLang="zh-CN" smtClean="0"/>
          </a:p>
        </p:txBody>
      </p:sp>
      <p:pic>
        <p:nvPicPr>
          <p:cNvPr id="2" name="图片 1"/>
          <p:cNvPicPr>
            <a:picLocks noChangeAspect="1"/>
          </p:cNvPicPr>
          <p:nvPr/>
        </p:nvPicPr>
        <p:blipFill>
          <a:blip r:embed="rId3"/>
          <a:stretch>
            <a:fillRect/>
          </a:stretch>
        </p:blipFill>
        <p:spPr>
          <a:xfrm>
            <a:off x="695325" y="1772816"/>
            <a:ext cx="7677150" cy="41243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normAutofit fontScale="90000"/>
          </a:bodyPr>
          <a:lstStyle/>
          <a:p>
            <a:r>
              <a:rPr lang="zh-CN" altLang="en-US" dirty="0" smtClean="0"/>
              <a:t>案例研究</a:t>
            </a:r>
            <a:r>
              <a:rPr lang="en-US" altLang="zh-CN" dirty="0" smtClean="0"/>
              <a:t> </a:t>
            </a:r>
            <a:r>
              <a:rPr lang="en-US" altLang="zh-CN" smtClean="0"/>
              <a:t/>
            </a:r>
            <a:br>
              <a:rPr lang="en-US" altLang="zh-CN" smtClean="0"/>
            </a:br>
            <a:r>
              <a:rPr lang="en-US" altLang="zh-CN" smtClean="0"/>
              <a:t>——</a:t>
            </a:r>
            <a:r>
              <a:rPr lang="zh-CN" altLang="en-US" dirty="0" smtClean="0"/>
              <a:t>设计阶段可组合性的度量（</a:t>
            </a:r>
            <a:r>
              <a:rPr lang="en-US" altLang="zh-CN" dirty="0" smtClean="0"/>
              <a:t>1/2</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262319413"/>
              </p:ext>
            </p:extLst>
          </p:nvPr>
        </p:nvGraphicFramePr>
        <p:xfrm>
          <a:off x="410991" y="2276872"/>
          <a:ext cx="8362950" cy="3302000"/>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840">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a:tc>
                <a:tc hMerge="1">
                  <a:txBody>
                    <a:bodyPr/>
                    <a:lstStyle/>
                    <a:p>
                      <a:endParaRPr lang="zh-CN" altLang="en-US" dirty="0"/>
                    </a:p>
                  </a:txBody>
                  <a:tcPr/>
                </a:tc>
                <a:extLst>
                  <a:ext uri="{0D108BD9-81ED-4DB2-BD59-A6C34878D82A}">
                    <a16:rowId xmlns:a16="http://schemas.microsoft.com/office/drawing/2014/main" val="10000"/>
                  </a:ext>
                </a:extLst>
              </a:tr>
              <a:tr h="370840">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a:tc>
                <a:tc>
                  <a:txBody>
                    <a:bodyPr/>
                    <a:lstStyle/>
                    <a:p>
                      <a:r>
                        <a:rPr lang="zh-CN" altLang="en-US" sz="1600" dirty="0" smtClean="0"/>
                        <a:t>答案</a:t>
                      </a:r>
                      <a:endParaRPr lang="zh-CN" altLang="en-US" sz="1600" dirty="0"/>
                    </a:p>
                  </a:txBody>
                  <a:tcPr marL="91436" marR="91436"/>
                </a:tc>
                <a:extLst>
                  <a:ext uri="{0D108BD9-81ED-4DB2-BD59-A6C34878D82A}">
                    <a16:rowId xmlns:a16="http://schemas.microsoft.com/office/drawing/2014/main" val="10001"/>
                  </a:ext>
                </a:extLst>
              </a:tr>
              <a:tr h="370840">
                <a:tc>
                  <a:txBody>
                    <a:bodyPr/>
                    <a:lstStyle/>
                    <a:p>
                      <a:r>
                        <a:rPr lang="zh-CN" altLang="en-US" sz="1600" kern="1200" baseline="0" dirty="0" smtClean="0">
                          <a:solidFill>
                            <a:schemeClr val="dk1"/>
                          </a:solidFill>
                          <a:latin typeface="+mn-lt"/>
                          <a:ea typeface="+mn-ea"/>
                          <a:cs typeface="+mn-cs"/>
                        </a:rPr>
                        <a:t>标准化服务合约</a:t>
                      </a:r>
                    </a:p>
                    <a:p>
                      <a:r>
                        <a:rPr lang="zh-CN" altLang="en-US" sz="1600" kern="1200" baseline="0" dirty="0" smtClean="0">
                          <a:solidFill>
                            <a:schemeClr val="dk1"/>
                          </a:solidFill>
                          <a:latin typeface="+mn-lt"/>
                          <a:ea typeface="+mn-ea"/>
                          <a:cs typeface="+mn-cs"/>
                        </a:rPr>
                        <a:t>该服务能力所必需的输入输出消息与同一个库存中其他服务</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对于同样的信息集合</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所使用的消息相比是标准化的吗</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2"/>
                  </a:ext>
                </a:extLst>
              </a:tr>
              <a:tr h="370840">
                <a:tc>
                  <a:txBody>
                    <a:bodyPr/>
                    <a:lstStyle/>
                    <a:p>
                      <a:r>
                        <a:rPr lang="zh-CN" altLang="en-US" sz="1600" kern="1200" baseline="0" dirty="0" smtClean="0">
                          <a:solidFill>
                            <a:schemeClr val="dk1"/>
                          </a:solidFill>
                          <a:latin typeface="+mn-lt"/>
                          <a:ea typeface="+mn-ea"/>
                          <a:cs typeface="+mn-cs"/>
                        </a:rPr>
                        <a:t>服务松散耦合</a:t>
                      </a:r>
                    </a:p>
                    <a:p>
                      <a:r>
                        <a:rPr lang="zh-CN" altLang="en-US" sz="1600" kern="1200" baseline="0" dirty="0" smtClean="0">
                          <a:solidFill>
                            <a:schemeClr val="dk1"/>
                          </a:solidFill>
                          <a:latin typeface="+mn-lt"/>
                          <a:ea typeface="+mn-ea"/>
                          <a:cs typeface="+mn-cs"/>
                        </a:rPr>
                        <a:t>服务能力是否避免了高层的实现、技术、合约与逻辑之间以及功能性的耦合</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3"/>
                  </a:ext>
                </a:extLst>
              </a:tr>
              <a:tr h="370840">
                <a:tc>
                  <a:txBody>
                    <a:bodyPr/>
                    <a:lstStyle/>
                    <a:p>
                      <a:r>
                        <a:rPr lang="zh-CN" altLang="en-US" sz="1600" kern="1200" baseline="0" dirty="0" smtClean="0">
                          <a:solidFill>
                            <a:schemeClr val="dk1"/>
                          </a:solidFill>
                          <a:latin typeface="+mn-lt"/>
                          <a:ea typeface="+mn-ea"/>
                          <a:cs typeface="+mn-cs"/>
                        </a:rPr>
                        <a:t>服务抽象</a:t>
                      </a:r>
                    </a:p>
                    <a:p>
                      <a:r>
                        <a:rPr lang="zh-CN" altLang="en-US" sz="1600" kern="1200" baseline="0" dirty="0" smtClean="0">
                          <a:solidFill>
                            <a:schemeClr val="dk1"/>
                          </a:solidFill>
                          <a:latin typeface="+mn-lt"/>
                          <a:ea typeface="+mn-ea"/>
                          <a:cs typeface="+mn-cs"/>
                        </a:rPr>
                        <a:t>对于该服务能力所抽象的所有的元信息，是否清楚地描述了服务特征的重要性质</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4"/>
                  </a:ext>
                </a:extLst>
              </a:tr>
              <a:tr h="370840">
                <a:tc>
                  <a:txBody>
                    <a:bodyPr/>
                    <a:lstStyle/>
                    <a:p>
                      <a:r>
                        <a:rPr lang="zh-CN" altLang="en-US" sz="1600" kern="1200" baseline="0" dirty="0" smtClean="0">
                          <a:solidFill>
                            <a:schemeClr val="dk1"/>
                          </a:solidFill>
                          <a:latin typeface="+mn-lt"/>
                          <a:ea typeface="+mn-ea"/>
                          <a:cs typeface="+mn-cs"/>
                        </a:rPr>
                        <a:t>服务可复用性</a:t>
                      </a:r>
                    </a:p>
                    <a:p>
                      <a:r>
                        <a:rPr lang="zh-CN" altLang="en-US" sz="1600" kern="1200" baseline="0" dirty="0" smtClean="0">
                          <a:solidFill>
                            <a:schemeClr val="dk1"/>
                          </a:solidFill>
                          <a:latin typeface="+mn-lt"/>
                          <a:ea typeface="+mn-ea"/>
                          <a:cs typeface="+mn-cs"/>
                        </a:rPr>
                        <a:t>服务能力是为了高可复用性而设计的吗</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5"/>
                  </a:ext>
                </a:extLst>
              </a:tr>
            </a:tbl>
          </a:graphicData>
        </a:graphic>
      </p:graphicFrame>
      <p:sp>
        <p:nvSpPr>
          <p:cNvPr id="80921"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22665CD-81E1-4CD4-BA18-0B9E1BBF5751}" type="slidenum">
              <a:rPr lang="en-US" altLang="zh-CN" smtClean="0"/>
              <a:pPr eaLnBrk="1" hangingPunct="1"/>
              <a:t>66</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normAutofit fontScale="90000"/>
          </a:bodyPr>
          <a:lstStyle/>
          <a:p>
            <a:r>
              <a:rPr lang="zh-CN" altLang="en-US" dirty="0" smtClean="0"/>
              <a:t>案例研究</a:t>
            </a:r>
            <a:r>
              <a:rPr lang="en-US" altLang="zh-CN" dirty="0" smtClean="0"/>
              <a:t/>
            </a:r>
            <a:br>
              <a:rPr lang="en-US" altLang="zh-CN" dirty="0" smtClean="0"/>
            </a:br>
            <a:r>
              <a:rPr lang="en-US" altLang="zh-CN" dirty="0" smtClean="0"/>
              <a:t>——</a:t>
            </a:r>
            <a:r>
              <a:rPr lang="zh-CN" altLang="en-US" dirty="0" smtClean="0"/>
              <a:t>设计阶段可组合性的度量（</a:t>
            </a:r>
            <a:r>
              <a:rPr lang="en-US" altLang="zh-CN" dirty="0" smtClean="0"/>
              <a:t>2/2</a:t>
            </a:r>
            <a:r>
              <a:rPr lang="zh-CN" altLang="en-US" dirty="0" smtClean="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29793084"/>
              </p:ext>
            </p:extLst>
          </p:nvPr>
        </p:nvGraphicFramePr>
        <p:xfrm>
          <a:off x="329100" y="2420888"/>
          <a:ext cx="8362950" cy="3175000"/>
        </p:xfrm>
        <a:graphic>
          <a:graphicData uri="http://schemas.openxmlformats.org/drawingml/2006/table">
            <a:tbl>
              <a:tblPr firstRow="1" bandRow="1">
                <a:tableStyleId>{5C22544A-7EE6-4342-B048-85BDC9FD1C3A}</a:tableStyleId>
              </a:tblPr>
              <a:tblGrid>
                <a:gridCol w="7488544">
                  <a:extLst>
                    <a:ext uri="{9D8B030D-6E8A-4147-A177-3AD203B41FA5}">
                      <a16:colId xmlns:a16="http://schemas.microsoft.com/office/drawing/2014/main" val="20000"/>
                    </a:ext>
                  </a:extLst>
                </a:gridCol>
                <a:gridCol w="874406">
                  <a:extLst>
                    <a:ext uri="{9D8B030D-6E8A-4147-A177-3AD203B41FA5}">
                      <a16:colId xmlns:a16="http://schemas.microsoft.com/office/drawing/2014/main" val="20001"/>
                    </a:ext>
                  </a:extLst>
                </a:gridCol>
              </a:tblGrid>
              <a:tr h="370840">
                <a:tc gridSpan="2">
                  <a:txBody>
                    <a:bodyPr/>
                    <a:lstStyle/>
                    <a:p>
                      <a:pPr algn="ctr"/>
                      <a:r>
                        <a:rPr lang="zh-CN" altLang="en-US" sz="1600" b="1" kern="1200" baseline="0" dirty="0" smtClean="0">
                          <a:solidFill>
                            <a:schemeClr val="lt1"/>
                          </a:solidFill>
                          <a:latin typeface="+mn-lt"/>
                          <a:ea typeface="+mn-ea"/>
                          <a:cs typeface="+mn-cs"/>
                        </a:rPr>
                        <a:t>服务能力清单</a:t>
                      </a:r>
                      <a:r>
                        <a:rPr lang="en-US" altLang="zh-CN" sz="1600" b="1" kern="1200" baseline="0" dirty="0" smtClean="0">
                          <a:solidFill>
                            <a:schemeClr val="lt1"/>
                          </a:solidFill>
                          <a:latin typeface="+mn-lt"/>
                          <a:ea typeface="+mn-ea"/>
                          <a:cs typeface="+mn-cs"/>
                        </a:rPr>
                        <a:t>/</a:t>
                      </a:r>
                      <a:r>
                        <a:rPr lang="zh-CN" altLang="en-US" sz="1600" b="1" kern="1200" baseline="0" dirty="0" smtClean="0">
                          <a:solidFill>
                            <a:schemeClr val="lt1"/>
                          </a:solidFill>
                          <a:latin typeface="+mn-lt"/>
                          <a:ea typeface="+mn-ea"/>
                          <a:cs typeface="+mn-cs"/>
                        </a:rPr>
                        <a:t>支持组合设计</a:t>
                      </a:r>
                      <a:endParaRPr lang="zh-CN" altLang="en-US" sz="1600" dirty="0"/>
                    </a:p>
                  </a:txBody>
                  <a:tcPr marL="91436" marR="91436"/>
                </a:tc>
                <a:tc hMerge="1">
                  <a:txBody>
                    <a:bodyPr/>
                    <a:lstStyle/>
                    <a:p>
                      <a:endParaRPr lang="zh-CN" altLang="en-US" dirty="0"/>
                    </a:p>
                  </a:txBody>
                  <a:tcPr/>
                </a:tc>
                <a:extLst>
                  <a:ext uri="{0D108BD9-81ED-4DB2-BD59-A6C34878D82A}">
                    <a16:rowId xmlns:a16="http://schemas.microsoft.com/office/drawing/2014/main" val="10000"/>
                  </a:ext>
                </a:extLst>
              </a:tr>
              <a:tr h="370840">
                <a:tc>
                  <a:txBody>
                    <a:bodyPr/>
                    <a:lstStyle/>
                    <a:p>
                      <a:r>
                        <a:rPr lang="zh-CN" altLang="en-US" sz="1600" kern="1200" baseline="0" dirty="0" smtClean="0">
                          <a:solidFill>
                            <a:schemeClr val="dk1"/>
                          </a:solidFill>
                          <a:latin typeface="+mn-lt"/>
                          <a:ea typeface="+mn-ea"/>
                          <a:cs typeface="+mn-cs"/>
                        </a:rPr>
                        <a:t>评估问题</a:t>
                      </a:r>
                      <a:endParaRPr lang="zh-CN" altLang="en-US" sz="1600" dirty="0"/>
                    </a:p>
                  </a:txBody>
                  <a:tcPr marL="91436" marR="91436"/>
                </a:tc>
                <a:tc>
                  <a:txBody>
                    <a:bodyPr/>
                    <a:lstStyle/>
                    <a:p>
                      <a:r>
                        <a:rPr lang="zh-CN" altLang="en-US" sz="1600" kern="1200" baseline="0" dirty="0" smtClean="0">
                          <a:solidFill>
                            <a:schemeClr val="dk1"/>
                          </a:solidFill>
                          <a:latin typeface="+mn-lt"/>
                          <a:ea typeface="+mn-ea"/>
                          <a:cs typeface="+mn-cs"/>
                        </a:rPr>
                        <a:t>重要性级别</a:t>
                      </a:r>
                      <a:endParaRPr lang="zh-CN" altLang="en-US" sz="1600" dirty="0"/>
                    </a:p>
                  </a:txBody>
                  <a:tcPr marL="91436" marR="91436"/>
                </a:tc>
                <a:extLst>
                  <a:ext uri="{0D108BD9-81ED-4DB2-BD59-A6C34878D82A}">
                    <a16:rowId xmlns:a16="http://schemas.microsoft.com/office/drawing/2014/main" val="10001"/>
                  </a:ext>
                </a:extLst>
              </a:tr>
              <a:tr h="370840">
                <a:tc>
                  <a:txBody>
                    <a:bodyPr/>
                    <a:lstStyle/>
                    <a:p>
                      <a:r>
                        <a:rPr lang="zh-CN" altLang="en-US" sz="1600" kern="1200" baseline="0" dirty="0" smtClean="0">
                          <a:solidFill>
                            <a:schemeClr val="dk1"/>
                          </a:solidFill>
                          <a:latin typeface="+mn-lt"/>
                          <a:ea typeface="+mn-ea"/>
                          <a:cs typeface="+mn-cs"/>
                        </a:rPr>
                        <a:t>服务自治</a:t>
                      </a:r>
                    </a:p>
                    <a:p>
                      <a:r>
                        <a:rPr lang="zh-CN" altLang="en-US" sz="1600" kern="1200" baseline="0" dirty="0" smtClean="0">
                          <a:solidFill>
                            <a:schemeClr val="dk1"/>
                          </a:solidFill>
                          <a:latin typeface="+mn-lt"/>
                          <a:ea typeface="+mn-ea"/>
                          <a:cs typeface="+mn-cs"/>
                        </a:rPr>
                        <a:t>该能力作为一个服务的一部分的设计，相对于同一个库存内的其他服务来说是规范化的吗</a:t>
                      </a:r>
                      <a:r>
                        <a:rPr lang="en-US" altLang="zh-CN" sz="1600" kern="1200" baseline="0" dirty="0" smtClean="0">
                          <a:solidFill>
                            <a:schemeClr val="dk1"/>
                          </a:solidFill>
                          <a:latin typeface="+mn-lt"/>
                          <a:ea typeface="+mn-ea"/>
                          <a:cs typeface="+mn-cs"/>
                        </a:rPr>
                        <a:t>?</a:t>
                      </a:r>
                      <a:r>
                        <a:rPr lang="zh-CN" altLang="en-US" sz="1600" kern="1200" baseline="0" dirty="0" smtClean="0">
                          <a:solidFill>
                            <a:schemeClr val="dk1"/>
                          </a:solidFill>
                          <a:latin typeface="+mn-lt"/>
                          <a:ea typeface="+mn-ea"/>
                          <a:cs typeface="+mn-cs"/>
                        </a:rPr>
                        <a:t>它是否具有相当级别的服务逻辑的自治</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2"/>
                  </a:ext>
                </a:extLst>
              </a:tr>
              <a:tr h="370840">
                <a:tc>
                  <a:txBody>
                    <a:bodyPr/>
                    <a:lstStyle/>
                    <a:p>
                      <a:r>
                        <a:rPr lang="zh-CN" altLang="en-US" sz="1600" kern="1200" baseline="0" dirty="0" smtClean="0">
                          <a:solidFill>
                            <a:schemeClr val="dk1"/>
                          </a:solidFill>
                          <a:latin typeface="+mn-lt"/>
                          <a:ea typeface="+mn-ea"/>
                          <a:cs typeface="+mn-cs"/>
                        </a:rPr>
                        <a:t>服务无状态性</a:t>
                      </a:r>
                    </a:p>
                    <a:p>
                      <a:r>
                        <a:rPr lang="zh-CN" altLang="en-US" sz="1600" kern="1200" baseline="0" dirty="0" smtClean="0">
                          <a:solidFill>
                            <a:schemeClr val="dk1"/>
                          </a:solidFill>
                          <a:latin typeface="+mn-lt"/>
                          <a:ea typeface="+mn-ea"/>
                          <a:cs typeface="+mn-cs"/>
                        </a:rPr>
                        <a:t>该服务能力是否利用了和同一个库存内的其他服务相一致的状态管理延迟方法</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3"/>
                  </a:ext>
                </a:extLst>
              </a:tr>
              <a:tr h="370840">
                <a:tc>
                  <a:txBody>
                    <a:bodyPr/>
                    <a:lstStyle/>
                    <a:p>
                      <a:r>
                        <a:rPr lang="zh-CN" altLang="en-US" sz="1600" kern="1200" baseline="0" dirty="0" smtClean="0">
                          <a:solidFill>
                            <a:schemeClr val="dk1"/>
                          </a:solidFill>
                          <a:latin typeface="+mn-lt"/>
                          <a:ea typeface="+mn-ea"/>
                          <a:cs typeface="+mn-cs"/>
                        </a:rPr>
                        <a:t>服务可发现性</a:t>
                      </a:r>
                    </a:p>
                    <a:p>
                      <a:r>
                        <a:rPr lang="zh-CN" altLang="en-US" sz="1600" kern="1200" baseline="0" dirty="0" smtClean="0">
                          <a:solidFill>
                            <a:schemeClr val="dk1"/>
                          </a:solidFill>
                          <a:latin typeface="+mn-lt"/>
                          <a:ea typeface="+mn-ea"/>
                          <a:cs typeface="+mn-cs"/>
                        </a:rPr>
                        <a:t>服务是否具有所有必须的元数据，以便组合设计人员可以容易地定位和理解该服务</a:t>
                      </a:r>
                      <a:r>
                        <a:rPr lang="en-US" altLang="zh-CN" sz="1600" kern="1200" baseline="0" dirty="0" smtClean="0">
                          <a:solidFill>
                            <a:schemeClr val="dk1"/>
                          </a:solidFill>
                          <a:latin typeface="+mn-lt"/>
                          <a:ea typeface="+mn-ea"/>
                          <a:cs typeface="+mn-cs"/>
                        </a:rPr>
                        <a:t>?</a:t>
                      </a:r>
                    </a:p>
                  </a:txBody>
                  <a:tcPr marL="91436" marR="91436"/>
                </a:tc>
                <a:tc>
                  <a:txBody>
                    <a:bodyPr/>
                    <a:lstStyle/>
                    <a:p>
                      <a:r>
                        <a:rPr lang="zh-CN" altLang="en-US" sz="1600" dirty="0" smtClean="0"/>
                        <a:t>是</a:t>
                      </a:r>
                      <a:endParaRPr lang="zh-CN" altLang="en-US" sz="1600" dirty="0"/>
                    </a:p>
                  </a:txBody>
                  <a:tcPr marL="91436" marR="91436"/>
                </a:tc>
                <a:extLst>
                  <a:ext uri="{0D108BD9-81ED-4DB2-BD59-A6C34878D82A}">
                    <a16:rowId xmlns:a16="http://schemas.microsoft.com/office/drawing/2014/main" val="10004"/>
                  </a:ext>
                </a:extLst>
              </a:tr>
            </a:tbl>
          </a:graphicData>
        </a:graphic>
      </p:graphicFrame>
      <p:sp>
        <p:nvSpPr>
          <p:cNvPr id="8194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F7E4B90-A78D-4168-87E7-966C0688AD5B}" type="slidenum">
              <a:rPr lang="en-US" altLang="zh-CN" smtClean="0"/>
              <a:pPr eaLnBrk="1" hangingPunct="1"/>
              <a:t>67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Read More…</a:t>
            </a:r>
            <a:endParaRPr lang="zh-CN" altLang="en-US" dirty="0"/>
          </a:p>
        </p:txBody>
      </p:sp>
      <p:sp>
        <p:nvSpPr>
          <p:cNvPr id="3" name="内容占位符 2"/>
          <p:cNvSpPr>
            <a:spLocks noGrp="1"/>
          </p:cNvSpPr>
          <p:nvPr>
            <p:ph idx="1"/>
          </p:nvPr>
        </p:nvSpPr>
        <p:spPr/>
        <p:txBody>
          <a:bodyPr>
            <a:normAutofit/>
          </a:bodyPr>
          <a:lstStyle/>
          <a:p>
            <a:pPr marL="0" indent="0">
              <a:buNone/>
            </a:pPr>
            <a:endParaRPr lang="en-US" altLang="zh-CN"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服务设计原则</a:t>
            </a:r>
            <a:r>
              <a:rPr lang="en-US" altLang="zh-CN" sz="2800" dirty="0"/>
              <a:t>/(</a:t>
            </a:r>
            <a:r>
              <a:rPr lang="zh-CN" altLang="en-US" sz="2800" dirty="0"/>
              <a:t>美</a:t>
            </a:r>
            <a:r>
              <a:rPr lang="en-US" altLang="zh-CN" sz="2800" dirty="0"/>
              <a:t>) Thomas </a:t>
            </a:r>
            <a:r>
              <a:rPr lang="en-US" altLang="zh-CN" sz="2800" dirty="0" err="1"/>
              <a:t>Erl</a:t>
            </a:r>
            <a:r>
              <a:rPr lang="zh-CN" altLang="en-US" sz="2800" dirty="0"/>
              <a:t>著 </a:t>
            </a:r>
            <a:r>
              <a:rPr lang="zh-CN" altLang="en-US" sz="2800" dirty="0" smtClean="0"/>
              <a:t>郭耀译</a:t>
            </a:r>
            <a:endParaRPr lang="en-US" altLang="zh-CN" sz="2800" dirty="0" smtClean="0"/>
          </a:p>
          <a:p>
            <a:r>
              <a:rPr lang="zh-CN" altLang="en-US" sz="2800" dirty="0" smtClean="0"/>
              <a:t>出版</a:t>
            </a:r>
            <a:r>
              <a:rPr lang="zh-CN" altLang="en-US" sz="2800" dirty="0"/>
              <a:t>发行项</a:t>
            </a:r>
            <a:r>
              <a:rPr lang="en-US" altLang="zh-CN" sz="2800" dirty="0" smtClean="0"/>
              <a:t>:</a:t>
            </a:r>
            <a:r>
              <a:rPr lang="zh-CN" altLang="en-US" sz="2800" dirty="0"/>
              <a:t>北京</a:t>
            </a:r>
            <a:r>
              <a:rPr lang="en-US" altLang="zh-CN" sz="2800" dirty="0"/>
              <a:t>:</a:t>
            </a:r>
            <a:r>
              <a:rPr lang="zh-CN" altLang="en-US" sz="2800" dirty="0"/>
              <a:t>人民邮电版社</a:t>
            </a:r>
            <a:r>
              <a:rPr lang="en-US" altLang="zh-CN" sz="2800" dirty="0"/>
              <a:t>,2009 </a:t>
            </a:r>
            <a:endParaRPr lang="en-US" altLang="zh-CN" sz="2800" dirty="0" smtClean="0"/>
          </a:p>
          <a:p>
            <a:r>
              <a:rPr lang="en-US" altLang="zh-CN" sz="2800" dirty="0" smtClean="0"/>
              <a:t>ISBN</a:t>
            </a:r>
            <a:r>
              <a:rPr lang="zh-CN" altLang="en-US" sz="2800" dirty="0" smtClean="0"/>
              <a:t>及定价</a:t>
            </a:r>
            <a:r>
              <a:rPr lang="en-US" altLang="zh-CN" sz="2800" dirty="0" smtClean="0"/>
              <a:t>:</a:t>
            </a:r>
            <a:r>
              <a:rPr lang="en-US" altLang="zh-CN" sz="2800" dirty="0"/>
              <a:t>978-7-115-20492-9/CNY55.00 </a:t>
            </a:r>
            <a:endParaRPr lang="en-US" altLang="zh-CN" sz="2800" dirty="0" smtClean="0"/>
          </a:p>
          <a:p>
            <a:r>
              <a:rPr lang="en-US" altLang="zh-CN" sz="2800" dirty="0" smtClean="0"/>
              <a:t>URL:</a:t>
            </a:r>
            <a:r>
              <a:rPr lang="en-US" altLang="zh-CN" sz="2800" dirty="0" smtClean="0">
                <a:hlinkClick r:id="rId2"/>
              </a:rPr>
              <a:t>http</a:t>
            </a:r>
            <a:r>
              <a:rPr lang="en-US" altLang="zh-CN" sz="2800" dirty="0">
                <a:hlinkClick r:id="rId2"/>
              </a:rPr>
              <a:t>://</a:t>
            </a:r>
            <a:r>
              <a:rPr lang="en-US" altLang="zh-CN" sz="2800" dirty="0" smtClean="0">
                <a:hlinkClick r:id="rId2"/>
              </a:rPr>
              <a:t>calis2.nju.edu.cn:8080/opac/item.php?marc_no=0003465232</a:t>
            </a:r>
            <a:endParaRPr lang="en-US" altLang="zh-CN" sz="2800" dirty="0" smtClean="0"/>
          </a:p>
        </p:txBody>
      </p:sp>
      <p:sp>
        <p:nvSpPr>
          <p:cNvPr id="4" name="灯片编号占位符 3"/>
          <p:cNvSpPr>
            <a:spLocks noGrp="1"/>
          </p:cNvSpPr>
          <p:nvPr>
            <p:ph type="sldNum" sz="quarter" idx="4294967295"/>
          </p:nvPr>
        </p:nvSpPr>
        <p:spPr>
          <a:xfrm>
            <a:off x="3505200" y="6461125"/>
            <a:ext cx="2133600" cy="320675"/>
          </a:xfrm>
          <a:prstGeom prst="rect">
            <a:avLst/>
          </a:prstGeom>
        </p:spPr>
        <p:txBody>
          <a:bodyPr/>
          <a:lstStyle/>
          <a:p>
            <a:pPr>
              <a:defRPr/>
            </a:pPr>
            <a:fld id="{35E2893E-1C56-4F7E-897F-1FA1E5A4D06E}" type="slidenum">
              <a:rPr lang="en-US" altLang="zh-CN" smtClean="0"/>
              <a:pPr>
                <a:defRPr/>
              </a:pPr>
              <a:t>68</a:t>
            </a:fld>
            <a:endParaRPr lang="en-US" altLang="zh-CN" dirty="0"/>
          </a:p>
        </p:txBody>
      </p:sp>
    </p:spTree>
    <p:extLst>
      <p:ext uri="{BB962C8B-B14F-4D97-AF65-F5344CB8AC3E}">
        <p14:creationId xmlns:p14="http://schemas.microsoft.com/office/powerpoint/2010/main" val="3633455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SOSE</Template>
  <TotalTime>13624</TotalTime>
  <Words>6279</Words>
  <Application>Microsoft Office PowerPoint</Application>
  <PresentationFormat>全屏显示(4:3)</PresentationFormat>
  <Paragraphs>642</Paragraphs>
  <Slides>68</Slides>
  <Notes>67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68</vt:i4>
      </vt:variant>
    </vt:vector>
  </HeadingPairs>
  <TitlesOfParts>
    <vt:vector size="73" baseType="lpstr">
      <vt:lpstr>宋体</vt:lpstr>
      <vt:lpstr>Arial</vt:lpstr>
      <vt:lpstr>Verdana</vt:lpstr>
      <vt:lpstr>Wingdings</vt:lpstr>
      <vt:lpstr>software</vt:lpstr>
      <vt:lpstr>Principles of Service-Oriented Design IV Service-Oriented Software Engineering</vt:lpstr>
      <vt:lpstr>服务可发现性（可解释性与交流）</vt:lpstr>
      <vt:lpstr>发现</vt:lpstr>
      <vt:lpstr>可发现性 (1/2)</vt:lpstr>
      <vt:lpstr>可发现性 (2/2)</vt:lpstr>
      <vt:lpstr>可解释性 (1/2)</vt:lpstr>
      <vt:lpstr>可解释性 (2/2)</vt:lpstr>
      <vt:lpstr>发现和解释的执行过程</vt:lpstr>
      <vt:lpstr>设计时发现 vs. 运行时发现</vt:lpstr>
      <vt:lpstr>可发现性元信息</vt:lpstr>
      <vt:lpstr>服务可发现性度量——基本级别</vt:lpstr>
      <vt:lpstr>服务可发现性度量——定制分级系统</vt:lpstr>
      <vt:lpstr>可发现性与服务设计</vt:lpstr>
      <vt:lpstr>服务可发现性与服务建模</vt:lpstr>
      <vt:lpstr>其他</vt:lpstr>
      <vt:lpstr>服务可发现性与其他原则 I</vt:lpstr>
      <vt:lpstr>服务可发现性与其他原则 II</vt:lpstr>
      <vt:lpstr>服务可发现性与其他原则 III</vt:lpstr>
      <vt:lpstr>服务可发现性的相关风险</vt:lpstr>
      <vt:lpstr>案例研究——服务概要(功能元信息)</vt:lpstr>
      <vt:lpstr>案例研究——相关的服务质量元信息</vt:lpstr>
      <vt:lpstr>服务可组合性 （组合成员设计与复杂组合）</vt:lpstr>
      <vt:lpstr>组合（1/3）</vt:lpstr>
      <vt:lpstr>组合（2/3）</vt:lpstr>
      <vt:lpstr>组合（3/3）</vt:lpstr>
      <vt:lpstr>传统组合</vt:lpstr>
      <vt:lpstr>面向服务的组合</vt:lpstr>
      <vt:lpstr>组合成员和控制器 (1/3)</vt:lpstr>
      <vt:lpstr>组合成员和控制器 (2/3)</vt:lpstr>
      <vt:lpstr>组合成员和控制器 (3/3)</vt:lpstr>
      <vt:lpstr>服务组合的质量度量</vt:lpstr>
      <vt:lpstr>服务组合和Web 服务</vt:lpstr>
      <vt:lpstr>服务活动</vt:lpstr>
      <vt:lpstr>服务活动</vt:lpstr>
      <vt:lpstr>组合启动器</vt:lpstr>
      <vt:lpstr>服务库存演化的阶段（1/3）</vt:lpstr>
      <vt:lpstr>服务库存演化的阶段（2/3）</vt:lpstr>
      <vt:lpstr>服务库存演化的阶段（3/3）</vt:lpstr>
      <vt:lpstr>复杂服务组合</vt:lpstr>
      <vt:lpstr>组合的演化周期状态</vt:lpstr>
      <vt:lpstr>组合的演化周期状态—— 组合设计评估</vt:lpstr>
      <vt:lpstr>组合的演化周期状态—— 运行(实现)评估</vt:lpstr>
      <vt:lpstr>组合的演化周期状态—— 组合治理的评估</vt:lpstr>
      <vt:lpstr>可组合性的度量</vt:lpstr>
      <vt:lpstr>可组合性的度量 ——设计阶段（1/2）</vt:lpstr>
      <vt:lpstr>可组合性的度量 ——设计阶段（2/2）</vt:lpstr>
      <vt:lpstr>可组合性的度量 ——运行时阶段（1/3）</vt:lpstr>
      <vt:lpstr>可组合性的度量 ——运行时阶段（2/3）</vt:lpstr>
      <vt:lpstr>可组合性的度量 ——运行时阶段（3/3）</vt:lpstr>
      <vt:lpstr>可组合性的度量 ——治理阶段（1/3）</vt:lpstr>
      <vt:lpstr>可组合性的度量 ——治理阶段（2/3）</vt:lpstr>
      <vt:lpstr>可组合性的度量 ——治理阶段（3/3）</vt:lpstr>
      <vt:lpstr>组合与服务设计</vt:lpstr>
      <vt:lpstr>服务可组合性与粒度</vt:lpstr>
      <vt:lpstr>服务可组合性与服务模型</vt:lpstr>
      <vt:lpstr>服务可组合性与服务模型</vt:lpstr>
      <vt:lpstr>服务可组合性与组合自治</vt:lpstr>
      <vt:lpstr>服务可组合性与编排</vt:lpstr>
      <vt:lpstr>服务可组合性与其他原则 I</vt:lpstr>
      <vt:lpstr>服务可组合性与其他原则 II</vt:lpstr>
      <vt:lpstr>服务可组合性与其他原则 III</vt:lpstr>
      <vt:lpstr>服务可组合性与其他原则 IV</vt:lpstr>
      <vt:lpstr>服务可组合性与其他原则 V</vt:lpstr>
      <vt:lpstr>服务组合的相关风险</vt:lpstr>
      <vt:lpstr>案例研究——背景</vt:lpstr>
      <vt:lpstr>案例研究  ——设计阶段可组合性的度量（1/2）</vt:lpstr>
      <vt:lpstr>案例研究 ——设计阶段可组合性的度量（2/2）</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bei jia</cp:lastModifiedBy>
  <cp:revision>293</cp:revision>
  <dcterms:created xsi:type="dcterms:W3CDTF">2008-04-16T11:36:22Z</dcterms:created>
  <dcterms:modified xsi:type="dcterms:W3CDTF">2017-11-17T03:09:52Z</dcterms:modified>
</cp:coreProperties>
</file>