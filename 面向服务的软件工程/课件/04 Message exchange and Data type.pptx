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5" r:id="rId1"/>
  </p:sldMasterIdLst>
  <p:notesMasterIdLst>
    <p:notesMasterId r:id="rId14"/>
  </p:notesMasterIdLst>
  <p:sldIdLst>
    <p:sldId id="256" r:id="rId2"/>
    <p:sldId id="258" r:id="rId3"/>
    <p:sldId id="259" r:id="rId4"/>
    <p:sldId id="398" r:id="rId5"/>
    <p:sldId id="399" r:id="rId6"/>
    <p:sldId id="257" r:id="rId7"/>
    <p:sldId id="395" r:id="rId8"/>
    <p:sldId id="400" r:id="rId9"/>
    <p:sldId id="396" r:id="rId10"/>
    <p:sldId id="322" r:id="rId11"/>
    <p:sldId id="289" r:id="rId12"/>
    <p:sldId id="323" r:id="rId13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993300"/>
    <a:srgbClr val="0066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787" autoAdjust="0"/>
    <p:restoredTop sz="73973" autoAdjust="0"/>
  </p:normalViewPr>
  <p:slideViewPr>
    <p:cSldViewPr>
      <p:cViewPr varScale="1">
        <p:scale>
          <a:sx n="71" d="100"/>
          <a:sy n="71" d="100"/>
        </p:scale>
        <p:origin x="651" y="2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11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22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E1868D0D-C398-4CF8-83A5-18BAC79F817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2423632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216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16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00FA0C8-3306-4722-B4E6-46F822739A9A}" type="slidenum">
              <a:rPr lang="en-US" altLang="zh-CN" smtClean="0"/>
              <a:pPr eaLnBrk="1" hangingPunct="1"/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83824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421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21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2C65484D-6822-4793-B759-BF6855157262}" type="slidenum">
              <a:rPr lang="en-US" altLang="zh-CN" smtClean="0"/>
              <a:pPr eaLnBrk="1" hangingPunct="1"/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421142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17DB1FEB-A306-45B3-A371-18937A4583E8}" type="slidenum">
              <a:rPr lang="en-US" altLang="zh-CN" smtClean="0"/>
              <a:pPr eaLnBrk="1" hangingPunct="1"/>
              <a:t>3</a:t>
            </a:fld>
            <a:endParaRPr lang="en-US" altLang="zh-CN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7978796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318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318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EBF14C3F-CC97-410E-8C35-796C23D97A66}" type="slidenum">
              <a:rPr lang="en-US" altLang="zh-CN" smtClean="0"/>
              <a:pPr eaLnBrk="1" hangingPunct="1"/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029176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>
            <a:extLst>
              <a:ext uri="{FF2B5EF4-FFF2-40B4-BE49-F238E27FC236}">
                <a16:creationId xmlns:a16="http://schemas.microsoft.com/office/drawing/2014/main" id="{E2D9E5CA-18AA-41A3-AAB3-A9B1ED7359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7" name="备注占位符 2">
            <a:extLst>
              <a:ext uri="{FF2B5EF4-FFF2-40B4-BE49-F238E27FC236}">
                <a16:creationId xmlns:a16="http://schemas.microsoft.com/office/drawing/2014/main" id="{4CEA4FAA-1F39-4248-9DBB-0FC99981AE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1268" name="灯片编号占位符 3">
            <a:extLst>
              <a:ext uri="{FF2B5EF4-FFF2-40B4-BE49-F238E27FC236}">
                <a16:creationId xmlns:a16="http://schemas.microsoft.com/office/drawing/2014/main" id="{0E0CF41A-EEAA-43DE-8465-1EC6B19D86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879B73B-73A1-4625-ABF6-EE46CE6FE143}" type="slidenum">
              <a:rPr lang="en-US" altLang="zh-CN"/>
              <a:pPr>
                <a:spcBef>
                  <a:spcPct val="0"/>
                </a:spcBef>
              </a:pPr>
              <a:t>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>
            <a:extLst>
              <a:ext uri="{FF2B5EF4-FFF2-40B4-BE49-F238E27FC236}">
                <a16:creationId xmlns:a16="http://schemas.microsoft.com/office/drawing/2014/main" id="{CCFDE197-35EA-4CB7-B2A2-EE076D9264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9" name="备注占位符 2">
            <a:extLst>
              <a:ext uri="{FF2B5EF4-FFF2-40B4-BE49-F238E27FC236}">
                <a16:creationId xmlns:a16="http://schemas.microsoft.com/office/drawing/2014/main" id="{F7C57DCB-11DC-4FE6-B767-68AD7FBD92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9220" name="灯片编号占位符 3">
            <a:extLst>
              <a:ext uri="{FF2B5EF4-FFF2-40B4-BE49-F238E27FC236}">
                <a16:creationId xmlns:a16="http://schemas.microsoft.com/office/drawing/2014/main" id="{3769B4F1-B9DB-494B-B547-5469D69720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40AF56F-4A43-4FF5-91D8-E6C16B694748}" type="slidenum">
              <a:rPr lang="en-US" altLang="zh-CN"/>
              <a:pPr>
                <a:spcBef>
                  <a:spcPct val="0"/>
                </a:spcBef>
              </a:pPr>
              <a:t>11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93" y="-2853"/>
            <a:ext cx="9144000" cy="5373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403648" y="5589240"/>
            <a:ext cx="6553200" cy="126876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400" b="1">
                <a:solidFill>
                  <a:schemeClr val="tx2"/>
                </a:solidFill>
                <a:latin typeface="Verdana" pitchFamily="34" charset="0"/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en-US" altLang="zh-CN" noProof="0" dirty="0"/>
          </a:p>
        </p:txBody>
      </p:sp>
      <p:sp>
        <p:nvSpPr>
          <p:cNvPr id="3093" name="Rectangle 21"/>
          <p:cNvSpPr>
            <a:spLocks noGrp="1" noChangeArrowheads="1"/>
          </p:cNvSpPr>
          <p:nvPr>
            <p:ph type="ctrTitle" sz="quarter"/>
          </p:nvPr>
        </p:nvSpPr>
        <p:spPr bwMode="gray">
          <a:xfrm>
            <a:off x="0" y="4077072"/>
            <a:ext cx="9144000" cy="1224137"/>
          </a:xfrm>
          <a:gradFill>
            <a:gsLst>
              <a:gs pos="0">
                <a:srgbClr val="00607A"/>
              </a:gs>
              <a:gs pos="100000">
                <a:srgbClr val="00607A"/>
              </a:gs>
            </a:gsLst>
            <a:lin ang="0" scaled="1"/>
          </a:gradFill>
          <a:effectLst/>
        </p:spPr>
        <p:txBody>
          <a:bodyPr/>
          <a:lstStyle>
            <a:lvl1pPr>
              <a:defRPr sz="4000"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en-US" altLang="ko-KR" noProof="0" dirty="0"/>
          </a:p>
        </p:txBody>
      </p:sp>
      <p:sp>
        <p:nvSpPr>
          <p:cNvPr id="7" name="Text Box 16"/>
          <p:cNvSpPr txBox="1">
            <a:spLocks noChangeArrowheads="1"/>
          </p:cNvSpPr>
          <p:nvPr/>
        </p:nvSpPr>
        <p:spPr bwMode="gray">
          <a:xfrm>
            <a:off x="0" y="5301209"/>
            <a:ext cx="9144000" cy="144000"/>
          </a:xfrm>
          <a:prstGeom prst="rect">
            <a:avLst/>
          </a:prstGeom>
          <a:solidFill>
            <a:srgbClr val="A9C6CC"/>
          </a:solidFill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zh-CN" sz="1000" b="1">
              <a:solidFill>
                <a:schemeClr val="bg1"/>
              </a:solidFill>
              <a:latin typeface="Verdana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507" y="188640"/>
            <a:ext cx="3163002" cy="72221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00708E"/>
                </a:solidFill>
              </a:defRPr>
            </a:lvl1pPr>
            <a:lvl2pPr>
              <a:buClr>
                <a:srgbClr val="00607A"/>
              </a:buClr>
              <a:defRPr>
                <a:solidFill>
                  <a:srgbClr val="00708E"/>
                </a:solidFill>
                <a:latin typeface="+mn-ea"/>
                <a:ea typeface="+mn-ea"/>
              </a:defRPr>
            </a:lvl2pPr>
            <a:lvl3pPr>
              <a:buClr>
                <a:srgbClr val="00607A"/>
              </a:buClr>
              <a:defRPr>
                <a:solidFill>
                  <a:srgbClr val="00708E"/>
                </a:solidFill>
                <a:latin typeface="+mn-ea"/>
                <a:ea typeface="+mn-ea"/>
              </a:defRPr>
            </a:lvl3pPr>
            <a:lvl4pPr>
              <a:defRPr>
                <a:solidFill>
                  <a:srgbClr val="00708E"/>
                </a:solidFill>
                <a:latin typeface="+mn-ea"/>
                <a:ea typeface="+mn-ea"/>
              </a:defRPr>
            </a:lvl4pPr>
            <a:lvl5pPr>
              <a:defRPr>
                <a:solidFill>
                  <a:srgbClr val="00708E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0CE098-78E7-4D6F-B667-DB0097CCC904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5151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D5E50B-A953-4918-8716-CAAF4E2659D5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2948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52525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F5A38B-64E3-4A28-B1A1-07994B07ABD0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8286200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C07FA1-9437-4596-B349-759BEDB2AF7E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98134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307C14-B184-494D-9559-B33678D3E7A0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71171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3E635C-509A-4F47-9595-DC813BD463B4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28918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4DF462-01D9-4967-AECA-CEAD27BF24C1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24396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3C1A58-EAD4-4532-B494-3341F8C24829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02830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E78A78-8E68-48C0-A96D-456AAB403E78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1530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48450" y="152400"/>
            <a:ext cx="2114550" cy="6248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6191250" cy="6248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D9776E-7930-43E7-867B-C25687EF30E3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42739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458200" cy="563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152525"/>
            <a:ext cx="8229600" cy="5248275"/>
          </a:xfrm>
        </p:spPr>
        <p:txBody>
          <a:bodyPr/>
          <a:lstStyle/>
          <a:p>
            <a:r>
              <a:rPr lang="zh-CN" altLang="en-US"/>
              <a:t>单击图标添加表格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>
          <a:xfrm>
            <a:off x="3505200" y="646112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F5A38B-64E3-4A28-B1A1-07994B07ABD0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8581211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DEF92917-4A5B-4C9C-B142-6BAAB53DCBF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705F5F0D-AA85-4F48-A0C4-D643AC4C70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83A81478-7DFE-4D77-B6E3-988161D2E5E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49646B5-205C-4A52-9094-6821B313631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9863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5"/>
          <p:cNvSpPr>
            <a:spLocks noChangeArrowheads="1"/>
          </p:cNvSpPr>
          <p:nvPr/>
        </p:nvSpPr>
        <p:spPr bwMode="ltGray">
          <a:xfrm>
            <a:off x="0" y="0"/>
            <a:ext cx="9144000" cy="836613"/>
          </a:xfrm>
          <a:prstGeom prst="rect">
            <a:avLst/>
          </a:prstGeom>
          <a:solidFill>
            <a:srgbClr val="00607A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52737"/>
            <a:ext cx="8229600" cy="5348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505200" y="646112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+mj-lt"/>
                <a:ea typeface="宋体" charset="-122"/>
              </a:defRPr>
            </a:lvl1pPr>
          </a:lstStyle>
          <a:p>
            <a:pPr>
              <a:defRPr/>
            </a:pPr>
            <a:fld id="{14F5A38B-64E3-4A28-B1A1-07994B07ABD0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304800" y="152400"/>
            <a:ext cx="8458200" cy="56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40" name="Text Box 16"/>
          <p:cNvSpPr txBox="1">
            <a:spLocks noChangeArrowheads="1"/>
          </p:cNvSpPr>
          <p:nvPr/>
        </p:nvSpPr>
        <p:spPr bwMode="gray">
          <a:xfrm>
            <a:off x="0" y="838200"/>
            <a:ext cx="9144000" cy="144000"/>
          </a:xfrm>
          <a:prstGeom prst="rect">
            <a:avLst/>
          </a:prstGeom>
          <a:solidFill>
            <a:srgbClr val="A9C6CC"/>
          </a:solidFill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zh-CN" sz="1000" b="1">
              <a:solidFill>
                <a:schemeClr val="bg1"/>
              </a:solidFill>
              <a:latin typeface="Verdana" pitchFamily="34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12" y="6453336"/>
            <a:ext cx="1578826" cy="36049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  <p:sldLayoutId id="2147483817" r:id="rId12"/>
    <p:sldLayoutId id="2147483818" r:id="rId13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9pPr>
    </p:titleStyle>
    <p:bodyStyle>
      <a:lvl1pPr marL="363538" indent="-363538" algn="l" rtl="0" eaLnBrk="1" fontAlgn="base" hangingPunct="1">
        <a:spcBef>
          <a:spcPct val="20000"/>
        </a:spcBef>
        <a:spcAft>
          <a:spcPct val="0"/>
        </a:spcAft>
        <a:buClr>
          <a:srgbClr val="00607A"/>
        </a:buClr>
        <a:buFont typeface="Wingdings" pitchFamily="2" charset="2"/>
        <a:buChar char="l"/>
        <a:defRPr sz="3200">
          <a:solidFill>
            <a:srgbClr val="00607A"/>
          </a:solidFill>
          <a:latin typeface="+mn-lt"/>
          <a:ea typeface="+mn-ea"/>
          <a:cs typeface="+mn-cs"/>
        </a:defRPr>
      </a:lvl1pPr>
      <a:lvl2pPr marL="715963" indent="-352425" algn="l" rtl="0" eaLnBrk="1" fontAlgn="base" hangingPunct="1">
        <a:spcBef>
          <a:spcPct val="20000"/>
        </a:spcBef>
        <a:spcAft>
          <a:spcPct val="0"/>
        </a:spcAft>
        <a:buClr>
          <a:srgbClr val="00607A"/>
        </a:buClr>
        <a:buFont typeface="Wingdings" pitchFamily="2" charset="2"/>
        <a:buChar char="n"/>
        <a:defRPr sz="2800">
          <a:solidFill>
            <a:srgbClr val="00607A"/>
          </a:solidFill>
          <a:latin typeface="+mn-lt"/>
        </a:defRPr>
      </a:lvl2pPr>
      <a:lvl3pPr marL="1079500" indent="-363538" algn="l" rtl="0" eaLnBrk="1" fontAlgn="base" hangingPunct="1">
        <a:spcBef>
          <a:spcPct val="20000"/>
        </a:spcBef>
        <a:spcAft>
          <a:spcPct val="0"/>
        </a:spcAft>
        <a:buClr>
          <a:srgbClr val="00607A"/>
        </a:buClr>
        <a:buFont typeface="Wingdings" pitchFamily="2" charset="2"/>
        <a:buChar char="u"/>
        <a:defRPr sz="2400">
          <a:solidFill>
            <a:srgbClr val="00607A"/>
          </a:solidFill>
          <a:latin typeface="+mn-lt"/>
        </a:defRPr>
      </a:lvl3pPr>
      <a:lvl4pPr marL="1431925" indent="-352425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rgbClr val="00607A"/>
          </a:solidFill>
          <a:latin typeface="+mn-lt"/>
        </a:defRPr>
      </a:lvl4pPr>
      <a:lvl5pPr marL="1795463" indent="-363538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ü"/>
        <a:defRPr sz="2000">
          <a:solidFill>
            <a:srgbClr val="00607A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lvl="0"/>
            <a:r>
              <a:rPr lang="en-US" altLang="zh-CN" sz="2000" dirty="0">
                <a:solidFill>
                  <a:srgbClr val="595959"/>
                </a:solidFill>
                <a:ea typeface="宋体" charset="-122"/>
              </a:rPr>
              <a:t>Software Institute</a:t>
            </a:r>
          </a:p>
          <a:p>
            <a:pPr lvl="0"/>
            <a:r>
              <a:rPr lang="en-US" altLang="zh-CN" sz="2000" dirty="0">
                <a:solidFill>
                  <a:srgbClr val="595959"/>
                </a:solidFill>
                <a:ea typeface="宋体" charset="-122"/>
              </a:rPr>
              <a:t>Nanjing University</a:t>
            </a:r>
          </a:p>
          <a:p>
            <a:pPr lvl="0"/>
            <a:r>
              <a:rPr lang="en-US" altLang="zh-CN" sz="2000" dirty="0" err="1">
                <a:solidFill>
                  <a:srgbClr val="595959"/>
                </a:solidFill>
                <a:ea typeface="宋体" charset="-122"/>
              </a:rPr>
              <a:t>Bei</a:t>
            </a:r>
            <a:r>
              <a:rPr lang="en-US" altLang="zh-CN" sz="2000" dirty="0">
                <a:solidFill>
                  <a:srgbClr val="595959"/>
                </a:solidFill>
                <a:ea typeface="宋体" charset="-122"/>
              </a:rPr>
              <a:t> </a:t>
            </a:r>
            <a:r>
              <a:rPr lang="en-US" altLang="zh-CN" sz="2000" dirty="0" err="1">
                <a:solidFill>
                  <a:srgbClr val="595959"/>
                </a:solidFill>
                <a:ea typeface="宋体" charset="-122"/>
              </a:rPr>
              <a:t>Jia</a:t>
            </a:r>
            <a:endParaRPr lang="en-US" altLang="zh-CN" sz="2000" dirty="0">
              <a:solidFill>
                <a:srgbClr val="595959"/>
              </a:solidFill>
              <a:ea typeface="宋体" charset="-122"/>
            </a:endParaRPr>
          </a:p>
        </p:txBody>
      </p:sp>
      <p:sp>
        <p:nvSpPr>
          <p:cNvPr id="3075" name="Rectangle 2"/>
          <p:cNvSpPr>
            <a:spLocks noGrp="1" noChangeArrowheads="1"/>
          </p:cNvSpPr>
          <p:nvPr>
            <p:ph type="ctrTitle" sz="quarter"/>
          </p:nvPr>
        </p:nvSpPr>
        <p:spPr/>
        <p:txBody>
          <a:bodyPr/>
          <a:lstStyle/>
          <a:p>
            <a:pPr>
              <a:spcBef>
                <a:spcPts val="125"/>
              </a:spcBef>
            </a:pPr>
            <a:r>
              <a:rPr lang="en-US" altLang="zh-CN" sz="2800" dirty="0"/>
              <a:t>Message exchange and Data Type</a:t>
            </a:r>
            <a:br>
              <a:rPr lang="en-US" altLang="zh-CN" sz="2000" dirty="0"/>
            </a:br>
            <a:r>
              <a:rPr lang="en-US" altLang="zh-CN" sz="2000" dirty="0"/>
              <a:t>Service-Oriented Software Engineering</a:t>
            </a: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sz="2800" dirty="0"/>
              <a:t>Electronic Information Exchange (1/2)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zh-CN" sz="2800" dirty="0"/>
              <a:t>Electronic information exchange is a simple concept: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CN" sz="2400" dirty="0"/>
              <a:t>Electronically encoded information of one sort or another moves among software units during the execution of some domain-(business) related function.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800" dirty="0"/>
              <a:t>There are several contexts for information exchange: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CN" sz="2400" dirty="0"/>
              <a:t>Intra-application - information movement among the parts of an application.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CN" sz="2400" dirty="0"/>
              <a:t>Inter-application - information movement between applications in the same company system.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CN" sz="2400" dirty="0"/>
              <a:t>Inter-company - information movement between companies.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CN" sz="2400" dirty="0"/>
              <a:t>Inter-system - information movement between systems in the same company.</a:t>
            </a:r>
          </a:p>
        </p:txBody>
      </p:sp>
      <p:sp>
        <p:nvSpPr>
          <p:cNvPr id="5122" name="灯片编号占位符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87404035-1379-4C74-BDB6-78B63F1A1181}" type="slidenum">
              <a:rPr lang="en-US" altLang="zh-CN" smtClean="0"/>
              <a:pPr eaLnBrk="1" hangingPunct="1"/>
              <a:t>2</a:t>
            </a:fld>
            <a:endParaRPr lang="en-US" altLang="zh-CN"/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sz="2800" dirty="0"/>
              <a:t>Electronic Information Exchange (2/2)</a:t>
            </a:r>
          </a:p>
        </p:txBody>
      </p:sp>
      <p:pic>
        <p:nvPicPr>
          <p:cNvPr id="6148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217" y="1052513"/>
            <a:ext cx="7875566" cy="5348287"/>
          </a:xfrm>
          <a:noFill/>
        </p:spPr>
      </p:pic>
      <p:sp>
        <p:nvSpPr>
          <p:cNvPr id="6146" name="灯片编号占位符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4C6159F-8EEA-42A7-B753-D785DBE32226}" type="slidenum">
              <a:rPr lang="en-US" altLang="zh-CN" smtClean="0"/>
              <a:pPr eaLnBrk="1" hangingPunct="1"/>
              <a:t>3</a:t>
            </a:fld>
            <a:endParaRPr lang="en-US" altLang="zh-CN"/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Review: </a:t>
            </a:r>
            <a:r>
              <a:rPr lang="zh-CN" altLang="en-US" dirty="0"/>
              <a:t>计算与软件工程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C656591-9A23-4920-921C-36F5C7BCF8D4}" type="slidenum">
              <a:rPr lang="en-US" altLang="zh-CN" smtClean="0"/>
              <a:pPr>
                <a:defRPr/>
              </a:pPr>
              <a:t>4</a:t>
            </a:fld>
            <a:endParaRPr lang="en-US" altLang="zh-CN" dirty="0"/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830" y="1177429"/>
            <a:ext cx="9016340" cy="530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749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Review: </a:t>
            </a:r>
            <a:r>
              <a:rPr lang="zh-CN" altLang="en-US" dirty="0"/>
              <a:t>类图（局部）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C656591-9A23-4920-921C-36F5C7BCF8D4}" type="slidenum">
              <a:rPr lang="en-US" altLang="zh-CN" smtClean="0"/>
              <a:pPr>
                <a:defRPr/>
              </a:pPr>
              <a:t>5</a:t>
            </a:fld>
            <a:endParaRPr lang="en-US" altLang="zh-CN" dirty="0"/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1335528"/>
            <a:ext cx="5391150" cy="4743450"/>
          </a:xfrm>
          <a:prstGeom prst="rect">
            <a:avLst/>
          </a:prstGeom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2160" y="4221088"/>
            <a:ext cx="2257425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98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XML &amp; etc. in Services Computing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371600"/>
            <a:ext cx="8229600" cy="3048000"/>
          </a:xfrm>
        </p:spPr>
        <p:txBody>
          <a:bodyPr>
            <a:normAutofit fontScale="92500"/>
          </a:bodyPr>
          <a:lstStyle/>
          <a:p>
            <a:pPr eaLnBrk="1" hangingPunct="1">
              <a:defRPr/>
            </a:pPr>
            <a:r>
              <a:rPr lang="en-US" altLang="zh-CN" sz="2400" dirty="0"/>
              <a:t>XML &amp; etc. act as the meta-language in Services Computing, they are used to</a:t>
            </a:r>
          </a:p>
          <a:p>
            <a:pPr lvl="1" eaLnBrk="1" hangingPunct="1">
              <a:defRPr/>
            </a:pPr>
            <a:r>
              <a:rPr lang="en-US" altLang="zh-CN" sz="2400" dirty="0"/>
              <a:t>Describe service </a:t>
            </a:r>
          </a:p>
          <a:p>
            <a:pPr lvl="2" eaLnBrk="1" hangingPunct="1">
              <a:defRPr/>
            </a:pPr>
            <a:r>
              <a:rPr lang="en-US" altLang="zh-CN" sz="1800" dirty="0"/>
              <a:t>Sequence and interface</a:t>
            </a:r>
          </a:p>
          <a:p>
            <a:pPr lvl="1" eaLnBrk="1" hangingPunct="1">
              <a:defRPr/>
            </a:pPr>
            <a:r>
              <a:rPr lang="en-US" altLang="zh-CN" sz="2400" dirty="0"/>
              <a:t>Describe service requirement to find and call services</a:t>
            </a:r>
          </a:p>
          <a:p>
            <a:pPr lvl="1" eaLnBrk="1" hangingPunct="1">
              <a:defRPr/>
            </a:pPr>
            <a:r>
              <a:rPr lang="en-US" altLang="zh-CN" sz="2400" dirty="0"/>
              <a:t>Other message exchange performed in Services Computing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en-US" altLang="zh-CN" sz="2400" dirty="0"/>
              <a:t>They are used to perform the electronic information exchange</a:t>
            </a:r>
          </a:p>
        </p:txBody>
      </p:sp>
      <p:sp>
        <p:nvSpPr>
          <p:cNvPr id="4098" name="灯片编号占位符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93E8BAC1-EB9E-4088-96F7-CDDDBF33CF16}" type="slidenum">
              <a:rPr lang="en-US" altLang="zh-CN" smtClean="0"/>
              <a:pPr eaLnBrk="1" hangingPunct="1"/>
              <a:t>6</a:t>
            </a:fld>
            <a:endParaRPr lang="en-US" altLang="zh-CN"/>
          </a:p>
        </p:txBody>
      </p:sp>
      <p:pic>
        <p:nvPicPr>
          <p:cNvPr id="4101" name="内容占位符 7" descr="untitled.bmp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4419600"/>
            <a:ext cx="5395913" cy="178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Data Types in Services Computing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zh-CN" sz="2800" dirty="0"/>
              <a:t>Services are published/ discovered/ invoked with XML messages </a:t>
            </a:r>
          </a:p>
          <a:p>
            <a:pPr>
              <a:defRPr/>
            </a:pPr>
            <a:r>
              <a:rPr lang="en-US" altLang="zh-CN" sz="2800" dirty="0"/>
              <a:t>Another problem in XML message exchange is the data types</a:t>
            </a:r>
          </a:p>
          <a:p>
            <a:pPr>
              <a:defRPr/>
            </a:pPr>
            <a:r>
              <a:rPr lang="en-US" altLang="zh-CN" sz="2800" dirty="0"/>
              <a:t>One method is to validate a XML message against XML schema script</a:t>
            </a:r>
          </a:p>
          <a:p>
            <a:pPr>
              <a:defRPr/>
            </a:pPr>
            <a:r>
              <a:rPr lang="en-US" altLang="zh-CN" sz="2800" dirty="0"/>
              <a:t>A set of XML schema scripts can be accepted in particular industry and published over internet, they can be regarded as “Data Type Standard”</a:t>
            </a:r>
            <a:endParaRPr lang="zh-CN" altLang="en-US" sz="2800" dirty="0"/>
          </a:p>
        </p:txBody>
      </p:sp>
      <p:sp>
        <p:nvSpPr>
          <p:cNvPr id="9220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5AEFBE18-ECC7-49D3-8477-8291A404964B}" type="slidenum">
              <a:rPr lang="en-US" altLang="zh-CN" smtClean="0"/>
              <a:pPr eaLnBrk="1" hangingPunct="1"/>
              <a:t>7</a:t>
            </a:fld>
            <a:endParaRPr lang="en-US" altLang="zh-CN"/>
          </a:p>
        </p:txBody>
      </p:sp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 1">
            <a:extLst>
              <a:ext uri="{FF2B5EF4-FFF2-40B4-BE49-F238E27FC236}">
                <a16:creationId xmlns:a16="http://schemas.microsoft.com/office/drawing/2014/main" id="{BD9D331A-2C7E-45BA-A290-70204D1C08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Recall: </a:t>
            </a:r>
            <a:r>
              <a:rPr lang="zh-CN" altLang="en-US" dirty="0"/>
              <a:t>服务合约</a:t>
            </a:r>
          </a:p>
        </p:txBody>
      </p:sp>
      <p:sp>
        <p:nvSpPr>
          <p:cNvPr id="6147" name="内容占位符 2">
            <a:extLst>
              <a:ext uri="{FF2B5EF4-FFF2-40B4-BE49-F238E27FC236}">
                <a16:creationId xmlns:a16="http://schemas.microsoft.com/office/drawing/2014/main" id="{5C80D6B1-16FC-4190-BEE3-FF1303B016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1"/>
            <a:ext cx="8229600" cy="1540768"/>
          </a:xfrm>
        </p:spPr>
        <p:txBody>
          <a:bodyPr/>
          <a:lstStyle/>
          <a:p>
            <a:r>
              <a:rPr lang="zh-CN" altLang="en-US" sz="2800" dirty="0"/>
              <a:t>建立了与服务交互有关的术语</a:t>
            </a:r>
            <a:endParaRPr lang="en-US" altLang="zh-CN" sz="2800" dirty="0"/>
          </a:p>
          <a:p>
            <a:r>
              <a:rPr lang="zh-CN" altLang="en-US" sz="2800" dirty="0"/>
              <a:t>提供了技术限制和需求，及服务的拥有者希望对外公布的所有语义信息</a:t>
            </a:r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840CE204-89B8-4D4D-91F9-E269C425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22E1C82-7521-475B-9170-CD199527A819}" type="slidenum">
              <a:rPr lang="en-US" altLang="zh-CN" smtClean="0"/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en-US" altLang="zh-CN" sz="1000"/>
          </a:p>
        </p:txBody>
      </p:sp>
      <p:pic>
        <p:nvPicPr>
          <p:cNvPr id="6149" name="图片 4">
            <a:extLst>
              <a:ext uri="{FF2B5EF4-FFF2-40B4-BE49-F238E27FC236}">
                <a16:creationId xmlns:a16="http://schemas.microsoft.com/office/drawing/2014/main" id="{6B156F99-CC10-4BCB-BE3A-2BBCF7CC4C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5788" y="3403600"/>
            <a:ext cx="5432425" cy="310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1">
            <a:extLst>
              <a:ext uri="{FF2B5EF4-FFF2-40B4-BE49-F238E27FC236}">
                <a16:creationId xmlns:a16="http://schemas.microsoft.com/office/drawing/2014/main" id="{621FCA08-4BBF-49F1-B4FB-BC6E43BFD9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数据表示标准化和转换的避免</a:t>
            </a:r>
          </a:p>
        </p:txBody>
      </p:sp>
      <p:sp>
        <p:nvSpPr>
          <p:cNvPr id="10243" name="灯片编号占位符 4">
            <a:extLst>
              <a:ext uri="{FF2B5EF4-FFF2-40B4-BE49-F238E27FC236}">
                <a16:creationId xmlns:a16="http://schemas.microsoft.com/office/drawing/2014/main" id="{3925C91B-C3B7-4E2E-AC1B-DAD5AAFC567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0"/>
              </a:spcBef>
              <a:buClrTx/>
              <a:buFontTx/>
              <a:buNone/>
            </a:pPr>
            <a:fld id="{8E2C247D-7F36-40AC-90AC-0E2279E8957E}" type="slidenum">
              <a:rPr lang="en-US" altLang="zh-CN" sz="1000"/>
              <a:pPr eaLnBrk="0" hangingPunct="0"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en-US" altLang="zh-CN" sz="100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BB3D6A6F-7AF1-447D-B749-89131CB13B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" y="2606675"/>
            <a:ext cx="7191375" cy="351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7BC972BD-6DEE-4484-A24B-743BBB8B91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" y="2130425"/>
            <a:ext cx="7715250" cy="412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>
            <a:extLst>
              <a:ext uri="{FF2B5EF4-FFF2-40B4-BE49-F238E27FC236}">
                <a16:creationId xmlns:a16="http://schemas.microsoft.com/office/drawing/2014/main" id="{032961D1-389D-41A0-9D2A-5B74CE769D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458200" cy="563563"/>
          </a:xfrm>
        </p:spPr>
        <p:txBody>
          <a:bodyPr/>
          <a:lstStyle/>
          <a:p>
            <a:r>
              <a:rPr lang="en-US" altLang="zh-CN"/>
              <a:t>Schema </a:t>
            </a:r>
            <a:r>
              <a:rPr lang="zh-CN" altLang="en-US"/>
              <a:t>集中化</a:t>
            </a:r>
          </a:p>
        </p:txBody>
      </p:sp>
      <p:sp>
        <p:nvSpPr>
          <p:cNvPr id="7171" name="内容占位符 2">
            <a:extLst>
              <a:ext uri="{FF2B5EF4-FFF2-40B4-BE49-F238E27FC236}">
                <a16:creationId xmlns:a16="http://schemas.microsoft.com/office/drawing/2014/main" id="{8BDA388D-77A2-4971-B4A3-2BCFB9FD13F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052737"/>
            <a:ext cx="8229600" cy="5348064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由</a:t>
            </a:r>
            <a:r>
              <a:rPr lang="en-US" altLang="zh-CN" dirty="0" err="1"/>
              <a:t>NameSpace</a:t>
            </a:r>
            <a:r>
              <a:rPr lang="zh-CN" altLang="en-US" dirty="0"/>
              <a:t>持有者统一定义</a:t>
            </a:r>
            <a:r>
              <a:rPr lang="en-US" altLang="zh-CN" dirty="0"/>
              <a:t>Schema</a:t>
            </a:r>
          </a:p>
          <a:p>
            <a:pPr lvl="1">
              <a:lnSpc>
                <a:spcPct val="150000"/>
              </a:lnSpc>
            </a:pPr>
            <a:r>
              <a:rPr lang="zh-CN" altLang="en-US" dirty="0"/>
              <a:t>全球范围内的统一版本</a:t>
            </a:r>
            <a:endParaRPr lang="en-US" altLang="zh-CN" dirty="0"/>
          </a:p>
          <a:p>
            <a:pPr lvl="2">
              <a:lnSpc>
                <a:spcPct val="150000"/>
              </a:lnSpc>
            </a:pPr>
            <a:r>
              <a:rPr lang="zh-CN" altLang="en-US" dirty="0"/>
              <a:t>统一定义</a:t>
            </a:r>
            <a:endParaRPr lang="en-US" altLang="zh-CN" dirty="0"/>
          </a:p>
          <a:p>
            <a:pPr lvl="2">
              <a:lnSpc>
                <a:spcPct val="150000"/>
              </a:lnSpc>
            </a:pPr>
            <a:r>
              <a:rPr lang="zh-CN" altLang="en-US" dirty="0"/>
              <a:t>统一使用</a:t>
            </a:r>
            <a:endParaRPr lang="en-US" altLang="zh-CN" dirty="0"/>
          </a:p>
          <a:p>
            <a:pPr lvl="2">
              <a:lnSpc>
                <a:spcPct val="150000"/>
              </a:lnSpc>
            </a:pPr>
            <a:r>
              <a:rPr lang="zh-CN" altLang="en-US" dirty="0"/>
              <a:t>统一演化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维持通用性</a:t>
            </a:r>
            <a:endParaRPr lang="en-US" altLang="zh-CN" dirty="0"/>
          </a:p>
          <a:p>
            <a:pPr lvl="2">
              <a:lnSpc>
                <a:spcPct val="150000"/>
              </a:lnSpc>
            </a:pPr>
            <a:r>
              <a:rPr lang="zh-CN" altLang="en-US" dirty="0"/>
              <a:t>多个应用的数据结构保持一致</a:t>
            </a:r>
            <a:endParaRPr lang="en-US" altLang="zh-CN" dirty="0"/>
          </a:p>
          <a:p>
            <a:pPr lvl="2">
              <a:lnSpc>
                <a:spcPct val="150000"/>
              </a:lnSpc>
            </a:pPr>
            <a:r>
              <a:rPr lang="zh-CN" altLang="en-US" dirty="0"/>
              <a:t>单个应用在长时间演化过程中数据结构不变</a:t>
            </a:r>
            <a:endParaRPr lang="en-US" altLang="zh-CN" dirty="0"/>
          </a:p>
          <a:p>
            <a:pPr lvl="3">
              <a:lnSpc>
                <a:spcPct val="150000"/>
              </a:lnSpc>
            </a:pPr>
            <a:r>
              <a:rPr lang="zh-CN" altLang="en-US" dirty="0"/>
              <a:t>实现</a:t>
            </a:r>
            <a:r>
              <a:rPr lang="en-US" altLang="zh-CN" dirty="0"/>
              <a:t>/</a:t>
            </a:r>
            <a:r>
              <a:rPr lang="zh-CN" altLang="en-US" dirty="0"/>
              <a:t>代码</a:t>
            </a:r>
            <a:r>
              <a:rPr lang="en-US" altLang="zh-CN" dirty="0"/>
              <a:t>/</a:t>
            </a:r>
            <a:r>
              <a:rPr lang="zh-CN" altLang="en-US" dirty="0"/>
              <a:t>技术</a:t>
            </a:r>
            <a:r>
              <a:rPr lang="en-US" altLang="zh-CN" dirty="0"/>
              <a:t>/</a:t>
            </a:r>
            <a:r>
              <a:rPr lang="zh-CN" altLang="en-US" dirty="0"/>
              <a:t>平台</a:t>
            </a:r>
            <a:r>
              <a:rPr lang="en-US" altLang="zh-CN" dirty="0"/>
              <a:t>/</a:t>
            </a:r>
            <a:r>
              <a:rPr lang="zh-CN" altLang="en-US" dirty="0"/>
              <a:t>支持系统变更，但是包含数据结构在内的服务合约长时间不变（长时间复用的基本前提）</a:t>
            </a:r>
          </a:p>
        </p:txBody>
      </p:sp>
      <p:sp>
        <p:nvSpPr>
          <p:cNvPr id="7172" name="灯片编号占位符 3">
            <a:extLst>
              <a:ext uri="{FF2B5EF4-FFF2-40B4-BE49-F238E27FC236}">
                <a16:creationId xmlns:a16="http://schemas.microsoft.com/office/drawing/2014/main" id="{490B13B1-36D3-4509-9C8A-2B99ECA5D23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xfrm>
            <a:off x="3505200" y="6461125"/>
            <a:ext cx="2133600" cy="320675"/>
          </a:xfr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622E1C82-7521-475B-9170-CD199527A819}" type="slidenum">
              <a:rPr lang="en-US" altLang="zh-CN" smtClean="0"/>
              <a:pPr/>
              <a:t>10</a:t>
            </a:fld>
            <a:endParaRPr lang="en-US" altLang="zh-C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FD6EA652-822A-475A-ADAB-E3C462547A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标准化的服务和数据表示层</a:t>
            </a:r>
          </a:p>
        </p:txBody>
      </p:sp>
      <p:sp>
        <p:nvSpPr>
          <p:cNvPr id="8195" name="灯片编号占位符 3">
            <a:extLst>
              <a:ext uri="{FF2B5EF4-FFF2-40B4-BE49-F238E27FC236}">
                <a16:creationId xmlns:a16="http://schemas.microsoft.com/office/drawing/2014/main" id="{E729F884-F771-4009-975B-47AD94D4DF9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l" eaLnBrk="0" hangingPunct="0">
              <a:spcBef>
                <a:spcPct val="0"/>
              </a:spcBef>
              <a:buClrTx/>
              <a:buFontTx/>
              <a:buNone/>
            </a:pPr>
            <a:fld id="{622E1C82-7521-475B-9170-CD199527A819}" type="slidenum">
              <a:rPr lang="en-US" altLang="zh-CN" smtClean="0"/>
              <a:pPr algn="l" eaLnBrk="0" hangingPunct="0"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en-US" altLang="zh-CN" sz="1000"/>
          </a:p>
        </p:txBody>
      </p:sp>
      <p:pic>
        <p:nvPicPr>
          <p:cNvPr id="8196" name="图片 5">
            <a:extLst>
              <a:ext uri="{FF2B5EF4-FFF2-40B4-BE49-F238E27FC236}">
                <a16:creationId xmlns:a16="http://schemas.microsoft.com/office/drawing/2014/main" id="{9ECEBBA9-8E8B-48B6-98CB-76737FCBE9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875" y="1844675"/>
            <a:ext cx="7080250" cy="4738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5">
            <a:extLst>
              <a:ext uri="{FF2B5EF4-FFF2-40B4-BE49-F238E27FC236}">
                <a16:creationId xmlns:a16="http://schemas.microsoft.com/office/drawing/2014/main" id="{9B7F4464-488A-47D3-8225-0EB7F49394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458200" cy="563563"/>
          </a:xfrm>
        </p:spPr>
        <p:txBody>
          <a:bodyPr/>
          <a:lstStyle/>
          <a:p>
            <a:r>
              <a:rPr lang="zh-CN" altLang="en-US"/>
              <a:t>冗余？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0C4DC090-C87C-4DA9-B821-814B96AFB7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70000"/>
              </a:lnSpc>
            </a:pPr>
            <a:r>
              <a:rPr lang="en-US" altLang="zh-CN" dirty="0"/>
              <a:t>Student.xsd</a:t>
            </a:r>
            <a:r>
              <a:rPr lang="zh-CN" altLang="en-US" dirty="0"/>
              <a:t>由教务持有，仅包含实现教务系统的最小信息集合吗？</a:t>
            </a:r>
            <a:endParaRPr lang="en-US" altLang="zh-CN" dirty="0"/>
          </a:p>
          <a:p>
            <a:pPr lvl="1">
              <a:lnSpc>
                <a:spcPct val="170000"/>
              </a:lnSpc>
            </a:pPr>
            <a:r>
              <a:rPr lang="zh-CN" altLang="en-US" dirty="0"/>
              <a:t>校医院？院系？</a:t>
            </a:r>
            <a:r>
              <a:rPr lang="en-US" altLang="zh-CN" dirty="0"/>
              <a:t> ……</a:t>
            </a:r>
          </a:p>
          <a:p>
            <a:pPr lvl="1">
              <a:lnSpc>
                <a:spcPct val="170000"/>
              </a:lnSpc>
            </a:pPr>
            <a:r>
              <a:rPr lang="zh-CN" altLang="en-US" dirty="0"/>
              <a:t>民政局？公安局？</a:t>
            </a:r>
            <a:r>
              <a:rPr lang="en-US" altLang="zh-CN" dirty="0"/>
              <a:t>……</a:t>
            </a:r>
          </a:p>
          <a:p>
            <a:pPr lvl="1">
              <a:lnSpc>
                <a:spcPct val="170000"/>
              </a:lnSpc>
            </a:pPr>
            <a:r>
              <a:rPr lang="zh-CN" altLang="en-US" dirty="0"/>
              <a:t>这些数据，教务有权定义吗？</a:t>
            </a:r>
            <a:endParaRPr lang="en-US" altLang="zh-CN" dirty="0"/>
          </a:p>
          <a:p>
            <a:pPr>
              <a:lnSpc>
                <a:spcPct val="170000"/>
              </a:lnSpc>
            </a:pPr>
            <a:r>
              <a:rPr lang="zh-CN" altLang="en-US" dirty="0"/>
              <a:t>在我们设计涉及到学生的服务合约时，使用什么样的数据结构？</a:t>
            </a:r>
            <a:endParaRPr lang="en-US" altLang="zh-CN" dirty="0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35960A3B-DB0F-465E-B838-567C37A3D3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60000"/>
              </a:lnSpc>
            </a:pPr>
            <a:r>
              <a:rPr lang="zh-CN" altLang="en-US" dirty="0"/>
              <a:t>从</a:t>
            </a:r>
            <a:r>
              <a:rPr lang="en-US" altLang="zh-CN" dirty="0"/>
              <a:t>OO</a:t>
            </a:r>
            <a:r>
              <a:rPr lang="zh-CN" altLang="en-US" dirty="0"/>
              <a:t>的角度，削减冗余的前提下，提供且仅提供功能所需的信息</a:t>
            </a:r>
            <a:endParaRPr lang="en-US" altLang="zh-CN" dirty="0"/>
          </a:p>
          <a:p>
            <a:pPr>
              <a:lnSpc>
                <a:spcPct val="160000"/>
              </a:lnSpc>
            </a:pPr>
            <a:r>
              <a:rPr lang="zh-CN" altLang="en-US" dirty="0"/>
              <a:t>从</a:t>
            </a:r>
            <a:r>
              <a:rPr lang="en-US" altLang="zh-CN" dirty="0"/>
              <a:t>SO</a:t>
            </a:r>
            <a:r>
              <a:rPr lang="zh-CN" altLang="en-US" dirty="0"/>
              <a:t>的角度，应该使用官方</a:t>
            </a:r>
            <a:r>
              <a:rPr lang="en-US" altLang="zh-CN" dirty="0"/>
              <a:t>Schema</a:t>
            </a:r>
          </a:p>
          <a:p>
            <a:pPr lvl="1">
              <a:lnSpc>
                <a:spcPct val="160000"/>
              </a:lnSpc>
            </a:pPr>
            <a:r>
              <a:rPr lang="zh-CN" altLang="en-US" dirty="0"/>
              <a:t>如果当前的服务仅仅只是上课签到，涉及到学生的数据结构还包含个人的犯罪记录？</a:t>
            </a:r>
            <a:endParaRPr lang="en-US" altLang="zh-CN" dirty="0"/>
          </a:p>
          <a:p>
            <a:pPr lvl="1">
              <a:lnSpc>
                <a:spcPct val="160000"/>
              </a:lnSpc>
            </a:pPr>
            <a:r>
              <a:rPr lang="zh-CN" altLang="en-US" dirty="0"/>
              <a:t>这种冗余是不是有些蠢？</a:t>
            </a:r>
            <a:endParaRPr lang="zh-CN" altLang="zh-C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ftware">
  <a:themeElements>
    <a:clrScheme name="sample 1">
      <a:dk1>
        <a:srgbClr val="163794"/>
      </a:dk1>
      <a:lt1>
        <a:srgbClr val="FFFFFF"/>
      </a:lt1>
      <a:dk2>
        <a:srgbClr val="000000"/>
      </a:dk2>
      <a:lt2>
        <a:srgbClr val="C0C0C0"/>
      </a:lt2>
      <a:accent1>
        <a:srgbClr val="009999"/>
      </a:accent1>
      <a:accent2>
        <a:srgbClr val="990000"/>
      </a:accent2>
      <a:accent3>
        <a:srgbClr val="FFFFFF"/>
      </a:accent3>
      <a:accent4>
        <a:srgbClr val="112D7E"/>
      </a:accent4>
      <a:accent5>
        <a:srgbClr val="AACACA"/>
      </a:accent5>
      <a:accent6>
        <a:srgbClr val="8A0000"/>
      </a:accent6>
      <a:hlink>
        <a:srgbClr val="6699FF"/>
      </a:hlink>
      <a:folHlink>
        <a:srgbClr val="969696"/>
      </a:folHlink>
    </a:clrScheme>
    <a:fontScheme name="sample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163794"/>
        </a:dk1>
        <a:lt1>
          <a:srgbClr val="FFFFFF"/>
        </a:lt1>
        <a:dk2>
          <a:srgbClr val="000000"/>
        </a:dk2>
        <a:lt2>
          <a:srgbClr val="C0C0C0"/>
        </a:lt2>
        <a:accent1>
          <a:srgbClr val="009999"/>
        </a:accent1>
        <a:accent2>
          <a:srgbClr val="990000"/>
        </a:accent2>
        <a:accent3>
          <a:srgbClr val="FFFFFF"/>
        </a:accent3>
        <a:accent4>
          <a:srgbClr val="112D7E"/>
        </a:accent4>
        <a:accent5>
          <a:srgbClr val="AACACA"/>
        </a:accent5>
        <a:accent6>
          <a:srgbClr val="8A0000"/>
        </a:accent6>
        <a:hlink>
          <a:srgbClr val="66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29698D"/>
        </a:dk1>
        <a:lt1>
          <a:srgbClr val="FFFFFF"/>
        </a:lt1>
        <a:dk2>
          <a:srgbClr val="000000"/>
        </a:dk2>
        <a:lt2>
          <a:srgbClr val="A1BABD"/>
        </a:lt2>
        <a:accent1>
          <a:srgbClr val="FF5050"/>
        </a:accent1>
        <a:accent2>
          <a:srgbClr val="FF9933"/>
        </a:accent2>
        <a:accent3>
          <a:srgbClr val="FFFFFF"/>
        </a:accent3>
        <a:accent4>
          <a:srgbClr val="215978"/>
        </a:accent4>
        <a:accent5>
          <a:srgbClr val="FFB3B3"/>
        </a:accent5>
        <a:accent6>
          <a:srgbClr val="E78A2D"/>
        </a:accent6>
        <a:hlink>
          <a:srgbClr val="00CC99"/>
        </a:hlink>
        <a:folHlink>
          <a:srgbClr val="83A6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666699"/>
        </a:dk1>
        <a:lt1>
          <a:srgbClr val="FFFFFF"/>
        </a:lt1>
        <a:dk2>
          <a:srgbClr val="000000"/>
        </a:dk2>
        <a:lt2>
          <a:srgbClr val="C0C0C0"/>
        </a:lt2>
        <a:accent1>
          <a:srgbClr val="72B88E"/>
        </a:accent1>
        <a:accent2>
          <a:srgbClr val="C78DD7"/>
        </a:accent2>
        <a:accent3>
          <a:srgbClr val="FFFFFF"/>
        </a:accent3>
        <a:accent4>
          <a:srgbClr val="565682"/>
        </a:accent4>
        <a:accent5>
          <a:srgbClr val="BCD8C6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4452</TotalTime>
  <Words>477</Words>
  <Application>Microsoft Office PowerPoint</Application>
  <PresentationFormat>全屏显示(4:3)</PresentationFormat>
  <Paragraphs>68</Paragraphs>
  <Slides>12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Arial</vt:lpstr>
      <vt:lpstr>Verdana</vt:lpstr>
      <vt:lpstr>Wingdings</vt:lpstr>
      <vt:lpstr>software</vt:lpstr>
      <vt:lpstr>Message exchange and Data Type Service-Oriented Software Engineering</vt:lpstr>
      <vt:lpstr>Electronic Information Exchange (1/2)</vt:lpstr>
      <vt:lpstr>Electronic Information Exchange (2/2)</vt:lpstr>
      <vt:lpstr>Review: 计算与软件工程</vt:lpstr>
      <vt:lpstr>Review: 类图（局部）</vt:lpstr>
      <vt:lpstr>XML &amp; etc. in Services Computing</vt:lpstr>
      <vt:lpstr>Data Types in Services Computing</vt:lpstr>
      <vt:lpstr>Recall: 服务合约</vt:lpstr>
      <vt:lpstr>数据表示标准化和转换的避免</vt:lpstr>
      <vt:lpstr>Schema 集中化</vt:lpstr>
      <vt:lpstr>标准化的服务和数据表示层</vt:lpstr>
      <vt:lpstr>冗余？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beijia</dc:creator>
  <cp:lastModifiedBy>jia bei</cp:lastModifiedBy>
  <cp:revision>132</cp:revision>
  <cp:lastPrinted>1601-01-01T00:00:00Z</cp:lastPrinted>
  <dcterms:created xsi:type="dcterms:W3CDTF">1601-01-01T00:00:00Z</dcterms:created>
  <dcterms:modified xsi:type="dcterms:W3CDTF">2023-09-21T02:13:56Z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