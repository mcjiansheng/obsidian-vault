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12" r:id="rId1"/>
  </p:sldMasterIdLst>
  <p:notesMasterIdLst>
    <p:notesMasterId r:id="rId28"/>
  </p:notesMasterIdLst>
  <p:sldIdLst>
    <p:sldId id="256" r:id="rId2"/>
    <p:sldId id="431" r:id="rId3"/>
    <p:sldId id="429" r:id="rId4"/>
    <p:sldId id="427" r:id="rId5"/>
    <p:sldId id="286" r:id="rId6"/>
    <p:sldId id="290" r:id="rId7"/>
    <p:sldId id="509" r:id="rId8"/>
    <p:sldId id="510" r:id="rId9"/>
    <p:sldId id="319" r:id="rId10"/>
    <p:sldId id="288" r:id="rId11"/>
    <p:sldId id="289" r:id="rId12"/>
    <p:sldId id="294" r:id="rId13"/>
    <p:sldId id="295" r:id="rId14"/>
    <p:sldId id="297" r:id="rId15"/>
    <p:sldId id="298" r:id="rId16"/>
    <p:sldId id="299" r:id="rId17"/>
    <p:sldId id="300" r:id="rId18"/>
    <p:sldId id="301" r:id="rId19"/>
    <p:sldId id="305" r:id="rId20"/>
    <p:sldId id="307" r:id="rId21"/>
    <p:sldId id="308" r:id="rId22"/>
    <p:sldId id="309" r:id="rId23"/>
    <p:sldId id="314" r:id="rId24"/>
    <p:sldId id="310" r:id="rId25"/>
    <p:sldId id="312" r:id="rId26"/>
    <p:sldId id="313" r:id="rId27"/>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08E"/>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193" autoAdjust="0"/>
    <p:restoredTop sz="94639" autoAdjust="0"/>
  </p:normalViewPr>
  <p:slideViewPr>
    <p:cSldViewPr>
      <p:cViewPr varScale="1">
        <p:scale>
          <a:sx n="109" d="100"/>
          <a:sy n="109" d="100"/>
        </p:scale>
        <p:origin x="1749"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zh-CN"/>
          </a:p>
        </p:txBody>
      </p:sp>
      <p:sp>
        <p:nvSpPr>
          <p:cNvPr id="4301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614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301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4301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12262B14-ADD9-4EF4-8894-95364EC9DDD0}" type="slidenum">
              <a:rPr lang="en-US" altLang="zh-CN"/>
              <a:pPr>
                <a:defRPr/>
              </a:pPr>
              <a:t>‹#›</a:t>
            </a:fld>
            <a:endParaRPr lang="en-US" altLang="zh-CN"/>
          </a:p>
        </p:txBody>
      </p:sp>
    </p:spTree>
    <p:extLst>
      <p:ext uri="{BB962C8B-B14F-4D97-AF65-F5344CB8AC3E}">
        <p14:creationId xmlns:p14="http://schemas.microsoft.com/office/powerpoint/2010/main" val="134605740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a:ln/>
        </p:spPr>
      </p:sp>
      <p:sp>
        <p:nvSpPr>
          <p:cNvPr id="624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24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B73E74F-837B-4786-B3B6-E0D8EFDAEAC0}" type="slidenum">
              <a:rPr lang="en-US" altLang="zh-CN" smtClean="0"/>
              <a:pPr eaLnBrk="1" hangingPunct="1"/>
              <a:t>1</a:t>
            </a:fld>
            <a:endParaRPr lang="en-US" altLang="zh-CN"/>
          </a:p>
        </p:txBody>
      </p:sp>
    </p:spTree>
    <p:extLst>
      <p:ext uri="{BB962C8B-B14F-4D97-AF65-F5344CB8AC3E}">
        <p14:creationId xmlns:p14="http://schemas.microsoft.com/office/powerpoint/2010/main" val="39605222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幻灯片图像占位符 1"/>
          <p:cNvSpPr>
            <a:spLocks noGrp="1" noRot="1" noChangeAspect="1" noTextEdit="1"/>
          </p:cNvSpPr>
          <p:nvPr>
            <p:ph type="sldImg"/>
          </p:nvPr>
        </p:nvSpPr>
        <p:spPr>
          <a:ln/>
        </p:spPr>
      </p:sp>
      <p:sp>
        <p:nvSpPr>
          <p:cNvPr id="1628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628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Arial" charset="0"/>
                <a:ea typeface="宋体" pitchFamily="2" charset="-122"/>
              </a:defRPr>
            </a:lvl1pPr>
            <a:lvl2pPr marL="742950" indent="-285750" eaLnBrk="0" hangingPunct="0">
              <a:defRPr sz="3200">
                <a:solidFill>
                  <a:schemeClr val="tx1"/>
                </a:solidFill>
                <a:latin typeface="Arial" charset="0"/>
                <a:ea typeface="宋体" pitchFamily="2" charset="-122"/>
              </a:defRPr>
            </a:lvl2pPr>
            <a:lvl3pPr marL="1143000" indent="-228600" eaLnBrk="0" hangingPunct="0">
              <a:defRPr sz="3200">
                <a:solidFill>
                  <a:schemeClr val="tx1"/>
                </a:solidFill>
                <a:latin typeface="Arial" charset="0"/>
                <a:ea typeface="宋体" pitchFamily="2" charset="-122"/>
              </a:defRPr>
            </a:lvl3pPr>
            <a:lvl4pPr marL="1600200" indent="-228600" eaLnBrk="0" hangingPunct="0">
              <a:defRPr sz="3200">
                <a:solidFill>
                  <a:schemeClr val="tx1"/>
                </a:solidFill>
                <a:latin typeface="Arial" charset="0"/>
                <a:ea typeface="宋体" pitchFamily="2" charset="-122"/>
              </a:defRPr>
            </a:lvl4pPr>
            <a:lvl5pPr marL="2057400" indent="-228600" eaLnBrk="0" hangingPunct="0">
              <a:defRPr sz="3200">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Font typeface="Wingdings" pitchFamily="2" charset="2"/>
              <a:buChar char="l"/>
              <a:defRPr sz="3200">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Font typeface="Wingdings" pitchFamily="2" charset="2"/>
              <a:buChar char="l"/>
              <a:defRPr sz="3200">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Font typeface="Wingdings" pitchFamily="2" charset="2"/>
              <a:buChar char="l"/>
              <a:defRPr sz="3200">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Font typeface="Wingdings" pitchFamily="2" charset="2"/>
              <a:buChar char="l"/>
              <a:defRPr sz="3200">
                <a:solidFill>
                  <a:schemeClr val="tx1"/>
                </a:solidFill>
                <a:latin typeface="Arial" charset="0"/>
                <a:ea typeface="宋体" pitchFamily="2" charset="-122"/>
              </a:defRPr>
            </a:lvl9pPr>
          </a:lstStyle>
          <a:p>
            <a:pPr eaLnBrk="1" hangingPunct="1"/>
            <a:fld id="{5CC4EEC5-9D8B-47DE-B74F-7CE5513DB69D}" type="slidenum">
              <a:rPr lang="en-US" altLang="zh-CN" sz="1200" smtClean="0"/>
              <a:pPr eaLnBrk="1" hangingPunct="1"/>
              <a:t>2</a:t>
            </a:fld>
            <a:endParaRPr lang="en-US" altLang="zh-CN" sz="1200"/>
          </a:p>
        </p:txBody>
      </p:sp>
    </p:spTree>
    <p:extLst>
      <p:ext uri="{BB962C8B-B14F-4D97-AF65-F5344CB8AC3E}">
        <p14:creationId xmlns:p14="http://schemas.microsoft.com/office/powerpoint/2010/main" val="26172524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幻灯片图像占位符 1"/>
          <p:cNvSpPr>
            <a:spLocks noGrp="1" noRot="1" noChangeAspect="1" noTextEdit="1"/>
          </p:cNvSpPr>
          <p:nvPr>
            <p:ph type="sldImg"/>
          </p:nvPr>
        </p:nvSpPr>
        <p:spPr>
          <a:ln/>
        </p:spPr>
      </p:sp>
      <p:sp>
        <p:nvSpPr>
          <p:cNvPr id="1607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607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Arial" charset="0"/>
                <a:ea typeface="宋体" pitchFamily="2" charset="-122"/>
              </a:defRPr>
            </a:lvl1pPr>
            <a:lvl2pPr marL="742950" indent="-285750" eaLnBrk="0" hangingPunct="0">
              <a:defRPr sz="3200">
                <a:solidFill>
                  <a:schemeClr val="tx1"/>
                </a:solidFill>
                <a:latin typeface="Arial" charset="0"/>
                <a:ea typeface="宋体" pitchFamily="2" charset="-122"/>
              </a:defRPr>
            </a:lvl2pPr>
            <a:lvl3pPr marL="1143000" indent="-228600" eaLnBrk="0" hangingPunct="0">
              <a:defRPr sz="3200">
                <a:solidFill>
                  <a:schemeClr val="tx1"/>
                </a:solidFill>
                <a:latin typeface="Arial" charset="0"/>
                <a:ea typeface="宋体" pitchFamily="2" charset="-122"/>
              </a:defRPr>
            </a:lvl3pPr>
            <a:lvl4pPr marL="1600200" indent="-228600" eaLnBrk="0" hangingPunct="0">
              <a:defRPr sz="3200">
                <a:solidFill>
                  <a:schemeClr val="tx1"/>
                </a:solidFill>
                <a:latin typeface="Arial" charset="0"/>
                <a:ea typeface="宋体" pitchFamily="2" charset="-122"/>
              </a:defRPr>
            </a:lvl4pPr>
            <a:lvl5pPr marL="2057400" indent="-228600" eaLnBrk="0" hangingPunct="0">
              <a:defRPr sz="3200">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Font typeface="Wingdings" pitchFamily="2" charset="2"/>
              <a:buChar char="l"/>
              <a:defRPr sz="3200">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Font typeface="Wingdings" pitchFamily="2" charset="2"/>
              <a:buChar char="l"/>
              <a:defRPr sz="3200">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Font typeface="Wingdings" pitchFamily="2" charset="2"/>
              <a:buChar char="l"/>
              <a:defRPr sz="3200">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Font typeface="Wingdings" pitchFamily="2" charset="2"/>
              <a:buChar char="l"/>
              <a:defRPr sz="3200">
                <a:solidFill>
                  <a:schemeClr val="tx1"/>
                </a:solidFill>
                <a:latin typeface="Arial" charset="0"/>
                <a:ea typeface="宋体" pitchFamily="2" charset="-122"/>
              </a:defRPr>
            </a:lvl9pPr>
          </a:lstStyle>
          <a:p>
            <a:pPr eaLnBrk="1" hangingPunct="1"/>
            <a:fld id="{5B82C3D0-F6A9-47F3-B0D8-FDDD59984C5D}" type="slidenum">
              <a:rPr lang="en-US" altLang="zh-CN" sz="1200" smtClean="0"/>
              <a:pPr eaLnBrk="1" hangingPunct="1"/>
              <a:t>3</a:t>
            </a:fld>
            <a:endParaRPr lang="en-US" altLang="zh-CN" sz="1200"/>
          </a:p>
        </p:txBody>
      </p:sp>
    </p:spTree>
    <p:extLst>
      <p:ext uri="{BB962C8B-B14F-4D97-AF65-F5344CB8AC3E}">
        <p14:creationId xmlns:p14="http://schemas.microsoft.com/office/powerpoint/2010/main" val="28935409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a:extLst>
              <a:ext uri="{FF2B5EF4-FFF2-40B4-BE49-F238E27FC236}">
                <a16:creationId xmlns:a16="http://schemas.microsoft.com/office/drawing/2014/main" id="{974ADA0C-2446-41CF-B718-72D5DFF4091E}"/>
              </a:ext>
            </a:extLst>
          </p:cNvPr>
          <p:cNvSpPr>
            <a:spLocks noGrp="1" noRot="1" noChangeAspect="1" noTextEdit="1"/>
          </p:cNvSpPr>
          <p:nvPr>
            <p:ph type="sldImg"/>
          </p:nvPr>
        </p:nvSpPr>
        <p:spPr>
          <a:ln/>
        </p:spPr>
      </p:sp>
      <p:sp>
        <p:nvSpPr>
          <p:cNvPr id="12291" name="备注占位符 2">
            <a:extLst>
              <a:ext uri="{FF2B5EF4-FFF2-40B4-BE49-F238E27FC236}">
                <a16:creationId xmlns:a16="http://schemas.microsoft.com/office/drawing/2014/main" id="{20619C09-D4F9-4D91-8687-6573EC46438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2292" name="灯片编号占位符 3">
            <a:extLst>
              <a:ext uri="{FF2B5EF4-FFF2-40B4-BE49-F238E27FC236}">
                <a16:creationId xmlns:a16="http://schemas.microsoft.com/office/drawing/2014/main" id="{26CB8AB4-D754-488B-8458-B00CC15F226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06BDC3C-BDC8-4977-9461-E769B539F824}" type="slidenum">
              <a:rPr lang="en-US" altLang="zh-CN"/>
              <a:pPr>
                <a:spcBef>
                  <a:spcPct val="0"/>
                </a:spcBef>
              </a:pPr>
              <a:t>5</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95DEB431-B893-48EA-A9B2-27DEEA54A6A1}"/>
              </a:ext>
            </a:extLst>
          </p:cNvPr>
          <p:cNvSpPr>
            <a:spLocks noGrp="1" noRot="1" noChangeAspect="1" noTextEdit="1"/>
          </p:cNvSpPr>
          <p:nvPr>
            <p:ph type="sldImg"/>
          </p:nvPr>
        </p:nvSpPr>
        <p:spPr>
          <a:ln/>
        </p:spPr>
      </p:sp>
      <p:sp>
        <p:nvSpPr>
          <p:cNvPr id="15363" name="备注占位符 2">
            <a:extLst>
              <a:ext uri="{FF2B5EF4-FFF2-40B4-BE49-F238E27FC236}">
                <a16:creationId xmlns:a16="http://schemas.microsoft.com/office/drawing/2014/main" id="{1D6B3FF0-32C4-47AF-A592-65499B87F27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5364" name="灯片编号占位符 3">
            <a:extLst>
              <a:ext uri="{FF2B5EF4-FFF2-40B4-BE49-F238E27FC236}">
                <a16:creationId xmlns:a16="http://schemas.microsoft.com/office/drawing/2014/main" id="{144BA239-0A1C-40AB-8629-2EFF1D30521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546EAAC-C172-4F26-BE42-16E3FAD8F2A9}" type="slidenum">
              <a:rPr lang="en-US" altLang="zh-CN"/>
              <a:pPr>
                <a:spcBef>
                  <a:spcPct val="0"/>
                </a:spcBef>
              </a:pPr>
              <a:t>6</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幻灯片图像占位符 1"/>
          <p:cNvSpPr>
            <a:spLocks noGrp="1" noRot="1" noChangeAspect="1" noTextEdit="1"/>
          </p:cNvSpPr>
          <p:nvPr>
            <p:ph type="sldImg"/>
          </p:nvPr>
        </p:nvSpPr>
        <p:spPr>
          <a:ln/>
        </p:spPr>
      </p:sp>
      <p:sp>
        <p:nvSpPr>
          <p:cNvPr id="839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39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4A2E8087-0099-486D-8C8E-552393E89595}" type="slidenum">
              <a:rPr lang="en-US" altLang="zh-CN" smtClean="0"/>
              <a:pPr eaLnBrk="1" hangingPunct="1"/>
              <a:t>9</a:t>
            </a:fld>
            <a:endParaRPr lang="en-US" altLang="zh-CN"/>
          </a:p>
        </p:txBody>
      </p:sp>
    </p:spTree>
    <p:extLst>
      <p:ext uri="{BB962C8B-B14F-4D97-AF65-F5344CB8AC3E}">
        <p14:creationId xmlns:p14="http://schemas.microsoft.com/office/powerpoint/2010/main" val="40269925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a:extLst>
              <a:ext uri="{FF2B5EF4-FFF2-40B4-BE49-F238E27FC236}">
                <a16:creationId xmlns:a16="http://schemas.microsoft.com/office/drawing/2014/main" id="{3F568AEA-8BE2-42AA-AC80-160C1DA84DEC}"/>
              </a:ext>
            </a:extLst>
          </p:cNvPr>
          <p:cNvSpPr>
            <a:spLocks noGrp="1" noRot="1" noChangeAspect="1" noTextEdit="1"/>
          </p:cNvSpPr>
          <p:nvPr>
            <p:ph type="sldImg"/>
          </p:nvPr>
        </p:nvSpPr>
        <p:spPr>
          <a:ln/>
        </p:spPr>
      </p:sp>
      <p:sp>
        <p:nvSpPr>
          <p:cNvPr id="7171" name="备注占位符 2">
            <a:extLst>
              <a:ext uri="{FF2B5EF4-FFF2-40B4-BE49-F238E27FC236}">
                <a16:creationId xmlns:a16="http://schemas.microsoft.com/office/drawing/2014/main" id="{40FB0923-73D1-44FD-A870-A6490D1E8DF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7172" name="灯片编号占位符 3">
            <a:extLst>
              <a:ext uri="{FF2B5EF4-FFF2-40B4-BE49-F238E27FC236}">
                <a16:creationId xmlns:a16="http://schemas.microsoft.com/office/drawing/2014/main" id="{3E395E7B-DCEF-4856-9261-D42BCCF44D8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B6859BD-E1CA-45B9-844B-7488C543F203}" type="slidenum">
              <a:rPr lang="en-US" altLang="zh-CN"/>
              <a:pPr>
                <a:spcBef>
                  <a:spcPct val="0"/>
                </a:spcBef>
              </a:pPr>
              <a:t>10</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a:extLst>
              <a:ext uri="{FF2B5EF4-FFF2-40B4-BE49-F238E27FC236}">
                <a16:creationId xmlns:a16="http://schemas.microsoft.com/office/drawing/2014/main" id="{B78864E6-8776-4C17-BB88-9EB3DBB344E4}"/>
              </a:ext>
            </a:extLst>
          </p:cNvPr>
          <p:cNvSpPr>
            <a:spLocks noGrp="1" noRot="1" noChangeAspect="1" noTextEdit="1"/>
          </p:cNvSpPr>
          <p:nvPr>
            <p:ph type="sldImg"/>
          </p:nvPr>
        </p:nvSpPr>
        <p:spPr>
          <a:ln/>
        </p:spPr>
      </p:sp>
      <p:sp>
        <p:nvSpPr>
          <p:cNvPr id="9219" name="备注占位符 2">
            <a:extLst>
              <a:ext uri="{FF2B5EF4-FFF2-40B4-BE49-F238E27FC236}">
                <a16:creationId xmlns:a16="http://schemas.microsoft.com/office/drawing/2014/main" id="{C7C586C2-E6B0-494B-B5E0-651E47DDA8D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9220" name="灯片编号占位符 3">
            <a:extLst>
              <a:ext uri="{FF2B5EF4-FFF2-40B4-BE49-F238E27FC236}">
                <a16:creationId xmlns:a16="http://schemas.microsoft.com/office/drawing/2014/main" id="{FB19F4B4-4898-4218-ADCF-0EA501823A9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4E023B9-AF30-4531-969C-C7693384776C}" type="slidenum">
              <a:rPr lang="en-US" altLang="zh-CN"/>
              <a:pPr>
                <a:spcBef>
                  <a:spcPct val="0"/>
                </a:spcBef>
              </a:pPr>
              <a:t>11</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a:extLst>
              <a:ext uri="{FF2B5EF4-FFF2-40B4-BE49-F238E27FC236}">
                <a16:creationId xmlns:a16="http://schemas.microsoft.com/office/drawing/2014/main" id="{37D74E00-F664-424E-9324-F822FC78CE9C}"/>
              </a:ext>
            </a:extLst>
          </p:cNvPr>
          <p:cNvSpPr>
            <a:spLocks noGrp="1" noRot="1" noChangeAspect="1" noTextEdit="1"/>
          </p:cNvSpPr>
          <p:nvPr>
            <p:ph type="sldImg"/>
          </p:nvPr>
        </p:nvSpPr>
        <p:spPr>
          <a:ln/>
        </p:spPr>
      </p:sp>
      <p:sp>
        <p:nvSpPr>
          <p:cNvPr id="11267" name="备注占位符 2">
            <a:extLst>
              <a:ext uri="{FF2B5EF4-FFF2-40B4-BE49-F238E27FC236}">
                <a16:creationId xmlns:a16="http://schemas.microsoft.com/office/drawing/2014/main" id="{146217A2-19C0-40FB-AE76-0C0A166F013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1268" name="灯片编号占位符 3">
            <a:extLst>
              <a:ext uri="{FF2B5EF4-FFF2-40B4-BE49-F238E27FC236}">
                <a16:creationId xmlns:a16="http://schemas.microsoft.com/office/drawing/2014/main" id="{1B386D51-80B7-48CA-BCFD-A8EB4F3155E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C9B369F-8DEC-4E5F-B185-76A5D68E0077}" type="slidenum">
              <a:rPr lang="en-US" altLang="zh-CN"/>
              <a:pPr>
                <a:spcBef>
                  <a:spcPct val="0"/>
                </a:spcBef>
              </a:pPr>
              <a:t>12</a:t>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a:extLst>
              <a:ext uri="{FF2B5EF4-FFF2-40B4-BE49-F238E27FC236}">
                <a16:creationId xmlns:a16="http://schemas.microsoft.com/office/drawing/2014/main" id="{3CB94C69-791E-4CBD-8CE8-A5F7FD49A8C2}"/>
              </a:ext>
            </a:extLst>
          </p:cNvPr>
          <p:cNvSpPr>
            <a:spLocks noGrp="1" noRot="1" noChangeAspect="1" noTextEdit="1"/>
          </p:cNvSpPr>
          <p:nvPr>
            <p:ph type="sldImg"/>
          </p:nvPr>
        </p:nvSpPr>
        <p:spPr>
          <a:ln/>
        </p:spPr>
      </p:sp>
      <p:sp>
        <p:nvSpPr>
          <p:cNvPr id="13315" name="备注占位符 2">
            <a:extLst>
              <a:ext uri="{FF2B5EF4-FFF2-40B4-BE49-F238E27FC236}">
                <a16:creationId xmlns:a16="http://schemas.microsoft.com/office/drawing/2014/main" id="{1AED54CE-D8B3-405E-99A7-84992252B65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3316" name="灯片编号占位符 3">
            <a:extLst>
              <a:ext uri="{FF2B5EF4-FFF2-40B4-BE49-F238E27FC236}">
                <a16:creationId xmlns:a16="http://schemas.microsoft.com/office/drawing/2014/main" id="{605F8E49-DBBA-46E1-A4E6-1A374D2AF89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54BB783-2790-4E38-A64A-50E5E91E39A9}" type="slidenum">
              <a:rPr lang="en-US" altLang="zh-CN"/>
              <a:pPr>
                <a:spcBef>
                  <a:spcPct val="0"/>
                </a:spcBef>
              </a:pPr>
              <a:t>13</a:t>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6D707323-4C03-4E05-9144-93340C6D2AC8}"/>
              </a:ext>
            </a:extLst>
          </p:cNvPr>
          <p:cNvSpPr>
            <a:spLocks noGrp="1" noRot="1" noChangeAspect="1" noTextEdit="1"/>
          </p:cNvSpPr>
          <p:nvPr>
            <p:ph type="sldImg"/>
          </p:nvPr>
        </p:nvSpPr>
        <p:spPr>
          <a:ln/>
        </p:spPr>
      </p:sp>
      <p:sp>
        <p:nvSpPr>
          <p:cNvPr id="15363" name="备注占位符 2">
            <a:extLst>
              <a:ext uri="{FF2B5EF4-FFF2-40B4-BE49-F238E27FC236}">
                <a16:creationId xmlns:a16="http://schemas.microsoft.com/office/drawing/2014/main" id="{5F06A22C-A65C-4C86-B388-A831A273FE8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5364" name="灯片编号占位符 3">
            <a:extLst>
              <a:ext uri="{FF2B5EF4-FFF2-40B4-BE49-F238E27FC236}">
                <a16:creationId xmlns:a16="http://schemas.microsoft.com/office/drawing/2014/main" id="{F0EF62EC-2935-42E7-BE3B-60FB67D243A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F0BB4DD-6CBA-4190-B7AC-86705FBAB951}" type="slidenum">
              <a:rPr lang="en-US" altLang="zh-CN"/>
              <a:pPr>
                <a:spcBef>
                  <a:spcPct val="0"/>
                </a:spcBef>
              </a:pPr>
              <a:t>14</a:t>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a:extLst>
              <a:ext uri="{FF2B5EF4-FFF2-40B4-BE49-F238E27FC236}">
                <a16:creationId xmlns:a16="http://schemas.microsoft.com/office/drawing/2014/main" id="{8884BCEE-6481-4568-AA2B-A32BB460DAF6}"/>
              </a:ext>
            </a:extLst>
          </p:cNvPr>
          <p:cNvSpPr>
            <a:spLocks noGrp="1" noRot="1" noChangeAspect="1" noTextEdit="1"/>
          </p:cNvSpPr>
          <p:nvPr>
            <p:ph type="sldImg"/>
          </p:nvPr>
        </p:nvSpPr>
        <p:spPr>
          <a:ln/>
        </p:spPr>
      </p:sp>
      <p:sp>
        <p:nvSpPr>
          <p:cNvPr id="17411" name="备注占位符 2">
            <a:extLst>
              <a:ext uri="{FF2B5EF4-FFF2-40B4-BE49-F238E27FC236}">
                <a16:creationId xmlns:a16="http://schemas.microsoft.com/office/drawing/2014/main" id="{1AD3164F-3582-4B54-8506-6609CDBC043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7412" name="灯片编号占位符 3">
            <a:extLst>
              <a:ext uri="{FF2B5EF4-FFF2-40B4-BE49-F238E27FC236}">
                <a16:creationId xmlns:a16="http://schemas.microsoft.com/office/drawing/2014/main" id="{C195F5FB-3278-4B32-850A-0DD97666118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6B98E42-3FCA-4F8F-8776-2B94CB1EA8F9}" type="slidenum">
              <a:rPr lang="en-US" altLang="zh-CN"/>
              <a:pPr>
                <a:spcBef>
                  <a:spcPct val="0"/>
                </a:spcBef>
              </a:pPr>
              <a:t>15</a:t>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a:extLst>
              <a:ext uri="{FF2B5EF4-FFF2-40B4-BE49-F238E27FC236}">
                <a16:creationId xmlns:a16="http://schemas.microsoft.com/office/drawing/2014/main" id="{1192A176-74F5-41E8-ABE2-DEF8DF03CFE8}"/>
              </a:ext>
            </a:extLst>
          </p:cNvPr>
          <p:cNvSpPr>
            <a:spLocks noGrp="1" noRot="1" noChangeAspect="1" noTextEdit="1"/>
          </p:cNvSpPr>
          <p:nvPr>
            <p:ph type="sldImg"/>
          </p:nvPr>
        </p:nvSpPr>
        <p:spPr>
          <a:ln/>
        </p:spPr>
      </p:sp>
      <p:sp>
        <p:nvSpPr>
          <p:cNvPr id="7171" name="备注占位符 2">
            <a:extLst>
              <a:ext uri="{FF2B5EF4-FFF2-40B4-BE49-F238E27FC236}">
                <a16:creationId xmlns:a16="http://schemas.microsoft.com/office/drawing/2014/main" id="{232C6547-07B2-44A8-8D68-ABE8A390E05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7172" name="灯片编号占位符 3">
            <a:extLst>
              <a:ext uri="{FF2B5EF4-FFF2-40B4-BE49-F238E27FC236}">
                <a16:creationId xmlns:a16="http://schemas.microsoft.com/office/drawing/2014/main" id="{D520166E-5745-4E63-8DFB-588E3203777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2438FCC-37EC-49E6-ADA9-44013EA7A038}" type="slidenum">
              <a:rPr lang="en-US" altLang="zh-CN"/>
              <a:pPr>
                <a:spcBef>
                  <a:spcPct val="0"/>
                </a:spcBef>
              </a:pPr>
              <a:t>16</a:t>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a:extLst>
              <a:ext uri="{FF2B5EF4-FFF2-40B4-BE49-F238E27FC236}">
                <a16:creationId xmlns:a16="http://schemas.microsoft.com/office/drawing/2014/main" id="{A8EB44F3-9BA5-4231-BE63-2DB367BD7C3D}"/>
              </a:ext>
            </a:extLst>
          </p:cNvPr>
          <p:cNvSpPr>
            <a:spLocks noGrp="1" noRot="1" noChangeAspect="1" noTextEdit="1"/>
          </p:cNvSpPr>
          <p:nvPr>
            <p:ph type="sldImg"/>
          </p:nvPr>
        </p:nvSpPr>
        <p:spPr>
          <a:ln/>
        </p:spPr>
      </p:sp>
      <p:sp>
        <p:nvSpPr>
          <p:cNvPr id="9219" name="备注占位符 2">
            <a:extLst>
              <a:ext uri="{FF2B5EF4-FFF2-40B4-BE49-F238E27FC236}">
                <a16:creationId xmlns:a16="http://schemas.microsoft.com/office/drawing/2014/main" id="{B64464EC-1C84-4338-965A-D34779B9E92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9220" name="灯片编号占位符 3">
            <a:extLst>
              <a:ext uri="{FF2B5EF4-FFF2-40B4-BE49-F238E27FC236}">
                <a16:creationId xmlns:a16="http://schemas.microsoft.com/office/drawing/2014/main" id="{5A84471E-2B8F-44A2-A99F-6F3C1577D14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8C1E247-0C96-46D2-8B8B-430B407CD737}" type="slidenum">
              <a:rPr lang="en-US" altLang="zh-CN"/>
              <a:pPr>
                <a:spcBef>
                  <a:spcPct val="0"/>
                </a:spcBef>
              </a:pPr>
              <a:t>17</a:t>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a:extLst>
              <a:ext uri="{FF2B5EF4-FFF2-40B4-BE49-F238E27FC236}">
                <a16:creationId xmlns:a16="http://schemas.microsoft.com/office/drawing/2014/main" id="{6372581F-CBDE-482A-AB22-84E871D1E99A}"/>
              </a:ext>
            </a:extLst>
          </p:cNvPr>
          <p:cNvSpPr>
            <a:spLocks noGrp="1" noRot="1" noChangeAspect="1" noTextEdit="1"/>
          </p:cNvSpPr>
          <p:nvPr>
            <p:ph type="sldImg"/>
          </p:nvPr>
        </p:nvSpPr>
        <p:spPr>
          <a:ln/>
        </p:spPr>
      </p:sp>
      <p:sp>
        <p:nvSpPr>
          <p:cNvPr id="11267" name="备注占位符 2">
            <a:extLst>
              <a:ext uri="{FF2B5EF4-FFF2-40B4-BE49-F238E27FC236}">
                <a16:creationId xmlns:a16="http://schemas.microsoft.com/office/drawing/2014/main" id="{69B5DBCC-90AF-4949-A2A9-C1EB36464EA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1268" name="灯片编号占位符 3">
            <a:extLst>
              <a:ext uri="{FF2B5EF4-FFF2-40B4-BE49-F238E27FC236}">
                <a16:creationId xmlns:a16="http://schemas.microsoft.com/office/drawing/2014/main" id="{81BE5D4C-D0DA-4228-843D-8C16953EE5D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3DBF6B3-F17F-42DB-A6A7-4F794BEF3FED}" type="slidenum">
              <a:rPr lang="en-US" altLang="zh-CN"/>
              <a:pPr>
                <a:spcBef>
                  <a:spcPct val="0"/>
                </a:spcBef>
              </a:pPr>
              <a:t>18</a:t>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a:extLst>
              <a:ext uri="{FF2B5EF4-FFF2-40B4-BE49-F238E27FC236}">
                <a16:creationId xmlns:a16="http://schemas.microsoft.com/office/drawing/2014/main" id="{1A6B89E1-5371-4C24-8D00-B804B0810432}"/>
              </a:ext>
            </a:extLst>
          </p:cNvPr>
          <p:cNvSpPr>
            <a:spLocks noGrp="1" noRot="1" noChangeAspect="1" noTextEdit="1"/>
          </p:cNvSpPr>
          <p:nvPr>
            <p:ph type="sldImg"/>
          </p:nvPr>
        </p:nvSpPr>
        <p:spPr>
          <a:ln/>
        </p:spPr>
      </p:sp>
      <p:sp>
        <p:nvSpPr>
          <p:cNvPr id="13315" name="备注占位符 2">
            <a:extLst>
              <a:ext uri="{FF2B5EF4-FFF2-40B4-BE49-F238E27FC236}">
                <a16:creationId xmlns:a16="http://schemas.microsoft.com/office/drawing/2014/main" id="{3663C455-43DD-48B1-85E2-44CF077A538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3316" name="灯片编号占位符 3">
            <a:extLst>
              <a:ext uri="{FF2B5EF4-FFF2-40B4-BE49-F238E27FC236}">
                <a16:creationId xmlns:a16="http://schemas.microsoft.com/office/drawing/2014/main" id="{E76D3045-2B6D-42EB-AE68-A42D1E1113B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85C8D01-3B45-4DE1-990D-68F03D8CDD89}" type="slidenum">
              <a:rPr lang="en-US" altLang="zh-CN"/>
              <a:pPr>
                <a:spcBef>
                  <a:spcPct val="0"/>
                </a:spcBef>
              </a:pPr>
              <a:t>19</a:t>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653F659F-DBAE-4F5C-B34B-B7BA40590A6D}"/>
              </a:ext>
            </a:extLst>
          </p:cNvPr>
          <p:cNvSpPr>
            <a:spLocks noGrp="1" noRot="1" noChangeAspect="1" noTextEdit="1"/>
          </p:cNvSpPr>
          <p:nvPr>
            <p:ph type="sldImg"/>
          </p:nvPr>
        </p:nvSpPr>
        <p:spPr>
          <a:ln/>
        </p:spPr>
      </p:sp>
      <p:sp>
        <p:nvSpPr>
          <p:cNvPr id="15363" name="备注占位符 2">
            <a:extLst>
              <a:ext uri="{FF2B5EF4-FFF2-40B4-BE49-F238E27FC236}">
                <a16:creationId xmlns:a16="http://schemas.microsoft.com/office/drawing/2014/main" id="{CAF24CD2-A0CD-4F8F-BE1B-3FE544A0872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5364" name="灯片编号占位符 3">
            <a:extLst>
              <a:ext uri="{FF2B5EF4-FFF2-40B4-BE49-F238E27FC236}">
                <a16:creationId xmlns:a16="http://schemas.microsoft.com/office/drawing/2014/main" id="{F64E5C63-7DB9-458D-B048-532192AEE54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1F42EE2-27F7-4FCE-8963-2685DC2F8C96}" type="slidenum">
              <a:rPr lang="en-US" altLang="zh-CN"/>
              <a:pPr>
                <a:spcBef>
                  <a:spcPct val="0"/>
                </a:spcBef>
              </a:pPr>
              <a:t>20</a:t>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a:extLst>
              <a:ext uri="{FF2B5EF4-FFF2-40B4-BE49-F238E27FC236}">
                <a16:creationId xmlns:a16="http://schemas.microsoft.com/office/drawing/2014/main" id="{7D9ACD67-AD1A-49F9-AF4E-C7B19BC21DC5}"/>
              </a:ext>
            </a:extLst>
          </p:cNvPr>
          <p:cNvSpPr>
            <a:spLocks noGrp="1" noRot="1" noChangeAspect="1" noTextEdit="1"/>
          </p:cNvSpPr>
          <p:nvPr>
            <p:ph type="sldImg"/>
          </p:nvPr>
        </p:nvSpPr>
        <p:spPr>
          <a:ln/>
        </p:spPr>
      </p:sp>
      <p:sp>
        <p:nvSpPr>
          <p:cNvPr id="17411" name="备注占位符 2">
            <a:extLst>
              <a:ext uri="{FF2B5EF4-FFF2-40B4-BE49-F238E27FC236}">
                <a16:creationId xmlns:a16="http://schemas.microsoft.com/office/drawing/2014/main" id="{AA6E8249-E05E-45AD-9F0C-89E16BF97B0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7412" name="灯片编号占位符 3">
            <a:extLst>
              <a:ext uri="{FF2B5EF4-FFF2-40B4-BE49-F238E27FC236}">
                <a16:creationId xmlns:a16="http://schemas.microsoft.com/office/drawing/2014/main" id="{4079319C-EACB-4CB3-842E-6E463B179EB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104CBB7-F804-4E9D-B585-A6AA9BF35905}" type="slidenum">
              <a:rPr lang="en-US" altLang="zh-CN"/>
              <a:pPr>
                <a:spcBef>
                  <a:spcPct val="0"/>
                </a:spcBef>
              </a:pPr>
              <a:t>21</a:t>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a:extLst>
              <a:ext uri="{FF2B5EF4-FFF2-40B4-BE49-F238E27FC236}">
                <a16:creationId xmlns:a16="http://schemas.microsoft.com/office/drawing/2014/main" id="{930D66ED-7078-4E70-9EA9-EB1851330F4C}"/>
              </a:ext>
            </a:extLst>
          </p:cNvPr>
          <p:cNvSpPr>
            <a:spLocks noGrp="1" noRot="1" noChangeAspect="1" noTextEdit="1"/>
          </p:cNvSpPr>
          <p:nvPr>
            <p:ph type="sldImg"/>
          </p:nvPr>
        </p:nvSpPr>
        <p:spPr>
          <a:ln/>
        </p:spPr>
      </p:sp>
      <p:sp>
        <p:nvSpPr>
          <p:cNvPr id="7171" name="备注占位符 2">
            <a:extLst>
              <a:ext uri="{FF2B5EF4-FFF2-40B4-BE49-F238E27FC236}">
                <a16:creationId xmlns:a16="http://schemas.microsoft.com/office/drawing/2014/main" id="{F6E006E0-D590-4B8E-918F-FC91BB9873F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7172" name="灯片编号占位符 3">
            <a:extLst>
              <a:ext uri="{FF2B5EF4-FFF2-40B4-BE49-F238E27FC236}">
                <a16:creationId xmlns:a16="http://schemas.microsoft.com/office/drawing/2014/main" id="{589056D6-12E5-4567-ACD6-8CD80290327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0F0A9AA-F989-42AE-80D2-8A77FAD16039}" type="slidenum">
              <a:rPr lang="en-US" altLang="zh-CN"/>
              <a:pPr>
                <a:spcBef>
                  <a:spcPct val="0"/>
                </a:spcBef>
              </a:pPr>
              <a:t>22</a:t>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a:extLst>
              <a:ext uri="{FF2B5EF4-FFF2-40B4-BE49-F238E27FC236}">
                <a16:creationId xmlns:a16="http://schemas.microsoft.com/office/drawing/2014/main" id="{0BB6F42B-5C21-4E30-93AA-7D78FDEF9DB6}"/>
              </a:ext>
            </a:extLst>
          </p:cNvPr>
          <p:cNvSpPr>
            <a:spLocks noGrp="1" noRot="1" noChangeAspect="1" noTextEdit="1"/>
          </p:cNvSpPr>
          <p:nvPr>
            <p:ph type="sldImg"/>
          </p:nvPr>
        </p:nvSpPr>
        <p:spPr>
          <a:ln/>
        </p:spPr>
      </p:sp>
      <p:sp>
        <p:nvSpPr>
          <p:cNvPr id="10243" name="备注占位符 2">
            <a:extLst>
              <a:ext uri="{FF2B5EF4-FFF2-40B4-BE49-F238E27FC236}">
                <a16:creationId xmlns:a16="http://schemas.microsoft.com/office/drawing/2014/main" id="{91E833C5-EF06-498D-A095-3DAEFD08F6C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0244" name="灯片编号占位符 3">
            <a:extLst>
              <a:ext uri="{FF2B5EF4-FFF2-40B4-BE49-F238E27FC236}">
                <a16:creationId xmlns:a16="http://schemas.microsoft.com/office/drawing/2014/main" id="{A0B797B0-8430-41D9-8AED-AE234059D20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0F17E16-0ABC-478A-8765-3613282E913F}" type="slidenum">
              <a:rPr lang="en-US" altLang="zh-CN"/>
              <a:pPr>
                <a:spcBef>
                  <a:spcPct val="0"/>
                </a:spcBef>
              </a:pPr>
              <a:t>24</a:t>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a:extLst>
              <a:ext uri="{FF2B5EF4-FFF2-40B4-BE49-F238E27FC236}">
                <a16:creationId xmlns:a16="http://schemas.microsoft.com/office/drawing/2014/main" id="{EF2367D5-DB0C-4413-B9AB-9563F694EED1}"/>
              </a:ext>
            </a:extLst>
          </p:cNvPr>
          <p:cNvSpPr>
            <a:spLocks noGrp="1" noRot="1" noChangeAspect="1" noTextEdit="1"/>
          </p:cNvSpPr>
          <p:nvPr>
            <p:ph type="sldImg"/>
          </p:nvPr>
        </p:nvSpPr>
        <p:spPr>
          <a:ln/>
        </p:spPr>
      </p:sp>
      <p:sp>
        <p:nvSpPr>
          <p:cNvPr id="12291" name="备注占位符 2">
            <a:extLst>
              <a:ext uri="{FF2B5EF4-FFF2-40B4-BE49-F238E27FC236}">
                <a16:creationId xmlns:a16="http://schemas.microsoft.com/office/drawing/2014/main" id="{90C666D7-0BAE-40FF-B4E8-D684CCE1853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2292" name="灯片编号占位符 3">
            <a:extLst>
              <a:ext uri="{FF2B5EF4-FFF2-40B4-BE49-F238E27FC236}">
                <a16:creationId xmlns:a16="http://schemas.microsoft.com/office/drawing/2014/main" id="{91690857-57AC-4562-A446-5C0FB324F67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A63617D-97F5-489B-AC53-F6FD875BDDD7}" type="slidenum">
              <a:rPr lang="en-US" altLang="zh-CN"/>
              <a:pPr>
                <a:spcBef>
                  <a:spcPct val="0"/>
                </a:spcBef>
              </a:pPr>
              <a:t>25</a:t>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a:extLst>
              <a:ext uri="{FF2B5EF4-FFF2-40B4-BE49-F238E27FC236}">
                <a16:creationId xmlns:a16="http://schemas.microsoft.com/office/drawing/2014/main" id="{2C1A3F1D-8A2A-4D6F-9A8E-0AF6A7E5A8DF}"/>
              </a:ext>
            </a:extLst>
          </p:cNvPr>
          <p:cNvSpPr>
            <a:spLocks noGrp="1" noRot="1" noChangeAspect="1" noTextEdit="1"/>
          </p:cNvSpPr>
          <p:nvPr>
            <p:ph type="sldImg"/>
          </p:nvPr>
        </p:nvSpPr>
        <p:spPr>
          <a:ln/>
        </p:spPr>
      </p:sp>
      <p:sp>
        <p:nvSpPr>
          <p:cNvPr id="14339" name="备注占位符 2">
            <a:extLst>
              <a:ext uri="{FF2B5EF4-FFF2-40B4-BE49-F238E27FC236}">
                <a16:creationId xmlns:a16="http://schemas.microsoft.com/office/drawing/2014/main" id="{3C59D4D6-529C-4C6A-852D-FF685CDE5E8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4340" name="灯片编号占位符 3">
            <a:extLst>
              <a:ext uri="{FF2B5EF4-FFF2-40B4-BE49-F238E27FC236}">
                <a16:creationId xmlns:a16="http://schemas.microsoft.com/office/drawing/2014/main" id="{B8367009-884E-4604-A532-58EE4424830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C272680-B40A-44D8-920E-DF65FCE670F1}" type="slidenum">
              <a:rPr lang="en-US" altLang="zh-CN"/>
              <a:pPr>
                <a:spcBef>
                  <a:spcPct val="0"/>
                </a:spcBef>
              </a:pPr>
              <a:t>26</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175"/>
            <a:ext cx="9144000" cy="537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16"/>
          <p:cNvSpPr txBox="1">
            <a:spLocks noChangeArrowheads="1"/>
          </p:cNvSpPr>
          <p:nvPr/>
        </p:nvSpPr>
        <p:spPr bwMode="gray">
          <a:xfrm>
            <a:off x="0" y="5300663"/>
            <a:ext cx="9144000" cy="144462"/>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endParaRPr lang="zh-CN" altLang="zh-CN" sz="1000" b="1">
              <a:solidFill>
                <a:schemeClr val="bg1"/>
              </a:solidFill>
              <a:latin typeface="Verdana" pitchFamily="34" charset="0"/>
            </a:endParaRPr>
          </a:p>
        </p:txBody>
      </p:sp>
      <p:pic>
        <p:nvPicPr>
          <p:cNvPr id="6" name="图片 5"/>
          <p:cNvPicPr>
            <a:picLocks noChangeAspect="1"/>
          </p:cNvPicPr>
          <p:nvPr/>
        </p:nvPicPr>
        <p:blipFill>
          <a:blip r:embed="rId3"/>
          <a:stretch>
            <a:fillRect/>
          </a:stretch>
        </p:blipFill>
        <p:spPr>
          <a:xfrm>
            <a:off x="300038" y="188913"/>
            <a:ext cx="3163887" cy="722312"/>
          </a:xfrm>
          <a:prstGeom prst="rect">
            <a:avLst/>
          </a:prstGeom>
          <a:effectLst>
            <a:outerShdw blurRad="50800" dist="38100" dir="2700000" algn="tl" rotWithShape="0">
              <a:prstClr val="black">
                <a:alpha val="40000"/>
              </a:prstClr>
            </a:outerShdw>
          </a:effectLst>
        </p:spPr>
      </p:pic>
      <p:sp>
        <p:nvSpPr>
          <p:cNvPr id="3075" name="Rectangle 3"/>
          <p:cNvSpPr>
            <a:spLocks noGrp="1" noChangeArrowheads="1"/>
          </p:cNvSpPr>
          <p:nvPr>
            <p:ph type="subTitle" idx="1"/>
          </p:nvPr>
        </p:nvSpPr>
        <p:spPr bwMode="gray">
          <a:xfrm>
            <a:off x="1403648" y="5589240"/>
            <a:ext cx="6553200" cy="1268760"/>
          </a:xfrm>
        </p:spPr>
        <p:txBody>
          <a:bodyPr/>
          <a:lstStyle>
            <a:lvl1pPr marL="0" indent="0" algn="ctr">
              <a:buFont typeface="Wingdings" pitchFamily="2" charset="2"/>
              <a:buNone/>
              <a:defRPr sz="2400" b="1">
                <a:solidFill>
                  <a:schemeClr val="tx2"/>
                </a:solidFill>
                <a:latin typeface="Verdana" pitchFamily="34" charset="0"/>
              </a:defRPr>
            </a:lvl1pPr>
          </a:lstStyle>
          <a:p>
            <a:pPr lvl="0"/>
            <a:r>
              <a:rPr lang="zh-CN" altLang="en-US" noProof="0"/>
              <a:t>单击此处编辑母版副标题样式</a:t>
            </a:r>
            <a:endParaRPr lang="en-US" altLang="zh-CN" noProof="0" dirty="0"/>
          </a:p>
        </p:txBody>
      </p:sp>
      <p:sp>
        <p:nvSpPr>
          <p:cNvPr id="3093" name="Rectangle 21"/>
          <p:cNvSpPr>
            <a:spLocks noGrp="1" noChangeArrowheads="1"/>
          </p:cNvSpPr>
          <p:nvPr>
            <p:ph type="ctrTitle" sz="quarter"/>
          </p:nvPr>
        </p:nvSpPr>
        <p:spPr bwMode="gray">
          <a:xfrm>
            <a:off x="0" y="4077072"/>
            <a:ext cx="9144000" cy="1224137"/>
          </a:xfrm>
          <a:gradFill>
            <a:gsLst>
              <a:gs pos="0">
                <a:srgbClr val="00607A"/>
              </a:gs>
              <a:gs pos="100000">
                <a:srgbClr val="00607A"/>
              </a:gs>
            </a:gsLst>
            <a:lin ang="0" scaled="1"/>
          </a:gradFill>
          <a:effectLst/>
        </p:spPr>
        <p:txBody>
          <a:bodyPr/>
          <a:lstStyle>
            <a:lvl1pPr>
              <a:defRPr sz="4000"/>
            </a:lvl1pPr>
          </a:lstStyle>
          <a:p>
            <a:pPr lvl="0"/>
            <a:r>
              <a:rPr lang="zh-CN" altLang="en-US" noProof="0"/>
              <a:t>单击此处编辑母版标题样式</a:t>
            </a:r>
            <a:endParaRPr lang="en-US" altLang="ko-KR" noProof="0" dirty="0"/>
          </a:p>
        </p:txBody>
      </p:sp>
    </p:spTree>
    <p:extLst>
      <p:ext uri="{BB962C8B-B14F-4D97-AF65-F5344CB8AC3E}">
        <p14:creationId xmlns:p14="http://schemas.microsoft.com/office/powerpoint/2010/main" val="3068470826"/>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nchor="ctr"/>
          <a:lstStyle>
            <a:lvl1pPr algn="l">
              <a:defRPr>
                <a:solidFill>
                  <a:srgbClr val="00708E"/>
                </a:solidFill>
              </a:defRPr>
            </a:lvl1pPr>
            <a:lvl2pPr algn="l">
              <a:buClr>
                <a:srgbClr val="00607A"/>
              </a:buClr>
              <a:defRPr>
                <a:solidFill>
                  <a:srgbClr val="00708E"/>
                </a:solidFill>
                <a:latin typeface="+mn-ea"/>
                <a:ea typeface="+mn-ea"/>
              </a:defRPr>
            </a:lvl2pPr>
            <a:lvl3pPr algn="l">
              <a:buClr>
                <a:srgbClr val="00607A"/>
              </a:buClr>
              <a:defRPr>
                <a:solidFill>
                  <a:srgbClr val="00708E"/>
                </a:solidFill>
                <a:latin typeface="+mn-ea"/>
                <a:ea typeface="+mn-ea"/>
              </a:defRPr>
            </a:lvl3pPr>
            <a:lvl4pPr algn="l">
              <a:defRPr>
                <a:solidFill>
                  <a:srgbClr val="00708E"/>
                </a:solidFill>
                <a:latin typeface="+mn-ea"/>
                <a:ea typeface="+mn-ea"/>
              </a:defRPr>
            </a:lvl4pPr>
            <a:lvl5pPr algn="l">
              <a:defRPr>
                <a:solidFill>
                  <a:srgbClr val="00708E"/>
                </a:solidFill>
                <a:latin typeface="+mn-ea"/>
                <a:ea typeface="+mn-ea"/>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C2FAFEC3-FCF9-4793-BD53-13ACF2C4D1E4}" type="slidenum">
              <a:rPr lang="en-US" altLang="zh-CN"/>
              <a:pPr>
                <a:defRPr/>
              </a:pPr>
              <a:t>‹#›</a:t>
            </a:fld>
            <a:endParaRPr lang="en-US" altLang="zh-CN" dirty="0"/>
          </a:p>
        </p:txBody>
      </p:sp>
    </p:spTree>
    <p:extLst>
      <p:ext uri="{BB962C8B-B14F-4D97-AF65-F5344CB8AC3E}">
        <p14:creationId xmlns:p14="http://schemas.microsoft.com/office/powerpoint/2010/main" val="3347872940"/>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p:cNvSpPr>
            <a:spLocks noGrp="1" noChangeArrowheads="1"/>
          </p:cNvSpPr>
          <p:nvPr>
            <p:ph type="sldNum" sz="quarter" idx="10"/>
          </p:nvPr>
        </p:nvSpPr>
        <p:spPr>
          <a:ln/>
        </p:spPr>
        <p:txBody>
          <a:bodyPr/>
          <a:lstStyle>
            <a:lvl1pPr>
              <a:defRPr/>
            </a:lvl1pPr>
          </a:lstStyle>
          <a:p>
            <a:pPr>
              <a:defRPr/>
            </a:pPr>
            <a:fld id="{11874B12-3BD3-4C39-BF0E-BF8A9539BB9C}" type="slidenum">
              <a:rPr lang="en-US" altLang="zh-CN"/>
              <a:pPr>
                <a:defRPr/>
              </a:pPr>
              <a:t>‹#›</a:t>
            </a:fld>
            <a:endParaRPr lang="en-US" altLang="zh-CN"/>
          </a:p>
        </p:txBody>
      </p:sp>
    </p:spTree>
    <p:extLst>
      <p:ext uri="{BB962C8B-B14F-4D97-AF65-F5344CB8AC3E}">
        <p14:creationId xmlns:p14="http://schemas.microsoft.com/office/powerpoint/2010/main" val="2200810539"/>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525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D4FD21B5-0BC5-4C4A-925A-9CA4DDE9DFCF}" type="slidenum">
              <a:rPr lang="en-US" altLang="zh-CN"/>
              <a:pPr>
                <a:defRPr/>
              </a:pPr>
              <a:t>‹#›</a:t>
            </a:fld>
            <a:endParaRPr lang="en-US" altLang="zh-CN"/>
          </a:p>
        </p:txBody>
      </p:sp>
    </p:spTree>
    <p:extLst>
      <p:ext uri="{BB962C8B-B14F-4D97-AF65-F5344CB8AC3E}">
        <p14:creationId xmlns:p14="http://schemas.microsoft.com/office/powerpoint/2010/main" val="1528856604"/>
      </p:ext>
    </p:extLst>
  </p:cSld>
  <p:clrMapOvr>
    <a:masterClrMapping/>
  </p:clrMapOvr>
  <p:transition/>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p:cNvSpPr>
            <a:spLocks noGrp="1" noChangeArrowheads="1"/>
          </p:cNvSpPr>
          <p:nvPr>
            <p:ph type="sldNum" sz="quarter" idx="10"/>
          </p:nvPr>
        </p:nvSpPr>
        <p:spPr>
          <a:ln/>
        </p:spPr>
        <p:txBody>
          <a:bodyPr/>
          <a:lstStyle>
            <a:lvl1pPr>
              <a:defRPr/>
            </a:lvl1pPr>
          </a:lstStyle>
          <a:p>
            <a:pPr>
              <a:defRPr/>
            </a:pPr>
            <a:fld id="{9D738D31-8EED-425A-B617-D3D8B1C55F32}" type="slidenum">
              <a:rPr lang="en-US" altLang="zh-CN"/>
              <a:pPr>
                <a:defRPr/>
              </a:pPr>
              <a:t>‹#›</a:t>
            </a:fld>
            <a:endParaRPr lang="en-US" altLang="zh-CN"/>
          </a:p>
        </p:txBody>
      </p:sp>
    </p:spTree>
    <p:extLst>
      <p:ext uri="{BB962C8B-B14F-4D97-AF65-F5344CB8AC3E}">
        <p14:creationId xmlns:p14="http://schemas.microsoft.com/office/powerpoint/2010/main" val="3311681630"/>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p:cNvSpPr>
            <a:spLocks noGrp="1" noChangeArrowheads="1"/>
          </p:cNvSpPr>
          <p:nvPr>
            <p:ph type="sldNum" sz="quarter" idx="10"/>
          </p:nvPr>
        </p:nvSpPr>
        <p:spPr>
          <a:ln/>
        </p:spPr>
        <p:txBody>
          <a:bodyPr/>
          <a:lstStyle>
            <a:lvl1pPr>
              <a:defRPr/>
            </a:lvl1pPr>
          </a:lstStyle>
          <a:p>
            <a:pPr>
              <a:defRPr/>
            </a:pPr>
            <a:fld id="{3C5CA553-975E-450D-81D4-CB823086BDE2}" type="slidenum">
              <a:rPr lang="en-US" altLang="zh-CN"/>
              <a:pPr>
                <a:defRPr/>
              </a:pPr>
              <a:t>‹#›</a:t>
            </a:fld>
            <a:endParaRPr lang="en-US" altLang="zh-CN" dirty="0"/>
          </a:p>
        </p:txBody>
      </p:sp>
    </p:spTree>
    <p:extLst>
      <p:ext uri="{BB962C8B-B14F-4D97-AF65-F5344CB8AC3E}">
        <p14:creationId xmlns:p14="http://schemas.microsoft.com/office/powerpoint/2010/main" val="3204809273"/>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D21DDC60-5961-4053-83B8-C0116183DEFD}" type="slidenum">
              <a:rPr lang="en-US" altLang="zh-CN"/>
              <a:pPr>
                <a:defRPr/>
              </a:pPr>
              <a:t>‹#›</a:t>
            </a:fld>
            <a:endParaRPr lang="en-US" altLang="zh-CN"/>
          </a:p>
        </p:txBody>
      </p:sp>
    </p:spTree>
    <p:extLst>
      <p:ext uri="{BB962C8B-B14F-4D97-AF65-F5344CB8AC3E}">
        <p14:creationId xmlns:p14="http://schemas.microsoft.com/office/powerpoint/2010/main" val="289660747"/>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71C95EA6-4527-48FB-83CD-F4BD91AE8F02}" type="slidenum">
              <a:rPr lang="en-US" altLang="zh-CN"/>
              <a:pPr>
                <a:defRPr/>
              </a:pPr>
              <a:t>‹#›</a:t>
            </a:fld>
            <a:endParaRPr lang="en-US" altLang="zh-CN"/>
          </a:p>
        </p:txBody>
      </p:sp>
    </p:spTree>
    <p:extLst>
      <p:ext uri="{BB962C8B-B14F-4D97-AF65-F5344CB8AC3E}">
        <p14:creationId xmlns:p14="http://schemas.microsoft.com/office/powerpoint/2010/main" val="395229652"/>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nvPr>
        </p:nvSpPr>
        <p:spPr>
          <a:xfrm>
            <a:off x="1828800" y="1844824"/>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5" name="Rectangle 6"/>
          <p:cNvSpPr>
            <a:spLocks noGrp="1" noChangeArrowheads="1"/>
          </p:cNvSpPr>
          <p:nvPr>
            <p:ph type="sldNum" sz="quarter" idx="10"/>
          </p:nvPr>
        </p:nvSpPr>
        <p:spPr>
          <a:ln/>
        </p:spPr>
        <p:txBody>
          <a:bodyPr/>
          <a:lstStyle>
            <a:lvl1pPr>
              <a:defRPr/>
            </a:lvl1pPr>
          </a:lstStyle>
          <a:p>
            <a:pPr>
              <a:defRPr/>
            </a:pPr>
            <a:fld id="{3610D5DC-5696-4A07-8349-2A517564EAB6}" type="slidenum">
              <a:rPr lang="en-US" altLang="zh-CN"/>
              <a:pPr>
                <a:defRPr/>
              </a:pPr>
              <a:t>‹#›</a:t>
            </a:fld>
            <a:endParaRPr lang="en-US" altLang="zh-CN"/>
          </a:p>
        </p:txBody>
      </p:sp>
    </p:spTree>
    <p:extLst>
      <p:ext uri="{BB962C8B-B14F-4D97-AF65-F5344CB8AC3E}">
        <p14:creationId xmlns:p14="http://schemas.microsoft.com/office/powerpoint/2010/main" val="352634645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1E5E8FD3-EDE5-4EC3-94E3-1C754301C081}" type="slidenum">
              <a:rPr lang="en-US" altLang="zh-CN"/>
              <a:pPr>
                <a:defRPr/>
              </a:pPr>
              <a:t>‹#›</a:t>
            </a:fld>
            <a:endParaRPr lang="en-US" altLang="zh-CN"/>
          </a:p>
        </p:txBody>
      </p:sp>
    </p:spTree>
    <p:extLst>
      <p:ext uri="{BB962C8B-B14F-4D97-AF65-F5344CB8AC3E}">
        <p14:creationId xmlns:p14="http://schemas.microsoft.com/office/powerpoint/2010/main" val="94681366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8450" y="152400"/>
            <a:ext cx="211455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4800" y="152400"/>
            <a:ext cx="619125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A4C1ECC8-739C-4170-B0ED-4174C943E5E6}" type="slidenum">
              <a:rPr lang="en-US" altLang="zh-CN"/>
              <a:pPr>
                <a:defRPr/>
              </a:pPr>
              <a:t>‹#›</a:t>
            </a:fld>
            <a:endParaRPr lang="en-US" altLang="zh-CN"/>
          </a:p>
        </p:txBody>
      </p:sp>
    </p:spTree>
    <p:extLst>
      <p:ext uri="{BB962C8B-B14F-4D97-AF65-F5344CB8AC3E}">
        <p14:creationId xmlns:p14="http://schemas.microsoft.com/office/powerpoint/2010/main" val="3681523862"/>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4800" y="152400"/>
            <a:ext cx="8458200" cy="563563"/>
          </a:xfrm>
        </p:spPr>
        <p:txBody>
          <a:bodyPr/>
          <a:lstStyle/>
          <a:p>
            <a:r>
              <a:rPr lang="zh-CN" altLang="en-US"/>
              <a:t>单击此处编辑母版标题样式</a:t>
            </a:r>
          </a:p>
        </p:txBody>
      </p:sp>
      <p:sp>
        <p:nvSpPr>
          <p:cNvPr id="3" name="表格占位符 2"/>
          <p:cNvSpPr>
            <a:spLocks noGrp="1"/>
          </p:cNvSpPr>
          <p:nvPr>
            <p:ph type="tbl" idx="1"/>
          </p:nvPr>
        </p:nvSpPr>
        <p:spPr>
          <a:xfrm>
            <a:off x="457200" y="1152525"/>
            <a:ext cx="8229600" cy="5248275"/>
          </a:xfrm>
        </p:spPr>
        <p:txBody>
          <a:bodyPr/>
          <a:lstStyle/>
          <a:p>
            <a:pPr lvl="0"/>
            <a:r>
              <a:rPr lang="zh-CN" altLang="en-US" noProof="0"/>
              <a:t>单击图标添加表格</a:t>
            </a:r>
          </a:p>
        </p:txBody>
      </p:sp>
      <p:sp>
        <p:nvSpPr>
          <p:cNvPr id="4" name="Rectangle 6"/>
          <p:cNvSpPr>
            <a:spLocks noGrp="1" noChangeArrowheads="1"/>
          </p:cNvSpPr>
          <p:nvPr>
            <p:ph type="sldNum" sz="quarter" idx="10"/>
          </p:nvPr>
        </p:nvSpPr>
        <p:spPr>
          <a:ln/>
        </p:spPr>
        <p:txBody>
          <a:bodyPr/>
          <a:lstStyle>
            <a:lvl1pPr>
              <a:defRPr/>
            </a:lvl1pPr>
          </a:lstStyle>
          <a:p>
            <a:pPr>
              <a:defRPr/>
            </a:pPr>
            <a:fld id="{EC4490AA-E879-42CB-B964-307DC817647D}" type="slidenum">
              <a:rPr lang="en-US" altLang="zh-CN"/>
              <a:pPr>
                <a:defRPr/>
              </a:pPr>
              <a:t>‹#›</a:t>
            </a:fld>
            <a:endParaRPr lang="en-US" altLang="zh-CN"/>
          </a:p>
        </p:txBody>
      </p:sp>
    </p:spTree>
    <p:extLst>
      <p:ext uri="{BB962C8B-B14F-4D97-AF65-F5344CB8AC3E}">
        <p14:creationId xmlns:p14="http://schemas.microsoft.com/office/powerpoint/2010/main" val="797683627"/>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00200"/>
            <a:ext cx="4038600" cy="21891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941763"/>
            <a:ext cx="4038600" cy="2189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9"/>
          <p:cNvSpPr>
            <a:spLocks noGrp="1" noChangeArrowheads="1"/>
          </p:cNvSpPr>
          <p:nvPr>
            <p:ph type="dt" sz="half" idx="10"/>
          </p:nvPr>
        </p:nvSpPr>
        <p:spPr>
          <a:xfrm>
            <a:off x="457200" y="6248400"/>
            <a:ext cx="2133600" cy="457200"/>
          </a:xfrm>
          <a:prstGeom prst="rect">
            <a:avLst/>
          </a:prstGeom>
        </p:spPr>
        <p:txBody>
          <a:bodyPr/>
          <a:lstStyle>
            <a:lvl1pPr>
              <a:defRPr/>
            </a:lvl1pPr>
          </a:lstStyle>
          <a:p>
            <a:pPr>
              <a:defRPr/>
            </a:pPr>
            <a:endParaRPr lang="en-US" altLang="zh-CN"/>
          </a:p>
        </p:txBody>
      </p:sp>
      <p:sp>
        <p:nvSpPr>
          <p:cNvPr id="7" name="Rectangle 10"/>
          <p:cNvSpPr>
            <a:spLocks noGrp="1" noChangeArrowheads="1"/>
          </p:cNvSpPr>
          <p:nvPr>
            <p:ph type="ftr" sz="quarter" idx="11"/>
          </p:nvPr>
        </p:nvSpPr>
        <p:spPr>
          <a:xfrm>
            <a:off x="3124200" y="6248400"/>
            <a:ext cx="2895600" cy="457200"/>
          </a:xfrm>
          <a:prstGeom prst="rect">
            <a:avLst/>
          </a:prstGeom>
        </p:spPr>
        <p:txBody>
          <a:bodyPr/>
          <a:lstStyle>
            <a:lvl1pPr>
              <a:defRPr/>
            </a:lvl1pPr>
          </a:lstStyle>
          <a:p>
            <a:pPr>
              <a:defRPr/>
            </a:pPr>
            <a:endParaRPr lang="en-US" altLang="zh-CN"/>
          </a:p>
        </p:txBody>
      </p:sp>
      <p:sp>
        <p:nvSpPr>
          <p:cNvPr id="8" name="Rectangle 11"/>
          <p:cNvSpPr>
            <a:spLocks noGrp="1" noChangeArrowheads="1"/>
          </p:cNvSpPr>
          <p:nvPr>
            <p:ph type="sldNum" sz="quarter" idx="12"/>
          </p:nvPr>
        </p:nvSpPr>
        <p:spPr/>
        <p:txBody>
          <a:bodyPr/>
          <a:lstStyle>
            <a:lvl1pPr>
              <a:defRPr/>
            </a:lvl1pPr>
          </a:lstStyle>
          <a:p>
            <a:pPr>
              <a:defRPr/>
            </a:pPr>
            <a:fld id="{C02672C6-A66C-4A23-877B-AF8E4660A64F}" type="slidenum">
              <a:rPr lang="en-US" altLang="zh-CN"/>
              <a:pPr>
                <a:defRPr/>
              </a:pPr>
              <a:t>‹#›</a:t>
            </a:fld>
            <a:endParaRPr lang="en-US" altLang="zh-CN"/>
          </a:p>
        </p:txBody>
      </p:sp>
    </p:spTree>
    <p:extLst>
      <p:ext uri="{BB962C8B-B14F-4D97-AF65-F5344CB8AC3E}">
        <p14:creationId xmlns:p14="http://schemas.microsoft.com/office/powerpoint/2010/main" val="36226066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p:cNvSpPr>
            <a:spLocks noGrp="1" noChangeArrowheads="1"/>
          </p:cNvSpPr>
          <p:nvPr>
            <p:ph type="sldNum" sz="quarter" idx="12"/>
          </p:nvPr>
        </p:nvSpPr>
        <p:spPr/>
        <p:txBody>
          <a:bodyPr/>
          <a:lstStyle>
            <a:lvl1pPr>
              <a:defRPr/>
            </a:lvl1pPr>
          </a:lstStyle>
          <a:p>
            <a:pPr>
              <a:defRPr/>
            </a:pPr>
            <a:fld id="{6B528C79-012F-4666-B6B9-2F1EF291DD5A}" type="slidenum">
              <a:rPr lang="en-US" altLang="zh-CN"/>
              <a:pPr>
                <a:defRPr/>
              </a:pPr>
              <a:t>‹#›</a:t>
            </a:fld>
            <a:endParaRPr lang="en-US" altLang="zh-CN"/>
          </a:p>
        </p:txBody>
      </p:sp>
    </p:spTree>
    <p:extLst>
      <p:ext uri="{BB962C8B-B14F-4D97-AF65-F5344CB8AC3E}">
        <p14:creationId xmlns:p14="http://schemas.microsoft.com/office/powerpoint/2010/main" val="33091422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cSld name="1_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9">
            <a:extLst>
              <a:ext uri="{FF2B5EF4-FFF2-40B4-BE49-F238E27FC236}">
                <a16:creationId xmlns:a16="http://schemas.microsoft.com/office/drawing/2014/main" id="{3FFBCF22-DA58-4CC1-AE7D-B15BF5713B4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0">
            <a:extLst>
              <a:ext uri="{FF2B5EF4-FFF2-40B4-BE49-F238E27FC236}">
                <a16:creationId xmlns:a16="http://schemas.microsoft.com/office/drawing/2014/main" id="{B2364790-AB78-4F48-9830-5A434D303E2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1">
            <a:extLst>
              <a:ext uri="{FF2B5EF4-FFF2-40B4-BE49-F238E27FC236}">
                <a16:creationId xmlns:a16="http://schemas.microsoft.com/office/drawing/2014/main" id="{6E4040B9-7782-436E-A6F7-5C02F6B476D4}"/>
              </a:ext>
            </a:extLst>
          </p:cNvPr>
          <p:cNvSpPr>
            <a:spLocks noGrp="1" noChangeArrowheads="1"/>
          </p:cNvSpPr>
          <p:nvPr>
            <p:ph type="sldNum" sz="quarter" idx="12"/>
          </p:nvPr>
        </p:nvSpPr>
        <p:spPr>
          <a:ln/>
        </p:spPr>
        <p:txBody>
          <a:bodyPr/>
          <a:lstStyle>
            <a:lvl1pPr>
              <a:defRPr/>
            </a:lvl1pPr>
          </a:lstStyle>
          <a:p>
            <a:fld id="{AD875DC2-E816-465E-8DEB-6504AC4EA927}" type="slidenum">
              <a:rPr lang="en-US" altLang="zh-CN"/>
              <a:pPr/>
              <a:t>‹#›</a:t>
            </a:fld>
            <a:endParaRPr lang="en-US" altLang="zh-CN"/>
          </a:p>
        </p:txBody>
      </p:sp>
    </p:spTree>
    <p:extLst>
      <p:ext uri="{BB962C8B-B14F-4D97-AF65-F5344CB8AC3E}">
        <p14:creationId xmlns:p14="http://schemas.microsoft.com/office/powerpoint/2010/main" val="3084703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5"/>
          <p:cNvSpPr>
            <a:spLocks noChangeArrowheads="1"/>
          </p:cNvSpPr>
          <p:nvPr/>
        </p:nvSpPr>
        <p:spPr bwMode="ltGray">
          <a:xfrm>
            <a:off x="0" y="0"/>
            <a:ext cx="9144000" cy="836613"/>
          </a:xfrm>
          <a:prstGeom prst="rect">
            <a:avLst/>
          </a:prstGeom>
          <a:solidFill>
            <a:srgbClr val="0060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027" name="Rectangle 3"/>
          <p:cNvSpPr>
            <a:spLocks noGrp="1" noChangeArrowheads="1"/>
          </p:cNvSpPr>
          <p:nvPr>
            <p:ph type="body" idx="1"/>
          </p:nvPr>
        </p:nvSpPr>
        <p:spPr bwMode="auto">
          <a:xfrm>
            <a:off x="457200" y="1052513"/>
            <a:ext cx="8229600" cy="534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altLang="zh-CN" dirty="0"/>
          </a:p>
        </p:txBody>
      </p:sp>
      <p:sp>
        <p:nvSpPr>
          <p:cNvPr id="1030" name="Rectangle 6"/>
          <p:cNvSpPr>
            <a:spLocks noGrp="1" noChangeArrowheads="1"/>
          </p:cNvSpPr>
          <p:nvPr>
            <p:ph type="sldNum" sz="quarter" idx="4"/>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200" smtClean="0">
                <a:latin typeface="+mj-lt"/>
                <a:ea typeface="宋体" charset="-122"/>
              </a:defRPr>
            </a:lvl1pPr>
          </a:lstStyle>
          <a:p>
            <a:pPr>
              <a:defRPr/>
            </a:pPr>
            <a:fld id="{76F7B25D-5EBC-4A23-B073-187DA5FB4EA0}" type="slidenum">
              <a:rPr lang="en-US" altLang="zh-CN"/>
              <a:pPr>
                <a:defRPr/>
              </a:pPr>
              <a:t>‹#›</a:t>
            </a:fld>
            <a:endParaRPr lang="en-US" altLang="zh-CN"/>
          </a:p>
        </p:txBody>
      </p:sp>
      <p:sp>
        <p:nvSpPr>
          <p:cNvPr id="1029" name="Rectangle 2"/>
          <p:cNvSpPr>
            <a:spLocks noGrp="1" noChangeArrowheads="1"/>
          </p:cNvSpPr>
          <p:nvPr>
            <p:ph type="title"/>
          </p:nvPr>
        </p:nvSpPr>
        <p:spPr bwMode="white">
          <a:xfrm>
            <a:off x="304800" y="152400"/>
            <a:ext cx="84582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2" name="Text Box 16"/>
          <p:cNvSpPr txBox="1">
            <a:spLocks noChangeArrowheads="1"/>
          </p:cNvSpPr>
          <p:nvPr/>
        </p:nvSpPr>
        <p:spPr bwMode="gray">
          <a:xfrm>
            <a:off x="0" y="838200"/>
            <a:ext cx="9144000" cy="144463"/>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endParaRPr lang="zh-CN" altLang="zh-CN" sz="1000" b="1">
              <a:solidFill>
                <a:schemeClr val="bg1"/>
              </a:solidFill>
              <a:latin typeface="Verdana" pitchFamily="34" charset="0"/>
            </a:endParaRPr>
          </a:p>
        </p:txBody>
      </p:sp>
      <p:pic>
        <p:nvPicPr>
          <p:cNvPr id="9" name="图片 8"/>
          <p:cNvPicPr>
            <a:picLocks noChangeAspect="1"/>
          </p:cNvPicPr>
          <p:nvPr/>
        </p:nvPicPr>
        <p:blipFill>
          <a:blip r:embed="rId17"/>
          <a:stretch>
            <a:fillRect/>
          </a:stretch>
        </p:blipFill>
        <p:spPr>
          <a:xfrm>
            <a:off x="7380288" y="6453188"/>
            <a:ext cx="1579562" cy="360362"/>
          </a:xfrm>
          <a:prstGeom prst="rect">
            <a:avLst/>
          </a:prstGeom>
          <a:effectLst>
            <a:outerShdw blurRad="50800" dist="38100" dir="2700000" algn="tl" rotWithShape="0">
              <a:prstClr val="black">
                <a:alpha val="40000"/>
              </a:prstClr>
            </a:outerShdw>
          </a:effectLst>
        </p:spPr>
      </p:pic>
    </p:spTree>
  </p:cSld>
  <p:clrMap bg1="lt1" tx1="dk1" bg2="lt2" tx2="dk2" accent1="accent1" accent2="accent2" accent3="accent3" accent4="accent4" accent5="accent5" accent6="accent6" hlink="hlink" folHlink="folHlink"/>
  <p:sldLayoutIdLst>
    <p:sldLayoutId id="2147483941" r:id="rId1"/>
    <p:sldLayoutId id="2147483930" r:id="rId2"/>
    <p:sldLayoutId id="2147483931" r:id="rId3"/>
    <p:sldLayoutId id="2147483932" r:id="rId4"/>
    <p:sldLayoutId id="2147483933" r:id="rId5"/>
    <p:sldLayoutId id="2147483934" r:id="rId6"/>
    <p:sldLayoutId id="2147483935" r:id="rId7"/>
    <p:sldLayoutId id="2147483936" r:id="rId8"/>
    <p:sldLayoutId id="2147483937" r:id="rId9"/>
    <p:sldLayoutId id="2147483938" r:id="rId10"/>
    <p:sldLayoutId id="2147483939" r:id="rId11"/>
    <p:sldLayoutId id="2147483940" r:id="rId12"/>
    <p:sldLayoutId id="2147483942" r:id="rId13"/>
    <p:sldLayoutId id="2147483943" r:id="rId14"/>
    <p:sldLayoutId id="2147483944" r:id="rId15"/>
  </p:sldLayoutIdLst>
  <p:transition/>
  <p:hf hdr="0" ftr="0" dt="0"/>
  <p:txStyles>
    <p:titleStyle>
      <a:lvl1pPr algn="ctr" rtl="0" fontAlgn="base">
        <a:spcBef>
          <a:spcPct val="0"/>
        </a:spcBef>
        <a:spcAft>
          <a:spcPct val="0"/>
        </a:spcAft>
        <a:defRPr sz="3200" b="1">
          <a:solidFill>
            <a:schemeClr val="bg1"/>
          </a:solidFill>
          <a:latin typeface="+mj-lt"/>
          <a:ea typeface="+mj-ea"/>
          <a:cs typeface="+mj-cs"/>
        </a:defRPr>
      </a:lvl1pPr>
      <a:lvl2pPr algn="ctr" rtl="0" fontAlgn="base">
        <a:spcBef>
          <a:spcPct val="0"/>
        </a:spcBef>
        <a:spcAft>
          <a:spcPct val="0"/>
        </a:spcAft>
        <a:defRPr sz="3200" b="1">
          <a:solidFill>
            <a:schemeClr val="bg1"/>
          </a:solidFill>
          <a:latin typeface="Verdana" pitchFamily="34" charset="0"/>
        </a:defRPr>
      </a:lvl2pPr>
      <a:lvl3pPr algn="ctr" rtl="0" fontAlgn="base">
        <a:spcBef>
          <a:spcPct val="0"/>
        </a:spcBef>
        <a:spcAft>
          <a:spcPct val="0"/>
        </a:spcAft>
        <a:defRPr sz="3200" b="1">
          <a:solidFill>
            <a:schemeClr val="bg1"/>
          </a:solidFill>
          <a:latin typeface="Verdana" pitchFamily="34" charset="0"/>
        </a:defRPr>
      </a:lvl3pPr>
      <a:lvl4pPr algn="ctr" rtl="0" fontAlgn="base">
        <a:spcBef>
          <a:spcPct val="0"/>
        </a:spcBef>
        <a:spcAft>
          <a:spcPct val="0"/>
        </a:spcAft>
        <a:defRPr sz="3200" b="1">
          <a:solidFill>
            <a:schemeClr val="bg1"/>
          </a:solidFill>
          <a:latin typeface="Verdana" pitchFamily="34" charset="0"/>
        </a:defRPr>
      </a:lvl4pPr>
      <a:lvl5pPr algn="ctr" rtl="0" fontAlgn="base">
        <a:spcBef>
          <a:spcPct val="0"/>
        </a:spcBef>
        <a:spcAft>
          <a:spcPct val="0"/>
        </a:spcAft>
        <a:defRPr sz="3200" b="1">
          <a:solidFill>
            <a:schemeClr val="bg1"/>
          </a:solidFill>
          <a:latin typeface="Verdana" pitchFamily="34" charset="0"/>
        </a:defRPr>
      </a:lvl5pPr>
      <a:lvl6pPr marL="457200" algn="ctr" rtl="0" eaLnBrk="1" fontAlgn="base" hangingPunct="1">
        <a:spcBef>
          <a:spcPct val="0"/>
        </a:spcBef>
        <a:spcAft>
          <a:spcPct val="0"/>
        </a:spcAft>
        <a:defRPr sz="3200" b="1">
          <a:solidFill>
            <a:schemeClr val="bg1"/>
          </a:solidFill>
          <a:latin typeface="Verdana" pitchFamily="34" charset="0"/>
        </a:defRPr>
      </a:lvl6pPr>
      <a:lvl7pPr marL="914400" algn="ctr" rtl="0" eaLnBrk="1" fontAlgn="base" hangingPunct="1">
        <a:spcBef>
          <a:spcPct val="0"/>
        </a:spcBef>
        <a:spcAft>
          <a:spcPct val="0"/>
        </a:spcAft>
        <a:defRPr sz="3200" b="1">
          <a:solidFill>
            <a:schemeClr val="bg1"/>
          </a:solidFill>
          <a:latin typeface="Verdana" pitchFamily="34" charset="0"/>
        </a:defRPr>
      </a:lvl7pPr>
      <a:lvl8pPr marL="1371600" algn="ctr" rtl="0" eaLnBrk="1" fontAlgn="base" hangingPunct="1">
        <a:spcBef>
          <a:spcPct val="0"/>
        </a:spcBef>
        <a:spcAft>
          <a:spcPct val="0"/>
        </a:spcAft>
        <a:defRPr sz="3200" b="1">
          <a:solidFill>
            <a:schemeClr val="bg1"/>
          </a:solidFill>
          <a:latin typeface="Verdana" pitchFamily="34" charset="0"/>
        </a:defRPr>
      </a:lvl8pPr>
      <a:lvl9pPr marL="1828800" algn="ctr" rtl="0" eaLnBrk="1" fontAlgn="base" hangingPunct="1">
        <a:spcBef>
          <a:spcPct val="0"/>
        </a:spcBef>
        <a:spcAft>
          <a:spcPct val="0"/>
        </a:spcAft>
        <a:defRPr sz="3200" b="1">
          <a:solidFill>
            <a:schemeClr val="bg1"/>
          </a:solidFill>
          <a:latin typeface="Verdana" pitchFamily="34" charset="0"/>
        </a:defRPr>
      </a:lvl9pPr>
    </p:titleStyle>
    <p:bodyStyle>
      <a:lvl1pPr marL="363538" indent="-363538" algn="l" rtl="0" fontAlgn="base">
        <a:spcBef>
          <a:spcPct val="20000"/>
        </a:spcBef>
        <a:spcAft>
          <a:spcPct val="0"/>
        </a:spcAft>
        <a:buClr>
          <a:srgbClr val="00607A"/>
        </a:buClr>
        <a:buFont typeface="Wingdings" pitchFamily="2" charset="2"/>
        <a:buChar char="l"/>
        <a:defRPr sz="3200">
          <a:solidFill>
            <a:srgbClr val="00607A"/>
          </a:solidFill>
          <a:latin typeface="+mn-lt"/>
          <a:ea typeface="+mn-ea"/>
          <a:cs typeface="+mn-cs"/>
        </a:defRPr>
      </a:lvl1pPr>
      <a:lvl2pPr marL="715963" indent="-352425" algn="l" rtl="0" fontAlgn="base">
        <a:spcBef>
          <a:spcPct val="20000"/>
        </a:spcBef>
        <a:spcAft>
          <a:spcPct val="0"/>
        </a:spcAft>
        <a:buClr>
          <a:srgbClr val="00607A"/>
        </a:buClr>
        <a:buFont typeface="Wingdings" pitchFamily="2" charset="2"/>
        <a:buChar char="n"/>
        <a:defRPr sz="2800">
          <a:solidFill>
            <a:srgbClr val="00607A"/>
          </a:solidFill>
          <a:latin typeface="+mn-lt"/>
        </a:defRPr>
      </a:lvl2pPr>
      <a:lvl3pPr marL="1079500" indent="-363538" algn="l" rtl="0" fontAlgn="base">
        <a:spcBef>
          <a:spcPct val="20000"/>
        </a:spcBef>
        <a:spcAft>
          <a:spcPct val="0"/>
        </a:spcAft>
        <a:buClr>
          <a:srgbClr val="00607A"/>
        </a:buClr>
        <a:buFont typeface="Wingdings" pitchFamily="2" charset="2"/>
        <a:buChar char="u"/>
        <a:defRPr sz="2400">
          <a:solidFill>
            <a:srgbClr val="00607A"/>
          </a:solidFill>
          <a:latin typeface="+mn-lt"/>
        </a:defRPr>
      </a:lvl3pPr>
      <a:lvl4pPr marL="1431925" indent="-352425" algn="l" rtl="0" fontAlgn="base">
        <a:spcBef>
          <a:spcPct val="20000"/>
        </a:spcBef>
        <a:spcAft>
          <a:spcPct val="0"/>
        </a:spcAft>
        <a:buChar char="–"/>
        <a:defRPr sz="2000">
          <a:solidFill>
            <a:srgbClr val="00607A"/>
          </a:solidFill>
          <a:latin typeface="+mn-lt"/>
        </a:defRPr>
      </a:lvl4pPr>
      <a:lvl5pPr marL="1795463" indent="-363538" algn="l" rtl="0" fontAlgn="base">
        <a:spcBef>
          <a:spcPct val="20000"/>
        </a:spcBef>
        <a:spcAft>
          <a:spcPct val="0"/>
        </a:spcAft>
        <a:buFont typeface="Wingdings" pitchFamily="2" charset="2"/>
        <a:buChar char="ü"/>
        <a:defRPr sz="2000">
          <a:solidFill>
            <a:srgbClr val="00607A"/>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5.xml"/><Relationship Id="rId6" Type="http://schemas.openxmlformats.org/officeDocument/2006/relationships/hyperlink" Target="http://www.w3.org/TR/2007/REC-soap12-part1-20070427/#soaphead" TargetMode="External"/><Relationship Id="rId5" Type="http://schemas.openxmlformats.org/officeDocument/2006/relationships/hyperlink" Target="http://www.w3.org/TR/2007/REC-soap12-part1-20070427/#soapbody" TargetMode="External"/><Relationship Id="rId4" Type="http://schemas.openxmlformats.org/officeDocument/2006/relationships/hyperlink" Target="http://www.w3.org/TR/2007/REC-soap12-part1-20070427/#soapenvelope" TargetMode="Externa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6.emf"/><Relationship Id="rId4" Type="http://schemas.openxmlformats.org/officeDocument/2006/relationships/image" Target="../media/image5.emf"/></Relationships>
</file>

<file path=ppt/slides/_rels/slide8.xml.rels><?xml version="1.0" encoding="UTF-8" standalone="yes"?>
<Relationships xmlns="http://schemas.openxmlformats.org/package/2006/relationships"><Relationship Id="rId2" Type="http://schemas.openxmlformats.org/officeDocument/2006/relationships/hyperlink" Target="http://www.w3.org/TR/2007/REC-soap12-part1-20070427/#soapenvelope"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www.w3.org/TR/2007/REC-soap12-part1-20070427/#soapbody"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Example5"/><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www.w3.org/TR/2007/REC-soap12-part1-20070427/#procsoapmsgs"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hyperlink" Target="1123" TargetMode="External"/></Relationships>
</file>

<file path=ppt/slides/_rels/slide23.xml.rels><?xml version="1.0" encoding="UTF-8" standalone="yes"?>
<Relationships xmlns="http://schemas.openxmlformats.org/package/2006/relationships"><Relationship Id="rId8" Type="http://schemas.openxmlformats.org/officeDocument/2006/relationships/hyperlink" Target="http://www.w3.org/TR/2007/REC-soap12-part1-20070427/#faultactorelement" TargetMode="External"/><Relationship Id="rId3" Type="http://schemas.openxmlformats.org/officeDocument/2006/relationships/hyperlink" Target="http://www.w3.org/TR/2007/REC-soap12-part1-20070427/#faultcodeelement" TargetMode="External"/><Relationship Id="rId7" Type="http://schemas.openxmlformats.org/officeDocument/2006/relationships/hyperlink" Target="http://www.w3.org/TR/2007/REC-soap12-part1-20070427/#faultsubcodeelement" TargetMode="External"/><Relationship Id="rId2" Type="http://schemas.openxmlformats.org/officeDocument/2006/relationships/hyperlink" Target="http://www.w3.org/TR/2007/REC-soap12-part1-20070427/#procsoapmsgs" TargetMode="External"/><Relationship Id="rId1" Type="http://schemas.openxmlformats.org/officeDocument/2006/relationships/slideLayout" Target="../slideLayouts/slideLayout2.xml"/><Relationship Id="rId6" Type="http://schemas.openxmlformats.org/officeDocument/2006/relationships/hyperlink" Target="http://www.w3.org/TR/2007/REC-soap12-part1-20070427/#faultvalueelement" TargetMode="External"/><Relationship Id="rId5" Type="http://schemas.openxmlformats.org/officeDocument/2006/relationships/hyperlink" Target="http://www.w3.org/TR/2007/REC-soap12-part1-20070427/#faultdetailelement" TargetMode="External"/><Relationship Id="rId4" Type="http://schemas.openxmlformats.org/officeDocument/2006/relationships/hyperlink" Target="http://www.w3.org/TR/2007/REC-soap12-part1-20070427/#faultstringelement" TargetMode="External"/><Relationship Id="rId9" Type="http://schemas.openxmlformats.org/officeDocument/2006/relationships/hyperlink" Target="http://www.w3.org/TR/2007/REC-soap12-part1-20070427/#faultroleelement"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www.w3.org/TR/2007/REC-soap12-part1-20070427/#procsoapmsgs"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hyperlink" Target="http://www.w3.org/TR/2007/REC-soap12-part1-20070427/#reasontextelement" TargetMode="External"/><Relationship Id="rId4" Type="http://schemas.openxmlformats.org/officeDocument/2006/relationships/hyperlink" Target="#Example7"/></Relationships>
</file>

<file path=ppt/slides/_rels/slide25.xml.rels><?xml version="1.0" encoding="UTF-8" standalone="yes"?>
<Relationships xmlns="http://schemas.openxmlformats.org/package/2006/relationships"><Relationship Id="rId3" Type="http://schemas.openxmlformats.org/officeDocument/2006/relationships/hyperlink" Target="http://www.w3.org/TR/2007/REC-soap12-part1-20070427/#soapnotunderstood"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hyperlink" Target="1" TargetMode="External"/><Relationship Id="rId5" Type="http://schemas.openxmlformats.org/officeDocument/2006/relationships/hyperlink" Target="http://www.w3.org/TR/2007/REC-soap12-part1-20070427/#faultdetailelement" TargetMode="External"/><Relationship Id="rId4" Type="http://schemas.openxmlformats.org/officeDocument/2006/relationships/hyperlink" Target="#Example7"/></Relationships>
</file>

<file path=ppt/slides/_rels/slide26.xml.rels><?xml version="1.0" encoding="UTF-8" standalone="yes"?>
<Relationships xmlns="http://schemas.openxmlformats.org/package/2006/relationships"><Relationship Id="rId3" Type="http://schemas.openxmlformats.org/officeDocument/2006/relationships/hyperlink" Target="http://www.w3.org/TR/2007/REC-soap12-part1-20070427/#soapnotunderstood"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hyperlink" Target="1" TargetMode="External"/><Relationship Id="rId4" Type="http://schemas.openxmlformats.org/officeDocument/2006/relationships/hyperlink" Target="http://www.w3.org/2003/05/soap-envelop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p:cNvSpPr>
            <a:spLocks noGrp="1" noChangeArrowheads="1"/>
          </p:cNvSpPr>
          <p:nvPr>
            <p:ph type="subTitle" idx="1"/>
          </p:nvPr>
        </p:nvSpPr>
        <p:spPr/>
        <p:txBody>
          <a:bodyPr/>
          <a:lstStyle/>
          <a:p>
            <a:r>
              <a:rPr lang="en-US" altLang="zh-CN" sz="2000">
                <a:solidFill>
                  <a:srgbClr val="595959"/>
                </a:solidFill>
                <a:ea typeface="宋体" pitchFamily="2" charset="-122"/>
              </a:rPr>
              <a:t>Software Institute</a:t>
            </a:r>
          </a:p>
          <a:p>
            <a:r>
              <a:rPr lang="en-US" altLang="zh-CN" sz="2000">
                <a:solidFill>
                  <a:srgbClr val="595959"/>
                </a:solidFill>
                <a:ea typeface="宋体" pitchFamily="2" charset="-122"/>
              </a:rPr>
              <a:t>Nanjing University</a:t>
            </a:r>
          </a:p>
          <a:p>
            <a:r>
              <a:rPr lang="en-US" altLang="zh-CN" sz="2000">
                <a:solidFill>
                  <a:srgbClr val="595959"/>
                </a:solidFill>
                <a:ea typeface="宋体" pitchFamily="2" charset="-122"/>
              </a:rPr>
              <a:t>Bei Jia</a:t>
            </a:r>
          </a:p>
        </p:txBody>
      </p:sp>
      <p:sp>
        <p:nvSpPr>
          <p:cNvPr id="5123" name="Rectangle 2"/>
          <p:cNvSpPr>
            <a:spLocks noGrp="1" noChangeArrowheads="1"/>
          </p:cNvSpPr>
          <p:nvPr>
            <p:ph type="ctrTitle" sz="quarter"/>
          </p:nvPr>
        </p:nvSpPr>
        <p:spPr>
          <a:gradFill rotWithShape="0"/>
        </p:spPr>
        <p:txBody>
          <a:bodyPr>
            <a:normAutofit/>
          </a:bodyPr>
          <a:lstStyle/>
          <a:p>
            <a:r>
              <a:rPr lang="en-US" altLang="zh-CN" sz="2800"/>
              <a:t>SOAP Basis</a:t>
            </a:r>
            <a:br>
              <a:rPr lang="en-US" altLang="zh-CN" sz="2800" dirty="0"/>
            </a:br>
            <a:r>
              <a:rPr lang="en-US" altLang="zh-CN" sz="2000" dirty="0">
                <a:solidFill>
                  <a:srgbClr val="FFFFFF"/>
                </a:solidFill>
              </a:rPr>
              <a:t>Service-Oriented Software Engineering</a:t>
            </a:r>
            <a:endParaRPr lang="en-US" altLang="zh-CN" sz="2000" dirty="0">
              <a:ea typeface="宋体" pitchFamily="2" charset="-122"/>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p:txBody>
          <a:bodyPr>
            <a:normAutofit fontScale="90000"/>
          </a:bodyPr>
          <a:lstStyle/>
          <a:p>
            <a:r>
              <a:rPr lang="en-US" altLang="zh-CN" dirty="0"/>
              <a:t>SOAP</a:t>
            </a:r>
            <a:r>
              <a:rPr lang="zh-CN" altLang="en-US" dirty="0"/>
              <a:t>的历史</a:t>
            </a:r>
          </a:p>
        </p:txBody>
      </p:sp>
      <p:sp>
        <p:nvSpPr>
          <p:cNvPr id="6147" name="内容占位符 2"/>
          <p:cNvSpPr>
            <a:spLocks noGrp="1"/>
          </p:cNvSpPr>
          <p:nvPr>
            <p:ph idx="1"/>
          </p:nvPr>
        </p:nvSpPr>
        <p:spPr/>
        <p:txBody>
          <a:bodyPr>
            <a:normAutofit/>
          </a:bodyPr>
          <a:lstStyle/>
          <a:p>
            <a:pPr>
              <a:defRPr/>
            </a:pPr>
            <a:r>
              <a:rPr lang="en-US" altLang="zh-CN" sz="2800" dirty="0"/>
              <a:t>XML-RPC</a:t>
            </a:r>
          </a:p>
          <a:p>
            <a:pPr lvl="1">
              <a:defRPr/>
            </a:pPr>
            <a:r>
              <a:rPr lang="en-US" altLang="zh-CN" sz="2400" dirty="0"/>
              <a:t>1998</a:t>
            </a:r>
            <a:r>
              <a:rPr lang="zh-CN" altLang="en-US" sz="2400" dirty="0"/>
              <a:t>年，</a:t>
            </a:r>
            <a:r>
              <a:rPr lang="en-US" altLang="zh-CN" sz="2400" dirty="0" err="1"/>
              <a:t>Userland</a:t>
            </a:r>
            <a:r>
              <a:rPr lang="zh-CN" altLang="en-US" sz="2400" dirty="0"/>
              <a:t>，使用</a:t>
            </a:r>
            <a:r>
              <a:rPr lang="en-US" altLang="zh-CN" sz="2400" dirty="0"/>
              <a:t>XML</a:t>
            </a:r>
            <a:r>
              <a:rPr lang="zh-CN" altLang="en-US" sz="2400" dirty="0"/>
              <a:t>作为载体完成</a:t>
            </a:r>
            <a:r>
              <a:rPr lang="en-US" altLang="zh-CN" sz="2400" dirty="0"/>
              <a:t>RPC</a:t>
            </a:r>
          </a:p>
          <a:p>
            <a:pPr>
              <a:defRPr/>
            </a:pPr>
            <a:r>
              <a:rPr lang="en-US" altLang="zh-CN" sz="2800" dirty="0"/>
              <a:t>SOAP 1.1</a:t>
            </a:r>
          </a:p>
          <a:p>
            <a:pPr lvl="1">
              <a:defRPr/>
            </a:pPr>
            <a:r>
              <a:rPr lang="en-US" altLang="zh-CN" sz="2400" dirty="0"/>
              <a:t>2000</a:t>
            </a:r>
            <a:r>
              <a:rPr lang="zh-CN" altLang="en-US" sz="2400" dirty="0"/>
              <a:t>年，</a:t>
            </a:r>
            <a:r>
              <a:rPr lang="en-US" altLang="zh-CN" sz="2400" dirty="0"/>
              <a:t>W3C Note</a:t>
            </a:r>
            <a:r>
              <a:rPr lang="zh-CN" altLang="en-US" sz="2400" dirty="0"/>
              <a:t>，成为事实上的标准</a:t>
            </a:r>
            <a:endParaRPr lang="en-US" altLang="zh-CN" sz="2400" dirty="0"/>
          </a:p>
          <a:p>
            <a:pPr>
              <a:defRPr/>
            </a:pPr>
            <a:r>
              <a:rPr lang="en-US" altLang="zh-CN" sz="2800" dirty="0"/>
              <a:t>SOAP 1.2</a:t>
            </a:r>
          </a:p>
          <a:p>
            <a:pPr lvl="1">
              <a:defRPr/>
            </a:pPr>
            <a:r>
              <a:rPr lang="zh-CN" altLang="en-US" sz="2400" dirty="0"/>
              <a:t>第一份工作草案发布于 </a:t>
            </a:r>
            <a:r>
              <a:rPr lang="en-US" altLang="zh-CN" sz="2400" dirty="0"/>
              <a:t>2001</a:t>
            </a:r>
          </a:p>
          <a:p>
            <a:pPr lvl="1">
              <a:defRPr/>
            </a:pPr>
            <a:r>
              <a:rPr lang="en-US" altLang="zh-CN" sz="2400" dirty="0"/>
              <a:t>2003</a:t>
            </a:r>
            <a:r>
              <a:rPr lang="zh-CN" altLang="en-US" sz="2400" dirty="0"/>
              <a:t>年被确认为</a:t>
            </a:r>
            <a:r>
              <a:rPr lang="en-US" altLang="zh-CN" sz="2400" dirty="0"/>
              <a:t>W3C </a:t>
            </a:r>
            <a:r>
              <a:rPr lang="zh-CN" altLang="en-US" sz="2400" dirty="0"/>
              <a:t>推荐标准</a:t>
            </a:r>
            <a:endParaRPr lang="en-US" altLang="zh-CN" sz="2400" dirty="0"/>
          </a:p>
          <a:p>
            <a:pPr lvl="1">
              <a:defRPr/>
            </a:pPr>
            <a:r>
              <a:rPr lang="zh-CN" altLang="en-US" sz="2400" dirty="0"/>
              <a:t>最新版本发布于</a:t>
            </a:r>
            <a:r>
              <a:rPr lang="en-US" altLang="zh-CN" sz="2400" dirty="0"/>
              <a:t>2007</a:t>
            </a:r>
            <a:r>
              <a:rPr lang="zh-CN" altLang="en-US" sz="2400" dirty="0"/>
              <a:t>年</a:t>
            </a:r>
            <a:endParaRPr lang="en-US" altLang="zh-CN" sz="2400" dirty="0"/>
          </a:p>
          <a:p>
            <a:pPr lvl="1">
              <a:defRPr/>
            </a:pPr>
            <a:r>
              <a:rPr lang="en-US" altLang="zh-CN" sz="2400" dirty="0"/>
              <a:t>SOAP</a:t>
            </a:r>
            <a:r>
              <a:rPr lang="zh-CN" altLang="en-US" sz="2400" dirty="0"/>
              <a:t>不再是</a:t>
            </a:r>
            <a:r>
              <a:rPr lang="en-US" altLang="zh-CN" sz="2400" dirty="0"/>
              <a:t>Simple Object Access Protocol</a:t>
            </a:r>
            <a:r>
              <a:rPr lang="zh-CN" altLang="en-US" sz="2400" dirty="0"/>
              <a:t>的缩写</a:t>
            </a:r>
            <a:endParaRPr lang="en-US" altLang="zh-CN" sz="2400" dirty="0"/>
          </a:p>
        </p:txBody>
      </p:sp>
      <p:sp>
        <p:nvSpPr>
          <p:cNvPr id="15364" name="灯片编号占位符 3"/>
          <p:cNvSpPr>
            <a:spLocks noGrp="1"/>
          </p:cNvSpPr>
          <p:nvPr>
            <p:ph type="sldNum" sz="quarter" idx="10"/>
          </p:nvPr>
        </p:nvSpPr>
        <p:spPr>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Arial" charset="0"/>
                <a:ea typeface="宋体" pitchFamily="2" charset="-122"/>
              </a:defRPr>
            </a:lvl1pPr>
            <a:lvl2pPr marL="742950" indent="-285750" eaLnBrk="0" hangingPunct="0">
              <a:defRPr sz="3200">
                <a:solidFill>
                  <a:schemeClr val="tx1"/>
                </a:solidFill>
                <a:latin typeface="Arial" charset="0"/>
                <a:ea typeface="宋体" pitchFamily="2" charset="-122"/>
              </a:defRPr>
            </a:lvl2pPr>
            <a:lvl3pPr marL="1143000" indent="-228600" eaLnBrk="0" hangingPunct="0">
              <a:defRPr sz="3200">
                <a:solidFill>
                  <a:schemeClr val="tx1"/>
                </a:solidFill>
                <a:latin typeface="Arial" charset="0"/>
                <a:ea typeface="宋体" pitchFamily="2" charset="-122"/>
              </a:defRPr>
            </a:lvl3pPr>
            <a:lvl4pPr marL="1600200" indent="-228600" eaLnBrk="0" hangingPunct="0">
              <a:defRPr sz="3200">
                <a:solidFill>
                  <a:schemeClr val="tx1"/>
                </a:solidFill>
                <a:latin typeface="Arial" charset="0"/>
                <a:ea typeface="宋体" pitchFamily="2" charset="-122"/>
              </a:defRPr>
            </a:lvl4pPr>
            <a:lvl5pPr marL="2057400" indent="-228600" eaLnBrk="0" hangingPunct="0">
              <a:defRPr sz="3200">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Font typeface="Wingdings" pitchFamily="2" charset="2"/>
              <a:buChar char="l"/>
              <a:defRPr sz="3200">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Font typeface="Wingdings" pitchFamily="2" charset="2"/>
              <a:buChar char="l"/>
              <a:defRPr sz="3200">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Font typeface="Wingdings" pitchFamily="2" charset="2"/>
              <a:buChar char="l"/>
              <a:defRPr sz="3200">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Font typeface="Wingdings" pitchFamily="2" charset="2"/>
              <a:buChar char="l"/>
              <a:defRPr sz="3200">
                <a:solidFill>
                  <a:schemeClr val="tx1"/>
                </a:solidFill>
                <a:latin typeface="Arial" charset="0"/>
                <a:ea typeface="宋体" pitchFamily="2" charset="-122"/>
              </a:defRPr>
            </a:lvl9pPr>
          </a:lstStyle>
          <a:p>
            <a:pPr eaLnBrk="1" hangingPunct="1"/>
            <a:fld id="{8D43B961-A1C3-4DD8-9703-08B893445261}" type="slidenum">
              <a:rPr lang="en-US" altLang="zh-CN" sz="1200" smtClean="0">
                <a:latin typeface="+mj-lt"/>
              </a:rPr>
              <a:pPr eaLnBrk="1" hangingPunct="1"/>
              <a:t>2</a:t>
            </a:fld>
            <a:endParaRPr lang="en-US" altLang="zh-CN" sz="1200" dirty="0">
              <a:latin typeface="+mj-lt"/>
            </a:endParaRPr>
          </a:p>
        </p:txBody>
      </p:sp>
    </p:spTree>
    <p:extLst>
      <p:ext uri="{BB962C8B-B14F-4D97-AF65-F5344CB8AC3E}">
        <p14:creationId xmlns:p14="http://schemas.microsoft.com/office/powerpoint/2010/main" val="272308910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p:txBody>
          <a:bodyPr>
            <a:normAutofit fontScale="90000"/>
          </a:bodyPr>
          <a:lstStyle/>
          <a:p>
            <a:r>
              <a:rPr lang="en-US" altLang="zh-CN" dirty="0"/>
              <a:t>What is SOAP?</a:t>
            </a:r>
            <a:endParaRPr lang="zh-CN" altLang="en-US" dirty="0"/>
          </a:p>
        </p:txBody>
      </p:sp>
      <p:sp>
        <p:nvSpPr>
          <p:cNvPr id="3" name="内容占位符 2"/>
          <p:cNvSpPr>
            <a:spLocks noGrp="1"/>
          </p:cNvSpPr>
          <p:nvPr>
            <p:ph idx="1"/>
          </p:nvPr>
        </p:nvSpPr>
        <p:spPr/>
        <p:txBody>
          <a:bodyPr>
            <a:normAutofit/>
          </a:bodyPr>
          <a:lstStyle/>
          <a:p>
            <a:pPr>
              <a:lnSpc>
                <a:spcPct val="120000"/>
              </a:lnSpc>
              <a:defRPr/>
            </a:pPr>
            <a:r>
              <a:rPr lang="en-US" altLang="zh-CN" sz="2400" dirty="0"/>
              <a:t>SOAP Version 1.2 provides the definition of the XML-based information which can be used for exchanging structured and typed information between peers in a decentralized, distributed environment</a:t>
            </a:r>
          </a:p>
          <a:p>
            <a:pPr>
              <a:lnSpc>
                <a:spcPct val="120000"/>
              </a:lnSpc>
              <a:defRPr/>
            </a:pPr>
            <a:r>
              <a:rPr lang="en-US" altLang="zh-CN" sz="2400" dirty="0"/>
              <a:t>It uses XML technologies to define an extensible messaging framework providing a message construct that can be exchanged over a variety of underlying protocols</a:t>
            </a:r>
          </a:p>
          <a:p>
            <a:pPr>
              <a:lnSpc>
                <a:spcPct val="120000"/>
              </a:lnSpc>
              <a:defRPr/>
            </a:pPr>
            <a:r>
              <a:rPr lang="en-US" altLang="zh-CN" sz="2400" dirty="0"/>
              <a:t>The framework has been designed to be independent of any particular programming model and other implementation specific semantics</a:t>
            </a:r>
          </a:p>
        </p:txBody>
      </p:sp>
      <p:sp>
        <p:nvSpPr>
          <p:cNvPr id="13316" name="灯片编号占位符 3"/>
          <p:cNvSpPr>
            <a:spLocks noGrp="1"/>
          </p:cNvSpPr>
          <p:nvPr>
            <p:ph type="sldNum" sz="quarter" idx="10"/>
          </p:nvPr>
        </p:nvSpPr>
        <p:spPr>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Arial" charset="0"/>
                <a:ea typeface="宋体" pitchFamily="2" charset="-122"/>
              </a:defRPr>
            </a:lvl1pPr>
            <a:lvl2pPr marL="742950" indent="-285750" eaLnBrk="0" hangingPunct="0">
              <a:defRPr sz="3200">
                <a:solidFill>
                  <a:schemeClr val="tx1"/>
                </a:solidFill>
                <a:latin typeface="Arial" charset="0"/>
                <a:ea typeface="宋体" pitchFamily="2" charset="-122"/>
              </a:defRPr>
            </a:lvl2pPr>
            <a:lvl3pPr marL="1143000" indent="-228600" eaLnBrk="0" hangingPunct="0">
              <a:defRPr sz="3200">
                <a:solidFill>
                  <a:schemeClr val="tx1"/>
                </a:solidFill>
                <a:latin typeface="Arial" charset="0"/>
                <a:ea typeface="宋体" pitchFamily="2" charset="-122"/>
              </a:defRPr>
            </a:lvl3pPr>
            <a:lvl4pPr marL="1600200" indent="-228600" eaLnBrk="0" hangingPunct="0">
              <a:defRPr sz="3200">
                <a:solidFill>
                  <a:schemeClr val="tx1"/>
                </a:solidFill>
                <a:latin typeface="Arial" charset="0"/>
                <a:ea typeface="宋体" pitchFamily="2" charset="-122"/>
              </a:defRPr>
            </a:lvl4pPr>
            <a:lvl5pPr marL="2057400" indent="-228600" eaLnBrk="0" hangingPunct="0">
              <a:defRPr sz="3200">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Font typeface="Wingdings" pitchFamily="2" charset="2"/>
              <a:buChar char="l"/>
              <a:defRPr sz="3200">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Font typeface="Wingdings" pitchFamily="2" charset="2"/>
              <a:buChar char="l"/>
              <a:defRPr sz="3200">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Font typeface="Wingdings" pitchFamily="2" charset="2"/>
              <a:buChar char="l"/>
              <a:defRPr sz="3200">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Font typeface="Wingdings" pitchFamily="2" charset="2"/>
              <a:buChar char="l"/>
              <a:defRPr sz="3200">
                <a:solidFill>
                  <a:schemeClr val="tx1"/>
                </a:solidFill>
                <a:latin typeface="Arial" charset="0"/>
                <a:ea typeface="宋体" pitchFamily="2" charset="-122"/>
              </a:defRPr>
            </a:lvl9pPr>
          </a:lstStyle>
          <a:p>
            <a:pPr eaLnBrk="1" hangingPunct="1"/>
            <a:fld id="{42F553D0-388C-46B8-AC9D-46E0B4A69311}" type="slidenum">
              <a:rPr lang="en-US" altLang="zh-CN" sz="1200" smtClean="0">
                <a:latin typeface="+mj-ea"/>
                <a:ea typeface="+mj-ea"/>
              </a:rPr>
              <a:pPr eaLnBrk="1" hangingPunct="1"/>
              <a:t>3</a:t>
            </a:fld>
            <a:endParaRPr lang="en-US" altLang="zh-CN" sz="1200" dirty="0">
              <a:latin typeface="+mj-ea"/>
              <a:ea typeface="+mj-ea"/>
            </a:endParaRPr>
          </a:p>
        </p:txBody>
      </p:sp>
    </p:spTree>
    <p:extLst>
      <p:ext uri="{BB962C8B-B14F-4D97-AF65-F5344CB8AC3E}">
        <p14:creationId xmlns:p14="http://schemas.microsoft.com/office/powerpoint/2010/main" val="742424383"/>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a:extLst>
              <a:ext uri="{FF2B5EF4-FFF2-40B4-BE49-F238E27FC236}">
                <a16:creationId xmlns:a16="http://schemas.microsoft.com/office/drawing/2014/main" id="{D8A6BF50-A692-4561-BB2A-0B32C688663B}"/>
              </a:ext>
            </a:extLst>
          </p:cNvPr>
          <p:cNvSpPr>
            <a:spLocks noGrp="1"/>
          </p:cNvSpPr>
          <p:nvPr>
            <p:ph type="title"/>
          </p:nvPr>
        </p:nvSpPr>
        <p:spPr/>
        <p:txBody>
          <a:bodyPr>
            <a:normAutofit fontScale="90000"/>
          </a:bodyPr>
          <a:lstStyle/>
          <a:p>
            <a:r>
              <a:rPr lang="en-US" altLang="zh-CN" dirty="0"/>
              <a:t>What SOAP does?</a:t>
            </a:r>
            <a:endParaRPr lang="zh-CN" altLang="en-US" dirty="0"/>
          </a:p>
        </p:txBody>
      </p:sp>
      <p:graphicFrame>
        <p:nvGraphicFramePr>
          <p:cNvPr id="5" name="内容占位符 4">
            <a:extLst>
              <a:ext uri="{FF2B5EF4-FFF2-40B4-BE49-F238E27FC236}">
                <a16:creationId xmlns:a16="http://schemas.microsoft.com/office/drawing/2014/main" id="{05381B3C-92D7-44D4-A5E0-CB8A4713FF9F}"/>
              </a:ext>
            </a:extLst>
          </p:cNvPr>
          <p:cNvGraphicFramePr>
            <a:graphicFrameLocks noGrp="1"/>
          </p:cNvGraphicFramePr>
          <p:nvPr>
            <p:ph idx="1"/>
            <p:extLst>
              <p:ext uri="{D42A27DB-BD31-4B8C-83A1-F6EECF244321}">
                <p14:modId xmlns:p14="http://schemas.microsoft.com/office/powerpoint/2010/main" val="470832154"/>
              </p:ext>
            </p:extLst>
          </p:nvPr>
        </p:nvGraphicFramePr>
        <p:xfrm>
          <a:off x="107950" y="1717675"/>
          <a:ext cx="8928100" cy="4229085"/>
        </p:xfrm>
        <a:graphic>
          <a:graphicData uri="http://schemas.openxmlformats.org/drawingml/2006/table">
            <a:tbl>
              <a:tblPr firstRow="1" bandRow="1">
                <a:tableStyleId>{5C22544A-7EE6-4342-B048-85BDC9FD1C3A}</a:tableStyleId>
              </a:tblPr>
              <a:tblGrid>
                <a:gridCol w="3528040">
                  <a:extLst>
                    <a:ext uri="{9D8B030D-6E8A-4147-A177-3AD203B41FA5}">
                      <a16:colId xmlns:a16="http://schemas.microsoft.com/office/drawing/2014/main" val="20000"/>
                    </a:ext>
                  </a:extLst>
                </a:gridCol>
                <a:gridCol w="5400060">
                  <a:extLst>
                    <a:ext uri="{9D8B030D-6E8A-4147-A177-3AD203B41FA5}">
                      <a16:colId xmlns:a16="http://schemas.microsoft.com/office/drawing/2014/main" val="20001"/>
                    </a:ext>
                  </a:extLst>
                </a:gridCol>
              </a:tblGrid>
              <a:tr h="396214">
                <a:tc>
                  <a:txBody>
                    <a:bodyPr/>
                    <a:lstStyle/>
                    <a:p>
                      <a:r>
                        <a:rPr lang="en-US" altLang="zh-CN" sz="1800" dirty="0"/>
                        <a:t>SOAP is</a:t>
                      </a:r>
                      <a:endParaRPr lang="zh-CN" altLang="en-US" sz="1800" dirty="0"/>
                    </a:p>
                  </a:txBody>
                  <a:tcPr marL="91418" marR="91418" marT="45707" marB="45707"/>
                </a:tc>
                <a:tc>
                  <a:txBody>
                    <a:bodyPr/>
                    <a:lstStyle/>
                    <a:p>
                      <a:r>
                        <a:rPr lang="en-US" altLang="zh-CN" sz="1800" dirty="0"/>
                        <a:t>But</a:t>
                      </a:r>
                      <a:endParaRPr lang="zh-CN" altLang="en-US" sz="1800" dirty="0"/>
                    </a:p>
                  </a:txBody>
                  <a:tcPr marL="91418" marR="91418" marT="45707" marB="45707"/>
                </a:tc>
                <a:extLst>
                  <a:ext uri="{0D108BD9-81ED-4DB2-BD59-A6C34878D82A}">
                    <a16:rowId xmlns:a16="http://schemas.microsoft.com/office/drawing/2014/main" val="10000"/>
                  </a:ext>
                </a:extLst>
              </a:tr>
              <a:tr h="174715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a:t>Fundamentally a stateless, one-way message exchange paradigm</a:t>
                      </a:r>
                    </a:p>
                  </a:txBody>
                  <a:tcPr marL="91418" marR="91418" marT="45707" marB="45707" anchor="ctr"/>
                </a:tc>
                <a:tc>
                  <a:txBody>
                    <a:bodyPr/>
                    <a:lstStyle/>
                    <a:p>
                      <a:pPr algn="l"/>
                      <a:r>
                        <a:rPr lang="en-US" altLang="zh-CN" sz="1800" dirty="0"/>
                        <a:t>Applications can create more complex interaction patterns (e.g., request/response, request/multiple responses, etc.) by combining such one-way exchanges with features provided by an underlying protocol and/or application-specific information</a:t>
                      </a:r>
                      <a:endParaRPr lang="zh-CN" altLang="en-US" sz="1800" dirty="0"/>
                    </a:p>
                  </a:txBody>
                  <a:tcPr marL="91418" marR="91418" marT="45707" marB="45707" anchor="ctr"/>
                </a:tc>
                <a:extLst>
                  <a:ext uri="{0D108BD9-81ED-4DB2-BD59-A6C34878D82A}">
                    <a16:rowId xmlns:a16="http://schemas.microsoft.com/office/drawing/2014/main" val="10001"/>
                  </a:ext>
                </a:extLst>
              </a:tr>
              <a:tr h="100581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a:t>Silent on the semantics of any application-specific data it conveys</a:t>
                      </a:r>
                    </a:p>
                  </a:txBody>
                  <a:tcPr marL="91418" marR="91418" marT="45707" marB="45707" anchor="ctr"/>
                </a:tc>
                <a:tc>
                  <a:txBody>
                    <a:bodyPr/>
                    <a:lstStyle/>
                    <a:p>
                      <a:pPr algn="l"/>
                      <a:r>
                        <a:rPr lang="en-US" altLang="zh-CN" sz="1800" dirty="0"/>
                        <a:t>SOAP provides the framework by which application-specific information may be conveyed in an extensible manner</a:t>
                      </a:r>
                      <a:endParaRPr lang="zh-CN" altLang="en-US" sz="1800" dirty="0"/>
                    </a:p>
                  </a:txBody>
                  <a:tcPr marL="91418" marR="91418" marT="45707" marB="45707" anchor="ctr"/>
                </a:tc>
                <a:extLst>
                  <a:ext uri="{0D108BD9-81ED-4DB2-BD59-A6C34878D82A}">
                    <a16:rowId xmlns:a16="http://schemas.microsoft.com/office/drawing/2014/main" val="10002"/>
                  </a:ext>
                </a:extLst>
              </a:tr>
              <a:tr h="1079898">
                <a:tc>
                  <a:txBody>
                    <a:bodyPr/>
                    <a:lstStyle/>
                    <a:p>
                      <a:pPr algn="l"/>
                      <a:r>
                        <a:rPr lang="en-US" altLang="zh-CN" sz="1800" baseline="0" dirty="0"/>
                        <a:t>Silent on </a:t>
                      </a:r>
                      <a:r>
                        <a:rPr lang="en-US" altLang="zh-CN" sz="1800" dirty="0"/>
                        <a:t>routing of SOAP messages, reliable data transfer, firewall traversal, etc.</a:t>
                      </a:r>
                      <a:endParaRPr lang="zh-CN" altLang="en-US" sz="1800" dirty="0"/>
                    </a:p>
                  </a:txBody>
                  <a:tcPr marL="91418" marR="91418" marT="45707" marB="45707" anchor="ctr"/>
                </a:tc>
                <a:tc>
                  <a:txBody>
                    <a:bodyPr/>
                    <a:lstStyle/>
                    <a:p>
                      <a:pPr algn="l"/>
                      <a:r>
                        <a:rPr lang="en-US" altLang="zh-CN" sz="1800" dirty="0"/>
                        <a:t>SOAP provides a full description of the required actions taken by a SOAP node on receiving a SOAP message</a:t>
                      </a:r>
                      <a:endParaRPr lang="zh-CN" altLang="en-US" sz="1800" dirty="0"/>
                    </a:p>
                  </a:txBody>
                  <a:tcPr marL="91418" marR="91418" marT="45707" marB="45707" anchor="ctr"/>
                </a:tc>
                <a:extLst>
                  <a:ext uri="{0D108BD9-81ED-4DB2-BD59-A6C34878D82A}">
                    <a16:rowId xmlns:a16="http://schemas.microsoft.com/office/drawing/2014/main" val="10003"/>
                  </a:ext>
                </a:extLst>
              </a:tr>
            </a:tbl>
          </a:graphicData>
        </a:graphic>
      </p:graphicFrame>
      <p:sp>
        <p:nvSpPr>
          <p:cNvPr id="10260" name="灯片编号占位符 3">
            <a:extLst>
              <a:ext uri="{FF2B5EF4-FFF2-40B4-BE49-F238E27FC236}">
                <a16:creationId xmlns:a16="http://schemas.microsoft.com/office/drawing/2014/main" id="{A3A30075-751F-46A9-BB10-1C8BDFBCD011}"/>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307800C5-7DD6-4A0B-B773-D38152CD8539}" type="slidenum">
              <a:rPr lang="en-US" altLang="zh-CN" smtClean="0"/>
              <a:pPr>
                <a:spcBef>
                  <a:spcPct val="0"/>
                </a:spcBef>
                <a:buClrTx/>
                <a:buFontTx/>
                <a:buNone/>
              </a:pPr>
              <a:t>4</a:t>
            </a:fld>
            <a:endParaRPr lang="en-US" altLang="zh-CN" sz="100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a:extLst>
              <a:ext uri="{FF2B5EF4-FFF2-40B4-BE49-F238E27FC236}">
                <a16:creationId xmlns:a16="http://schemas.microsoft.com/office/drawing/2014/main" id="{4E644757-24A2-46F7-AA40-E617822A136B}"/>
              </a:ext>
            </a:extLst>
          </p:cNvPr>
          <p:cNvSpPr>
            <a:spLocks noGrp="1"/>
          </p:cNvSpPr>
          <p:nvPr>
            <p:ph type="title"/>
          </p:nvPr>
        </p:nvSpPr>
        <p:spPr/>
        <p:txBody>
          <a:bodyPr>
            <a:normAutofit fontScale="90000"/>
          </a:bodyPr>
          <a:lstStyle/>
          <a:p>
            <a:r>
              <a:rPr lang="en-US" altLang="zh-CN" dirty="0"/>
              <a:t>Namespace</a:t>
            </a:r>
            <a:endParaRPr lang="zh-CN" altLang="en-US" dirty="0"/>
          </a:p>
        </p:txBody>
      </p:sp>
      <p:graphicFrame>
        <p:nvGraphicFramePr>
          <p:cNvPr id="5" name="内容占位符 4">
            <a:extLst>
              <a:ext uri="{FF2B5EF4-FFF2-40B4-BE49-F238E27FC236}">
                <a16:creationId xmlns:a16="http://schemas.microsoft.com/office/drawing/2014/main" id="{3841ABCE-7C3C-41A5-AFDA-AEE804644A8D}"/>
              </a:ext>
            </a:extLst>
          </p:cNvPr>
          <p:cNvGraphicFramePr>
            <a:graphicFrameLocks noGrp="1"/>
          </p:cNvGraphicFramePr>
          <p:nvPr>
            <p:ph idx="1"/>
            <p:extLst>
              <p:ext uri="{D42A27DB-BD31-4B8C-83A1-F6EECF244321}">
                <p14:modId xmlns:p14="http://schemas.microsoft.com/office/powerpoint/2010/main" val="2009109574"/>
              </p:ext>
            </p:extLst>
          </p:nvPr>
        </p:nvGraphicFramePr>
        <p:xfrm>
          <a:off x="971550" y="1989138"/>
          <a:ext cx="7210425" cy="3565521"/>
        </p:xfrm>
        <a:graphic>
          <a:graphicData uri="http://schemas.openxmlformats.org/drawingml/2006/table">
            <a:tbl>
              <a:tblPr firstRow="1" bandRow="1">
                <a:tableStyleId>{5C22544A-7EE6-4342-B048-85BDC9FD1C3A}</a:tableStyleId>
              </a:tblPr>
              <a:tblGrid>
                <a:gridCol w="1613449">
                  <a:extLst>
                    <a:ext uri="{9D8B030D-6E8A-4147-A177-3AD203B41FA5}">
                      <a16:colId xmlns:a16="http://schemas.microsoft.com/office/drawing/2014/main" val="20000"/>
                    </a:ext>
                  </a:extLst>
                </a:gridCol>
                <a:gridCol w="5596976">
                  <a:extLst>
                    <a:ext uri="{9D8B030D-6E8A-4147-A177-3AD203B41FA5}">
                      <a16:colId xmlns:a16="http://schemas.microsoft.com/office/drawing/2014/main" val="20001"/>
                    </a:ext>
                  </a:extLst>
                </a:gridCol>
              </a:tblGrid>
              <a:tr h="396169">
                <a:tc>
                  <a:txBody>
                    <a:bodyPr/>
                    <a:lstStyle/>
                    <a:p>
                      <a:r>
                        <a:rPr lang="en-US" altLang="zh-CN" sz="1800" dirty="0"/>
                        <a:t>prefixes </a:t>
                      </a:r>
                      <a:endParaRPr lang="zh-CN" altLang="en-US" sz="1800" dirty="0"/>
                    </a:p>
                  </a:txBody>
                  <a:tcPr marL="91431" marR="91431" marT="45686" marB="45686"/>
                </a:tc>
                <a:tc>
                  <a:txBody>
                    <a:bodyPr/>
                    <a:lstStyle/>
                    <a:p>
                      <a:r>
                        <a:rPr lang="en-US" altLang="zh-CN" sz="1800" dirty="0"/>
                        <a:t>namespace </a:t>
                      </a:r>
                      <a:endParaRPr lang="zh-CN" altLang="en-US" sz="1800" dirty="0"/>
                    </a:p>
                  </a:txBody>
                  <a:tcPr marL="91431" marR="91431" marT="45686" marB="45686"/>
                </a:tc>
                <a:extLst>
                  <a:ext uri="{0D108BD9-81ED-4DB2-BD59-A6C34878D82A}">
                    <a16:rowId xmlns:a16="http://schemas.microsoft.com/office/drawing/2014/main" val="10000"/>
                  </a:ext>
                </a:extLst>
              </a:tr>
              <a:tr h="396169">
                <a:tc>
                  <a:txBody>
                    <a:bodyPr/>
                    <a:lstStyle/>
                    <a:p>
                      <a:r>
                        <a:rPr lang="en-US" altLang="zh-CN" sz="1800" dirty="0" err="1"/>
                        <a:t>env</a:t>
                      </a:r>
                      <a:endParaRPr lang="zh-CN" altLang="en-US" sz="1800" dirty="0"/>
                    </a:p>
                  </a:txBody>
                  <a:tcPr marL="91431" marR="91431" marT="45686" marB="45686"/>
                </a:tc>
                <a:tc>
                  <a:txBody>
                    <a:bodyPr/>
                    <a:lstStyle/>
                    <a:p>
                      <a:pPr marL="0" algn="l" defTabSz="914400" rtl="0" eaLnBrk="1" latinLnBrk="0" hangingPunct="1"/>
                      <a:r>
                        <a:rPr lang="en-US" altLang="zh-CN" sz="1800" kern="1200" dirty="0">
                          <a:solidFill>
                            <a:schemeClr val="dk1"/>
                          </a:solidFill>
                          <a:latin typeface="+mn-lt"/>
                          <a:ea typeface="+mn-ea"/>
                          <a:cs typeface="+mn-cs"/>
                        </a:rPr>
                        <a:t>http://www.w3.org/2003/05/soap-envelope</a:t>
                      </a:r>
                      <a:endParaRPr lang="zh-CN" altLang="en-US" sz="1800" kern="1200" dirty="0">
                        <a:solidFill>
                          <a:schemeClr val="dk1"/>
                        </a:solidFill>
                        <a:latin typeface="+mn-lt"/>
                        <a:ea typeface="+mn-ea"/>
                        <a:cs typeface="+mn-cs"/>
                      </a:endParaRPr>
                    </a:p>
                  </a:txBody>
                  <a:tcPr marL="91431" marR="91431" marT="45686" marB="45686"/>
                </a:tc>
                <a:extLst>
                  <a:ext uri="{0D108BD9-81ED-4DB2-BD59-A6C34878D82A}">
                    <a16:rowId xmlns:a16="http://schemas.microsoft.com/office/drawing/2014/main" val="10001"/>
                  </a:ext>
                </a:extLst>
              </a:tr>
              <a:tr h="396169">
                <a:tc>
                  <a:txBody>
                    <a:bodyPr/>
                    <a:lstStyle/>
                    <a:p>
                      <a:r>
                        <a:rPr lang="en-US" altLang="zh-CN" sz="1800" dirty="0"/>
                        <a:t>enc</a:t>
                      </a:r>
                      <a:endParaRPr lang="zh-CN" altLang="en-US" sz="1800" dirty="0"/>
                    </a:p>
                  </a:txBody>
                  <a:tcPr marL="91431" marR="91431" marT="45686" marB="45686"/>
                </a:tc>
                <a:tc>
                  <a:txBody>
                    <a:bodyPr/>
                    <a:lstStyle/>
                    <a:p>
                      <a:pPr marL="0" algn="l" defTabSz="914400" rtl="0" eaLnBrk="1" latinLnBrk="0" hangingPunct="1"/>
                      <a:r>
                        <a:rPr lang="en-US" altLang="zh-CN" sz="1800" kern="1200" dirty="0">
                          <a:solidFill>
                            <a:schemeClr val="dk1"/>
                          </a:solidFill>
                          <a:latin typeface="+mn-lt"/>
                          <a:ea typeface="+mn-ea"/>
                          <a:cs typeface="+mn-cs"/>
                        </a:rPr>
                        <a:t>http://www.w3.org/2003/05/soap-encoding</a:t>
                      </a:r>
                      <a:endParaRPr lang="zh-CN" altLang="en-US" sz="1800" kern="1200" dirty="0">
                        <a:solidFill>
                          <a:schemeClr val="dk1"/>
                        </a:solidFill>
                        <a:latin typeface="+mn-lt"/>
                        <a:ea typeface="+mn-ea"/>
                        <a:cs typeface="+mn-cs"/>
                      </a:endParaRPr>
                    </a:p>
                  </a:txBody>
                  <a:tcPr marL="91431" marR="91431" marT="45686" marB="45686"/>
                </a:tc>
                <a:extLst>
                  <a:ext uri="{0D108BD9-81ED-4DB2-BD59-A6C34878D82A}">
                    <a16:rowId xmlns:a16="http://schemas.microsoft.com/office/drawing/2014/main" val="10002"/>
                  </a:ext>
                </a:extLst>
              </a:tr>
              <a:tr h="396169">
                <a:tc>
                  <a:txBody>
                    <a:bodyPr/>
                    <a:lstStyle/>
                    <a:p>
                      <a:r>
                        <a:rPr lang="en-US" altLang="zh-CN" sz="1800" dirty="0" err="1"/>
                        <a:t>rpc</a:t>
                      </a:r>
                      <a:endParaRPr lang="zh-CN" altLang="en-US" sz="1800" dirty="0"/>
                    </a:p>
                  </a:txBody>
                  <a:tcPr marL="91431" marR="91431" marT="45686" marB="45686"/>
                </a:tc>
                <a:tc>
                  <a:txBody>
                    <a:bodyPr/>
                    <a:lstStyle/>
                    <a:p>
                      <a:pPr marL="0" algn="l" defTabSz="914400" rtl="0" eaLnBrk="1" latinLnBrk="0" hangingPunct="1"/>
                      <a:r>
                        <a:rPr lang="en-US" altLang="zh-CN" sz="1800" kern="1200" dirty="0">
                          <a:solidFill>
                            <a:schemeClr val="dk1"/>
                          </a:solidFill>
                          <a:latin typeface="+mn-lt"/>
                          <a:ea typeface="+mn-ea"/>
                          <a:cs typeface="+mn-cs"/>
                        </a:rPr>
                        <a:t>http://www.w3.org/2003/05/soap-rpc</a:t>
                      </a:r>
                      <a:endParaRPr lang="zh-CN" altLang="en-US" sz="1800" kern="1200" dirty="0">
                        <a:solidFill>
                          <a:schemeClr val="dk1"/>
                        </a:solidFill>
                        <a:latin typeface="+mn-lt"/>
                        <a:ea typeface="+mn-ea"/>
                        <a:cs typeface="+mn-cs"/>
                      </a:endParaRPr>
                    </a:p>
                  </a:txBody>
                  <a:tcPr marL="91431" marR="91431" marT="45686" marB="45686"/>
                </a:tc>
                <a:extLst>
                  <a:ext uri="{0D108BD9-81ED-4DB2-BD59-A6C34878D82A}">
                    <a16:rowId xmlns:a16="http://schemas.microsoft.com/office/drawing/2014/main" val="10003"/>
                  </a:ext>
                </a:extLst>
              </a:tr>
              <a:tr h="396169">
                <a:tc>
                  <a:txBody>
                    <a:bodyPr/>
                    <a:lstStyle/>
                    <a:p>
                      <a:r>
                        <a:rPr lang="en-US" altLang="zh-CN" sz="1800" dirty="0"/>
                        <a:t>rep</a:t>
                      </a:r>
                      <a:endParaRPr lang="zh-CN" altLang="en-US" sz="1800" dirty="0"/>
                    </a:p>
                  </a:txBody>
                  <a:tcPr marL="91431" marR="91431" marT="45686" marB="45686"/>
                </a:tc>
                <a:tc>
                  <a:txBody>
                    <a:bodyPr/>
                    <a:lstStyle/>
                    <a:p>
                      <a:pPr marL="0" algn="l" defTabSz="914400" rtl="0" eaLnBrk="1" latinLnBrk="0" hangingPunct="1"/>
                      <a:r>
                        <a:rPr lang="en-US" altLang="zh-CN" sz="1800" kern="1200" dirty="0">
                          <a:solidFill>
                            <a:schemeClr val="dk1"/>
                          </a:solidFill>
                          <a:latin typeface="+mn-lt"/>
                          <a:ea typeface="+mn-ea"/>
                          <a:cs typeface="+mn-cs"/>
                        </a:rPr>
                        <a:t>http://www.w3.org/2004/08/representation</a:t>
                      </a:r>
                      <a:endParaRPr lang="zh-CN" altLang="en-US" sz="1800" kern="1200" dirty="0">
                        <a:solidFill>
                          <a:schemeClr val="dk1"/>
                        </a:solidFill>
                        <a:latin typeface="+mn-lt"/>
                        <a:ea typeface="+mn-ea"/>
                        <a:cs typeface="+mn-cs"/>
                      </a:endParaRPr>
                    </a:p>
                  </a:txBody>
                  <a:tcPr marL="91431" marR="91431" marT="45686" marB="45686"/>
                </a:tc>
                <a:extLst>
                  <a:ext uri="{0D108BD9-81ED-4DB2-BD59-A6C34878D82A}">
                    <a16:rowId xmlns:a16="http://schemas.microsoft.com/office/drawing/2014/main" val="10004"/>
                  </a:ext>
                </a:extLst>
              </a:tr>
              <a:tr h="396169">
                <a:tc>
                  <a:txBody>
                    <a:bodyPr/>
                    <a:lstStyle/>
                    <a:p>
                      <a:r>
                        <a:rPr lang="en-US" altLang="zh-CN" sz="1800" dirty="0" err="1"/>
                        <a:t>xop</a:t>
                      </a:r>
                      <a:endParaRPr lang="zh-CN" altLang="en-US" sz="1800" dirty="0"/>
                    </a:p>
                  </a:txBody>
                  <a:tcPr marL="91431" marR="91431" marT="45686" marB="45686"/>
                </a:tc>
                <a:tc>
                  <a:txBody>
                    <a:bodyPr/>
                    <a:lstStyle/>
                    <a:p>
                      <a:pPr marL="0" algn="l" defTabSz="914400" rtl="0" eaLnBrk="1" latinLnBrk="0" hangingPunct="1"/>
                      <a:r>
                        <a:rPr lang="en-US" altLang="zh-CN" sz="1800" kern="1200" dirty="0">
                          <a:solidFill>
                            <a:schemeClr val="dk1"/>
                          </a:solidFill>
                          <a:latin typeface="+mn-lt"/>
                          <a:ea typeface="+mn-ea"/>
                          <a:cs typeface="+mn-cs"/>
                        </a:rPr>
                        <a:t>http://www.w3.org/2004/08/xop/include</a:t>
                      </a:r>
                      <a:endParaRPr lang="zh-CN" altLang="en-US" sz="1800" kern="1200" dirty="0">
                        <a:solidFill>
                          <a:schemeClr val="dk1"/>
                        </a:solidFill>
                        <a:latin typeface="+mn-lt"/>
                        <a:ea typeface="+mn-ea"/>
                        <a:cs typeface="+mn-cs"/>
                      </a:endParaRPr>
                    </a:p>
                  </a:txBody>
                  <a:tcPr marL="91431" marR="91431" marT="45686" marB="45686"/>
                </a:tc>
                <a:extLst>
                  <a:ext uri="{0D108BD9-81ED-4DB2-BD59-A6C34878D82A}">
                    <a16:rowId xmlns:a16="http://schemas.microsoft.com/office/drawing/2014/main" val="10005"/>
                  </a:ext>
                </a:extLst>
              </a:tr>
              <a:tr h="396169">
                <a:tc>
                  <a:txBody>
                    <a:bodyPr/>
                    <a:lstStyle/>
                    <a:p>
                      <a:r>
                        <a:rPr lang="en-US" altLang="zh-CN" sz="1800" dirty="0" err="1"/>
                        <a:t>xmime</a:t>
                      </a:r>
                      <a:endParaRPr lang="zh-CN" altLang="en-US" sz="1800" dirty="0"/>
                    </a:p>
                  </a:txBody>
                  <a:tcPr marL="91431" marR="91431" marT="45686" marB="45686"/>
                </a:tc>
                <a:tc>
                  <a:txBody>
                    <a:bodyPr/>
                    <a:lstStyle/>
                    <a:p>
                      <a:pPr marL="0" algn="l" defTabSz="914400" rtl="0" eaLnBrk="1" latinLnBrk="0" hangingPunct="1"/>
                      <a:r>
                        <a:rPr lang="en-US" altLang="zh-CN" sz="1800" kern="1200" dirty="0">
                          <a:solidFill>
                            <a:schemeClr val="dk1"/>
                          </a:solidFill>
                          <a:latin typeface="+mn-lt"/>
                          <a:ea typeface="+mn-ea"/>
                          <a:cs typeface="+mn-cs"/>
                        </a:rPr>
                        <a:t>http://www.w3.org/2004/08/xop/include</a:t>
                      </a:r>
                      <a:endParaRPr lang="zh-CN" altLang="en-US" sz="1800" kern="1200" dirty="0">
                        <a:solidFill>
                          <a:schemeClr val="dk1"/>
                        </a:solidFill>
                        <a:latin typeface="+mn-lt"/>
                        <a:ea typeface="+mn-ea"/>
                        <a:cs typeface="+mn-cs"/>
                      </a:endParaRPr>
                    </a:p>
                  </a:txBody>
                  <a:tcPr marL="91431" marR="91431" marT="45686" marB="45686"/>
                </a:tc>
                <a:extLst>
                  <a:ext uri="{0D108BD9-81ED-4DB2-BD59-A6C34878D82A}">
                    <a16:rowId xmlns:a16="http://schemas.microsoft.com/office/drawing/2014/main" val="10006"/>
                  </a:ext>
                </a:extLst>
              </a:tr>
              <a:tr h="396169">
                <a:tc>
                  <a:txBody>
                    <a:bodyPr/>
                    <a:lstStyle/>
                    <a:p>
                      <a:r>
                        <a:rPr lang="en-US" altLang="zh-CN" sz="1800" dirty="0" err="1"/>
                        <a:t>xs</a:t>
                      </a:r>
                      <a:endParaRPr lang="zh-CN" altLang="en-US" sz="1800" dirty="0"/>
                    </a:p>
                  </a:txBody>
                  <a:tcPr marL="91431" marR="91431" marT="45686" marB="45686"/>
                </a:tc>
                <a:tc>
                  <a:txBody>
                    <a:bodyPr/>
                    <a:lstStyle/>
                    <a:p>
                      <a:r>
                        <a:rPr lang="en-US" altLang="zh-CN" sz="1800" dirty="0"/>
                        <a:t>http://www.w3.org/2001/XMLSchema</a:t>
                      </a:r>
                      <a:endParaRPr lang="zh-CN" altLang="en-US" sz="1800" dirty="0"/>
                    </a:p>
                  </a:txBody>
                  <a:tcPr marL="91431" marR="91431" marT="45686" marB="45686"/>
                </a:tc>
                <a:extLst>
                  <a:ext uri="{0D108BD9-81ED-4DB2-BD59-A6C34878D82A}">
                    <a16:rowId xmlns:a16="http://schemas.microsoft.com/office/drawing/2014/main" val="10007"/>
                  </a:ext>
                </a:extLst>
              </a:tr>
              <a:tr h="396169">
                <a:tc>
                  <a:txBody>
                    <a:bodyPr/>
                    <a:lstStyle/>
                    <a:p>
                      <a:r>
                        <a:rPr lang="en-US" altLang="zh-CN" sz="1800" dirty="0" err="1"/>
                        <a:t>xsi</a:t>
                      </a:r>
                      <a:endParaRPr lang="zh-CN" altLang="en-US" sz="1800" dirty="0"/>
                    </a:p>
                  </a:txBody>
                  <a:tcPr marL="91431" marR="91431" marT="45686" marB="45686"/>
                </a:tc>
                <a:tc>
                  <a:txBody>
                    <a:bodyPr/>
                    <a:lstStyle/>
                    <a:p>
                      <a:r>
                        <a:rPr lang="en-US" altLang="zh-CN" sz="1800" dirty="0"/>
                        <a:t>http://www.w3.org/2001/XMLSchema-instance</a:t>
                      </a:r>
                      <a:endParaRPr lang="zh-CN" altLang="en-US" sz="1800" dirty="0"/>
                    </a:p>
                  </a:txBody>
                  <a:tcPr marL="91431" marR="91431" marT="45686" marB="45686"/>
                </a:tc>
                <a:extLst>
                  <a:ext uri="{0D108BD9-81ED-4DB2-BD59-A6C34878D82A}">
                    <a16:rowId xmlns:a16="http://schemas.microsoft.com/office/drawing/2014/main" val="10008"/>
                  </a:ext>
                </a:extLst>
              </a:tr>
            </a:tbl>
          </a:graphicData>
        </a:graphic>
      </p:graphicFrame>
      <p:sp>
        <p:nvSpPr>
          <p:cNvPr id="11299" name="灯片编号占位符 3">
            <a:extLst>
              <a:ext uri="{FF2B5EF4-FFF2-40B4-BE49-F238E27FC236}">
                <a16:creationId xmlns:a16="http://schemas.microsoft.com/office/drawing/2014/main" id="{E7B97909-D84C-4AFE-8B8C-FD682744103A}"/>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307800C5-7DD6-4A0B-B773-D38152CD8539}" type="slidenum">
              <a:rPr lang="en-US" altLang="zh-CN" smtClean="0"/>
              <a:pPr>
                <a:spcBef>
                  <a:spcPct val="0"/>
                </a:spcBef>
                <a:buClrTx/>
                <a:buFontTx/>
                <a:buNone/>
              </a:pPr>
              <a:t>5</a:t>
            </a:fld>
            <a:endParaRPr lang="en-US" altLang="zh-CN" sz="100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a:extLst>
              <a:ext uri="{FF2B5EF4-FFF2-40B4-BE49-F238E27FC236}">
                <a16:creationId xmlns:a16="http://schemas.microsoft.com/office/drawing/2014/main" id="{452D1FF5-7A96-4218-B3AF-DF9FD733D4B8}"/>
              </a:ext>
            </a:extLst>
          </p:cNvPr>
          <p:cNvSpPr>
            <a:spLocks noGrp="1"/>
          </p:cNvSpPr>
          <p:nvPr>
            <p:ph type="title"/>
          </p:nvPr>
        </p:nvSpPr>
        <p:spPr/>
        <p:txBody>
          <a:bodyPr>
            <a:normAutofit fontScale="90000"/>
          </a:bodyPr>
          <a:lstStyle/>
          <a:p>
            <a:r>
              <a:rPr lang="en-US" altLang="zh-CN" dirty="0"/>
              <a:t>SOAP Messages</a:t>
            </a:r>
            <a:endParaRPr lang="zh-CN" altLang="en-US" dirty="0"/>
          </a:p>
        </p:txBody>
      </p:sp>
      <p:pic>
        <p:nvPicPr>
          <p:cNvPr id="14339" name="内容占位符 5" descr="untitled.bmp">
            <a:extLst>
              <a:ext uri="{FF2B5EF4-FFF2-40B4-BE49-F238E27FC236}">
                <a16:creationId xmlns:a16="http://schemas.microsoft.com/office/drawing/2014/main" id="{1A54CF7F-EEE6-4975-B4C3-E7B5B6614928}"/>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4942848" y="2034381"/>
            <a:ext cx="3085140" cy="3896221"/>
          </a:xfrm>
        </p:spPr>
      </p:pic>
      <p:sp>
        <p:nvSpPr>
          <p:cNvPr id="7" name="内容占位符 6">
            <a:extLst>
              <a:ext uri="{FF2B5EF4-FFF2-40B4-BE49-F238E27FC236}">
                <a16:creationId xmlns:a16="http://schemas.microsoft.com/office/drawing/2014/main" id="{15D5EF89-E943-497B-87F4-C8F522139F9C}"/>
              </a:ext>
            </a:extLst>
          </p:cNvPr>
          <p:cNvSpPr>
            <a:spLocks noGrp="1"/>
          </p:cNvSpPr>
          <p:nvPr>
            <p:ph sz="half" idx="2"/>
          </p:nvPr>
        </p:nvSpPr>
        <p:spPr>
          <a:xfrm>
            <a:off x="395287" y="1330324"/>
            <a:ext cx="4403742" cy="4997450"/>
          </a:xfrm>
        </p:spPr>
        <p:txBody>
          <a:bodyPr>
            <a:normAutofit lnSpcReduction="10000"/>
          </a:bodyPr>
          <a:lstStyle/>
          <a:p>
            <a:pPr>
              <a:lnSpc>
                <a:spcPct val="110000"/>
              </a:lnSpc>
              <a:defRPr/>
            </a:pPr>
            <a:r>
              <a:rPr lang="en-US" altLang="zh-CN" sz="2000" dirty="0"/>
              <a:t>The SOAP message contains two SOAP-specific sub-elements within the overall </a:t>
            </a:r>
            <a:r>
              <a:rPr lang="en-US" altLang="zh-CN" sz="2000" dirty="0" err="1">
                <a:hlinkClick r:id="rId4"/>
              </a:rPr>
              <a:t>env:Envelope</a:t>
            </a:r>
            <a:endParaRPr lang="en-US" altLang="zh-CN" sz="2000" dirty="0"/>
          </a:p>
          <a:p>
            <a:pPr lvl="1">
              <a:lnSpc>
                <a:spcPct val="110000"/>
              </a:lnSpc>
              <a:defRPr/>
            </a:pPr>
            <a:r>
              <a:rPr lang="en-US" altLang="zh-CN" sz="1600" dirty="0"/>
              <a:t>The </a:t>
            </a:r>
            <a:r>
              <a:rPr lang="en-US" altLang="zh-CN" sz="1600" dirty="0">
                <a:solidFill>
                  <a:srgbClr val="FF0000"/>
                </a:solidFill>
              </a:rPr>
              <a:t>SOAP body </a:t>
            </a:r>
            <a:r>
              <a:rPr lang="en-US" altLang="zh-CN" sz="1600" dirty="0" err="1">
                <a:hlinkClick r:id="rId5"/>
              </a:rPr>
              <a:t>env:Body</a:t>
            </a:r>
            <a:r>
              <a:rPr lang="en-US" altLang="zh-CN" sz="1600" dirty="0">
                <a:hlinkClick r:id="rId5"/>
              </a:rPr>
              <a:t> </a:t>
            </a:r>
            <a:r>
              <a:rPr lang="en-US" altLang="zh-CN" sz="1600" dirty="0"/>
              <a:t>carries the main end-to-end information </a:t>
            </a:r>
            <a:r>
              <a:rPr lang="en-US" altLang="zh-CN" sz="1600" dirty="0">
                <a:solidFill>
                  <a:srgbClr val="FF0000"/>
                </a:solidFill>
              </a:rPr>
              <a:t> </a:t>
            </a:r>
          </a:p>
          <a:p>
            <a:pPr lvl="1">
              <a:lnSpc>
                <a:spcPct val="110000"/>
              </a:lnSpc>
              <a:defRPr/>
            </a:pPr>
            <a:r>
              <a:rPr lang="en-US" altLang="zh-CN" sz="1600" dirty="0"/>
              <a:t>The</a:t>
            </a:r>
            <a:r>
              <a:rPr lang="en-US" altLang="zh-CN" sz="1600" dirty="0">
                <a:solidFill>
                  <a:srgbClr val="FF0000"/>
                </a:solidFill>
              </a:rPr>
              <a:t> SOAP header </a:t>
            </a:r>
            <a:r>
              <a:rPr lang="en-US" altLang="zh-CN" sz="1600" dirty="0" err="1">
                <a:hlinkClick r:id="rId6"/>
              </a:rPr>
              <a:t>env:Header</a:t>
            </a:r>
            <a:r>
              <a:rPr lang="en-US" altLang="zh-CN" sz="1600" dirty="0">
                <a:hlinkClick r:id="rId6"/>
              </a:rPr>
              <a:t> </a:t>
            </a:r>
            <a:r>
              <a:rPr lang="en-US" altLang="zh-CN" sz="1600" dirty="0"/>
              <a:t>is an extension mechanism to pass “control” information (e.g. directives or contextual information related to the processing of the message), which allows SOAP message to be extended in an application-specific manner</a:t>
            </a:r>
          </a:p>
          <a:p>
            <a:pPr>
              <a:lnSpc>
                <a:spcPct val="110000"/>
              </a:lnSpc>
              <a:defRPr/>
            </a:pPr>
            <a:r>
              <a:rPr lang="en-US" altLang="zh-CN" sz="2000" dirty="0"/>
              <a:t>The choices of what data is placed in a header block and what goes in the SOAP body are decisions made at the time of application design</a:t>
            </a:r>
          </a:p>
        </p:txBody>
      </p:sp>
      <p:sp>
        <p:nvSpPr>
          <p:cNvPr id="14341" name="灯片编号占位符 3">
            <a:extLst>
              <a:ext uri="{FF2B5EF4-FFF2-40B4-BE49-F238E27FC236}">
                <a16:creationId xmlns:a16="http://schemas.microsoft.com/office/drawing/2014/main" id="{0269FD82-6150-4B3E-8E1C-9DBB0ECECAE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FC87E31D-3B7B-4F4D-B9F2-11017989E313}" type="slidenum">
              <a:rPr lang="en-US" altLang="zh-CN" sz="1000"/>
              <a:pPr>
                <a:spcBef>
                  <a:spcPct val="0"/>
                </a:spcBef>
                <a:buClrTx/>
                <a:buFontTx/>
                <a:buNone/>
              </a:pPr>
              <a:t>6</a:t>
            </a:fld>
            <a:endParaRPr lang="en-US" altLang="zh-CN" sz="1000"/>
          </a:p>
        </p:txBody>
      </p:sp>
      <p:sp>
        <p:nvSpPr>
          <p:cNvPr id="6" name="Line 6">
            <a:extLst>
              <a:ext uri="{FF2B5EF4-FFF2-40B4-BE49-F238E27FC236}">
                <a16:creationId xmlns:a16="http://schemas.microsoft.com/office/drawing/2014/main" id="{593A522D-55F9-4764-91EC-CC9C82AB35D2}"/>
              </a:ext>
            </a:extLst>
          </p:cNvPr>
          <p:cNvSpPr>
            <a:spLocks noChangeShapeType="1"/>
          </p:cNvSpPr>
          <p:nvPr/>
        </p:nvSpPr>
        <p:spPr bwMode="auto">
          <a:xfrm flipH="1">
            <a:off x="7164286" y="3789041"/>
            <a:ext cx="774699" cy="576064"/>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 name="Text Box 7">
            <a:extLst>
              <a:ext uri="{FF2B5EF4-FFF2-40B4-BE49-F238E27FC236}">
                <a16:creationId xmlns:a16="http://schemas.microsoft.com/office/drawing/2014/main" id="{A4B1BA3E-66CC-4494-B32C-1974E7D47292}"/>
              </a:ext>
            </a:extLst>
          </p:cNvPr>
          <p:cNvSpPr txBox="1">
            <a:spLocks noChangeArrowheads="1"/>
          </p:cNvSpPr>
          <p:nvPr/>
        </p:nvSpPr>
        <p:spPr bwMode="auto">
          <a:xfrm>
            <a:off x="7794774" y="3449042"/>
            <a:ext cx="14414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None/>
            </a:pPr>
            <a:r>
              <a:rPr lang="en-US" altLang="zh-CN" sz="1800" dirty="0"/>
              <a:t>mandatory</a:t>
            </a:r>
          </a:p>
        </p:txBody>
      </p:sp>
      <p:sp>
        <p:nvSpPr>
          <p:cNvPr id="9" name="Line 6">
            <a:extLst>
              <a:ext uri="{FF2B5EF4-FFF2-40B4-BE49-F238E27FC236}">
                <a16:creationId xmlns:a16="http://schemas.microsoft.com/office/drawing/2014/main" id="{F2AE2CAC-9FD4-4968-9E49-C4264A855F22}"/>
              </a:ext>
            </a:extLst>
          </p:cNvPr>
          <p:cNvSpPr>
            <a:spLocks noChangeShapeType="1"/>
          </p:cNvSpPr>
          <p:nvPr/>
        </p:nvSpPr>
        <p:spPr bwMode="auto">
          <a:xfrm flipH="1">
            <a:off x="7020074" y="2104132"/>
            <a:ext cx="774700" cy="509587"/>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Text Box 7">
            <a:extLst>
              <a:ext uri="{FF2B5EF4-FFF2-40B4-BE49-F238E27FC236}">
                <a16:creationId xmlns:a16="http://schemas.microsoft.com/office/drawing/2014/main" id="{01E539D4-9A06-4DE7-A5B5-A33689F80111}"/>
              </a:ext>
            </a:extLst>
          </p:cNvPr>
          <p:cNvSpPr txBox="1">
            <a:spLocks noChangeArrowheads="1"/>
          </p:cNvSpPr>
          <p:nvPr/>
        </p:nvSpPr>
        <p:spPr bwMode="auto">
          <a:xfrm>
            <a:off x="7739211" y="1707257"/>
            <a:ext cx="10350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None/>
            </a:pPr>
            <a:r>
              <a:rPr lang="en-US" altLang="zh-CN" sz="1800" dirty="0"/>
              <a:t>optional</a:t>
            </a:r>
          </a:p>
        </p:txBody>
      </p:sp>
      <p:sp>
        <p:nvSpPr>
          <p:cNvPr id="11" name="Line 6">
            <a:extLst>
              <a:ext uri="{FF2B5EF4-FFF2-40B4-BE49-F238E27FC236}">
                <a16:creationId xmlns:a16="http://schemas.microsoft.com/office/drawing/2014/main" id="{E1EAA545-0999-42F7-81A9-743FB4061480}"/>
              </a:ext>
            </a:extLst>
          </p:cNvPr>
          <p:cNvSpPr>
            <a:spLocks noChangeShapeType="1"/>
          </p:cNvSpPr>
          <p:nvPr/>
        </p:nvSpPr>
        <p:spPr bwMode="auto">
          <a:xfrm flipH="1">
            <a:off x="5940574" y="1713706"/>
            <a:ext cx="935681" cy="1247676"/>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 name="Text Box 7">
            <a:extLst>
              <a:ext uri="{FF2B5EF4-FFF2-40B4-BE49-F238E27FC236}">
                <a16:creationId xmlns:a16="http://schemas.microsoft.com/office/drawing/2014/main" id="{52182BCC-00D2-43F5-894E-755F00F78BA0}"/>
              </a:ext>
            </a:extLst>
          </p:cNvPr>
          <p:cNvSpPr txBox="1">
            <a:spLocks noChangeArrowheads="1"/>
          </p:cNvSpPr>
          <p:nvPr/>
        </p:nvSpPr>
        <p:spPr bwMode="auto">
          <a:xfrm>
            <a:off x="5580112" y="1330324"/>
            <a:ext cx="28082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None/>
            </a:pPr>
            <a:r>
              <a:rPr lang="en-US" altLang="zh-CN" sz="1800" dirty="0"/>
              <a:t>Immediate child elements</a:t>
            </a:r>
          </a:p>
        </p:txBody>
      </p:sp>
      <p:sp>
        <p:nvSpPr>
          <p:cNvPr id="13" name="Line 6">
            <a:extLst>
              <a:ext uri="{FF2B5EF4-FFF2-40B4-BE49-F238E27FC236}">
                <a16:creationId xmlns:a16="http://schemas.microsoft.com/office/drawing/2014/main" id="{5AC4625B-8C00-407D-8C4A-E0003214575B}"/>
              </a:ext>
            </a:extLst>
          </p:cNvPr>
          <p:cNvSpPr>
            <a:spLocks noChangeShapeType="1"/>
          </p:cNvSpPr>
          <p:nvPr/>
        </p:nvSpPr>
        <p:spPr bwMode="auto">
          <a:xfrm flipH="1">
            <a:off x="6013598" y="1707257"/>
            <a:ext cx="862657" cy="1830387"/>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linds(horizontal)">
                                      <p:cBhvr>
                                        <p:cTn id="10" dur="500"/>
                                        <p:tgtEl>
                                          <p:spTgt spid="8"/>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blinds(horizontal)">
                                      <p:cBhvr>
                                        <p:cTn id="15" dur="500"/>
                                        <p:tgtEl>
                                          <p:spTgt spid="9"/>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blinds(horizontal)">
                                      <p:cBhvr>
                                        <p:cTn id="18" dur="500"/>
                                        <p:tgtEl>
                                          <p:spTgt spid="1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blinds(horizontal)">
                                      <p:cBhvr>
                                        <p:cTn id="23" dur="500"/>
                                        <p:tgtEl>
                                          <p:spTgt spid="11"/>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blinds(horizontal)">
                                      <p:cBhvr>
                                        <p:cTn id="26" dur="500"/>
                                        <p:tgtEl>
                                          <p:spTgt spid="12"/>
                                        </p:tgtEl>
                                      </p:cBhvr>
                                    </p:animEffect>
                                  </p:childTnLst>
                                </p:cTn>
                              </p:par>
                              <p:par>
                                <p:cTn id="27" presetID="3" presetClass="entr" presetSubtype="1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blinds(horizontal)">
                                      <p:cBhvr>
                                        <p:cTn id="2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a:extLst>
              <a:ext uri="{FF2B5EF4-FFF2-40B4-BE49-F238E27FC236}">
                <a16:creationId xmlns:a16="http://schemas.microsoft.com/office/drawing/2014/main" id="{EE3D4EEC-C272-411B-81E6-AC70ACB2A5F4}"/>
              </a:ext>
            </a:extLst>
          </p:cNvPr>
          <p:cNvSpPr>
            <a:spLocks noGrp="1"/>
          </p:cNvSpPr>
          <p:nvPr>
            <p:ph type="title"/>
          </p:nvPr>
        </p:nvSpPr>
        <p:spPr/>
        <p:txBody>
          <a:bodyPr>
            <a:normAutofit fontScale="90000"/>
          </a:bodyPr>
          <a:lstStyle/>
          <a:p>
            <a:r>
              <a:rPr lang="en-US" altLang="zh-CN" dirty="0"/>
              <a:t>SOAP Processing Model (1/2)</a:t>
            </a:r>
            <a:endParaRPr lang="zh-CN" altLang="en-US" dirty="0"/>
          </a:p>
        </p:txBody>
      </p:sp>
      <p:sp>
        <p:nvSpPr>
          <p:cNvPr id="16387" name="灯片编号占位符 3">
            <a:extLst>
              <a:ext uri="{FF2B5EF4-FFF2-40B4-BE49-F238E27FC236}">
                <a16:creationId xmlns:a16="http://schemas.microsoft.com/office/drawing/2014/main" id="{5B035924-7333-4397-9CD8-D1DA5DC3667C}"/>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307800C5-7DD6-4A0B-B773-D38152CD8539}" type="slidenum">
              <a:rPr lang="en-US" altLang="zh-CN" smtClean="0"/>
              <a:pPr>
                <a:spcBef>
                  <a:spcPct val="0"/>
                </a:spcBef>
                <a:buClrTx/>
                <a:buFontTx/>
                <a:buNone/>
              </a:pPr>
              <a:t>7</a:t>
            </a:fld>
            <a:endParaRPr lang="en-US" altLang="zh-CN" sz="1000"/>
          </a:p>
        </p:txBody>
      </p:sp>
      <p:graphicFrame>
        <p:nvGraphicFramePr>
          <p:cNvPr id="16388" name="内容占位符 4">
            <a:extLst>
              <a:ext uri="{FF2B5EF4-FFF2-40B4-BE49-F238E27FC236}">
                <a16:creationId xmlns:a16="http://schemas.microsoft.com/office/drawing/2014/main" id="{0B0E8D62-9EE3-4FE8-B759-9DFEBBBC131D}"/>
              </a:ext>
            </a:extLst>
          </p:cNvPr>
          <p:cNvGraphicFramePr>
            <a:graphicFrameLocks noChangeAspect="1"/>
          </p:cNvGraphicFramePr>
          <p:nvPr/>
        </p:nvGraphicFramePr>
        <p:xfrm>
          <a:off x="2414588" y="1725613"/>
          <a:ext cx="4310062" cy="2135187"/>
        </p:xfrm>
        <a:graphic>
          <a:graphicData uri="http://schemas.openxmlformats.org/presentationml/2006/ole">
            <mc:AlternateContent xmlns:mc="http://schemas.openxmlformats.org/markup-compatibility/2006">
              <mc:Choice xmlns:v="urn:schemas-microsoft-com:vml" Requires="v">
                <p:oleObj spid="_x0000_s63505" name="Visio" r:id="rId3" imgW="2506939" imgH="1241994" progId="Visio.Drawing.11">
                  <p:embed/>
                </p:oleObj>
              </mc:Choice>
              <mc:Fallback>
                <p:oleObj name="Visio" r:id="rId3" imgW="2506939" imgH="1241994" progId="Visio.Drawing.11">
                  <p:embed/>
                  <p:pic>
                    <p:nvPicPr>
                      <p:cNvPr id="16388" name="内容占位符 4">
                        <a:extLst>
                          <a:ext uri="{FF2B5EF4-FFF2-40B4-BE49-F238E27FC236}">
                            <a16:creationId xmlns:a16="http://schemas.microsoft.com/office/drawing/2014/main" id="{0B0E8D62-9EE3-4FE8-B759-9DFEBBBC13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4588" y="1725613"/>
                        <a:ext cx="4310062" cy="2135187"/>
                      </a:xfrm>
                      <a:prstGeom prst="rect">
                        <a:avLst/>
                      </a:prstGeom>
                      <a:noFill/>
                      <a:ln>
                        <a:noFill/>
                      </a:ln>
                    </p:spPr>
                  </p:pic>
                </p:oleObj>
              </mc:Fallback>
            </mc:AlternateContent>
          </a:graphicData>
        </a:graphic>
      </p:graphicFrame>
      <p:pic>
        <p:nvPicPr>
          <p:cNvPr id="16389" name="图片 6">
            <a:extLst>
              <a:ext uri="{FF2B5EF4-FFF2-40B4-BE49-F238E27FC236}">
                <a16:creationId xmlns:a16="http://schemas.microsoft.com/office/drawing/2014/main" id="{CE840A3A-C27E-494B-AA63-3DE5A0B99C0B}"/>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66688" y="4289425"/>
            <a:ext cx="8805862" cy="152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a:extLst>
              <a:ext uri="{FF2B5EF4-FFF2-40B4-BE49-F238E27FC236}">
                <a16:creationId xmlns:a16="http://schemas.microsoft.com/office/drawing/2014/main" id="{C004CCB8-898F-4B81-94D1-29F33E3E91C7}"/>
              </a:ext>
            </a:extLst>
          </p:cNvPr>
          <p:cNvSpPr>
            <a:spLocks noGrp="1"/>
          </p:cNvSpPr>
          <p:nvPr>
            <p:ph type="title"/>
          </p:nvPr>
        </p:nvSpPr>
        <p:spPr/>
        <p:txBody>
          <a:bodyPr>
            <a:normAutofit fontScale="90000"/>
          </a:bodyPr>
          <a:lstStyle/>
          <a:p>
            <a:r>
              <a:rPr lang="en-US" altLang="zh-CN" dirty="0"/>
              <a:t>SOAP Processing Model</a:t>
            </a:r>
            <a:r>
              <a:rPr lang="zh-CN" altLang="en-US" dirty="0"/>
              <a:t> </a:t>
            </a:r>
            <a:r>
              <a:rPr lang="en-US" altLang="zh-CN" dirty="0"/>
              <a:t>(2/2)</a:t>
            </a:r>
            <a:endParaRPr lang="zh-CN" altLang="en-US" dirty="0"/>
          </a:p>
        </p:txBody>
      </p:sp>
      <p:sp>
        <p:nvSpPr>
          <p:cNvPr id="3" name="内容占位符 2">
            <a:extLst>
              <a:ext uri="{FF2B5EF4-FFF2-40B4-BE49-F238E27FC236}">
                <a16:creationId xmlns:a16="http://schemas.microsoft.com/office/drawing/2014/main" id="{F8B8F87E-CFF0-4E92-9E34-F46CE1BDAC41}"/>
              </a:ext>
            </a:extLst>
          </p:cNvPr>
          <p:cNvSpPr>
            <a:spLocks noGrp="1"/>
          </p:cNvSpPr>
          <p:nvPr>
            <p:ph idx="1"/>
          </p:nvPr>
        </p:nvSpPr>
        <p:spPr/>
        <p:txBody>
          <a:bodyPr>
            <a:normAutofit/>
          </a:bodyPr>
          <a:lstStyle/>
          <a:p>
            <a:pPr>
              <a:lnSpc>
                <a:spcPct val="120000"/>
              </a:lnSpc>
              <a:defRPr/>
            </a:pPr>
            <a:r>
              <a:rPr lang="en-US" altLang="zh-CN" sz="2000" dirty="0"/>
              <a:t>The immediate child elements of the </a:t>
            </a:r>
            <a:r>
              <a:rPr lang="en-US" altLang="zh-CN" sz="2000" dirty="0" err="1">
                <a:hlinkClick r:id="rId2"/>
              </a:rPr>
              <a:t>env:Header</a:t>
            </a:r>
            <a:r>
              <a:rPr lang="en-US" altLang="zh-CN" sz="2000" dirty="0"/>
              <a:t> element are called header blocks, and represent a logical grouping of data which can individually be targeted at SOAP nodes that might be encountered in the path</a:t>
            </a:r>
          </a:p>
          <a:p>
            <a:pPr>
              <a:lnSpc>
                <a:spcPct val="120000"/>
              </a:lnSpc>
              <a:defRPr/>
            </a:pPr>
            <a:r>
              <a:rPr lang="en-US" altLang="zh-CN" sz="2000" dirty="0"/>
              <a:t>Along SOAP message path from an initial SOAP sender to an ultimate SOAP receiver, SOAP intermediaries can be used to process SOAP messages</a:t>
            </a:r>
          </a:p>
          <a:p>
            <a:pPr>
              <a:lnSpc>
                <a:spcPct val="120000"/>
              </a:lnSpc>
              <a:defRPr/>
            </a:pPr>
            <a:r>
              <a:rPr lang="en-US" altLang="zh-CN" sz="2000" dirty="0"/>
              <a:t>Headers may be inspected, inserted, deleted or forwarded by SOAP nodes encountered along SOAP message path. The nodes may provide value-added services based on data in such headers </a:t>
            </a:r>
          </a:p>
          <a:p>
            <a:pPr>
              <a:lnSpc>
                <a:spcPct val="120000"/>
              </a:lnSpc>
              <a:defRPr/>
            </a:pPr>
            <a:r>
              <a:rPr lang="en-US" altLang="zh-CN" sz="2000" dirty="0"/>
              <a:t>The SOAP specifications do not deal with: </a:t>
            </a:r>
          </a:p>
          <a:p>
            <a:pPr lvl="1">
              <a:lnSpc>
                <a:spcPct val="120000"/>
              </a:lnSpc>
              <a:defRPr/>
            </a:pPr>
            <a:r>
              <a:rPr lang="en-US" altLang="zh-CN" sz="1600" dirty="0"/>
              <a:t>What the contents of header elements are</a:t>
            </a:r>
          </a:p>
          <a:p>
            <a:pPr lvl="1">
              <a:lnSpc>
                <a:spcPct val="120000"/>
              </a:lnSpc>
              <a:defRPr/>
            </a:pPr>
            <a:r>
              <a:rPr lang="en-US" altLang="zh-CN" sz="1600" dirty="0"/>
              <a:t>How SOAP messages are routed between nodes</a:t>
            </a:r>
          </a:p>
          <a:p>
            <a:pPr lvl="1">
              <a:lnSpc>
                <a:spcPct val="120000"/>
              </a:lnSpc>
              <a:defRPr/>
            </a:pPr>
            <a:r>
              <a:rPr lang="en-US" altLang="zh-CN" sz="1600" dirty="0"/>
              <a:t>The manner by which the route is determined and so forth</a:t>
            </a:r>
          </a:p>
        </p:txBody>
      </p:sp>
      <p:sp>
        <p:nvSpPr>
          <p:cNvPr id="17412" name="灯片编号占位符 3">
            <a:extLst>
              <a:ext uri="{FF2B5EF4-FFF2-40B4-BE49-F238E27FC236}">
                <a16:creationId xmlns:a16="http://schemas.microsoft.com/office/drawing/2014/main" id="{21D721FA-ACA3-4D7D-BDDF-D473E654B128}"/>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307800C5-7DD6-4A0B-B773-D38152CD8539}" type="slidenum">
              <a:rPr lang="en-US" altLang="zh-CN" smtClean="0"/>
              <a:pPr>
                <a:spcBef>
                  <a:spcPct val="0"/>
                </a:spcBef>
                <a:buClrTx/>
                <a:buFontTx/>
                <a:buNone/>
              </a:pPr>
              <a:t>8</a:t>
            </a:fld>
            <a:endParaRPr lang="en-US" altLang="zh-CN" sz="100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normAutofit fontScale="90000"/>
          </a:bodyPr>
          <a:lstStyle/>
          <a:p>
            <a:r>
              <a:rPr lang="en-US" altLang="zh-CN" dirty="0">
                <a:ea typeface="宋体" pitchFamily="2" charset="-122"/>
              </a:rPr>
              <a:t>Two Types of Interaction Patterns</a:t>
            </a:r>
          </a:p>
        </p:txBody>
      </p:sp>
      <p:sp>
        <p:nvSpPr>
          <p:cNvPr id="24580" name="Rectangle 3"/>
          <p:cNvSpPr>
            <a:spLocks noGrp="1" noChangeArrowheads="1"/>
          </p:cNvSpPr>
          <p:nvPr>
            <p:ph idx="1"/>
          </p:nvPr>
        </p:nvSpPr>
        <p:spPr/>
        <p:txBody>
          <a:bodyPr/>
          <a:lstStyle/>
          <a:p>
            <a:pPr>
              <a:defRPr/>
            </a:pPr>
            <a:r>
              <a:rPr lang="en-US" altLang="zh-CN" dirty="0"/>
              <a:t>Document-oriented pattern</a:t>
            </a:r>
          </a:p>
          <a:p>
            <a:pPr lvl="1">
              <a:defRPr/>
            </a:pPr>
            <a:r>
              <a:rPr lang="en-US" altLang="zh-CN" dirty="0"/>
              <a:t>An asynchronous interaction approach</a:t>
            </a:r>
          </a:p>
          <a:p>
            <a:pPr lvl="1">
              <a:defRPr/>
            </a:pPr>
            <a:r>
              <a:rPr lang="en-US" altLang="zh-CN" dirty="0"/>
              <a:t>Sends a complete XML document, and waits for a notification. Result will be sent back after processing</a:t>
            </a:r>
          </a:p>
          <a:p>
            <a:pPr>
              <a:defRPr/>
            </a:pPr>
            <a:r>
              <a:rPr lang="en-US" altLang="zh-CN" dirty="0"/>
              <a:t>Remote Procedure Call pattern</a:t>
            </a:r>
          </a:p>
          <a:p>
            <a:pPr lvl="1">
              <a:defRPr/>
            </a:pPr>
            <a:r>
              <a:rPr lang="en-US" altLang="zh-CN" dirty="0"/>
              <a:t>A synchronous request/response interaction approach  </a:t>
            </a:r>
          </a:p>
          <a:p>
            <a:pPr lvl="1">
              <a:defRPr/>
            </a:pPr>
            <a:r>
              <a:rPr lang="en-US" altLang="zh-CN" dirty="0"/>
              <a:t>Sends request and waits for response</a:t>
            </a:r>
          </a:p>
        </p:txBody>
      </p:sp>
      <p:sp>
        <p:nvSpPr>
          <p:cNvPr id="26628" name="灯片编号占位符 5"/>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D6DAFD4E-1804-428E-A67D-F8CF21904940}" type="slidenum">
              <a:rPr lang="en-US" altLang="zh-CN"/>
              <a:pPr eaLnBrk="1" hangingPunct="1"/>
              <a:t>9</a:t>
            </a:fld>
            <a:endParaRPr lang="en-US" altLang="zh-CN"/>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a:extLst>
              <a:ext uri="{FF2B5EF4-FFF2-40B4-BE49-F238E27FC236}">
                <a16:creationId xmlns:a16="http://schemas.microsoft.com/office/drawing/2014/main" id="{26179B03-3B7E-41D6-9CC8-E3649713C1FA}"/>
              </a:ext>
            </a:extLst>
          </p:cNvPr>
          <p:cNvSpPr>
            <a:spLocks noGrp="1"/>
          </p:cNvSpPr>
          <p:nvPr>
            <p:ph type="title"/>
          </p:nvPr>
        </p:nvSpPr>
        <p:spPr/>
        <p:txBody>
          <a:bodyPr>
            <a:noAutofit/>
          </a:bodyPr>
          <a:lstStyle/>
          <a:p>
            <a:pPr>
              <a:defRPr/>
            </a:pPr>
            <a:r>
              <a:rPr lang="en-US" altLang="zh-CN" sz="2800" dirty="0"/>
              <a:t>Document-oriented Exchanges</a:t>
            </a:r>
            <a:br>
              <a:rPr lang="en-US" altLang="zh-CN" sz="2800" dirty="0"/>
            </a:br>
            <a:r>
              <a:rPr lang="en-US" altLang="zh-CN" sz="2800" dirty="0"/>
              <a:t>From invoker to service (1/2)</a:t>
            </a:r>
            <a:endParaRPr lang="zh-CN" altLang="en-US" sz="2800" dirty="0"/>
          </a:p>
        </p:txBody>
      </p:sp>
      <p:sp>
        <p:nvSpPr>
          <p:cNvPr id="6147" name="灯片编号占位符 3">
            <a:extLst>
              <a:ext uri="{FF2B5EF4-FFF2-40B4-BE49-F238E27FC236}">
                <a16:creationId xmlns:a16="http://schemas.microsoft.com/office/drawing/2014/main" id="{8BC1F9FC-BD36-4AB3-ABAC-C7C34F68D623}"/>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48FD81B7-4A71-4D58-92B0-B2E871B1875E}" type="slidenum">
              <a:rPr lang="en-US" altLang="zh-CN" smtClean="0"/>
              <a:pPr/>
              <a:t>10</a:t>
            </a:fld>
            <a:endParaRPr lang="en-US" altLang="zh-CN" sz="1000"/>
          </a:p>
        </p:txBody>
      </p:sp>
      <p:sp>
        <p:nvSpPr>
          <p:cNvPr id="5" name="Text Box 4">
            <a:extLst>
              <a:ext uri="{FF2B5EF4-FFF2-40B4-BE49-F238E27FC236}">
                <a16:creationId xmlns:a16="http://schemas.microsoft.com/office/drawing/2014/main" id="{AB13ECE6-74B0-4874-90AE-9E0F05369220}"/>
              </a:ext>
            </a:extLst>
          </p:cNvPr>
          <p:cNvSpPr txBox="1">
            <a:spLocks noChangeArrowheads="1"/>
          </p:cNvSpPr>
          <p:nvPr/>
        </p:nvSpPr>
        <p:spPr bwMode="auto">
          <a:xfrm>
            <a:off x="88900" y="1754877"/>
            <a:ext cx="8966200" cy="4770537"/>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600" dirty="0">
                <a:solidFill>
                  <a:srgbClr val="008080"/>
                </a:solidFill>
                <a:highlight>
                  <a:srgbClr val="FFFFFF"/>
                </a:highlight>
                <a:latin typeface="Arial"/>
                <a:ea typeface="宋体" charset="-122"/>
              </a:rPr>
              <a:t>&lt;?xml version='1.0' ?&gt;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FF"/>
                </a:solidFill>
                <a:highlight>
                  <a:srgbClr val="FFFFFF"/>
                </a:highlight>
                <a:latin typeface="Arial"/>
                <a:ea typeface="宋体" charset="-122"/>
              </a:rPr>
              <a:t>&lt;</a:t>
            </a:r>
            <a:r>
              <a:rPr lang="en-US" altLang="zh-CN" sz="1600" dirty="0" err="1">
                <a:solidFill>
                  <a:srgbClr val="800000"/>
                </a:solidFill>
                <a:highlight>
                  <a:srgbClr val="FFFFFF"/>
                </a:highlight>
                <a:latin typeface="Arial"/>
                <a:ea typeface="宋体" charset="-122"/>
              </a:rPr>
              <a:t>env:Envelope</a:t>
            </a:r>
            <a:r>
              <a:rPr lang="en-US" altLang="zh-CN" sz="1600" dirty="0">
                <a:solidFill>
                  <a:srgbClr val="FF0000"/>
                </a:solidFill>
                <a:highlight>
                  <a:srgbClr val="FFFFFF"/>
                </a:highlight>
                <a:latin typeface="Arial"/>
                <a:ea typeface="宋体" charset="-122"/>
              </a:rPr>
              <a:t> </a:t>
            </a:r>
            <a:r>
              <a:rPr lang="en-US" altLang="zh-CN" sz="1600" dirty="0" err="1">
                <a:solidFill>
                  <a:srgbClr val="FF0000"/>
                </a:solidFill>
                <a:highlight>
                  <a:srgbClr val="FFFFFF"/>
                </a:highlight>
                <a:latin typeface="Arial"/>
                <a:ea typeface="宋体" charset="-122"/>
              </a:rPr>
              <a:t>xmlns:env</a:t>
            </a:r>
            <a:r>
              <a:rPr lang="en-US" altLang="zh-CN" sz="1600" dirty="0">
                <a:solidFill>
                  <a:srgbClr val="0000FF"/>
                </a:solidFill>
                <a:highlight>
                  <a:srgbClr val="FFFFFF"/>
                </a:highlight>
                <a:latin typeface="Arial"/>
                <a:ea typeface="宋体" charset="-122"/>
              </a:rPr>
              <a:t>="</a:t>
            </a:r>
            <a:r>
              <a:rPr lang="en-US" altLang="zh-CN" sz="1600" dirty="0">
                <a:solidFill>
                  <a:srgbClr val="000000"/>
                </a:solidFill>
                <a:highlight>
                  <a:srgbClr val="FFFFFF"/>
                </a:highlight>
                <a:latin typeface="Arial"/>
                <a:ea typeface="宋体" charset="-122"/>
              </a:rPr>
              <a:t>http://www.w3.org/2003/05/soap-envelope</a:t>
            </a:r>
            <a:r>
              <a:rPr lang="en-US" altLang="zh-CN" sz="1600" dirty="0">
                <a:solidFill>
                  <a:srgbClr val="0000FF"/>
                </a:solidFill>
                <a:highlight>
                  <a:srgbClr val="FFFFFF"/>
                </a:highlight>
                <a:latin typeface="Arial"/>
                <a:ea typeface="宋体" charset="-122"/>
              </a:rPr>
              <a:t>"&gt;</a:t>
            </a:r>
            <a:r>
              <a:rPr lang="en-US" altLang="zh-CN" sz="1600" dirty="0">
                <a:solidFill>
                  <a:srgbClr val="000000"/>
                </a:solidFill>
                <a:highlight>
                  <a:srgbClr val="FFFFFF"/>
                </a:highlight>
                <a:latin typeface="Arial"/>
                <a:ea typeface="宋体" charset="-122"/>
              </a:rPr>
              <a:t> </a:t>
            </a: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err="1">
                <a:solidFill>
                  <a:srgbClr val="800000"/>
                </a:solidFill>
                <a:highlight>
                  <a:srgbClr val="FFFFFF"/>
                </a:highlight>
                <a:latin typeface="Arial"/>
                <a:ea typeface="宋体" charset="-122"/>
              </a:rPr>
              <a:t>env:Header</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m:reservation</a:t>
            </a:r>
            <a:r>
              <a:rPr lang="en-US" altLang="zh-CN" sz="1600" dirty="0">
                <a:solidFill>
                  <a:srgbClr val="FF0000"/>
                </a:solidFill>
                <a:highlight>
                  <a:srgbClr val="FFFFFF"/>
                </a:highlight>
                <a:latin typeface="Arial"/>
                <a:ea typeface="宋体" charset="-122"/>
              </a:rPr>
              <a:t> </a:t>
            </a:r>
            <a:r>
              <a:rPr lang="en-US" altLang="zh-CN" sz="1600" dirty="0" err="1">
                <a:solidFill>
                  <a:srgbClr val="FF0000"/>
                </a:solidFill>
                <a:highlight>
                  <a:srgbClr val="FFFFFF"/>
                </a:highlight>
                <a:latin typeface="Arial"/>
                <a:ea typeface="宋体" charset="-122"/>
              </a:rPr>
              <a:t>xmlns:m</a:t>
            </a:r>
            <a:r>
              <a:rPr lang="en-US" altLang="zh-CN" sz="1600" dirty="0">
                <a:solidFill>
                  <a:srgbClr val="0000FF"/>
                </a:solidFill>
                <a:highlight>
                  <a:srgbClr val="FFFFFF"/>
                </a:highlight>
                <a:latin typeface="Arial"/>
                <a:ea typeface="宋体" charset="-122"/>
              </a:rPr>
              <a:t>="</a:t>
            </a:r>
            <a:r>
              <a:rPr lang="en-US" altLang="zh-CN" sz="1600" dirty="0">
                <a:solidFill>
                  <a:srgbClr val="000000"/>
                </a:solidFill>
                <a:highlight>
                  <a:srgbClr val="FFFFFF"/>
                </a:highlight>
                <a:latin typeface="Arial"/>
                <a:ea typeface="宋体" charset="-122"/>
              </a:rPr>
              <a:t>http://travelcompany.example.org/reservation</a:t>
            </a:r>
            <a:r>
              <a:rPr lang="en-US" altLang="zh-CN" sz="1600" dirty="0">
                <a:solidFill>
                  <a:srgbClr val="0000FF"/>
                </a:solidFill>
                <a:highlight>
                  <a:srgbClr val="FFFFFF"/>
                </a:highlight>
                <a:latin typeface="Arial"/>
                <a:ea typeface="宋体" charset="-122"/>
              </a:rPr>
              <a:t>"</a:t>
            </a:r>
            <a:r>
              <a:rPr lang="en-US" altLang="zh-CN" sz="1600" dirty="0">
                <a:solidFill>
                  <a:srgbClr val="FF0000"/>
                </a:solidFill>
                <a:highlight>
                  <a:srgbClr val="FFFFFF"/>
                </a:highlight>
                <a:latin typeface="Arial"/>
                <a:ea typeface="宋体" charset="-122"/>
              </a:rPr>
              <a:t> </a:t>
            </a:r>
          </a:p>
          <a:p>
            <a:pPr eaLnBrk="1" hangingPunct="1">
              <a:spcBef>
                <a:spcPct val="20000"/>
              </a:spcBef>
              <a:buClr>
                <a:schemeClr val="accent1"/>
              </a:buClr>
              <a:buFont typeface="Wingdings" panose="05000000000000000000" pitchFamily="2" charset="2"/>
              <a:buNone/>
              <a:defRPr/>
            </a:pPr>
            <a:r>
              <a:rPr lang="en-US" altLang="zh-CN" sz="1600" dirty="0">
                <a:solidFill>
                  <a:srgbClr val="FF0000"/>
                </a:solidFill>
                <a:highlight>
                  <a:srgbClr val="FFFFFF"/>
                </a:highlight>
                <a:latin typeface="Arial"/>
                <a:ea typeface="宋体" charset="-122"/>
              </a:rPr>
              <a:t>          </a:t>
            </a:r>
            <a:r>
              <a:rPr lang="en-US" altLang="zh-CN" sz="1600" dirty="0" err="1">
                <a:solidFill>
                  <a:srgbClr val="FF0000"/>
                </a:solidFill>
                <a:highlight>
                  <a:srgbClr val="FFFFFF"/>
                </a:highlight>
                <a:latin typeface="Arial"/>
                <a:ea typeface="宋体" charset="-122"/>
              </a:rPr>
              <a:t>env:role</a:t>
            </a:r>
            <a:r>
              <a:rPr lang="en-US" altLang="zh-CN" sz="1600" dirty="0">
                <a:solidFill>
                  <a:srgbClr val="0000FF"/>
                </a:solidFill>
                <a:highlight>
                  <a:srgbClr val="FFFFFF"/>
                </a:highlight>
                <a:latin typeface="Arial"/>
                <a:ea typeface="宋体" charset="-122"/>
              </a:rPr>
              <a:t>="</a:t>
            </a:r>
            <a:r>
              <a:rPr lang="en-US" altLang="zh-CN" sz="1600" dirty="0">
                <a:solidFill>
                  <a:srgbClr val="000000"/>
                </a:solidFill>
                <a:highlight>
                  <a:srgbClr val="FFFFFF"/>
                </a:highlight>
                <a:latin typeface="Arial"/>
                <a:ea typeface="宋体" charset="-122"/>
              </a:rPr>
              <a:t>http://www.w3.org/2003/05/soap-envelope/role/next</a:t>
            </a:r>
            <a:r>
              <a:rPr lang="en-US" altLang="zh-CN" sz="1600" dirty="0">
                <a:solidFill>
                  <a:srgbClr val="0000FF"/>
                </a:solidFill>
                <a:highlight>
                  <a:srgbClr val="FFFFFF"/>
                </a:highlight>
                <a:latin typeface="Arial"/>
                <a:ea typeface="宋体" charset="-122"/>
              </a:rPr>
              <a:t>"</a:t>
            </a:r>
            <a:endParaRPr lang="en-US" altLang="zh-CN" sz="1600" dirty="0">
              <a:solidFill>
                <a:srgbClr val="FF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FF0000"/>
                </a:solidFill>
                <a:highlight>
                  <a:srgbClr val="FFFFFF"/>
                </a:highlight>
                <a:latin typeface="Arial"/>
                <a:ea typeface="宋体" charset="-122"/>
              </a:rPr>
              <a:t>           </a:t>
            </a:r>
            <a:r>
              <a:rPr lang="en-US" altLang="zh-CN" sz="1600" dirty="0" err="1">
                <a:solidFill>
                  <a:srgbClr val="FF0000"/>
                </a:solidFill>
                <a:highlight>
                  <a:srgbClr val="FFFFFF"/>
                </a:highlight>
                <a:latin typeface="Arial"/>
                <a:ea typeface="宋体" charset="-122"/>
              </a:rPr>
              <a:t>env:mustUnderstand</a:t>
            </a:r>
            <a:r>
              <a:rPr lang="en-US" altLang="zh-CN" sz="1600" dirty="0">
                <a:solidFill>
                  <a:srgbClr val="0000FF"/>
                </a:solidFill>
                <a:highlight>
                  <a:srgbClr val="FFFFFF"/>
                </a:highlight>
                <a:latin typeface="Arial"/>
                <a:ea typeface="宋体" charset="-122"/>
              </a:rPr>
              <a:t>="</a:t>
            </a:r>
            <a:r>
              <a:rPr lang="en-US" altLang="zh-CN" sz="1600" dirty="0">
                <a:solidFill>
                  <a:srgbClr val="000000"/>
                </a:solidFill>
                <a:highlight>
                  <a:srgbClr val="FFFFFF"/>
                </a:highlight>
                <a:latin typeface="Arial"/>
                <a:ea typeface="宋体" charset="-122"/>
              </a:rPr>
              <a:t>true</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m:reference</a:t>
            </a:r>
            <a:r>
              <a:rPr lang="en-US" altLang="zh-CN" sz="1600" dirty="0">
                <a:solidFill>
                  <a:srgbClr val="0000FF"/>
                </a:solidFill>
                <a:highlight>
                  <a:srgbClr val="FFFFFF"/>
                </a:highlight>
                <a:latin typeface="Arial"/>
                <a:ea typeface="宋体" charset="-122"/>
              </a:rPr>
              <a:t>&gt;</a:t>
            </a:r>
            <a:r>
              <a:rPr lang="en-US" altLang="zh-CN" sz="1600" dirty="0">
                <a:solidFill>
                  <a:srgbClr val="000000"/>
                </a:solidFill>
                <a:highlight>
                  <a:srgbClr val="FFFFFF"/>
                </a:highlight>
                <a:latin typeface="Arial"/>
                <a:ea typeface="宋体" charset="-122"/>
              </a:rPr>
              <a:t>uuid:093a2da1-q345-739r-ba5d-pqff98fe8j7d</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m:reference</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m:dateAndTime</a:t>
            </a:r>
            <a:r>
              <a:rPr lang="en-US" altLang="zh-CN" sz="1600" dirty="0">
                <a:solidFill>
                  <a:srgbClr val="0000FF"/>
                </a:solidFill>
                <a:highlight>
                  <a:srgbClr val="FFFFFF"/>
                </a:highlight>
                <a:latin typeface="Arial"/>
                <a:ea typeface="宋体" charset="-122"/>
              </a:rPr>
              <a:t>&gt;</a:t>
            </a:r>
            <a:r>
              <a:rPr lang="en-US" altLang="zh-CN" sz="1600" dirty="0">
                <a:solidFill>
                  <a:srgbClr val="000000"/>
                </a:solidFill>
                <a:highlight>
                  <a:srgbClr val="FFFFFF"/>
                </a:highlight>
                <a:latin typeface="Arial"/>
                <a:ea typeface="宋体" charset="-122"/>
              </a:rPr>
              <a:t>2001-11-29T13:20:00.000-05:00</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m:dateAndTime</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m:reservation</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n:passenger</a:t>
            </a:r>
            <a:r>
              <a:rPr lang="en-US" altLang="zh-CN" sz="1600" dirty="0">
                <a:solidFill>
                  <a:srgbClr val="FF0000"/>
                </a:solidFill>
                <a:highlight>
                  <a:srgbClr val="FFFFFF"/>
                </a:highlight>
                <a:latin typeface="Arial"/>
                <a:ea typeface="宋体" charset="-122"/>
              </a:rPr>
              <a:t> </a:t>
            </a:r>
            <a:r>
              <a:rPr lang="en-US" altLang="zh-CN" sz="1600" dirty="0" err="1">
                <a:solidFill>
                  <a:srgbClr val="FF0000"/>
                </a:solidFill>
                <a:highlight>
                  <a:srgbClr val="FFFFFF"/>
                </a:highlight>
                <a:latin typeface="Arial"/>
                <a:ea typeface="宋体" charset="-122"/>
              </a:rPr>
              <a:t>xmlns:n</a:t>
            </a:r>
            <a:r>
              <a:rPr lang="en-US" altLang="zh-CN" sz="1600" dirty="0">
                <a:solidFill>
                  <a:srgbClr val="0000FF"/>
                </a:solidFill>
                <a:highlight>
                  <a:srgbClr val="FFFFFF"/>
                </a:highlight>
                <a:latin typeface="Arial"/>
                <a:ea typeface="宋体" charset="-122"/>
              </a:rPr>
              <a:t>="</a:t>
            </a:r>
            <a:r>
              <a:rPr lang="en-US" altLang="zh-CN" sz="1600" dirty="0">
                <a:solidFill>
                  <a:srgbClr val="000000"/>
                </a:solidFill>
                <a:highlight>
                  <a:srgbClr val="FFFFFF"/>
                </a:highlight>
                <a:latin typeface="Arial"/>
                <a:ea typeface="宋体" charset="-122"/>
              </a:rPr>
              <a:t>http://mycompany.example.com/employees</a:t>
            </a:r>
            <a:r>
              <a:rPr lang="en-US" altLang="zh-CN" sz="1600" dirty="0">
                <a:solidFill>
                  <a:srgbClr val="0000FF"/>
                </a:solidFill>
                <a:highlight>
                  <a:srgbClr val="FFFFFF"/>
                </a:highlight>
                <a:latin typeface="Arial"/>
                <a:ea typeface="宋体" charset="-122"/>
              </a:rPr>
              <a:t>"</a:t>
            </a:r>
            <a:endParaRPr lang="en-US" altLang="zh-CN" sz="1600" dirty="0">
              <a:solidFill>
                <a:srgbClr val="FF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FF0000"/>
                </a:solidFill>
                <a:highlight>
                  <a:srgbClr val="FFFFFF"/>
                </a:highlight>
                <a:latin typeface="Arial"/>
                <a:ea typeface="宋体" charset="-122"/>
              </a:rPr>
              <a:t>          </a:t>
            </a:r>
            <a:r>
              <a:rPr lang="en-US" altLang="zh-CN" sz="1600" dirty="0" err="1">
                <a:solidFill>
                  <a:srgbClr val="FF0000"/>
                </a:solidFill>
                <a:highlight>
                  <a:srgbClr val="FFFFFF"/>
                </a:highlight>
                <a:latin typeface="Arial"/>
                <a:ea typeface="宋体" charset="-122"/>
              </a:rPr>
              <a:t>env:role</a:t>
            </a:r>
            <a:r>
              <a:rPr lang="en-US" altLang="zh-CN" sz="1600" dirty="0">
                <a:solidFill>
                  <a:srgbClr val="0000FF"/>
                </a:solidFill>
                <a:highlight>
                  <a:srgbClr val="FFFFFF"/>
                </a:highlight>
                <a:latin typeface="Arial"/>
                <a:ea typeface="宋体" charset="-122"/>
              </a:rPr>
              <a:t>="</a:t>
            </a:r>
            <a:r>
              <a:rPr lang="en-US" altLang="zh-CN" sz="1600" dirty="0">
                <a:solidFill>
                  <a:srgbClr val="000000"/>
                </a:solidFill>
                <a:highlight>
                  <a:srgbClr val="FFFFFF"/>
                </a:highlight>
                <a:latin typeface="Arial"/>
                <a:ea typeface="宋体" charset="-122"/>
              </a:rPr>
              <a:t>http://www.w3.org/2003/05/soap-envelope/role/next</a:t>
            </a:r>
            <a:r>
              <a:rPr lang="en-US" altLang="zh-CN" sz="1600" dirty="0">
                <a:solidFill>
                  <a:srgbClr val="0000FF"/>
                </a:solidFill>
                <a:highlight>
                  <a:srgbClr val="FFFFFF"/>
                </a:highlight>
                <a:latin typeface="Arial"/>
                <a:ea typeface="宋体" charset="-122"/>
              </a:rPr>
              <a:t>"</a:t>
            </a:r>
            <a:endParaRPr lang="en-US" altLang="zh-CN" sz="1600" dirty="0">
              <a:solidFill>
                <a:srgbClr val="FF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FF0000"/>
                </a:solidFill>
                <a:highlight>
                  <a:srgbClr val="FFFFFF"/>
                </a:highlight>
                <a:latin typeface="Arial"/>
                <a:ea typeface="宋体" charset="-122"/>
              </a:rPr>
              <a:t>           </a:t>
            </a:r>
            <a:r>
              <a:rPr lang="en-US" altLang="zh-CN" sz="1600" dirty="0" err="1">
                <a:solidFill>
                  <a:srgbClr val="FF0000"/>
                </a:solidFill>
                <a:highlight>
                  <a:srgbClr val="FFFFFF"/>
                </a:highlight>
                <a:latin typeface="Arial"/>
                <a:ea typeface="宋体" charset="-122"/>
              </a:rPr>
              <a:t>env:mustUnderstand</a:t>
            </a:r>
            <a:r>
              <a:rPr lang="en-US" altLang="zh-CN" sz="1600" dirty="0">
                <a:solidFill>
                  <a:srgbClr val="0000FF"/>
                </a:solidFill>
                <a:highlight>
                  <a:srgbClr val="FFFFFF"/>
                </a:highlight>
                <a:latin typeface="Arial"/>
                <a:ea typeface="宋体" charset="-122"/>
              </a:rPr>
              <a:t>="</a:t>
            </a:r>
            <a:r>
              <a:rPr lang="en-US" altLang="zh-CN" sz="1600" dirty="0">
                <a:solidFill>
                  <a:srgbClr val="000000"/>
                </a:solidFill>
                <a:highlight>
                  <a:srgbClr val="FFFFFF"/>
                </a:highlight>
                <a:latin typeface="Arial"/>
                <a:ea typeface="宋体" charset="-122"/>
              </a:rPr>
              <a:t>true</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n:name</a:t>
            </a:r>
            <a:r>
              <a:rPr lang="en-US" altLang="zh-CN" sz="1600" dirty="0">
                <a:solidFill>
                  <a:srgbClr val="0000FF"/>
                </a:solidFill>
                <a:highlight>
                  <a:srgbClr val="FFFFFF"/>
                </a:highlight>
                <a:latin typeface="Arial"/>
                <a:ea typeface="宋体" charset="-122"/>
              </a:rPr>
              <a:t>&gt;</a:t>
            </a:r>
            <a:r>
              <a:rPr lang="en-US" altLang="zh-CN" sz="1600" dirty="0" err="1">
                <a:solidFill>
                  <a:srgbClr val="000000"/>
                </a:solidFill>
                <a:highlight>
                  <a:srgbClr val="FFFFFF"/>
                </a:highlight>
                <a:latin typeface="Arial"/>
                <a:ea typeface="宋体" charset="-122"/>
              </a:rPr>
              <a:t>Åke</a:t>
            </a:r>
            <a:r>
              <a:rPr lang="en-US" altLang="zh-CN" sz="1600" dirty="0">
                <a:solidFill>
                  <a:srgbClr val="000000"/>
                </a:solidFill>
                <a:highlight>
                  <a:srgbClr val="FFFFFF"/>
                </a:highlight>
                <a:latin typeface="Arial"/>
                <a:ea typeface="宋体" charset="-122"/>
              </a:rPr>
              <a:t> </a:t>
            </a:r>
            <a:r>
              <a:rPr lang="en-US" altLang="zh-CN" sz="1600" dirty="0" err="1">
                <a:solidFill>
                  <a:srgbClr val="000000"/>
                </a:solidFill>
                <a:highlight>
                  <a:srgbClr val="FFFFFF"/>
                </a:highlight>
                <a:latin typeface="Arial"/>
                <a:ea typeface="宋体" charset="-122"/>
              </a:rPr>
              <a:t>Jógvan</a:t>
            </a:r>
            <a:r>
              <a:rPr lang="en-US" altLang="zh-CN" sz="1600" dirty="0">
                <a:solidFill>
                  <a:srgbClr val="000000"/>
                </a:solidFill>
                <a:highlight>
                  <a:srgbClr val="FFFFFF"/>
                </a:highlight>
                <a:latin typeface="Arial"/>
                <a:ea typeface="宋体" charset="-122"/>
              </a:rPr>
              <a:t> </a:t>
            </a:r>
            <a:r>
              <a:rPr lang="en-US" altLang="zh-CN" sz="1600" dirty="0" err="1">
                <a:solidFill>
                  <a:srgbClr val="000000"/>
                </a:solidFill>
                <a:highlight>
                  <a:srgbClr val="FFFFFF"/>
                </a:highlight>
                <a:latin typeface="Arial"/>
                <a:ea typeface="宋体" charset="-122"/>
              </a:rPr>
              <a:t>Øyvind</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n:name</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n:passenger</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err="1">
                <a:solidFill>
                  <a:srgbClr val="800000"/>
                </a:solidFill>
                <a:highlight>
                  <a:srgbClr val="FFFFFF"/>
                </a:highlight>
                <a:latin typeface="Arial"/>
                <a:ea typeface="宋体" charset="-122"/>
              </a:rPr>
              <a:t>env:Header</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p>
        </p:txBody>
      </p:sp>
      <p:sp>
        <p:nvSpPr>
          <p:cNvPr id="6" name="Line 6">
            <a:extLst>
              <a:ext uri="{FF2B5EF4-FFF2-40B4-BE49-F238E27FC236}">
                <a16:creationId xmlns:a16="http://schemas.microsoft.com/office/drawing/2014/main" id="{704B4237-63E6-4848-BC75-159E30AE0B98}"/>
              </a:ext>
            </a:extLst>
          </p:cNvPr>
          <p:cNvSpPr>
            <a:spLocks noChangeShapeType="1"/>
          </p:cNvSpPr>
          <p:nvPr/>
        </p:nvSpPr>
        <p:spPr bwMode="auto">
          <a:xfrm flipH="1" flipV="1">
            <a:off x="6804025" y="2886075"/>
            <a:ext cx="504825" cy="5873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7">
            <a:extLst>
              <a:ext uri="{FF2B5EF4-FFF2-40B4-BE49-F238E27FC236}">
                <a16:creationId xmlns:a16="http://schemas.microsoft.com/office/drawing/2014/main" id="{A743C5AE-603A-44E0-945E-66CE5AAB79F7}"/>
              </a:ext>
            </a:extLst>
          </p:cNvPr>
          <p:cNvSpPr txBox="1">
            <a:spLocks noChangeArrowheads="1"/>
          </p:cNvSpPr>
          <p:nvPr/>
        </p:nvSpPr>
        <p:spPr bwMode="auto">
          <a:xfrm>
            <a:off x="7308850" y="2501900"/>
            <a:ext cx="20161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None/>
            </a:pPr>
            <a:r>
              <a:rPr lang="en-US" altLang="zh-CN" sz="1800"/>
              <a:t>2 header blocks  in their own namespace</a:t>
            </a:r>
          </a:p>
        </p:txBody>
      </p:sp>
      <p:sp>
        <p:nvSpPr>
          <p:cNvPr id="8" name="Line 6">
            <a:extLst>
              <a:ext uri="{FF2B5EF4-FFF2-40B4-BE49-F238E27FC236}">
                <a16:creationId xmlns:a16="http://schemas.microsoft.com/office/drawing/2014/main" id="{C6305B3A-3926-41EA-8F7D-6AEFEB7A9B6A}"/>
              </a:ext>
            </a:extLst>
          </p:cNvPr>
          <p:cNvSpPr>
            <a:spLocks noChangeShapeType="1"/>
          </p:cNvSpPr>
          <p:nvPr/>
        </p:nvSpPr>
        <p:spPr bwMode="auto">
          <a:xfrm flipH="1">
            <a:off x="6372225" y="2944813"/>
            <a:ext cx="936625" cy="151765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Line 6">
            <a:extLst>
              <a:ext uri="{FF2B5EF4-FFF2-40B4-BE49-F238E27FC236}">
                <a16:creationId xmlns:a16="http://schemas.microsoft.com/office/drawing/2014/main" id="{152B4D38-CF0F-443A-936A-30FCB977DC30}"/>
              </a:ext>
            </a:extLst>
          </p:cNvPr>
          <p:cNvSpPr>
            <a:spLocks noChangeShapeType="1"/>
          </p:cNvSpPr>
          <p:nvPr/>
        </p:nvSpPr>
        <p:spPr bwMode="auto">
          <a:xfrm flipH="1" flipV="1">
            <a:off x="6372225" y="3141663"/>
            <a:ext cx="754063" cy="128270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Text Box 7">
            <a:extLst>
              <a:ext uri="{FF2B5EF4-FFF2-40B4-BE49-F238E27FC236}">
                <a16:creationId xmlns:a16="http://schemas.microsoft.com/office/drawing/2014/main" id="{290BC927-8989-4A25-9BC4-23A31F7E20A5}"/>
              </a:ext>
            </a:extLst>
          </p:cNvPr>
          <p:cNvSpPr txBox="1">
            <a:spLocks noChangeArrowheads="1"/>
          </p:cNvSpPr>
          <p:nvPr/>
        </p:nvSpPr>
        <p:spPr bwMode="auto">
          <a:xfrm>
            <a:off x="7126288" y="3981450"/>
            <a:ext cx="1838325"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None/>
            </a:pPr>
            <a:r>
              <a:rPr lang="en-US" altLang="zh-CN" sz="1800"/>
              <a:t>These blocks should be processed by “Next” node along the SOAP message path</a:t>
            </a:r>
          </a:p>
        </p:txBody>
      </p:sp>
      <p:sp>
        <p:nvSpPr>
          <p:cNvPr id="11" name="Line 6">
            <a:extLst>
              <a:ext uri="{FF2B5EF4-FFF2-40B4-BE49-F238E27FC236}">
                <a16:creationId xmlns:a16="http://schemas.microsoft.com/office/drawing/2014/main" id="{C8DBEC0F-9236-4AC7-AB09-9F68915BFA09}"/>
              </a:ext>
            </a:extLst>
          </p:cNvPr>
          <p:cNvSpPr>
            <a:spLocks noChangeShapeType="1"/>
          </p:cNvSpPr>
          <p:nvPr/>
        </p:nvSpPr>
        <p:spPr bwMode="auto">
          <a:xfrm flipH="1">
            <a:off x="6372225" y="4424363"/>
            <a:ext cx="754063" cy="37465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 name="Line 6">
            <a:extLst>
              <a:ext uri="{FF2B5EF4-FFF2-40B4-BE49-F238E27FC236}">
                <a16:creationId xmlns:a16="http://schemas.microsoft.com/office/drawing/2014/main" id="{9147AFA3-9D96-4CC9-A01C-37134AD1D1B2}"/>
              </a:ext>
            </a:extLst>
          </p:cNvPr>
          <p:cNvSpPr>
            <a:spLocks noChangeShapeType="1"/>
          </p:cNvSpPr>
          <p:nvPr/>
        </p:nvSpPr>
        <p:spPr bwMode="auto">
          <a:xfrm flipH="1" flipV="1">
            <a:off x="3438525" y="3455988"/>
            <a:ext cx="754063" cy="171450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 name="Text Box 7">
            <a:extLst>
              <a:ext uri="{FF2B5EF4-FFF2-40B4-BE49-F238E27FC236}">
                <a16:creationId xmlns:a16="http://schemas.microsoft.com/office/drawing/2014/main" id="{B539060A-03D0-41A5-B1C7-E805CBA20CF7}"/>
              </a:ext>
            </a:extLst>
          </p:cNvPr>
          <p:cNvSpPr txBox="1">
            <a:spLocks noChangeArrowheads="1"/>
          </p:cNvSpPr>
          <p:nvPr/>
        </p:nvSpPr>
        <p:spPr bwMode="auto">
          <a:xfrm>
            <a:off x="4210050" y="5033963"/>
            <a:ext cx="4476750"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The node(s) processing the header must absolutely process these header blocks in a manner consistent with their specifications, or else not process the message at all and throw a fault. </a:t>
            </a:r>
          </a:p>
        </p:txBody>
      </p:sp>
      <p:sp>
        <p:nvSpPr>
          <p:cNvPr id="14" name="Line 6">
            <a:extLst>
              <a:ext uri="{FF2B5EF4-FFF2-40B4-BE49-F238E27FC236}">
                <a16:creationId xmlns:a16="http://schemas.microsoft.com/office/drawing/2014/main" id="{A0CAEB68-E3A7-4C32-996D-DBA4ECA542C7}"/>
              </a:ext>
            </a:extLst>
          </p:cNvPr>
          <p:cNvSpPr>
            <a:spLocks noChangeShapeType="1"/>
          </p:cNvSpPr>
          <p:nvPr/>
        </p:nvSpPr>
        <p:spPr bwMode="auto">
          <a:xfrm flipH="1">
            <a:off x="3490913" y="5157788"/>
            <a:ext cx="682625" cy="1270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par>
                                <p:cTn id="8" presetID="3"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par>
                                <p:cTn id="11" presetID="3" presetClass="entr" presetSubtype="1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blinds(horizontal)">
                                      <p:cBhvr>
                                        <p:cTn id="13"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blinds(horizontal)">
                                      <p:cBhvr>
                                        <p:cTn id="18"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par>
                                <p:cTn id="19" presetID="3" presetClass="entr" presetSubtype="1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blinds(horizontal)">
                                      <p:cBhvr>
                                        <p:cTn id="21" dur="500"/>
                                        <p:tgtEl>
                                          <p:spTgt spid="10"/>
                                        </p:tgtEl>
                                      </p:cBhvr>
                                    </p:animEffect>
                                  </p:childTnLst>
                                  <p:subTnLst>
                                    <p:set>
                                      <p:cBhvr override="childStyle">
                                        <p:cTn dur="1" fill="hold" display="0" masterRel="nextClick" afterEffect="1"/>
                                        <p:tgtEl>
                                          <p:spTgt spid="10"/>
                                        </p:tgtEl>
                                        <p:attrNameLst>
                                          <p:attrName>style.visibility</p:attrName>
                                        </p:attrNameLst>
                                      </p:cBhvr>
                                      <p:to>
                                        <p:strVal val="hidden"/>
                                      </p:to>
                                    </p:set>
                                  </p:subTnLst>
                                </p:cTn>
                              </p:par>
                              <p:par>
                                <p:cTn id="22" presetID="3" presetClass="entr" presetSubtype="10"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blinds(horizontal)">
                                      <p:cBhvr>
                                        <p:cTn id="24" dur="500"/>
                                        <p:tgtEl>
                                          <p:spTgt spid="11"/>
                                        </p:tgtEl>
                                      </p:cBhvr>
                                    </p:animEffec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blinds(horizontal)">
                                      <p:cBhvr>
                                        <p:cTn id="29" dur="500"/>
                                        <p:tgtEl>
                                          <p:spTgt spid="12"/>
                                        </p:tgtEl>
                                      </p:cBhvr>
                                    </p:animEffect>
                                  </p:childTnLst>
                                  <p:subTnLst>
                                    <p:set>
                                      <p:cBhvr override="childStyle">
                                        <p:cTn dur="1" fill="hold" display="0" masterRel="nextClick" afterEffect="1"/>
                                        <p:tgtEl>
                                          <p:spTgt spid="12"/>
                                        </p:tgtEl>
                                        <p:attrNameLst>
                                          <p:attrName>style.visibility</p:attrName>
                                        </p:attrNameLst>
                                      </p:cBhvr>
                                      <p:to>
                                        <p:strVal val="hidden"/>
                                      </p:to>
                                    </p:set>
                                  </p:subTnLst>
                                </p:cTn>
                              </p:par>
                              <p:par>
                                <p:cTn id="30" presetID="3" presetClass="entr" presetSubtype="1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blinds(horizontal)">
                                      <p:cBhvr>
                                        <p:cTn id="32" dur="500"/>
                                        <p:tgtEl>
                                          <p:spTgt spid="13"/>
                                        </p:tgtEl>
                                      </p:cBhvr>
                                    </p:animEffect>
                                  </p:childTnLst>
                                  <p:subTnLst>
                                    <p:set>
                                      <p:cBhvr override="childStyle">
                                        <p:cTn dur="1" fill="hold" display="0" masterRel="nextClick" afterEffect="1"/>
                                        <p:tgtEl>
                                          <p:spTgt spid="13"/>
                                        </p:tgtEl>
                                        <p:attrNameLst>
                                          <p:attrName>style.visibility</p:attrName>
                                        </p:attrNameLst>
                                      </p:cBhvr>
                                      <p:to>
                                        <p:strVal val="hidden"/>
                                      </p:to>
                                    </p:set>
                                  </p:subTnLst>
                                </p:cTn>
                              </p:par>
                              <p:par>
                                <p:cTn id="33" presetID="3" presetClass="entr" presetSubtype="10"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blinds(horizontal)">
                                      <p:cBhvr>
                                        <p:cTn id="35" dur="500"/>
                                        <p:tgtEl>
                                          <p:spTgt spid="14"/>
                                        </p:tgtEl>
                                      </p:cBhvr>
                                    </p:animEffec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1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a:extLst>
              <a:ext uri="{FF2B5EF4-FFF2-40B4-BE49-F238E27FC236}">
                <a16:creationId xmlns:a16="http://schemas.microsoft.com/office/drawing/2014/main" id="{3D00F137-259C-4B5E-95C0-3123DF42C191}"/>
              </a:ext>
            </a:extLst>
          </p:cNvPr>
          <p:cNvSpPr>
            <a:spLocks noGrp="1"/>
          </p:cNvSpPr>
          <p:nvPr>
            <p:ph type="title"/>
          </p:nvPr>
        </p:nvSpPr>
        <p:spPr/>
        <p:txBody>
          <a:bodyPr>
            <a:noAutofit/>
          </a:bodyPr>
          <a:lstStyle/>
          <a:p>
            <a:pPr>
              <a:defRPr/>
            </a:pPr>
            <a:r>
              <a:rPr lang="en-US" altLang="zh-CN" sz="2800" dirty="0"/>
              <a:t>Document-oriented Exchanges</a:t>
            </a:r>
            <a:br>
              <a:rPr lang="en-US" altLang="zh-CN" sz="2800" dirty="0"/>
            </a:br>
            <a:r>
              <a:rPr lang="en-US" altLang="zh-CN" sz="2800" dirty="0"/>
              <a:t>From invoker to service (2/2)</a:t>
            </a:r>
            <a:endParaRPr lang="zh-CN" altLang="en-US" sz="2800" dirty="0"/>
          </a:p>
        </p:txBody>
      </p:sp>
      <p:sp>
        <p:nvSpPr>
          <p:cNvPr id="8195" name="灯片编号占位符 3">
            <a:extLst>
              <a:ext uri="{FF2B5EF4-FFF2-40B4-BE49-F238E27FC236}">
                <a16:creationId xmlns:a16="http://schemas.microsoft.com/office/drawing/2014/main" id="{3E1DF5DE-24C2-4ADB-892C-AE28AE0EC583}"/>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48FD81B7-4A71-4D58-92B0-B2E871B1875E}" type="slidenum">
              <a:rPr lang="en-US" altLang="zh-CN" smtClean="0"/>
              <a:pPr/>
              <a:t>11</a:t>
            </a:fld>
            <a:endParaRPr lang="en-US" altLang="zh-CN" sz="1000"/>
          </a:p>
        </p:txBody>
      </p:sp>
      <p:sp>
        <p:nvSpPr>
          <p:cNvPr id="5" name="Text Box 4">
            <a:extLst>
              <a:ext uri="{FF2B5EF4-FFF2-40B4-BE49-F238E27FC236}">
                <a16:creationId xmlns:a16="http://schemas.microsoft.com/office/drawing/2014/main" id="{6BB9FC39-D7AA-4FFC-BA8C-D829934A7ABF}"/>
              </a:ext>
            </a:extLst>
          </p:cNvPr>
          <p:cNvSpPr txBox="1">
            <a:spLocks noChangeArrowheads="1"/>
          </p:cNvSpPr>
          <p:nvPr/>
        </p:nvSpPr>
        <p:spPr bwMode="auto">
          <a:xfrm>
            <a:off x="107504" y="2033552"/>
            <a:ext cx="4752082" cy="4672048"/>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600" dirty="0">
                <a:solidFill>
                  <a:srgbClr val="0000FF"/>
                </a:solidFill>
                <a:highlight>
                  <a:srgbClr val="FFFFFF"/>
                </a:highlight>
                <a:latin typeface="Arial"/>
                <a:ea typeface="宋体" charset="-122"/>
              </a:rPr>
              <a:t>&lt;</a:t>
            </a:r>
            <a:r>
              <a:rPr lang="en-US" altLang="zh-CN" sz="1600" dirty="0" err="1">
                <a:solidFill>
                  <a:srgbClr val="800000"/>
                </a:solidFill>
                <a:highlight>
                  <a:srgbClr val="FFFFFF"/>
                </a:highlight>
                <a:latin typeface="Arial"/>
                <a:ea typeface="宋体" charset="-122"/>
              </a:rPr>
              <a:t>env:Body</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p:itinerary</a:t>
            </a:r>
            <a:r>
              <a:rPr lang="en-US" altLang="zh-CN" sz="1600" dirty="0">
                <a:solidFill>
                  <a:srgbClr val="FF0000"/>
                </a:solidFill>
                <a:highlight>
                  <a:srgbClr val="FFFFFF"/>
                </a:highlight>
                <a:latin typeface="Arial"/>
                <a:ea typeface="宋体" charset="-122"/>
              </a:rPr>
              <a:t> </a:t>
            </a:r>
            <a:r>
              <a:rPr lang="en-US" altLang="zh-CN" sz="1600" dirty="0" err="1">
                <a:solidFill>
                  <a:srgbClr val="FF0000"/>
                </a:solidFill>
                <a:highlight>
                  <a:srgbClr val="FFFFFF"/>
                </a:highlight>
                <a:latin typeface="Arial"/>
                <a:ea typeface="宋体" charset="-122"/>
              </a:rPr>
              <a:t>xmlns:p</a:t>
            </a:r>
            <a:r>
              <a:rPr lang="en-US" altLang="zh-CN" sz="1600" dirty="0">
                <a:solidFill>
                  <a:srgbClr val="0000FF"/>
                </a:solidFill>
                <a:highlight>
                  <a:srgbClr val="FFFFFF"/>
                </a:highlight>
                <a:latin typeface="Arial"/>
                <a:ea typeface="宋体" charset="-122"/>
              </a:rPr>
              <a:t>="</a:t>
            </a:r>
            <a:r>
              <a:rPr lang="en-US" altLang="zh-CN" sz="1600" dirty="0">
                <a:solidFill>
                  <a:srgbClr val="000000"/>
                </a:solidFill>
                <a:highlight>
                  <a:srgbClr val="FFFFFF"/>
                </a:highlight>
                <a:latin typeface="Arial"/>
                <a:ea typeface="宋体" charset="-122"/>
              </a:rPr>
              <a:t>http://travelcompany.example.org/reservation/travel</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p:departure</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p:departing</a:t>
            </a:r>
            <a:r>
              <a:rPr lang="en-US" altLang="zh-CN" sz="1600" dirty="0">
                <a:solidFill>
                  <a:srgbClr val="0000FF"/>
                </a:solidFill>
                <a:highlight>
                  <a:srgbClr val="FFFFFF"/>
                </a:highlight>
                <a:latin typeface="Arial"/>
                <a:ea typeface="宋体" charset="-122"/>
              </a:rPr>
              <a:t>&gt;</a:t>
            </a:r>
            <a:r>
              <a:rPr lang="en-US" altLang="zh-CN" sz="1600" dirty="0">
                <a:solidFill>
                  <a:srgbClr val="000000"/>
                </a:solidFill>
                <a:highlight>
                  <a:srgbClr val="FFFFFF"/>
                </a:highlight>
                <a:latin typeface="Arial"/>
                <a:ea typeface="宋体" charset="-122"/>
              </a:rPr>
              <a:t>New York</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p:departing</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p:arriving</a:t>
            </a:r>
            <a:r>
              <a:rPr lang="en-US" altLang="zh-CN" sz="1600" dirty="0">
                <a:solidFill>
                  <a:srgbClr val="0000FF"/>
                </a:solidFill>
                <a:highlight>
                  <a:srgbClr val="FFFFFF"/>
                </a:highlight>
                <a:latin typeface="Arial"/>
                <a:ea typeface="宋体" charset="-122"/>
              </a:rPr>
              <a:t>&gt;</a:t>
            </a:r>
            <a:r>
              <a:rPr lang="en-US" altLang="zh-CN" sz="1600" dirty="0">
                <a:solidFill>
                  <a:srgbClr val="000000"/>
                </a:solidFill>
                <a:highlight>
                  <a:srgbClr val="FFFFFF"/>
                </a:highlight>
                <a:latin typeface="Arial"/>
                <a:ea typeface="宋体" charset="-122"/>
              </a:rPr>
              <a:t>Los Angeles</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p:arriving</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err="1">
                <a:solidFill>
                  <a:srgbClr val="800000"/>
                </a:solidFill>
                <a:highlight>
                  <a:srgbClr val="FFFFFF"/>
                </a:highlight>
                <a:latin typeface="Arial"/>
                <a:ea typeface="宋体" charset="-122"/>
              </a:rPr>
              <a:t>p:departureDate</a:t>
            </a:r>
            <a:r>
              <a:rPr lang="en-US" altLang="zh-CN" sz="1600" dirty="0">
                <a:solidFill>
                  <a:srgbClr val="0000FF"/>
                </a:solidFill>
                <a:highlight>
                  <a:srgbClr val="FFFFFF"/>
                </a:highlight>
                <a:latin typeface="Arial"/>
                <a:ea typeface="宋体" charset="-122"/>
              </a:rPr>
              <a:t>&gt;</a:t>
            </a:r>
            <a:r>
              <a:rPr lang="en-US" altLang="zh-CN" sz="1600" dirty="0">
                <a:solidFill>
                  <a:srgbClr val="000000"/>
                </a:solidFill>
                <a:highlight>
                  <a:srgbClr val="FFFFFF"/>
                </a:highlight>
                <a:latin typeface="Arial"/>
                <a:ea typeface="宋体" charset="-122"/>
              </a:rPr>
              <a:t>2001-12-14</a:t>
            </a: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p:departureDate</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err="1">
                <a:solidFill>
                  <a:srgbClr val="800000"/>
                </a:solidFill>
                <a:highlight>
                  <a:srgbClr val="FFFFFF"/>
                </a:highlight>
                <a:latin typeface="Arial"/>
                <a:ea typeface="宋体" charset="-122"/>
              </a:rPr>
              <a:t>p:departureTime</a:t>
            </a:r>
            <a:r>
              <a:rPr lang="en-US" altLang="zh-CN" sz="1600" dirty="0">
                <a:solidFill>
                  <a:srgbClr val="0000FF"/>
                </a:solidFill>
                <a:highlight>
                  <a:srgbClr val="FFFFFF"/>
                </a:highlight>
                <a:latin typeface="Arial"/>
                <a:ea typeface="宋体" charset="-122"/>
              </a:rPr>
              <a:t>&gt;</a:t>
            </a:r>
            <a:r>
              <a:rPr lang="en-US" altLang="zh-CN" sz="1600" dirty="0">
                <a:solidFill>
                  <a:srgbClr val="000000"/>
                </a:solidFill>
                <a:highlight>
                  <a:srgbClr val="FFFFFF"/>
                </a:highlight>
                <a:latin typeface="Arial"/>
                <a:ea typeface="宋体" charset="-122"/>
              </a:rPr>
              <a:t>late afternoon</a:t>
            </a: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p:departureTime</a:t>
            </a:r>
            <a:r>
              <a:rPr lang="en-US" altLang="zh-CN" sz="1600" dirty="0">
                <a:solidFill>
                  <a:srgbClr val="0000FF"/>
                </a:solidFill>
                <a:highlight>
                  <a:srgbClr val="FFFFFF"/>
                </a:highlight>
                <a:latin typeface="Arial"/>
                <a:ea typeface="宋体" charset="-122"/>
              </a:rPr>
              <a:t>&gt;</a:t>
            </a:r>
            <a:r>
              <a:rPr lang="en-US" altLang="zh-CN" sz="1600" dirty="0">
                <a:solidFill>
                  <a:srgbClr val="000000"/>
                </a:solidFill>
                <a:highlight>
                  <a:srgbClr val="FFFFFF"/>
                </a:highlight>
                <a:latin typeface="Arial"/>
                <a:ea typeface="宋体" charset="-122"/>
              </a:rPr>
              <a:t>                   </a:t>
            </a: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err="1">
                <a:solidFill>
                  <a:srgbClr val="800000"/>
                </a:solidFill>
                <a:highlight>
                  <a:srgbClr val="FFFFFF"/>
                </a:highlight>
                <a:latin typeface="Arial"/>
                <a:ea typeface="宋体" charset="-122"/>
              </a:rPr>
              <a:t>p:seatPreference</a:t>
            </a:r>
            <a:r>
              <a:rPr lang="en-US" altLang="zh-CN" sz="1600" dirty="0">
                <a:solidFill>
                  <a:srgbClr val="0000FF"/>
                </a:solidFill>
                <a:highlight>
                  <a:srgbClr val="FFFFFF"/>
                </a:highlight>
                <a:latin typeface="Arial"/>
                <a:ea typeface="宋体" charset="-122"/>
              </a:rPr>
              <a:t>&gt;</a:t>
            </a:r>
            <a:r>
              <a:rPr lang="en-US" altLang="zh-CN" sz="1600" dirty="0">
                <a:solidFill>
                  <a:srgbClr val="000000"/>
                </a:solidFill>
                <a:highlight>
                  <a:srgbClr val="FFFFFF"/>
                </a:highlight>
                <a:latin typeface="Arial"/>
                <a:ea typeface="宋体" charset="-122"/>
              </a:rPr>
              <a:t>aisle</a:t>
            </a: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p:seatPreference</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p:departure</a:t>
            </a:r>
            <a:r>
              <a:rPr lang="en-US" altLang="zh-CN" sz="1600" dirty="0">
                <a:solidFill>
                  <a:srgbClr val="0000FF"/>
                </a:solidFill>
                <a:highlight>
                  <a:srgbClr val="FFFFFF"/>
                </a:highlight>
                <a:latin typeface="Arial"/>
                <a:ea typeface="宋体" charset="-122"/>
              </a:rPr>
              <a:t>&gt;</a:t>
            </a:r>
          </a:p>
          <a:p>
            <a:pPr eaLnBrk="1" hangingPunct="1">
              <a:spcBef>
                <a:spcPct val="20000"/>
              </a:spcBef>
              <a:buClr>
                <a:schemeClr val="accent1"/>
              </a:buClr>
              <a:buFont typeface="Wingdings" panose="05000000000000000000" pitchFamily="2" charset="2"/>
              <a:buNone/>
              <a:defRPr/>
            </a:pP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p:return</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p:departing</a:t>
            </a:r>
            <a:r>
              <a:rPr lang="en-US" altLang="zh-CN" sz="1600" dirty="0">
                <a:solidFill>
                  <a:srgbClr val="0000FF"/>
                </a:solidFill>
                <a:highlight>
                  <a:srgbClr val="FFFFFF"/>
                </a:highlight>
                <a:latin typeface="Arial"/>
                <a:ea typeface="宋体" charset="-122"/>
              </a:rPr>
              <a:t>&gt;</a:t>
            </a:r>
            <a:r>
              <a:rPr lang="en-US" altLang="zh-CN" sz="1600" dirty="0">
                <a:solidFill>
                  <a:srgbClr val="000000"/>
                </a:solidFill>
                <a:highlight>
                  <a:srgbClr val="FFFFFF"/>
                </a:highlight>
                <a:latin typeface="Arial"/>
                <a:ea typeface="宋体" charset="-122"/>
              </a:rPr>
              <a:t>Los Angeles</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p:departing</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p:txBody>
      </p:sp>
      <p:sp>
        <p:nvSpPr>
          <p:cNvPr id="6" name="Text Box 4">
            <a:extLst>
              <a:ext uri="{FF2B5EF4-FFF2-40B4-BE49-F238E27FC236}">
                <a16:creationId xmlns:a16="http://schemas.microsoft.com/office/drawing/2014/main" id="{49807A18-A541-417A-AAFE-0CEA05E26F66}"/>
              </a:ext>
            </a:extLst>
          </p:cNvPr>
          <p:cNvSpPr txBox="1">
            <a:spLocks noChangeArrowheads="1"/>
          </p:cNvSpPr>
          <p:nvPr/>
        </p:nvSpPr>
        <p:spPr bwMode="auto">
          <a:xfrm>
            <a:off x="5003602" y="2279773"/>
            <a:ext cx="4032448" cy="4425827"/>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600" dirty="0">
                <a:solidFill>
                  <a:srgbClr val="0000FF"/>
                </a:solidFill>
                <a:highlight>
                  <a:srgbClr val="FFFFFF"/>
                </a:highlight>
                <a:latin typeface="Arial"/>
                <a:ea typeface="宋体" charset="-122"/>
              </a:rPr>
              <a:t>  &lt;</a:t>
            </a:r>
            <a:r>
              <a:rPr lang="en-US" altLang="zh-CN" sz="1600" dirty="0">
                <a:solidFill>
                  <a:srgbClr val="800000"/>
                </a:solidFill>
                <a:highlight>
                  <a:srgbClr val="FFFFFF"/>
                </a:highlight>
                <a:latin typeface="Arial"/>
                <a:ea typeface="宋体" charset="-122"/>
              </a:rPr>
              <a:t>p:arriving</a:t>
            </a:r>
            <a:r>
              <a:rPr lang="en-US" altLang="zh-CN" sz="1600" dirty="0">
                <a:solidFill>
                  <a:srgbClr val="0000FF"/>
                </a:solidFill>
                <a:highlight>
                  <a:srgbClr val="FFFFFF"/>
                </a:highlight>
                <a:latin typeface="Arial"/>
                <a:ea typeface="宋体" charset="-122"/>
              </a:rPr>
              <a:t>&gt;</a:t>
            </a:r>
            <a:r>
              <a:rPr lang="en-US" altLang="zh-CN" sz="1600" dirty="0">
                <a:solidFill>
                  <a:srgbClr val="000000"/>
                </a:solidFill>
                <a:highlight>
                  <a:srgbClr val="FFFFFF"/>
                </a:highlight>
                <a:latin typeface="Arial"/>
                <a:ea typeface="宋体" charset="-122"/>
              </a:rPr>
              <a:t>New York</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p:arriving</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err="1">
                <a:solidFill>
                  <a:srgbClr val="800000"/>
                </a:solidFill>
                <a:highlight>
                  <a:srgbClr val="FFFFFF"/>
                </a:highlight>
                <a:latin typeface="Arial"/>
                <a:ea typeface="宋体" charset="-122"/>
              </a:rPr>
              <a:t>p:departureDate</a:t>
            </a:r>
            <a:r>
              <a:rPr lang="en-US" altLang="zh-CN" sz="1600" dirty="0">
                <a:solidFill>
                  <a:srgbClr val="0000FF"/>
                </a:solidFill>
                <a:highlight>
                  <a:srgbClr val="FFFFFF"/>
                </a:highlight>
                <a:latin typeface="Arial"/>
                <a:ea typeface="宋体" charset="-122"/>
              </a:rPr>
              <a:t>&gt;</a:t>
            </a:r>
            <a:r>
              <a:rPr lang="en-US" altLang="zh-CN" sz="1600" dirty="0">
                <a:solidFill>
                  <a:srgbClr val="000000"/>
                </a:solidFill>
                <a:highlight>
                  <a:srgbClr val="FFFFFF"/>
                </a:highlight>
                <a:latin typeface="Arial"/>
                <a:ea typeface="宋体" charset="-122"/>
              </a:rPr>
              <a:t>2001-12-20</a:t>
            </a: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p:departureDate</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err="1">
                <a:solidFill>
                  <a:srgbClr val="800000"/>
                </a:solidFill>
                <a:highlight>
                  <a:srgbClr val="FFFFFF"/>
                </a:highlight>
                <a:latin typeface="Arial"/>
                <a:ea typeface="宋体" charset="-122"/>
              </a:rPr>
              <a:t>p:departureTime</a:t>
            </a:r>
            <a:r>
              <a:rPr lang="en-US" altLang="zh-CN" sz="1600" dirty="0">
                <a:solidFill>
                  <a:srgbClr val="0000FF"/>
                </a:solidFill>
                <a:highlight>
                  <a:srgbClr val="FFFFFF"/>
                </a:highlight>
                <a:latin typeface="Arial"/>
                <a:ea typeface="宋体" charset="-122"/>
              </a:rPr>
              <a:t>&gt;</a:t>
            </a:r>
            <a:r>
              <a:rPr lang="en-US" altLang="zh-CN" sz="1600" dirty="0">
                <a:solidFill>
                  <a:srgbClr val="000000"/>
                </a:solidFill>
                <a:highlight>
                  <a:srgbClr val="FFFFFF"/>
                </a:highlight>
                <a:latin typeface="Arial"/>
                <a:ea typeface="宋体" charset="-122"/>
              </a:rPr>
              <a:t>mid-morning</a:t>
            </a: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p:departureTime</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p:seatPreference</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p:return</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p:itinerary</a:t>
            </a:r>
            <a:r>
              <a:rPr lang="en-US" altLang="zh-CN" sz="1600" dirty="0">
                <a:solidFill>
                  <a:srgbClr val="0000FF"/>
                </a:solidFill>
                <a:highlight>
                  <a:srgbClr val="FFFFFF"/>
                </a:highlight>
                <a:latin typeface="Arial"/>
                <a:ea typeface="宋体" charset="-122"/>
              </a:rPr>
              <a:t>&gt;</a:t>
            </a:r>
          </a:p>
          <a:p>
            <a:pPr eaLnBrk="1" hangingPunct="1">
              <a:spcBef>
                <a:spcPct val="20000"/>
              </a:spcBef>
              <a:buClr>
                <a:schemeClr val="accent1"/>
              </a:buClr>
              <a:buFont typeface="Wingdings" panose="05000000000000000000" pitchFamily="2" charset="2"/>
              <a:buNone/>
              <a:defRPr/>
            </a:pP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q:lodging</a:t>
            </a:r>
            <a:endParaRPr lang="en-US" altLang="zh-CN" sz="1600" dirty="0">
              <a:solidFill>
                <a:srgbClr val="FF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err="1">
                <a:solidFill>
                  <a:srgbClr val="FF0000"/>
                </a:solidFill>
                <a:highlight>
                  <a:srgbClr val="FFFFFF"/>
                </a:highlight>
                <a:latin typeface="Arial"/>
                <a:ea typeface="宋体" charset="-122"/>
              </a:rPr>
              <a:t>xmlns:q</a:t>
            </a:r>
            <a:r>
              <a:rPr lang="en-US" altLang="zh-CN" sz="1600" dirty="0">
                <a:solidFill>
                  <a:srgbClr val="0000FF"/>
                </a:solidFill>
                <a:highlight>
                  <a:srgbClr val="FFFFFF"/>
                </a:highlight>
                <a:latin typeface="Arial"/>
                <a:ea typeface="宋体" charset="-122"/>
              </a:rPr>
              <a:t>="</a:t>
            </a:r>
            <a:r>
              <a:rPr lang="en-US" altLang="zh-CN" sz="1600" dirty="0">
                <a:solidFill>
                  <a:srgbClr val="000000"/>
                </a:solidFill>
                <a:highlight>
                  <a:srgbClr val="FFFFFF"/>
                </a:highlight>
                <a:latin typeface="Arial"/>
                <a:ea typeface="宋体" charset="-122"/>
              </a:rPr>
              <a:t>http://travelcompany.example.org/reservation/hotels</a:t>
            </a:r>
            <a:r>
              <a:rPr lang="en-US" altLang="zh-CN" sz="1600" dirty="0">
                <a:solidFill>
                  <a:srgbClr val="0000FF"/>
                </a:solidFill>
                <a:highlight>
                  <a:srgbClr val="FFFFFF"/>
                </a:highlight>
                <a:latin typeface="Arial"/>
                <a:ea typeface="宋体" charset="-122"/>
              </a:rPr>
              <a:t>"&gt;</a:t>
            </a:r>
            <a:r>
              <a:rPr lang="en-US" altLang="zh-CN" sz="1600" dirty="0">
                <a:solidFill>
                  <a:srgbClr val="000000"/>
                </a:solidFill>
                <a:highlight>
                  <a:srgbClr val="FFFFFF"/>
                </a:highlight>
                <a:latin typeface="Arial"/>
                <a:ea typeface="宋体" charset="-122"/>
              </a:rPr>
              <a:t>      </a:t>
            </a: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q:preference</a:t>
            </a:r>
            <a:r>
              <a:rPr lang="en-US" altLang="zh-CN" sz="1600" dirty="0">
                <a:solidFill>
                  <a:srgbClr val="0000FF"/>
                </a:solidFill>
                <a:highlight>
                  <a:srgbClr val="FFFFFF"/>
                </a:highlight>
                <a:latin typeface="Arial"/>
                <a:ea typeface="宋体" charset="-122"/>
              </a:rPr>
              <a:t>&gt;</a:t>
            </a:r>
            <a:r>
              <a:rPr lang="en-US" altLang="zh-CN" sz="1600" dirty="0">
                <a:solidFill>
                  <a:srgbClr val="000000"/>
                </a:solidFill>
                <a:highlight>
                  <a:srgbClr val="FFFFFF"/>
                </a:highlight>
                <a:latin typeface="Arial"/>
                <a:ea typeface="宋体" charset="-122"/>
              </a:rPr>
              <a:t>none</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q:preference</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q:lodging</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err="1">
                <a:solidFill>
                  <a:srgbClr val="800000"/>
                </a:solidFill>
                <a:highlight>
                  <a:srgbClr val="FFFFFF"/>
                </a:highlight>
                <a:latin typeface="Arial"/>
                <a:ea typeface="宋体" charset="-122"/>
              </a:rPr>
              <a:t>env:Body</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FF"/>
                </a:solidFill>
                <a:highlight>
                  <a:srgbClr val="FFFFFF"/>
                </a:highlight>
                <a:latin typeface="Arial"/>
                <a:ea typeface="宋体" charset="-122"/>
              </a:rPr>
              <a:t>&lt;/</a:t>
            </a:r>
            <a:r>
              <a:rPr lang="en-US" altLang="zh-CN" sz="1600" dirty="0" err="1">
                <a:solidFill>
                  <a:srgbClr val="800000"/>
                </a:solidFill>
                <a:highlight>
                  <a:srgbClr val="FFFFFF"/>
                </a:highlight>
                <a:latin typeface="Arial"/>
                <a:ea typeface="宋体" charset="-122"/>
              </a:rPr>
              <a:t>env:Envelope</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p:txBody>
      </p:sp>
      <p:sp>
        <p:nvSpPr>
          <p:cNvPr id="7" name="Line 6">
            <a:extLst>
              <a:ext uri="{FF2B5EF4-FFF2-40B4-BE49-F238E27FC236}">
                <a16:creationId xmlns:a16="http://schemas.microsoft.com/office/drawing/2014/main" id="{F1EDC474-D691-492A-9777-F3791AFA6C45}"/>
              </a:ext>
            </a:extLst>
          </p:cNvPr>
          <p:cNvSpPr>
            <a:spLocks noChangeShapeType="1"/>
          </p:cNvSpPr>
          <p:nvPr/>
        </p:nvSpPr>
        <p:spPr bwMode="auto">
          <a:xfrm flipH="1">
            <a:off x="1331913" y="1989138"/>
            <a:ext cx="503237" cy="223837"/>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 name="Text Box 7">
            <a:extLst>
              <a:ext uri="{FF2B5EF4-FFF2-40B4-BE49-F238E27FC236}">
                <a16:creationId xmlns:a16="http://schemas.microsoft.com/office/drawing/2014/main" id="{18CB24D0-4DCC-4E64-B82E-9C92FACD70D8}"/>
              </a:ext>
            </a:extLst>
          </p:cNvPr>
          <p:cNvSpPr txBox="1">
            <a:spLocks noChangeArrowheads="1"/>
          </p:cNvSpPr>
          <p:nvPr/>
        </p:nvSpPr>
        <p:spPr bwMode="auto">
          <a:xfrm>
            <a:off x="1820863" y="1417638"/>
            <a:ext cx="7202487"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None/>
            </a:pPr>
            <a:r>
              <a:rPr lang="en-US" altLang="zh-CN" sz="1800"/>
              <a:t>Used to exchange information between the </a:t>
            </a:r>
            <a:r>
              <a:rPr lang="en-US" altLang="zh-CN" sz="1800">
                <a:solidFill>
                  <a:srgbClr val="FF0000"/>
                </a:solidFill>
              </a:rPr>
              <a:t>initial SOAP sender </a:t>
            </a:r>
            <a:r>
              <a:rPr lang="en-US" altLang="zh-CN" sz="1800"/>
              <a:t>and the </a:t>
            </a:r>
            <a:r>
              <a:rPr lang="en-US" altLang="zh-CN" sz="1800">
                <a:solidFill>
                  <a:srgbClr val="FF0000"/>
                </a:solidFill>
              </a:rPr>
              <a:t>ultimate SOAP receiver</a:t>
            </a:r>
            <a:r>
              <a:rPr lang="en-US" altLang="zh-CN" sz="1800"/>
              <a:t>, implicitly targeted and expected to be understood by the ultimate receiver</a:t>
            </a:r>
          </a:p>
        </p:txBody>
      </p:sp>
      <p:sp>
        <p:nvSpPr>
          <p:cNvPr id="11" name="Line 6">
            <a:extLst>
              <a:ext uri="{FF2B5EF4-FFF2-40B4-BE49-F238E27FC236}">
                <a16:creationId xmlns:a16="http://schemas.microsoft.com/office/drawing/2014/main" id="{5A62BE94-CCA9-4C85-9FE2-1E10E1B927C8}"/>
              </a:ext>
            </a:extLst>
          </p:cNvPr>
          <p:cNvSpPr>
            <a:spLocks noChangeShapeType="1"/>
          </p:cNvSpPr>
          <p:nvPr/>
        </p:nvSpPr>
        <p:spPr bwMode="auto">
          <a:xfrm flipH="1">
            <a:off x="1331913" y="1978025"/>
            <a:ext cx="503237" cy="23495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 name="Text Box 7">
            <a:extLst>
              <a:ext uri="{FF2B5EF4-FFF2-40B4-BE49-F238E27FC236}">
                <a16:creationId xmlns:a16="http://schemas.microsoft.com/office/drawing/2014/main" id="{0DB4A8C0-2DE0-443D-9906-13C861978EA8}"/>
              </a:ext>
            </a:extLst>
          </p:cNvPr>
          <p:cNvSpPr txBox="1">
            <a:spLocks noChangeArrowheads="1"/>
          </p:cNvSpPr>
          <p:nvPr/>
        </p:nvSpPr>
        <p:spPr bwMode="auto">
          <a:xfrm>
            <a:off x="1747838" y="1390650"/>
            <a:ext cx="7202487"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A SOAP intermediary may decide to play the role of the ultimate SOAP receiver, and thus process the </a:t>
            </a:r>
            <a:r>
              <a:rPr lang="en-US" altLang="zh-CN" sz="1800">
                <a:hlinkClick r:id="rId3"/>
              </a:rPr>
              <a:t>env:Body</a:t>
            </a:r>
            <a:r>
              <a:rPr lang="en-US" altLang="zh-CN" sz="1800"/>
              <a:t> </a:t>
            </a:r>
          </a:p>
          <a:p>
            <a:pPr eaLnBrk="1" hangingPunct="1">
              <a:buFont typeface="Wingdings" panose="05000000000000000000" pitchFamily="2" charset="2"/>
              <a:buNone/>
            </a:pPr>
            <a:r>
              <a:rPr lang="en-US" altLang="zh-CN" sz="1800"/>
              <a:t>However, it is not recommended</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par>
                                <p:cTn id="8" presetID="3" presetClass="entr" presetSubtype="1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linds(horizontal)">
                                      <p:cBhvr>
                                        <p:cTn id="10"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blinds(horizontal)">
                                      <p:cBhvr>
                                        <p:cTn id="15" dur="500"/>
                                        <p:tgtEl>
                                          <p:spTgt spid="11"/>
                                        </p:tgtEl>
                                      </p:cBhvr>
                                    </p:animEffect>
                                  </p:childTnLst>
                                  <p:subTnLst>
                                    <p:set>
                                      <p:cBhvr override="childStyle">
                                        <p:cTn dur="1" fill="hold" display="0" masterRel="nextClick" afterEffect="1"/>
                                        <p:tgtEl>
                                          <p:spTgt spid="11"/>
                                        </p:tgtEl>
                                        <p:attrNameLst>
                                          <p:attrName>style.visibility</p:attrName>
                                        </p:attrNameLst>
                                      </p:cBhvr>
                                      <p:to>
                                        <p:strVal val="hidden"/>
                                      </p:to>
                                    </p:set>
                                  </p:subTnLst>
                                </p:cTn>
                              </p:par>
                              <p:par>
                                <p:cTn id="16" presetID="3" presetClass="entr" presetSubtype="1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blinds(horizontal)">
                                      <p:cBhvr>
                                        <p:cTn id="18" dur="500"/>
                                        <p:tgtEl>
                                          <p:spTgt spid="12"/>
                                        </p:tgtEl>
                                      </p:cBhvr>
                                    </p:animEffec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2F0649-17F4-4E5D-BFA7-A40C48712C42}"/>
              </a:ext>
            </a:extLst>
          </p:cNvPr>
          <p:cNvSpPr>
            <a:spLocks noGrp="1"/>
          </p:cNvSpPr>
          <p:nvPr>
            <p:ph type="title"/>
          </p:nvPr>
        </p:nvSpPr>
        <p:spPr/>
        <p:txBody>
          <a:bodyPr>
            <a:noAutofit/>
          </a:bodyPr>
          <a:lstStyle/>
          <a:p>
            <a:pPr>
              <a:defRPr/>
            </a:pPr>
            <a:r>
              <a:rPr lang="en-US" altLang="zh-CN" sz="2800" dirty="0"/>
              <a:t>Document-oriented Exchanges</a:t>
            </a:r>
            <a:br>
              <a:rPr lang="en-US" altLang="zh-CN" sz="2800" dirty="0"/>
            </a:br>
            <a:r>
              <a:rPr lang="en-US" altLang="zh-CN" sz="2800" dirty="0"/>
              <a:t>From service to invoker (1/2)</a:t>
            </a:r>
            <a:endParaRPr lang="zh-CN" altLang="en-US" sz="2800" dirty="0"/>
          </a:p>
        </p:txBody>
      </p:sp>
      <p:sp>
        <p:nvSpPr>
          <p:cNvPr id="10243" name="灯片编号占位符 3">
            <a:extLst>
              <a:ext uri="{FF2B5EF4-FFF2-40B4-BE49-F238E27FC236}">
                <a16:creationId xmlns:a16="http://schemas.microsoft.com/office/drawing/2014/main" id="{E20E3B4C-7533-4D03-A1D1-F62B20DCA4EB}"/>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48FD81B7-4A71-4D58-92B0-B2E871B1875E}" type="slidenum">
              <a:rPr lang="en-US" altLang="zh-CN" smtClean="0"/>
              <a:pPr/>
              <a:t>12</a:t>
            </a:fld>
            <a:endParaRPr lang="en-US" altLang="zh-CN" sz="1000"/>
          </a:p>
        </p:txBody>
      </p:sp>
      <p:sp>
        <p:nvSpPr>
          <p:cNvPr id="5" name="Text Box 4">
            <a:extLst>
              <a:ext uri="{FF2B5EF4-FFF2-40B4-BE49-F238E27FC236}">
                <a16:creationId xmlns:a16="http://schemas.microsoft.com/office/drawing/2014/main" id="{1AC8383C-9CA8-4706-8219-4971AAAC2CAB}"/>
              </a:ext>
            </a:extLst>
          </p:cNvPr>
          <p:cNvSpPr txBox="1">
            <a:spLocks noChangeArrowheads="1"/>
          </p:cNvSpPr>
          <p:nvPr/>
        </p:nvSpPr>
        <p:spPr bwMode="auto">
          <a:xfrm>
            <a:off x="107504" y="1898823"/>
            <a:ext cx="8966200" cy="4770537"/>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600" dirty="0">
                <a:solidFill>
                  <a:srgbClr val="008080"/>
                </a:solidFill>
                <a:highlight>
                  <a:srgbClr val="FFFFFF"/>
                </a:highlight>
                <a:latin typeface="Arial"/>
                <a:ea typeface="宋体" charset="-122"/>
              </a:rPr>
              <a:t>&lt;?xml version='1.0' ?&gt;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FF"/>
                </a:solidFill>
                <a:highlight>
                  <a:srgbClr val="FFFFFF"/>
                </a:highlight>
                <a:latin typeface="Arial"/>
                <a:ea typeface="宋体" charset="-122"/>
              </a:rPr>
              <a:t>&lt;</a:t>
            </a:r>
            <a:r>
              <a:rPr lang="en-US" altLang="zh-CN" sz="1600" dirty="0" err="1">
                <a:solidFill>
                  <a:srgbClr val="800000"/>
                </a:solidFill>
                <a:highlight>
                  <a:srgbClr val="FFFFFF"/>
                </a:highlight>
                <a:latin typeface="Arial"/>
                <a:ea typeface="宋体" charset="-122"/>
              </a:rPr>
              <a:t>env:Envelope</a:t>
            </a:r>
            <a:r>
              <a:rPr lang="en-US" altLang="zh-CN" sz="1600" dirty="0">
                <a:solidFill>
                  <a:srgbClr val="FF0000"/>
                </a:solidFill>
                <a:highlight>
                  <a:srgbClr val="FFFFFF"/>
                </a:highlight>
                <a:latin typeface="Arial"/>
                <a:ea typeface="宋体" charset="-122"/>
              </a:rPr>
              <a:t> </a:t>
            </a:r>
            <a:r>
              <a:rPr lang="en-US" altLang="zh-CN" sz="1600" dirty="0" err="1">
                <a:solidFill>
                  <a:srgbClr val="FF0000"/>
                </a:solidFill>
                <a:highlight>
                  <a:srgbClr val="FFFFFF"/>
                </a:highlight>
                <a:latin typeface="Arial"/>
                <a:ea typeface="宋体" charset="-122"/>
              </a:rPr>
              <a:t>xmlns:env</a:t>
            </a:r>
            <a:r>
              <a:rPr lang="en-US" altLang="zh-CN" sz="1600" dirty="0">
                <a:solidFill>
                  <a:srgbClr val="0000FF"/>
                </a:solidFill>
                <a:highlight>
                  <a:srgbClr val="FFFFFF"/>
                </a:highlight>
                <a:latin typeface="Arial"/>
                <a:ea typeface="宋体" charset="-122"/>
              </a:rPr>
              <a:t>="</a:t>
            </a:r>
            <a:r>
              <a:rPr lang="en-US" altLang="zh-CN" sz="1600" dirty="0">
                <a:solidFill>
                  <a:srgbClr val="000000"/>
                </a:solidFill>
                <a:highlight>
                  <a:srgbClr val="FFFFFF"/>
                </a:highlight>
                <a:latin typeface="Arial"/>
                <a:ea typeface="宋体" charset="-122"/>
              </a:rPr>
              <a:t>http://www.w3.org/2003/05/soap-envelope</a:t>
            </a:r>
            <a:r>
              <a:rPr lang="en-US" altLang="zh-CN" sz="1600" dirty="0">
                <a:solidFill>
                  <a:srgbClr val="0000FF"/>
                </a:solidFill>
                <a:highlight>
                  <a:srgbClr val="FFFFFF"/>
                </a:highlight>
                <a:latin typeface="Arial"/>
                <a:ea typeface="宋体" charset="-122"/>
              </a:rPr>
              <a:t>"&gt;</a:t>
            </a:r>
            <a:r>
              <a:rPr lang="en-US" altLang="zh-CN" sz="1600" dirty="0">
                <a:solidFill>
                  <a:srgbClr val="000000"/>
                </a:solidFill>
                <a:highlight>
                  <a:srgbClr val="FFFFFF"/>
                </a:highlight>
                <a:latin typeface="Arial"/>
                <a:ea typeface="宋体" charset="-122"/>
              </a:rPr>
              <a:t> </a:t>
            </a: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err="1">
                <a:solidFill>
                  <a:srgbClr val="800000"/>
                </a:solidFill>
                <a:highlight>
                  <a:srgbClr val="FFFFFF"/>
                </a:highlight>
                <a:latin typeface="Arial"/>
                <a:ea typeface="宋体" charset="-122"/>
              </a:rPr>
              <a:t>env:Header</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m:reservation</a:t>
            </a:r>
            <a:r>
              <a:rPr lang="en-US" altLang="zh-CN" sz="1600" dirty="0">
                <a:solidFill>
                  <a:srgbClr val="FF0000"/>
                </a:solidFill>
                <a:highlight>
                  <a:srgbClr val="FFFFFF"/>
                </a:highlight>
                <a:latin typeface="Arial"/>
                <a:ea typeface="宋体" charset="-122"/>
              </a:rPr>
              <a:t> </a:t>
            </a:r>
            <a:r>
              <a:rPr lang="en-US" altLang="zh-CN" sz="1600" dirty="0" err="1">
                <a:solidFill>
                  <a:srgbClr val="FF0000"/>
                </a:solidFill>
                <a:highlight>
                  <a:srgbClr val="FFFFFF"/>
                </a:highlight>
                <a:latin typeface="Arial"/>
                <a:ea typeface="宋体" charset="-122"/>
              </a:rPr>
              <a:t>xmlns:m</a:t>
            </a:r>
            <a:r>
              <a:rPr lang="en-US" altLang="zh-CN" sz="1600" dirty="0">
                <a:solidFill>
                  <a:srgbClr val="0000FF"/>
                </a:solidFill>
                <a:highlight>
                  <a:srgbClr val="FFFFFF"/>
                </a:highlight>
                <a:latin typeface="Arial"/>
                <a:ea typeface="宋体" charset="-122"/>
              </a:rPr>
              <a:t>="</a:t>
            </a:r>
            <a:r>
              <a:rPr lang="en-US" altLang="zh-CN" sz="1600" dirty="0">
                <a:solidFill>
                  <a:srgbClr val="000000"/>
                </a:solidFill>
                <a:highlight>
                  <a:srgbClr val="FFFFFF"/>
                </a:highlight>
                <a:latin typeface="Arial"/>
                <a:ea typeface="宋体" charset="-122"/>
              </a:rPr>
              <a:t>http://travelcompany.example.org/reservation</a:t>
            </a:r>
            <a:r>
              <a:rPr lang="en-US" altLang="zh-CN" sz="1600" dirty="0">
                <a:solidFill>
                  <a:srgbClr val="0000FF"/>
                </a:solidFill>
                <a:highlight>
                  <a:srgbClr val="FFFFFF"/>
                </a:highlight>
                <a:latin typeface="Arial"/>
                <a:ea typeface="宋体" charset="-122"/>
              </a:rPr>
              <a:t>"</a:t>
            </a:r>
            <a:r>
              <a:rPr lang="en-US" altLang="zh-CN" sz="1600" dirty="0">
                <a:solidFill>
                  <a:srgbClr val="FF0000"/>
                </a:solidFill>
                <a:highlight>
                  <a:srgbClr val="FFFFFF"/>
                </a:highlight>
                <a:latin typeface="Arial"/>
                <a:ea typeface="宋体" charset="-122"/>
              </a:rPr>
              <a:t> </a:t>
            </a:r>
          </a:p>
          <a:p>
            <a:pPr eaLnBrk="1" hangingPunct="1">
              <a:spcBef>
                <a:spcPct val="20000"/>
              </a:spcBef>
              <a:buClr>
                <a:schemeClr val="accent1"/>
              </a:buClr>
              <a:buFont typeface="Wingdings" panose="05000000000000000000" pitchFamily="2" charset="2"/>
              <a:buNone/>
              <a:defRPr/>
            </a:pPr>
            <a:r>
              <a:rPr lang="en-US" altLang="zh-CN" sz="1600" dirty="0">
                <a:solidFill>
                  <a:srgbClr val="FF0000"/>
                </a:solidFill>
                <a:highlight>
                  <a:srgbClr val="FFFFFF"/>
                </a:highlight>
                <a:latin typeface="Arial"/>
                <a:ea typeface="宋体" charset="-122"/>
              </a:rPr>
              <a:t>      </a:t>
            </a:r>
            <a:r>
              <a:rPr lang="en-US" altLang="zh-CN" sz="1600" dirty="0" err="1">
                <a:solidFill>
                  <a:srgbClr val="FF0000"/>
                </a:solidFill>
                <a:highlight>
                  <a:srgbClr val="FFFFFF"/>
                </a:highlight>
                <a:latin typeface="Arial"/>
                <a:ea typeface="宋体" charset="-122"/>
              </a:rPr>
              <a:t>env:role</a:t>
            </a:r>
            <a:r>
              <a:rPr lang="en-US" altLang="zh-CN" sz="1600" dirty="0">
                <a:solidFill>
                  <a:srgbClr val="0000FF"/>
                </a:solidFill>
                <a:highlight>
                  <a:srgbClr val="FFFFFF"/>
                </a:highlight>
                <a:latin typeface="Arial"/>
                <a:ea typeface="宋体" charset="-122"/>
              </a:rPr>
              <a:t>="</a:t>
            </a:r>
            <a:r>
              <a:rPr lang="en-US" altLang="zh-CN" sz="1600" dirty="0">
                <a:solidFill>
                  <a:srgbClr val="000000"/>
                </a:solidFill>
                <a:highlight>
                  <a:srgbClr val="FFFFFF"/>
                </a:highlight>
                <a:latin typeface="Arial"/>
                <a:ea typeface="宋体" charset="-122"/>
              </a:rPr>
              <a:t>http://www.w3.org/2003/05/soap-envelope/role/next</a:t>
            </a:r>
            <a:r>
              <a:rPr lang="en-US" altLang="zh-CN" sz="1600" dirty="0">
                <a:solidFill>
                  <a:srgbClr val="0000FF"/>
                </a:solidFill>
                <a:highlight>
                  <a:srgbClr val="FFFFFF"/>
                </a:highlight>
                <a:latin typeface="Arial"/>
                <a:ea typeface="宋体" charset="-122"/>
              </a:rPr>
              <a:t>"</a:t>
            </a:r>
            <a:endParaRPr lang="en-US" altLang="zh-CN" sz="1600" dirty="0">
              <a:solidFill>
                <a:srgbClr val="FF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FF0000"/>
                </a:solidFill>
                <a:highlight>
                  <a:srgbClr val="FFFFFF"/>
                </a:highlight>
                <a:latin typeface="Arial"/>
                <a:ea typeface="宋体" charset="-122"/>
              </a:rPr>
              <a:t>           </a:t>
            </a:r>
            <a:r>
              <a:rPr lang="en-US" altLang="zh-CN" sz="1600" dirty="0" err="1">
                <a:solidFill>
                  <a:srgbClr val="FF0000"/>
                </a:solidFill>
                <a:highlight>
                  <a:srgbClr val="FFFFFF"/>
                </a:highlight>
                <a:latin typeface="Arial"/>
                <a:ea typeface="宋体" charset="-122"/>
              </a:rPr>
              <a:t>env:mustUnderstand</a:t>
            </a:r>
            <a:r>
              <a:rPr lang="en-US" altLang="zh-CN" sz="1600" dirty="0">
                <a:solidFill>
                  <a:srgbClr val="0000FF"/>
                </a:solidFill>
                <a:highlight>
                  <a:srgbClr val="FFFFFF"/>
                </a:highlight>
                <a:latin typeface="Arial"/>
                <a:ea typeface="宋体" charset="-122"/>
              </a:rPr>
              <a:t>="</a:t>
            </a:r>
            <a:r>
              <a:rPr lang="en-US" altLang="zh-CN" sz="1600" dirty="0">
                <a:solidFill>
                  <a:srgbClr val="000000"/>
                </a:solidFill>
                <a:highlight>
                  <a:srgbClr val="FFFFFF"/>
                </a:highlight>
                <a:latin typeface="Arial"/>
                <a:ea typeface="宋体" charset="-122"/>
              </a:rPr>
              <a:t>true</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m:reference</a:t>
            </a:r>
            <a:r>
              <a:rPr lang="en-US" altLang="zh-CN" sz="1600" dirty="0">
                <a:solidFill>
                  <a:srgbClr val="0000FF"/>
                </a:solidFill>
                <a:highlight>
                  <a:srgbClr val="FFFFFF"/>
                </a:highlight>
                <a:latin typeface="Arial"/>
                <a:ea typeface="宋体" charset="-122"/>
              </a:rPr>
              <a:t>&gt;</a:t>
            </a:r>
            <a:r>
              <a:rPr lang="en-US" altLang="zh-CN" sz="1600" dirty="0">
                <a:solidFill>
                  <a:srgbClr val="000000"/>
                </a:solidFill>
                <a:highlight>
                  <a:srgbClr val="FFFFFF"/>
                </a:highlight>
                <a:latin typeface="Arial"/>
                <a:ea typeface="宋体" charset="-122"/>
              </a:rPr>
              <a:t>uuid:093a2da1-q345-739r-ba5d-pqff98fe8j7d</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m:reference</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m:dateAndTime</a:t>
            </a:r>
            <a:r>
              <a:rPr lang="en-US" altLang="zh-CN" sz="1600" dirty="0">
                <a:solidFill>
                  <a:srgbClr val="0000FF"/>
                </a:solidFill>
                <a:highlight>
                  <a:srgbClr val="FFFFFF"/>
                </a:highlight>
                <a:latin typeface="Arial"/>
                <a:ea typeface="宋体" charset="-122"/>
              </a:rPr>
              <a:t>&gt;</a:t>
            </a:r>
            <a:r>
              <a:rPr lang="en-US" altLang="zh-CN" sz="1600" dirty="0">
                <a:solidFill>
                  <a:srgbClr val="000000"/>
                </a:solidFill>
                <a:highlight>
                  <a:srgbClr val="FFFFFF"/>
                </a:highlight>
                <a:latin typeface="Arial"/>
                <a:ea typeface="宋体" charset="-122"/>
              </a:rPr>
              <a:t>2001-11-29T13:35:00.000-05:00</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m:dateAndTime</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m:reservation</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n:passenger</a:t>
            </a:r>
            <a:r>
              <a:rPr lang="en-US" altLang="zh-CN" sz="1600" dirty="0">
                <a:solidFill>
                  <a:srgbClr val="FF0000"/>
                </a:solidFill>
                <a:highlight>
                  <a:srgbClr val="FFFFFF"/>
                </a:highlight>
                <a:latin typeface="Arial"/>
                <a:ea typeface="宋体" charset="-122"/>
              </a:rPr>
              <a:t> </a:t>
            </a:r>
            <a:r>
              <a:rPr lang="en-US" altLang="zh-CN" sz="1600" dirty="0" err="1">
                <a:solidFill>
                  <a:srgbClr val="FF0000"/>
                </a:solidFill>
                <a:highlight>
                  <a:srgbClr val="FFFFFF"/>
                </a:highlight>
                <a:latin typeface="Arial"/>
                <a:ea typeface="宋体" charset="-122"/>
              </a:rPr>
              <a:t>xmlns:n</a:t>
            </a:r>
            <a:r>
              <a:rPr lang="en-US" altLang="zh-CN" sz="1600" dirty="0">
                <a:solidFill>
                  <a:srgbClr val="0000FF"/>
                </a:solidFill>
                <a:highlight>
                  <a:srgbClr val="FFFFFF"/>
                </a:highlight>
                <a:latin typeface="Arial"/>
                <a:ea typeface="宋体" charset="-122"/>
              </a:rPr>
              <a:t>="</a:t>
            </a:r>
            <a:r>
              <a:rPr lang="en-US" altLang="zh-CN" sz="1600" dirty="0">
                <a:solidFill>
                  <a:srgbClr val="000000"/>
                </a:solidFill>
                <a:highlight>
                  <a:srgbClr val="FFFFFF"/>
                </a:highlight>
                <a:latin typeface="Arial"/>
                <a:ea typeface="宋体" charset="-122"/>
              </a:rPr>
              <a:t>http://mycompany.example.com/employees</a:t>
            </a:r>
            <a:r>
              <a:rPr lang="en-US" altLang="zh-CN" sz="1600" dirty="0">
                <a:solidFill>
                  <a:srgbClr val="0000FF"/>
                </a:solidFill>
                <a:highlight>
                  <a:srgbClr val="FFFFFF"/>
                </a:highlight>
                <a:latin typeface="Arial"/>
                <a:ea typeface="宋体" charset="-122"/>
              </a:rPr>
              <a:t>"</a:t>
            </a:r>
            <a:endParaRPr lang="en-US" altLang="zh-CN" sz="1600" dirty="0">
              <a:solidFill>
                <a:srgbClr val="FF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FF0000"/>
                </a:solidFill>
                <a:highlight>
                  <a:srgbClr val="FFFFFF"/>
                </a:highlight>
                <a:latin typeface="Arial"/>
                <a:ea typeface="宋体" charset="-122"/>
              </a:rPr>
              <a:t>      </a:t>
            </a:r>
            <a:r>
              <a:rPr lang="en-US" altLang="zh-CN" sz="1600" dirty="0" err="1">
                <a:solidFill>
                  <a:srgbClr val="FF0000"/>
                </a:solidFill>
                <a:highlight>
                  <a:srgbClr val="FFFFFF"/>
                </a:highlight>
                <a:latin typeface="Arial"/>
                <a:ea typeface="宋体" charset="-122"/>
              </a:rPr>
              <a:t>env:role</a:t>
            </a:r>
            <a:r>
              <a:rPr lang="en-US" altLang="zh-CN" sz="1600" dirty="0">
                <a:solidFill>
                  <a:srgbClr val="0000FF"/>
                </a:solidFill>
                <a:highlight>
                  <a:srgbClr val="FFFFFF"/>
                </a:highlight>
                <a:latin typeface="Arial"/>
                <a:ea typeface="宋体" charset="-122"/>
              </a:rPr>
              <a:t>="</a:t>
            </a:r>
            <a:r>
              <a:rPr lang="en-US" altLang="zh-CN" sz="1600" dirty="0">
                <a:solidFill>
                  <a:srgbClr val="000000"/>
                </a:solidFill>
                <a:highlight>
                  <a:srgbClr val="FFFFFF"/>
                </a:highlight>
                <a:latin typeface="Arial"/>
                <a:ea typeface="宋体" charset="-122"/>
              </a:rPr>
              <a:t>http://www.w3.org/2003/05/soap-envelope/role/next</a:t>
            </a:r>
            <a:r>
              <a:rPr lang="en-US" altLang="zh-CN" sz="1600" dirty="0">
                <a:solidFill>
                  <a:srgbClr val="0000FF"/>
                </a:solidFill>
                <a:highlight>
                  <a:srgbClr val="FFFFFF"/>
                </a:highlight>
                <a:latin typeface="Arial"/>
                <a:ea typeface="宋体" charset="-122"/>
              </a:rPr>
              <a:t>"</a:t>
            </a:r>
            <a:endParaRPr lang="en-US" altLang="zh-CN" sz="1600" dirty="0">
              <a:solidFill>
                <a:srgbClr val="FF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FF0000"/>
                </a:solidFill>
                <a:highlight>
                  <a:srgbClr val="FFFFFF"/>
                </a:highlight>
                <a:latin typeface="Arial"/>
                <a:ea typeface="宋体" charset="-122"/>
              </a:rPr>
              <a:t>           </a:t>
            </a:r>
            <a:r>
              <a:rPr lang="en-US" altLang="zh-CN" sz="1600" dirty="0" err="1">
                <a:solidFill>
                  <a:srgbClr val="FF0000"/>
                </a:solidFill>
                <a:highlight>
                  <a:srgbClr val="FFFFFF"/>
                </a:highlight>
                <a:latin typeface="Arial"/>
                <a:ea typeface="宋体" charset="-122"/>
              </a:rPr>
              <a:t>env:mustUnderstand</a:t>
            </a:r>
            <a:r>
              <a:rPr lang="en-US" altLang="zh-CN" sz="1600" dirty="0">
                <a:solidFill>
                  <a:srgbClr val="0000FF"/>
                </a:solidFill>
                <a:highlight>
                  <a:srgbClr val="FFFFFF"/>
                </a:highlight>
                <a:latin typeface="Arial"/>
                <a:ea typeface="宋体" charset="-122"/>
              </a:rPr>
              <a:t>="</a:t>
            </a:r>
            <a:r>
              <a:rPr lang="en-US" altLang="zh-CN" sz="1600" dirty="0">
                <a:solidFill>
                  <a:srgbClr val="000000"/>
                </a:solidFill>
                <a:highlight>
                  <a:srgbClr val="FFFFFF"/>
                </a:highlight>
                <a:latin typeface="Arial"/>
                <a:ea typeface="宋体" charset="-122"/>
              </a:rPr>
              <a:t>true</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n:name</a:t>
            </a:r>
            <a:r>
              <a:rPr lang="en-US" altLang="zh-CN" sz="1600" dirty="0">
                <a:solidFill>
                  <a:srgbClr val="0000FF"/>
                </a:solidFill>
                <a:highlight>
                  <a:srgbClr val="FFFFFF"/>
                </a:highlight>
                <a:latin typeface="Arial"/>
                <a:ea typeface="宋体" charset="-122"/>
              </a:rPr>
              <a:t>&gt;</a:t>
            </a:r>
            <a:r>
              <a:rPr lang="en-US" altLang="zh-CN" sz="1600" dirty="0" err="1">
                <a:solidFill>
                  <a:srgbClr val="000000"/>
                </a:solidFill>
                <a:highlight>
                  <a:srgbClr val="FFFFFF"/>
                </a:highlight>
                <a:latin typeface="Arial"/>
                <a:ea typeface="宋体" charset="-122"/>
              </a:rPr>
              <a:t>Åke</a:t>
            </a:r>
            <a:r>
              <a:rPr lang="en-US" altLang="zh-CN" sz="1600" dirty="0">
                <a:solidFill>
                  <a:srgbClr val="000000"/>
                </a:solidFill>
                <a:highlight>
                  <a:srgbClr val="FFFFFF"/>
                </a:highlight>
                <a:latin typeface="Arial"/>
                <a:ea typeface="宋体" charset="-122"/>
              </a:rPr>
              <a:t> </a:t>
            </a:r>
            <a:r>
              <a:rPr lang="en-US" altLang="zh-CN" sz="1600" dirty="0" err="1">
                <a:solidFill>
                  <a:srgbClr val="000000"/>
                </a:solidFill>
                <a:highlight>
                  <a:srgbClr val="FFFFFF"/>
                </a:highlight>
                <a:latin typeface="Arial"/>
                <a:ea typeface="宋体" charset="-122"/>
              </a:rPr>
              <a:t>Jógvan</a:t>
            </a:r>
            <a:r>
              <a:rPr lang="en-US" altLang="zh-CN" sz="1600" dirty="0">
                <a:solidFill>
                  <a:srgbClr val="000000"/>
                </a:solidFill>
                <a:highlight>
                  <a:srgbClr val="FFFFFF"/>
                </a:highlight>
                <a:latin typeface="Arial"/>
                <a:ea typeface="宋体" charset="-122"/>
              </a:rPr>
              <a:t> </a:t>
            </a:r>
            <a:r>
              <a:rPr lang="en-US" altLang="zh-CN" sz="1600" dirty="0" err="1">
                <a:solidFill>
                  <a:srgbClr val="000000"/>
                </a:solidFill>
                <a:highlight>
                  <a:srgbClr val="FFFFFF"/>
                </a:highlight>
                <a:latin typeface="Arial"/>
                <a:ea typeface="宋体" charset="-122"/>
              </a:rPr>
              <a:t>Øyvind</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n:name</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n:passenger</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err="1">
                <a:solidFill>
                  <a:srgbClr val="800000"/>
                </a:solidFill>
                <a:highlight>
                  <a:srgbClr val="FFFFFF"/>
                </a:highlight>
                <a:latin typeface="Arial"/>
                <a:ea typeface="宋体" charset="-122"/>
              </a:rPr>
              <a:t>env:Header</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p>
        </p:txBody>
      </p:sp>
      <p:sp>
        <p:nvSpPr>
          <p:cNvPr id="6" name="Line 6">
            <a:extLst>
              <a:ext uri="{FF2B5EF4-FFF2-40B4-BE49-F238E27FC236}">
                <a16:creationId xmlns:a16="http://schemas.microsoft.com/office/drawing/2014/main" id="{814B858F-4DCA-43F9-8885-D414697D13B0}"/>
              </a:ext>
            </a:extLst>
          </p:cNvPr>
          <p:cNvSpPr>
            <a:spLocks noChangeShapeType="1"/>
          </p:cNvSpPr>
          <p:nvPr/>
        </p:nvSpPr>
        <p:spPr bwMode="auto">
          <a:xfrm flipH="1">
            <a:off x="1619250" y="2466975"/>
            <a:ext cx="987425" cy="601663"/>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7">
            <a:extLst>
              <a:ext uri="{FF2B5EF4-FFF2-40B4-BE49-F238E27FC236}">
                <a16:creationId xmlns:a16="http://schemas.microsoft.com/office/drawing/2014/main" id="{D9A4CA6B-B815-4E80-82D7-1DFC3034557C}"/>
              </a:ext>
            </a:extLst>
          </p:cNvPr>
          <p:cNvSpPr txBox="1">
            <a:spLocks noChangeArrowheads="1"/>
          </p:cNvSpPr>
          <p:nvPr/>
        </p:nvSpPr>
        <p:spPr bwMode="auto">
          <a:xfrm>
            <a:off x="2436813" y="1327150"/>
            <a:ext cx="6386512"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The header is returned in the response. This could allow message correlation at the SOAP level. It can also be modified if necessary for application-specific uses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par>
                                <p:cTn id="8" presetID="3"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60C0D2-E3D6-4DE2-9DAF-069A4EE55908}"/>
              </a:ext>
            </a:extLst>
          </p:cNvPr>
          <p:cNvSpPr>
            <a:spLocks noGrp="1"/>
          </p:cNvSpPr>
          <p:nvPr>
            <p:ph type="title"/>
          </p:nvPr>
        </p:nvSpPr>
        <p:spPr/>
        <p:txBody>
          <a:bodyPr>
            <a:noAutofit/>
          </a:bodyPr>
          <a:lstStyle/>
          <a:p>
            <a:pPr>
              <a:defRPr/>
            </a:pPr>
            <a:r>
              <a:rPr lang="en-US" altLang="zh-CN" sz="2800" dirty="0"/>
              <a:t>Document-oriented Exchanges</a:t>
            </a:r>
            <a:br>
              <a:rPr lang="en-US" altLang="zh-CN" sz="2800" dirty="0"/>
            </a:br>
            <a:r>
              <a:rPr lang="en-US" altLang="zh-CN" sz="2800" dirty="0"/>
              <a:t>From service to invoker (2/2)</a:t>
            </a:r>
            <a:endParaRPr lang="zh-CN" altLang="en-US" sz="2800" dirty="0"/>
          </a:p>
        </p:txBody>
      </p:sp>
      <p:sp>
        <p:nvSpPr>
          <p:cNvPr id="12291" name="灯片编号占位符 3">
            <a:extLst>
              <a:ext uri="{FF2B5EF4-FFF2-40B4-BE49-F238E27FC236}">
                <a16:creationId xmlns:a16="http://schemas.microsoft.com/office/drawing/2014/main" id="{182F407E-39F6-4203-8448-0B44BD382E80}"/>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48FD81B7-4A71-4D58-92B0-B2E871B1875E}" type="slidenum">
              <a:rPr lang="en-US" altLang="zh-CN" smtClean="0"/>
              <a:pPr/>
              <a:t>13</a:t>
            </a:fld>
            <a:endParaRPr lang="en-US" altLang="zh-CN" sz="1000"/>
          </a:p>
        </p:txBody>
      </p:sp>
      <p:sp>
        <p:nvSpPr>
          <p:cNvPr id="5" name="Text Box 4">
            <a:extLst>
              <a:ext uri="{FF2B5EF4-FFF2-40B4-BE49-F238E27FC236}">
                <a16:creationId xmlns:a16="http://schemas.microsoft.com/office/drawing/2014/main" id="{821C1FFC-5425-457D-BC7C-B033BC5A0C58}"/>
              </a:ext>
            </a:extLst>
          </p:cNvPr>
          <p:cNvSpPr txBox="1">
            <a:spLocks noChangeArrowheads="1"/>
          </p:cNvSpPr>
          <p:nvPr/>
        </p:nvSpPr>
        <p:spPr bwMode="auto">
          <a:xfrm>
            <a:off x="179512" y="1541062"/>
            <a:ext cx="5402312" cy="5219891"/>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ea typeface="宋体" charset="-122"/>
              </a:rPr>
              <a:t>&lt;</a:t>
            </a:r>
            <a:r>
              <a:rPr lang="en-US" altLang="zh-CN" sz="1400" dirty="0" err="1">
                <a:solidFill>
                  <a:srgbClr val="800000"/>
                </a:solidFill>
                <a:highlight>
                  <a:srgbClr val="FFFFFF"/>
                </a:highlight>
                <a:latin typeface="Arial"/>
                <a:ea typeface="宋体" charset="-122"/>
              </a:rPr>
              <a:t>env:Body</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a:t>
            </a:r>
            <a:r>
              <a:rPr lang="en-US" altLang="zh-CN" sz="1400" dirty="0">
                <a:solidFill>
                  <a:srgbClr val="0000FF"/>
                </a:solidFill>
                <a:highlight>
                  <a:srgbClr val="FFFFFF"/>
                </a:highlight>
                <a:latin typeface="Arial"/>
                <a:ea typeface="宋体" charset="-122"/>
              </a:rPr>
              <a:t>&lt;</a:t>
            </a:r>
            <a:r>
              <a:rPr lang="en-US" altLang="zh-CN" sz="1400" dirty="0">
                <a:solidFill>
                  <a:srgbClr val="800000"/>
                </a:solidFill>
                <a:highlight>
                  <a:srgbClr val="FFFFFF"/>
                </a:highlight>
                <a:latin typeface="Arial"/>
                <a:ea typeface="宋体" charset="-122"/>
              </a:rPr>
              <a:t>p:itineraryClarification</a:t>
            </a:r>
            <a:r>
              <a:rPr lang="en-US" altLang="zh-CN" sz="1400" dirty="0">
                <a:solidFill>
                  <a:srgbClr val="FF0000"/>
                </a:solidFill>
                <a:highlight>
                  <a:srgbClr val="FFFFFF"/>
                </a:highlight>
                <a:latin typeface="Arial"/>
                <a:ea typeface="宋体" charset="-122"/>
              </a:rPr>
              <a:t> </a:t>
            </a: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ea typeface="宋体" charset="-122"/>
              </a:rPr>
              <a:t>    </a:t>
            </a:r>
            <a:r>
              <a:rPr lang="en-US" altLang="zh-CN" sz="1400" dirty="0" err="1">
                <a:solidFill>
                  <a:srgbClr val="FF0000"/>
                </a:solidFill>
                <a:highlight>
                  <a:srgbClr val="FFFFFF"/>
                </a:highlight>
                <a:latin typeface="Arial"/>
                <a:ea typeface="宋体" charset="-122"/>
              </a:rPr>
              <a:t>xmlns:p</a:t>
            </a:r>
            <a:r>
              <a:rPr lang="en-US" altLang="zh-CN" sz="1400" dirty="0">
                <a:solidFill>
                  <a:srgbClr val="0000FF"/>
                </a:solidFill>
                <a:highlight>
                  <a:srgbClr val="FFFFFF"/>
                </a:highlight>
                <a:latin typeface="Arial"/>
                <a:ea typeface="宋体" charset="-122"/>
              </a:rPr>
              <a:t>="</a:t>
            </a:r>
            <a:r>
              <a:rPr lang="en-US" altLang="zh-CN" sz="1400" dirty="0">
                <a:solidFill>
                  <a:srgbClr val="000000"/>
                </a:solidFill>
                <a:highlight>
                  <a:srgbClr val="FFFFFF"/>
                </a:highlight>
                <a:latin typeface="Arial"/>
                <a:ea typeface="宋体" charset="-122"/>
              </a:rPr>
              <a:t>http://travelcompany.example.org/reservation/travel</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a:t>
            </a:r>
            <a:r>
              <a:rPr lang="en-US" altLang="zh-CN" sz="1400" dirty="0">
                <a:solidFill>
                  <a:srgbClr val="0000FF"/>
                </a:solidFill>
                <a:highlight>
                  <a:srgbClr val="FFFFFF"/>
                </a:highlight>
                <a:latin typeface="Arial"/>
                <a:ea typeface="宋体" charset="-122"/>
              </a:rPr>
              <a:t>&lt;</a:t>
            </a:r>
            <a:r>
              <a:rPr lang="en-US" altLang="zh-CN" sz="1400" dirty="0">
                <a:solidFill>
                  <a:srgbClr val="800000"/>
                </a:solidFill>
                <a:highlight>
                  <a:srgbClr val="FFFFFF"/>
                </a:highlight>
                <a:latin typeface="Arial"/>
                <a:ea typeface="宋体" charset="-122"/>
              </a:rPr>
              <a:t>p:departure</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a:t>
            </a:r>
            <a:r>
              <a:rPr lang="en-US" altLang="zh-CN" sz="1400" dirty="0">
                <a:solidFill>
                  <a:srgbClr val="0000FF"/>
                </a:solidFill>
                <a:highlight>
                  <a:srgbClr val="FFFFFF"/>
                </a:highlight>
                <a:latin typeface="Arial"/>
                <a:ea typeface="宋体" charset="-122"/>
              </a:rPr>
              <a:t>&lt;</a:t>
            </a:r>
            <a:r>
              <a:rPr lang="en-US" altLang="zh-CN" sz="1400" dirty="0">
                <a:solidFill>
                  <a:srgbClr val="800000"/>
                </a:solidFill>
                <a:highlight>
                  <a:srgbClr val="FFFFFF"/>
                </a:highlight>
                <a:latin typeface="Arial"/>
                <a:ea typeface="宋体" charset="-122"/>
              </a:rPr>
              <a:t>p:departing</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a:t>
            </a:r>
            <a:r>
              <a:rPr lang="en-US" altLang="zh-CN" sz="1400" dirty="0">
                <a:solidFill>
                  <a:srgbClr val="0000FF"/>
                </a:solidFill>
                <a:highlight>
                  <a:srgbClr val="FFFFFF"/>
                </a:highlight>
                <a:latin typeface="Arial"/>
                <a:ea typeface="宋体" charset="-122"/>
              </a:rPr>
              <a:t>&lt;</a:t>
            </a:r>
            <a:r>
              <a:rPr lang="en-US" altLang="zh-CN" sz="1400" dirty="0">
                <a:solidFill>
                  <a:srgbClr val="800000"/>
                </a:solidFill>
                <a:highlight>
                  <a:srgbClr val="FFFFFF"/>
                </a:highlight>
                <a:latin typeface="Arial"/>
                <a:ea typeface="宋体" charset="-122"/>
              </a:rPr>
              <a:t>p:airportChoices</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JFK LGA EWR </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a:t>
            </a:r>
            <a:r>
              <a:rPr lang="en-US" altLang="zh-CN" sz="1400" dirty="0">
                <a:solidFill>
                  <a:srgbClr val="0000FF"/>
                </a:solidFill>
                <a:highlight>
                  <a:srgbClr val="FFFFFF"/>
                </a:highlight>
                <a:latin typeface="Arial"/>
                <a:ea typeface="宋体" charset="-122"/>
              </a:rPr>
              <a:t>&lt;/</a:t>
            </a:r>
            <a:r>
              <a:rPr lang="en-US" altLang="zh-CN" sz="1400" dirty="0">
                <a:solidFill>
                  <a:srgbClr val="800000"/>
                </a:solidFill>
                <a:highlight>
                  <a:srgbClr val="FFFFFF"/>
                </a:highlight>
                <a:latin typeface="Arial"/>
                <a:ea typeface="宋体" charset="-122"/>
              </a:rPr>
              <a:t>p:airportChoices</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a:t>
            </a:r>
            <a:r>
              <a:rPr lang="en-US" altLang="zh-CN" sz="1400" dirty="0">
                <a:solidFill>
                  <a:srgbClr val="0000FF"/>
                </a:solidFill>
                <a:highlight>
                  <a:srgbClr val="FFFFFF"/>
                </a:highlight>
                <a:latin typeface="Arial"/>
                <a:ea typeface="宋体" charset="-122"/>
              </a:rPr>
              <a:t>&lt;/</a:t>
            </a:r>
            <a:r>
              <a:rPr lang="en-US" altLang="zh-CN" sz="1400" dirty="0">
                <a:solidFill>
                  <a:srgbClr val="800000"/>
                </a:solidFill>
                <a:highlight>
                  <a:srgbClr val="FFFFFF"/>
                </a:highlight>
                <a:latin typeface="Arial"/>
                <a:ea typeface="宋体" charset="-122"/>
              </a:rPr>
              <a:t>p:departing</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a:t>
            </a:r>
            <a:r>
              <a:rPr lang="en-US" altLang="zh-CN" sz="1400" dirty="0">
                <a:solidFill>
                  <a:srgbClr val="0000FF"/>
                </a:solidFill>
                <a:highlight>
                  <a:srgbClr val="FFFFFF"/>
                </a:highlight>
                <a:latin typeface="Arial"/>
                <a:ea typeface="宋体" charset="-122"/>
              </a:rPr>
              <a:t>&lt;/</a:t>
            </a:r>
            <a:r>
              <a:rPr lang="en-US" altLang="zh-CN" sz="1400" dirty="0">
                <a:solidFill>
                  <a:srgbClr val="800000"/>
                </a:solidFill>
                <a:highlight>
                  <a:srgbClr val="FFFFFF"/>
                </a:highlight>
                <a:latin typeface="Arial"/>
                <a:ea typeface="宋体" charset="-122"/>
              </a:rPr>
              <a:t>p:departure</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a:t>
            </a:r>
            <a:r>
              <a:rPr lang="en-US" altLang="zh-CN" sz="1400" dirty="0">
                <a:solidFill>
                  <a:srgbClr val="0000FF"/>
                </a:solidFill>
                <a:highlight>
                  <a:srgbClr val="FFFFFF"/>
                </a:highlight>
                <a:latin typeface="Arial"/>
                <a:ea typeface="宋体" charset="-122"/>
              </a:rPr>
              <a:t>&lt;</a:t>
            </a:r>
            <a:r>
              <a:rPr lang="en-US" altLang="zh-CN" sz="1400" dirty="0">
                <a:solidFill>
                  <a:srgbClr val="800000"/>
                </a:solidFill>
                <a:highlight>
                  <a:srgbClr val="FFFFFF"/>
                </a:highlight>
                <a:latin typeface="Arial"/>
                <a:ea typeface="宋体" charset="-122"/>
              </a:rPr>
              <a:t>p:return</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a:t>
            </a:r>
            <a:r>
              <a:rPr lang="en-US" altLang="zh-CN" sz="1400" dirty="0">
                <a:solidFill>
                  <a:srgbClr val="0000FF"/>
                </a:solidFill>
                <a:highlight>
                  <a:srgbClr val="FFFFFF"/>
                </a:highlight>
                <a:latin typeface="Arial"/>
                <a:ea typeface="宋体" charset="-122"/>
              </a:rPr>
              <a:t>&lt;</a:t>
            </a:r>
            <a:r>
              <a:rPr lang="en-US" altLang="zh-CN" sz="1400" dirty="0">
                <a:solidFill>
                  <a:srgbClr val="800000"/>
                </a:solidFill>
                <a:highlight>
                  <a:srgbClr val="FFFFFF"/>
                </a:highlight>
                <a:latin typeface="Arial"/>
                <a:ea typeface="宋体" charset="-122"/>
              </a:rPr>
              <a:t>p:arriving</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a:t>
            </a:r>
            <a:r>
              <a:rPr lang="en-US" altLang="zh-CN" sz="1400" dirty="0">
                <a:solidFill>
                  <a:srgbClr val="0000FF"/>
                </a:solidFill>
                <a:highlight>
                  <a:srgbClr val="FFFFFF"/>
                </a:highlight>
                <a:latin typeface="Arial"/>
                <a:ea typeface="宋体" charset="-122"/>
              </a:rPr>
              <a:t>&lt;</a:t>
            </a:r>
            <a:r>
              <a:rPr lang="en-US" altLang="zh-CN" sz="1400" dirty="0">
                <a:solidFill>
                  <a:srgbClr val="800000"/>
                </a:solidFill>
                <a:highlight>
                  <a:srgbClr val="FFFFFF"/>
                </a:highlight>
                <a:latin typeface="Arial"/>
                <a:ea typeface="宋体" charset="-122"/>
              </a:rPr>
              <a:t>p:airportChoices</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JFK LGA EWR </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a:t>
            </a:r>
            <a:r>
              <a:rPr lang="en-US" altLang="zh-CN" sz="1400" dirty="0">
                <a:solidFill>
                  <a:srgbClr val="0000FF"/>
                </a:solidFill>
                <a:highlight>
                  <a:srgbClr val="FFFFFF"/>
                </a:highlight>
                <a:latin typeface="Arial"/>
                <a:ea typeface="宋体" charset="-122"/>
              </a:rPr>
              <a:t>&lt;/</a:t>
            </a:r>
            <a:r>
              <a:rPr lang="en-US" altLang="zh-CN" sz="1400" dirty="0">
                <a:solidFill>
                  <a:srgbClr val="800000"/>
                </a:solidFill>
                <a:highlight>
                  <a:srgbClr val="FFFFFF"/>
                </a:highlight>
                <a:latin typeface="Arial"/>
                <a:ea typeface="宋体" charset="-122"/>
              </a:rPr>
              <a:t>p:airportChoices</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a:t>
            </a:r>
            <a:r>
              <a:rPr lang="en-US" altLang="zh-CN" sz="1400" dirty="0">
                <a:solidFill>
                  <a:srgbClr val="0000FF"/>
                </a:solidFill>
                <a:highlight>
                  <a:srgbClr val="FFFFFF"/>
                </a:highlight>
                <a:latin typeface="Arial"/>
                <a:ea typeface="宋体" charset="-122"/>
              </a:rPr>
              <a:t>&lt;/</a:t>
            </a:r>
            <a:r>
              <a:rPr lang="en-US" altLang="zh-CN" sz="1400" dirty="0">
                <a:solidFill>
                  <a:srgbClr val="800000"/>
                </a:solidFill>
                <a:highlight>
                  <a:srgbClr val="FFFFFF"/>
                </a:highlight>
                <a:latin typeface="Arial"/>
                <a:ea typeface="宋体" charset="-122"/>
              </a:rPr>
              <a:t>p:arriving</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a:t>
            </a:r>
            <a:r>
              <a:rPr lang="en-US" altLang="zh-CN" sz="1400" dirty="0">
                <a:solidFill>
                  <a:srgbClr val="0000FF"/>
                </a:solidFill>
                <a:highlight>
                  <a:srgbClr val="FFFFFF"/>
                </a:highlight>
                <a:latin typeface="Arial"/>
                <a:ea typeface="宋体" charset="-122"/>
              </a:rPr>
              <a:t>&lt;/</a:t>
            </a:r>
            <a:r>
              <a:rPr lang="en-US" altLang="zh-CN" sz="1400" dirty="0">
                <a:solidFill>
                  <a:srgbClr val="800000"/>
                </a:solidFill>
                <a:highlight>
                  <a:srgbClr val="FFFFFF"/>
                </a:highlight>
                <a:latin typeface="Arial"/>
                <a:ea typeface="宋体" charset="-122"/>
              </a:rPr>
              <a:t>p:return</a:t>
            </a:r>
            <a:r>
              <a:rPr lang="en-US" altLang="zh-CN" sz="1400" dirty="0">
                <a:solidFill>
                  <a:srgbClr val="0000FF"/>
                </a:solidFill>
                <a:highlight>
                  <a:srgbClr val="FFFFFF"/>
                </a:highlight>
                <a:latin typeface="Arial"/>
                <a:ea typeface="宋体" charset="-122"/>
              </a:rPr>
              <a:t>&gt;</a:t>
            </a:r>
            <a:r>
              <a:rPr lang="en-US" altLang="zh-CN" sz="1400" dirty="0">
                <a:solidFill>
                  <a:srgbClr val="000000"/>
                </a:solidFill>
                <a:highlight>
                  <a:srgbClr val="FFFFFF"/>
                </a:highlight>
                <a:latin typeface="Arial"/>
                <a:ea typeface="宋体" charset="-122"/>
              </a:rPr>
              <a:t>  </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a:t>
            </a:r>
            <a:r>
              <a:rPr lang="en-US" altLang="zh-CN" sz="1400" dirty="0">
                <a:solidFill>
                  <a:srgbClr val="0000FF"/>
                </a:solidFill>
                <a:highlight>
                  <a:srgbClr val="FFFFFF"/>
                </a:highlight>
                <a:latin typeface="Arial"/>
                <a:ea typeface="宋体" charset="-122"/>
              </a:rPr>
              <a:t>&lt;/</a:t>
            </a:r>
            <a:r>
              <a:rPr lang="en-US" altLang="zh-CN" sz="1400" dirty="0">
                <a:solidFill>
                  <a:srgbClr val="800000"/>
                </a:solidFill>
                <a:highlight>
                  <a:srgbClr val="FFFFFF"/>
                </a:highlight>
                <a:latin typeface="Arial"/>
                <a:ea typeface="宋体" charset="-122"/>
              </a:rPr>
              <a:t>p:itineraryClarification</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a:t>
            </a:r>
            <a:r>
              <a:rPr lang="en-US" altLang="zh-CN" sz="1400" dirty="0">
                <a:solidFill>
                  <a:srgbClr val="0000FF"/>
                </a:solidFill>
                <a:highlight>
                  <a:srgbClr val="FFFFFF"/>
                </a:highlight>
                <a:latin typeface="Arial"/>
                <a:ea typeface="宋体" charset="-122"/>
              </a:rPr>
              <a:t>&lt;/</a:t>
            </a:r>
            <a:r>
              <a:rPr lang="en-US" altLang="zh-CN" sz="1400" dirty="0" err="1">
                <a:solidFill>
                  <a:srgbClr val="800000"/>
                </a:solidFill>
                <a:highlight>
                  <a:srgbClr val="FFFFFF"/>
                </a:highlight>
                <a:latin typeface="Arial"/>
                <a:ea typeface="宋体" charset="-122"/>
              </a:rPr>
              <a:t>env:Body</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ea typeface="宋体" charset="-122"/>
              </a:rPr>
              <a:t>&lt;/</a:t>
            </a:r>
            <a:r>
              <a:rPr lang="en-US" altLang="zh-CN" sz="1400" dirty="0" err="1">
                <a:solidFill>
                  <a:srgbClr val="800000"/>
                </a:solidFill>
                <a:highlight>
                  <a:srgbClr val="FFFFFF"/>
                </a:highlight>
                <a:latin typeface="Arial"/>
                <a:ea typeface="宋体" charset="-122"/>
              </a:rPr>
              <a:t>env:Envelope</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p:txBody>
      </p:sp>
      <p:sp>
        <p:nvSpPr>
          <p:cNvPr id="6" name="Line 6">
            <a:extLst>
              <a:ext uri="{FF2B5EF4-FFF2-40B4-BE49-F238E27FC236}">
                <a16:creationId xmlns:a16="http://schemas.microsoft.com/office/drawing/2014/main" id="{D78CC22F-A540-4DF4-A46F-2ACFA187C585}"/>
              </a:ext>
            </a:extLst>
          </p:cNvPr>
          <p:cNvSpPr>
            <a:spLocks noChangeShapeType="1"/>
          </p:cNvSpPr>
          <p:nvPr/>
        </p:nvSpPr>
        <p:spPr bwMode="auto">
          <a:xfrm flipH="1" flipV="1">
            <a:off x="1331913" y="1765300"/>
            <a:ext cx="4356100" cy="2222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7">
            <a:extLst>
              <a:ext uri="{FF2B5EF4-FFF2-40B4-BE49-F238E27FC236}">
                <a16:creationId xmlns:a16="http://schemas.microsoft.com/office/drawing/2014/main" id="{9AC6B2D7-D205-43D9-A250-7881210766D9}"/>
              </a:ext>
            </a:extLst>
          </p:cNvPr>
          <p:cNvSpPr txBox="1">
            <a:spLocks noChangeArrowheads="1"/>
          </p:cNvSpPr>
          <p:nvPr/>
        </p:nvSpPr>
        <p:spPr bwMode="auto">
          <a:xfrm>
            <a:off x="5688013" y="1443038"/>
            <a:ext cx="3455987"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Primary content of the message, which includes a list of the various alternatives for the airport, conforming to a schema definition in the XML namespace defined here</a:t>
            </a:r>
          </a:p>
        </p:txBody>
      </p:sp>
      <p:sp>
        <p:nvSpPr>
          <p:cNvPr id="8" name="Line 6">
            <a:extLst>
              <a:ext uri="{FF2B5EF4-FFF2-40B4-BE49-F238E27FC236}">
                <a16:creationId xmlns:a16="http://schemas.microsoft.com/office/drawing/2014/main" id="{E9C2C239-93D1-4DEE-868A-44212E269B1A}"/>
              </a:ext>
            </a:extLst>
          </p:cNvPr>
          <p:cNvSpPr>
            <a:spLocks noChangeShapeType="1"/>
          </p:cNvSpPr>
          <p:nvPr/>
        </p:nvSpPr>
        <p:spPr bwMode="auto">
          <a:xfrm flipH="1" flipV="1">
            <a:off x="4716463" y="2349500"/>
            <a:ext cx="971550" cy="57467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Text Box 7">
            <a:extLst>
              <a:ext uri="{FF2B5EF4-FFF2-40B4-BE49-F238E27FC236}">
                <a16:creationId xmlns:a16="http://schemas.microsoft.com/office/drawing/2014/main" id="{B516848A-D36E-4CFF-B406-1B6428D73347}"/>
              </a:ext>
            </a:extLst>
          </p:cNvPr>
          <p:cNvSpPr txBox="1">
            <a:spLocks noChangeArrowheads="1"/>
          </p:cNvSpPr>
          <p:nvPr/>
        </p:nvSpPr>
        <p:spPr bwMode="auto">
          <a:xfrm>
            <a:off x="2292350" y="4089400"/>
            <a:ext cx="68754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The data type should be confirmed to application-defined schema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linds(horizontal)">
                                      <p:cBhvr>
                                        <p:cTn id="15" dur="500"/>
                                        <p:tgtEl>
                                          <p:spTgt spid="8"/>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blinds(horizontal)">
                                      <p:cBhvr>
                                        <p:cTn id="2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64F4D0-5096-41B3-AD44-486A0C5A5CFA}"/>
              </a:ext>
            </a:extLst>
          </p:cNvPr>
          <p:cNvSpPr>
            <a:spLocks noGrp="1"/>
          </p:cNvSpPr>
          <p:nvPr>
            <p:ph type="title"/>
          </p:nvPr>
        </p:nvSpPr>
        <p:spPr/>
        <p:txBody>
          <a:bodyPr>
            <a:noAutofit/>
          </a:bodyPr>
          <a:lstStyle/>
          <a:p>
            <a:pPr>
              <a:defRPr/>
            </a:pPr>
            <a:r>
              <a:rPr lang="en-US" altLang="zh-CN" sz="2800" dirty="0"/>
              <a:t>Document-oriented Exchanges</a:t>
            </a:r>
            <a:br>
              <a:rPr lang="en-US" altLang="zh-CN" sz="2800" dirty="0"/>
            </a:br>
            <a:r>
              <a:rPr lang="en-US" altLang="zh-CN" sz="2800" dirty="0"/>
              <a:t>From invoker to service (1/2)</a:t>
            </a:r>
            <a:endParaRPr lang="zh-CN" altLang="en-US" sz="2800" dirty="0"/>
          </a:p>
        </p:txBody>
      </p:sp>
      <p:sp>
        <p:nvSpPr>
          <p:cNvPr id="14339" name="灯片编号占位符 3">
            <a:extLst>
              <a:ext uri="{FF2B5EF4-FFF2-40B4-BE49-F238E27FC236}">
                <a16:creationId xmlns:a16="http://schemas.microsoft.com/office/drawing/2014/main" id="{CA05E4F4-1CF0-487E-A992-F301D01B512A}"/>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48FD81B7-4A71-4D58-92B0-B2E871B1875E}" type="slidenum">
              <a:rPr lang="en-US" altLang="zh-CN" smtClean="0"/>
              <a:pPr/>
              <a:t>14</a:t>
            </a:fld>
            <a:endParaRPr lang="en-US" altLang="zh-CN" sz="1000"/>
          </a:p>
        </p:txBody>
      </p:sp>
      <p:sp>
        <p:nvSpPr>
          <p:cNvPr id="5" name="Text Box 4">
            <a:extLst>
              <a:ext uri="{FF2B5EF4-FFF2-40B4-BE49-F238E27FC236}">
                <a16:creationId xmlns:a16="http://schemas.microsoft.com/office/drawing/2014/main" id="{88DE3DBE-86EA-4700-B8D3-44F40BD241C9}"/>
              </a:ext>
            </a:extLst>
          </p:cNvPr>
          <p:cNvSpPr txBox="1">
            <a:spLocks noChangeArrowheads="1"/>
          </p:cNvSpPr>
          <p:nvPr/>
        </p:nvSpPr>
        <p:spPr bwMode="auto">
          <a:xfrm>
            <a:off x="207322" y="1616584"/>
            <a:ext cx="8966200" cy="5066002"/>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600" dirty="0">
                <a:solidFill>
                  <a:srgbClr val="008080"/>
                </a:solidFill>
                <a:highlight>
                  <a:srgbClr val="FFFFFF"/>
                </a:highlight>
                <a:latin typeface="Arial"/>
                <a:ea typeface="宋体" charset="-122"/>
              </a:rPr>
              <a:t>&lt;?xml version='1.0' ?&gt;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FF"/>
                </a:solidFill>
                <a:highlight>
                  <a:srgbClr val="FFFFFF"/>
                </a:highlight>
                <a:latin typeface="Arial"/>
                <a:ea typeface="宋体" charset="-122"/>
              </a:rPr>
              <a:t>&lt;</a:t>
            </a:r>
            <a:r>
              <a:rPr lang="en-US" altLang="zh-CN" sz="1600" dirty="0" err="1">
                <a:solidFill>
                  <a:srgbClr val="800000"/>
                </a:solidFill>
                <a:highlight>
                  <a:srgbClr val="FFFFFF"/>
                </a:highlight>
                <a:latin typeface="Arial"/>
                <a:ea typeface="宋体" charset="-122"/>
              </a:rPr>
              <a:t>env:Envelope</a:t>
            </a:r>
            <a:r>
              <a:rPr lang="en-US" altLang="zh-CN" sz="1600" dirty="0">
                <a:solidFill>
                  <a:srgbClr val="FF0000"/>
                </a:solidFill>
                <a:highlight>
                  <a:srgbClr val="FFFFFF"/>
                </a:highlight>
                <a:latin typeface="Arial"/>
                <a:ea typeface="宋体" charset="-122"/>
              </a:rPr>
              <a:t> </a:t>
            </a:r>
            <a:r>
              <a:rPr lang="en-US" altLang="zh-CN" sz="1600" dirty="0" err="1">
                <a:solidFill>
                  <a:srgbClr val="FF0000"/>
                </a:solidFill>
                <a:highlight>
                  <a:srgbClr val="FFFFFF"/>
                </a:highlight>
                <a:latin typeface="Arial"/>
                <a:ea typeface="宋体" charset="-122"/>
              </a:rPr>
              <a:t>xmlns:env</a:t>
            </a:r>
            <a:r>
              <a:rPr lang="en-US" altLang="zh-CN" sz="1600" dirty="0">
                <a:solidFill>
                  <a:srgbClr val="0000FF"/>
                </a:solidFill>
                <a:highlight>
                  <a:srgbClr val="FFFFFF"/>
                </a:highlight>
                <a:latin typeface="Arial"/>
                <a:ea typeface="宋体" charset="-122"/>
              </a:rPr>
              <a:t>="</a:t>
            </a:r>
            <a:r>
              <a:rPr lang="en-US" altLang="zh-CN" sz="1600" dirty="0">
                <a:solidFill>
                  <a:srgbClr val="000000"/>
                </a:solidFill>
                <a:highlight>
                  <a:srgbClr val="FFFFFF"/>
                </a:highlight>
                <a:latin typeface="Arial"/>
                <a:ea typeface="宋体" charset="-122"/>
              </a:rPr>
              <a:t>http://www.w3.org/2003/05/soap-envelope</a:t>
            </a:r>
            <a:r>
              <a:rPr lang="en-US" altLang="zh-CN" sz="1600" dirty="0">
                <a:solidFill>
                  <a:srgbClr val="0000FF"/>
                </a:solidFill>
                <a:highlight>
                  <a:srgbClr val="FFFFFF"/>
                </a:highlight>
                <a:latin typeface="Arial"/>
                <a:ea typeface="宋体" charset="-122"/>
              </a:rPr>
              <a:t>"&gt;</a:t>
            </a:r>
            <a:r>
              <a:rPr lang="en-US" altLang="zh-CN" sz="1600" dirty="0">
                <a:solidFill>
                  <a:srgbClr val="000000"/>
                </a:solidFill>
                <a:highlight>
                  <a:srgbClr val="FFFFFF"/>
                </a:highlight>
                <a:latin typeface="Arial"/>
                <a:ea typeface="宋体" charset="-122"/>
              </a:rPr>
              <a:t> </a:t>
            </a: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err="1">
                <a:solidFill>
                  <a:srgbClr val="800000"/>
                </a:solidFill>
                <a:highlight>
                  <a:srgbClr val="FFFFFF"/>
                </a:highlight>
                <a:latin typeface="Arial"/>
                <a:ea typeface="宋体" charset="-122"/>
              </a:rPr>
              <a:t>env:Header</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m:reservation</a:t>
            </a:r>
            <a:r>
              <a:rPr lang="en-US" altLang="zh-CN" sz="1600" dirty="0">
                <a:solidFill>
                  <a:srgbClr val="FF0000"/>
                </a:solidFill>
                <a:highlight>
                  <a:srgbClr val="FFFFFF"/>
                </a:highlight>
                <a:latin typeface="Arial"/>
                <a:ea typeface="宋体" charset="-122"/>
              </a:rPr>
              <a:t> </a:t>
            </a:r>
          </a:p>
          <a:p>
            <a:pPr eaLnBrk="1" hangingPunct="1">
              <a:spcBef>
                <a:spcPct val="20000"/>
              </a:spcBef>
              <a:buClr>
                <a:schemeClr val="accent1"/>
              </a:buClr>
              <a:buFont typeface="Wingdings" panose="05000000000000000000" pitchFamily="2" charset="2"/>
              <a:buNone/>
              <a:defRPr/>
            </a:pPr>
            <a:r>
              <a:rPr lang="en-US" altLang="zh-CN" sz="1600" dirty="0">
                <a:solidFill>
                  <a:srgbClr val="FF0000"/>
                </a:solidFill>
                <a:highlight>
                  <a:srgbClr val="FFFFFF"/>
                </a:highlight>
                <a:latin typeface="Arial"/>
                <a:ea typeface="宋体" charset="-122"/>
              </a:rPr>
              <a:t>     </a:t>
            </a:r>
            <a:r>
              <a:rPr lang="en-US" altLang="zh-CN" sz="1600" dirty="0" err="1">
                <a:solidFill>
                  <a:srgbClr val="FF0000"/>
                </a:solidFill>
                <a:highlight>
                  <a:srgbClr val="FFFFFF"/>
                </a:highlight>
                <a:latin typeface="Arial"/>
                <a:ea typeface="宋体" charset="-122"/>
              </a:rPr>
              <a:t>xmlns:m</a:t>
            </a:r>
            <a:r>
              <a:rPr lang="en-US" altLang="zh-CN" sz="1600" dirty="0">
                <a:solidFill>
                  <a:srgbClr val="0000FF"/>
                </a:solidFill>
                <a:highlight>
                  <a:srgbClr val="FFFFFF"/>
                </a:highlight>
                <a:latin typeface="Arial"/>
                <a:ea typeface="宋体" charset="-122"/>
              </a:rPr>
              <a:t>="</a:t>
            </a:r>
            <a:r>
              <a:rPr lang="en-US" altLang="zh-CN" sz="1600" dirty="0">
                <a:solidFill>
                  <a:srgbClr val="000000"/>
                </a:solidFill>
                <a:highlight>
                  <a:srgbClr val="FFFFFF"/>
                </a:highlight>
                <a:latin typeface="Arial"/>
                <a:ea typeface="宋体" charset="-122"/>
              </a:rPr>
              <a:t>http://travelcompany.example.org/reservation</a:t>
            </a:r>
            <a:r>
              <a:rPr lang="en-US" altLang="zh-CN" sz="1600" dirty="0">
                <a:solidFill>
                  <a:srgbClr val="0000FF"/>
                </a:solidFill>
                <a:highlight>
                  <a:srgbClr val="FFFFFF"/>
                </a:highlight>
                <a:latin typeface="Arial"/>
                <a:ea typeface="宋体" charset="-122"/>
              </a:rPr>
              <a:t>"</a:t>
            </a:r>
            <a:r>
              <a:rPr lang="en-US" altLang="zh-CN" sz="1600" dirty="0">
                <a:solidFill>
                  <a:srgbClr val="FF0000"/>
                </a:solidFill>
                <a:highlight>
                  <a:srgbClr val="FFFFFF"/>
                </a:highlight>
                <a:latin typeface="Arial"/>
                <a:ea typeface="宋体" charset="-122"/>
              </a:rPr>
              <a:t> </a:t>
            </a:r>
          </a:p>
          <a:p>
            <a:pPr eaLnBrk="1" hangingPunct="1">
              <a:spcBef>
                <a:spcPct val="20000"/>
              </a:spcBef>
              <a:buClr>
                <a:schemeClr val="accent1"/>
              </a:buClr>
              <a:buFont typeface="Wingdings" panose="05000000000000000000" pitchFamily="2" charset="2"/>
              <a:buNone/>
              <a:defRPr/>
            </a:pPr>
            <a:r>
              <a:rPr lang="en-US" altLang="zh-CN" sz="1600" dirty="0">
                <a:solidFill>
                  <a:srgbClr val="FF0000"/>
                </a:solidFill>
                <a:highlight>
                  <a:srgbClr val="FFFFFF"/>
                </a:highlight>
                <a:latin typeface="Arial"/>
                <a:ea typeface="宋体" charset="-122"/>
              </a:rPr>
              <a:t>      </a:t>
            </a:r>
            <a:r>
              <a:rPr lang="en-US" altLang="zh-CN" sz="1600" dirty="0" err="1">
                <a:solidFill>
                  <a:srgbClr val="FF0000"/>
                </a:solidFill>
                <a:highlight>
                  <a:srgbClr val="FFFFFF"/>
                </a:highlight>
                <a:latin typeface="Arial"/>
                <a:ea typeface="宋体" charset="-122"/>
              </a:rPr>
              <a:t>env:role</a:t>
            </a:r>
            <a:r>
              <a:rPr lang="en-US" altLang="zh-CN" sz="1600" dirty="0">
                <a:solidFill>
                  <a:srgbClr val="0000FF"/>
                </a:solidFill>
                <a:highlight>
                  <a:srgbClr val="FFFFFF"/>
                </a:highlight>
                <a:latin typeface="Arial"/>
                <a:ea typeface="宋体" charset="-122"/>
              </a:rPr>
              <a:t>="</a:t>
            </a:r>
            <a:r>
              <a:rPr lang="en-US" altLang="zh-CN" sz="1600" dirty="0">
                <a:solidFill>
                  <a:srgbClr val="000000"/>
                </a:solidFill>
                <a:highlight>
                  <a:srgbClr val="FFFFFF"/>
                </a:highlight>
                <a:latin typeface="Arial"/>
                <a:ea typeface="宋体" charset="-122"/>
              </a:rPr>
              <a:t>http://www.w3.org/2003/05/soap-envelope/role/next</a:t>
            </a:r>
            <a:r>
              <a:rPr lang="en-US" altLang="zh-CN" sz="1600" dirty="0">
                <a:solidFill>
                  <a:srgbClr val="0000FF"/>
                </a:solidFill>
                <a:highlight>
                  <a:srgbClr val="FFFFFF"/>
                </a:highlight>
                <a:latin typeface="Arial"/>
                <a:ea typeface="宋体" charset="-122"/>
              </a:rPr>
              <a:t>"</a:t>
            </a:r>
            <a:endParaRPr lang="en-US" altLang="zh-CN" sz="1600" dirty="0">
              <a:solidFill>
                <a:srgbClr val="FF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FF0000"/>
                </a:solidFill>
                <a:highlight>
                  <a:srgbClr val="FFFFFF"/>
                </a:highlight>
                <a:latin typeface="Arial"/>
                <a:ea typeface="宋体" charset="-122"/>
              </a:rPr>
              <a:t>           </a:t>
            </a:r>
            <a:r>
              <a:rPr lang="en-US" altLang="zh-CN" sz="1600" dirty="0" err="1">
                <a:solidFill>
                  <a:srgbClr val="FF0000"/>
                </a:solidFill>
                <a:highlight>
                  <a:srgbClr val="FFFFFF"/>
                </a:highlight>
                <a:latin typeface="Arial"/>
                <a:ea typeface="宋体" charset="-122"/>
              </a:rPr>
              <a:t>env:mustUnderstand</a:t>
            </a:r>
            <a:r>
              <a:rPr lang="en-US" altLang="zh-CN" sz="1600" dirty="0">
                <a:solidFill>
                  <a:srgbClr val="0000FF"/>
                </a:solidFill>
                <a:highlight>
                  <a:srgbClr val="FFFFFF"/>
                </a:highlight>
                <a:latin typeface="Arial"/>
                <a:ea typeface="宋体" charset="-122"/>
              </a:rPr>
              <a:t>="</a:t>
            </a:r>
            <a:r>
              <a:rPr lang="en-US" altLang="zh-CN" sz="1600" dirty="0">
                <a:solidFill>
                  <a:srgbClr val="000000"/>
                </a:solidFill>
                <a:highlight>
                  <a:srgbClr val="FFFFFF"/>
                </a:highlight>
                <a:latin typeface="Arial"/>
                <a:ea typeface="宋体" charset="-122"/>
              </a:rPr>
              <a:t>true</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m:reference</a:t>
            </a:r>
            <a:r>
              <a:rPr lang="en-US" altLang="zh-CN" sz="1600" dirty="0">
                <a:solidFill>
                  <a:srgbClr val="0000FF"/>
                </a:solidFill>
                <a:highlight>
                  <a:srgbClr val="FFFFFF"/>
                </a:highlight>
                <a:latin typeface="Arial"/>
                <a:ea typeface="宋体" charset="-122"/>
              </a:rPr>
              <a:t>&gt;</a:t>
            </a:r>
            <a:r>
              <a:rPr lang="en-US" altLang="zh-CN" sz="1600" dirty="0">
                <a:solidFill>
                  <a:srgbClr val="000000"/>
                </a:solidFill>
                <a:highlight>
                  <a:srgbClr val="FFFFFF"/>
                </a:highlight>
                <a:latin typeface="Arial"/>
                <a:ea typeface="宋体" charset="-122"/>
              </a:rPr>
              <a:t>uuid:093a2da1-q345-739r-ba5d-pqff98fe8j7d</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m:reference</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m:dateAndTime</a:t>
            </a:r>
            <a:r>
              <a:rPr lang="en-US" altLang="zh-CN" sz="1600" dirty="0">
                <a:solidFill>
                  <a:srgbClr val="0000FF"/>
                </a:solidFill>
                <a:highlight>
                  <a:srgbClr val="FFFFFF"/>
                </a:highlight>
                <a:latin typeface="Arial"/>
                <a:ea typeface="宋体" charset="-122"/>
              </a:rPr>
              <a:t>&gt;</a:t>
            </a:r>
            <a:r>
              <a:rPr lang="en-US" altLang="zh-CN" sz="1600" dirty="0">
                <a:solidFill>
                  <a:srgbClr val="000000"/>
                </a:solidFill>
                <a:highlight>
                  <a:srgbClr val="FFFFFF"/>
                </a:highlight>
                <a:latin typeface="Arial"/>
                <a:ea typeface="宋体" charset="-122"/>
              </a:rPr>
              <a:t>2001-11-29T13:36:50.000-05:00</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m:dateAndTime</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m:reservation</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n:passenger</a:t>
            </a:r>
            <a:r>
              <a:rPr lang="en-US" altLang="zh-CN" sz="1600" dirty="0">
                <a:solidFill>
                  <a:srgbClr val="FF0000"/>
                </a:solidFill>
                <a:highlight>
                  <a:srgbClr val="FFFFFF"/>
                </a:highlight>
                <a:latin typeface="Arial"/>
                <a:ea typeface="宋体" charset="-122"/>
              </a:rPr>
              <a:t> </a:t>
            </a:r>
            <a:r>
              <a:rPr lang="en-US" altLang="zh-CN" sz="1600" dirty="0" err="1">
                <a:solidFill>
                  <a:srgbClr val="FF0000"/>
                </a:solidFill>
                <a:highlight>
                  <a:srgbClr val="FFFFFF"/>
                </a:highlight>
                <a:latin typeface="Arial"/>
                <a:ea typeface="宋体" charset="-122"/>
              </a:rPr>
              <a:t>xmlns:n</a:t>
            </a:r>
            <a:r>
              <a:rPr lang="en-US" altLang="zh-CN" sz="1600" dirty="0">
                <a:solidFill>
                  <a:srgbClr val="0000FF"/>
                </a:solidFill>
                <a:highlight>
                  <a:srgbClr val="FFFFFF"/>
                </a:highlight>
                <a:latin typeface="Arial"/>
                <a:ea typeface="宋体" charset="-122"/>
              </a:rPr>
              <a:t>="</a:t>
            </a:r>
            <a:r>
              <a:rPr lang="en-US" altLang="zh-CN" sz="1600" dirty="0">
                <a:solidFill>
                  <a:srgbClr val="000000"/>
                </a:solidFill>
                <a:highlight>
                  <a:srgbClr val="FFFFFF"/>
                </a:highlight>
                <a:latin typeface="Arial"/>
                <a:ea typeface="宋体" charset="-122"/>
              </a:rPr>
              <a:t>http://mycompany.example.com/employees</a:t>
            </a:r>
            <a:r>
              <a:rPr lang="en-US" altLang="zh-CN" sz="1600" dirty="0">
                <a:solidFill>
                  <a:srgbClr val="0000FF"/>
                </a:solidFill>
                <a:highlight>
                  <a:srgbClr val="FFFFFF"/>
                </a:highlight>
                <a:latin typeface="Arial"/>
                <a:ea typeface="宋体" charset="-122"/>
              </a:rPr>
              <a:t>"</a:t>
            </a:r>
            <a:endParaRPr lang="en-US" altLang="zh-CN" sz="1600" dirty="0">
              <a:solidFill>
                <a:srgbClr val="FF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FF0000"/>
                </a:solidFill>
                <a:highlight>
                  <a:srgbClr val="FFFFFF"/>
                </a:highlight>
                <a:latin typeface="Arial"/>
                <a:ea typeface="宋体" charset="-122"/>
              </a:rPr>
              <a:t>      </a:t>
            </a:r>
            <a:r>
              <a:rPr lang="en-US" altLang="zh-CN" sz="1600" dirty="0" err="1">
                <a:solidFill>
                  <a:srgbClr val="FF0000"/>
                </a:solidFill>
                <a:highlight>
                  <a:srgbClr val="FFFFFF"/>
                </a:highlight>
                <a:latin typeface="Arial"/>
                <a:ea typeface="宋体" charset="-122"/>
              </a:rPr>
              <a:t>env:role</a:t>
            </a:r>
            <a:r>
              <a:rPr lang="en-US" altLang="zh-CN" sz="1600" dirty="0">
                <a:solidFill>
                  <a:srgbClr val="0000FF"/>
                </a:solidFill>
                <a:highlight>
                  <a:srgbClr val="FFFFFF"/>
                </a:highlight>
                <a:latin typeface="Arial"/>
                <a:ea typeface="宋体" charset="-122"/>
              </a:rPr>
              <a:t>="</a:t>
            </a:r>
            <a:r>
              <a:rPr lang="en-US" altLang="zh-CN" sz="1600" dirty="0">
                <a:solidFill>
                  <a:srgbClr val="000000"/>
                </a:solidFill>
                <a:highlight>
                  <a:srgbClr val="FFFFFF"/>
                </a:highlight>
                <a:latin typeface="Arial"/>
                <a:ea typeface="宋体" charset="-122"/>
              </a:rPr>
              <a:t>http://www.w3.org/2003/05/soap-envelope/role/next</a:t>
            </a:r>
            <a:r>
              <a:rPr lang="en-US" altLang="zh-CN" sz="1600" dirty="0">
                <a:solidFill>
                  <a:srgbClr val="0000FF"/>
                </a:solidFill>
                <a:highlight>
                  <a:srgbClr val="FFFFFF"/>
                </a:highlight>
                <a:latin typeface="Arial"/>
                <a:ea typeface="宋体" charset="-122"/>
              </a:rPr>
              <a:t>"</a:t>
            </a:r>
            <a:endParaRPr lang="en-US" altLang="zh-CN" sz="1600" dirty="0">
              <a:solidFill>
                <a:srgbClr val="FF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FF0000"/>
                </a:solidFill>
                <a:highlight>
                  <a:srgbClr val="FFFFFF"/>
                </a:highlight>
                <a:latin typeface="Arial"/>
                <a:ea typeface="宋体" charset="-122"/>
              </a:rPr>
              <a:t>           </a:t>
            </a:r>
            <a:r>
              <a:rPr lang="en-US" altLang="zh-CN" sz="1600" dirty="0" err="1">
                <a:solidFill>
                  <a:srgbClr val="FF0000"/>
                </a:solidFill>
                <a:highlight>
                  <a:srgbClr val="FFFFFF"/>
                </a:highlight>
                <a:latin typeface="Arial"/>
                <a:ea typeface="宋体" charset="-122"/>
              </a:rPr>
              <a:t>env:mustUnderstand</a:t>
            </a:r>
            <a:r>
              <a:rPr lang="en-US" altLang="zh-CN" sz="1600" dirty="0">
                <a:solidFill>
                  <a:srgbClr val="0000FF"/>
                </a:solidFill>
                <a:highlight>
                  <a:srgbClr val="FFFFFF"/>
                </a:highlight>
                <a:latin typeface="Arial"/>
                <a:ea typeface="宋体" charset="-122"/>
              </a:rPr>
              <a:t>="</a:t>
            </a:r>
            <a:r>
              <a:rPr lang="en-US" altLang="zh-CN" sz="1600" dirty="0">
                <a:solidFill>
                  <a:srgbClr val="000000"/>
                </a:solidFill>
                <a:highlight>
                  <a:srgbClr val="FFFFFF"/>
                </a:highlight>
                <a:latin typeface="Arial"/>
                <a:ea typeface="宋体" charset="-122"/>
              </a:rPr>
              <a:t>true</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n:name</a:t>
            </a:r>
            <a:r>
              <a:rPr lang="en-US" altLang="zh-CN" sz="1600" dirty="0">
                <a:solidFill>
                  <a:srgbClr val="0000FF"/>
                </a:solidFill>
                <a:highlight>
                  <a:srgbClr val="FFFFFF"/>
                </a:highlight>
                <a:latin typeface="Arial"/>
                <a:ea typeface="宋体" charset="-122"/>
              </a:rPr>
              <a:t>&gt;</a:t>
            </a:r>
            <a:r>
              <a:rPr lang="en-US" altLang="zh-CN" sz="1600" dirty="0" err="1">
                <a:solidFill>
                  <a:srgbClr val="000000"/>
                </a:solidFill>
                <a:highlight>
                  <a:srgbClr val="FFFFFF"/>
                </a:highlight>
                <a:latin typeface="Arial"/>
                <a:ea typeface="宋体" charset="-122"/>
              </a:rPr>
              <a:t>Åke</a:t>
            </a:r>
            <a:r>
              <a:rPr lang="en-US" altLang="zh-CN" sz="1600" dirty="0">
                <a:solidFill>
                  <a:srgbClr val="000000"/>
                </a:solidFill>
                <a:highlight>
                  <a:srgbClr val="FFFFFF"/>
                </a:highlight>
                <a:latin typeface="Arial"/>
                <a:ea typeface="宋体" charset="-122"/>
              </a:rPr>
              <a:t> </a:t>
            </a:r>
            <a:r>
              <a:rPr lang="en-US" altLang="zh-CN" sz="1600" dirty="0" err="1">
                <a:solidFill>
                  <a:srgbClr val="000000"/>
                </a:solidFill>
                <a:highlight>
                  <a:srgbClr val="FFFFFF"/>
                </a:highlight>
                <a:latin typeface="Arial"/>
                <a:ea typeface="宋体" charset="-122"/>
              </a:rPr>
              <a:t>Jógvan</a:t>
            </a:r>
            <a:r>
              <a:rPr lang="en-US" altLang="zh-CN" sz="1600" dirty="0">
                <a:solidFill>
                  <a:srgbClr val="000000"/>
                </a:solidFill>
                <a:highlight>
                  <a:srgbClr val="FFFFFF"/>
                </a:highlight>
                <a:latin typeface="Arial"/>
                <a:ea typeface="宋体" charset="-122"/>
              </a:rPr>
              <a:t> </a:t>
            </a:r>
            <a:r>
              <a:rPr lang="en-US" altLang="zh-CN" sz="1600" dirty="0" err="1">
                <a:solidFill>
                  <a:srgbClr val="000000"/>
                </a:solidFill>
                <a:highlight>
                  <a:srgbClr val="FFFFFF"/>
                </a:highlight>
                <a:latin typeface="Arial"/>
                <a:ea typeface="宋体" charset="-122"/>
              </a:rPr>
              <a:t>Øyvind</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n:name</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n:passenger</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err="1">
                <a:solidFill>
                  <a:srgbClr val="800000"/>
                </a:solidFill>
                <a:highlight>
                  <a:srgbClr val="FFFFFF"/>
                </a:highlight>
                <a:latin typeface="Arial"/>
                <a:ea typeface="宋体" charset="-122"/>
              </a:rPr>
              <a:t>env:Header</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p>
        </p:txBody>
      </p:sp>
      <p:sp>
        <p:nvSpPr>
          <p:cNvPr id="6" name="Line 6">
            <a:extLst>
              <a:ext uri="{FF2B5EF4-FFF2-40B4-BE49-F238E27FC236}">
                <a16:creationId xmlns:a16="http://schemas.microsoft.com/office/drawing/2014/main" id="{8C0FE6A1-D1A2-4B23-8592-4DBCAB6E4086}"/>
              </a:ext>
            </a:extLst>
          </p:cNvPr>
          <p:cNvSpPr>
            <a:spLocks noChangeShapeType="1"/>
          </p:cNvSpPr>
          <p:nvPr/>
        </p:nvSpPr>
        <p:spPr bwMode="auto">
          <a:xfrm flipH="1" flipV="1">
            <a:off x="1619250" y="2462213"/>
            <a:ext cx="5473700" cy="30162"/>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7">
            <a:extLst>
              <a:ext uri="{FF2B5EF4-FFF2-40B4-BE49-F238E27FC236}">
                <a16:creationId xmlns:a16="http://schemas.microsoft.com/office/drawing/2014/main" id="{5A5BA6A1-BD25-4CA7-9561-DB674B9BF955}"/>
              </a:ext>
            </a:extLst>
          </p:cNvPr>
          <p:cNvSpPr txBox="1">
            <a:spLocks noChangeArrowheads="1"/>
          </p:cNvSpPr>
          <p:nvPr/>
        </p:nvSpPr>
        <p:spPr bwMode="auto">
          <a:xfrm>
            <a:off x="7092950" y="2236788"/>
            <a:ext cx="15113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Same in this example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par>
                                <p:cTn id="8" presetID="3"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543A39-0FD0-4DF4-AA5F-EC009300BEBD}"/>
              </a:ext>
            </a:extLst>
          </p:cNvPr>
          <p:cNvSpPr>
            <a:spLocks noGrp="1"/>
          </p:cNvSpPr>
          <p:nvPr>
            <p:ph type="title"/>
          </p:nvPr>
        </p:nvSpPr>
        <p:spPr/>
        <p:txBody>
          <a:bodyPr>
            <a:noAutofit/>
          </a:bodyPr>
          <a:lstStyle/>
          <a:p>
            <a:pPr>
              <a:defRPr/>
            </a:pPr>
            <a:r>
              <a:rPr lang="en-US" altLang="zh-CN" sz="2800" dirty="0"/>
              <a:t>Document-oriented Exchanges</a:t>
            </a:r>
            <a:br>
              <a:rPr lang="en-US" altLang="zh-CN" sz="2800" dirty="0"/>
            </a:br>
            <a:r>
              <a:rPr lang="en-US" altLang="zh-CN" sz="2800" dirty="0"/>
              <a:t>From invoker to service (2/2)</a:t>
            </a:r>
            <a:endParaRPr lang="zh-CN" altLang="en-US" sz="2800" dirty="0"/>
          </a:p>
        </p:txBody>
      </p:sp>
      <p:sp>
        <p:nvSpPr>
          <p:cNvPr id="16387" name="灯片编号占位符 3">
            <a:extLst>
              <a:ext uri="{FF2B5EF4-FFF2-40B4-BE49-F238E27FC236}">
                <a16:creationId xmlns:a16="http://schemas.microsoft.com/office/drawing/2014/main" id="{DD195DE5-987C-4B61-BD65-CFBD3E915DCB}"/>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48FD81B7-4A71-4D58-92B0-B2E871B1875E}" type="slidenum">
              <a:rPr lang="en-US" altLang="zh-CN" smtClean="0"/>
              <a:pPr/>
              <a:t>15</a:t>
            </a:fld>
            <a:endParaRPr lang="en-US" altLang="zh-CN" sz="1000"/>
          </a:p>
        </p:txBody>
      </p:sp>
      <p:sp>
        <p:nvSpPr>
          <p:cNvPr id="5" name="Text Box 4">
            <a:extLst>
              <a:ext uri="{FF2B5EF4-FFF2-40B4-BE49-F238E27FC236}">
                <a16:creationId xmlns:a16="http://schemas.microsoft.com/office/drawing/2014/main" id="{91FC265B-D08E-46E1-918A-EDEE11AF40CE}"/>
              </a:ext>
            </a:extLst>
          </p:cNvPr>
          <p:cNvSpPr txBox="1">
            <a:spLocks noChangeArrowheads="1"/>
          </p:cNvSpPr>
          <p:nvPr/>
        </p:nvSpPr>
        <p:spPr bwMode="auto">
          <a:xfrm>
            <a:off x="178656" y="2055762"/>
            <a:ext cx="8786688" cy="3588675"/>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600" dirty="0">
                <a:solidFill>
                  <a:srgbClr val="0000FF"/>
                </a:solidFill>
                <a:highlight>
                  <a:srgbClr val="FFFFFF"/>
                </a:highlight>
                <a:latin typeface="Arial"/>
                <a:ea typeface="宋体" charset="-122"/>
              </a:rPr>
              <a:t>&lt;</a:t>
            </a:r>
            <a:r>
              <a:rPr lang="en-US" altLang="zh-CN" sz="1600" dirty="0" err="1">
                <a:solidFill>
                  <a:srgbClr val="800000"/>
                </a:solidFill>
                <a:highlight>
                  <a:srgbClr val="FFFFFF"/>
                </a:highlight>
                <a:latin typeface="Arial"/>
                <a:ea typeface="宋体" charset="-122"/>
              </a:rPr>
              <a:t>env:Body</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p:itinerary</a:t>
            </a:r>
            <a:r>
              <a:rPr lang="en-US" altLang="zh-CN" sz="1600" dirty="0">
                <a:solidFill>
                  <a:srgbClr val="FF0000"/>
                </a:solidFill>
                <a:highlight>
                  <a:srgbClr val="FFFFFF"/>
                </a:highlight>
                <a:latin typeface="Arial"/>
                <a:ea typeface="宋体" charset="-122"/>
              </a:rPr>
              <a:t> </a:t>
            </a:r>
          </a:p>
          <a:p>
            <a:pPr eaLnBrk="1" hangingPunct="1">
              <a:spcBef>
                <a:spcPct val="20000"/>
              </a:spcBef>
              <a:buClr>
                <a:schemeClr val="accent1"/>
              </a:buClr>
              <a:buFont typeface="Wingdings" panose="05000000000000000000" pitchFamily="2" charset="2"/>
              <a:buNone/>
              <a:defRPr/>
            </a:pPr>
            <a:r>
              <a:rPr lang="en-US" altLang="zh-CN" sz="1600" dirty="0">
                <a:solidFill>
                  <a:srgbClr val="FF0000"/>
                </a:solidFill>
                <a:highlight>
                  <a:srgbClr val="FFFFFF"/>
                </a:highlight>
                <a:latin typeface="Arial"/>
                <a:ea typeface="宋体" charset="-122"/>
              </a:rPr>
              <a:t>   </a:t>
            </a:r>
            <a:r>
              <a:rPr lang="en-US" altLang="zh-CN" sz="1600" dirty="0" err="1">
                <a:solidFill>
                  <a:srgbClr val="FF0000"/>
                </a:solidFill>
                <a:highlight>
                  <a:srgbClr val="FFFFFF"/>
                </a:highlight>
                <a:latin typeface="Arial"/>
                <a:ea typeface="宋体" charset="-122"/>
              </a:rPr>
              <a:t>xmlns:p</a:t>
            </a:r>
            <a:r>
              <a:rPr lang="en-US" altLang="zh-CN" sz="1600" dirty="0">
                <a:solidFill>
                  <a:srgbClr val="0000FF"/>
                </a:solidFill>
                <a:highlight>
                  <a:srgbClr val="FFFFFF"/>
                </a:highlight>
                <a:latin typeface="Arial"/>
                <a:ea typeface="宋体" charset="-122"/>
              </a:rPr>
              <a:t>="</a:t>
            </a:r>
            <a:r>
              <a:rPr lang="en-US" altLang="zh-CN" sz="1600" dirty="0">
                <a:solidFill>
                  <a:srgbClr val="000000"/>
                </a:solidFill>
                <a:highlight>
                  <a:srgbClr val="FFFFFF"/>
                </a:highlight>
                <a:latin typeface="Arial"/>
                <a:ea typeface="宋体" charset="-122"/>
              </a:rPr>
              <a:t>http://travelcompany.example.org/reservation/travel</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p:departure</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p:departing</a:t>
            </a:r>
            <a:r>
              <a:rPr lang="en-US" altLang="zh-CN" sz="1600" dirty="0">
                <a:solidFill>
                  <a:srgbClr val="0000FF"/>
                </a:solidFill>
                <a:highlight>
                  <a:srgbClr val="FFFFFF"/>
                </a:highlight>
                <a:latin typeface="Arial"/>
                <a:ea typeface="宋体" charset="-122"/>
              </a:rPr>
              <a:t>&gt;</a:t>
            </a:r>
            <a:r>
              <a:rPr lang="en-US" altLang="zh-CN" sz="1600" dirty="0">
                <a:solidFill>
                  <a:srgbClr val="000000"/>
                </a:solidFill>
                <a:highlight>
                  <a:srgbClr val="FFFFFF"/>
                </a:highlight>
                <a:latin typeface="Arial"/>
                <a:ea typeface="宋体" charset="-122"/>
              </a:rPr>
              <a:t>LGA</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p:departing</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p:departure</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p:return</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p:arriving</a:t>
            </a:r>
            <a:r>
              <a:rPr lang="en-US" altLang="zh-CN" sz="1600" dirty="0">
                <a:solidFill>
                  <a:srgbClr val="0000FF"/>
                </a:solidFill>
                <a:highlight>
                  <a:srgbClr val="FFFFFF"/>
                </a:highlight>
                <a:latin typeface="Arial"/>
                <a:ea typeface="宋体" charset="-122"/>
              </a:rPr>
              <a:t>&gt;</a:t>
            </a:r>
            <a:r>
              <a:rPr lang="en-US" altLang="zh-CN" sz="1600" dirty="0">
                <a:solidFill>
                  <a:srgbClr val="000000"/>
                </a:solidFill>
                <a:highlight>
                  <a:srgbClr val="FFFFFF"/>
                </a:highlight>
                <a:latin typeface="Arial"/>
                <a:ea typeface="宋体" charset="-122"/>
              </a:rPr>
              <a:t>EWR</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p:arriving</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p:return</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a:solidFill>
                  <a:srgbClr val="800000"/>
                </a:solidFill>
                <a:highlight>
                  <a:srgbClr val="FFFFFF"/>
                </a:highlight>
                <a:latin typeface="Arial"/>
                <a:ea typeface="宋体" charset="-122"/>
              </a:rPr>
              <a:t>p:itinerary</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err="1">
                <a:solidFill>
                  <a:srgbClr val="800000"/>
                </a:solidFill>
                <a:highlight>
                  <a:srgbClr val="FFFFFF"/>
                </a:highlight>
                <a:latin typeface="Arial"/>
                <a:ea typeface="宋体" charset="-122"/>
              </a:rPr>
              <a:t>env:Body</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FF"/>
                </a:solidFill>
                <a:highlight>
                  <a:srgbClr val="FFFFFF"/>
                </a:highlight>
                <a:latin typeface="Arial"/>
                <a:ea typeface="宋体" charset="-122"/>
              </a:rPr>
              <a:t>&lt;/</a:t>
            </a:r>
            <a:r>
              <a:rPr lang="en-US" altLang="zh-CN" sz="1600" dirty="0" err="1">
                <a:solidFill>
                  <a:srgbClr val="800000"/>
                </a:solidFill>
                <a:highlight>
                  <a:srgbClr val="FFFFFF"/>
                </a:highlight>
                <a:latin typeface="Arial"/>
                <a:ea typeface="宋体" charset="-122"/>
              </a:rPr>
              <a:t>env:Envelope</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a:extLst>
              <a:ext uri="{FF2B5EF4-FFF2-40B4-BE49-F238E27FC236}">
                <a16:creationId xmlns:a16="http://schemas.microsoft.com/office/drawing/2014/main" id="{F0FCA8BC-939C-48CA-B029-D8259CD37B69}"/>
              </a:ext>
            </a:extLst>
          </p:cNvPr>
          <p:cNvSpPr>
            <a:spLocks noGrp="1"/>
          </p:cNvSpPr>
          <p:nvPr>
            <p:ph type="title"/>
          </p:nvPr>
        </p:nvSpPr>
        <p:spPr/>
        <p:txBody>
          <a:bodyPr>
            <a:normAutofit fontScale="90000"/>
          </a:bodyPr>
          <a:lstStyle/>
          <a:p>
            <a:r>
              <a:rPr lang="en-US" altLang="zh-CN" dirty="0"/>
              <a:t>Remote Procedure Calls (1/2)</a:t>
            </a:r>
            <a:endParaRPr lang="zh-CN" altLang="en-US" dirty="0"/>
          </a:p>
        </p:txBody>
      </p:sp>
      <p:sp>
        <p:nvSpPr>
          <p:cNvPr id="3" name="内容占位符 2">
            <a:extLst>
              <a:ext uri="{FF2B5EF4-FFF2-40B4-BE49-F238E27FC236}">
                <a16:creationId xmlns:a16="http://schemas.microsoft.com/office/drawing/2014/main" id="{6E491546-11CE-4A0D-B561-926EAD4C9051}"/>
              </a:ext>
            </a:extLst>
          </p:cNvPr>
          <p:cNvSpPr>
            <a:spLocks noGrp="1"/>
          </p:cNvSpPr>
          <p:nvPr>
            <p:ph idx="1"/>
          </p:nvPr>
        </p:nvSpPr>
        <p:spPr/>
        <p:txBody>
          <a:bodyPr>
            <a:normAutofit fontScale="92500"/>
          </a:bodyPr>
          <a:lstStyle/>
          <a:p>
            <a:pPr>
              <a:defRPr/>
            </a:pPr>
            <a:r>
              <a:rPr lang="en-US" altLang="zh-CN" sz="2200" dirty="0"/>
              <a:t>RPC is used when there is a need to model a certain programmatic behavior, with the exchanged messages conforming to a pre-defined description of the remote call and its return.</a:t>
            </a:r>
          </a:p>
          <a:p>
            <a:pPr>
              <a:defRPr/>
            </a:pPr>
            <a:r>
              <a:rPr lang="en-US" altLang="zh-CN" sz="2200" dirty="0"/>
              <a:t>To invoke a SOAP RPC, the following information is needed</a:t>
            </a:r>
            <a:r>
              <a:rPr lang="zh-CN" altLang="en-US" sz="2200" dirty="0"/>
              <a:t> </a:t>
            </a:r>
            <a:r>
              <a:rPr lang="en-US" altLang="zh-CN" sz="2200" dirty="0"/>
              <a:t>:</a:t>
            </a:r>
          </a:p>
          <a:p>
            <a:pPr marL="971550" lvl="1" indent="-514350">
              <a:buFont typeface="+mj-lt"/>
              <a:buAutoNum type="arabicPeriod"/>
              <a:defRPr/>
            </a:pPr>
            <a:r>
              <a:rPr lang="en-US" altLang="zh-CN" sz="1800" dirty="0"/>
              <a:t>The </a:t>
            </a:r>
            <a:r>
              <a:rPr lang="en-US" altLang="zh-CN" sz="1800" dirty="0">
                <a:solidFill>
                  <a:srgbClr val="FF0000"/>
                </a:solidFill>
              </a:rPr>
              <a:t>address</a:t>
            </a:r>
            <a:r>
              <a:rPr lang="en-US" altLang="zh-CN" sz="1800" dirty="0"/>
              <a:t> of the target SOAP node</a:t>
            </a:r>
          </a:p>
          <a:p>
            <a:pPr marL="971550" lvl="1" indent="-514350">
              <a:buFont typeface="+mj-lt"/>
              <a:buAutoNum type="arabicPeriod"/>
              <a:defRPr/>
            </a:pPr>
            <a:r>
              <a:rPr lang="en-US" altLang="zh-CN" sz="1800" dirty="0"/>
              <a:t>The procedure or method </a:t>
            </a:r>
            <a:r>
              <a:rPr lang="en-US" altLang="zh-CN" sz="1800" dirty="0">
                <a:solidFill>
                  <a:srgbClr val="FF0000"/>
                </a:solidFill>
              </a:rPr>
              <a:t>name</a:t>
            </a:r>
            <a:endParaRPr lang="en-US" altLang="zh-CN" sz="1800" dirty="0"/>
          </a:p>
          <a:p>
            <a:pPr marL="971550" lvl="1" indent="-514350">
              <a:buFont typeface="+mj-lt"/>
              <a:buAutoNum type="arabicPeriod"/>
              <a:defRPr/>
            </a:pPr>
            <a:r>
              <a:rPr lang="en-US" altLang="zh-CN" sz="1800" dirty="0"/>
              <a:t>The identities and values of any </a:t>
            </a:r>
            <a:r>
              <a:rPr lang="en-US" altLang="zh-CN" sz="1800" dirty="0">
                <a:solidFill>
                  <a:srgbClr val="FF0000"/>
                </a:solidFill>
              </a:rPr>
              <a:t>arguments</a:t>
            </a:r>
            <a:r>
              <a:rPr lang="en-US" altLang="zh-CN" sz="1800" dirty="0"/>
              <a:t> to be passed to the procedure or method together with any </a:t>
            </a:r>
            <a:r>
              <a:rPr lang="en-US" altLang="zh-CN" sz="1800" dirty="0">
                <a:solidFill>
                  <a:srgbClr val="FF0000"/>
                </a:solidFill>
              </a:rPr>
              <a:t>output parameters </a:t>
            </a:r>
            <a:r>
              <a:rPr lang="en-US" altLang="zh-CN" sz="1800" dirty="0"/>
              <a:t>and </a:t>
            </a:r>
            <a:r>
              <a:rPr lang="en-US" altLang="zh-CN" sz="1800" dirty="0">
                <a:solidFill>
                  <a:srgbClr val="FF0000"/>
                </a:solidFill>
              </a:rPr>
              <a:t>return value</a:t>
            </a:r>
            <a:endParaRPr lang="en-US" altLang="zh-CN" sz="1800" dirty="0"/>
          </a:p>
          <a:p>
            <a:pPr marL="971550" lvl="1" indent="-514350">
              <a:buFont typeface="+mj-lt"/>
              <a:buAutoNum type="arabicPeriod"/>
              <a:defRPr/>
            </a:pPr>
            <a:r>
              <a:rPr lang="en-US" altLang="zh-CN" sz="1800" dirty="0"/>
              <a:t>A clear </a:t>
            </a:r>
            <a:r>
              <a:rPr lang="en-US" altLang="zh-CN" sz="1800" dirty="0">
                <a:solidFill>
                  <a:srgbClr val="FF0000"/>
                </a:solidFill>
              </a:rPr>
              <a:t>separation of the arguments </a:t>
            </a:r>
            <a:r>
              <a:rPr lang="en-US" altLang="zh-CN" sz="1800" dirty="0"/>
              <a:t>used to identify the Web resource which is the actual target for the RPC, as contrasted with those that convey data or control information used for processing the call by the target resource</a:t>
            </a:r>
          </a:p>
          <a:p>
            <a:pPr marL="971550" lvl="1" indent="-514350">
              <a:buFont typeface="+mj-lt"/>
              <a:buAutoNum type="arabicPeriod"/>
              <a:defRPr/>
            </a:pPr>
            <a:r>
              <a:rPr lang="en-US" altLang="zh-CN" sz="1800" dirty="0"/>
              <a:t>The </a:t>
            </a:r>
            <a:r>
              <a:rPr lang="en-US" altLang="zh-CN" sz="1800" dirty="0">
                <a:solidFill>
                  <a:srgbClr val="FF0000"/>
                </a:solidFill>
              </a:rPr>
              <a:t>message exchange pattern </a:t>
            </a:r>
            <a:r>
              <a:rPr lang="en-US" altLang="zh-CN" sz="1800" dirty="0"/>
              <a:t>which will be employed to convey the RPC, together with an identification of the so-called "Web Method" to be used</a:t>
            </a:r>
          </a:p>
          <a:p>
            <a:pPr marL="971550" lvl="1" indent="-514350">
              <a:buFont typeface="+mj-lt"/>
              <a:buAutoNum type="arabicPeriod"/>
              <a:defRPr/>
            </a:pPr>
            <a:r>
              <a:rPr lang="en-US" altLang="zh-CN" sz="1800" dirty="0"/>
              <a:t>Optionally, data which may be carried as a part of SOAP header blocks</a:t>
            </a:r>
          </a:p>
        </p:txBody>
      </p:sp>
      <p:sp>
        <p:nvSpPr>
          <p:cNvPr id="6148" name="灯片编号占位符 3">
            <a:extLst>
              <a:ext uri="{FF2B5EF4-FFF2-40B4-BE49-F238E27FC236}">
                <a16:creationId xmlns:a16="http://schemas.microsoft.com/office/drawing/2014/main" id="{76515127-6351-4A81-8DEF-C54458FC6502}"/>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CE3C78F3-0CE1-4EEF-9F9B-0A0693720CE8}" type="slidenum">
              <a:rPr lang="en-US" altLang="zh-CN" smtClean="0"/>
              <a:pPr/>
              <a:t>16</a:t>
            </a:fld>
            <a:endParaRPr lang="en-US" altLang="zh-CN" sz="1000"/>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4606CB7D-5D7F-4925-96E4-7EE0BB8A6937}"/>
              </a:ext>
            </a:extLst>
          </p:cNvPr>
          <p:cNvSpPr>
            <a:spLocks noGrp="1"/>
          </p:cNvSpPr>
          <p:nvPr>
            <p:ph type="title"/>
          </p:nvPr>
        </p:nvSpPr>
        <p:spPr/>
        <p:txBody>
          <a:bodyPr>
            <a:normAutofit fontScale="90000"/>
          </a:bodyPr>
          <a:lstStyle/>
          <a:p>
            <a:r>
              <a:rPr lang="en-US" altLang="zh-CN" dirty="0"/>
              <a:t>Remote Procedure Calls (2/2)</a:t>
            </a:r>
            <a:endParaRPr lang="zh-CN" altLang="en-US" dirty="0"/>
          </a:p>
        </p:txBody>
      </p:sp>
      <p:sp>
        <p:nvSpPr>
          <p:cNvPr id="3" name="内容占位符 2">
            <a:extLst>
              <a:ext uri="{FF2B5EF4-FFF2-40B4-BE49-F238E27FC236}">
                <a16:creationId xmlns:a16="http://schemas.microsoft.com/office/drawing/2014/main" id="{E16B159B-AC1F-46C1-BB07-551ACC28F43E}"/>
              </a:ext>
            </a:extLst>
          </p:cNvPr>
          <p:cNvSpPr>
            <a:spLocks noGrp="1"/>
          </p:cNvSpPr>
          <p:nvPr>
            <p:ph idx="1"/>
          </p:nvPr>
        </p:nvSpPr>
        <p:spPr/>
        <p:txBody>
          <a:bodyPr>
            <a:normAutofit/>
          </a:bodyPr>
          <a:lstStyle/>
          <a:p>
            <a:pPr>
              <a:lnSpc>
                <a:spcPct val="120000"/>
              </a:lnSpc>
              <a:defRPr/>
            </a:pPr>
            <a:r>
              <a:rPr lang="en-US" altLang="zh-CN" sz="2400" dirty="0"/>
              <a:t>From a SOAP perspective, there is a SOAP node which "contains" or "supports" the target of the RPC. It adopts the role of the </a:t>
            </a:r>
            <a:r>
              <a:rPr lang="en-US" altLang="zh-CN" sz="2400" dirty="0">
                <a:solidFill>
                  <a:srgbClr val="FF0000"/>
                </a:solidFill>
              </a:rPr>
              <a:t>ultimate SOAP receiver</a:t>
            </a:r>
            <a:endParaRPr lang="en-US" altLang="zh-CN" sz="2400" dirty="0"/>
          </a:p>
          <a:p>
            <a:pPr>
              <a:lnSpc>
                <a:spcPct val="120000"/>
              </a:lnSpc>
              <a:defRPr/>
            </a:pPr>
            <a:r>
              <a:rPr lang="en-US" altLang="zh-CN" sz="2400" dirty="0"/>
              <a:t>The ultimate recipient can identify the target of the named procedure or method by looking for its URI</a:t>
            </a:r>
          </a:p>
          <a:p>
            <a:pPr lvl="1">
              <a:lnSpc>
                <a:spcPct val="120000"/>
              </a:lnSpc>
              <a:defRPr/>
            </a:pPr>
            <a:r>
              <a:rPr lang="en-US" altLang="zh-CN" sz="1900" dirty="0"/>
              <a:t>One possibility is that the URI identifying the target is carried in a SOAP header block</a:t>
            </a:r>
          </a:p>
          <a:p>
            <a:pPr lvl="1">
              <a:lnSpc>
                <a:spcPct val="120000"/>
              </a:lnSpc>
              <a:defRPr/>
            </a:pPr>
            <a:r>
              <a:rPr lang="en-US" altLang="zh-CN" sz="1900" dirty="0"/>
              <a:t>Some protocol bindings, such as the SOAP HTTP binding, offer a mechanism for carrying the URI outside the SOAP message. In general, one of the properties of a protocol binding specification must be a description of how the target URI is carried as a part of the binding</a:t>
            </a:r>
          </a:p>
        </p:txBody>
      </p:sp>
      <p:sp>
        <p:nvSpPr>
          <p:cNvPr id="8196" name="灯片编号占位符 3">
            <a:extLst>
              <a:ext uri="{FF2B5EF4-FFF2-40B4-BE49-F238E27FC236}">
                <a16:creationId xmlns:a16="http://schemas.microsoft.com/office/drawing/2014/main" id="{9B0BFB78-277E-45C1-9AC6-09935B169FAF}"/>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CE3C78F3-0CE1-4EEF-9F9B-0A0693720CE8}" type="slidenum">
              <a:rPr lang="en-US" altLang="zh-CN" smtClean="0"/>
              <a:pPr/>
              <a:t>17</a:t>
            </a:fld>
            <a:endParaRPr lang="en-US" altLang="zh-CN" sz="1000"/>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a:extLst>
              <a:ext uri="{FF2B5EF4-FFF2-40B4-BE49-F238E27FC236}">
                <a16:creationId xmlns:a16="http://schemas.microsoft.com/office/drawing/2014/main" id="{918FEA2B-912D-4610-9420-6D3434CB73A1}"/>
              </a:ext>
            </a:extLst>
          </p:cNvPr>
          <p:cNvSpPr>
            <a:spLocks noGrp="1"/>
          </p:cNvSpPr>
          <p:nvPr>
            <p:ph type="title"/>
          </p:nvPr>
        </p:nvSpPr>
        <p:spPr/>
        <p:txBody>
          <a:bodyPr>
            <a:normAutofit fontScale="90000"/>
          </a:bodyPr>
          <a:lstStyle/>
          <a:p>
            <a:r>
              <a:rPr lang="en-US" altLang="zh-CN" dirty="0"/>
              <a:t>RPC Request</a:t>
            </a:r>
            <a:endParaRPr lang="zh-CN" altLang="en-US" dirty="0"/>
          </a:p>
        </p:txBody>
      </p:sp>
      <p:sp>
        <p:nvSpPr>
          <p:cNvPr id="10243" name="灯片编号占位符 3">
            <a:extLst>
              <a:ext uri="{FF2B5EF4-FFF2-40B4-BE49-F238E27FC236}">
                <a16:creationId xmlns:a16="http://schemas.microsoft.com/office/drawing/2014/main" id="{DEAB4A41-7032-4B13-9E11-9A6C055FB320}"/>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CE3C78F3-0CE1-4EEF-9F9B-0A0693720CE8}" type="slidenum">
              <a:rPr lang="en-US" altLang="zh-CN" smtClean="0"/>
              <a:pPr/>
              <a:t>18</a:t>
            </a:fld>
            <a:endParaRPr lang="en-US" altLang="zh-CN" sz="1000"/>
          </a:p>
        </p:txBody>
      </p:sp>
      <p:sp>
        <p:nvSpPr>
          <p:cNvPr id="5" name="Text Box 4">
            <a:extLst>
              <a:ext uri="{FF2B5EF4-FFF2-40B4-BE49-F238E27FC236}">
                <a16:creationId xmlns:a16="http://schemas.microsoft.com/office/drawing/2014/main" id="{03D10E31-CFA8-41E2-8609-1403935A0121}"/>
              </a:ext>
            </a:extLst>
          </p:cNvPr>
          <p:cNvSpPr txBox="1">
            <a:spLocks noChangeArrowheads="1"/>
          </p:cNvSpPr>
          <p:nvPr/>
        </p:nvSpPr>
        <p:spPr bwMode="auto">
          <a:xfrm>
            <a:off x="321816" y="1196752"/>
            <a:ext cx="8683848" cy="5595378"/>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200" dirty="0">
                <a:solidFill>
                  <a:srgbClr val="008080"/>
                </a:solidFill>
                <a:highlight>
                  <a:srgbClr val="FFFFFF"/>
                </a:highlight>
                <a:latin typeface="Arial"/>
                <a:ea typeface="宋体" charset="-122"/>
              </a:rPr>
              <a:t>&lt;?xml version='1.0' ?&gt;</a:t>
            </a:r>
            <a:endParaRPr lang="en-US" altLang="zh-CN" sz="12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ea typeface="宋体" charset="-122"/>
              </a:rPr>
              <a:t>&lt;</a:t>
            </a:r>
            <a:r>
              <a:rPr lang="en-US" altLang="zh-CN" sz="1200" dirty="0" err="1">
                <a:solidFill>
                  <a:srgbClr val="800000"/>
                </a:solidFill>
                <a:highlight>
                  <a:srgbClr val="FFFFFF"/>
                </a:highlight>
                <a:latin typeface="Arial"/>
                <a:ea typeface="宋体" charset="-122"/>
              </a:rPr>
              <a:t>env:Envelope</a:t>
            </a:r>
            <a:r>
              <a:rPr lang="en-US" altLang="zh-CN" sz="1200" dirty="0">
                <a:solidFill>
                  <a:srgbClr val="FF0000"/>
                </a:solidFill>
                <a:highlight>
                  <a:srgbClr val="FFFFFF"/>
                </a:highlight>
                <a:latin typeface="Arial"/>
                <a:ea typeface="宋体" charset="-122"/>
              </a:rPr>
              <a:t> </a:t>
            </a:r>
            <a:r>
              <a:rPr lang="en-US" altLang="zh-CN" sz="1200" dirty="0" err="1">
                <a:solidFill>
                  <a:srgbClr val="FF0000"/>
                </a:solidFill>
                <a:highlight>
                  <a:srgbClr val="FFFFFF"/>
                </a:highlight>
                <a:latin typeface="Arial"/>
                <a:ea typeface="宋体" charset="-122"/>
              </a:rPr>
              <a:t>xmlns:env</a:t>
            </a:r>
            <a:r>
              <a:rPr lang="en-US" altLang="zh-CN" sz="1200" dirty="0">
                <a:solidFill>
                  <a:srgbClr val="0000FF"/>
                </a:solidFill>
                <a:highlight>
                  <a:srgbClr val="FFFFFF"/>
                </a:highlight>
                <a:latin typeface="Arial"/>
                <a:ea typeface="宋体" charset="-122"/>
              </a:rPr>
              <a:t>="</a:t>
            </a:r>
            <a:r>
              <a:rPr lang="en-US" altLang="zh-CN" sz="1200" dirty="0">
                <a:solidFill>
                  <a:srgbClr val="000000"/>
                </a:solidFill>
                <a:highlight>
                  <a:srgbClr val="FFFFFF"/>
                </a:highlight>
                <a:latin typeface="Arial"/>
                <a:ea typeface="宋体" charset="-122"/>
              </a:rPr>
              <a:t>http://www.w3.org/2003/05/soap-envelope</a:t>
            </a:r>
            <a:r>
              <a:rPr lang="en-US" altLang="zh-CN" sz="1200" dirty="0">
                <a:solidFill>
                  <a:srgbClr val="0000FF"/>
                </a:solidFill>
                <a:highlight>
                  <a:srgbClr val="FFFFFF"/>
                </a:highlight>
                <a:latin typeface="Arial"/>
                <a:ea typeface="宋体" charset="-122"/>
              </a:rPr>
              <a:t>"</a:t>
            </a:r>
            <a:r>
              <a:rPr lang="en-US" altLang="zh-CN" sz="1200" dirty="0">
                <a:solidFill>
                  <a:srgbClr val="FF0000"/>
                </a:solidFill>
                <a:highlight>
                  <a:srgbClr val="FFFFFF"/>
                </a:highlight>
                <a:latin typeface="Arial"/>
                <a:ea typeface="宋体" charset="-122"/>
              </a:rPr>
              <a:t> </a:t>
            </a:r>
            <a:r>
              <a:rPr lang="en-US" altLang="zh-CN" sz="1200" dirty="0">
                <a:solidFill>
                  <a:srgbClr val="0000FF"/>
                </a:solidFill>
                <a:highlight>
                  <a:srgbClr val="FFFFFF"/>
                </a:highlight>
                <a:latin typeface="Arial"/>
                <a:ea typeface="宋体" charset="-122"/>
              </a:rPr>
              <a:t>&gt;</a:t>
            </a:r>
            <a:endParaRPr lang="en-US" altLang="zh-CN" sz="12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ea typeface="宋体" charset="-122"/>
              </a:rPr>
              <a:t> </a:t>
            </a:r>
            <a:r>
              <a:rPr lang="en-US" altLang="zh-CN" sz="1200" dirty="0">
                <a:solidFill>
                  <a:srgbClr val="0000FF"/>
                </a:solidFill>
                <a:highlight>
                  <a:srgbClr val="FFFFFF"/>
                </a:highlight>
                <a:latin typeface="Arial"/>
                <a:ea typeface="宋体" charset="-122"/>
              </a:rPr>
              <a:t>&lt;</a:t>
            </a:r>
            <a:r>
              <a:rPr lang="en-US" altLang="zh-CN" sz="1200" dirty="0" err="1">
                <a:solidFill>
                  <a:srgbClr val="800000"/>
                </a:solidFill>
                <a:highlight>
                  <a:srgbClr val="FFFFFF"/>
                </a:highlight>
                <a:latin typeface="Arial"/>
                <a:ea typeface="宋体" charset="-122"/>
              </a:rPr>
              <a:t>env:Header</a:t>
            </a:r>
            <a:r>
              <a:rPr lang="en-US" altLang="zh-CN" sz="1200" dirty="0">
                <a:solidFill>
                  <a:srgbClr val="0000FF"/>
                </a:solidFill>
                <a:highlight>
                  <a:srgbClr val="FFFFFF"/>
                </a:highlight>
                <a:latin typeface="Arial"/>
                <a:ea typeface="宋体" charset="-122"/>
              </a:rPr>
              <a:t>&gt;</a:t>
            </a:r>
            <a:endParaRPr lang="en-US" altLang="zh-CN" sz="12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ea typeface="宋体" charset="-122"/>
              </a:rPr>
              <a:t>   </a:t>
            </a:r>
            <a:r>
              <a:rPr lang="en-US" altLang="zh-CN" sz="1200" dirty="0">
                <a:solidFill>
                  <a:srgbClr val="0000FF"/>
                </a:solidFill>
                <a:highlight>
                  <a:srgbClr val="FFFFFF"/>
                </a:highlight>
                <a:latin typeface="Arial"/>
                <a:ea typeface="宋体" charset="-122"/>
              </a:rPr>
              <a:t>&lt;</a:t>
            </a:r>
            <a:r>
              <a:rPr lang="en-US" altLang="zh-CN" sz="1200" dirty="0" err="1">
                <a:solidFill>
                  <a:srgbClr val="800000"/>
                </a:solidFill>
                <a:highlight>
                  <a:srgbClr val="FFFFFF"/>
                </a:highlight>
                <a:latin typeface="Arial"/>
                <a:ea typeface="宋体" charset="-122"/>
              </a:rPr>
              <a:t>t:transaction</a:t>
            </a:r>
            <a:endParaRPr lang="en-US" altLang="zh-CN" sz="1200" dirty="0">
              <a:solidFill>
                <a:srgbClr val="FF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ea typeface="宋体" charset="-122"/>
              </a:rPr>
              <a:t>           </a:t>
            </a:r>
            <a:r>
              <a:rPr lang="en-US" altLang="zh-CN" sz="1200" dirty="0" err="1">
                <a:solidFill>
                  <a:srgbClr val="FF0000"/>
                </a:solidFill>
                <a:highlight>
                  <a:srgbClr val="FFFFFF"/>
                </a:highlight>
                <a:latin typeface="Arial"/>
                <a:ea typeface="宋体" charset="-122"/>
              </a:rPr>
              <a:t>xmlns:t</a:t>
            </a:r>
            <a:r>
              <a:rPr lang="en-US" altLang="zh-CN" sz="1200" dirty="0">
                <a:solidFill>
                  <a:srgbClr val="0000FF"/>
                </a:solidFill>
                <a:highlight>
                  <a:srgbClr val="FFFFFF"/>
                </a:highlight>
                <a:latin typeface="Arial"/>
                <a:ea typeface="宋体" charset="-122"/>
              </a:rPr>
              <a:t>="</a:t>
            </a:r>
            <a:r>
              <a:rPr lang="en-US" altLang="zh-CN" sz="1200" dirty="0">
                <a:solidFill>
                  <a:srgbClr val="000000"/>
                </a:solidFill>
                <a:highlight>
                  <a:srgbClr val="FFFFFF"/>
                </a:highlight>
                <a:latin typeface="Arial"/>
                <a:ea typeface="宋体" charset="-122"/>
              </a:rPr>
              <a:t>http://thirdparty.example.org/transaction</a:t>
            </a:r>
            <a:r>
              <a:rPr lang="en-US" altLang="zh-CN" sz="1200" dirty="0">
                <a:solidFill>
                  <a:srgbClr val="0000FF"/>
                </a:solidFill>
                <a:highlight>
                  <a:srgbClr val="FFFFFF"/>
                </a:highlight>
                <a:latin typeface="Arial"/>
                <a:ea typeface="宋体" charset="-122"/>
              </a:rPr>
              <a:t>"</a:t>
            </a:r>
            <a:endParaRPr lang="en-US" altLang="zh-CN" sz="1200" dirty="0">
              <a:solidFill>
                <a:srgbClr val="FF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ea typeface="宋体" charset="-122"/>
              </a:rPr>
              <a:t>           </a:t>
            </a:r>
            <a:r>
              <a:rPr lang="en-US" altLang="zh-CN" sz="1200" dirty="0" err="1">
                <a:solidFill>
                  <a:srgbClr val="FF0000"/>
                </a:solidFill>
                <a:highlight>
                  <a:srgbClr val="FFFFFF"/>
                </a:highlight>
                <a:latin typeface="Arial"/>
                <a:ea typeface="宋体" charset="-122"/>
              </a:rPr>
              <a:t>env:encodingStyle</a:t>
            </a:r>
            <a:r>
              <a:rPr lang="en-US" altLang="zh-CN" sz="1200" dirty="0">
                <a:solidFill>
                  <a:srgbClr val="0000FF"/>
                </a:solidFill>
                <a:highlight>
                  <a:srgbClr val="FFFFFF"/>
                </a:highlight>
                <a:latin typeface="Arial"/>
                <a:ea typeface="宋体" charset="-122"/>
              </a:rPr>
              <a:t>="</a:t>
            </a:r>
            <a:r>
              <a:rPr lang="en-US" altLang="zh-CN" sz="1200" dirty="0">
                <a:solidFill>
                  <a:srgbClr val="000000"/>
                </a:solidFill>
                <a:highlight>
                  <a:srgbClr val="FFFFFF"/>
                </a:highlight>
                <a:latin typeface="Arial"/>
                <a:ea typeface="宋体" charset="-122"/>
              </a:rPr>
              <a:t>http://example.com/encoding</a:t>
            </a:r>
            <a:r>
              <a:rPr lang="en-US" altLang="zh-CN" sz="1200" dirty="0">
                <a:solidFill>
                  <a:srgbClr val="0000FF"/>
                </a:solidFill>
                <a:highlight>
                  <a:srgbClr val="FFFFFF"/>
                </a:highlight>
                <a:latin typeface="Arial"/>
                <a:ea typeface="宋体" charset="-122"/>
              </a:rPr>
              <a:t>"</a:t>
            </a:r>
            <a:endParaRPr lang="en-US" altLang="zh-CN" sz="1200" dirty="0">
              <a:solidFill>
                <a:srgbClr val="FF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ea typeface="宋体" charset="-122"/>
              </a:rPr>
              <a:t>           </a:t>
            </a:r>
            <a:r>
              <a:rPr lang="en-US" altLang="zh-CN" sz="1200" dirty="0" err="1">
                <a:solidFill>
                  <a:srgbClr val="FF0000"/>
                </a:solidFill>
                <a:highlight>
                  <a:srgbClr val="FFFFFF"/>
                </a:highlight>
                <a:latin typeface="Arial"/>
                <a:ea typeface="宋体" charset="-122"/>
              </a:rPr>
              <a:t>env:mustUnderstand</a:t>
            </a:r>
            <a:r>
              <a:rPr lang="en-US" altLang="zh-CN" sz="1200" dirty="0">
                <a:solidFill>
                  <a:srgbClr val="0000FF"/>
                </a:solidFill>
                <a:highlight>
                  <a:srgbClr val="FFFFFF"/>
                </a:highlight>
                <a:latin typeface="Arial"/>
                <a:ea typeface="宋体" charset="-122"/>
              </a:rPr>
              <a:t>="</a:t>
            </a:r>
            <a:r>
              <a:rPr lang="en-US" altLang="zh-CN" sz="1200" dirty="0">
                <a:solidFill>
                  <a:srgbClr val="000000"/>
                </a:solidFill>
                <a:highlight>
                  <a:srgbClr val="FFFFFF"/>
                </a:highlight>
                <a:latin typeface="Arial"/>
                <a:ea typeface="宋体" charset="-122"/>
              </a:rPr>
              <a:t>true</a:t>
            </a:r>
            <a:r>
              <a:rPr lang="en-US" altLang="zh-CN" sz="1200" dirty="0">
                <a:solidFill>
                  <a:srgbClr val="0000FF"/>
                </a:solidFill>
                <a:highlight>
                  <a:srgbClr val="FFFFFF"/>
                </a:highlight>
                <a:latin typeface="Arial"/>
                <a:ea typeface="宋体" charset="-122"/>
              </a:rPr>
              <a:t>"</a:t>
            </a:r>
            <a:r>
              <a:rPr lang="en-US" altLang="zh-CN" sz="1200" dirty="0">
                <a:solidFill>
                  <a:srgbClr val="FF0000"/>
                </a:solidFill>
                <a:highlight>
                  <a:srgbClr val="FFFFFF"/>
                </a:highlight>
                <a:latin typeface="Arial"/>
                <a:ea typeface="宋体" charset="-122"/>
              </a:rPr>
              <a:t> </a:t>
            </a:r>
            <a:r>
              <a:rPr lang="en-US" altLang="zh-CN" sz="1200" dirty="0">
                <a:solidFill>
                  <a:srgbClr val="0000FF"/>
                </a:solidFill>
                <a:highlight>
                  <a:srgbClr val="FFFFFF"/>
                </a:highlight>
                <a:latin typeface="Arial"/>
                <a:ea typeface="宋体" charset="-122"/>
              </a:rPr>
              <a:t>&gt;</a:t>
            </a:r>
            <a:r>
              <a:rPr lang="en-US" altLang="zh-CN" sz="1200" dirty="0">
                <a:solidFill>
                  <a:srgbClr val="000000"/>
                </a:solidFill>
                <a:highlight>
                  <a:srgbClr val="FFFFFF"/>
                </a:highlight>
                <a:latin typeface="Arial"/>
                <a:ea typeface="宋体" charset="-122"/>
              </a:rPr>
              <a:t>5</a:t>
            </a:r>
            <a:r>
              <a:rPr lang="en-US" altLang="zh-CN" sz="1200" dirty="0">
                <a:solidFill>
                  <a:srgbClr val="0000FF"/>
                </a:solidFill>
                <a:highlight>
                  <a:srgbClr val="FFFFFF"/>
                </a:highlight>
                <a:latin typeface="Arial"/>
                <a:ea typeface="宋体" charset="-122"/>
              </a:rPr>
              <a:t>&lt;/</a:t>
            </a:r>
            <a:r>
              <a:rPr lang="en-US" altLang="zh-CN" sz="1200" dirty="0" err="1">
                <a:solidFill>
                  <a:srgbClr val="800000"/>
                </a:solidFill>
                <a:highlight>
                  <a:srgbClr val="FFFFFF"/>
                </a:highlight>
                <a:latin typeface="Arial"/>
                <a:ea typeface="宋体" charset="-122"/>
              </a:rPr>
              <a:t>t:transaction</a:t>
            </a:r>
            <a:r>
              <a:rPr lang="en-US" altLang="zh-CN" sz="1200" dirty="0">
                <a:solidFill>
                  <a:srgbClr val="0000FF"/>
                </a:solidFill>
                <a:highlight>
                  <a:srgbClr val="FFFFFF"/>
                </a:highlight>
                <a:latin typeface="Arial"/>
                <a:ea typeface="宋体" charset="-122"/>
              </a:rPr>
              <a:t>&gt;</a:t>
            </a:r>
            <a:endParaRPr lang="en-US" altLang="zh-CN" sz="12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ea typeface="宋体" charset="-122"/>
              </a:rPr>
              <a:t> </a:t>
            </a:r>
            <a:r>
              <a:rPr lang="en-US" altLang="zh-CN" sz="1200" dirty="0">
                <a:solidFill>
                  <a:srgbClr val="0000FF"/>
                </a:solidFill>
                <a:highlight>
                  <a:srgbClr val="FFFFFF"/>
                </a:highlight>
                <a:latin typeface="Arial"/>
                <a:ea typeface="宋体" charset="-122"/>
              </a:rPr>
              <a:t>&lt;/</a:t>
            </a:r>
            <a:r>
              <a:rPr lang="en-US" altLang="zh-CN" sz="1200" dirty="0" err="1">
                <a:solidFill>
                  <a:srgbClr val="800000"/>
                </a:solidFill>
                <a:highlight>
                  <a:srgbClr val="FFFFFF"/>
                </a:highlight>
                <a:latin typeface="Arial"/>
                <a:ea typeface="宋体" charset="-122"/>
              </a:rPr>
              <a:t>env:Header</a:t>
            </a:r>
            <a:r>
              <a:rPr lang="en-US" altLang="zh-CN" sz="1200" dirty="0">
                <a:solidFill>
                  <a:srgbClr val="0000FF"/>
                </a:solidFill>
                <a:highlight>
                  <a:srgbClr val="FFFFFF"/>
                </a:highlight>
                <a:latin typeface="Arial"/>
                <a:ea typeface="宋体" charset="-122"/>
              </a:rPr>
              <a:t>&gt;</a:t>
            </a:r>
            <a:r>
              <a:rPr lang="en-US" altLang="zh-CN" sz="1200" dirty="0">
                <a:solidFill>
                  <a:srgbClr val="000000"/>
                </a:solidFill>
                <a:highlight>
                  <a:srgbClr val="FFFFFF"/>
                </a:highlight>
                <a:latin typeface="Arial"/>
                <a:ea typeface="宋体" charset="-122"/>
              </a:rPr>
              <a:t>  </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ea typeface="宋体" charset="-122"/>
              </a:rPr>
              <a:t> </a:t>
            </a:r>
            <a:r>
              <a:rPr lang="en-US" altLang="zh-CN" sz="1200" dirty="0">
                <a:solidFill>
                  <a:srgbClr val="0000FF"/>
                </a:solidFill>
                <a:highlight>
                  <a:srgbClr val="FFFFFF"/>
                </a:highlight>
                <a:latin typeface="Arial"/>
                <a:ea typeface="宋体" charset="-122"/>
              </a:rPr>
              <a:t>&lt;</a:t>
            </a:r>
            <a:r>
              <a:rPr lang="en-US" altLang="zh-CN" sz="1200" dirty="0" err="1">
                <a:solidFill>
                  <a:srgbClr val="800000"/>
                </a:solidFill>
                <a:highlight>
                  <a:srgbClr val="FFFFFF"/>
                </a:highlight>
                <a:latin typeface="Arial"/>
                <a:ea typeface="宋体" charset="-122"/>
              </a:rPr>
              <a:t>env:Body</a:t>
            </a:r>
            <a:r>
              <a:rPr lang="en-US" altLang="zh-CN" sz="1200" dirty="0">
                <a:solidFill>
                  <a:srgbClr val="0000FF"/>
                </a:solidFill>
                <a:highlight>
                  <a:srgbClr val="FFFFFF"/>
                </a:highlight>
                <a:latin typeface="Arial"/>
                <a:ea typeface="宋体" charset="-122"/>
              </a:rPr>
              <a:t>&gt;</a:t>
            </a:r>
            <a:endParaRPr lang="en-US" altLang="zh-CN" sz="12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ea typeface="宋体" charset="-122"/>
              </a:rPr>
              <a:t>  </a:t>
            </a:r>
            <a:r>
              <a:rPr lang="en-US" altLang="zh-CN" sz="1200" dirty="0">
                <a:solidFill>
                  <a:srgbClr val="0000FF"/>
                </a:solidFill>
                <a:highlight>
                  <a:srgbClr val="FFFFFF"/>
                </a:highlight>
                <a:latin typeface="Arial"/>
                <a:ea typeface="宋体" charset="-122"/>
              </a:rPr>
              <a:t>&lt;</a:t>
            </a:r>
            <a:r>
              <a:rPr lang="en-US" altLang="zh-CN" sz="1200" dirty="0" err="1">
                <a:solidFill>
                  <a:srgbClr val="800000"/>
                </a:solidFill>
                <a:highlight>
                  <a:srgbClr val="FFFFFF"/>
                </a:highlight>
                <a:latin typeface="Arial"/>
                <a:ea typeface="宋体" charset="-122"/>
              </a:rPr>
              <a:t>m:chargeReservation</a:t>
            </a:r>
            <a:endParaRPr lang="en-US" altLang="zh-CN" sz="1200" dirty="0">
              <a:solidFill>
                <a:srgbClr val="FF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ea typeface="宋体" charset="-122"/>
              </a:rPr>
              <a:t>      </a:t>
            </a:r>
            <a:r>
              <a:rPr lang="en-US" altLang="zh-CN" sz="1200" dirty="0" err="1">
                <a:solidFill>
                  <a:srgbClr val="FF0000"/>
                </a:solidFill>
                <a:highlight>
                  <a:srgbClr val="FFFFFF"/>
                </a:highlight>
                <a:latin typeface="Arial"/>
                <a:ea typeface="宋体" charset="-122"/>
              </a:rPr>
              <a:t>env:encodingStyle</a:t>
            </a:r>
            <a:r>
              <a:rPr lang="en-US" altLang="zh-CN" sz="1200" dirty="0">
                <a:solidFill>
                  <a:srgbClr val="0000FF"/>
                </a:solidFill>
                <a:highlight>
                  <a:srgbClr val="FFFFFF"/>
                </a:highlight>
                <a:latin typeface="Arial"/>
                <a:ea typeface="宋体" charset="-122"/>
              </a:rPr>
              <a:t>="</a:t>
            </a:r>
            <a:r>
              <a:rPr lang="en-US" altLang="zh-CN" sz="1200" dirty="0">
                <a:solidFill>
                  <a:srgbClr val="000000"/>
                </a:solidFill>
                <a:highlight>
                  <a:srgbClr val="FFFFFF"/>
                </a:highlight>
                <a:latin typeface="Arial"/>
                <a:ea typeface="宋体" charset="-122"/>
              </a:rPr>
              <a:t>http://www.w3.org/2003/05/soap-encoding</a:t>
            </a:r>
            <a:r>
              <a:rPr lang="en-US" altLang="zh-CN" sz="1200" dirty="0">
                <a:solidFill>
                  <a:srgbClr val="0000FF"/>
                </a:solidFill>
                <a:highlight>
                  <a:srgbClr val="FFFFFF"/>
                </a:highlight>
                <a:latin typeface="Arial"/>
                <a:ea typeface="宋体" charset="-122"/>
              </a:rPr>
              <a:t>"</a:t>
            </a:r>
            <a:endParaRPr lang="en-US" altLang="zh-CN" sz="1200" dirty="0">
              <a:solidFill>
                <a:srgbClr val="FF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ea typeface="宋体" charset="-122"/>
              </a:rPr>
              <a:t>         </a:t>
            </a:r>
            <a:r>
              <a:rPr lang="en-US" altLang="zh-CN" sz="1200" dirty="0" err="1">
                <a:solidFill>
                  <a:srgbClr val="FF0000"/>
                </a:solidFill>
                <a:highlight>
                  <a:srgbClr val="FFFFFF"/>
                </a:highlight>
                <a:latin typeface="Arial"/>
                <a:ea typeface="宋体" charset="-122"/>
              </a:rPr>
              <a:t>xmlns:m</a:t>
            </a:r>
            <a:r>
              <a:rPr lang="en-US" altLang="zh-CN" sz="1200" dirty="0">
                <a:solidFill>
                  <a:srgbClr val="0000FF"/>
                </a:solidFill>
                <a:highlight>
                  <a:srgbClr val="FFFFFF"/>
                </a:highlight>
                <a:latin typeface="Arial"/>
                <a:ea typeface="宋体" charset="-122"/>
              </a:rPr>
              <a:t>="</a:t>
            </a:r>
            <a:r>
              <a:rPr lang="en-US" altLang="zh-CN" sz="1200" dirty="0">
                <a:solidFill>
                  <a:srgbClr val="000000"/>
                </a:solidFill>
                <a:highlight>
                  <a:srgbClr val="FFFFFF"/>
                </a:highlight>
                <a:latin typeface="Arial"/>
                <a:ea typeface="宋体" charset="-122"/>
              </a:rPr>
              <a:t>http://travelcompany.example.org/</a:t>
            </a:r>
            <a:r>
              <a:rPr lang="en-US" altLang="zh-CN" sz="1200" dirty="0">
                <a:solidFill>
                  <a:srgbClr val="0000FF"/>
                </a:solidFill>
                <a:highlight>
                  <a:srgbClr val="FFFFFF"/>
                </a:highlight>
                <a:latin typeface="Arial"/>
                <a:ea typeface="宋体" charset="-122"/>
              </a:rPr>
              <a:t>"&gt;</a:t>
            </a:r>
            <a:endParaRPr lang="en-US" altLang="zh-CN" sz="12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ea typeface="宋体" charset="-122"/>
              </a:rPr>
              <a:t>   </a:t>
            </a:r>
            <a:r>
              <a:rPr lang="en-US" altLang="zh-CN" sz="1200" dirty="0">
                <a:solidFill>
                  <a:srgbClr val="0000FF"/>
                </a:solidFill>
                <a:highlight>
                  <a:srgbClr val="FFFFFF"/>
                </a:highlight>
                <a:latin typeface="Arial"/>
                <a:ea typeface="宋体" charset="-122"/>
              </a:rPr>
              <a:t>&lt;</a:t>
            </a:r>
            <a:r>
              <a:rPr lang="en-US" altLang="zh-CN" sz="1200" dirty="0" err="1">
                <a:solidFill>
                  <a:srgbClr val="800000"/>
                </a:solidFill>
                <a:highlight>
                  <a:srgbClr val="FFFFFF"/>
                </a:highlight>
                <a:latin typeface="Arial"/>
                <a:ea typeface="宋体" charset="-122"/>
              </a:rPr>
              <a:t>m:reservation</a:t>
            </a:r>
            <a:r>
              <a:rPr lang="en-US" altLang="zh-CN" sz="1200" dirty="0">
                <a:solidFill>
                  <a:srgbClr val="FF0000"/>
                </a:solidFill>
                <a:highlight>
                  <a:srgbClr val="FFFFFF"/>
                </a:highlight>
                <a:latin typeface="Arial"/>
                <a:ea typeface="宋体" charset="-122"/>
              </a:rPr>
              <a:t> </a:t>
            </a:r>
            <a:r>
              <a:rPr lang="en-US" altLang="zh-CN" sz="1200" dirty="0" err="1">
                <a:solidFill>
                  <a:srgbClr val="FF0000"/>
                </a:solidFill>
                <a:highlight>
                  <a:srgbClr val="FFFFFF"/>
                </a:highlight>
                <a:latin typeface="Arial"/>
                <a:ea typeface="宋体" charset="-122"/>
              </a:rPr>
              <a:t>xmlns:m</a:t>
            </a:r>
            <a:r>
              <a:rPr lang="en-US" altLang="zh-CN" sz="1200" dirty="0">
                <a:solidFill>
                  <a:srgbClr val="0000FF"/>
                </a:solidFill>
                <a:highlight>
                  <a:srgbClr val="FFFFFF"/>
                </a:highlight>
                <a:latin typeface="Arial"/>
                <a:ea typeface="宋体" charset="-122"/>
              </a:rPr>
              <a:t>="</a:t>
            </a:r>
            <a:r>
              <a:rPr lang="en-US" altLang="zh-CN" sz="1200" dirty="0">
                <a:solidFill>
                  <a:srgbClr val="000000"/>
                </a:solidFill>
                <a:highlight>
                  <a:srgbClr val="FFFFFF"/>
                </a:highlight>
                <a:latin typeface="Arial"/>
                <a:ea typeface="宋体" charset="-122"/>
              </a:rPr>
              <a:t>http://travelcompany.example.org/reservation</a:t>
            </a:r>
            <a:r>
              <a:rPr lang="en-US" altLang="zh-CN" sz="1200" dirty="0">
                <a:solidFill>
                  <a:srgbClr val="0000FF"/>
                </a:solidFill>
                <a:highlight>
                  <a:srgbClr val="FFFFFF"/>
                </a:highlight>
                <a:latin typeface="Arial"/>
                <a:ea typeface="宋体" charset="-122"/>
              </a:rPr>
              <a:t>"&gt;</a:t>
            </a:r>
            <a:endParaRPr lang="en-US" altLang="zh-CN" sz="12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ea typeface="宋体" charset="-122"/>
              </a:rPr>
              <a:t>    </a:t>
            </a:r>
            <a:r>
              <a:rPr lang="en-US" altLang="zh-CN" sz="1200" dirty="0">
                <a:solidFill>
                  <a:srgbClr val="0000FF"/>
                </a:solidFill>
                <a:highlight>
                  <a:srgbClr val="FFFFFF"/>
                </a:highlight>
                <a:latin typeface="Arial"/>
                <a:ea typeface="宋体" charset="-122"/>
              </a:rPr>
              <a:t>&lt;</a:t>
            </a:r>
            <a:r>
              <a:rPr lang="en-US" altLang="zh-CN" sz="1200" dirty="0" err="1">
                <a:solidFill>
                  <a:srgbClr val="800000"/>
                </a:solidFill>
                <a:highlight>
                  <a:srgbClr val="FFFFFF"/>
                </a:highlight>
                <a:latin typeface="Arial"/>
                <a:ea typeface="宋体" charset="-122"/>
              </a:rPr>
              <a:t>m:code</a:t>
            </a:r>
            <a:r>
              <a:rPr lang="en-US" altLang="zh-CN" sz="1200" dirty="0">
                <a:solidFill>
                  <a:srgbClr val="0000FF"/>
                </a:solidFill>
                <a:highlight>
                  <a:srgbClr val="FFFFFF"/>
                </a:highlight>
                <a:latin typeface="Arial"/>
                <a:ea typeface="宋体" charset="-122"/>
              </a:rPr>
              <a:t>&gt;</a:t>
            </a:r>
            <a:r>
              <a:rPr lang="en-US" altLang="zh-CN" sz="1200" dirty="0">
                <a:solidFill>
                  <a:srgbClr val="000000"/>
                </a:solidFill>
                <a:highlight>
                  <a:srgbClr val="FFFFFF"/>
                </a:highlight>
                <a:latin typeface="Arial"/>
                <a:ea typeface="宋体" charset="-122"/>
              </a:rPr>
              <a:t>FT35ZBQ</a:t>
            </a:r>
            <a:r>
              <a:rPr lang="en-US" altLang="zh-CN" sz="1200" dirty="0">
                <a:solidFill>
                  <a:srgbClr val="0000FF"/>
                </a:solidFill>
                <a:highlight>
                  <a:srgbClr val="FFFFFF"/>
                </a:highlight>
                <a:latin typeface="Arial"/>
                <a:ea typeface="宋体" charset="-122"/>
              </a:rPr>
              <a:t>&lt;/</a:t>
            </a:r>
            <a:r>
              <a:rPr lang="en-US" altLang="zh-CN" sz="1200" dirty="0" err="1">
                <a:solidFill>
                  <a:srgbClr val="800000"/>
                </a:solidFill>
                <a:highlight>
                  <a:srgbClr val="FFFFFF"/>
                </a:highlight>
                <a:latin typeface="Arial"/>
                <a:ea typeface="宋体" charset="-122"/>
              </a:rPr>
              <a:t>m:code</a:t>
            </a:r>
            <a:r>
              <a:rPr lang="en-US" altLang="zh-CN" sz="1200" dirty="0">
                <a:solidFill>
                  <a:srgbClr val="0000FF"/>
                </a:solidFill>
                <a:highlight>
                  <a:srgbClr val="FFFFFF"/>
                </a:highlight>
                <a:latin typeface="Arial"/>
                <a:ea typeface="宋体" charset="-122"/>
              </a:rPr>
              <a:t>&gt;</a:t>
            </a:r>
            <a:endParaRPr lang="en-US" altLang="zh-CN" sz="12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ea typeface="宋体" charset="-122"/>
              </a:rPr>
              <a:t>   </a:t>
            </a:r>
            <a:r>
              <a:rPr lang="en-US" altLang="zh-CN" sz="1200" dirty="0">
                <a:solidFill>
                  <a:srgbClr val="0000FF"/>
                </a:solidFill>
                <a:highlight>
                  <a:srgbClr val="FFFFFF"/>
                </a:highlight>
                <a:latin typeface="Arial"/>
                <a:ea typeface="宋体" charset="-122"/>
              </a:rPr>
              <a:t>&lt;/</a:t>
            </a:r>
            <a:r>
              <a:rPr lang="en-US" altLang="zh-CN" sz="1200" dirty="0" err="1">
                <a:solidFill>
                  <a:srgbClr val="800000"/>
                </a:solidFill>
                <a:highlight>
                  <a:srgbClr val="FFFFFF"/>
                </a:highlight>
                <a:latin typeface="Arial"/>
                <a:ea typeface="宋体" charset="-122"/>
              </a:rPr>
              <a:t>m:reservation</a:t>
            </a:r>
            <a:r>
              <a:rPr lang="en-US" altLang="zh-CN" sz="1200" dirty="0">
                <a:solidFill>
                  <a:srgbClr val="0000FF"/>
                </a:solidFill>
                <a:highlight>
                  <a:srgbClr val="FFFFFF"/>
                </a:highlight>
                <a:latin typeface="Arial"/>
                <a:ea typeface="宋体" charset="-122"/>
              </a:rPr>
              <a:t>&gt;</a:t>
            </a:r>
            <a:endParaRPr lang="en-US" altLang="zh-CN" sz="12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ea typeface="宋体" charset="-122"/>
              </a:rPr>
              <a:t>   </a:t>
            </a:r>
            <a:r>
              <a:rPr lang="en-US" altLang="zh-CN" sz="1200" dirty="0">
                <a:solidFill>
                  <a:srgbClr val="0000FF"/>
                </a:solidFill>
                <a:highlight>
                  <a:srgbClr val="FFFFFF"/>
                </a:highlight>
                <a:latin typeface="Arial"/>
                <a:ea typeface="宋体" charset="-122"/>
              </a:rPr>
              <a:t>&lt;</a:t>
            </a:r>
            <a:r>
              <a:rPr lang="en-US" altLang="zh-CN" sz="1200" dirty="0" err="1">
                <a:solidFill>
                  <a:srgbClr val="800000"/>
                </a:solidFill>
                <a:highlight>
                  <a:srgbClr val="FFFFFF"/>
                </a:highlight>
                <a:latin typeface="Arial"/>
                <a:ea typeface="宋体" charset="-122"/>
              </a:rPr>
              <a:t>o:creditCard</a:t>
            </a:r>
            <a:r>
              <a:rPr lang="en-US" altLang="zh-CN" sz="1200" dirty="0">
                <a:solidFill>
                  <a:srgbClr val="FF0000"/>
                </a:solidFill>
                <a:highlight>
                  <a:srgbClr val="FFFFFF"/>
                </a:highlight>
                <a:latin typeface="Arial"/>
                <a:ea typeface="宋体" charset="-122"/>
              </a:rPr>
              <a:t> </a:t>
            </a:r>
            <a:r>
              <a:rPr lang="en-US" altLang="zh-CN" sz="1200" dirty="0" err="1">
                <a:solidFill>
                  <a:srgbClr val="FF0000"/>
                </a:solidFill>
                <a:highlight>
                  <a:srgbClr val="FFFFFF"/>
                </a:highlight>
                <a:latin typeface="Arial"/>
                <a:ea typeface="宋体" charset="-122"/>
              </a:rPr>
              <a:t>xmlns:o</a:t>
            </a:r>
            <a:r>
              <a:rPr lang="en-US" altLang="zh-CN" sz="1200" dirty="0">
                <a:solidFill>
                  <a:srgbClr val="0000FF"/>
                </a:solidFill>
                <a:highlight>
                  <a:srgbClr val="FFFFFF"/>
                </a:highlight>
                <a:latin typeface="Arial"/>
                <a:ea typeface="宋体" charset="-122"/>
              </a:rPr>
              <a:t>="</a:t>
            </a:r>
            <a:r>
              <a:rPr lang="en-US" altLang="zh-CN" sz="1200" dirty="0">
                <a:solidFill>
                  <a:srgbClr val="000000"/>
                </a:solidFill>
                <a:highlight>
                  <a:srgbClr val="FFFFFF"/>
                </a:highlight>
                <a:latin typeface="Arial"/>
                <a:ea typeface="宋体" charset="-122"/>
              </a:rPr>
              <a:t>http://mycompany.example.com/financial</a:t>
            </a:r>
            <a:r>
              <a:rPr lang="en-US" altLang="zh-CN" sz="1200" dirty="0">
                <a:solidFill>
                  <a:srgbClr val="0000FF"/>
                </a:solidFill>
                <a:highlight>
                  <a:srgbClr val="FFFFFF"/>
                </a:highlight>
                <a:latin typeface="Arial"/>
                <a:ea typeface="宋体" charset="-122"/>
              </a:rPr>
              <a:t>"&gt;</a:t>
            </a:r>
            <a:endParaRPr lang="en-US" altLang="zh-CN" sz="12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ea typeface="宋体" charset="-122"/>
              </a:rPr>
              <a:t>    </a:t>
            </a:r>
            <a:r>
              <a:rPr lang="en-US" altLang="zh-CN" sz="1200" dirty="0">
                <a:solidFill>
                  <a:srgbClr val="0000FF"/>
                </a:solidFill>
                <a:highlight>
                  <a:srgbClr val="FFFFFF"/>
                </a:highlight>
                <a:latin typeface="Arial"/>
                <a:ea typeface="宋体" charset="-122"/>
              </a:rPr>
              <a:t>&lt;</a:t>
            </a:r>
            <a:r>
              <a:rPr lang="en-US" altLang="zh-CN" sz="1200" dirty="0" err="1">
                <a:solidFill>
                  <a:srgbClr val="800000"/>
                </a:solidFill>
                <a:highlight>
                  <a:srgbClr val="FFFFFF"/>
                </a:highlight>
                <a:latin typeface="Arial"/>
                <a:ea typeface="宋体" charset="-122"/>
              </a:rPr>
              <a:t>n:name</a:t>
            </a:r>
            <a:r>
              <a:rPr lang="en-US" altLang="zh-CN" sz="1200" dirty="0">
                <a:solidFill>
                  <a:srgbClr val="FF0000"/>
                </a:solidFill>
                <a:highlight>
                  <a:srgbClr val="FFFFFF"/>
                </a:highlight>
                <a:latin typeface="Arial"/>
                <a:ea typeface="宋体" charset="-122"/>
              </a:rPr>
              <a:t> </a:t>
            </a:r>
            <a:r>
              <a:rPr lang="en-US" altLang="zh-CN" sz="1200" dirty="0" err="1">
                <a:solidFill>
                  <a:srgbClr val="FF0000"/>
                </a:solidFill>
                <a:highlight>
                  <a:srgbClr val="FFFFFF"/>
                </a:highlight>
                <a:latin typeface="Arial"/>
                <a:ea typeface="宋体" charset="-122"/>
              </a:rPr>
              <a:t>xmlns:n</a:t>
            </a:r>
            <a:r>
              <a:rPr lang="en-US" altLang="zh-CN" sz="1200" dirty="0">
                <a:solidFill>
                  <a:srgbClr val="0000FF"/>
                </a:solidFill>
                <a:highlight>
                  <a:srgbClr val="FFFFFF"/>
                </a:highlight>
                <a:latin typeface="Arial"/>
                <a:ea typeface="宋体" charset="-122"/>
              </a:rPr>
              <a:t>="</a:t>
            </a:r>
            <a:r>
              <a:rPr lang="en-US" altLang="zh-CN" sz="1200" dirty="0">
                <a:solidFill>
                  <a:srgbClr val="000000"/>
                </a:solidFill>
                <a:highlight>
                  <a:srgbClr val="FFFFFF"/>
                </a:highlight>
                <a:latin typeface="Arial"/>
                <a:ea typeface="宋体" charset="-122"/>
              </a:rPr>
              <a:t>http://mycompany.example.com/employees</a:t>
            </a:r>
            <a:r>
              <a:rPr lang="en-US" altLang="zh-CN" sz="1200" dirty="0">
                <a:solidFill>
                  <a:srgbClr val="0000FF"/>
                </a:solidFill>
                <a:highlight>
                  <a:srgbClr val="FFFFFF"/>
                </a:highlight>
                <a:latin typeface="Arial"/>
                <a:ea typeface="宋体" charset="-122"/>
              </a:rPr>
              <a:t>"&gt;</a:t>
            </a:r>
            <a:endParaRPr lang="en-US" altLang="zh-CN" sz="12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ea typeface="宋体" charset="-122"/>
              </a:rPr>
              <a:t>           </a:t>
            </a:r>
            <a:r>
              <a:rPr lang="en-US" altLang="zh-CN" sz="1200" dirty="0" err="1">
                <a:solidFill>
                  <a:srgbClr val="000000"/>
                </a:solidFill>
                <a:highlight>
                  <a:srgbClr val="FFFFFF"/>
                </a:highlight>
                <a:latin typeface="Arial"/>
                <a:ea typeface="宋体" charset="-122"/>
              </a:rPr>
              <a:t>Åke</a:t>
            </a:r>
            <a:r>
              <a:rPr lang="en-US" altLang="zh-CN" sz="1200" dirty="0">
                <a:solidFill>
                  <a:srgbClr val="000000"/>
                </a:solidFill>
                <a:highlight>
                  <a:srgbClr val="FFFFFF"/>
                </a:highlight>
                <a:latin typeface="Arial"/>
                <a:ea typeface="宋体" charset="-122"/>
              </a:rPr>
              <a:t> </a:t>
            </a:r>
            <a:r>
              <a:rPr lang="en-US" altLang="zh-CN" sz="1200" dirty="0" err="1">
                <a:solidFill>
                  <a:srgbClr val="000000"/>
                </a:solidFill>
                <a:highlight>
                  <a:srgbClr val="FFFFFF"/>
                </a:highlight>
                <a:latin typeface="Arial"/>
                <a:ea typeface="宋体" charset="-122"/>
              </a:rPr>
              <a:t>Jógvan</a:t>
            </a:r>
            <a:r>
              <a:rPr lang="en-US" altLang="zh-CN" sz="1200" dirty="0">
                <a:solidFill>
                  <a:srgbClr val="000000"/>
                </a:solidFill>
                <a:highlight>
                  <a:srgbClr val="FFFFFF"/>
                </a:highlight>
                <a:latin typeface="Arial"/>
                <a:ea typeface="宋体" charset="-122"/>
              </a:rPr>
              <a:t> </a:t>
            </a:r>
            <a:r>
              <a:rPr lang="en-US" altLang="zh-CN" sz="1200" dirty="0" err="1">
                <a:solidFill>
                  <a:srgbClr val="000000"/>
                </a:solidFill>
                <a:highlight>
                  <a:srgbClr val="FFFFFF"/>
                </a:highlight>
                <a:latin typeface="Arial"/>
                <a:ea typeface="宋体" charset="-122"/>
              </a:rPr>
              <a:t>Øyvind</a:t>
            </a:r>
            <a:endParaRPr lang="en-US" altLang="zh-CN" sz="12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ea typeface="宋体" charset="-122"/>
              </a:rPr>
              <a:t>    </a:t>
            </a:r>
            <a:r>
              <a:rPr lang="en-US" altLang="zh-CN" sz="1200" dirty="0">
                <a:solidFill>
                  <a:srgbClr val="0000FF"/>
                </a:solidFill>
                <a:highlight>
                  <a:srgbClr val="FFFFFF"/>
                </a:highlight>
                <a:latin typeface="Arial"/>
                <a:ea typeface="宋体" charset="-122"/>
              </a:rPr>
              <a:t>&lt;/</a:t>
            </a:r>
            <a:r>
              <a:rPr lang="en-US" altLang="zh-CN" sz="1200" dirty="0" err="1">
                <a:solidFill>
                  <a:srgbClr val="800000"/>
                </a:solidFill>
                <a:highlight>
                  <a:srgbClr val="FFFFFF"/>
                </a:highlight>
                <a:latin typeface="Arial"/>
                <a:ea typeface="宋体" charset="-122"/>
              </a:rPr>
              <a:t>n:name</a:t>
            </a:r>
            <a:r>
              <a:rPr lang="en-US" altLang="zh-CN" sz="1200" dirty="0">
                <a:solidFill>
                  <a:srgbClr val="0000FF"/>
                </a:solidFill>
                <a:highlight>
                  <a:srgbClr val="FFFFFF"/>
                </a:highlight>
                <a:latin typeface="Arial"/>
                <a:ea typeface="宋体" charset="-122"/>
              </a:rPr>
              <a:t>&gt;</a:t>
            </a:r>
            <a:endParaRPr lang="en-US" altLang="zh-CN" sz="12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ea typeface="宋体" charset="-122"/>
              </a:rPr>
              <a:t>    </a:t>
            </a:r>
            <a:r>
              <a:rPr lang="en-US" altLang="zh-CN" sz="1200" dirty="0">
                <a:solidFill>
                  <a:srgbClr val="0000FF"/>
                </a:solidFill>
                <a:highlight>
                  <a:srgbClr val="FFFFFF"/>
                </a:highlight>
                <a:latin typeface="Arial"/>
                <a:ea typeface="宋体" charset="-122"/>
              </a:rPr>
              <a:t>&lt;</a:t>
            </a:r>
            <a:r>
              <a:rPr lang="en-US" altLang="zh-CN" sz="1200" dirty="0" err="1">
                <a:solidFill>
                  <a:srgbClr val="800000"/>
                </a:solidFill>
                <a:highlight>
                  <a:srgbClr val="FFFFFF"/>
                </a:highlight>
                <a:latin typeface="Arial"/>
                <a:ea typeface="宋体" charset="-122"/>
              </a:rPr>
              <a:t>o:number</a:t>
            </a:r>
            <a:r>
              <a:rPr lang="en-US" altLang="zh-CN" sz="1200" dirty="0">
                <a:solidFill>
                  <a:srgbClr val="0000FF"/>
                </a:solidFill>
                <a:highlight>
                  <a:srgbClr val="FFFFFF"/>
                </a:highlight>
                <a:latin typeface="Arial"/>
                <a:ea typeface="宋体" charset="-122"/>
              </a:rPr>
              <a:t>&gt;</a:t>
            </a:r>
            <a:r>
              <a:rPr lang="en-US" altLang="zh-CN" sz="1200" dirty="0">
                <a:solidFill>
                  <a:srgbClr val="000000"/>
                </a:solidFill>
                <a:highlight>
                  <a:srgbClr val="FFFFFF"/>
                </a:highlight>
                <a:latin typeface="Arial"/>
                <a:ea typeface="宋体" charset="-122"/>
              </a:rPr>
              <a:t>123456789099999</a:t>
            </a:r>
            <a:r>
              <a:rPr lang="en-US" altLang="zh-CN" sz="1200" dirty="0">
                <a:solidFill>
                  <a:srgbClr val="0000FF"/>
                </a:solidFill>
                <a:highlight>
                  <a:srgbClr val="FFFFFF"/>
                </a:highlight>
                <a:latin typeface="Arial"/>
                <a:ea typeface="宋体" charset="-122"/>
              </a:rPr>
              <a:t>&lt;/</a:t>
            </a:r>
            <a:r>
              <a:rPr lang="en-US" altLang="zh-CN" sz="1200" dirty="0" err="1">
                <a:solidFill>
                  <a:srgbClr val="800000"/>
                </a:solidFill>
                <a:highlight>
                  <a:srgbClr val="FFFFFF"/>
                </a:highlight>
                <a:latin typeface="Arial"/>
                <a:ea typeface="宋体" charset="-122"/>
              </a:rPr>
              <a:t>o:number</a:t>
            </a:r>
            <a:r>
              <a:rPr lang="en-US" altLang="zh-CN" sz="1200" dirty="0">
                <a:solidFill>
                  <a:srgbClr val="0000FF"/>
                </a:solidFill>
                <a:highlight>
                  <a:srgbClr val="FFFFFF"/>
                </a:highlight>
                <a:latin typeface="Arial"/>
                <a:ea typeface="宋体" charset="-122"/>
              </a:rPr>
              <a:t>&gt;</a:t>
            </a:r>
            <a:endParaRPr lang="en-US" altLang="zh-CN" sz="12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ea typeface="宋体" charset="-122"/>
              </a:rPr>
              <a:t>    </a:t>
            </a:r>
            <a:r>
              <a:rPr lang="en-US" altLang="zh-CN" sz="1200" dirty="0">
                <a:solidFill>
                  <a:srgbClr val="0000FF"/>
                </a:solidFill>
                <a:highlight>
                  <a:srgbClr val="FFFFFF"/>
                </a:highlight>
                <a:latin typeface="Arial"/>
                <a:ea typeface="宋体" charset="-122"/>
              </a:rPr>
              <a:t>&lt;</a:t>
            </a:r>
            <a:r>
              <a:rPr lang="en-US" altLang="zh-CN" sz="1200" dirty="0" err="1">
                <a:solidFill>
                  <a:srgbClr val="800000"/>
                </a:solidFill>
                <a:highlight>
                  <a:srgbClr val="FFFFFF"/>
                </a:highlight>
                <a:latin typeface="Arial"/>
                <a:ea typeface="宋体" charset="-122"/>
              </a:rPr>
              <a:t>o:expiration</a:t>
            </a:r>
            <a:r>
              <a:rPr lang="en-US" altLang="zh-CN" sz="1200" dirty="0">
                <a:solidFill>
                  <a:srgbClr val="0000FF"/>
                </a:solidFill>
                <a:highlight>
                  <a:srgbClr val="FFFFFF"/>
                </a:highlight>
                <a:latin typeface="Arial"/>
                <a:ea typeface="宋体" charset="-122"/>
              </a:rPr>
              <a:t>&gt;</a:t>
            </a:r>
            <a:r>
              <a:rPr lang="en-US" altLang="zh-CN" sz="1200" dirty="0">
                <a:solidFill>
                  <a:srgbClr val="000000"/>
                </a:solidFill>
                <a:highlight>
                  <a:srgbClr val="FFFFFF"/>
                </a:highlight>
                <a:latin typeface="Arial"/>
                <a:ea typeface="宋体" charset="-122"/>
              </a:rPr>
              <a:t>2005-02</a:t>
            </a:r>
            <a:r>
              <a:rPr lang="en-US" altLang="zh-CN" sz="1200" dirty="0">
                <a:solidFill>
                  <a:srgbClr val="0000FF"/>
                </a:solidFill>
                <a:highlight>
                  <a:srgbClr val="FFFFFF"/>
                </a:highlight>
                <a:latin typeface="Arial"/>
                <a:ea typeface="宋体" charset="-122"/>
              </a:rPr>
              <a:t>&lt;/</a:t>
            </a:r>
            <a:r>
              <a:rPr lang="en-US" altLang="zh-CN" sz="1200" dirty="0" err="1">
                <a:solidFill>
                  <a:srgbClr val="800000"/>
                </a:solidFill>
                <a:highlight>
                  <a:srgbClr val="FFFFFF"/>
                </a:highlight>
                <a:latin typeface="Arial"/>
                <a:ea typeface="宋体" charset="-122"/>
              </a:rPr>
              <a:t>o:expiration</a:t>
            </a:r>
            <a:r>
              <a:rPr lang="en-US" altLang="zh-CN" sz="1200" dirty="0">
                <a:solidFill>
                  <a:srgbClr val="0000FF"/>
                </a:solidFill>
                <a:highlight>
                  <a:srgbClr val="FFFFFF"/>
                </a:highlight>
                <a:latin typeface="Arial"/>
                <a:ea typeface="宋体" charset="-122"/>
              </a:rPr>
              <a:t>&gt;</a:t>
            </a:r>
            <a:endParaRPr lang="en-US" altLang="zh-CN" sz="12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ea typeface="宋体" charset="-122"/>
              </a:rPr>
              <a:t>   </a:t>
            </a:r>
            <a:r>
              <a:rPr lang="en-US" altLang="zh-CN" sz="1200" dirty="0">
                <a:solidFill>
                  <a:srgbClr val="0000FF"/>
                </a:solidFill>
                <a:highlight>
                  <a:srgbClr val="FFFFFF"/>
                </a:highlight>
                <a:latin typeface="Arial"/>
                <a:ea typeface="宋体" charset="-122"/>
              </a:rPr>
              <a:t>&lt;/</a:t>
            </a:r>
            <a:r>
              <a:rPr lang="en-US" altLang="zh-CN" sz="1200" dirty="0" err="1">
                <a:solidFill>
                  <a:srgbClr val="800000"/>
                </a:solidFill>
                <a:highlight>
                  <a:srgbClr val="FFFFFF"/>
                </a:highlight>
                <a:latin typeface="Arial"/>
                <a:ea typeface="宋体" charset="-122"/>
              </a:rPr>
              <a:t>o:creditCard</a:t>
            </a:r>
            <a:r>
              <a:rPr lang="en-US" altLang="zh-CN" sz="1200" dirty="0">
                <a:solidFill>
                  <a:srgbClr val="0000FF"/>
                </a:solidFill>
                <a:highlight>
                  <a:srgbClr val="FFFFFF"/>
                </a:highlight>
                <a:latin typeface="Arial"/>
                <a:ea typeface="宋体" charset="-122"/>
              </a:rPr>
              <a:t>&gt;</a:t>
            </a:r>
            <a:endParaRPr lang="en-US" altLang="zh-CN" sz="12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ea typeface="宋体" charset="-122"/>
              </a:rPr>
              <a:t>  </a:t>
            </a:r>
            <a:r>
              <a:rPr lang="en-US" altLang="zh-CN" sz="1200" dirty="0">
                <a:solidFill>
                  <a:srgbClr val="0000FF"/>
                </a:solidFill>
                <a:highlight>
                  <a:srgbClr val="FFFFFF"/>
                </a:highlight>
                <a:latin typeface="Arial"/>
                <a:ea typeface="宋体" charset="-122"/>
              </a:rPr>
              <a:t>&lt;/</a:t>
            </a:r>
            <a:r>
              <a:rPr lang="en-US" altLang="zh-CN" sz="1200" dirty="0" err="1">
                <a:solidFill>
                  <a:srgbClr val="800000"/>
                </a:solidFill>
                <a:highlight>
                  <a:srgbClr val="FFFFFF"/>
                </a:highlight>
                <a:latin typeface="Arial"/>
                <a:ea typeface="宋体" charset="-122"/>
              </a:rPr>
              <a:t>m:chargeReservation</a:t>
            </a:r>
            <a:r>
              <a:rPr lang="en-US" altLang="zh-CN" sz="1200" dirty="0">
                <a:solidFill>
                  <a:srgbClr val="0000FF"/>
                </a:solidFill>
                <a:highlight>
                  <a:srgbClr val="FFFFFF"/>
                </a:highlight>
                <a:latin typeface="Arial"/>
                <a:ea typeface="宋体" charset="-122"/>
              </a:rPr>
              <a:t>&gt;</a:t>
            </a:r>
            <a:endParaRPr lang="en-US" altLang="zh-CN" sz="12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ea typeface="宋体" charset="-122"/>
              </a:rPr>
              <a:t> </a:t>
            </a:r>
            <a:r>
              <a:rPr lang="en-US" altLang="zh-CN" sz="1200" dirty="0">
                <a:solidFill>
                  <a:srgbClr val="0000FF"/>
                </a:solidFill>
                <a:highlight>
                  <a:srgbClr val="FFFFFF"/>
                </a:highlight>
                <a:latin typeface="Arial"/>
                <a:ea typeface="宋体" charset="-122"/>
              </a:rPr>
              <a:t>&lt;/</a:t>
            </a:r>
            <a:r>
              <a:rPr lang="en-US" altLang="zh-CN" sz="1200" dirty="0" err="1">
                <a:solidFill>
                  <a:srgbClr val="800000"/>
                </a:solidFill>
                <a:highlight>
                  <a:srgbClr val="FFFFFF"/>
                </a:highlight>
                <a:latin typeface="Arial"/>
                <a:ea typeface="宋体" charset="-122"/>
              </a:rPr>
              <a:t>env:Body</a:t>
            </a:r>
            <a:r>
              <a:rPr lang="en-US" altLang="zh-CN" sz="1200" dirty="0">
                <a:solidFill>
                  <a:srgbClr val="0000FF"/>
                </a:solidFill>
                <a:highlight>
                  <a:srgbClr val="FFFFFF"/>
                </a:highlight>
                <a:latin typeface="Arial"/>
                <a:ea typeface="宋体" charset="-122"/>
              </a:rPr>
              <a:t>&gt;</a:t>
            </a:r>
            <a:endParaRPr lang="en-US" altLang="zh-CN" sz="12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ea typeface="宋体" charset="-122"/>
              </a:rPr>
              <a:t>&lt;/</a:t>
            </a:r>
            <a:r>
              <a:rPr lang="en-US" altLang="zh-CN" sz="1200" dirty="0" err="1">
                <a:solidFill>
                  <a:srgbClr val="800000"/>
                </a:solidFill>
                <a:highlight>
                  <a:srgbClr val="FFFFFF"/>
                </a:highlight>
                <a:latin typeface="Arial"/>
                <a:ea typeface="宋体" charset="-122"/>
              </a:rPr>
              <a:t>env:Envelope</a:t>
            </a:r>
            <a:r>
              <a:rPr lang="en-US" altLang="zh-CN" sz="1200" dirty="0">
                <a:solidFill>
                  <a:srgbClr val="0000FF"/>
                </a:solidFill>
                <a:highlight>
                  <a:srgbClr val="FFFFFF"/>
                </a:highlight>
                <a:latin typeface="Arial"/>
                <a:ea typeface="宋体" charset="-122"/>
              </a:rPr>
              <a:t>&gt;</a:t>
            </a:r>
            <a:endParaRPr lang="en-US" altLang="zh-CN" sz="1200" dirty="0">
              <a:solidFill>
                <a:srgbClr val="000000"/>
              </a:solidFill>
              <a:highlight>
                <a:srgbClr val="FFFFFF"/>
              </a:highlight>
              <a:latin typeface="Arial"/>
              <a:ea typeface="宋体" charset="-122"/>
            </a:endParaRPr>
          </a:p>
        </p:txBody>
      </p:sp>
      <p:sp>
        <p:nvSpPr>
          <p:cNvPr id="6" name="Line 6">
            <a:extLst>
              <a:ext uri="{FF2B5EF4-FFF2-40B4-BE49-F238E27FC236}">
                <a16:creationId xmlns:a16="http://schemas.microsoft.com/office/drawing/2014/main" id="{90939D69-9AFD-4C8B-9B5E-70986BD7F60F}"/>
              </a:ext>
            </a:extLst>
          </p:cNvPr>
          <p:cNvSpPr>
            <a:spLocks noChangeShapeType="1"/>
          </p:cNvSpPr>
          <p:nvPr/>
        </p:nvSpPr>
        <p:spPr bwMode="auto">
          <a:xfrm flipH="1">
            <a:off x="2124075" y="3009900"/>
            <a:ext cx="1150938" cy="29210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7">
            <a:extLst>
              <a:ext uri="{FF2B5EF4-FFF2-40B4-BE49-F238E27FC236}">
                <a16:creationId xmlns:a16="http://schemas.microsoft.com/office/drawing/2014/main" id="{534A18AE-72D3-48C4-B5E8-D1A7DF567298}"/>
              </a:ext>
            </a:extLst>
          </p:cNvPr>
          <p:cNvSpPr txBox="1">
            <a:spLocks noChangeArrowheads="1"/>
          </p:cNvSpPr>
          <p:nvPr/>
        </p:nvSpPr>
        <p:spPr bwMode="auto">
          <a:xfrm>
            <a:off x="3271838" y="2820988"/>
            <a:ext cx="47529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Takes the name of the procedure or method</a:t>
            </a:r>
          </a:p>
        </p:txBody>
      </p:sp>
      <p:sp>
        <p:nvSpPr>
          <p:cNvPr id="8" name="Line 6">
            <a:extLst>
              <a:ext uri="{FF2B5EF4-FFF2-40B4-BE49-F238E27FC236}">
                <a16:creationId xmlns:a16="http://schemas.microsoft.com/office/drawing/2014/main" id="{61E32AF1-9E55-49C4-8EB1-420471119EA0}"/>
              </a:ext>
            </a:extLst>
          </p:cNvPr>
          <p:cNvSpPr>
            <a:spLocks noChangeShapeType="1"/>
          </p:cNvSpPr>
          <p:nvPr/>
        </p:nvSpPr>
        <p:spPr bwMode="auto">
          <a:xfrm flipH="1" flipV="1">
            <a:off x="3271838" y="4106863"/>
            <a:ext cx="727075" cy="188912"/>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Text Box 7">
            <a:extLst>
              <a:ext uri="{FF2B5EF4-FFF2-40B4-BE49-F238E27FC236}">
                <a16:creationId xmlns:a16="http://schemas.microsoft.com/office/drawing/2014/main" id="{CEAF4EF3-3567-4295-98AD-7A522206412E}"/>
              </a:ext>
            </a:extLst>
          </p:cNvPr>
          <p:cNvSpPr txBox="1">
            <a:spLocks noChangeArrowheads="1"/>
          </p:cNvSpPr>
          <p:nvPr/>
        </p:nvSpPr>
        <p:spPr bwMode="auto">
          <a:xfrm>
            <a:off x="3995738" y="4106863"/>
            <a:ext cx="3168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Takes 2 input parameters</a:t>
            </a:r>
          </a:p>
        </p:txBody>
      </p:sp>
      <p:sp>
        <p:nvSpPr>
          <p:cNvPr id="10" name="Line 6">
            <a:extLst>
              <a:ext uri="{FF2B5EF4-FFF2-40B4-BE49-F238E27FC236}">
                <a16:creationId xmlns:a16="http://schemas.microsoft.com/office/drawing/2014/main" id="{21F0F379-10D2-455F-A388-204768C0B64B}"/>
              </a:ext>
            </a:extLst>
          </p:cNvPr>
          <p:cNvSpPr>
            <a:spLocks noChangeShapeType="1"/>
          </p:cNvSpPr>
          <p:nvPr/>
        </p:nvSpPr>
        <p:spPr bwMode="auto">
          <a:xfrm flipH="1">
            <a:off x="3271838" y="4295775"/>
            <a:ext cx="723900" cy="296863"/>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Line 6">
            <a:extLst>
              <a:ext uri="{FF2B5EF4-FFF2-40B4-BE49-F238E27FC236}">
                <a16:creationId xmlns:a16="http://schemas.microsoft.com/office/drawing/2014/main" id="{578F5162-BAE8-4998-9377-D38B40CC44C2}"/>
              </a:ext>
            </a:extLst>
          </p:cNvPr>
          <p:cNvSpPr>
            <a:spLocks noChangeShapeType="1"/>
          </p:cNvSpPr>
          <p:nvPr/>
        </p:nvSpPr>
        <p:spPr bwMode="auto">
          <a:xfrm flipH="1">
            <a:off x="4932363" y="3573463"/>
            <a:ext cx="401637" cy="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 name="Text Box 7">
            <a:extLst>
              <a:ext uri="{FF2B5EF4-FFF2-40B4-BE49-F238E27FC236}">
                <a16:creationId xmlns:a16="http://schemas.microsoft.com/office/drawing/2014/main" id="{466153AE-A22B-4360-B8F2-60B9E6E59572}"/>
              </a:ext>
            </a:extLst>
          </p:cNvPr>
          <p:cNvSpPr txBox="1">
            <a:spLocks noChangeArrowheads="1"/>
          </p:cNvSpPr>
          <p:nvPr/>
        </p:nvSpPr>
        <p:spPr bwMode="auto">
          <a:xfrm>
            <a:off x="5334000" y="3136900"/>
            <a:ext cx="3671888"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Shows the content of this element have been serialized according to the SOAP encoding rules, and other encoding schemes may be used for application-specific data </a:t>
            </a:r>
          </a:p>
        </p:txBody>
      </p:sp>
      <p:sp>
        <p:nvSpPr>
          <p:cNvPr id="13" name="Line 6">
            <a:extLst>
              <a:ext uri="{FF2B5EF4-FFF2-40B4-BE49-F238E27FC236}">
                <a16:creationId xmlns:a16="http://schemas.microsoft.com/office/drawing/2014/main" id="{D30000B1-4037-4A62-B214-CB1451CD6851}"/>
              </a:ext>
            </a:extLst>
          </p:cNvPr>
          <p:cNvSpPr>
            <a:spLocks noChangeShapeType="1"/>
          </p:cNvSpPr>
          <p:nvPr/>
        </p:nvSpPr>
        <p:spPr bwMode="auto">
          <a:xfrm flipH="1">
            <a:off x="4284663" y="2133600"/>
            <a:ext cx="1049337" cy="303213"/>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 name="Text Box 7">
            <a:extLst>
              <a:ext uri="{FF2B5EF4-FFF2-40B4-BE49-F238E27FC236}">
                <a16:creationId xmlns:a16="http://schemas.microsoft.com/office/drawing/2014/main" id="{FB9C3907-5079-4117-BB26-5C07035DB1DD}"/>
              </a:ext>
            </a:extLst>
          </p:cNvPr>
          <p:cNvSpPr txBox="1">
            <a:spLocks noChangeArrowheads="1"/>
          </p:cNvSpPr>
          <p:nvPr/>
        </p:nvSpPr>
        <p:spPr bwMode="auto">
          <a:xfrm>
            <a:off x="5376863" y="1241425"/>
            <a:ext cx="3673475"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This URI shows a customized encoding schemes, it is an application-specific decision and the ability of a caller and callee to interoperate is assumed to have been settled "out-of-band"</a:t>
            </a:r>
          </a:p>
        </p:txBody>
      </p:sp>
      <p:sp>
        <p:nvSpPr>
          <p:cNvPr id="15" name="Line 6">
            <a:extLst>
              <a:ext uri="{FF2B5EF4-FFF2-40B4-BE49-F238E27FC236}">
                <a16:creationId xmlns:a16="http://schemas.microsoft.com/office/drawing/2014/main" id="{C81482DF-4076-47F9-AF52-164452D8375E}"/>
              </a:ext>
            </a:extLst>
          </p:cNvPr>
          <p:cNvSpPr>
            <a:spLocks noChangeShapeType="1"/>
          </p:cNvSpPr>
          <p:nvPr/>
        </p:nvSpPr>
        <p:spPr bwMode="auto">
          <a:xfrm flipH="1">
            <a:off x="1598613" y="1606550"/>
            <a:ext cx="3773487" cy="385763"/>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 name="Text Box 7">
            <a:extLst>
              <a:ext uri="{FF2B5EF4-FFF2-40B4-BE49-F238E27FC236}">
                <a16:creationId xmlns:a16="http://schemas.microsoft.com/office/drawing/2014/main" id="{F512CB55-FE30-4AE5-835A-5BA4212FF9EE}"/>
              </a:ext>
            </a:extLst>
          </p:cNvPr>
          <p:cNvSpPr txBox="1">
            <a:spLocks noChangeArrowheads="1"/>
          </p:cNvSpPr>
          <p:nvPr/>
        </p:nvSpPr>
        <p:spPr bwMode="auto">
          <a:xfrm>
            <a:off x="5373688" y="1068388"/>
            <a:ext cx="36734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Additional information required in distributed environment, which are not a part of the formal procedure or method description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par>
                                <p:cTn id="8" presetID="3"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linds(horizontal)">
                                      <p:cBhvr>
                                        <p:cTn id="15"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par>
                                <p:cTn id="16" presetID="3" presetClass="entr" presetSubtype="1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blinds(horizontal)">
                                      <p:cBhvr>
                                        <p:cTn id="18"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par>
                                <p:cTn id="19" presetID="3" presetClass="entr" presetSubtype="1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blinds(horizontal)">
                                      <p:cBhvr>
                                        <p:cTn id="21" dur="500"/>
                                        <p:tgtEl>
                                          <p:spTgt spid="10"/>
                                        </p:tgtEl>
                                      </p:cBhvr>
                                    </p:animEffec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blinds(horizontal)">
                                      <p:cBhvr>
                                        <p:cTn id="26" dur="500"/>
                                        <p:tgtEl>
                                          <p:spTgt spid="11"/>
                                        </p:tgtEl>
                                      </p:cBhvr>
                                    </p:animEffect>
                                  </p:childTnLst>
                                  <p:subTnLst>
                                    <p:set>
                                      <p:cBhvr override="childStyle">
                                        <p:cTn dur="1" fill="hold" display="0" masterRel="nextClick" afterEffect="1"/>
                                        <p:tgtEl>
                                          <p:spTgt spid="11"/>
                                        </p:tgtEl>
                                        <p:attrNameLst>
                                          <p:attrName>style.visibility</p:attrName>
                                        </p:attrNameLst>
                                      </p:cBhvr>
                                      <p:to>
                                        <p:strVal val="hidden"/>
                                      </p:to>
                                    </p:set>
                                  </p:subTnLst>
                                </p:cTn>
                              </p:par>
                              <p:par>
                                <p:cTn id="27" presetID="3" presetClass="entr" presetSubtype="1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blinds(horizontal)">
                                      <p:cBhvr>
                                        <p:cTn id="29" dur="500"/>
                                        <p:tgtEl>
                                          <p:spTgt spid="12"/>
                                        </p:tgtEl>
                                      </p:cBhvr>
                                    </p:animEffec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blinds(horizontal)">
                                      <p:cBhvr>
                                        <p:cTn id="34" dur="500"/>
                                        <p:tgtEl>
                                          <p:spTgt spid="13"/>
                                        </p:tgtEl>
                                      </p:cBhvr>
                                    </p:animEffect>
                                  </p:childTnLst>
                                  <p:subTnLst>
                                    <p:set>
                                      <p:cBhvr override="childStyle">
                                        <p:cTn dur="1" fill="hold" display="0" masterRel="nextClick" afterEffect="1"/>
                                        <p:tgtEl>
                                          <p:spTgt spid="13"/>
                                        </p:tgtEl>
                                        <p:attrNameLst>
                                          <p:attrName>style.visibility</p:attrName>
                                        </p:attrNameLst>
                                      </p:cBhvr>
                                      <p:to>
                                        <p:strVal val="hidden"/>
                                      </p:to>
                                    </p:set>
                                  </p:subTnLst>
                                </p:cTn>
                              </p:par>
                              <p:par>
                                <p:cTn id="35" presetID="3" presetClass="entr" presetSubtype="1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blinds(horizontal)">
                                      <p:cBhvr>
                                        <p:cTn id="37" dur="500"/>
                                        <p:tgtEl>
                                          <p:spTgt spid="14"/>
                                        </p:tgtEl>
                                      </p:cBhvr>
                                    </p:animEffec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blinds(horizontal)">
                                      <p:cBhvr>
                                        <p:cTn id="42" dur="500"/>
                                        <p:tgtEl>
                                          <p:spTgt spid="15"/>
                                        </p:tgtEl>
                                      </p:cBhvr>
                                    </p:animEffect>
                                  </p:childTnLst>
                                  <p:subTnLst>
                                    <p:set>
                                      <p:cBhvr override="childStyle">
                                        <p:cTn dur="1" fill="hold" display="0" masterRel="nextClick" afterEffect="1"/>
                                        <p:tgtEl>
                                          <p:spTgt spid="15"/>
                                        </p:tgtEl>
                                        <p:attrNameLst>
                                          <p:attrName>style.visibility</p:attrName>
                                        </p:attrNameLst>
                                      </p:cBhvr>
                                      <p:to>
                                        <p:strVal val="hidden"/>
                                      </p:to>
                                    </p:set>
                                  </p:subTnLst>
                                </p:cTn>
                              </p:par>
                              <p:par>
                                <p:cTn id="43" presetID="3" presetClass="entr" presetSubtype="1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blinds(horizontal)">
                                      <p:cBhvr>
                                        <p:cTn id="45" dur="500"/>
                                        <p:tgtEl>
                                          <p:spTgt spid="16"/>
                                        </p:tgtEl>
                                      </p:cBhvr>
                                    </p:animEffec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2" grpId="0"/>
      <p:bldP spid="14" grpId="0"/>
      <p:bldP spid="1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a:extLst>
              <a:ext uri="{FF2B5EF4-FFF2-40B4-BE49-F238E27FC236}">
                <a16:creationId xmlns:a16="http://schemas.microsoft.com/office/drawing/2014/main" id="{8635D5E9-76F2-48FA-9078-CFE945C664B9}"/>
              </a:ext>
            </a:extLst>
          </p:cNvPr>
          <p:cNvSpPr>
            <a:spLocks noGrp="1"/>
          </p:cNvSpPr>
          <p:nvPr>
            <p:ph type="title"/>
          </p:nvPr>
        </p:nvSpPr>
        <p:spPr/>
        <p:txBody>
          <a:bodyPr>
            <a:normAutofit fontScale="90000"/>
          </a:bodyPr>
          <a:lstStyle/>
          <a:p>
            <a:r>
              <a:rPr lang="en-US" altLang="zh-CN" dirty="0"/>
              <a:t>RPC Response</a:t>
            </a:r>
            <a:endParaRPr lang="zh-CN" altLang="en-US" dirty="0"/>
          </a:p>
        </p:txBody>
      </p:sp>
      <p:sp>
        <p:nvSpPr>
          <p:cNvPr id="12291" name="灯片编号占位符 3">
            <a:extLst>
              <a:ext uri="{FF2B5EF4-FFF2-40B4-BE49-F238E27FC236}">
                <a16:creationId xmlns:a16="http://schemas.microsoft.com/office/drawing/2014/main" id="{AC192D0A-8E1E-47EC-A0E8-E86806717766}"/>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CE3C78F3-0CE1-4EEF-9F9B-0A0693720CE8}" type="slidenum">
              <a:rPr lang="en-US" altLang="zh-CN" smtClean="0"/>
              <a:pPr/>
              <a:t>19</a:t>
            </a:fld>
            <a:endParaRPr lang="en-US" altLang="zh-CN" sz="1000"/>
          </a:p>
        </p:txBody>
      </p:sp>
      <p:sp>
        <p:nvSpPr>
          <p:cNvPr id="5" name="Text Box 4">
            <a:extLst>
              <a:ext uri="{FF2B5EF4-FFF2-40B4-BE49-F238E27FC236}">
                <a16:creationId xmlns:a16="http://schemas.microsoft.com/office/drawing/2014/main" id="{D4D3143B-8A25-4D13-90C6-5788F96DA44A}"/>
              </a:ext>
            </a:extLst>
          </p:cNvPr>
          <p:cNvSpPr txBox="1">
            <a:spLocks noChangeArrowheads="1"/>
          </p:cNvSpPr>
          <p:nvPr/>
        </p:nvSpPr>
        <p:spPr bwMode="auto">
          <a:xfrm>
            <a:off x="249808" y="1491978"/>
            <a:ext cx="8498656" cy="4961358"/>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400" dirty="0">
                <a:solidFill>
                  <a:srgbClr val="008080"/>
                </a:solidFill>
                <a:highlight>
                  <a:srgbClr val="FFFFFF"/>
                </a:highlight>
                <a:latin typeface="Arial"/>
                <a:ea typeface="宋体" charset="-122"/>
              </a:rPr>
              <a:t>&lt;?xml version='1.0' ?&gt;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ea typeface="宋体" charset="-122"/>
              </a:rPr>
              <a:t>&lt;</a:t>
            </a:r>
            <a:r>
              <a:rPr lang="en-US" altLang="zh-CN" sz="1400" dirty="0" err="1">
                <a:solidFill>
                  <a:srgbClr val="800000"/>
                </a:solidFill>
                <a:highlight>
                  <a:srgbClr val="FFFFFF"/>
                </a:highlight>
                <a:latin typeface="Arial"/>
                <a:ea typeface="宋体" charset="-122"/>
              </a:rPr>
              <a:t>env:Envelope</a:t>
            </a:r>
            <a:r>
              <a:rPr lang="en-US" altLang="zh-CN" sz="1400" dirty="0">
                <a:solidFill>
                  <a:srgbClr val="FF0000"/>
                </a:solidFill>
                <a:highlight>
                  <a:srgbClr val="FFFFFF"/>
                </a:highlight>
                <a:latin typeface="Arial"/>
                <a:ea typeface="宋体" charset="-122"/>
              </a:rPr>
              <a:t> </a:t>
            </a:r>
            <a:r>
              <a:rPr lang="en-US" altLang="zh-CN" sz="1400" dirty="0" err="1">
                <a:solidFill>
                  <a:srgbClr val="FF0000"/>
                </a:solidFill>
                <a:highlight>
                  <a:srgbClr val="FFFFFF"/>
                </a:highlight>
                <a:latin typeface="Arial"/>
                <a:ea typeface="宋体" charset="-122"/>
              </a:rPr>
              <a:t>xmlns:env</a:t>
            </a:r>
            <a:r>
              <a:rPr lang="en-US" altLang="zh-CN" sz="1400" dirty="0">
                <a:solidFill>
                  <a:srgbClr val="0000FF"/>
                </a:solidFill>
                <a:highlight>
                  <a:srgbClr val="FFFFFF"/>
                </a:highlight>
                <a:latin typeface="Arial"/>
                <a:ea typeface="宋体" charset="-122"/>
              </a:rPr>
              <a:t>="</a:t>
            </a:r>
            <a:r>
              <a:rPr lang="en-US" altLang="zh-CN" sz="1400" dirty="0">
                <a:solidFill>
                  <a:srgbClr val="000000"/>
                </a:solidFill>
                <a:highlight>
                  <a:srgbClr val="FFFFFF"/>
                </a:highlight>
                <a:latin typeface="Arial"/>
                <a:ea typeface="宋体" charset="-122"/>
              </a:rPr>
              <a:t>http://www.w3.org/2003/05/soap-envelope</a:t>
            </a:r>
            <a:r>
              <a:rPr lang="en-US" altLang="zh-CN" sz="1400" dirty="0">
                <a:solidFill>
                  <a:srgbClr val="0000FF"/>
                </a:solidFill>
                <a:highlight>
                  <a:srgbClr val="FFFFFF"/>
                </a:highlight>
                <a:latin typeface="Arial"/>
                <a:ea typeface="宋体" charset="-122"/>
              </a:rPr>
              <a:t>"</a:t>
            </a:r>
            <a:r>
              <a:rPr lang="en-US" altLang="zh-CN" sz="1400" dirty="0">
                <a:solidFill>
                  <a:srgbClr val="FF0000"/>
                </a:solidFill>
                <a:highlight>
                  <a:srgbClr val="FFFFFF"/>
                </a:highlight>
                <a:latin typeface="Arial"/>
                <a:ea typeface="宋体" charset="-122"/>
              </a:rPr>
              <a:t> </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a:t>
            </a:r>
            <a:r>
              <a:rPr lang="en-US" altLang="zh-CN" sz="1400" dirty="0">
                <a:solidFill>
                  <a:srgbClr val="0000FF"/>
                </a:solidFill>
                <a:highlight>
                  <a:srgbClr val="FFFFFF"/>
                </a:highlight>
                <a:latin typeface="Arial"/>
                <a:ea typeface="宋体" charset="-122"/>
              </a:rPr>
              <a:t>&lt;</a:t>
            </a:r>
            <a:r>
              <a:rPr lang="en-US" altLang="zh-CN" sz="1400" dirty="0" err="1">
                <a:solidFill>
                  <a:srgbClr val="800000"/>
                </a:solidFill>
                <a:highlight>
                  <a:srgbClr val="FFFFFF"/>
                </a:highlight>
                <a:latin typeface="Arial"/>
                <a:ea typeface="宋体" charset="-122"/>
              </a:rPr>
              <a:t>env:Header</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a:t>
            </a:r>
            <a:r>
              <a:rPr lang="en-US" altLang="zh-CN" sz="1400" dirty="0">
                <a:solidFill>
                  <a:srgbClr val="0000FF"/>
                </a:solidFill>
                <a:highlight>
                  <a:srgbClr val="FFFFFF"/>
                </a:highlight>
                <a:latin typeface="Arial"/>
                <a:ea typeface="宋体" charset="-122"/>
              </a:rPr>
              <a:t>&lt;</a:t>
            </a:r>
            <a:r>
              <a:rPr lang="en-US" altLang="zh-CN" sz="1400" dirty="0">
                <a:solidFill>
                  <a:srgbClr val="800000"/>
                </a:solidFill>
                <a:highlight>
                  <a:srgbClr val="FFFFFF"/>
                </a:highlight>
                <a:latin typeface="Arial"/>
                <a:ea typeface="宋体" charset="-122"/>
              </a:rPr>
              <a:t>t:transaction</a:t>
            </a:r>
            <a:endParaRPr lang="en-US" altLang="zh-CN" sz="1400" dirty="0">
              <a:solidFill>
                <a:srgbClr val="FF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ea typeface="宋体" charset="-122"/>
              </a:rPr>
              <a:t>        </a:t>
            </a:r>
            <a:r>
              <a:rPr lang="en-US" altLang="zh-CN" sz="1400" dirty="0" err="1">
                <a:solidFill>
                  <a:srgbClr val="FF0000"/>
                </a:solidFill>
                <a:highlight>
                  <a:srgbClr val="FFFFFF"/>
                </a:highlight>
                <a:latin typeface="Arial"/>
                <a:ea typeface="宋体" charset="-122"/>
              </a:rPr>
              <a:t>xmlns:t</a:t>
            </a:r>
            <a:r>
              <a:rPr lang="en-US" altLang="zh-CN" sz="1400" dirty="0">
                <a:solidFill>
                  <a:srgbClr val="0000FF"/>
                </a:solidFill>
                <a:highlight>
                  <a:srgbClr val="FFFFFF"/>
                </a:highlight>
                <a:latin typeface="Arial"/>
                <a:ea typeface="宋体" charset="-122"/>
              </a:rPr>
              <a:t>="</a:t>
            </a:r>
            <a:r>
              <a:rPr lang="en-US" altLang="zh-CN" sz="1400" dirty="0">
                <a:solidFill>
                  <a:srgbClr val="000000"/>
                </a:solidFill>
                <a:highlight>
                  <a:srgbClr val="FFFFFF"/>
                </a:highlight>
                <a:latin typeface="Arial"/>
                <a:ea typeface="宋体" charset="-122"/>
              </a:rPr>
              <a:t>http://thirdparty.example.org/transaction</a:t>
            </a:r>
            <a:r>
              <a:rPr lang="en-US" altLang="zh-CN" sz="1400" dirty="0">
                <a:solidFill>
                  <a:srgbClr val="0000FF"/>
                </a:solidFill>
                <a:highlight>
                  <a:srgbClr val="FFFFFF"/>
                </a:highlight>
                <a:latin typeface="Arial"/>
                <a:ea typeface="宋体" charset="-122"/>
              </a:rPr>
              <a:t>"</a:t>
            </a:r>
            <a:endParaRPr lang="en-US" altLang="zh-CN" sz="1400" dirty="0">
              <a:solidFill>
                <a:srgbClr val="FF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ea typeface="宋体" charset="-122"/>
              </a:rPr>
              <a:t>          </a:t>
            </a:r>
            <a:r>
              <a:rPr lang="en-US" altLang="zh-CN" sz="1400" dirty="0" err="1">
                <a:solidFill>
                  <a:srgbClr val="FF0000"/>
                </a:solidFill>
                <a:highlight>
                  <a:srgbClr val="FFFFFF"/>
                </a:highlight>
                <a:latin typeface="Arial"/>
                <a:ea typeface="宋体" charset="-122"/>
              </a:rPr>
              <a:t>env:encodingStyle</a:t>
            </a:r>
            <a:r>
              <a:rPr lang="en-US" altLang="zh-CN" sz="1400" dirty="0">
                <a:solidFill>
                  <a:srgbClr val="0000FF"/>
                </a:solidFill>
                <a:highlight>
                  <a:srgbClr val="FFFFFF"/>
                </a:highlight>
                <a:latin typeface="Arial"/>
                <a:ea typeface="宋体" charset="-122"/>
              </a:rPr>
              <a:t>="</a:t>
            </a:r>
            <a:r>
              <a:rPr lang="en-US" altLang="zh-CN" sz="1400" dirty="0">
                <a:solidFill>
                  <a:srgbClr val="000000"/>
                </a:solidFill>
                <a:highlight>
                  <a:srgbClr val="FFFFFF"/>
                </a:highlight>
                <a:latin typeface="Arial"/>
                <a:ea typeface="宋体" charset="-122"/>
              </a:rPr>
              <a:t>http://example.com/encoding</a:t>
            </a:r>
            <a:r>
              <a:rPr lang="en-US" altLang="zh-CN" sz="1400" dirty="0">
                <a:solidFill>
                  <a:srgbClr val="0000FF"/>
                </a:solidFill>
                <a:highlight>
                  <a:srgbClr val="FFFFFF"/>
                </a:highlight>
                <a:latin typeface="Arial"/>
                <a:ea typeface="宋体" charset="-122"/>
              </a:rPr>
              <a:t>"</a:t>
            </a:r>
            <a:endParaRPr lang="en-US" altLang="zh-CN" sz="1400" dirty="0">
              <a:solidFill>
                <a:srgbClr val="FF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ea typeface="宋体" charset="-122"/>
              </a:rPr>
              <a:t>           </a:t>
            </a:r>
            <a:r>
              <a:rPr lang="en-US" altLang="zh-CN" sz="1400" dirty="0" err="1">
                <a:solidFill>
                  <a:srgbClr val="FF0000"/>
                </a:solidFill>
                <a:highlight>
                  <a:srgbClr val="FFFFFF"/>
                </a:highlight>
                <a:latin typeface="Arial"/>
                <a:ea typeface="宋体" charset="-122"/>
              </a:rPr>
              <a:t>env:mustUnderstand</a:t>
            </a:r>
            <a:r>
              <a:rPr lang="en-US" altLang="zh-CN" sz="1400" dirty="0">
                <a:solidFill>
                  <a:srgbClr val="0000FF"/>
                </a:solidFill>
                <a:highlight>
                  <a:srgbClr val="FFFFFF"/>
                </a:highlight>
                <a:latin typeface="Arial"/>
                <a:ea typeface="宋体" charset="-122"/>
              </a:rPr>
              <a:t>="</a:t>
            </a:r>
            <a:r>
              <a:rPr lang="en-US" altLang="zh-CN" sz="1400" dirty="0">
                <a:solidFill>
                  <a:srgbClr val="000000"/>
                </a:solidFill>
                <a:highlight>
                  <a:srgbClr val="FFFFFF"/>
                </a:highlight>
                <a:latin typeface="Arial"/>
                <a:ea typeface="宋体" charset="-122"/>
              </a:rPr>
              <a:t>true</a:t>
            </a:r>
            <a:r>
              <a:rPr lang="en-US" altLang="zh-CN" sz="1400" dirty="0">
                <a:solidFill>
                  <a:srgbClr val="0000FF"/>
                </a:solidFill>
                <a:highlight>
                  <a:srgbClr val="FFFFFF"/>
                </a:highlight>
                <a:latin typeface="Arial"/>
                <a:ea typeface="宋体" charset="-122"/>
              </a:rPr>
              <a:t>"&gt;</a:t>
            </a:r>
            <a:r>
              <a:rPr lang="en-US" altLang="zh-CN" sz="1400" dirty="0">
                <a:solidFill>
                  <a:srgbClr val="000000"/>
                </a:solidFill>
                <a:highlight>
                  <a:srgbClr val="FFFFFF"/>
                </a:highlight>
                <a:latin typeface="Arial"/>
                <a:ea typeface="宋体" charset="-122"/>
              </a:rPr>
              <a:t>5</a:t>
            </a:r>
            <a:r>
              <a:rPr lang="en-US" altLang="zh-CN" sz="1400" dirty="0">
                <a:solidFill>
                  <a:srgbClr val="0000FF"/>
                </a:solidFill>
                <a:highlight>
                  <a:srgbClr val="FFFFFF"/>
                </a:highlight>
                <a:latin typeface="Arial"/>
                <a:ea typeface="宋体" charset="-122"/>
              </a:rPr>
              <a:t>&lt;/</a:t>
            </a:r>
            <a:r>
              <a:rPr lang="en-US" altLang="zh-CN" sz="1400" dirty="0">
                <a:solidFill>
                  <a:srgbClr val="800000"/>
                </a:solidFill>
                <a:highlight>
                  <a:srgbClr val="FFFFFF"/>
                </a:highlight>
                <a:latin typeface="Arial"/>
                <a:ea typeface="宋体" charset="-122"/>
              </a:rPr>
              <a:t>t:transaction</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a:t>
            </a:r>
            <a:r>
              <a:rPr lang="en-US" altLang="zh-CN" sz="1400" dirty="0">
                <a:solidFill>
                  <a:srgbClr val="0000FF"/>
                </a:solidFill>
                <a:highlight>
                  <a:srgbClr val="FFFFFF"/>
                </a:highlight>
                <a:latin typeface="Arial"/>
                <a:ea typeface="宋体" charset="-122"/>
              </a:rPr>
              <a:t>&lt;/</a:t>
            </a:r>
            <a:r>
              <a:rPr lang="en-US" altLang="zh-CN" sz="1400" dirty="0" err="1">
                <a:solidFill>
                  <a:srgbClr val="800000"/>
                </a:solidFill>
                <a:highlight>
                  <a:srgbClr val="FFFFFF"/>
                </a:highlight>
                <a:latin typeface="Arial"/>
                <a:ea typeface="宋体" charset="-122"/>
              </a:rPr>
              <a:t>env:Header</a:t>
            </a:r>
            <a:r>
              <a:rPr lang="en-US" altLang="zh-CN" sz="1400" dirty="0">
                <a:solidFill>
                  <a:srgbClr val="0000FF"/>
                </a:solidFill>
                <a:highlight>
                  <a:srgbClr val="FFFFFF"/>
                </a:highlight>
                <a:latin typeface="Arial"/>
                <a:ea typeface="宋体" charset="-122"/>
              </a:rPr>
              <a:t>&gt;</a:t>
            </a:r>
            <a:r>
              <a:rPr lang="en-US" altLang="zh-CN" sz="1400" dirty="0">
                <a:solidFill>
                  <a:srgbClr val="000000"/>
                </a:solidFill>
                <a:highlight>
                  <a:srgbClr val="FFFFFF"/>
                </a:highlight>
                <a:latin typeface="Arial"/>
                <a:ea typeface="宋体" charset="-122"/>
              </a:rPr>
              <a:t>  </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a:t>
            </a:r>
            <a:r>
              <a:rPr lang="en-US" altLang="zh-CN" sz="1400" dirty="0">
                <a:solidFill>
                  <a:srgbClr val="0000FF"/>
                </a:solidFill>
                <a:highlight>
                  <a:srgbClr val="FFFFFF"/>
                </a:highlight>
                <a:latin typeface="Arial"/>
                <a:ea typeface="宋体" charset="-122"/>
              </a:rPr>
              <a:t>&lt;</a:t>
            </a:r>
            <a:r>
              <a:rPr lang="en-US" altLang="zh-CN" sz="1400" dirty="0" err="1">
                <a:solidFill>
                  <a:srgbClr val="800000"/>
                </a:solidFill>
                <a:highlight>
                  <a:srgbClr val="FFFFFF"/>
                </a:highlight>
                <a:latin typeface="Arial"/>
                <a:ea typeface="宋体" charset="-122"/>
              </a:rPr>
              <a:t>env:Body</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a:t>
            </a:r>
            <a:r>
              <a:rPr lang="en-US" altLang="zh-CN" sz="1400" dirty="0">
                <a:solidFill>
                  <a:srgbClr val="0000FF"/>
                </a:solidFill>
                <a:highlight>
                  <a:srgbClr val="FFFFFF"/>
                </a:highlight>
                <a:latin typeface="Arial"/>
                <a:ea typeface="宋体" charset="-122"/>
              </a:rPr>
              <a:t>&lt;</a:t>
            </a:r>
            <a:r>
              <a:rPr lang="en-US" altLang="zh-CN" sz="1400" dirty="0">
                <a:solidFill>
                  <a:srgbClr val="800000"/>
                </a:solidFill>
                <a:highlight>
                  <a:srgbClr val="FFFFFF"/>
                </a:highlight>
                <a:latin typeface="Arial"/>
                <a:ea typeface="宋体" charset="-122"/>
              </a:rPr>
              <a:t>m:chargeReservationResponse</a:t>
            </a:r>
            <a:r>
              <a:rPr lang="en-US" altLang="zh-CN" sz="1400" dirty="0">
                <a:solidFill>
                  <a:srgbClr val="FF0000"/>
                </a:solidFill>
                <a:highlight>
                  <a:srgbClr val="FFFFFF"/>
                </a:highlight>
                <a:latin typeface="Arial"/>
                <a:ea typeface="宋体" charset="-122"/>
              </a:rPr>
              <a:t> </a:t>
            </a: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ea typeface="宋体" charset="-122"/>
              </a:rPr>
              <a:t>         </a:t>
            </a:r>
            <a:r>
              <a:rPr lang="en-US" altLang="zh-CN" sz="1400" dirty="0" err="1">
                <a:solidFill>
                  <a:srgbClr val="FF0000"/>
                </a:solidFill>
                <a:highlight>
                  <a:srgbClr val="FFFFFF"/>
                </a:highlight>
                <a:latin typeface="Arial"/>
                <a:ea typeface="宋体" charset="-122"/>
              </a:rPr>
              <a:t>env:encodingStyle</a:t>
            </a:r>
            <a:r>
              <a:rPr lang="en-US" altLang="zh-CN" sz="1400" dirty="0">
                <a:solidFill>
                  <a:srgbClr val="0000FF"/>
                </a:solidFill>
                <a:highlight>
                  <a:srgbClr val="FFFFFF"/>
                </a:highlight>
                <a:latin typeface="Arial"/>
                <a:ea typeface="宋体" charset="-122"/>
              </a:rPr>
              <a:t>="</a:t>
            </a:r>
            <a:r>
              <a:rPr lang="en-US" altLang="zh-CN" sz="1400" dirty="0">
                <a:solidFill>
                  <a:srgbClr val="000000"/>
                </a:solidFill>
                <a:highlight>
                  <a:srgbClr val="FFFFFF"/>
                </a:highlight>
                <a:latin typeface="Arial"/>
                <a:ea typeface="宋体" charset="-122"/>
              </a:rPr>
              <a:t>http://www.w3.org/2003/05/soap-encoding</a:t>
            </a:r>
            <a:r>
              <a:rPr lang="en-US" altLang="zh-CN" sz="1400" dirty="0">
                <a:solidFill>
                  <a:srgbClr val="0000FF"/>
                </a:solidFill>
                <a:highlight>
                  <a:srgbClr val="FFFFFF"/>
                </a:highlight>
                <a:latin typeface="Arial"/>
                <a:ea typeface="宋体" charset="-122"/>
              </a:rPr>
              <a:t>"</a:t>
            </a:r>
            <a:endParaRPr lang="en-US" altLang="zh-CN" sz="1400" dirty="0">
              <a:solidFill>
                <a:srgbClr val="FF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ea typeface="宋体" charset="-122"/>
              </a:rPr>
              <a:t>             </a:t>
            </a:r>
            <a:r>
              <a:rPr lang="en-US" altLang="zh-CN" sz="1400" dirty="0" err="1">
                <a:solidFill>
                  <a:srgbClr val="FF0000"/>
                </a:solidFill>
                <a:highlight>
                  <a:srgbClr val="FFFFFF"/>
                </a:highlight>
                <a:latin typeface="Arial"/>
                <a:ea typeface="宋体" charset="-122"/>
              </a:rPr>
              <a:t>xmlns:m</a:t>
            </a:r>
            <a:r>
              <a:rPr lang="en-US" altLang="zh-CN" sz="1400" dirty="0">
                <a:solidFill>
                  <a:srgbClr val="0000FF"/>
                </a:solidFill>
                <a:highlight>
                  <a:srgbClr val="FFFFFF"/>
                </a:highlight>
                <a:latin typeface="Arial"/>
                <a:ea typeface="宋体" charset="-122"/>
              </a:rPr>
              <a:t>="</a:t>
            </a:r>
            <a:r>
              <a:rPr lang="en-US" altLang="zh-CN" sz="1400" dirty="0">
                <a:solidFill>
                  <a:srgbClr val="000000"/>
                </a:solidFill>
                <a:highlight>
                  <a:srgbClr val="FFFFFF"/>
                </a:highlight>
                <a:latin typeface="Arial"/>
                <a:ea typeface="宋体" charset="-122"/>
              </a:rPr>
              <a:t>http://travelcompany.example.org/</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a:t>
            </a:r>
            <a:r>
              <a:rPr lang="en-US" altLang="zh-CN" sz="1400" dirty="0">
                <a:solidFill>
                  <a:srgbClr val="0000FF"/>
                </a:solidFill>
                <a:highlight>
                  <a:srgbClr val="FFFFFF"/>
                </a:highlight>
                <a:latin typeface="Arial"/>
                <a:ea typeface="宋体" charset="-122"/>
              </a:rPr>
              <a:t>&lt;</a:t>
            </a:r>
            <a:r>
              <a:rPr lang="en-US" altLang="zh-CN" sz="1400" dirty="0">
                <a:solidFill>
                  <a:srgbClr val="800000"/>
                </a:solidFill>
                <a:highlight>
                  <a:srgbClr val="FFFFFF"/>
                </a:highlight>
                <a:latin typeface="Arial"/>
                <a:ea typeface="宋体" charset="-122"/>
              </a:rPr>
              <a:t>m:code</a:t>
            </a:r>
            <a:r>
              <a:rPr lang="en-US" altLang="zh-CN" sz="1400" dirty="0">
                <a:solidFill>
                  <a:srgbClr val="0000FF"/>
                </a:solidFill>
                <a:highlight>
                  <a:srgbClr val="FFFFFF"/>
                </a:highlight>
                <a:latin typeface="Arial"/>
                <a:ea typeface="宋体" charset="-122"/>
              </a:rPr>
              <a:t>&gt;</a:t>
            </a:r>
            <a:r>
              <a:rPr lang="en-US" altLang="zh-CN" sz="1400" dirty="0">
                <a:solidFill>
                  <a:srgbClr val="000000"/>
                </a:solidFill>
                <a:highlight>
                  <a:srgbClr val="FFFFFF"/>
                </a:highlight>
                <a:latin typeface="Arial"/>
                <a:ea typeface="宋体" charset="-122"/>
              </a:rPr>
              <a:t>FT35ZBQ</a:t>
            </a:r>
            <a:r>
              <a:rPr lang="en-US" altLang="zh-CN" sz="1400" dirty="0">
                <a:solidFill>
                  <a:srgbClr val="0000FF"/>
                </a:solidFill>
                <a:highlight>
                  <a:srgbClr val="FFFFFF"/>
                </a:highlight>
                <a:latin typeface="Arial"/>
                <a:ea typeface="宋体" charset="-122"/>
              </a:rPr>
              <a:t>&lt;/</a:t>
            </a:r>
            <a:r>
              <a:rPr lang="en-US" altLang="zh-CN" sz="1400" dirty="0">
                <a:solidFill>
                  <a:srgbClr val="800000"/>
                </a:solidFill>
                <a:highlight>
                  <a:srgbClr val="FFFFFF"/>
                </a:highlight>
                <a:latin typeface="Arial"/>
                <a:ea typeface="宋体" charset="-122"/>
              </a:rPr>
              <a:t>m:code</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a:t>
            </a:r>
            <a:r>
              <a:rPr lang="en-US" altLang="zh-CN" sz="1400" dirty="0">
                <a:solidFill>
                  <a:srgbClr val="0000FF"/>
                </a:solidFill>
                <a:highlight>
                  <a:srgbClr val="FFFFFF"/>
                </a:highlight>
                <a:latin typeface="Arial"/>
                <a:ea typeface="宋体" charset="-122"/>
              </a:rPr>
              <a:t>&lt;</a:t>
            </a:r>
            <a:r>
              <a:rPr lang="en-US" altLang="zh-CN" sz="1400" dirty="0">
                <a:solidFill>
                  <a:srgbClr val="800000"/>
                </a:solidFill>
                <a:highlight>
                  <a:srgbClr val="FFFFFF"/>
                </a:highlight>
                <a:latin typeface="Arial"/>
                <a:ea typeface="宋体" charset="-122"/>
              </a:rPr>
              <a:t>m:viewAt</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http://travelcompany.example.org/reservations?code=FT35ZBQ</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a:t>
            </a:r>
            <a:r>
              <a:rPr lang="en-US" altLang="zh-CN" sz="1400" dirty="0">
                <a:solidFill>
                  <a:srgbClr val="0000FF"/>
                </a:solidFill>
                <a:highlight>
                  <a:srgbClr val="FFFFFF"/>
                </a:highlight>
                <a:latin typeface="Arial"/>
                <a:ea typeface="宋体" charset="-122"/>
              </a:rPr>
              <a:t>&lt;/</a:t>
            </a:r>
            <a:r>
              <a:rPr lang="en-US" altLang="zh-CN" sz="1400" dirty="0">
                <a:solidFill>
                  <a:srgbClr val="800000"/>
                </a:solidFill>
                <a:highlight>
                  <a:srgbClr val="FFFFFF"/>
                </a:highlight>
                <a:latin typeface="Arial"/>
                <a:ea typeface="宋体" charset="-122"/>
              </a:rPr>
              <a:t>m:viewAt</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a:t>
            </a:r>
            <a:r>
              <a:rPr lang="en-US" altLang="zh-CN" sz="1400" dirty="0">
                <a:solidFill>
                  <a:srgbClr val="0000FF"/>
                </a:solidFill>
                <a:highlight>
                  <a:srgbClr val="FFFFFF"/>
                </a:highlight>
                <a:latin typeface="Arial"/>
                <a:ea typeface="宋体" charset="-122"/>
              </a:rPr>
              <a:t>&lt;/</a:t>
            </a:r>
            <a:r>
              <a:rPr lang="en-US" altLang="zh-CN" sz="1400" dirty="0">
                <a:solidFill>
                  <a:srgbClr val="800000"/>
                </a:solidFill>
                <a:highlight>
                  <a:srgbClr val="FFFFFF"/>
                </a:highlight>
                <a:latin typeface="Arial"/>
                <a:ea typeface="宋体" charset="-122"/>
              </a:rPr>
              <a:t>m:chargeReservationResponse</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a:t>
            </a:r>
            <a:r>
              <a:rPr lang="en-US" altLang="zh-CN" sz="1400" dirty="0">
                <a:solidFill>
                  <a:srgbClr val="0000FF"/>
                </a:solidFill>
                <a:highlight>
                  <a:srgbClr val="FFFFFF"/>
                </a:highlight>
                <a:latin typeface="Arial"/>
                <a:ea typeface="宋体" charset="-122"/>
              </a:rPr>
              <a:t>&lt;/</a:t>
            </a:r>
            <a:r>
              <a:rPr lang="en-US" altLang="zh-CN" sz="1400" dirty="0" err="1">
                <a:solidFill>
                  <a:srgbClr val="800000"/>
                </a:solidFill>
                <a:highlight>
                  <a:srgbClr val="FFFFFF"/>
                </a:highlight>
                <a:latin typeface="Arial"/>
                <a:ea typeface="宋体" charset="-122"/>
              </a:rPr>
              <a:t>env:Body</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ea typeface="宋体" charset="-122"/>
              </a:rPr>
              <a:t>&lt;/</a:t>
            </a:r>
            <a:r>
              <a:rPr lang="en-US" altLang="zh-CN" sz="1400" dirty="0" err="1">
                <a:solidFill>
                  <a:srgbClr val="800000"/>
                </a:solidFill>
                <a:highlight>
                  <a:srgbClr val="FFFFFF"/>
                </a:highlight>
                <a:latin typeface="Arial"/>
                <a:ea typeface="宋体" charset="-122"/>
              </a:rPr>
              <a:t>env:Envelope</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p:txBody>
      </p:sp>
      <p:sp>
        <p:nvSpPr>
          <p:cNvPr id="6" name="Line 6">
            <a:extLst>
              <a:ext uri="{FF2B5EF4-FFF2-40B4-BE49-F238E27FC236}">
                <a16:creationId xmlns:a16="http://schemas.microsoft.com/office/drawing/2014/main" id="{D306399F-B48B-457D-BE95-EA45B6349215}"/>
              </a:ext>
            </a:extLst>
          </p:cNvPr>
          <p:cNvSpPr>
            <a:spLocks noChangeShapeType="1"/>
          </p:cNvSpPr>
          <p:nvPr/>
        </p:nvSpPr>
        <p:spPr bwMode="auto">
          <a:xfrm flipH="1" flipV="1">
            <a:off x="3203575" y="4724400"/>
            <a:ext cx="2282825" cy="7302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7">
            <a:extLst>
              <a:ext uri="{FF2B5EF4-FFF2-40B4-BE49-F238E27FC236}">
                <a16:creationId xmlns:a16="http://schemas.microsoft.com/office/drawing/2014/main" id="{B01DFE38-3155-4A28-AE57-49B72218EC99}"/>
              </a:ext>
            </a:extLst>
          </p:cNvPr>
          <p:cNvSpPr txBox="1">
            <a:spLocks noChangeArrowheads="1"/>
          </p:cNvSpPr>
          <p:nvPr/>
        </p:nvSpPr>
        <p:spPr bwMode="auto">
          <a:xfrm>
            <a:off x="5483225" y="4608513"/>
            <a:ext cx="22574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2 output parameters</a:t>
            </a:r>
          </a:p>
        </p:txBody>
      </p:sp>
      <p:sp>
        <p:nvSpPr>
          <p:cNvPr id="8" name="Line 6">
            <a:extLst>
              <a:ext uri="{FF2B5EF4-FFF2-40B4-BE49-F238E27FC236}">
                <a16:creationId xmlns:a16="http://schemas.microsoft.com/office/drawing/2014/main" id="{89101CD8-4416-4BF5-9BCA-D6355271839D}"/>
              </a:ext>
            </a:extLst>
          </p:cNvPr>
          <p:cNvSpPr>
            <a:spLocks noChangeShapeType="1"/>
          </p:cNvSpPr>
          <p:nvPr/>
        </p:nvSpPr>
        <p:spPr bwMode="auto">
          <a:xfrm flipH="1">
            <a:off x="4760913" y="4797425"/>
            <a:ext cx="722312" cy="296863"/>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Line 6">
            <a:extLst>
              <a:ext uri="{FF2B5EF4-FFF2-40B4-BE49-F238E27FC236}">
                <a16:creationId xmlns:a16="http://schemas.microsoft.com/office/drawing/2014/main" id="{6EEA2D8E-C539-4409-88BE-2B6E6A5305BC}"/>
              </a:ext>
            </a:extLst>
          </p:cNvPr>
          <p:cNvSpPr>
            <a:spLocks noChangeShapeType="1"/>
          </p:cNvSpPr>
          <p:nvPr/>
        </p:nvSpPr>
        <p:spPr bwMode="auto">
          <a:xfrm flipH="1">
            <a:off x="3203575" y="3509963"/>
            <a:ext cx="2498725" cy="423862"/>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Text Box 7">
            <a:extLst>
              <a:ext uri="{FF2B5EF4-FFF2-40B4-BE49-F238E27FC236}">
                <a16:creationId xmlns:a16="http://schemas.microsoft.com/office/drawing/2014/main" id="{F8F7550B-92D5-4806-8C0F-3C6795F2E481}"/>
              </a:ext>
            </a:extLst>
          </p:cNvPr>
          <p:cNvSpPr txBox="1">
            <a:spLocks noChangeArrowheads="1"/>
          </p:cNvSpPr>
          <p:nvPr/>
        </p:nvSpPr>
        <p:spPr bwMode="auto">
          <a:xfrm>
            <a:off x="5702300" y="2909888"/>
            <a:ext cx="24733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Named after the name of procedure or method, with a postfix of “</a:t>
            </a:r>
            <a:r>
              <a:rPr lang="en-US" altLang="zh-CN" sz="1800" i="1"/>
              <a:t>Response</a:t>
            </a:r>
            <a:r>
              <a:rPr lang="en-US" altLang="zh-CN" sz="1800"/>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par>
                                <p:cTn id="8" presetID="3"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par>
                                <p:cTn id="11" presetID="3" presetClass="entr" presetSubtype="1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blinds(horizontal)">
                                      <p:cBhvr>
                                        <p:cTn id="13"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blinds(horizontal)">
                                      <p:cBhvr>
                                        <p:cTn id="18"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par>
                                <p:cTn id="19" presetID="3" presetClass="entr" presetSubtype="1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blinds(horizontal)">
                                      <p:cBhvr>
                                        <p:cTn id="21" dur="500"/>
                                        <p:tgtEl>
                                          <p:spTgt spid="10"/>
                                        </p:tgtEl>
                                      </p:cBhvr>
                                    </p:animEffec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a:extLst>
              <a:ext uri="{FF2B5EF4-FFF2-40B4-BE49-F238E27FC236}">
                <a16:creationId xmlns:a16="http://schemas.microsoft.com/office/drawing/2014/main" id="{9DBBFAA9-483F-408B-8F3E-3584757A0F4E}"/>
              </a:ext>
            </a:extLst>
          </p:cNvPr>
          <p:cNvSpPr>
            <a:spLocks noGrp="1"/>
          </p:cNvSpPr>
          <p:nvPr>
            <p:ph type="title"/>
          </p:nvPr>
        </p:nvSpPr>
        <p:spPr/>
        <p:txBody>
          <a:bodyPr>
            <a:normAutofit fontScale="90000"/>
          </a:bodyPr>
          <a:lstStyle/>
          <a:p>
            <a:r>
              <a:rPr lang="en-US" altLang="zh-CN" dirty="0"/>
              <a:t>RPC Response with “return”</a:t>
            </a:r>
            <a:endParaRPr lang="zh-CN" altLang="en-US" dirty="0"/>
          </a:p>
        </p:txBody>
      </p:sp>
      <p:sp>
        <p:nvSpPr>
          <p:cNvPr id="14339" name="灯片编号占位符 3">
            <a:extLst>
              <a:ext uri="{FF2B5EF4-FFF2-40B4-BE49-F238E27FC236}">
                <a16:creationId xmlns:a16="http://schemas.microsoft.com/office/drawing/2014/main" id="{455BA4F8-0C4F-4017-AE93-DE13E079E8E3}"/>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CE3C78F3-0CE1-4EEF-9F9B-0A0693720CE8}" type="slidenum">
              <a:rPr lang="en-US" altLang="zh-CN" smtClean="0"/>
              <a:pPr/>
              <a:t>20</a:t>
            </a:fld>
            <a:endParaRPr lang="en-US" altLang="zh-CN" sz="1000"/>
          </a:p>
        </p:txBody>
      </p:sp>
      <p:sp>
        <p:nvSpPr>
          <p:cNvPr id="5" name="Text Box 4">
            <a:extLst>
              <a:ext uri="{FF2B5EF4-FFF2-40B4-BE49-F238E27FC236}">
                <a16:creationId xmlns:a16="http://schemas.microsoft.com/office/drawing/2014/main" id="{DBBC68BF-90F3-4CE6-8616-97A6DBDE041C}"/>
              </a:ext>
            </a:extLst>
          </p:cNvPr>
          <p:cNvSpPr txBox="1">
            <a:spLocks noChangeArrowheads="1"/>
          </p:cNvSpPr>
          <p:nvPr/>
        </p:nvSpPr>
        <p:spPr bwMode="auto">
          <a:xfrm>
            <a:off x="251520" y="1556792"/>
            <a:ext cx="8568952" cy="4930581"/>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200" dirty="0">
                <a:solidFill>
                  <a:srgbClr val="008080"/>
                </a:solidFill>
                <a:highlight>
                  <a:srgbClr val="FFFFFF"/>
                </a:highlight>
                <a:latin typeface="Arial"/>
                <a:ea typeface="宋体" charset="-122"/>
              </a:rPr>
              <a:t>&lt;?xml version='1.0' ?&gt;</a:t>
            </a:r>
            <a:endParaRPr lang="en-US" altLang="zh-CN" sz="12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ea typeface="宋体" charset="-122"/>
              </a:rPr>
              <a:t>&lt;</a:t>
            </a:r>
            <a:r>
              <a:rPr lang="en-US" altLang="zh-CN" sz="1200" dirty="0" err="1">
                <a:solidFill>
                  <a:srgbClr val="800000"/>
                </a:solidFill>
                <a:highlight>
                  <a:srgbClr val="FFFFFF"/>
                </a:highlight>
                <a:latin typeface="Arial"/>
                <a:ea typeface="宋体" charset="-122"/>
              </a:rPr>
              <a:t>env:Envelope</a:t>
            </a:r>
            <a:r>
              <a:rPr lang="en-US" altLang="zh-CN" sz="1200" dirty="0">
                <a:solidFill>
                  <a:srgbClr val="FF0000"/>
                </a:solidFill>
                <a:highlight>
                  <a:srgbClr val="FFFFFF"/>
                </a:highlight>
                <a:latin typeface="Arial"/>
                <a:ea typeface="宋体" charset="-122"/>
              </a:rPr>
              <a:t> </a:t>
            </a:r>
            <a:r>
              <a:rPr lang="en-US" altLang="zh-CN" sz="1200" dirty="0" err="1">
                <a:solidFill>
                  <a:srgbClr val="FF0000"/>
                </a:solidFill>
                <a:highlight>
                  <a:srgbClr val="FFFFFF"/>
                </a:highlight>
                <a:latin typeface="Arial"/>
                <a:ea typeface="宋体" charset="-122"/>
              </a:rPr>
              <a:t>xmlns:env</a:t>
            </a:r>
            <a:r>
              <a:rPr lang="en-US" altLang="zh-CN" sz="1200" dirty="0">
                <a:solidFill>
                  <a:srgbClr val="0000FF"/>
                </a:solidFill>
                <a:highlight>
                  <a:srgbClr val="FFFFFF"/>
                </a:highlight>
                <a:latin typeface="Arial"/>
                <a:ea typeface="宋体" charset="-122"/>
              </a:rPr>
              <a:t>="</a:t>
            </a:r>
            <a:r>
              <a:rPr lang="en-US" altLang="zh-CN" sz="1200" dirty="0">
                <a:solidFill>
                  <a:srgbClr val="000000"/>
                </a:solidFill>
                <a:highlight>
                  <a:srgbClr val="FFFFFF"/>
                </a:highlight>
                <a:latin typeface="Arial"/>
                <a:ea typeface="宋体" charset="-122"/>
              </a:rPr>
              <a:t>http://www.w3.org/2003/05/soap-envelope</a:t>
            </a:r>
            <a:r>
              <a:rPr lang="en-US" altLang="zh-CN" sz="1200" dirty="0">
                <a:solidFill>
                  <a:srgbClr val="0000FF"/>
                </a:solidFill>
                <a:highlight>
                  <a:srgbClr val="FFFFFF"/>
                </a:highlight>
                <a:latin typeface="Arial"/>
                <a:ea typeface="宋体" charset="-122"/>
              </a:rPr>
              <a:t>"</a:t>
            </a:r>
            <a:r>
              <a:rPr lang="en-US" altLang="zh-CN" sz="1200" dirty="0">
                <a:solidFill>
                  <a:srgbClr val="FF0000"/>
                </a:solidFill>
                <a:highlight>
                  <a:srgbClr val="FFFFFF"/>
                </a:highlight>
                <a:latin typeface="Arial"/>
                <a:ea typeface="宋体" charset="-122"/>
              </a:rPr>
              <a:t> </a:t>
            </a:r>
            <a:r>
              <a:rPr lang="en-US" altLang="zh-CN" sz="1200" dirty="0">
                <a:solidFill>
                  <a:srgbClr val="0000FF"/>
                </a:solidFill>
                <a:highlight>
                  <a:srgbClr val="FFFFFF"/>
                </a:highlight>
                <a:latin typeface="Arial"/>
                <a:ea typeface="宋体" charset="-122"/>
              </a:rPr>
              <a:t>&gt;</a:t>
            </a:r>
            <a:endParaRPr lang="en-US" altLang="zh-CN" sz="12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ea typeface="宋体" charset="-122"/>
              </a:rPr>
              <a:t> </a:t>
            </a:r>
            <a:r>
              <a:rPr lang="en-US" altLang="zh-CN" sz="1200" dirty="0">
                <a:solidFill>
                  <a:srgbClr val="0000FF"/>
                </a:solidFill>
                <a:highlight>
                  <a:srgbClr val="FFFFFF"/>
                </a:highlight>
                <a:latin typeface="Arial"/>
                <a:ea typeface="宋体" charset="-122"/>
              </a:rPr>
              <a:t>&lt;</a:t>
            </a:r>
            <a:r>
              <a:rPr lang="en-US" altLang="zh-CN" sz="1200" dirty="0" err="1">
                <a:solidFill>
                  <a:srgbClr val="800000"/>
                </a:solidFill>
                <a:highlight>
                  <a:srgbClr val="FFFFFF"/>
                </a:highlight>
                <a:latin typeface="Arial"/>
                <a:ea typeface="宋体" charset="-122"/>
              </a:rPr>
              <a:t>env:Header</a:t>
            </a:r>
            <a:r>
              <a:rPr lang="en-US" altLang="zh-CN" sz="1200" dirty="0">
                <a:solidFill>
                  <a:srgbClr val="0000FF"/>
                </a:solidFill>
                <a:highlight>
                  <a:srgbClr val="FFFFFF"/>
                </a:highlight>
                <a:latin typeface="Arial"/>
                <a:ea typeface="宋体" charset="-122"/>
              </a:rPr>
              <a:t>&gt;</a:t>
            </a:r>
            <a:endParaRPr lang="en-US" altLang="zh-CN" sz="12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ea typeface="宋体" charset="-122"/>
              </a:rPr>
              <a:t>    </a:t>
            </a:r>
            <a:r>
              <a:rPr lang="en-US" altLang="zh-CN" sz="1200" dirty="0">
                <a:solidFill>
                  <a:srgbClr val="0000FF"/>
                </a:solidFill>
                <a:highlight>
                  <a:srgbClr val="FFFFFF"/>
                </a:highlight>
                <a:latin typeface="Arial"/>
                <a:ea typeface="宋体" charset="-122"/>
              </a:rPr>
              <a:t>&lt;</a:t>
            </a:r>
            <a:r>
              <a:rPr lang="en-US" altLang="zh-CN" sz="1200" dirty="0">
                <a:solidFill>
                  <a:srgbClr val="800000"/>
                </a:solidFill>
                <a:highlight>
                  <a:srgbClr val="FFFFFF"/>
                </a:highlight>
                <a:latin typeface="Arial"/>
                <a:ea typeface="宋体" charset="-122"/>
              </a:rPr>
              <a:t>t:transaction</a:t>
            </a:r>
            <a:endParaRPr lang="en-US" altLang="zh-CN" sz="1200" dirty="0">
              <a:solidFill>
                <a:srgbClr val="FF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ea typeface="宋体" charset="-122"/>
              </a:rPr>
              <a:t>       </a:t>
            </a:r>
            <a:r>
              <a:rPr lang="en-US" altLang="zh-CN" sz="1200" dirty="0" err="1">
                <a:solidFill>
                  <a:srgbClr val="FF0000"/>
                </a:solidFill>
                <a:highlight>
                  <a:srgbClr val="FFFFFF"/>
                </a:highlight>
                <a:latin typeface="Arial"/>
                <a:ea typeface="宋体" charset="-122"/>
              </a:rPr>
              <a:t>xmlns:t</a:t>
            </a:r>
            <a:r>
              <a:rPr lang="en-US" altLang="zh-CN" sz="1200" dirty="0">
                <a:solidFill>
                  <a:srgbClr val="0000FF"/>
                </a:solidFill>
                <a:highlight>
                  <a:srgbClr val="FFFFFF"/>
                </a:highlight>
                <a:latin typeface="Arial"/>
                <a:ea typeface="宋体" charset="-122"/>
              </a:rPr>
              <a:t>="</a:t>
            </a:r>
            <a:r>
              <a:rPr lang="en-US" altLang="zh-CN" sz="1200" dirty="0">
                <a:solidFill>
                  <a:srgbClr val="000000"/>
                </a:solidFill>
                <a:highlight>
                  <a:srgbClr val="FFFFFF"/>
                </a:highlight>
                <a:latin typeface="Arial"/>
                <a:ea typeface="宋体" charset="-122"/>
              </a:rPr>
              <a:t>http://thirdparty.example.org/transaction</a:t>
            </a:r>
            <a:r>
              <a:rPr lang="en-US" altLang="zh-CN" sz="1200" dirty="0">
                <a:solidFill>
                  <a:srgbClr val="0000FF"/>
                </a:solidFill>
                <a:highlight>
                  <a:srgbClr val="FFFFFF"/>
                </a:highlight>
                <a:latin typeface="Arial"/>
                <a:ea typeface="宋体" charset="-122"/>
              </a:rPr>
              <a:t>"</a:t>
            </a:r>
            <a:endParaRPr lang="en-US" altLang="zh-CN" sz="1200" dirty="0">
              <a:solidFill>
                <a:srgbClr val="FF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ea typeface="宋体" charset="-122"/>
              </a:rPr>
              <a:t>         </a:t>
            </a:r>
            <a:r>
              <a:rPr lang="en-US" altLang="zh-CN" sz="1200" dirty="0" err="1">
                <a:solidFill>
                  <a:srgbClr val="FF0000"/>
                </a:solidFill>
                <a:highlight>
                  <a:srgbClr val="FFFFFF"/>
                </a:highlight>
                <a:latin typeface="Arial"/>
                <a:ea typeface="宋体" charset="-122"/>
              </a:rPr>
              <a:t>env:encodingStyle</a:t>
            </a:r>
            <a:r>
              <a:rPr lang="en-US" altLang="zh-CN" sz="1200" dirty="0">
                <a:solidFill>
                  <a:srgbClr val="0000FF"/>
                </a:solidFill>
                <a:highlight>
                  <a:srgbClr val="FFFFFF"/>
                </a:highlight>
                <a:latin typeface="Arial"/>
                <a:ea typeface="宋体" charset="-122"/>
              </a:rPr>
              <a:t>="</a:t>
            </a:r>
            <a:r>
              <a:rPr lang="en-US" altLang="zh-CN" sz="1200" dirty="0">
                <a:solidFill>
                  <a:srgbClr val="000000"/>
                </a:solidFill>
                <a:highlight>
                  <a:srgbClr val="FFFFFF"/>
                </a:highlight>
                <a:latin typeface="Arial"/>
                <a:ea typeface="宋体" charset="-122"/>
              </a:rPr>
              <a:t>http://example.com/encoding</a:t>
            </a:r>
            <a:r>
              <a:rPr lang="en-US" altLang="zh-CN" sz="1200" dirty="0">
                <a:solidFill>
                  <a:srgbClr val="0000FF"/>
                </a:solidFill>
                <a:highlight>
                  <a:srgbClr val="FFFFFF"/>
                </a:highlight>
                <a:latin typeface="Arial"/>
                <a:ea typeface="宋体" charset="-122"/>
              </a:rPr>
              <a:t>"</a:t>
            </a:r>
            <a:endParaRPr lang="en-US" altLang="zh-CN" sz="1200" dirty="0">
              <a:solidFill>
                <a:srgbClr val="FF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ea typeface="宋体" charset="-122"/>
              </a:rPr>
              <a:t>          </a:t>
            </a:r>
            <a:r>
              <a:rPr lang="en-US" altLang="zh-CN" sz="1200" dirty="0" err="1">
                <a:solidFill>
                  <a:srgbClr val="FF0000"/>
                </a:solidFill>
                <a:highlight>
                  <a:srgbClr val="FFFFFF"/>
                </a:highlight>
                <a:latin typeface="Arial"/>
                <a:ea typeface="宋体" charset="-122"/>
              </a:rPr>
              <a:t>env:mustUnderstand</a:t>
            </a:r>
            <a:r>
              <a:rPr lang="en-US" altLang="zh-CN" sz="1200" dirty="0">
                <a:solidFill>
                  <a:srgbClr val="0000FF"/>
                </a:solidFill>
                <a:highlight>
                  <a:srgbClr val="FFFFFF"/>
                </a:highlight>
                <a:latin typeface="Arial"/>
                <a:ea typeface="宋体" charset="-122"/>
              </a:rPr>
              <a:t>="</a:t>
            </a:r>
            <a:r>
              <a:rPr lang="en-US" altLang="zh-CN" sz="1200" dirty="0">
                <a:solidFill>
                  <a:srgbClr val="000000"/>
                </a:solidFill>
                <a:highlight>
                  <a:srgbClr val="FFFFFF"/>
                </a:highlight>
                <a:latin typeface="Arial"/>
                <a:ea typeface="宋体" charset="-122"/>
              </a:rPr>
              <a:t>true</a:t>
            </a:r>
            <a:r>
              <a:rPr lang="en-US" altLang="zh-CN" sz="1200" dirty="0">
                <a:solidFill>
                  <a:srgbClr val="0000FF"/>
                </a:solidFill>
                <a:highlight>
                  <a:srgbClr val="FFFFFF"/>
                </a:highlight>
                <a:latin typeface="Arial"/>
                <a:ea typeface="宋体" charset="-122"/>
              </a:rPr>
              <a:t>"&gt;</a:t>
            </a:r>
            <a:r>
              <a:rPr lang="en-US" altLang="zh-CN" sz="1200" dirty="0">
                <a:solidFill>
                  <a:srgbClr val="000000"/>
                </a:solidFill>
                <a:highlight>
                  <a:srgbClr val="FFFFFF"/>
                </a:highlight>
                <a:latin typeface="Arial"/>
                <a:ea typeface="宋体" charset="-122"/>
              </a:rPr>
              <a:t>5</a:t>
            </a:r>
            <a:r>
              <a:rPr lang="en-US" altLang="zh-CN" sz="1200" dirty="0">
                <a:solidFill>
                  <a:srgbClr val="0000FF"/>
                </a:solidFill>
                <a:highlight>
                  <a:srgbClr val="FFFFFF"/>
                </a:highlight>
                <a:latin typeface="Arial"/>
                <a:ea typeface="宋体" charset="-122"/>
              </a:rPr>
              <a:t>&lt;/</a:t>
            </a:r>
            <a:r>
              <a:rPr lang="en-US" altLang="zh-CN" sz="1200" dirty="0">
                <a:solidFill>
                  <a:srgbClr val="800000"/>
                </a:solidFill>
                <a:highlight>
                  <a:srgbClr val="FFFFFF"/>
                </a:highlight>
                <a:latin typeface="Arial"/>
                <a:ea typeface="宋体" charset="-122"/>
              </a:rPr>
              <a:t>t:transaction</a:t>
            </a:r>
            <a:r>
              <a:rPr lang="en-US" altLang="zh-CN" sz="1200" dirty="0">
                <a:solidFill>
                  <a:srgbClr val="0000FF"/>
                </a:solidFill>
                <a:highlight>
                  <a:srgbClr val="FFFFFF"/>
                </a:highlight>
                <a:latin typeface="Arial"/>
                <a:ea typeface="宋体" charset="-122"/>
              </a:rPr>
              <a:t>&gt;</a:t>
            </a:r>
            <a:endParaRPr lang="en-US" altLang="zh-CN" sz="12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ea typeface="宋体" charset="-122"/>
              </a:rPr>
              <a:t> </a:t>
            </a:r>
            <a:r>
              <a:rPr lang="en-US" altLang="zh-CN" sz="1200" dirty="0">
                <a:solidFill>
                  <a:srgbClr val="0000FF"/>
                </a:solidFill>
                <a:highlight>
                  <a:srgbClr val="FFFFFF"/>
                </a:highlight>
                <a:latin typeface="Arial"/>
                <a:ea typeface="宋体" charset="-122"/>
              </a:rPr>
              <a:t>&lt;/</a:t>
            </a:r>
            <a:r>
              <a:rPr lang="en-US" altLang="zh-CN" sz="1200" dirty="0" err="1">
                <a:solidFill>
                  <a:srgbClr val="800000"/>
                </a:solidFill>
                <a:highlight>
                  <a:srgbClr val="FFFFFF"/>
                </a:highlight>
                <a:latin typeface="Arial"/>
                <a:ea typeface="宋体" charset="-122"/>
              </a:rPr>
              <a:t>env:Header</a:t>
            </a:r>
            <a:r>
              <a:rPr lang="en-US" altLang="zh-CN" sz="1200" dirty="0">
                <a:solidFill>
                  <a:srgbClr val="0000FF"/>
                </a:solidFill>
                <a:highlight>
                  <a:srgbClr val="FFFFFF"/>
                </a:highlight>
                <a:latin typeface="Arial"/>
                <a:ea typeface="宋体" charset="-122"/>
              </a:rPr>
              <a:t>&gt;</a:t>
            </a:r>
            <a:r>
              <a:rPr lang="en-US" altLang="zh-CN" sz="1200" dirty="0">
                <a:solidFill>
                  <a:srgbClr val="000000"/>
                </a:solidFill>
                <a:highlight>
                  <a:srgbClr val="FFFFFF"/>
                </a:highlight>
                <a:latin typeface="Arial"/>
                <a:ea typeface="宋体" charset="-122"/>
              </a:rPr>
              <a:t>  </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ea typeface="宋体" charset="-122"/>
              </a:rPr>
              <a:t> </a:t>
            </a:r>
            <a:r>
              <a:rPr lang="en-US" altLang="zh-CN" sz="1200" dirty="0">
                <a:solidFill>
                  <a:srgbClr val="0000FF"/>
                </a:solidFill>
                <a:highlight>
                  <a:srgbClr val="FFFFFF"/>
                </a:highlight>
                <a:latin typeface="Arial"/>
                <a:ea typeface="宋体" charset="-122"/>
              </a:rPr>
              <a:t>&lt;</a:t>
            </a:r>
            <a:r>
              <a:rPr lang="en-US" altLang="zh-CN" sz="1200" dirty="0" err="1">
                <a:solidFill>
                  <a:srgbClr val="800000"/>
                </a:solidFill>
                <a:highlight>
                  <a:srgbClr val="FFFFFF"/>
                </a:highlight>
                <a:latin typeface="Arial"/>
                <a:ea typeface="宋体" charset="-122"/>
              </a:rPr>
              <a:t>env:Body</a:t>
            </a:r>
            <a:r>
              <a:rPr lang="en-US" altLang="zh-CN" sz="1200" dirty="0">
                <a:solidFill>
                  <a:srgbClr val="0000FF"/>
                </a:solidFill>
                <a:highlight>
                  <a:srgbClr val="FFFFFF"/>
                </a:highlight>
                <a:latin typeface="Arial"/>
                <a:ea typeface="宋体" charset="-122"/>
              </a:rPr>
              <a:t>&gt;</a:t>
            </a:r>
            <a:endParaRPr lang="en-US" altLang="zh-CN" sz="12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ea typeface="宋体" charset="-122"/>
              </a:rPr>
              <a:t>    </a:t>
            </a:r>
            <a:r>
              <a:rPr lang="en-US" altLang="zh-CN" sz="1200" dirty="0">
                <a:solidFill>
                  <a:srgbClr val="0000FF"/>
                </a:solidFill>
                <a:highlight>
                  <a:srgbClr val="FFFFFF"/>
                </a:highlight>
                <a:latin typeface="Arial"/>
                <a:ea typeface="宋体" charset="-122"/>
              </a:rPr>
              <a:t>&lt;</a:t>
            </a:r>
            <a:r>
              <a:rPr lang="en-US" altLang="zh-CN" sz="1200" dirty="0">
                <a:solidFill>
                  <a:srgbClr val="800000"/>
                </a:solidFill>
                <a:highlight>
                  <a:srgbClr val="FFFFFF"/>
                </a:highlight>
                <a:latin typeface="Arial"/>
                <a:ea typeface="宋体" charset="-122"/>
              </a:rPr>
              <a:t>m:chargeReservationResponse</a:t>
            </a:r>
            <a:r>
              <a:rPr lang="en-US" altLang="zh-CN" sz="1200" dirty="0">
                <a:solidFill>
                  <a:srgbClr val="FF0000"/>
                </a:solidFill>
                <a:highlight>
                  <a:srgbClr val="FFFFFF"/>
                </a:highlight>
                <a:latin typeface="Arial"/>
                <a:ea typeface="宋体" charset="-122"/>
              </a:rPr>
              <a:t> </a:t>
            </a: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ea typeface="宋体" charset="-122"/>
              </a:rPr>
              <a:t>       </a:t>
            </a:r>
            <a:r>
              <a:rPr lang="en-US" altLang="zh-CN" sz="1200" dirty="0" err="1">
                <a:solidFill>
                  <a:srgbClr val="FF0000"/>
                </a:solidFill>
                <a:highlight>
                  <a:srgbClr val="FFFFFF"/>
                </a:highlight>
                <a:latin typeface="Arial"/>
                <a:ea typeface="宋体" charset="-122"/>
              </a:rPr>
              <a:t>env:encodingStyle</a:t>
            </a:r>
            <a:r>
              <a:rPr lang="en-US" altLang="zh-CN" sz="1200" dirty="0">
                <a:solidFill>
                  <a:srgbClr val="0000FF"/>
                </a:solidFill>
                <a:highlight>
                  <a:srgbClr val="FFFFFF"/>
                </a:highlight>
                <a:latin typeface="Arial"/>
                <a:ea typeface="宋体" charset="-122"/>
              </a:rPr>
              <a:t>="</a:t>
            </a:r>
            <a:r>
              <a:rPr lang="en-US" altLang="zh-CN" sz="1200" dirty="0">
                <a:solidFill>
                  <a:srgbClr val="000000"/>
                </a:solidFill>
                <a:highlight>
                  <a:srgbClr val="FFFFFF"/>
                </a:highlight>
                <a:latin typeface="Arial"/>
                <a:ea typeface="宋体" charset="-122"/>
              </a:rPr>
              <a:t>http://www.w3.org/2003/05/soap-encoding</a:t>
            </a:r>
            <a:r>
              <a:rPr lang="en-US" altLang="zh-CN" sz="1200" dirty="0">
                <a:solidFill>
                  <a:srgbClr val="0000FF"/>
                </a:solidFill>
                <a:highlight>
                  <a:srgbClr val="FFFFFF"/>
                </a:highlight>
                <a:latin typeface="Arial"/>
                <a:ea typeface="宋体" charset="-122"/>
              </a:rPr>
              <a:t>"</a:t>
            </a:r>
            <a:endParaRPr lang="en-US" altLang="zh-CN" sz="1200" dirty="0">
              <a:solidFill>
                <a:srgbClr val="FF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ea typeface="宋体" charset="-122"/>
              </a:rPr>
              <a:t>           </a:t>
            </a:r>
            <a:r>
              <a:rPr lang="en-US" altLang="zh-CN" sz="1200" dirty="0" err="1">
                <a:solidFill>
                  <a:srgbClr val="FF0000"/>
                </a:solidFill>
                <a:highlight>
                  <a:srgbClr val="FFFFFF"/>
                </a:highlight>
                <a:latin typeface="Arial"/>
                <a:ea typeface="宋体" charset="-122"/>
              </a:rPr>
              <a:t>xmlns:rpc</a:t>
            </a:r>
            <a:r>
              <a:rPr lang="en-US" altLang="zh-CN" sz="1200" dirty="0">
                <a:solidFill>
                  <a:srgbClr val="0000FF"/>
                </a:solidFill>
                <a:highlight>
                  <a:srgbClr val="FFFFFF"/>
                </a:highlight>
                <a:latin typeface="Arial"/>
                <a:ea typeface="宋体" charset="-122"/>
              </a:rPr>
              <a:t>="</a:t>
            </a:r>
            <a:r>
              <a:rPr lang="en-US" altLang="zh-CN" sz="1200" dirty="0">
                <a:solidFill>
                  <a:srgbClr val="000000"/>
                </a:solidFill>
                <a:highlight>
                  <a:srgbClr val="FFFFFF"/>
                </a:highlight>
                <a:latin typeface="Arial"/>
                <a:ea typeface="宋体" charset="-122"/>
              </a:rPr>
              <a:t>http://www.w3.org/2003/05/soap-rpc</a:t>
            </a:r>
            <a:r>
              <a:rPr lang="en-US" altLang="zh-CN" sz="1200" dirty="0">
                <a:solidFill>
                  <a:srgbClr val="0000FF"/>
                </a:solidFill>
                <a:highlight>
                  <a:srgbClr val="FFFFFF"/>
                </a:highlight>
                <a:latin typeface="Arial"/>
                <a:ea typeface="宋体" charset="-122"/>
              </a:rPr>
              <a:t>"</a:t>
            </a:r>
            <a:endParaRPr lang="en-US" altLang="zh-CN" sz="1200" dirty="0">
              <a:solidFill>
                <a:srgbClr val="FF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ea typeface="宋体" charset="-122"/>
              </a:rPr>
              <a:t>             </a:t>
            </a:r>
            <a:r>
              <a:rPr lang="en-US" altLang="zh-CN" sz="1200" dirty="0" err="1">
                <a:solidFill>
                  <a:srgbClr val="FF0000"/>
                </a:solidFill>
                <a:highlight>
                  <a:srgbClr val="FFFFFF"/>
                </a:highlight>
                <a:latin typeface="Arial"/>
                <a:ea typeface="宋体" charset="-122"/>
              </a:rPr>
              <a:t>xmlns:m</a:t>
            </a:r>
            <a:r>
              <a:rPr lang="en-US" altLang="zh-CN" sz="1200" dirty="0">
                <a:solidFill>
                  <a:srgbClr val="0000FF"/>
                </a:solidFill>
                <a:highlight>
                  <a:srgbClr val="FFFFFF"/>
                </a:highlight>
                <a:latin typeface="Arial"/>
                <a:ea typeface="宋体" charset="-122"/>
              </a:rPr>
              <a:t>="</a:t>
            </a:r>
            <a:r>
              <a:rPr lang="en-US" altLang="zh-CN" sz="1200" dirty="0">
                <a:solidFill>
                  <a:srgbClr val="000000"/>
                </a:solidFill>
                <a:highlight>
                  <a:srgbClr val="FFFFFF"/>
                </a:highlight>
                <a:latin typeface="Arial"/>
                <a:ea typeface="宋体" charset="-122"/>
              </a:rPr>
              <a:t>http://travelcompany.example.org/</a:t>
            </a:r>
            <a:r>
              <a:rPr lang="en-US" altLang="zh-CN" sz="1200" dirty="0">
                <a:solidFill>
                  <a:srgbClr val="0000FF"/>
                </a:solidFill>
                <a:highlight>
                  <a:srgbClr val="FFFFFF"/>
                </a:highlight>
                <a:latin typeface="Arial"/>
                <a:ea typeface="宋体" charset="-122"/>
              </a:rPr>
              <a:t>"&gt;</a:t>
            </a:r>
            <a:endParaRPr lang="en-US" altLang="zh-CN" sz="12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ea typeface="宋体" charset="-122"/>
              </a:rPr>
              <a:t>       </a:t>
            </a:r>
            <a:r>
              <a:rPr lang="en-US" altLang="zh-CN" sz="1200" dirty="0">
                <a:solidFill>
                  <a:srgbClr val="0000FF"/>
                </a:solidFill>
                <a:highlight>
                  <a:srgbClr val="FFFFFF"/>
                </a:highlight>
                <a:latin typeface="Arial"/>
                <a:ea typeface="宋体" charset="-122"/>
              </a:rPr>
              <a:t>&lt;</a:t>
            </a:r>
            <a:r>
              <a:rPr lang="en-US" altLang="zh-CN" sz="1200" dirty="0" err="1">
                <a:solidFill>
                  <a:srgbClr val="800000"/>
                </a:solidFill>
                <a:highlight>
                  <a:srgbClr val="FFFFFF"/>
                </a:highlight>
                <a:latin typeface="Arial"/>
                <a:ea typeface="宋体" charset="-122"/>
              </a:rPr>
              <a:t>rpc:result</a:t>
            </a:r>
            <a:r>
              <a:rPr lang="en-US" altLang="zh-CN" sz="1200" dirty="0">
                <a:solidFill>
                  <a:srgbClr val="0000FF"/>
                </a:solidFill>
                <a:highlight>
                  <a:srgbClr val="FFFFFF"/>
                </a:highlight>
                <a:latin typeface="Arial"/>
                <a:ea typeface="宋体" charset="-122"/>
              </a:rPr>
              <a:t>&gt;</a:t>
            </a:r>
            <a:r>
              <a:rPr lang="en-US" altLang="zh-CN" sz="1200" dirty="0">
                <a:solidFill>
                  <a:srgbClr val="000000"/>
                </a:solidFill>
                <a:highlight>
                  <a:srgbClr val="FFFFFF"/>
                </a:highlight>
                <a:latin typeface="Arial"/>
                <a:ea typeface="宋体" charset="-122"/>
              </a:rPr>
              <a:t>m:status</a:t>
            </a:r>
            <a:r>
              <a:rPr lang="en-US" altLang="zh-CN" sz="1200" dirty="0">
                <a:solidFill>
                  <a:srgbClr val="0000FF"/>
                </a:solidFill>
                <a:highlight>
                  <a:srgbClr val="FFFFFF"/>
                </a:highlight>
                <a:latin typeface="Arial"/>
                <a:ea typeface="宋体" charset="-122"/>
              </a:rPr>
              <a:t>&lt;/</a:t>
            </a:r>
            <a:r>
              <a:rPr lang="en-US" altLang="zh-CN" sz="1200" dirty="0" err="1">
                <a:solidFill>
                  <a:srgbClr val="800000"/>
                </a:solidFill>
                <a:highlight>
                  <a:srgbClr val="FFFFFF"/>
                </a:highlight>
                <a:latin typeface="Arial"/>
                <a:ea typeface="宋体" charset="-122"/>
              </a:rPr>
              <a:t>rpc:result</a:t>
            </a:r>
            <a:r>
              <a:rPr lang="en-US" altLang="zh-CN" sz="1200" dirty="0">
                <a:solidFill>
                  <a:srgbClr val="0000FF"/>
                </a:solidFill>
                <a:highlight>
                  <a:srgbClr val="FFFFFF"/>
                </a:highlight>
                <a:latin typeface="Arial"/>
                <a:ea typeface="宋体" charset="-122"/>
              </a:rPr>
              <a:t>&gt;</a:t>
            </a:r>
            <a:endParaRPr lang="en-US" altLang="zh-CN" sz="12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ea typeface="宋体" charset="-122"/>
              </a:rPr>
              <a:t>       </a:t>
            </a:r>
            <a:r>
              <a:rPr lang="en-US" altLang="zh-CN" sz="1200" dirty="0">
                <a:solidFill>
                  <a:srgbClr val="0000FF"/>
                </a:solidFill>
                <a:highlight>
                  <a:srgbClr val="FFFFFF"/>
                </a:highlight>
                <a:latin typeface="Arial"/>
                <a:ea typeface="宋体" charset="-122"/>
              </a:rPr>
              <a:t>&lt;</a:t>
            </a:r>
            <a:r>
              <a:rPr lang="en-US" altLang="zh-CN" sz="1200" dirty="0">
                <a:solidFill>
                  <a:srgbClr val="800000"/>
                </a:solidFill>
                <a:highlight>
                  <a:srgbClr val="FFFFFF"/>
                </a:highlight>
                <a:latin typeface="Arial"/>
                <a:ea typeface="宋体" charset="-122"/>
              </a:rPr>
              <a:t>m:status</a:t>
            </a:r>
            <a:r>
              <a:rPr lang="en-US" altLang="zh-CN" sz="1200" dirty="0">
                <a:solidFill>
                  <a:srgbClr val="0000FF"/>
                </a:solidFill>
                <a:highlight>
                  <a:srgbClr val="FFFFFF"/>
                </a:highlight>
                <a:latin typeface="Arial"/>
                <a:ea typeface="宋体" charset="-122"/>
              </a:rPr>
              <a:t>&gt;</a:t>
            </a:r>
            <a:r>
              <a:rPr lang="en-US" altLang="zh-CN" sz="1200" dirty="0">
                <a:solidFill>
                  <a:srgbClr val="000000"/>
                </a:solidFill>
                <a:highlight>
                  <a:srgbClr val="FFFFFF"/>
                </a:highlight>
                <a:latin typeface="Arial"/>
                <a:ea typeface="宋体" charset="-122"/>
              </a:rPr>
              <a:t>confirmed</a:t>
            </a:r>
            <a:r>
              <a:rPr lang="en-US" altLang="zh-CN" sz="1200" dirty="0">
                <a:solidFill>
                  <a:srgbClr val="0000FF"/>
                </a:solidFill>
                <a:highlight>
                  <a:srgbClr val="FFFFFF"/>
                </a:highlight>
                <a:latin typeface="Arial"/>
                <a:ea typeface="宋体" charset="-122"/>
              </a:rPr>
              <a:t>&lt;/</a:t>
            </a:r>
            <a:r>
              <a:rPr lang="en-US" altLang="zh-CN" sz="1200" dirty="0">
                <a:solidFill>
                  <a:srgbClr val="800000"/>
                </a:solidFill>
                <a:highlight>
                  <a:srgbClr val="FFFFFF"/>
                </a:highlight>
                <a:latin typeface="Arial"/>
                <a:ea typeface="宋体" charset="-122"/>
              </a:rPr>
              <a:t>m:status</a:t>
            </a:r>
            <a:r>
              <a:rPr lang="en-US" altLang="zh-CN" sz="1200" dirty="0">
                <a:solidFill>
                  <a:srgbClr val="0000FF"/>
                </a:solidFill>
                <a:highlight>
                  <a:srgbClr val="FFFFFF"/>
                </a:highlight>
                <a:latin typeface="Arial"/>
                <a:ea typeface="宋体" charset="-122"/>
              </a:rPr>
              <a:t>&gt;</a:t>
            </a:r>
            <a:endParaRPr lang="en-US" altLang="zh-CN" sz="12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ea typeface="宋体" charset="-122"/>
              </a:rPr>
              <a:t>       </a:t>
            </a:r>
            <a:r>
              <a:rPr lang="en-US" altLang="zh-CN" sz="1200" dirty="0">
                <a:solidFill>
                  <a:srgbClr val="0000FF"/>
                </a:solidFill>
                <a:highlight>
                  <a:srgbClr val="FFFFFF"/>
                </a:highlight>
                <a:latin typeface="Arial"/>
                <a:ea typeface="宋体" charset="-122"/>
              </a:rPr>
              <a:t>&lt;</a:t>
            </a:r>
            <a:r>
              <a:rPr lang="en-US" altLang="zh-CN" sz="1200" dirty="0">
                <a:solidFill>
                  <a:srgbClr val="800000"/>
                </a:solidFill>
                <a:highlight>
                  <a:srgbClr val="FFFFFF"/>
                </a:highlight>
                <a:latin typeface="Arial"/>
                <a:ea typeface="宋体" charset="-122"/>
              </a:rPr>
              <a:t>m:code</a:t>
            </a:r>
            <a:r>
              <a:rPr lang="en-US" altLang="zh-CN" sz="1200" dirty="0">
                <a:solidFill>
                  <a:srgbClr val="0000FF"/>
                </a:solidFill>
                <a:highlight>
                  <a:srgbClr val="FFFFFF"/>
                </a:highlight>
                <a:latin typeface="Arial"/>
                <a:ea typeface="宋体" charset="-122"/>
              </a:rPr>
              <a:t>&gt;</a:t>
            </a:r>
            <a:r>
              <a:rPr lang="en-US" altLang="zh-CN" sz="1200" dirty="0">
                <a:solidFill>
                  <a:srgbClr val="000000"/>
                </a:solidFill>
                <a:highlight>
                  <a:srgbClr val="FFFFFF"/>
                </a:highlight>
                <a:latin typeface="Arial"/>
                <a:ea typeface="宋体" charset="-122"/>
              </a:rPr>
              <a:t>FT35ZBQ</a:t>
            </a:r>
            <a:r>
              <a:rPr lang="en-US" altLang="zh-CN" sz="1200" dirty="0">
                <a:solidFill>
                  <a:srgbClr val="0000FF"/>
                </a:solidFill>
                <a:highlight>
                  <a:srgbClr val="FFFFFF"/>
                </a:highlight>
                <a:latin typeface="Arial"/>
                <a:ea typeface="宋体" charset="-122"/>
              </a:rPr>
              <a:t>&lt;/</a:t>
            </a:r>
            <a:r>
              <a:rPr lang="en-US" altLang="zh-CN" sz="1200" dirty="0">
                <a:solidFill>
                  <a:srgbClr val="800000"/>
                </a:solidFill>
                <a:highlight>
                  <a:srgbClr val="FFFFFF"/>
                </a:highlight>
                <a:latin typeface="Arial"/>
                <a:ea typeface="宋体" charset="-122"/>
              </a:rPr>
              <a:t>m:code</a:t>
            </a:r>
            <a:r>
              <a:rPr lang="en-US" altLang="zh-CN" sz="1200" dirty="0">
                <a:solidFill>
                  <a:srgbClr val="0000FF"/>
                </a:solidFill>
                <a:highlight>
                  <a:srgbClr val="FFFFFF"/>
                </a:highlight>
                <a:latin typeface="Arial"/>
                <a:ea typeface="宋体" charset="-122"/>
              </a:rPr>
              <a:t>&gt;</a:t>
            </a:r>
            <a:endParaRPr lang="en-US" altLang="zh-CN" sz="12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ea typeface="宋体" charset="-122"/>
              </a:rPr>
              <a:t>       </a:t>
            </a:r>
            <a:r>
              <a:rPr lang="en-US" altLang="zh-CN" sz="1200" dirty="0">
                <a:solidFill>
                  <a:srgbClr val="0000FF"/>
                </a:solidFill>
                <a:highlight>
                  <a:srgbClr val="FFFFFF"/>
                </a:highlight>
                <a:latin typeface="Arial"/>
                <a:ea typeface="宋体" charset="-122"/>
              </a:rPr>
              <a:t>&lt;</a:t>
            </a:r>
            <a:r>
              <a:rPr lang="en-US" altLang="zh-CN" sz="1200" dirty="0">
                <a:solidFill>
                  <a:srgbClr val="800000"/>
                </a:solidFill>
                <a:highlight>
                  <a:srgbClr val="FFFFFF"/>
                </a:highlight>
                <a:latin typeface="Arial"/>
                <a:ea typeface="宋体" charset="-122"/>
              </a:rPr>
              <a:t>m:viewAt</a:t>
            </a:r>
            <a:r>
              <a:rPr lang="en-US" altLang="zh-CN" sz="1200" dirty="0">
                <a:solidFill>
                  <a:srgbClr val="0000FF"/>
                </a:solidFill>
                <a:highlight>
                  <a:srgbClr val="FFFFFF"/>
                </a:highlight>
                <a:latin typeface="Arial"/>
                <a:ea typeface="宋体" charset="-122"/>
              </a:rPr>
              <a:t>&gt;</a:t>
            </a:r>
            <a:endParaRPr lang="en-US" altLang="zh-CN" sz="12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ea typeface="宋体" charset="-122"/>
              </a:rPr>
              <a:t>        http://travelcompany.example.org/reservations?code=FT35ZBQ</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ea typeface="宋体" charset="-122"/>
              </a:rPr>
              <a:t>       </a:t>
            </a:r>
            <a:r>
              <a:rPr lang="en-US" altLang="zh-CN" sz="1200" dirty="0">
                <a:solidFill>
                  <a:srgbClr val="0000FF"/>
                </a:solidFill>
                <a:highlight>
                  <a:srgbClr val="FFFFFF"/>
                </a:highlight>
                <a:latin typeface="Arial"/>
                <a:ea typeface="宋体" charset="-122"/>
              </a:rPr>
              <a:t>&lt;/</a:t>
            </a:r>
            <a:r>
              <a:rPr lang="en-US" altLang="zh-CN" sz="1200" dirty="0">
                <a:solidFill>
                  <a:srgbClr val="800000"/>
                </a:solidFill>
                <a:highlight>
                  <a:srgbClr val="FFFFFF"/>
                </a:highlight>
                <a:latin typeface="Arial"/>
                <a:ea typeface="宋体" charset="-122"/>
              </a:rPr>
              <a:t>m:viewAt</a:t>
            </a:r>
            <a:r>
              <a:rPr lang="en-US" altLang="zh-CN" sz="1200" dirty="0">
                <a:solidFill>
                  <a:srgbClr val="0000FF"/>
                </a:solidFill>
                <a:highlight>
                  <a:srgbClr val="FFFFFF"/>
                </a:highlight>
                <a:latin typeface="Arial"/>
                <a:ea typeface="宋体" charset="-122"/>
              </a:rPr>
              <a:t>&gt;</a:t>
            </a:r>
            <a:endParaRPr lang="en-US" altLang="zh-CN" sz="12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ea typeface="宋体" charset="-122"/>
              </a:rPr>
              <a:t>    </a:t>
            </a:r>
            <a:r>
              <a:rPr lang="en-US" altLang="zh-CN" sz="1200" dirty="0">
                <a:solidFill>
                  <a:srgbClr val="0000FF"/>
                </a:solidFill>
                <a:highlight>
                  <a:srgbClr val="FFFFFF"/>
                </a:highlight>
                <a:latin typeface="Arial"/>
                <a:ea typeface="宋体" charset="-122"/>
              </a:rPr>
              <a:t>&lt;/</a:t>
            </a:r>
            <a:r>
              <a:rPr lang="en-US" altLang="zh-CN" sz="1200" dirty="0">
                <a:solidFill>
                  <a:srgbClr val="800000"/>
                </a:solidFill>
                <a:highlight>
                  <a:srgbClr val="FFFFFF"/>
                </a:highlight>
                <a:latin typeface="Arial"/>
                <a:ea typeface="宋体" charset="-122"/>
              </a:rPr>
              <a:t>m:chargeReservationResponse</a:t>
            </a:r>
            <a:r>
              <a:rPr lang="en-US" altLang="zh-CN" sz="1200" dirty="0">
                <a:solidFill>
                  <a:srgbClr val="0000FF"/>
                </a:solidFill>
                <a:highlight>
                  <a:srgbClr val="FFFFFF"/>
                </a:highlight>
                <a:latin typeface="Arial"/>
                <a:ea typeface="宋体" charset="-122"/>
              </a:rPr>
              <a:t>&gt;</a:t>
            </a:r>
            <a:endParaRPr lang="en-US" altLang="zh-CN" sz="12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ea typeface="宋体" charset="-122"/>
              </a:rPr>
              <a:t> </a:t>
            </a:r>
            <a:r>
              <a:rPr lang="en-US" altLang="zh-CN" sz="1200" dirty="0">
                <a:solidFill>
                  <a:srgbClr val="0000FF"/>
                </a:solidFill>
                <a:highlight>
                  <a:srgbClr val="FFFFFF"/>
                </a:highlight>
                <a:latin typeface="Arial"/>
                <a:ea typeface="宋体" charset="-122"/>
              </a:rPr>
              <a:t>&lt;/</a:t>
            </a:r>
            <a:r>
              <a:rPr lang="en-US" altLang="zh-CN" sz="1200" dirty="0" err="1">
                <a:solidFill>
                  <a:srgbClr val="800000"/>
                </a:solidFill>
                <a:highlight>
                  <a:srgbClr val="FFFFFF"/>
                </a:highlight>
                <a:latin typeface="Arial"/>
                <a:ea typeface="宋体" charset="-122"/>
              </a:rPr>
              <a:t>env:Body</a:t>
            </a:r>
            <a:r>
              <a:rPr lang="en-US" altLang="zh-CN" sz="1200" dirty="0">
                <a:solidFill>
                  <a:srgbClr val="0000FF"/>
                </a:solidFill>
                <a:highlight>
                  <a:srgbClr val="FFFFFF"/>
                </a:highlight>
                <a:latin typeface="Arial"/>
                <a:ea typeface="宋体" charset="-122"/>
              </a:rPr>
              <a:t>&gt;</a:t>
            </a:r>
            <a:endParaRPr lang="en-US" altLang="zh-CN" sz="12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ea typeface="宋体" charset="-122"/>
              </a:rPr>
              <a:t>&lt;/</a:t>
            </a:r>
            <a:r>
              <a:rPr lang="en-US" altLang="zh-CN" sz="1200" dirty="0" err="1">
                <a:solidFill>
                  <a:srgbClr val="800000"/>
                </a:solidFill>
                <a:highlight>
                  <a:srgbClr val="FFFFFF"/>
                </a:highlight>
                <a:latin typeface="Arial"/>
                <a:ea typeface="宋体" charset="-122"/>
              </a:rPr>
              <a:t>env:Envelope</a:t>
            </a:r>
            <a:r>
              <a:rPr lang="en-US" altLang="zh-CN" sz="1200" dirty="0">
                <a:solidFill>
                  <a:srgbClr val="0000FF"/>
                </a:solidFill>
                <a:highlight>
                  <a:srgbClr val="FFFFFF"/>
                </a:highlight>
                <a:latin typeface="Arial"/>
                <a:ea typeface="宋体" charset="-122"/>
              </a:rPr>
              <a:t>&gt;</a:t>
            </a:r>
            <a:endParaRPr lang="en-US" altLang="zh-CN" sz="1200" dirty="0">
              <a:solidFill>
                <a:srgbClr val="000000"/>
              </a:solidFill>
              <a:highlight>
                <a:srgbClr val="FFFFFF"/>
              </a:highlight>
              <a:latin typeface="Arial"/>
              <a:ea typeface="宋体" charset="-122"/>
            </a:endParaRPr>
          </a:p>
        </p:txBody>
      </p:sp>
      <p:sp>
        <p:nvSpPr>
          <p:cNvPr id="6" name="Line 6">
            <a:extLst>
              <a:ext uri="{FF2B5EF4-FFF2-40B4-BE49-F238E27FC236}">
                <a16:creationId xmlns:a16="http://schemas.microsoft.com/office/drawing/2014/main" id="{D3214BA7-AA24-4431-BCC0-A0161FD2328B}"/>
              </a:ext>
            </a:extLst>
          </p:cNvPr>
          <p:cNvSpPr>
            <a:spLocks noChangeShapeType="1"/>
          </p:cNvSpPr>
          <p:nvPr/>
        </p:nvSpPr>
        <p:spPr bwMode="auto">
          <a:xfrm flipH="1">
            <a:off x="2987675" y="4221163"/>
            <a:ext cx="2328863" cy="360362"/>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7">
            <a:extLst>
              <a:ext uri="{FF2B5EF4-FFF2-40B4-BE49-F238E27FC236}">
                <a16:creationId xmlns:a16="http://schemas.microsoft.com/office/drawing/2014/main" id="{B8D72705-7FD4-4112-B9E8-336A1B00A3A5}"/>
              </a:ext>
            </a:extLst>
          </p:cNvPr>
          <p:cNvSpPr txBox="1">
            <a:spLocks noChangeArrowheads="1"/>
          </p:cNvSpPr>
          <p:nvPr/>
        </p:nvSpPr>
        <p:spPr bwMode="auto">
          <a:xfrm>
            <a:off x="5300663" y="2595563"/>
            <a:ext cx="3143250" cy="325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The “return” value.</a:t>
            </a:r>
            <a:r>
              <a:rPr lang="zh-CN" altLang="en-US" sz="1800"/>
              <a:t> </a:t>
            </a:r>
            <a:r>
              <a:rPr lang="en-US" altLang="zh-CN" sz="1800"/>
              <a:t>contains the XML Qualified Name (of type xs:QName) of another element </a:t>
            </a:r>
            <a:r>
              <a:rPr lang="en-US" altLang="zh-CN" sz="1800">
                <a:hlinkClick r:id="rId3" action="ppaction://hlinkfile"/>
              </a:rPr>
              <a:t>m:status</a:t>
            </a:r>
            <a:r>
              <a:rPr lang="en-US" altLang="zh-CN" sz="1800"/>
              <a:t>, which contains the actual return value, "</a:t>
            </a:r>
            <a:r>
              <a:rPr lang="en-US" altLang="zh-CN" sz="1800" i="1"/>
              <a:t>confirmed</a:t>
            </a:r>
            <a:r>
              <a:rPr lang="en-US" altLang="zh-CN" sz="1800"/>
              <a:t>".</a:t>
            </a:r>
          </a:p>
          <a:p>
            <a:pPr eaLnBrk="1" hangingPunct="1">
              <a:buFont typeface="Wingdings" panose="05000000000000000000" pitchFamily="2" charset="2"/>
              <a:buNone/>
            </a:pPr>
            <a:r>
              <a:rPr lang="en-US" altLang="zh-CN" sz="1800"/>
              <a:t>This technique allows the actual return value to be strongly typed according to some schema</a:t>
            </a:r>
          </a:p>
          <a:p>
            <a:pPr eaLnBrk="1" hangingPunct="1">
              <a:buFont typeface="Wingdings" panose="05000000000000000000" pitchFamily="2" charset="2"/>
              <a:buNone/>
            </a:pPr>
            <a:r>
              <a:rPr lang="en-US" altLang="zh-CN" sz="1800"/>
              <a:t> </a:t>
            </a:r>
          </a:p>
        </p:txBody>
      </p:sp>
      <p:sp>
        <p:nvSpPr>
          <p:cNvPr id="9" name="Text Box 7">
            <a:extLst>
              <a:ext uri="{FF2B5EF4-FFF2-40B4-BE49-F238E27FC236}">
                <a16:creationId xmlns:a16="http://schemas.microsoft.com/office/drawing/2014/main" id="{24DD2AF1-EDFF-4771-AC03-81213BE29C46}"/>
              </a:ext>
            </a:extLst>
          </p:cNvPr>
          <p:cNvSpPr txBox="1">
            <a:spLocks noChangeArrowheads="1"/>
          </p:cNvSpPr>
          <p:nvPr/>
        </p:nvSpPr>
        <p:spPr bwMode="auto">
          <a:xfrm>
            <a:off x="5316538" y="3657600"/>
            <a:ext cx="3370262"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If absent, the return value is not present or is of the type void</a:t>
            </a:r>
          </a:p>
        </p:txBody>
      </p:sp>
      <p:sp>
        <p:nvSpPr>
          <p:cNvPr id="10" name="Line 6">
            <a:extLst>
              <a:ext uri="{FF2B5EF4-FFF2-40B4-BE49-F238E27FC236}">
                <a16:creationId xmlns:a16="http://schemas.microsoft.com/office/drawing/2014/main" id="{DBE4DEE5-E542-4E21-BF98-00985D255FCF}"/>
              </a:ext>
            </a:extLst>
          </p:cNvPr>
          <p:cNvSpPr>
            <a:spLocks noChangeShapeType="1"/>
          </p:cNvSpPr>
          <p:nvPr/>
        </p:nvSpPr>
        <p:spPr bwMode="auto">
          <a:xfrm flipH="1">
            <a:off x="2995613" y="4216400"/>
            <a:ext cx="2328862" cy="35877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par>
                                <p:cTn id="8" presetID="3"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blinds(horizontal)">
                                      <p:cBhvr>
                                        <p:cTn id="15"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par>
                                <p:cTn id="16" presetID="3" presetClass="entr" presetSubtype="1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blinds(horizontal)">
                                      <p:cBhvr>
                                        <p:cTn id="18" dur="500"/>
                                        <p:tgtEl>
                                          <p:spTgt spid="10"/>
                                        </p:tgtEl>
                                      </p:cBhvr>
                                    </p:animEffec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a:extLst>
              <a:ext uri="{FF2B5EF4-FFF2-40B4-BE49-F238E27FC236}">
                <a16:creationId xmlns:a16="http://schemas.microsoft.com/office/drawing/2014/main" id="{F22B8A86-2B14-40C5-B98D-AE3B01F331C4}"/>
              </a:ext>
            </a:extLst>
          </p:cNvPr>
          <p:cNvSpPr>
            <a:spLocks noGrp="1"/>
          </p:cNvSpPr>
          <p:nvPr>
            <p:ph type="title"/>
          </p:nvPr>
        </p:nvSpPr>
        <p:spPr/>
        <p:txBody>
          <a:bodyPr>
            <a:normAutofit fontScale="90000"/>
          </a:bodyPr>
          <a:lstStyle/>
          <a:p>
            <a:r>
              <a:rPr lang="en-US" altLang="zh-CN" dirty="0"/>
              <a:t>RPC and the underlying</a:t>
            </a:r>
            <a:r>
              <a:rPr lang="en-US" altLang="zh-CN" sz="4000" dirty="0"/>
              <a:t> </a:t>
            </a:r>
            <a:r>
              <a:rPr lang="en-US" altLang="zh-CN" dirty="0"/>
              <a:t>protocol</a:t>
            </a:r>
            <a:endParaRPr lang="zh-CN" altLang="en-US" dirty="0"/>
          </a:p>
        </p:txBody>
      </p:sp>
      <p:sp>
        <p:nvSpPr>
          <p:cNvPr id="3" name="内容占位符 2">
            <a:extLst>
              <a:ext uri="{FF2B5EF4-FFF2-40B4-BE49-F238E27FC236}">
                <a16:creationId xmlns:a16="http://schemas.microsoft.com/office/drawing/2014/main" id="{3FBD55A8-ADC5-45A0-9F5B-63543C85514A}"/>
              </a:ext>
            </a:extLst>
          </p:cNvPr>
          <p:cNvSpPr>
            <a:spLocks noGrp="1"/>
          </p:cNvSpPr>
          <p:nvPr>
            <p:ph idx="1"/>
          </p:nvPr>
        </p:nvSpPr>
        <p:spPr/>
        <p:txBody>
          <a:bodyPr>
            <a:normAutofit/>
          </a:bodyPr>
          <a:lstStyle/>
          <a:p>
            <a:pPr>
              <a:defRPr/>
            </a:pPr>
            <a:r>
              <a:rPr lang="en-US" altLang="zh-CN" sz="2400" dirty="0"/>
              <a:t>In principle, using SOAP for RPC is independent of the method for transferring the RPC call and its return</a:t>
            </a:r>
          </a:p>
          <a:p>
            <a:pPr marL="342900" lvl="1" indent="-342900">
              <a:buFont typeface="Wingdings" panose="05000000000000000000" pitchFamily="2" charset="2"/>
              <a:buChar char="l"/>
              <a:defRPr/>
            </a:pPr>
            <a:r>
              <a:rPr lang="en-US" altLang="zh-CN" sz="2400" dirty="0">
                <a:cs typeface="+mn-cs"/>
              </a:rPr>
              <a:t>Application designers have to be aware of all the characteristics of the particular protocols chosen for transferring SOAP RPCs, such as latency, synchrony, etc.</a:t>
            </a:r>
          </a:p>
          <a:p>
            <a:pPr>
              <a:defRPr/>
            </a:pPr>
            <a:r>
              <a:rPr lang="en-US" altLang="zh-CN" sz="2400" dirty="0"/>
              <a:t>In order to relate SOAP request with response</a:t>
            </a:r>
          </a:p>
          <a:p>
            <a:pPr lvl="1">
              <a:defRPr/>
            </a:pPr>
            <a:r>
              <a:rPr lang="en-US" altLang="zh-CN" sz="2000" dirty="0"/>
              <a:t>A protocol binding supporting SOAP </a:t>
            </a:r>
            <a:r>
              <a:rPr lang="en-US" altLang="zh-CN" sz="2000" dirty="0">
                <a:solidFill>
                  <a:srgbClr val="FF0000"/>
                </a:solidFill>
              </a:rPr>
              <a:t>Request-Response MEP </a:t>
            </a:r>
            <a:r>
              <a:rPr lang="en-US" altLang="zh-CN" sz="2000" dirty="0">
                <a:solidFill>
                  <a:schemeClr val="tx1">
                    <a:lumMod val="95000"/>
                    <a:lumOff val="5000"/>
                  </a:schemeClr>
                </a:solidFill>
              </a:rPr>
              <a:t>(</a:t>
            </a:r>
            <a:r>
              <a:rPr lang="en-US" altLang="zh-CN" sz="2000" dirty="0"/>
              <a:t>such as HTTP binding) can provide the correlation between a request and a response</a:t>
            </a:r>
          </a:p>
          <a:p>
            <a:pPr lvl="1">
              <a:defRPr/>
            </a:pPr>
            <a:r>
              <a:rPr lang="en-US" altLang="zh-CN" sz="2000" dirty="0"/>
              <a:t>In order to make the RPC independent of any underlying transfer mechanism, the designer of an RPC-based application could choose to put a correlation ID relating a call and its return in a SOAP header</a:t>
            </a:r>
          </a:p>
        </p:txBody>
      </p:sp>
      <p:sp>
        <p:nvSpPr>
          <p:cNvPr id="16388" name="灯片编号占位符 3">
            <a:extLst>
              <a:ext uri="{FF2B5EF4-FFF2-40B4-BE49-F238E27FC236}">
                <a16:creationId xmlns:a16="http://schemas.microsoft.com/office/drawing/2014/main" id="{BAA76CFB-3D03-421C-8FE0-CF3B152E3896}"/>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CE3C78F3-0CE1-4EEF-9F9B-0A0693720CE8}" type="slidenum">
              <a:rPr lang="en-US" altLang="zh-CN" smtClean="0"/>
              <a:pPr/>
              <a:t>21</a:t>
            </a:fld>
            <a:endParaRPr lang="en-US" altLang="zh-CN" sz="1000"/>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a:extLst>
              <a:ext uri="{FF2B5EF4-FFF2-40B4-BE49-F238E27FC236}">
                <a16:creationId xmlns:a16="http://schemas.microsoft.com/office/drawing/2014/main" id="{756DC4B4-42BA-420A-8D02-80572B133B7D}"/>
              </a:ext>
            </a:extLst>
          </p:cNvPr>
          <p:cNvSpPr>
            <a:spLocks noGrp="1"/>
          </p:cNvSpPr>
          <p:nvPr>
            <p:ph type="title"/>
          </p:nvPr>
        </p:nvSpPr>
        <p:spPr/>
        <p:txBody>
          <a:bodyPr>
            <a:normAutofit fontScale="90000"/>
          </a:bodyPr>
          <a:lstStyle/>
          <a:p>
            <a:r>
              <a:rPr lang="en-US" altLang="zh-CN" dirty="0"/>
              <a:t>SOAP Fault Model</a:t>
            </a:r>
            <a:endParaRPr lang="zh-CN" altLang="en-US" dirty="0"/>
          </a:p>
        </p:txBody>
      </p:sp>
      <p:sp>
        <p:nvSpPr>
          <p:cNvPr id="6147" name="内容占位符 2">
            <a:extLst>
              <a:ext uri="{FF2B5EF4-FFF2-40B4-BE49-F238E27FC236}">
                <a16:creationId xmlns:a16="http://schemas.microsoft.com/office/drawing/2014/main" id="{AF51D8EE-603A-4C12-BD20-6C0554004E92}"/>
              </a:ext>
            </a:extLst>
          </p:cNvPr>
          <p:cNvSpPr>
            <a:spLocks noGrp="1"/>
          </p:cNvSpPr>
          <p:nvPr>
            <p:ph idx="1"/>
          </p:nvPr>
        </p:nvSpPr>
        <p:spPr/>
        <p:txBody>
          <a:bodyPr>
            <a:normAutofit fontScale="85000" lnSpcReduction="20000"/>
          </a:bodyPr>
          <a:lstStyle/>
          <a:p>
            <a:pPr>
              <a:lnSpc>
                <a:spcPct val="120000"/>
              </a:lnSpc>
              <a:defRPr/>
            </a:pPr>
            <a:r>
              <a:rPr lang="en-US" altLang="zh-CN" sz="2800" dirty="0"/>
              <a:t>SOAP provides a model for handling situations when faults arise in the processing of a message</a:t>
            </a:r>
          </a:p>
          <a:p>
            <a:pPr>
              <a:lnSpc>
                <a:spcPct val="120000"/>
              </a:lnSpc>
              <a:defRPr/>
            </a:pPr>
            <a:r>
              <a:rPr lang="en-US" altLang="zh-CN" sz="2800" dirty="0"/>
              <a:t>SOAP distinguishes between the conditions that result in a fault, and the ability to signal that fault to the originator of the faulty message or another node</a:t>
            </a:r>
          </a:p>
          <a:p>
            <a:pPr>
              <a:lnSpc>
                <a:spcPct val="120000"/>
              </a:lnSpc>
              <a:defRPr/>
            </a:pPr>
            <a:r>
              <a:rPr lang="en-US" altLang="zh-CN" sz="2800" dirty="0"/>
              <a:t>The ability to signal the fault depends on the message transfer mechanism used, and one aspect of the binding specification of SOAP onto an underlying protocol is to specify how faults are </a:t>
            </a:r>
            <a:r>
              <a:rPr lang="en-US" altLang="zh-CN" sz="2800" dirty="0" err="1"/>
              <a:t>signalled</a:t>
            </a:r>
            <a:r>
              <a:rPr lang="en-US" altLang="zh-CN" sz="2800" dirty="0"/>
              <a:t>, if at all</a:t>
            </a:r>
          </a:p>
          <a:p>
            <a:pPr>
              <a:lnSpc>
                <a:spcPct val="120000"/>
              </a:lnSpc>
              <a:defRPr/>
            </a:pPr>
            <a:r>
              <a:rPr lang="en-US" altLang="zh-CN" sz="2800" dirty="0"/>
              <a:t>The SOAP fault model requires that all SOAP-specific and application-specific faults be reported using a single distinguished element, </a:t>
            </a:r>
            <a:r>
              <a:rPr lang="en-US" altLang="zh-CN" sz="2800" dirty="0">
                <a:hlinkClick r:id="rId3"/>
              </a:rPr>
              <a:t>Fault</a:t>
            </a:r>
            <a:r>
              <a:rPr lang="en-US" altLang="zh-CN" sz="2800" dirty="0"/>
              <a:t>, carried within the </a:t>
            </a:r>
            <a:r>
              <a:rPr lang="en-US" altLang="zh-CN" sz="2800" dirty="0">
                <a:hlinkClick r:id="rId4" action="ppaction://hlinkfile"/>
              </a:rPr>
              <a:t>Body</a:t>
            </a:r>
            <a:r>
              <a:rPr lang="en-US" altLang="zh-CN" sz="2800" dirty="0"/>
              <a:t> element</a:t>
            </a:r>
          </a:p>
        </p:txBody>
      </p:sp>
      <p:sp>
        <p:nvSpPr>
          <p:cNvPr id="6148" name="灯片编号占位符 3">
            <a:extLst>
              <a:ext uri="{FF2B5EF4-FFF2-40B4-BE49-F238E27FC236}">
                <a16:creationId xmlns:a16="http://schemas.microsoft.com/office/drawing/2014/main" id="{70229B33-1AB6-429F-946D-3FB331D1CFE8}"/>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E7B5CB05-0B08-4B55-B0FF-1AEDFFC1FB08}" type="slidenum">
              <a:rPr lang="en-US" altLang="zh-CN" smtClean="0"/>
              <a:pPr/>
              <a:t>22</a:t>
            </a:fld>
            <a:endParaRPr lang="en-US" altLang="zh-CN" sz="1000"/>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9C2CF622-C26C-435F-993D-927AC25E6DC4}"/>
              </a:ext>
            </a:extLst>
          </p:cNvPr>
          <p:cNvSpPr>
            <a:spLocks noGrp="1"/>
          </p:cNvSpPr>
          <p:nvPr>
            <p:ph type="title"/>
          </p:nvPr>
        </p:nvSpPr>
        <p:spPr/>
        <p:txBody>
          <a:bodyPr>
            <a:noAutofit/>
          </a:bodyPr>
          <a:lstStyle/>
          <a:p>
            <a:r>
              <a:rPr lang="en-US" altLang="zh-CN" sz="2900" dirty="0" err="1">
                <a:hlinkClick r:id="rId2"/>
              </a:rPr>
              <a:t>env:Fault</a:t>
            </a:r>
            <a:r>
              <a:rPr lang="en-US" altLang="zh-CN" sz="2900" dirty="0"/>
              <a:t> Element</a:t>
            </a:r>
            <a:endParaRPr lang="zh-CN" altLang="en-US" sz="2900" dirty="0"/>
          </a:p>
        </p:txBody>
      </p:sp>
      <p:sp>
        <p:nvSpPr>
          <p:cNvPr id="3" name="内容占位符 2">
            <a:extLst>
              <a:ext uri="{FF2B5EF4-FFF2-40B4-BE49-F238E27FC236}">
                <a16:creationId xmlns:a16="http://schemas.microsoft.com/office/drawing/2014/main" id="{091FBBE6-F168-4A42-9BBD-44998CC32E91}"/>
              </a:ext>
            </a:extLst>
          </p:cNvPr>
          <p:cNvSpPr>
            <a:spLocks noGrp="1"/>
          </p:cNvSpPr>
          <p:nvPr>
            <p:ph idx="1"/>
          </p:nvPr>
        </p:nvSpPr>
        <p:spPr/>
        <p:txBody>
          <a:bodyPr>
            <a:normAutofit fontScale="85000" lnSpcReduction="10000"/>
          </a:bodyPr>
          <a:lstStyle/>
          <a:p>
            <a:pPr>
              <a:lnSpc>
                <a:spcPct val="120000"/>
              </a:lnSpc>
              <a:defRPr/>
            </a:pPr>
            <a:r>
              <a:rPr lang="en-US" altLang="zh-CN" sz="2800" dirty="0"/>
              <a:t>The </a:t>
            </a:r>
            <a:r>
              <a:rPr lang="en-US" altLang="zh-CN" sz="2800" dirty="0" err="1">
                <a:hlinkClick r:id="rId2"/>
              </a:rPr>
              <a:t>env:Fault</a:t>
            </a:r>
            <a:r>
              <a:rPr lang="en-US" altLang="zh-CN" sz="2800" dirty="0"/>
              <a:t> element contains two mandatory sub-elements, </a:t>
            </a:r>
            <a:r>
              <a:rPr lang="en-US" altLang="zh-CN" sz="2800" dirty="0" err="1">
                <a:hlinkClick r:id="rId3"/>
              </a:rPr>
              <a:t>env:Code</a:t>
            </a:r>
            <a:r>
              <a:rPr lang="en-US" altLang="zh-CN" sz="2800" dirty="0"/>
              <a:t> and </a:t>
            </a:r>
            <a:r>
              <a:rPr lang="en-US" altLang="zh-CN" sz="2800" dirty="0" err="1">
                <a:hlinkClick r:id="rId4"/>
              </a:rPr>
              <a:t>env:Reason</a:t>
            </a:r>
            <a:r>
              <a:rPr lang="en-US" altLang="zh-CN" sz="2800" dirty="0"/>
              <a:t>.</a:t>
            </a:r>
          </a:p>
          <a:p>
            <a:pPr lvl="1">
              <a:lnSpc>
                <a:spcPct val="120000"/>
              </a:lnSpc>
              <a:defRPr/>
            </a:pPr>
            <a:r>
              <a:rPr lang="en-US" altLang="zh-CN" sz="2400" dirty="0" err="1">
                <a:hlinkClick r:id="rId5"/>
              </a:rPr>
              <a:t>env:Code</a:t>
            </a:r>
            <a:r>
              <a:rPr lang="en-US" altLang="zh-CN" sz="2400" dirty="0"/>
              <a:t> is itself made up of a mandatory </a:t>
            </a:r>
            <a:r>
              <a:rPr lang="en-US" altLang="zh-CN" sz="2400" dirty="0" err="1">
                <a:hlinkClick r:id="rId6"/>
              </a:rPr>
              <a:t>env:Value</a:t>
            </a:r>
            <a:r>
              <a:rPr lang="en-US" altLang="zh-CN" sz="2400" dirty="0"/>
              <a:t> sub-element and an optional </a:t>
            </a:r>
            <a:r>
              <a:rPr lang="en-US" altLang="zh-CN" sz="2400" dirty="0" err="1">
                <a:hlinkClick r:id="rId7"/>
              </a:rPr>
              <a:t>env:Subcode</a:t>
            </a:r>
            <a:r>
              <a:rPr lang="en-US" altLang="zh-CN" sz="2400" dirty="0"/>
              <a:t> (may be recursive)</a:t>
            </a:r>
          </a:p>
          <a:p>
            <a:pPr lvl="1">
              <a:lnSpc>
                <a:spcPct val="120000"/>
              </a:lnSpc>
              <a:defRPr/>
            </a:pPr>
            <a:r>
              <a:rPr lang="en-US" altLang="zh-CN" sz="2500" dirty="0" err="1">
                <a:hlinkClick r:id="rId4"/>
              </a:rPr>
              <a:t>env:Reason</a:t>
            </a:r>
            <a:r>
              <a:rPr lang="en-US" altLang="zh-CN" sz="2500" dirty="0"/>
              <a:t> is not meant for algorithmic processing, but rather for human understanding</a:t>
            </a:r>
          </a:p>
          <a:p>
            <a:pPr>
              <a:lnSpc>
                <a:spcPct val="120000"/>
              </a:lnSpc>
              <a:defRPr/>
            </a:pPr>
            <a:r>
              <a:rPr lang="en-US" altLang="zh-CN" sz="2800" dirty="0"/>
              <a:t>The </a:t>
            </a:r>
            <a:r>
              <a:rPr lang="en-US" altLang="zh-CN" sz="2800" dirty="0" err="1">
                <a:hlinkClick r:id="rId2"/>
              </a:rPr>
              <a:t>env:Fault</a:t>
            </a:r>
            <a:r>
              <a:rPr lang="en-US" altLang="zh-CN" sz="2800" dirty="0"/>
              <a:t> element may contains three optional sub-elements, </a:t>
            </a:r>
            <a:r>
              <a:rPr lang="en-US" altLang="zh-CN" sz="2800" dirty="0" err="1">
                <a:hlinkClick r:id="rId5"/>
              </a:rPr>
              <a:t>env:Detail</a:t>
            </a:r>
            <a:r>
              <a:rPr lang="en-US" altLang="zh-CN" sz="2800" dirty="0"/>
              <a:t>, </a:t>
            </a:r>
            <a:r>
              <a:rPr lang="en-US" altLang="zh-CN" sz="2800" dirty="0" err="1">
                <a:hlinkClick r:id="rId8"/>
              </a:rPr>
              <a:t>env:Node</a:t>
            </a:r>
            <a:r>
              <a:rPr lang="en-US" altLang="zh-CN" sz="2800" dirty="0"/>
              <a:t>, </a:t>
            </a:r>
            <a:r>
              <a:rPr lang="en-US" altLang="zh-CN" sz="2800" dirty="0" err="1">
                <a:hlinkClick r:id="rId9"/>
              </a:rPr>
              <a:t>env:Role</a:t>
            </a:r>
            <a:endParaRPr lang="en-US" altLang="zh-CN" sz="2800" dirty="0"/>
          </a:p>
          <a:p>
            <a:pPr lvl="1">
              <a:lnSpc>
                <a:spcPct val="120000"/>
              </a:lnSpc>
              <a:defRPr/>
            </a:pPr>
            <a:r>
              <a:rPr lang="en-US" altLang="zh-CN" sz="2400" dirty="0" err="1">
                <a:hlinkClick r:id="rId5"/>
              </a:rPr>
              <a:t>env:Detail</a:t>
            </a:r>
            <a:r>
              <a:rPr lang="en-US" altLang="zh-CN" sz="2400" dirty="0"/>
              <a:t> contains application-specific information </a:t>
            </a:r>
          </a:p>
          <a:p>
            <a:pPr lvl="1">
              <a:lnSpc>
                <a:spcPct val="120000"/>
              </a:lnSpc>
              <a:defRPr/>
            </a:pPr>
            <a:r>
              <a:rPr lang="en-US" altLang="zh-CN" sz="2400" dirty="0" err="1">
                <a:hlinkClick r:id="rId8"/>
              </a:rPr>
              <a:t>env:Node</a:t>
            </a:r>
            <a:r>
              <a:rPr lang="en-US" altLang="zh-CN" sz="2400" dirty="0"/>
              <a:t> identifies via a URI the SOAP node which generated the fault. The default is the ultimate recipient by absence</a:t>
            </a:r>
          </a:p>
          <a:p>
            <a:pPr lvl="1">
              <a:lnSpc>
                <a:spcPct val="120000"/>
              </a:lnSpc>
              <a:defRPr/>
            </a:pPr>
            <a:r>
              <a:rPr lang="en-US" altLang="zh-CN" sz="2400" dirty="0" err="1">
                <a:hlinkClick r:id="rId9"/>
              </a:rPr>
              <a:t>env:Role</a:t>
            </a:r>
            <a:r>
              <a:rPr lang="en-US" altLang="zh-CN" sz="2400" dirty="0"/>
              <a:t> identifies the role being played by the node which generated the fault</a:t>
            </a:r>
          </a:p>
        </p:txBody>
      </p:sp>
      <p:sp>
        <p:nvSpPr>
          <p:cNvPr id="8196" name="灯片编号占位符 3">
            <a:extLst>
              <a:ext uri="{FF2B5EF4-FFF2-40B4-BE49-F238E27FC236}">
                <a16:creationId xmlns:a16="http://schemas.microsoft.com/office/drawing/2014/main" id="{4C938583-2CC3-4BAC-AC99-5DB637529061}"/>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E7B5CB05-0B08-4B55-B0FF-1AEDFFC1FB08}" type="slidenum">
              <a:rPr lang="en-US" altLang="zh-CN" smtClean="0"/>
              <a:pPr/>
              <a:t>23</a:t>
            </a:fld>
            <a:endParaRPr lang="en-US" altLang="zh-CN" sz="1000"/>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a:extLst>
              <a:ext uri="{FF2B5EF4-FFF2-40B4-BE49-F238E27FC236}">
                <a16:creationId xmlns:a16="http://schemas.microsoft.com/office/drawing/2014/main" id="{0D2C7AA9-6380-4D3E-97B1-A338968FBA10}"/>
              </a:ext>
            </a:extLst>
          </p:cNvPr>
          <p:cNvSpPr>
            <a:spLocks noGrp="1"/>
          </p:cNvSpPr>
          <p:nvPr>
            <p:ph type="title"/>
          </p:nvPr>
        </p:nvSpPr>
        <p:spPr/>
        <p:txBody>
          <a:bodyPr>
            <a:normAutofit fontScale="90000"/>
          </a:bodyPr>
          <a:lstStyle/>
          <a:p>
            <a:r>
              <a:rPr lang="en-US" altLang="zh-CN" dirty="0"/>
              <a:t>Fault Message</a:t>
            </a:r>
            <a:endParaRPr lang="zh-CN" altLang="en-US" dirty="0"/>
          </a:p>
        </p:txBody>
      </p:sp>
      <p:sp>
        <p:nvSpPr>
          <p:cNvPr id="9219" name="灯片编号占位符 3">
            <a:extLst>
              <a:ext uri="{FF2B5EF4-FFF2-40B4-BE49-F238E27FC236}">
                <a16:creationId xmlns:a16="http://schemas.microsoft.com/office/drawing/2014/main" id="{7AB84792-FFA4-4C32-9671-D06611F9CC7A}"/>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E7B5CB05-0B08-4B55-B0FF-1AEDFFC1FB08}" type="slidenum">
              <a:rPr lang="en-US" altLang="zh-CN" smtClean="0"/>
              <a:pPr/>
              <a:t>24</a:t>
            </a:fld>
            <a:endParaRPr lang="en-US" altLang="zh-CN" sz="1000"/>
          </a:p>
        </p:txBody>
      </p:sp>
      <p:sp>
        <p:nvSpPr>
          <p:cNvPr id="5" name="Text Box 4">
            <a:extLst>
              <a:ext uri="{FF2B5EF4-FFF2-40B4-BE49-F238E27FC236}">
                <a16:creationId xmlns:a16="http://schemas.microsoft.com/office/drawing/2014/main" id="{4BD1CC09-EABC-43B6-BFD7-DD1B77088E6B}"/>
              </a:ext>
            </a:extLst>
          </p:cNvPr>
          <p:cNvSpPr txBox="1">
            <a:spLocks noChangeArrowheads="1"/>
          </p:cNvSpPr>
          <p:nvPr/>
        </p:nvSpPr>
        <p:spPr bwMode="auto">
          <a:xfrm>
            <a:off x="255612" y="2001425"/>
            <a:ext cx="4176464" cy="3280898"/>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400" dirty="0">
                <a:solidFill>
                  <a:srgbClr val="008080"/>
                </a:solidFill>
                <a:highlight>
                  <a:srgbClr val="FFFFFF"/>
                </a:highlight>
                <a:latin typeface="Arial"/>
                <a:ea typeface="宋体" charset="-122"/>
              </a:rPr>
              <a:t>&lt;?xml version='1.0' ?&gt;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ea typeface="宋体" charset="-122"/>
              </a:rPr>
              <a:t>&lt;</a:t>
            </a:r>
            <a:r>
              <a:rPr lang="en-US" altLang="zh-CN" sz="1400" dirty="0" err="1">
                <a:solidFill>
                  <a:srgbClr val="800000"/>
                </a:solidFill>
                <a:highlight>
                  <a:srgbClr val="FFFFFF"/>
                </a:highlight>
                <a:latin typeface="Arial"/>
                <a:ea typeface="宋体" charset="-122"/>
              </a:rPr>
              <a:t>env:Envelope</a:t>
            </a:r>
            <a:r>
              <a:rPr lang="en-US" altLang="zh-CN" sz="1400" dirty="0">
                <a:solidFill>
                  <a:srgbClr val="FF0000"/>
                </a:solidFill>
                <a:highlight>
                  <a:srgbClr val="FFFFFF"/>
                </a:highlight>
                <a:latin typeface="Arial"/>
                <a:ea typeface="宋体" charset="-122"/>
              </a:rPr>
              <a:t> </a:t>
            </a:r>
            <a:r>
              <a:rPr lang="en-US" altLang="zh-CN" sz="1400" dirty="0" err="1">
                <a:solidFill>
                  <a:srgbClr val="FF0000"/>
                </a:solidFill>
                <a:highlight>
                  <a:srgbClr val="FFFFFF"/>
                </a:highlight>
                <a:latin typeface="Arial"/>
                <a:ea typeface="宋体" charset="-122"/>
              </a:rPr>
              <a:t>xmlns:env</a:t>
            </a:r>
            <a:r>
              <a:rPr lang="en-US" altLang="zh-CN" sz="1400" dirty="0">
                <a:solidFill>
                  <a:srgbClr val="0000FF"/>
                </a:solidFill>
                <a:highlight>
                  <a:srgbClr val="FFFFFF"/>
                </a:highlight>
                <a:latin typeface="Arial"/>
                <a:ea typeface="宋体" charset="-122"/>
              </a:rPr>
              <a:t>="</a:t>
            </a:r>
            <a:r>
              <a:rPr lang="en-US" altLang="zh-CN" sz="1400" dirty="0">
                <a:solidFill>
                  <a:srgbClr val="000000"/>
                </a:solidFill>
                <a:highlight>
                  <a:srgbClr val="FFFFFF"/>
                </a:highlight>
                <a:latin typeface="Arial"/>
                <a:ea typeface="宋体" charset="-122"/>
              </a:rPr>
              <a:t>http://www.w3.org/2003/05/soap-envelope</a:t>
            </a:r>
            <a:r>
              <a:rPr lang="en-US" altLang="zh-CN" sz="1400" dirty="0">
                <a:solidFill>
                  <a:srgbClr val="0000FF"/>
                </a:solidFill>
                <a:highlight>
                  <a:srgbClr val="FFFFFF"/>
                </a:highlight>
                <a:latin typeface="Arial"/>
                <a:ea typeface="宋体" charset="-122"/>
              </a:rPr>
              <a:t>"</a:t>
            </a:r>
            <a:r>
              <a:rPr lang="en-US" altLang="zh-CN" sz="1400" dirty="0">
                <a:solidFill>
                  <a:srgbClr val="FF0000"/>
                </a:solidFill>
                <a:highlight>
                  <a:srgbClr val="FFFFFF"/>
                </a:highlight>
                <a:latin typeface="Arial"/>
                <a:ea typeface="宋体" charset="-122"/>
              </a:rPr>
              <a:t>            </a:t>
            </a:r>
            <a:r>
              <a:rPr lang="en-US" altLang="zh-CN" sz="1400" dirty="0" err="1">
                <a:solidFill>
                  <a:srgbClr val="FF0000"/>
                </a:solidFill>
                <a:highlight>
                  <a:srgbClr val="FFFFFF"/>
                </a:highlight>
                <a:latin typeface="Arial"/>
                <a:ea typeface="宋体" charset="-122"/>
              </a:rPr>
              <a:t>xmlns:rpc</a:t>
            </a:r>
            <a:r>
              <a:rPr lang="en-US" altLang="zh-CN" sz="1400" dirty="0">
                <a:solidFill>
                  <a:srgbClr val="0000FF"/>
                </a:solidFill>
                <a:highlight>
                  <a:srgbClr val="FFFFFF"/>
                </a:highlight>
                <a:latin typeface="Arial"/>
                <a:ea typeface="宋体" charset="-122"/>
              </a:rPr>
              <a:t>='</a:t>
            </a:r>
            <a:r>
              <a:rPr lang="en-US" altLang="zh-CN" sz="1400" dirty="0">
                <a:solidFill>
                  <a:srgbClr val="000000"/>
                </a:solidFill>
                <a:highlight>
                  <a:srgbClr val="FFFFFF"/>
                </a:highlight>
                <a:latin typeface="Arial"/>
                <a:ea typeface="宋体" charset="-122"/>
              </a:rPr>
              <a:t>http://www.w3.org/2003/05/soap-rpc</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a:t>
            </a:r>
            <a:r>
              <a:rPr lang="en-US" altLang="zh-CN" sz="1400" dirty="0">
                <a:solidFill>
                  <a:srgbClr val="0000FF"/>
                </a:solidFill>
                <a:highlight>
                  <a:srgbClr val="FFFFFF"/>
                </a:highlight>
                <a:latin typeface="Arial"/>
                <a:ea typeface="宋体" charset="-122"/>
              </a:rPr>
              <a:t>&lt;</a:t>
            </a:r>
            <a:r>
              <a:rPr lang="en-US" altLang="zh-CN" sz="1400" dirty="0" err="1">
                <a:solidFill>
                  <a:srgbClr val="800000"/>
                </a:solidFill>
                <a:highlight>
                  <a:srgbClr val="FFFFFF"/>
                </a:highlight>
                <a:latin typeface="Arial"/>
                <a:ea typeface="宋体" charset="-122"/>
              </a:rPr>
              <a:t>env:Body</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a:t>
            </a:r>
            <a:r>
              <a:rPr lang="en-US" altLang="zh-CN" sz="1400" dirty="0">
                <a:solidFill>
                  <a:srgbClr val="0000FF"/>
                </a:solidFill>
                <a:highlight>
                  <a:srgbClr val="FFFFFF"/>
                </a:highlight>
                <a:latin typeface="Arial"/>
                <a:ea typeface="宋体" charset="-122"/>
              </a:rPr>
              <a:t>&lt;</a:t>
            </a:r>
            <a:r>
              <a:rPr lang="en-US" altLang="zh-CN" sz="1400" dirty="0" err="1">
                <a:solidFill>
                  <a:srgbClr val="800000"/>
                </a:solidFill>
                <a:highlight>
                  <a:srgbClr val="FFFFFF"/>
                </a:highlight>
                <a:latin typeface="Arial"/>
                <a:ea typeface="宋体" charset="-122"/>
              </a:rPr>
              <a:t>env:Fault</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a:t>
            </a:r>
            <a:r>
              <a:rPr lang="en-US" altLang="zh-CN" sz="1400" dirty="0">
                <a:solidFill>
                  <a:srgbClr val="0000FF"/>
                </a:solidFill>
                <a:highlight>
                  <a:srgbClr val="FFFFFF"/>
                </a:highlight>
                <a:latin typeface="Arial"/>
                <a:ea typeface="宋体" charset="-122"/>
              </a:rPr>
              <a:t>&lt;</a:t>
            </a:r>
            <a:r>
              <a:rPr lang="en-US" altLang="zh-CN" sz="1400" dirty="0" err="1">
                <a:solidFill>
                  <a:srgbClr val="800000"/>
                </a:solidFill>
                <a:highlight>
                  <a:srgbClr val="FFFFFF"/>
                </a:highlight>
                <a:latin typeface="Arial"/>
                <a:ea typeface="宋体" charset="-122"/>
              </a:rPr>
              <a:t>env:Code</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a:t>
            </a:r>
            <a:r>
              <a:rPr lang="en-US" altLang="zh-CN" sz="1400" dirty="0">
                <a:solidFill>
                  <a:srgbClr val="0000FF"/>
                </a:solidFill>
                <a:highlight>
                  <a:srgbClr val="FFFFFF"/>
                </a:highlight>
                <a:latin typeface="Arial"/>
                <a:ea typeface="宋体" charset="-122"/>
              </a:rPr>
              <a:t>&lt;</a:t>
            </a:r>
            <a:r>
              <a:rPr lang="en-US" altLang="zh-CN" sz="1400" dirty="0" err="1">
                <a:solidFill>
                  <a:srgbClr val="800000"/>
                </a:solidFill>
                <a:highlight>
                  <a:srgbClr val="FFFFFF"/>
                </a:highlight>
                <a:latin typeface="Arial"/>
                <a:ea typeface="宋体" charset="-122"/>
              </a:rPr>
              <a:t>env:Value</a:t>
            </a:r>
            <a:r>
              <a:rPr lang="en-US" altLang="zh-CN" sz="1400" dirty="0">
                <a:solidFill>
                  <a:srgbClr val="0000FF"/>
                </a:solidFill>
                <a:highlight>
                  <a:srgbClr val="FFFFFF"/>
                </a:highlight>
                <a:latin typeface="Arial"/>
                <a:ea typeface="宋体" charset="-122"/>
              </a:rPr>
              <a:t>&gt;</a:t>
            </a:r>
            <a:r>
              <a:rPr lang="en-US" altLang="zh-CN" sz="1400" dirty="0" err="1">
                <a:solidFill>
                  <a:srgbClr val="000000"/>
                </a:solidFill>
                <a:highlight>
                  <a:srgbClr val="FFFFFF"/>
                </a:highlight>
                <a:latin typeface="Arial"/>
                <a:ea typeface="宋体" charset="-122"/>
              </a:rPr>
              <a:t>env:Sender</a:t>
            </a:r>
            <a:r>
              <a:rPr lang="en-US" altLang="zh-CN" sz="1400" dirty="0">
                <a:solidFill>
                  <a:srgbClr val="0000FF"/>
                </a:solidFill>
                <a:highlight>
                  <a:srgbClr val="FFFFFF"/>
                </a:highlight>
                <a:latin typeface="Arial"/>
                <a:ea typeface="宋体" charset="-122"/>
              </a:rPr>
              <a:t>&lt;/</a:t>
            </a:r>
            <a:r>
              <a:rPr lang="en-US" altLang="zh-CN" sz="1400" dirty="0" err="1">
                <a:solidFill>
                  <a:srgbClr val="800000"/>
                </a:solidFill>
                <a:highlight>
                  <a:srgbClr val="FFFFFF"/>
                </a:highlight>
                <a:latin typeface="Arial"/>
                <a:ea typeface="宋体" charset="-122"/>
              </a:rPr>
              <a:t>env:Value</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a:t>
            </a:r>
            <a:r>
              <a:rPr lang="en-US" altLang="zh-CN" sz="1400" dirty="0">
                <a:solidFill>
                  <a:srgbClr val="0000FF"/>
                </a:solidFill>
                <a:highlight>
                  <a:srgbClr val="FFFFFF"/>
                </a:highlight>
                <a:latin typeface="Arial"/>
                <a:ea typeface="宋体" charset="-122"/>
              </a:rPr>
              <a:t>&lt;</a:t>
            </a:r>
            <a:r>
              <a:rPr lang="en-US" altLang="zh-CN" sz="1400" dirty="0" err="1">
                <a:solidFill>
                  <a:srgbClr val="800000"/>
                </a:solidFill>
                <a:highlight>
                  <a:srgbClr val="FFFFFF"/>
                </a:highlight>
                <a:latin typeface="Arial"/>
                <a:ea typeface="宋体" charset="-122"/>
              </a:rPr>
              <a:t>env:Subcode</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a:t>
            </a:r>
            <a:r>
              <a:rPr lang="en-US" altLang="zh-CN" sz="1400" dirty="0">
                <a:solidFill>
                  <a:srgbClr val="0000FF"/>
                </a:solidFill>
                <a:highlight>
                  <a:srgbClr val="FFFFFF"/>
                </a:highlight>
                <a:latin typeface="Arial"/>
                <a:ea typeface="宋体" charset="-122"/>
              </a:rPr>
              <a:t>&lt;</a:t>
            </a:r>
            <a:r>
              <a:rPr lang="en-US" altLang="zh-CN" sz="1400" dirty="0" err="1">
                <a:solidFill>
                  <a:srgbClr val="800000"/>
                </a:solidFill>
                <a:highlight>
                  <a:srgbClr val="FFFFFF"/>
                </a:highlight>
                <a:latin typeface="Arial"/>
                <a:ea typeface="宋体" charset="-122"/>
              </a:rPr>
              <a:t>env:Value</a:t>
            </a:r>
            <a:r>
              <a:rPr lang="en-US" altLang="zh-CN" sz="1400" dirty="0">
                <a:solidFill>
                  <a:srgbClr val="0000FF"/>
                </a:solidFill>
                <a:highlight>
                  <a:srgbClr val="FFFFFF"/>
                </a:highlight>
                <a:latin typeface="Arial"/>
                <a:ea typeface="宋体" charset="-122"/>
              </a:rPr>
              <a:t>&gt;</a:t>
            </a:r>
            <a:r>
              <a:rPr lang="en-US" altLang="zh-CN" sz="1400" dirty="0" err="1">
                <a:solidFill>
                  <a:srgbClr val="000000"/>
                </a:solidFill>
                <a:highlight>
                  <a:srgbClr val="FFFFFF"/>
                </a:highlight>
                <a:latin typeface="Arial"/>
                <a:ea typeface="宋体" charset="-122"/>
              </a:rPr>
              <a:t>rpc:BadArguments</a:t>
            </a:r>
            <a:r>
              <a:rPr lang="en-US" altLang="zh-CN" sz="1400" dirty="0">
                <a:solidFill>
                  <a:srgbClr val="0000FF"/>
                </a:solidFill>
                <a:highlight>
                  <a:srgbClr val="FFFFFF"/>
                </a:highlight>
                <a:latin typeface="Arial"/>
                <a:ea typeface="宋体" charset="-122"/>
              </a:rPr>
              <a:t>&lt;/</a:t>
            </a:r>
            <a:r>
              <a:rPr lang="en-US" altLang="zh-CN" sz="1400" dirty="0" err="1">
                <a:solidFill>
                  <a:srgbClr val="800000"/>
                </a:solidFill>
                <a:highlight>
                  <a:srgbClr val="FFFFFF"/>
                </a:highlight>
                <a:latin typeface="Arial"/>
                <a:ea typeface="宋体" charset="-122"/>
              </a:rPr>
              <a:t>env:Value</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a:t>
            </a:r>
            <a:r>
              <a:rPr lang="en-US" altLang="zh-CN" sz="1400" dirty="0">
                <a:solidFill>
                  <a:srgbClr val="0000FF"/>
                </a:solidFill>
                <a:highlight>
                  <a:srgbClr val="FFFFFF"/>
                </a:highlight>
                <a:latin typeface="Arial"/>
                <a:ea typeface="宋体" charset="-122"/>
              </a:rPr>
              <a:t>&lt;/</a:t>
            </a:r>
            <a:r>
              <a:rPr lang="en-US" altLang="zh-CN" sz="1400" dirty="0" err="1">
                <a:solidFill>
                  <a:srgbClr val="800000"/>
                </a:solidFill>
                <a:highlight>
                  <a:srgbClr val="FFFFFF"/>
                </a:highlight>
                <a:latin typeface="Arial"/>
                <a:ea typeface="宋体" charset="-122"/>
              </a:rPr>
              <a:t>env:Subcode</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a:t>
            </a:r>
            <a:r>
              <a:rPr lang="en-US" altLang="zh-CN" sz="1400" dirty="0">
                <a:solidFill>
                  <a:srgbClr val="0000FF"/>
                </a:solidFill>
                <a:highlight>
                  <a:srgbClr val="FFFFFF"/>
                </a:highlight>
                <a:latin typeface="Arial"/>
                <a:ea typeface="宋体" charset="-122"/>
              </a:rPr>
              <a:t>&lt;/</a:t>
            </a:r>
            <a:r>
              <a:rPr lang="en-US" altLang="zh-CN" sz="1400" dirty="0" err="1">
                <a:solidFill>
                  <a:srgbClr val="800000"/>
                </a:solidFill>
                <a:highlight>
                  <a:srgbClr val="FFFFFF"/>
                </a:highlight>
                <a:latin typeface="Arial"/>
                <a:ea typeface="宋体" charset="-122"/>
              </a:rPr>
              <a:t>env:Code</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p:txBody>
      </p:sp>
      <p:sp>
        <p:nvSpPr>
          <p:cNvPr id="6" name="Text Box 4">
            <a:extLst>
              <a:ext uri="{FF2B5EF4-FFF2-40B4-BE49-F238E27FC236}">
                <a16:creationId xmlns:a16="http://schemas.microsoft.com/office/drawing/2014/main" id="{E2BCF5BB-1B11-4EB0-BDD3-4D699F0C99B4}"/>
              </a:ext>
            </a:extLst>
          </p:cNvPr>
          <p:cNvSpPr txBox="1">
            <a:spLocks noChangeArrowheads="1"/>
          </p:cNvSpPr>
          <p:nvPr/>
        </p:nvSpPr>
        <p:spPr bwMode="auto">
          <a:xfrm>
            <a:off x="4646786" y="1384300"/>
            <a:ext cx="4262264" cy="4271939"/>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ea typeface="宋体" charset="-122"/>
              </a:rPr>
              <a:t>&lt;</a:t>
            </a:r>
            <a:r>
              <a:rPr lang="en-US" altLang="zh-CN" sz="1400" dirty="0" err="1">
                <a:solidFill>
                  <a:srgbClr val="800000"/>
                </a:solidFill>
                <a:highlight>
                  <a:srgbClr val="FFFFFF"/>
                </a:highlight>
                <a:latin typeface="Arial"/>
                <a:ea typeface="宋体" charset="-122"/>
              </a:rPr>
              <a:t>env:Reason</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a:t>
            </a:r>
            <a:r>
              <a:rPr lang="en-US" altLang="zh-CN" sz="1400" dirty="0">
                <a:solidFill>
                  <a:srgbClr val="0000FF"/>
                </a:solidFill>
                <a:highlight>
                  <a:srgbClr val="FFFFFF"/>
                </a:highlight>
                <a:latin typeface="Arial"/>
                <a:ea typeface="宋体" charset="-122"/>
              </a:rPr>
              <a:t>&lt;</a:t>
            </a:r>
            <a:r>
              <a:rPr lang="en-US" altLang="zh-CN" sz="1400" dirty="0" err="1">
                <a:solidFill>
                  <a:srgbClr val="800000"/>
                </a:solidFill>
                <a:highlight>
                  <a:srgbClr val="FFFFFF"/>
                </a:highlight>
                <a:latin typeface="Arial"/>
                <a:ea typeface="宋体" charset="-122"/>
              </a:rPr>
              <a:t>env:Text</a:t>
            </a:r>
            <a:r>
              <a:rPr lang="en-US" altLang="zh-CN" sz="1400" dirty="0">
                <a:solidFill>
                  <a:srgbClr val="FF0000"/>
                </a:solidFill>
                <a:highlight>
                  <a:srgbClr val="FFFFFF"/>
                </a:highlight>
                <a:latin typeface="Arial"/>
                <a:ea typeface="宋体" charset="-122"/>
              </a:rPr>
              <a:t> </a:t>
            </a:r>
            <a:r>
              <a:rPr lang="en-US" altLang="zh-CN" sz="1400" dirty="0" err="1">
                <a:solidFill>
                  <a:srgbClr val="FF0000"/>
                </a:solidFill>
                <a:highlight>
                  <a:srgbClr val="FFFFFF"/>
                </a:highlight>
                <a:latin typeface="Arial"/>
                <a:ea typeface="宋体" charset="-122"/>
              </a:rPr>
              <a:t>xml:lang</a:t>
            </a:r>
            <a:r>
              <a:rPr lang="en-US" altLang="zh-CN" sz="1400" dirty="0">
                <a:solidFill>
                  <a:srgbClr val="0000FF"/>
                </a:solidFill>
                <a:highlight>
                  <a:srgbClr val="FFFFFF"/>
                </a:highlight>
                <a:latin typeface="Arial"/>
                <a:ea typeface="宋体" charset="-122"/>
              </a:rPr>
              <a:t>="</a:t>
            </a:r>
            <a:r>
              <a:rPr lang="en-US" altLang="zh-CN" sz="1400" dirty="0">
                <a:solidFill>
                  <a:srgbClr val="000000"/>
                </a:solidFill>
                <a:highlight>
                  <a:srgbClr val="FFFFFF"/>
                </a:highlight>
                <a:latin typeface="Arial"/>
                <a:ea typeface="宋体" charset="-122"/>
              </a:rPr>
              <a:t>en-US</a:t>
            </a:r>
            <a:r>
              <a:rPr lang="en-US" altLang="zh-CN" sz="1400" dirty="0">
                <a:solidFill>
                  <a:srgbClr val="0000FF"/>
                </a:solidFill>
                <a:highlight>
                  <a:srgbClr val="FFFFFF"/>
                </a:highlight>
                <a:latin typeface="Arial"/>
                <a:ea typeface="宋体" charset="-122"/>
              </a:rPr>
              <a:t>"&gt;</a:t>
            </a:r>
            <a:r>
              <a:rPr lang="en-US" altLang="zh-CN" sz="1400" dirty="0">
                <a:solidFill>
                  <a:srgbClr val="000000"/>
                </a:solidFill>
                <a:highlight>
                  <a:srgbClr val="FFFFFF"/>
                </a:highlight>
                <a:latin typeface="Arial"/>
                <a:ea typeface="宋体" charset="-122"/>
              </a:rPr>
              <a:t>Processing error</a:t>
            </a:r>
            <a:r>
              <a:rPr lang="en-US" altLang="zh-CN" sz="1400" dirty="0">
                <a:solidFill>
                  <a:srgbClr val="0000FF"/>
                </a:solidFill>
                <a:highlight>
                  <a:srgbClr val="FFFFFF"/>
                </a:highlight>
                <a:latin typeface="Arial"/>
                <a:ea typeface="宋体" charset="-122"/>
              </a:rPr>
              <a:t>&lt;/</a:t>
            </a:r>
            <a:r>
              <a:rPr lang="en-US" altLang="zh-CN" sz="1400" dirty="0" err="1">
                <a:solidFill>
                  <a:srgbClr val="800000"/>
                </a:solidFill>
                <a:highlight>
                  <a:srgbClr val="FFFFFF"/>
                </a:highlight>
                <a:latin typeface="Arial"/>
                <a:ea typeface="宋体" charset="-122"/>
              </a:rPr>
              <a:t>env:Text</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a:t>
            </a:r>
            <a:r>
              <a:rPr lang="en-US" altLang="zh-CN" sz="1400" dirty="0">
                <a:solidFill>
                  <a:srgbClr val="0000FF"/>
                </a:solidFill>
                <a:highlight>
                  <a:srgbClr val="FFFFFF"/>
                </a:highlight>
                <a:latin typeface="Arial"/>
                <a:ea typeface="宋体" charset="-122"/>
              </a:rPr>
              <a:t>&lt;</a:t>
            </a:r>
            <a:r>
              <a:rPr lang="en-US" altLang="zh-CN" sz="1400" dirty="0" err="1">
                <a:solidFill>
                  <a:srgbClr val="800000"/>
                </a:solidFill>
                <a:highlight>
                  <a:srgbClr val="FFFFFF"/>
                </a:highlight>
                <a:latin typeface="Arial"/>
                <a:ea typeface="宋体" charset="-122"/>
              </a:rPr>
              <a:t>env:Text</a:t>
            </a:r>
            <a:r>
              <a:rPr lang="en-US" altLang="zh-CN" sz="1400" dirty="0">
                <a:solidFill>
                  <a:srgbClr val="FF0000"/>
                </a:solidFill>
                <a:highlight>
                  <a:srgbClr val="FFFFFF"/>
                </a:highlight>
                <a:latin typeface="Arial"/>
                <a:ea typeface="宋体" charset="-122"/>
              </a:rPr>
              <a:t> </a:t>
            </a:r>
            <a:r>
              <a:rPr lang="en-US" altLang="zh-CN" sz="1400" dirty="0" err="1">
                <a:solidFill>
                  <a:srgbClr val="FF0000"/>
                </a:solidFill>
                <a:highlight>
                  <a:srgbClr val="FFFFFF"/>
                </a:highlight>
                <a:latin typeface="Arial"/>
                <a:ea typeface="宋体" charset="-122"/>
              </a:rPr>
              <a:t>xml:lang</a:t>
            </a:r>
            <a:r>
              <a:rPr lang="en-US" altLang="zh-CN" sz="1400" dirty="0">
                <a:solidFill>
                  <a:srgbClr val="0000FF"/>
                </a:solidFill>
                <a:highlight>
                  <a:srgbClr val="FFFFFF"/>
                </a:highlight>
                <a:latin typeface="Arial"/>
                <a:ea typeface="宋体" charset="-122"/>
              </a:rPr>
              <a:t>="</a:t>
            </a:r>
            <a:r>
              <a:rPr lang="en-US" altLang="zh-CN" sz="1400" dirty="0" err="1">
                <a:solidFill>
                  <a:srgbClr val="000000"/>
                </a:solidFill>
                <a:highlight>
                  <a:srgbClr val="FFFFFF"/>
                </a:highlight>
                <a:latin typeface="Arial"/>
                <a:ea typeface="宋体" charset="-122"/>
              </a:rPr>
              <a:t>cs</a:t>
            </a:r>
            <a:r>
              <a:rPr lang="en-US" altLang="zh-CN" sz="1400" dirty="0">
                <a:solidFill>
                  <a:srgbClr val="0000FF"/>
                </a:solidFill>
                <a:highlight>
                  <a:srgbClr val="FFFFFF"/>
                </a:highlight>
                <a:latin typeface="Arial"/>
                <a:ea typeface="宋体" charset="-122"/>
              </a:rPr>
              <a:t>"&gt;</a:t>
            </a:r>
            <a:r>
              <a:rPr lang="en-US" altLang="zh-CN" sz="1400" dirty="0" err="1">
                <a:solidFill>
                  <a:srgbClr val="000000"/>
                </a:solidFill>
                <a:highlight>
                  <a:srgbClr val="FFFFFF"/>
                </a:highlight>
                <a:latin typeface="Arial"/>
                <a:ea typeface="宋体" charset="-122"/>
              </a:rPr>
              <a:t>Chyba</a:t>
            </a:r>
            <a:r>
              <a:rPr lang="en-US" altLang="zh-CN" sz="1400" dirty="0">
                <a:solidFill>
                  <a:srgbClr val="000000"/>
                </a:solidFill>
                <a:highlight>
                  <a:srgbClr val="FFFFFF"/>
                </a:highlight>
                <a:latin typeface="Arial"/>
                <a:ea typeface="宋体" charset="-122"/>
              </a:rPr>
              <a:t> </a:t>
            </a:r>
            <a:r>
              <a:rPr lang="en-US" altLang="zh-CN" sz="1400" dirty="0" err="1">
                <a:solidFill>
                  <a:srgbClr val="000000"/>
                </a:solidFill>
                <a:highlight>
                  <a:srgbClr val="FFFFFF"/>
                </a:highlight>
                <a:latin typeface="Arial"/>
                <a:ea typeface="宋体" charset="-122"/>
              </a:rPr>
              <a:t>zpracování</a:t>
            </a:r>
            <a:r>
              <a:rPr lang="en-US" altLang="zh-CN" sz="1400" dirty="0">
                <a:solidFill>
                  <a:srgbClr val="0000FF"/>
                </a:solidFill>
                <a:highlight>
                  <a:srgbClr val="FFFFFF"/>
                </a:highlight>
                <a:latin typeface="Arial"/>
                <a:ea typeface="宋体" charset="-122"/>
              </a:rPr>
              <a:t>&lt;/</a:t>
            </a:r>
            <a:r>
              <a:rPr lang="en-US" altLang="zh-CN" sz="1400" dirty="0" err="1">
                <a:solidFill>
                  <a:srgbClr val="800000"/>
                </a:solidFill>
                <a:highlight>
                  <a:srgbClr val="FFFFFF"/>
                </a:highlight>
                <a:latin typeface="Arial"/>
                <a:ea typeface="宋体" charset="-122"/>
              </a:rPr>
              <a:t>env:Text</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a:t>
            </a:r>
            <a:r>
              <a:rPr lang="en-US" altLang="zh-CN" sz="1400" dirty="0">
                <a:solidFill>
                  <a:srgbClr val="0000FF"/>
                </a:solidFill>
                <a:highlight>
                  <a:srgbClr val="FFFFFF"/>
                </a:highlight>
                <a:latin typeface="Arial"/>
                <a:ea typeface="宋体" charset="-122"/>
              </a:rPr>
              <a:t>&lt;/</a:t>
            </a:r>
            <a:r>
              <a:rPr lang="en-US" altLang="zh-CN" sz="1400" dirty="0" err="1">
                <a:solidFill>
                  <a:srgbClr val="800000"/>
                </a:solidFill>
                <a:highlight>
                  <a:srgbClr val="FFFFFF"/>
                </a:highlight>
                <a:latin typeface="Arial"/>
                <a:ea typeface="宋体" charset="-122"/>
              </a:rPr>
              <a:t>env:Reason</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a:t>
            </a:r>
            <a:r>
              <a:rPr lang="en-US" altLang="zh-CN" sz="1400" dirty="0">
                <a:solidFill>
                  <a:srgbClr val="0000FF"/>
                </a:solidFill>
                <a:highlight>
                  <a:srgbClr val="FFFFFF"/>
                </a:highlight>
                <a:latin typeface="Arial"/>
                <a:ea typeface="宋体" charset="-122"/>
              </a:rPr>
              <a:t>&lt;</a:t>
            </a:r>
            <a:r>
              <a:rPr lang="en-US" altLang="zh-CN" sz="1400" dirty="0" err="1">
                <a:solidFill>
                  <a:srgbClr val="800000"/>
                </a:solidFill>
                <a:highlight>
                  <a:srgbClr val="FFFFFF"/>
                </a:highlight>
                <a:latin typeface="Arial"/>
                <a:ea typeface="宋体" charset="-122"/>
              </a:rPr>
              <a:t>env:Detail</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a:t>
            </a:r>
            <a:r>
              <a:rPr lang="en-US" altLang="zh-CN" sz="1400" dirty="0">
                <a:solidFill>
                  <a:srgbClr val="0000FF"/>
                </a:solidFill>
                <a:highlight>
                  <a:srgbClr val="FFFFFF"/>
                </a:highlight>
                <a:latin typeface="Arial"/>
                <a:ea typeface="宋体" charset="-122"/>
              </a:rPr>
              <a:t>&lt;</a:t>
            </a:r>
            <a:r>
              <a:rPr lang="en-US" altLang="zh-CN" sz="1400" dirty="0" err="1">
                <a:solidFill>
                  <a:srgbClr val="800000"/>
                </a:solidFill>
                <a:highlight>
                  <a:srgbClr val="FFFFFF"/>
                </a:highlight>
                <a:latin typeface="Arial"/>
                <a:ea typeface="宋体" charset="-122"/>
              </a:rPr>
              <a:t>e:myFaultDetails</a:t>
            </a:r>
            <a:r>
              <a:rPr lang="en-US" altLang="zh-CN" sz="1400" dirty="0">
                <a:solidFill>
                  <a:srgbClr val="FF0000"/>
                </a:solidFill>
                <a:highlight>
                  <a:srgbClr val="FFFFFF"/>
                </a:highlight>
                <a:latin typeface="Arial"/>
                <a:ea typeface="宋体" charset="-122"/>
              </a:rPr>
              <a:t>      </a:t>
            </a:r>
            <a:r>
              <a:rPr lang="en-US" altLang="zh-CN" sz="1400" dirty="0" err="1">
                <a:solidFill>
                  <a:srgbClr val="FF0000"/>
                </a:solidFill>
                <a:highlight>
                  <a:srgbClr val="FFFFFF"/>
                </a:highlight>
                <a:latin typeface="Arial"/>
                <a:ea typeface="宋体" charset="-122"/>
              </a:rPr>
              <a:t>xmlns:e</a:t>
            </a:r>
            <a:r>
              <a:rPr lang="en-US" altLang="zh-CN" sz="1400" dirty="0">
                <a:solidFill>
                  <a:srgbClr val="0000FF"/>
                </a:solidFill>
                <a:highlight>
                  <a:srgbClr val="FFFFFF"/>
                </a:highlight>
                <a:latin typeface="Arial"/>
                <a:ea typeface="宋体" charset="-122"/>
              </a:rPr>
              <a:t>="</a:t>
            </a:r>
            <a:r>
              <a:rPr lang="en-US" altLang="zh-CN" sz="1400" dirty="0">
                <a:solidFill>
                  <a:srgbClr val="000000"/>
                </a:solidFill>
                <a:highlight>
                  <a:srgbClr val="FFFFFF"/>
                </a:highlight>
                <a:latin typeface="Arial"/>
                <a:ea typeface="宋体" charset="-122"/>
              </a:rPr>
              <a:t>http://travelcompany.example.org/faults</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a:t>
            </a:r>
            <a:r>
              <a:rPr lang="en-US" altLang="zh-CN" sz="1400" dirty="0">
                <a:solidFill>
                  <a:srgbClr val="0000FF"/>
                </a:solidFill>
                <a:highlight>
                  <a:srgbClr val="FFFFFF"/>
                </a:highlight>
                <a:latin typeface="Arial"/>
                <a:ea typeface="宋体" charset="-122"/>
              </a:rPr>
              <a:t>&lt;</a:t>
            </a:r>
            <a:r>
              <a:rPr lang="en-US" altLang="zh-CN" sz="1400" dirty="0">
                <a:solidFill>
                  <a:srgbClr val="800000"/>
                </a:solidFill>
                <a:highlight>
                  <a:srgbClr val="FFFFFF"/>
                </a:highlight>
                <a:latin typeface="Arial"/>
                <a:ea typeface="宋体" charset="-122"/>
              </a:rPr>
              <a:t>e:message</a:t>
            </a:r>
            <a:r>
              <a:rPr lang="en-US" altLang="zh-CN" sz="1400" dirty="0">
                <a:solidFill>
                  <a:srgbClr val="0000FF"/>
                </a:solidFill>
                <a:highlight>
                  <a:srgbClr val="FFFFFF"/>
                </a:highlight>
                <a:latin typeface="Arial"/>
                <a:ea typeface="宋体" charset="-122"/>
              </a:rPr>
              <a:t>&gt;</a:t>
            </a:r>
            <a:r>
              <a:rPr lang="en-US" altLang="zh-CN" sz="1400" dirty="0">
                <a:solidFill>
                  <a:srgbClr val="000000"/>
                </a:solidFill>
                <a:highlight>
                  <a:srgbClr val="FFFFFF"/>
                </a:highlight>
                <a:latin typeface="Arial"/>
                <a:ea typeface="宋体" charset="-122"/>
              </a:rPr>
              <a:t>Name does not match card number</a:t>
            </a:r>
            <a:r>
              <a:rPr lang="en-US" altLang="zh-CN" sz="1400" dirty="0">
                <a:solidFill>
                  <a:srgbClr val="0000FF"/>
                </a:solidFill>
                <a:highlight>
                  <a:srgbClr val="FFFFFF"/>
                </a:highlight>
                <a:latin typeface="Arial"/>
                <a:ea typeface="宋体" charset="-122"/>
              </a:rPr>
              <a:t>&lt;/</a:t>
            </a:r>
            <a:r>
              <a:rPr lang="en-US" altLang="zh-CN" sz="1400" dirty="0">
                <a:solidFill>
                  <a:srgbClr val="800000"/>
                </a:solidFill>
                <a:highlight>
                  <a:srgbClr val="FFFFFF"/>
                </a:highlight>
                <a:latin typeface="Arial"/>
                <a:ea typeface="宋体" charset="-122"/>
              </a:rPr>
              <a:t>e:message</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a:t>
            </a:r>
            <a:r>
              <a:rPr lang="en-US" altLang="zh-CN" sz="1400" dirty="0">
                <a:solidFill>
                  <a:srgbClr val="0000FF"/>
                </a:solidFill>
                <a:highlight>
                  <a:srgbClr val="FFFFFF"/>
                </a:highlight>
                <a:latin typeface="Arial"/>
                <a:ea typeface="宋体" charset="-122"/>
              </a:rPr>
              <a:t>&lt;</a:t>
            </a:r>
            <a:r>
              <a:rPr lang="en-US" altLang="zh-CN" sz="1400" dirty="0">
                <a:solidFill>
                  <a:srgbClr val="800000"/>
                </a:solidFill>
                <a:highlight>
                  <a:srgbClr val="FFFFFF"/>
                </a:highlight>
                <a:latin typeface="Arial"/>
                <a:ea typeface="宋体" charset="-122"/>
              </a:rPr>
              <a:t>e:errorcode</a:t>
            </a:r>
            <a:r>
              <a:rPr lang="en-US" altLang="zh-CN" sz="1400" dirty="0">
                <a:solidFill>
                  <a:srgbClr val="0000FF"/>
                </a:solidFill>
                <a:highlight>
                  <a:srgbClr val="FFFFFF"/>
                </a:highlight>
                <a:latin typeface="Arial"/>
                <a:ea typeface="宋体" charset="-122"/>
              </a:rPr>
              <a:t>&gt;</a:t>
            </a:r>
            <a:r>
              <a:rPr lang="en-US" altLang="zh-CN" sz="1400" dirty="0">
                <a:solidFill>
                  <a:srgbClr val="000000"/>
                </a:solidFill>
                <a:highlight>
                  <a:srgbClr val="FFFFFF"/>
                </a:highlight>
                <a:latin typeface="Arial"/>
                <a:ea typeface="宋体" charset="-122"/>
              </a:rPr>
              <a:t>999</a:t>
            </a:r>
            <a:r>
              <a:rPr lang="en-US" altLang="zh-CN" sz="1400" dirty="0">
                <a:solidFill>
                  <a:srgbClr val="0000FF"/>
                </a:solidFill>
                <a:highlight>
                  <a:srgbClr val="FFFFFF"/>
                </a:highlight>
                <a:latin typeface="Arial"/>
                <a:ea typeface="宋体" charset="-122"/>
              </a:rPr>
              <a:t>&lt;/</a:t>
            </a:r>
            <a:r>
              <a:rPr lang="en-US" altLang="zh-CN" sz="1400" dirty="0">
                <a:solidFill>
                  <a:srgbClr val="800000"/>
                </a:solidFill>
                <a:highlight>
                  <a:srgbClr val="FFFFFF"/>
                </a:highlight>
                <a:latin typeface="Arial"/>
                <a:ea typeface="宋体" charset="-122"/>
              </a:rPr>
              <a:t>e:errorcode</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a:t>
            </a:r>
            <a:r>
              <a:rPr lang="en-US" altLang="zh-CN" sz="1400" dirty="0">
                <a:solidFill>
                  <a:srgbClr val="0000FF"/>
                </a:solidFill>
                <a:highlight>
                  <a:srgbClr val="FFFFFF"/>
                </a:highlight>
                <a:latin typeface="Arial"/>
                <a:ea typeface="宋体" charset="-122"/>
              </a:rPr>
              <a:t>&lt;/</a:t>
            </a:r>
            <a:r>
              <a:rPr lang="en-US" altLang="zh-CN" sz="1400" dirty="0">
                <a:solidFill>
                  <a:srgbClr val="800000"/>
                </a:solidFill>
                <a:highlight>
                  <a:srgbClr val="FFFFFF"/>
                </a:highlight>
                <a:latin typeface="Arial"/>
                <a:ea typeface="宋体" charset="-122"/>
              </a:rPr>
              <a:t>e:myFaultDetails</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a:t>
            </a:r>
            <a:r>
              <a:rPr lang="en-US" altLang="zh-CN" sz="1400" dirty="0">
                <a:solidFill>
                  <a:srgbClr val="0000FF"/>
                </a:solidFill>
                <a:highlight>
                  <a:srgbClr val="FFFFFF"/>
                </a:highlight>
                <a:latin typeface="Arial"/>
                <a:ea typeface="宋体" charset="-122"/>
              </a:rPr>
              <a:t>&lt;/</a:t>
            </a:r>
            <a:r>
              <a:rPr lang="en-US" altLang="zh-CN" sz="1400" dirty="0" err="1">
                <a:solidFill>
                  <a:srgbClr val="800000"/>
                </a:solidFill>
                <a:highlight>
                  <a:srgbClr val="FFFFFF"/>
                </a:highlight>
                <a:latin typeface="Arial"/>
                <a:ea typeface="宋体" charset="-122"/>
              </a:rPr>
              <a:t>env:Detail</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a:t>
            </a:r>
            <a:r>
              <a:rPr lang="en-US" altLang="zh-CN" sz="1400" dirty="0">
                <a:solidFill>
                  <a:srgbClr val="0000FF"/>
                </a:solidFill>
                <a:highlight>
                  <a:srgbClr val="FFFFFF"/>
                </a:highlight>
                <a:latin typeface="Arial"/>
                <a:ea typeface="宋体" charset="-122"/>
              </a:rPr>
              <a:t>&lt;/</a:t>
            </a:r>
            <a:r>
              <a:rPr lang="en-US" altLang="zh-CN" sz="1400" dirty="0" err="1">
                <a:solidFill>
                  <a:srgbClr val="800000"/>
                </a:solidFill>
                <a:highlight>
                  <a:srgbClr val="FFFFFF"/>
                </a:highlight>
                <a:latin typeface="Arial"/>
                <a:ea typeface="宋体" charset="-122"/>
              </a:rPr>
              <a:t>env:Fault</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ea typeface="宋体" charset="-122"/>
              </a:rPr>
              <a:t> </a:t>
            </a:r>
            <a:r>
              <a:rPr lang="en-US" altLang="zh-CN" sz="1400" dirty="0">
                <a:solidFill>
                  <a:srgbClr val="0000FF"/>
                </a:solidFill>
                <a:highlight>
                  <a:srgbClr val="FFFFFF"/>
                </a:highlight>
                <a:latin typeface="Arial"/>
                <a:ea typeface="宋体" charset="-122"/>
              </a:rPr>
              <a:t>&lt;/</a:t>
            </a:r>
            <a:r>
              <a:rPr lang="en-US" altLang="zh-CN" sz="1400" dirty="0" err="1">
                <a:solidFill>
                  <a:srgbClr val="800000"/>
                </a:solidFill>
                <a:highlight>
                  <a:srgbClr val="FFFFFF"/>
                </a:highlight>
                <a:latin typeface="Arial"/>
                <a:ea typeface="宋体" charset="-122"/>
              </a:rPr>
              <a:t>env:Body</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ea typeface="宋体" charset="-122"/>
              </a:rPr>
              <a:t>&lt;/</a:t>
            </a:r>
            <a:r>
              <a:rPr lang="en-US" altLang="zh-CN" sz="1400" dirty="0" err="1">
                <a:solidFill>
                  <a:srgbClr val="800000"/>
                </a:solidFill>
                <a:highlight>
                  <a:srgbClr val="FFFFFF"/>
                </a:highlight>
                <a:latin typeface="Arial"/>
                <a:ea typeface="宋体" charset="-122"/>
              </a:rPr>
              <a:t>env:Envelope</a:t>
            </a:r>
            <a:r>
              <a:rPr lang="en-US" altLang="zh-CN" sz="1400" dirty="0">
                <a:solidFill>
                  <a:srgbClr val="0000FF"/>
                </a:solidFill>
                <a:highlight>
                  <a:srgbClr val="FFFFFF"/>
                </a:highlight>
                <a:latin typeface="Arial"/>
                <a:ea typeface="宋体" charset="-122"/>
              </a:rPr>
              <a:t>&gt;</a:t>
            </a:r>
            <a:endParaRPr lang="en-US" altLang="zh-CN" sz="1400" dirty="0">
              <a:solidFill>
                <a:srgbClr val="000000"/>
              </a:solidFill>
              <a:highlight>
                <a:srgbClr val="FFFFFF"/>
              </a:highlight>
              <a:latin typeface="Arial"/>
              <a:ea typeface="宋体" charset="-122"/>
            </a:endParaRPr>
          </a:p>
        </p:txBody>
      </p:sp>
      <p:sp>
        <p:nvSpPr>
          <p:cNvPr id="7" name="Line 6">
            <a:extLst>
              <a:ext uri="{FF2B5EF4-FFF2-40B4-BE49-F238E27FC236}">
                <a16:creationId xmlns:a16="http://schemas.microsoft.com/office/drawing/2014/main" id="{47AB1275-53E7-4AB9-A7F4-F4844A86AB81}"/>
              </a:ext>
            </a:extLst>
          </p:cNvPr>
          <p:cNvSpPr>
            <a:spLocks noChangeShapeType="1"/>
          </p:cNvSpPr>
          <p:nvPr/>
        </p:nvSpPr>
        <p:spPr bwMode="auto">
          <a:xfrm flipH="1" flipV="1">
            <a:off x="2192338" y="4170363"/>
            <a:ext cx="292100" cy="1274762"/>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 name="Text Box 7">
            <a:extLst>
              <a:ext uri="{FF2B5EF4-FFF2-40B4-BE49-F238E27FC236}">
                <a16:creationId xmlns:a16="http://schemas.microsoft.com/office/drawing/2014/main" id="{0F497E81-2220-4F84-B017-F6FC221F68A0}"/>
              </a:ext>
            </a:extLst>
          </p:cNvPr>
          <p:cNvSpPr txBox="1">
            <a:spLocks noChangeArrowheads="1"/>
          </p:cNvSpPr>
          <p:nvPr/>
        </p:nvSpPr>
        <p:spPr bwMode="auto">
          <a:xfrm>
            <a:off x="508000" y="5384800"/>
            <a:ext cx="389255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QName typed, is a base fault that is specified in the SOAP 1.2 and must be understood by all SOAP nodes</a:t>
            </a:r>
          </a:p>
        </p:txBody>
      </p:sp>
      <p:sp>
        <p:nvSpPr>
          <p:cNvPr id="9" name="Line 6">
            <a:extLst>
              <a:ext uri="{FF2B5EF4-FFF2-40B4-BE49-F238E27FC236}">
                <a16:creationId xmlns:a16="http://schemas.microsoft.com/office/drawing/2014/main" id="{DE6E6198-D342-4B1D-8F7A-67930AFE029C}"/>
              </a:ext>
            </a:extLst>
          </p:cNvPr>
          <p:cNvSpPr>
            <a:spLocks noChangeShapeType="1"/>
          </p:cNvSpPr>
          <p:nvPr/>
        </p:nvSpPr>
        <p:spPr bwMode="auto">
          <a:xfrm flipH="1" flipV="1">
            <a:off x="1908175" y="4340225"/>
            <a:ext cx="1630363" cy="149383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Text Box 7">
            <a:extLst>
              <a:ext uri="{FF2B5EF4-FFF2-40B4-BE49-F238E27FC236}">
                <a16:creationId xmlns:a16="http://schemas.microsoft.com/office/drawing/2014/main" id="{7F8EDF8A-FA94-4AA0-B05B-AF31461364E1}"/>
              </a:ext>
            </a:extLst>
          </p:cNvPr>
          <p:cNvSpPr txBox="1">
            <a:spLocks noChangeArrowheads="1"/>
          </p:cNvSpPr>
          <p:nvPr/>
        </p:nvSpPr>
        <p:spPr bwMode="auto">
          <a:xfrm>
            <a:off x="508000" y="5834063"/>
            <a:ext cx="83121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Optional, qualifies the parent value further, can be standardized  or customized.</a:t>
            </a:r>
          </a:p>
          <a:p>
            <a:pPr eaLnBrk="1" hangingPunct="1">
              <a:buFont typeface="Wingdings" panose="05000000000000000000" pitchFamily="2" charset="2"/>
              <a:buNone/>
            </a:pPr>
            <a:r>
              <a:rPr lang="en-US" altLang="zh-CN" sz="1800"/>
              <a:t>Multiple level of fault codes can be expressed by hierarchical structure </a:t>
            </a:r>
          </a:p>
        </p:txBody>
      </p:sp>
      <p:sp>
        <p:nvSpPr>
          <p:cNvPr id="11" name="Line 6">
            <a:extLst>
              <a:ext uri="{FF2B5EF4-FFF2-40B4-BE49-F238E27FC236}">
                <a16:creationId xmlns:a16="http://schemas.microsoft.com/office/drawing/2014/main" id="{43DDBCFA-A567-4019-BE3B-DAE1A801AC81}"/>
              </a:ext>
            </a:extLst>
          </p:cNvPr>
          <p:cNvSpPr>
            <a:spLocks noChangeShapeType="1"/>
          </p:cNvSpPr>
          <p:nvPr/>
        </p:nvSpPr>
        <p:spPr bwMode="auto">
          <a:xfrm flipH="1">
            <a:off x="1392238" y="1898650"/>
            <a:ext cx="1595437" cy="1687513"/>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 name="Text Box 7">
            <a:extLst>
              <a:ext uri="{FF2B5EF4-FFF2-40B4-BE49-F238E27FC236}">
                <a16:creationId xmlns:a16="http://schemas.microsoft.com/office/drawing/2014/main" id="{1A96C378-5D69-4D9C-ABCB-BEBCBEAC16AF}"/>
              </a:ext>
            </a:extLst>
          </p:cNvPr>
          <p:cNvSpPr txBox="1">
            <a:spLocks noChangeArrowheads="1"/>
          </p:cNvSpPr>
          <p:nvPr/>
        </p:nvSpPr>
        <p:spPr bwMode="auto">
          <a:xfrm>
            <a:off x="1595438" y="1322388"/>
            <a:ext cx="29337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The </a:t>
            </a:r>
            <a:r>
              <a:rPr lang="en-US" altLang="zh-CN" sz="1800" i="1"/>
              <a:t>single</a:t>
            </a:r>
            <a:r>
              <a:rPr lang="en-US" altLang="zh-CN" sz="1800"/>
              <a:t> distinguished sub-element of </a:t>
            </a:r>
            <a:r>
              <a:rPr lang="en-US" altLang="zh-CN" sz="1800">
                <a:hlinkClick r:id="rId3"/>
              </a:rPr>
              <a:t>env:Body</a:t>
            </a:r>
            <a:endParaRPr lang="en-US" altLang="zh-CN" sz="1800"/>
          </a:p>
        </p:txBody>
      </p:sp>
      <p:sp>
        <p:nvSpPr>
          <p:cNvPr id="13" name="Line 6">
            <a:extLst>
              <a:ext uri="{FF2B5EF4-FFF2-40B4-BE49-F238E27FC236}">
                <a16:creationId xmlns:a16="http://schemas.microsoft.com/office/drawing/2014/main" id="{9F872B0E-76AD-4F1C-B96C-5F59570B88BE}"/>
              </a:ext>
            </a:extLst>
          </p:cNvPr>
          <p:cNvSpPr>
            <a:spLocks noChangeShapeType="1"/>
          </p:cNvSpPr>
          <p:nvPr/>
        </p:nvSpPr>
        <p:spPr bwMode="auto">
          <a:xfrm flipH="1">
            <a:off x="1593850" y="1160463"/>
            <a:ext cx="3052763" cy="2627312"/>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 name="Text Box 7">
            <a:extLst>
              <a:ext uri="{FF2B5EF4-FFF2-40B4-BE49-F238E27FC236}">
                <a16:creationId xmlns:a16="http://schemas.microsoft.com/office/drawing/2014/main" id="{DCC404E1-E230-4E50-9CEF-ADE8F99A9128}"/>
              </a:ext>
            </a:extLst>
          </p:cNvPr>
          <p:cNvSpPr txBox="1">
            <a:spLocks noChangeArrowheads="1"/>
          </p:cNvSpPr>
          <p:nvPr/>
        </p:nvSpPr>
        <p:spPr bwMode="auto">
          <a:xfrm>
            <a:off x="4067175" y="800100"/>
            <a:ext cx="12969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mandatory</a:t>
            </a:r>
          </a:p>
        </p:txBody>
      </p:sp>
      <p:sp>
        <p:nvSpPr>
          <p:cNvPr id="15" name="Line 6">
            <a:extLst>
              <a:ext uri="{FF2B5EF4-FFF2-40B4-BE49-F238E27FC236}">
                <a16:creationId xmlns:a16="http://schemas.microsoft.com/office/drawing/2014/main" id="{C078454D-0D6E-454F-9F6E-1820285146D4}"/>
              </a:ext>
            </a:extLst>
          </p:cNvPr>
          <p:cNvSpPr>
            <a:spLocks noChangeShapeType="1"/>
          </p:cNvSpPr>
          <p:nvPr/>
        </p:nvSpPr>
        <p:spPr bwMode="auto">
          <a:xfrm>
            <a:off x="4646613" y="1160463"/>
            <a:ext cx="882650" cy="341312"/>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 name="Line 6">
            <a:extLst>
              <a:ext uri="{FF2B5EF4-FFF2-40B4-BE49-F238E27FC236}">
                <a16:creationId xmlns:a16="http://schemas.microsoft.com/office/drawing/2014/main" id="{32B136DB-FBBE-4DFE-BB0C-6BC79E2E0342}"/>
              </a:ext>
            </a:extLst>
          </p:cNvPr>
          <p:cNvSpPr>
            <a:spLocks noChangeShapeType="1"/>
          </p:cNvSpPr>
          <p:nvPr/>
        </p:nvSpPr>
        <p:spPr bwMode="auto">
          <a:xfrm flipH="1">
            <a:off x="5861050" y="1417638"/>
            <a:ext cx="1412875" cy="376237"/>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 name="Text Box 7">
            <a:extLst>
              <a:ext uri="{FF2B5EF4-FFF2-40B4-BE49-F238E27FC236}">
                <a16:creationId xmlns:a16="http://schemas.microsoft.com/office/drawing/2014/main" id="{96CB98F4-F0EC-49CB-A3DD-22B07776EA28}"/>
              </a:ext>
            </a:extLst>
          </p:cNvPr>
          <p:cNvSpPr txBox="1">
            <a:spLocks noChangeArrowheads="1"/>
          </p:cNvSpPr>
          <p:nvPr/>
        </p:nvSpPr>
        <p:spPr bwMode="auto">
          <a:xfrm>
            <a:off x="508000" y="5535613"/>
            <a:ext cx="3854450"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The absence of a </a:t>
            </a:r>
            <a:r>
              <a:rPr lang="en-US" altLang="zh-CN" sz="1800">
                <a:hlinkClick r:id="rId4" action="ppaction://hlinkfile"/>
              </a:rPr>
              <a:t>env:Node</a:t>
            </a:r>
            <a:r>
              <a:rPr lang="en-US" altLang="zh-CN" sz="1800"/>
              <a:t> within </a:t>
            </a:r>
            <a:r>
              <a:rPr lang="en-US" altLang="zh-CN" sz="1800">
                <a:hlinkClick r:id="rId4" action="ppaction://hlinkfile"/>
              </a:rPr>
              <a:t>env:Fault</a:t>
            </a:r>
            <a:r>
              <a:rPr lang="en-US" altLang="zh-CN" sz="1800"/>
              <a:t> implies that it is generated by the ultimate receiver </a:t>
            </a:r>
          </a:p>
        </p:txBody>
      </p:sp>
      <p:sp>
        <p:nvSpPr>
          <p:cNvPr id="18" name="Line 6">
            <a:extLst>
              <a:ext uri="{FF2B5EF4-FFF2-40B4-BE49-F238E27FC236}">
                <a16:creationId xmlns:a16="http://schemas.microsoft.com/office/drawing/2014/main" id="{B8E69203-A59D-43D4-96BD-548719DC2774}"/>
              </a:ext>
            </a:extLst>
          </p:cNvPr>
          <p:cNvSpPr>
            <a:spLocks noChangeShapeType="1"/>
          </p:cNvSpPr>
          <p:nvPr/>
        </p:nvSpPr>
        <p:spPr bwMode="auto">
          <a:xfrm flipH="1">
            <a:off x="6804025" y="1411288"/>
            <a:ext cx="469900" cy="79375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 name="Text Box 7">
            <a:extLst>
              <a:ext uri="{FF2B5EF4-FFF2-40B4-BE49-F238E27FC236}">
                <a16:creationId xmlns:a16="http://schemas.microsoft.com/office/drawing/2014/main" id="{F096B4F2-CD2D-4C7C-A9BA-86E02F058579}"/>
              </a:ext>
            </a:extLst>
          </p:cNvPr>
          <p:cNvSpPr txBox="1">
            <a:spLocks noChangeArrowheads="1"/>
          </p:cNvSpPr>
          <p:nvPr/>
        </p:nvSpPr>
        <p:spPr bwMode="auto">
          <a:xfrm>
            <a:off x="6357938" y="765175"/>
            <a:ext cx="25146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One or more </a:t>
            </a:r>
            <a:r>
              <a:rPr lang="en-US" altLang="zh-CN" sz="1800">
                <a:hlinkClick r:id="rId5"/>
              </a:rPr>
              <a:t>env:Text</a:t>
            </a:r>
            <a:r>
              <a:rPr lang="en-US" altLang="zh-CN" sz="1800"/>
              <a:t> with a unique </a:t>
            </a:r>
            <a:r>
              <a:rPr lang="en-US" altLang="zh-CN" sz="1800">
                <a:hlinkClick r:id="rId5"/>
              </a:rPr>
              <a:t>xml:lang</a:t>
            </a:r>
            <a:endParaRPr lang="en-US" altLang="zh-CN" sz="18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subTnLst>
                                    <p:set>
                                      <p:cBhvr override="childStyle">
                                        <p:cTn dur="1" fill="hold" display="0" masterRel="nextClick" afterEffect="1"/>
                                        <p:tgtEl>
                                          <p:spTgt spid="11"/>
                                        </p:tgtEl>
                                        <p:attrNameLst>
                                          <p:attrName>style.visibility</p:attrName>
                                        </p:attrNameLst>
                                      </p:cBhvr>
                                      <p:to>
                                        <p:strVal val="hidden"/>
                                      </p:to>
                                    </p:set>
                                  </p:subTnLst>
                                </p:cTn>
                              </p:par>
                              <p:par>
                                <p:cTn id="8" presetID="3" presetClass="entr" presetSubtype="1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blinds(horizontal)">
                                      <p:cBhvr>
                                        <p:cTn id="10" dur="500"/>
                                        <p:tgtEl>
                                          <p:spTgt spid="12"/>
                                        </p:tgtEl>
                                      </p:cBhvr>
                                    </p:animEffec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blinds(horizontal)">
                                      <p:cBhvr>
                                        <p:cTn id="15" dur="500"/>
                                        <p:tgtEl>
                                          <p:spTgt spid="13"/>
                                        </p:tgtEl>
                                      </p:cBhvr>
                                    </p:animEffect>
                                  </p:childTnLst>
                                  <p:subTnLst>
                                    <p:set>
                                      <p:cBhvr override="childStyle">
                                        <p:cTn dur="1" fill="hold" display="0" masterRel="nextClick" afterEffect="1"/>
                                        <p:tgtEl>
                                          <p:spTgt spid="13"/>
                                        </p:tgtEl>
                                        <p:attrNameLst>
                                          <p:attrName>style.visibility</p:attrName>
                                        </p:attrNameLst>
                                      </p:cBhvr>
                                      <p:to>
                                        <p:strVal val="hidden"/>
                                      </p:to>
                                    </p:set>
                                  </p:subTnLst>
                                </p:cTn>
                              </p:par>
                              <p:par>
                                <p:cTn id="16" presetID="3" presetClass="entr" presetSubtype="1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blinds(horizontal)">
                                      <p:cBhvr>
                                        <p:cTn id="18" dur="500"/>
                                        <p:tgtEl>
                                          <p:spTgt spid="14"/>
                                        </p:tgtEl>
                                      </p:cBhvr>
                                    </p:animEffect>
                                  </p:childTnLst>
                                  <p:subTnLst>
                                    <p:set>
                                      <p:cBhvr override="childStyle">
                                        <p:cTn dur="1" fill="hold" display="0" masterRel="nextClick" afterEffect="1"/>
                                        <p:tgtEl>
                                          <p:spTgt spid="14"/>
                                        </p:tgtEl>
                                        <p:attrNameLst>
                                          <p:attrName>style.visibility</p:attrName>
                                        </p:attrNameLst>
                                      </p:cBhvr>
                                      <p:to>
                                        <p:strVal val="hidden"/>
                                      </p:to>
                                    </p:set>
                                  </p:subTnLst>
                                </p:cTn>
                              </p:par>
                              <p:par>
                                <p:cTn id="19" presetID="3" presetClass="entr" presetSubtype="1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blinds(horizontal)">
                                      <p:cBhvr>
                                        <p:cTn id="21" dur="500"/>
                                        <p:tgtEl>
                                          <p:spTgt spid="15"/>
                                        </p:tgtEl>
                                      </p:cBhvr>
                                    </p:animEffect>
                                  </p:childTnLst>
                                  <p:subTnLst>
                                    <p:set>
                                      <p:cBhvr override="childStyle">
                                        <p:cTn dur="1" fill="hold" display="0" masterRel="nextClick" afterEffect="1"/>
                                        <p:tgtEl>
                                          <p:spTgt spid="15"/>
                                        </p:tgtEl>
                                        <p:attrNameLst>
                                          <p:attrName>style.visibility</p:attrName>
                                        </p:attrNameLst>
                                      </p:cBhvr>
                                      <p:to>
                                        <p:strVal val="hidden"/>
                                      </p:to>
                                    </p:set>
                                  </p:sub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blinds(horizontal)">
                                      <p:cBhvr>
                                        <p:cTn id="26"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par>
                                <p:cTn id="27" presetID="3" presetClass="entr" presetSubtype="1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blinds(horizontal)">
                                      <p:cBhvr>
                                        <p:cTn id="29"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blinds(horizontal)">
                                      <p:cBhvr>
                                        <p:cTn id="34"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par>
                                <p:cTn id="35" presetID="3" presetClass="entr" presetSubtype="1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blinds(horizontal)">
                                      <p:cBhvr>
                                        <p:cTn id="37" dur="500"/>
                                        <p:tgtEl>
                                          <p:spTgt spid="10"/>
                                        </p:tgtEl>
                                      </p:cBhvr>
                                    </p:animEffec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blinds(horizontal)">
                                      <p:cBhvr>
                                        <p:cTn id="42" dur="500"/>
                                        <p:tgtEl>
                                          <p:spTgt spid="16"/>
                                        </p:tgtEl>
                                      </p:cBhvr>
                                    </p:animEffect>
                                  </p:childTnLst>
                                  <p:subTnLst>
                                    <p:set>
                                      <p:cBhvr override="childStyle">
                                        <p:cTn dur="1" fill="hold" display="0" masterRel="nextClick" afterEffect="1"/>
                                        <p:tgtEl>
                                          <p:spTgt spid="16"/>
                                        </p:tgtEl>
                                        <p:attrNameLst>
                                          <p:attrName>style.visibility</p:attrName>
                                        </p:attrNameLst>
                                      </p:cBhvr>
                                      <p:to>
                                        <p:strVal val="hidden"/>
                                      </p:to>
                                    </p:set>
                                  </p:subTnLst>
                                </p:cTn>
                              </p:par>
                              <p:par>
                                <p:cTn id="43" presetID="3" presetClass="entr" presetSubtype="10" fill="hold"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blinds(horizontal)">
                                      <p:cBhvr>
                                        <p:cTn id="45" dur="500"/>
                                        <p:tgtEl>
                                          <p:spTgt spid="18"/>
                                        </p:tgtEl>
                                      </p:cBhvr>
                                    </p:animEffect>
                                  </p:childTnLst>
                                  <p:subTnLst>
                                    <p:set>
                                      <p:cBhvr override="childStyle">
                                        <p:cTn dur="1" fill="hold" display="0" masterRel="nextClick" afterEffect="1"/>
                                        <p:tgtEl>
                                          <p:spTgt spid="18"/>
                                        </p:tgtEl>
                                        <p:attrNameLst>
                                          <p:attrName>style.visibility</p:attrName>
                                        </p:attrNameLst>
                                      </p:cBhvr>
                                      <p:to>
                                        <p:strVal val="hidden"/>
                                      </p:to>
                                    </p:set>
                                  </p:subTnLst>
                                </p:cTn>
                              </p:par>
                              <p:par>
                                <p:cTn id="46" presetID="3" presetClass="entr" presetSubtype="1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blinds(horizontal)">
                                      <p:cBhvr>
                                        <p:cTn id="48" dur="500"/>
                                        <p:tgtEl>
                                          <p:spTgt spid="19"/>
                                        </p:tgtEl>
                                      </p:cBhvr>
                                    </p:animEffect>
                                  </p:childTnLst>
                                  <p:subTnLst>
                                    <p:set>
                                      <p:cBhvr override="childStyle">
                                        <p:cTn dur="1" fill="hold" display="0" masterRel="nextClick" afterEffect="1"/>
                                        <p:tgtEl>
                                          <p:spTgt spid="19"/>
                                        </p:tgtEl>
                                        <p:attrNameLst>
                                          <p:attrName>style.visibility</p:attrName>
                                        </p:attrNameLst>
                                      </p:cBhvr>
                                      <p:to>
                                        <p:strVal val="hidden"/>
                                      </p:to>
                                    </p:set>
                                  </p:subTnLst>
                                </p:cTn>
                              </p:par>
                            </p:childTnLst>
                          </p:cTn>
                        </p:par>
                      </p:childTnLst>
                    </p:cTn>
                  </p:par>
                  <p:par>
                    <p:cTn id="49" fill="hold" nodeType="clickPar">
                      <p:stCondLst>
                        <p:cond delay="indefinite"/>
                      </p:stCondLst>
                      <p:childTnLst>
                        <p:par>
                          <p:cTn id="50" fill="hold" nodeType="withGroup">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blinds(horizontal)">
                                      <p:cBhvr>
                                        <p:cTn id="53" dur="500"/>
                                        <p:tgtEl>
                                          <p:spTgt spid="17"/>
                                        </p:tgtEl>
                                      </p:cBhvr>
                                    </p:animEffec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2" grpId="0"/>
      <p:bldP spid="14" grpId="0"/>
      <p:bldP spid="17" grpId="0"/>
      <p:bldP spid="1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a:extLst>
              <a:ext uri="{FF2B5EF4-FFF2-40B4-BE49-F238E27FC236}">
                <a16:creationId xmlns:a16="http://schemas.microsoft.com/office/drawing/2014/main" id="{0B0FFB4C-6552-4874-9432-3ED9663A4E92}"/>
              </a:ext>
            </a:extLst>
          </p:cNvPr>
          <p:cNvSpPr>
            <a:spLocks noGrp="1"/>
          </p:cNvSpPr>
          <p:nvPr>
            <p:ph type="title"/>
          </p:nvPr>
        </p:nvSpPr>
        <p:spPr/>
        <p:txBody>
          <a:bodyPr>
            <a:normAutofit/>
          </a:bodyPr>
          <a:lstStyle/>
          <a:p>
            <a:r>
              <a:rPr lang="en-US" altLang="zh-CN" sz="2900" dirty="0" err="1">
                <a:hlinkClick r:id="rId3"/>
              </a:rPr>
              <a:t>NotUnderstood</a:t>
            </a:r>
            <a:r>
              <a:rPr lang="en-US" altLang="zh-CN" sz="2900" dirty="0"/>
              <a:t> Message (1/2)</a:t>
            </a:r>
            <a:endParaRPr lang="zh-CN" altLang="en-US" sz="2900" dirty="0"/>
          </a:p>
        </p:txBody>
      </p:sp>
      <p:sp>
        <p:nvSpPr>
          <p:cNvPr id="11267" name="内容占位符 2">
            <a:extLst>
              <a:ext uri="{FF2B5EF4-FFF2-40B4-BE49-F238E27FC236}">
                <a16:creationId xmlns:a16="http://schemas.microsoft.com/office/drawing/2014/main" id="{14A02594-CA2C-4210-8CE6-AF4573693206}"/>
              </a:ext>
            </a:extLst>
          </p:cNvPr>
          <p:cNvSpPr>
            <a:spLocks noGrp="1"/>
          </p:cNvSpPr>
          <p:nvPr>
            <p:ph idx="1"/>
          </p:nvPr>
        </p:nvSpPr>
        <p:spPr/>
        <p:txBody>
          <a:bodyPr/>
          <a:lstStyle/>
          <a:p>
            <a:r>
              <a:rPr lang="en-US" altLang="zh-CN" sz="2400"/>
              <a:t>During the processing of a SOAP message, a fault may also be generated if a mandatory header element is not understood or the information contained in it cannot be processed</a:t>
            </a:r>
          </a:p>
          <a:p>
            <a:r>
              <a:rPr lang="en-US" altLang="zh-CN" sz="2400"/>
              <a:t>Errors in processing a header block are also signalled using a </a:t>
            </a:r>
            <a:r>
              <a:rPr lang="en-US" altLang="zh-CN" sz="2400">
                <a:hlinkClick r:id="rId4" action="ppaction://hlinkfile"/>
              </a:rPr>
              <a:t>env:Fault</a:t>
            </a:r>
            <a:r>
              <a:rPr lang="en-US" altLang="zh-CN" sz="2400"/>
              <a:t> element within the </a:t>
            </a:r>
            <a:r>
              <a:rPr lang="en-US" altLang="zh-CN" sz="2400">
                <a:hlinkClick r:id="rId4" action="ppaction://hlinkfile"/>
              </a:rPr>
              <a:t>env:Body</a:t>
            </a:r>
            <a:r>
              <a:rPr lang="en-US" altLang="zh-CN" sz="2400"/>
              <a:t>, but the </a:t>
            </a:r>
            <a:r>
              <a:rPr lang="en-US" altLang="zh-CN" sz="2400">
                <a:hlinkClick r:id="rId5"/>
              </a:rPr>
              <a:t>Detail</a:t>
            </a:r>
            <a:r>
              <a:rPr lang="en-US" altLang="zh-CN" sz="2400"/>
              <a:t> sub-element is not used, and a particular distinguished header element, </a:t>
            </a:r>
            <a:r>
              <a:rPr lang="en-US" altLang="zh-CN" sz="2400">
                <a:hlinkClick r:id="rId6" action="ppaction://hlinkfile"/>
              </a:rPr>
              <a:t>Misunderstood</a:t>
            </a:r>
            <a:r>
              <a:rPr lang="en-US" altLang="zh-CN" sz="2400"/>
              <a:t>, in the SOAP fault namespace, identifies the offending header</a:t>
            </a:r>
          </a:p>
        </p:txBody>
      </p:sp>
      <p:sp>
        <p:nvSpPr>
          <p:cNvPr id="11268" name="灯片编号占位符 3">
            <a:extLst>
              <a:ext uri="{FF2B5EF4-FFF2-40B4-BE49-F238E27FC236}">
                <a16:creationId xmlns:a16="http://schemas.microsoft.com/office/drawing/2014/main" id="{2D01AB18-8B0A-4330-8D12-A0613762F0AC}"/>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E7B5CB05-0B08-4B55-B0FF-1AEDFFC1FB08}" type="slidenum">
              <a:rPr lang="en-US" altLang="zh-CN" smtClean="0"/>
              <a:pPr/>
              <a:t>25</a:t>
            </a:fld>
            <a:endParaRPr lang="en-US" altLang="zh-CN" sz="1000"/>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a:extLst>
              <a:ext uri="{FF2B5EF4-FFF2-40B4-BE49-F238E27FC236}">
                <a16:creationId xmlns:a16="http://schemas.microsoft.com/office/drawing/2014/main" id="{816A69C6-0DEC-40E9-99A9-25864A888774}"/>
              </a:ext>
            </a:extLst>
          </p:cNvPr>
          <p:cNvSpPr>
            <a:spLocks noGrp="1"/>
          </p:cNvSpPr>
          <p:nvPr>
            <p:ph type="title"/>
          </p:nvPr>
        </p:nvSpPr>
        <p:spPr/>
        <p:txBody>
          <a:bodyPr>
            <a:normAutofit/>
          </a:bodyPr>
          <a:lstStyle/>
          <a:p>
            <a:r>
              <a:rPr lang="en-US" altLang="zh-CN" sz="2900" dirty="0" err="1">
                <a:hlinkClick r:id="rId3"/>
              </a:rPr>
              <a:t>NotUnderstood</a:t>
            </a:r>
            <a:r>
              <a:rPr lang="en-US" altLang="zh-CN" sz="2900" dirty="0"/>
              <a:t> Message (2/2)</a:t>
            </a:r>
            <a:endParaRPr lang="zh-CN" altLang="en-US" sz="2900" dirty="0"/>
          </a:p>
        </p:txBody>
      </p:sp>
      <p:sp>
        <p:nvSpPr>
          <p:cNvPr id="13315" name="灯片编号占位符 3">
            <a:extLst>
              <a:ext uri="{FF2B5EF4-FFF2-40B4-BE49-F238E27FC236}">
                <a16:creationId xmlns:a16="http://schemas.microsoft.com/office/drawing/2014/main" id="{FEE177D1-F237-4ADB-9926-5BD7721E1503}"/>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E7B5CB05-0B08-4B55-B0FF-1AEDFFC1FB08}" type="slidenum">
              <a:rPr lang="en-US" altLang="zh-CN" smtClean="0"/>
              <a:pPr/>
              <a:t>26</a:t>
            </a:fld>
            <a:endParaRPr lang="en-US" altLang="zh-CN" sz="1000"/>
          </a:p>
        </p:txBody>
      </p:sp>
      <p:sp>
        <p:nvSpPr>
          <p:cNvPr id="5" name="Text Box 4">
            <a:extLst>
              <a:ext uri="{FF2B5EF4-FFF2-40B4-BE49-F238E27FC236}">
                <a16:creationId xmlns:a16="http://schemas.microsoft.com/office/drawing/2014/main" id="{B01845D2-B3E3-435B-818B-020C022230C3}"/>
              </a:ext>
            </a:extLst>
          </p:cNvPr>
          <p:cNvSpPr txBox="1">
            <a:spLocks noChangeArrowheads="1"/>
          </p:cNvSpPr>
          <p:nvPr/>
        </p:nvSpPr>
        <p:spPr bwMode="auto">
          <a:xfrm>
            <a:off x="322672" y="1167198"/>
            <a:ext cx="8498656" cy="5656933"/>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600" dirty="0">
                <a:solidFill>
                  <a:srgbClr val="008080"/>
                </a:solidFill>
                <a:highlight>
                  <a:srgbClr val="FFFFFF"/>
                </a:highlight>
                <a:latin typeface="Arial"/>
                <a:ea typeface="宋体" charset="-122"/>
              </a:rPr>
              <a:t>&lt;?xml version='1.0' ?&gt;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FF"/>
                </a:solidFill>
                <a:highlight>
                  <a:srgbClr val="FFFFFF"/>
                </a:highlight>
                <a:latin typeface="Arial"/>
                <a:ea typeface="宋体" charset="-122"/>
              </a:rPr>
              <a:t>&lt;</a:t>
            </a:r>
            <a:r>
              <a:rPr lang="en-US" altLang="zh-CN" sz="1600" dirty="0" err="1">
                <a:solidFill>
                  <a:srgbClr val="800000"/>
                </a:solidFill>
                <a:highlight>
                  <a:srgbClr val="FFFFFF"/>
                </a:highlight>
                <a:latin typeface="Arial"/>
                <a:ea typeface="宋体" charset="-122"/>
              </a:rPr>
              <a:t>env:Envelope</a:t>
            </a:r>
            <a:r>
              <a:rPr lang="en-US" altLang="zh-CN" sz="1600" dirty="0">
                <a:solidFill>
                  <a:srgbClr val="FF0000"/>
                </a:solidFill>
                <a:highlight>
                  <a:srgbClr val="FFFFFF"/>
                </a:highlight>
                <a:latin typeface="Arial"/>
                <a:ea typeface="宋体" charset="-122"/>
              </a:rPr>
              <a:t> </a:t>
            </a:r>
            <a:r>
              <a:rPr lang="en-US" altLang="zh-CN" sz="1600" dirty="0" err="1">
                <a:solidFill>
                  <a:srgbClr val="FF0000"/>
                </a:solidFill>
                <a:highlight>
                  <a:srgbClr val="FFFFFF"/>
                </a:highlight>
                <a:latin typeface="Arial"/>
                <a:ea typeface="宋体" charset="-122"/>
              </a:rPr>
              <a:t>xmlns:env</a:t>
            </a:r>
            <a:r>
              <a:rPr lang="en-US" altLang="zh-CN" sz="1600" dirty="0">
                <a:solidFill>
                  <a:srgbClr val="0000FF"/>
                </a:solidFill>
                <a:highlight>
                  <a:srgbClr val="FFFFFF"/>
                </a:highlight>
                <a:latin typeface="Arial"/>
                <a:ea typeface="宋体" charset="-122"/>
              </a:rPr>
              <a:t>=</a:t>
            </a:r>
            <a:r>
              <a:rPr lang="en-US" altLang="zh-CN" sz="1600" dirty="0">
                <a:solidFill>
                  <a:srgbClr val="0000FF"/>
                </a:solidFill>
                <a:highlight>
                  <a:srgbClr val="FFFFFF"/>
                </a:highlight>
                <a:latin typeface="Arial"/>
                <a:ea typeface="宋体" charset="-122"/>
                <a:hlinkClick r:id="rId4"/>
              </a:rPr>
              <a:t>“</a:t>
            </a:r>
            <a:r>
              <a:rPr lang="en-US" altLang="zh-CN" sz="1600" dirty="0">
                <a:solidFill>
                  <a:srgbClr val="000000"/>
                </a:solidFill>
                <a:highlight>
                  <a:srgbClr val="FFFFFF"/>
                </a:highlight>
                <a:latin typeface="Arial"/>
                <a:ea typeface="宋体" charset="-122"/>
                <a:hlinkClick r:id="rId4"/>
              </a:rPr>
              <a:t>http://www.w3.org/2003/05/soap-envelope</a:t>
            </a:r>
            <a:r>
              <a:rPr lang="en-US" altLang="zh-CN" sz="1600" dirty="0">
                <a:solidFill>
                  <a:srgbClr val="000000"/>
                </a:solidFill>
                <a:highlight>
                  <a:srgbClr val="FFFFFF"/>
                </a:highlight>
                <a:latin typeface="Arial"/>
                <a:ea typeface="宋体" charset="-122"/>
              </a:rPr>
              <a:t>”</a:t>
            </a:r>
            <a:endParaRPr lang="en-US" altLang="zh-CN" sz="1600" dirty="0">
              <a:solidFill>
                <a:srgbClr val="0000FF"/>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FF0000"/>
                </a:solidFill>
                <a:highlight>
                  <a:srgbClr val="FFFFFF"/>
                </a:highlight>
                <a:latin typeface="Arial"/>
                <a:ea typeface="宋体" charset="-122"/>
              </a:rPr>
              <a:t>		</a:t>
            </a:r>
            <a:r>
              <a:rPr lang="en-US" altLang="zh-CN" sz="1600" dirty="0" err="1">
                <a:solidFill>
                  <a:srgbClr val="FF0000"/>
                </a:solidFill>
                <a:highlight>
                  <a:srgbClr val="FFFFFF"/>
                </a:highlight>
                <a:latin typeface="Arial"/>
                <a:ea typeface="宋体" charset="-122"/>
              </a:rPr>
              <a:t>xmlns:f</a:t>
            </a:r>
            <a:r>
              <a:rPr lang="en-US" altLang="zh-CN" sz="1600" dirty="0">
                <a:solidFill>
                  <a:srgbClr val="0000FF"/>
                </a:solidFill>
                <a:highlight>
                  <a:srgbClr val="FFFFFF"/>
                </a:highlight>
                <a:latin typeface="Arial"/>
                <a:ea typeface="宋体" charset="-122"/>
              </a:rPr>
              <a:t>='</a:t>
            </a:r>
            <a:r>
              <a:rPr lang="en-US" altLang="zh-CN" sz="1600" dirty="0">
                <a:solidFill>
                  <a:srgbClr val="000000"/>
                </a:solidFill>
                <a:highlight>
                  <a:srgbClr val="FFFFFF"/>
                </a:highlight>
                <a:latin typeface="Arial"/>
                <a:ea typeface="宋体" charset="-122"/>
              </a:rPr>
              <a:t>http://</a:t>
            </a:r>
            <a:r>
              <a:rPr lang="en-US" altLang="zh-CN" sz="1600" dirty="0">
                <a:solidFill>
                  <a:srgbClr val="000000"/>
                </a:solidFill>
                <a:highlight>
                  <a:srgbClr val="FFFFFF"/>
                </a:highlight>
                <a:latin typeface="Arial"/>
                <a:ea typeface="宋体" charset="-122"/>
                <a:hlinkClick r:id="rId5" action="ppaction://hlinkfile"/>
              </a:rPr>
              <a:t>www.w3.org/2002/06/soap-faults</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err="1">
                <a:solidFill>
                  <a:srgbClr val="800000"/>
                </a:solidFill>
                <a:highlight>
                  <a:srgbClr val="FFFFFF"/>
                </a:highlight>
                <a:latin typeface="Arial"/>
                <a:ea typeface="宋体" charset="-122"/>
              </a:rPr>
              <a:t>env:Header</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err="1">
                <a:solidFill>
                  <a:srgbClr val="800000"/>
                </a:solidFill>
                <a:highlight>
                  <a:srgbClr val="FFFFFF"/>
                </a:highlight>
                <a:latin typeface="Arial"/>
                <a:ea typeface="宋体" charset="-122"/>
              </a:rPr>
              <a:t>t:Misunderstood</a:t>
            </a:r>
            <a:r>
              <a:rPr lang="en-US" altLang="zh-CN" sz="1600" dirty="0">
                <a:solidFill>
                  <a:srgbClr val="800000"/>
                </a:solidFill>
                <a:highlight>
                  <a:srgbClr val="FFFFFF"/>
                </a:highlight>
                <a:latin typeface="Arial"/>
                <a:ea typeface="宋体" charset="-122"/>
              </a:rPr>
              <a:t> </a:t>
            </a:r>
            <a:r>
              <a:rPr lang="en-US" altLang="zh-CN" sz="1600" dirty="0">
                <a:solidFill>
                  <a:srgbClr val="FF0000"/>
                </a:solidFill>
                <a:highlight>
                  <a:srgbClr val="FFFFFF"/>
                </a:highlight>
                <a:latin typeface="Arial"/>
                <a:ea typeface="宋体" charset="-122"/>
              </a:rPr>
              <a:t> </a:t>
            </a:r>
            <a:r>
              <a:rPr lang="en-US" altLang="zh-CN" sz="1600" dirty="0" err="1">
                <a:solidFill>
                  <a:srgbClr val="FF0000"/>
                </a:solidFill>
                <a:highlight>
                  <a:srgbClr val="FFFFFF"/>
                </a:highlight>
                <a:latin typeface="Arial"/>
                <a:ea typeface="宋体" charset="-122"/>
              </a:rPr>
              <a:t>qname</a:t>
            </a:r>
            <a:r>
              <a:rPr lang="en-US" altLang="zh-CN" sz="1600" dirty="0">
                <a:solidFill>
                  <a:srgbClr val="0000FF"/>
                </a:solidFill>
                <a:highlight>
                  <a:srgbClr val="FFFFFF"/>
                </a:highlight>
                <a:latin typeface="Arial"/>
                <a:ea typeface="宋体" charset="-122"/>
              </a:rPr>
              <a:t>="</a:t>
            </a:r>
            <a:r>
              <a:rPr lang="en-US" altLang="zh-CN" sz="1600" dirty="0">
                <a:solidFill>
                  <a:srgbClr val="000000"/>
                </a:solidFill>
                <a:highlight>
                  <a:srgbClr val="FFFFFF"/>
                </a:highlight>
                <a:latin typeface="Arial"/>
                <a:ea typeface="宋体" charset="-122"/>
              </a:rPr>
              <a:t>t:transaction</a:t>
            </a:r>
            <a:r>
              <a:rPr lang="en-US" altLang="zh-CN" sz="1600" dirty="0">
                <a:solidFill>
                  <a:srgbClr val="0000FF"/>
                </a:solidFill>
                <a:highlight>
                  <a:srgbClr val="FFFFFF"/>
                </a:highlight>
                <a:latin typeface="Arial"/>
                <a:ea typeface="宋体" charset="-122"/>
              </a:rPr>
              <a:t>"</a:t>
            </a:r>
            <a:endParaRPr lang="en-US" altLang="zh-CN" sz="1600" dirty="0">
              <a:solidFill>
                <a:srgbClr val="FF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FF0000"/>
                </a:solidFill>
                <a:highlight>
                  <a:srgbClr val="FFFFFF"/>
                </a:highlight>
                <a:latin typeface="Arial"/>
                <a:ea typeface="宋体" charset="-122"/>
              </a:rPr>
              <a:t>               </a:t>
            </a:r>
            <a:r>
              <a:rPr lang="en-US" altLang="zh-CN" sz="1600" dirty="0" err="1">
                <a:solidFill>
                  <a:srgbClr val="FF0000"/>
                </a:solidFill>
                <a:highlight>
                  <a:srgbClr val="FFFFFF"/>
                </a:highlight>
                <a:latin typeface="Arial"/>
                <a:ea typeface="宋体" charset="-122"/>
              </a:rPr>
              <a:t>xmlns:t</a:t>
            </a:r>
            <a:r>
              <a:rPr lang="en-US" altLang="zh-CN" sz="1600" dirty="0">
                <a:solidFill>
                  <a:srgbClr val="0000FF"/>
                </a:solidFill>
                <a:highlight>
                  <a:srgbClr val="FFFFFF"/>
                </a:highlight>
                <a:latin typeface="Arial"/>
                <a:ea typeface="宋体" charset="-122"/>
              </a:rPr>
              <a:t>="</a:t>
            </a:r>
            <a:r>
              <a:rPr lang="en-US" altLang="zh-CN" sz="1600" dirty="0">
                <a:solidFill>
                  <a:srgbClr val="000000"/>
                </a:solidFill>
                <a:highlight>
                  <a:srgbClr val="FFFFFF"/>
                </a:highlight>
                <a:latin typeface="Arial"/>
                <a:ea typeface="宋体" charset="-122"/>
              </a:rPr>
              <a:t>http://thirdparty.example.org/transaction</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err="1">
                <a:solidFill>
                  <a:srgbClr val="800000"/>
                </a:solidFill>
                <a:highlight>
                  <a:srgbClr val="FFFFFF"/>
                </a:highlight>
                <a:latin typeface="Arial"/>
                <a:ea typeface="宋体" charset="-122"/>
              </a:rPr>
              <a:t>env:Header</a:t>
            </a:r>
            <a:r>
              <a:rPr lang="en-US" altLang="zh-CN" sz="1600" dirty="0">
                <a:solidFill>
                  <a:srgbClr val="0000FF"/>
                </a:solidFill>
                <a:highlight>
                  <a:srgbClr val="FFFFFF"/>
                </a:highlight>
                <a:latin typeface="Arial"/>
                <a:ea typeface="宋体" charset="-122"/>
              </a:rPr>
              <a:t>&gt;</a:t>
            </a:r>
            <a:r>
              <a:rPr lang="en-US" altLang="zh-CN" sz="1600" dirty="0">
                <a:solidFill>
                  <a:srgbClr val="000000"/>
                </a:solidFill>
                <a:highlight>
                  <a:srgbClr val="FFFFFF"/>
                </a:highlight>
                <a:latin typeface="Arial"/>
                <a:ea typeface="宋体" charset="-122"/>
              </a:rPr>
              <a:t>  </a:t>
            </a: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err="1">
                <a:solidFill>
                  <a:srgbClr val="800000"/>
                </a:solidFill>
                <a:highlight>
                  <a:srgbClr val="FFFFFF"/>
                </a:highlight>
                <a:latin typeface="Arial"/>
                <a:ea typeface="宋体" charset="-122"/>
              </a:rPr>
              <a:t>env:Body</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err="1">
                <a:solidFill>
                  <a:srgbClr val="800000"/>
                </a:solidFill>
                <a:highlight>
                  <a:srgbClr val="FFFFFF"/>
                </a:highlight>
                <a:latin typeface="Arial"/>
                <a:ea typeface="宋体" charset="-122"/>
              </a:rPr>
              <a:t>env:Fault</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err="1">
                <a:solidFill>
                  <a:srgbClr val="800000"/>
                </a:solidFill>
                <a:highlight>
                  <a:srgbClr val="FFFFFF"/>
                </a:highlight>
                <a:latin typeface="Arial"/>
                <a:ea typeface="宋体" charset="-122"/>
              </a:rPr>
              <a:t>env:Code</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err="1">
                <a:solidFill>
                  <a:srgbClr val="800000"/>
                </a:solidFill>
                <a:highlight>
                  <a:srgbClr val="FFFFFF"/>
                </a:highlight>
                <a:latin typeface="Arial"/>
                <a:ea typeface="宋体" charset="-122"/>
              </a:rPr>
              <a:t>env:Value</a:t>
            </a:r>
            <a:r>
              <a:rPr lang="en-US" altLang="zh-CN" sz="1600" dirty="0">
                <a:solidFill>
                  <a:srgbClr val="0000FF"/>
                </a:solidFill>
                <a:highlight>
                  <a:srgbClr val="FFFFFF"/>
                </a:highlight>
                <a:latin typeface="Arial"/>
                <a:ea typeface="宋体" charset="-122"/>
              </a:rPr>
              <a:t>&gt;</a:t>
            </a:r>
            <a:r>
              <a:rPr lang="en-US" altLang="zh-CN" sz="1600" dirty="0" err="1">
                <a:solidFill>
                  <a:srgbClr val="000000"/>
                </a:solidFill>
                <a:highlight>
                  <a:srgbClr val="FFFFFF"/>
                </a:highlight>
                <a:latin typeface="Arial"/>
                <a:ea typeface="宋体" charset="-122"/>
              </a:rPr>
              <a:t>env:MustUnderstand</a:t>
            </a:r>
            <a:r>
              <a:rPr lang="en-US" altLang="zh-CN" sz="1600" dirty="0">
                <a:solidFill>
                  <a:srgbClr val="0000FF"/>
                </a:solidFill>
                <a:highlight>
                  <a:srgbClr val="FFFFFF"/>
                </a:highlight>
                <a:latin typeface="Arial"/>
                <a:ea typeface="宋体" charset="-122"/>
              </a:rPr>
              <a:t>&lt;/</a:t>
            </a:r>
            <a:r>
              <a:rPr lang="en-US" altLang="zh-CN" sz="1600" dirty="0" err="1">
                <a:solidFill>
                  <a:srgbClr val="800000"/>
                </a:solidFill>
                <a:highlight>
                  <a:srgbClr val="FFFFFF"/>
                </a:highlight>
                <a:latin typeface="Arial"/>
                <a:ea typeface="宋体" charset="-122"/>
              </a:rPr>
              <a:t>env:Value</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err="1">
                <a:solidFill>
                  <a:srgbClr val="800000"/>
                </a:solidFill>
                <a:highlight>
                  <a:srgbClr val="FFFFFF"/>
                </a:highlight>
                <a:latin typeface="Arial"/>
                <a:ea typeface="宋体" charset="-122"/>
              </a:rPr>
              <a:t>env:Code</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err="1">
                <a:solidFill>
                  <a:srgbClr val="800000"/>
                </a:solidFill>
                <a:highlight>
                  <a:srgbClr val="FFFFFF"/>
                </a:highlight>
                <a:latin typeface="Arial"/>
                <a:ea typeface="宋体" charset="-122"/>
              </a:rPr>
              <a:t>env:Reason</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err="1">
                <a:solidFill>
                  <a:srgbClr val="800000"/>
                </a:solidFill>
                <a:highlight>
                  <a:srgbClr val="FFFFFF"/>
                </a:highlight>
                <a:latin typeface="Arial"/>
                <a:ea typeface="宋体" charset="-122"/>
              </a:rPr>
              <a:t>env:Text</a:t>
            </a:r>
            <a:r>
              <a:rPr lang="en-US" altLang="zh-CN" sz="1600" dirty="0">
                <a:solidFill>
                  <a:srgbClr val="FF0000"/>
                </a:solidFill>
                <a:highlight>
                  <a:srgbClr val="FFFFFF"/>
                </a:highlight>
                <a:latin typeface="Arial"/>
                <a:ea typeface="宋体" charset="-122"/>
              </a:rPr>
              <a:t> </a:t>
            </a:r>
            <a:r>
              <a:rPr lang="en-US" altLang="zh-CN" sz="1600" dirty="0" err="1">
                <a:solidFill>
                  <a:srgbClr val="FF0000"/>
                </a:solidFill>
                <a:highlight>
                  <a:srgbClr val="FFFFFF"/>
                </a:highlight>
                <a:latin typeface="Arial"/>
                <a:ea typeface="宋体" charset="-122"/>
              </a:rPr>
              <a:t>xml:lang</a:t>
            </a:r>
            <a:r>
              <a:rPr lang="en-US" altLang="zh-CN" sz="1600" dirty="0">
                <a:solidFill>
                  <a:srgbClr val="0000FF"/>
                </a:solidFill>
                <a:highlight>
                  <a:srgbClr val="FFFFFF"/>
                </a:highlight>
                <a:latin typeface="Arial"/>
                <a:ea typeface="宋体" charset="-122"/>
              </a:rPr>
              <a:t>="</a:t>
            </a:r>
            <a:r>
              <a:rPr lang="en-US" altLang="zh-CN" sz="1600" dirty="0">
                <a:solidFill>
                  <a:srgbClr val="000000"/>
                </a:solidFill>
                <a:highlight>
                  <a:srgbClr val="FFFFFF"/>
                </a:highlight>
                <a:latin typeface="Arial"/>
                <a:ea typeface="宋体" charset="-122"/>
              </a:rPr>
              <a:t>en-US</a:t>
            </a:r>
            <a:r>
              <a:rPr lang="en-US" altLang="zh-CN" sz="1600" dirty="0">
                <a:solidFill>
                  <a:srgbClr val="0000FF"/>
                </a:solidFill>
                <a:highlight>
                  <a:srgbClr val="FFFFFF"/>
                </a:highlight>
                <a:latin typeface="Arial"/>
                <a:ea typeface="宋体" charset="-122"/>
              </a:rPr>
              <a:t>"&gt;</a:t>
            </a:r>
            <a:r>
              <a:rPr lang="en-US" altLang="zh-CN" sz="1600" dirty="0">
                <a:solidFill>
                  <a:srgbClr val="000000"/>
                </a:solidFill>
                <a:highlight>
                  <a:srgbClr val="FFFFFF"/>
                </a:highlight>
                <a:latin typeface="Arial"/>
                <a:ea typeface="宋体" charset="-122"/>
              </a:rPr>
              <a:t>Header not understood</a:t>
            </a:r>
            <a:r>
              <a:rPr lang="en-US" altLang="zh-CN" sz="1600" dirty="0">
                <a:solidFill>
                  <a:srgbClr val="0000FF"/>
                </a:solidFill>
                <a:highlight>
                  <a:srgbClr val="FFFFFF"/>
                </a:highlight>
                <a:latin typeface="Arial"/>
                <a:ea typeface="宋体" charset="-122"/>
              </a:rPr>
              <a:t>&lt;/</a:t>
            </a:r>
            <a:r>
              <a:rPr lang="en-US" altLang="zh-CN" sz="1600" dirty="0" err="1">
                <a:solidFill>
                  <a:srgbClr val="800000"/>
                </a:solidFill>
                <a:highlight>
                  <a:srgbClr val="FFFFFF"/>
                </a:highlight>
                <a:latin typeface="Arial"/>
                <a:ea typeface="宋体" charset="-122"/>
              </a:rPr>
              <a:t>env:Text</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fr-FR" altLang="zh-CN" sz="1600" dirty="0">
                <a:solidFill>
                  <a:srgbClr val="000000"/>
                </a:solidFill>
                <a:highlight>
                  <a:srgbClr val="FFFFFF"/>
                </a:highlight>
                <a:latin typeface="Arial"/>
                <a:ea typeface="宋体" charset="-122"/>
              </a:rPr>
              <a:t>      </a:t>
            </a:r>
            <a:r>
              <a:rPr lang="fr-FR" altLang="zh-CN" sz="1600" dirty="0">
                <a:solidFill>
                  <a:srgbClr val="0000FF"/>
                </a:solidFill>
                <a:highlight>
                  <a:srgbClr val="FFFFFF"/>
                </a:highlight>
                <a:latin typeface="Arial"/>
                <a:ea typeface="宋体" charset="-122"/>
              </a:rPr>
              <a:t>&lt;</a:t>
            </a:r>
            <a:r>
              <a:rPr lang="fr-FR" altLang="zh-CN" sz="1600" dirty="0">
                <a:solidFill>
                  <a:srgbClr val="800000"/>
                </a:solidFill>
                <a:highlight>
                  <a:srgbClr val="FFFFFF"/>
                </a:highlight>
                <a:latin typeface="Arial"/>
                <a:ea typeface="宋体" charset="-122"/>
              </a:rPr>
              <a:t>env:Text</a:t>
            </a:r>
            <a:r>
              <a:rPr lang="fr-FR" altLang="zh-CN" sz="1600" dirty="0">
                <a:solidFill>
                  <a:srgbClr val="FF0000"/>
                </a:solidFill>
                <a:highlight>
                  <a:srgbClr val="FFFFFF"/>
                </a:highlight>
                <a:latin typeface="Arial"/>
                <a:ea typeface="宋体" charset="-122"/>
              </a:rPr>
              <a:t> xml:lang</a:t>
            </a:r>
            <a:r>
              <a:rPr lang="fr-FR" altLang="zh-CN" sz="1600" dirty="0">
                <a:solidFill>
                  <a:srgbClr val="0000FF"/>
                </a:solidFill>
                <a:highlight>
                  <a:srgbClr val="FFFFFF"/>
                </a:highlight>
                <a:latin typeface="Arial"/>
                <a:ea typeface="宋体" charset="-122"/>
              </a:rPr>
              <a:t>="</a:t>
            </a:r>
            <a:r>
              <a:rPr lang="fr-FR" altLang="zh-CN" sz="1600" dirty="0">
                <a:solidFill>
                  <a:srgbClr val="000000"/>
                </a:solidFill>
                <a:highlight>
                  <a:srgbClr val="FFFFFF"/>
                </a:highlight>
                <a:latin typeface="Arial"/>
                <a:ea typeface="宋体" charset="-122"/>
              </a:rPr>
              <a:t>fr</a:t>
            </a:r>
            <a:r>
              <a:rPr lang="fr-FR" altLang="zh-CN" sz="1600" dirty="0">
                <a:solidFill>
                  <a:srgbClr val="0000FF"/>
                </a:solidFill>
                <a:highlight>
                  <a:srgbClr val="FFFFFF"/>
                </a:highlight>
                <a:latin typeface="Arial"/>
                <a:ea typeface="宋体" charset="-122"/>
              </a:rPr>
              <a:t>"&gt;</a:t>
            </a:r>
            <a:r>
              <a:rPr lang="fr-FR" altLang="zh-CN" sz="1600" dirty="0">
                <a:solidFill>
                  <a:srgbClr val="000000"/>
                </a:solidFill>
                <a:highlight>
                  <a:srgbClr val="FFFFFF"/>
                </a:highlight>
                <a:latin typeface="Arial"/>
                <a:ea typeface="宋体" charset="-122"/>
              </a:rPr>
              <a:t>En-tête non compris</a:t>
            </a:r>
            <a:r>
              <a:rPr lang="fr-FR" altLang="zh-CN" sz="1600" dirty="0">
                <a:solidFill>
                  <a:srgbClr val="0000FF"/>
                </a:solidFill>
                <a:highlight>
                  <a:srgbClr val="FFFFFF"/>
                </a:highlight>
                <a:latin typeface="Arial"/>
                <a:ea typeface="宋体" charset="-122"/>
              </a:rPr>
              <a:t>&lt;/</a:t>
            </a:r>
            <a:r>
              <a:rPr lang="fr-FR" altLang="zh-CN" sz="1600" dirty="0">
                <a:solidFill>
                  <a:srgbClr val="800000"/>
                </a:solidFill>
                <a:highlight>
                  <a:srgbClr val="FFFFFF"/>
                </a:highlight>
                <a:latin typeface="Arial"/>
                <a:ea typeface="宋体" charset="-122"/>
              </a:rPr>
              <a:t>env:Text</a:t>
            </a:r>
            <a:r>
              <a:rPr lang="fr-FR" altLang="zh-CN" sz="1600" dirty="0">
                <a:solidFill>
                  <a:srgbClr val="0000FF"/>
                </a:solidFill>
                <a:highlight>
                  <a:srgbClr val="FFFFFF"/>
                </a:highlight>
                <a:latin typeface="Arial"/>
                <a:ea typeface="宋体" charset="-122"/>
              </a:rPr>
              <a:t>&gt;</a:t>
            </a:r>
            <a:endParaRPr lang="fr-FR"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err="1">
                <a:solidFill>
                  <a:srgbClr val="800000"/>
                </a:solidFill>
                <a:highlight>
                  <a:srgbClr val="FFFFFF"/>
                </a:highlight>
                <a:latin typeface="Arial"/>
                <a:ea typeface="宋体" charset="-122"/>
              </a:rPr>
              <a:t>env:Reason</a:t>
            </a:r>
            <a:r>
              <a:rPr lang="en-US" altLang="zh-CN" sz="1600" dirty="0">
                <a:solidFill>
                  <a:srgbClr val="0000FF"/>
                </a:solidFill>
                <a:highlight>
                  <a:srgbClr val="FFFFFF"/>
                </a:highlight>
                <a:latin typeface="Arial"/>
                <a:ea typeface="宋体" charset="-122"/>
              </a:rPr>
              <a:t>&gt;</a:t>
            </a:r>
            <a:r>
              <a:rPr lang="en-US" altLang="zh-CN" sz="1600" dirty="0">
                <a:solidFill>
                  <a:srgbClr val="000000"/>
                </a:solidFill>
                <a:highlight>
                  <a:srgbClr val="FFFFFF"/>
                </a:highlight>
                <a:latin typeface="Arial"/>
                <a:ea typeface="宋体" charset="-122"/>
              </a:rPr>
              <a:t>    </a:t>
            </a: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err="1">
                <a:solidFill>
                  <a:srgbClr val="800000"/>
                </a:solidFill>
                <a:highlight>
                  <a:srgbClr val="FFFFFF"/>
                </a:highlight>
                <a:latin typeface="Arial"/>
                <a:ea typeface="宋体" charset="-122"/>
              </a:rPr>
              <a:t>env:Fault</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ea typeface="宋体" charset="-122"/>
              </a:rPr>
              <a:t> </a:t>
            </a:r>
            <a:r>
              <a:rPr lang="en-US" altLang="zh-CN" sz="1600" dirty="0">
                <a:solidFill>
                  <a:srgbClr val="0000FF"/>
                </a:solidFill>
                <a:highlight>
                  <a:srgbClr val="FFFFFF"/>
                </a:highlight>
                <a:latin typeface="Arial"/>
                <a:ea typeface="宋体" charset="-122"/>
              </a:rPr>
              <a:t>&lt;/</a:t>
            </a:r>
            <a:r>
              <a:rPr lang="en-US" altLang="zh-CN" sz="1600" dirty="0" err="1">
                <a:solidFill>
                  <a:srgbClr val="800000"/>
                </a:solidFill>
                <a:highlight>
                  <a:srgbClr val="FFFFFF"/>
                </a:highlight>
                <a:latin typeface="Arial"/>
                <a:ea typeface="宋体" charset="-122"/>
              </a:rPr>
              <a:t>env:Body</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FF"/>
                </a:solidFill>
                <a:highlight>
                  <a:srgbClr val="FFFFFF"/>
                </a:highlight>
                <a:latin typeface="Arial"/>
                <a:ea typeface="宋体" charset="-122"/>
              </a:rPr>
              <a:t>&lt;/</a:t>
            </a:r>
            <a:r>
              <a:rPr lang="en-US" altLang="zh-CN" sz="1600" dirty="0" err="1">
                <a:solidFill>
                  <a:srgbClr val="800000"/>
                </a:solidFill>
                <a:highlight>
                  <a:srgbClr val="FFFFFF"/>
                </a:highlight>
                <a:latin typeface="Arial"/>
                <a:ea typeface="宋体" charset="-122"/>
              </a:rPr>
              <a:t>env:Envelope</a:t>
            </a:r>
            <a:r>
              <a:rPr lang="en-US" altLang="zh-CN" sz="1600" dirty="0">
                <a:solidFill>
                  <a:srgbClr val="0000FF"/>
                </a:solidFill>
                <a:highlight>
                  <a:srgbClr val="FFFFFF"/>
                </a:highlight>
                <a:latin typeface="Arial"/>
                <a:ea typeface="宋体" charset="-122"/>
              </a:rPr>
              <a:t>&gt;</a:t>
            </a:r>
            <a:endParaRPr lang="en-US" altLang="zh-CN" sz="1600" dirty="0">
              <a:solidFill>
                <a:srgbClr val="000000"/>
              </a:solidFill>
              <a:highlight>
                <a:srgbClr val="FFFFFF"/>
              </a:highlight>
              <a:latin typeface="Arial"/>
              <a:ea typeface="宋体" charset="-122"/>
            </a:endParaRPr>
          </a:p>
        </p:txBody>
      </p:sp>
      <p:sp>
        <p:nvSpPr>
          <p:cNvPr id="6" name="Line 6">
            <a:extLst>
              <a:ext uri="{FF2B5EF4-FFF2-40B4-BE49-F238E27FC236}">
                <a16:creationId xmlns:a16="http://schemas.microsoft.com/office/drawing/2014/main" id="{920DA7AB-4267-4644-BF3D-0EE2CE6D910E}"/>
              </a:ext>
            </a:extLst>
          </p:cNvPr>
          <p:cNvSpPr>
            <a:spLocks noChangeShapeType="1"/>
          </p:cNvSpPr>
          <p:nvPr/>
        </p:nvSpPr>
        <p:spPr bwMode="auto">
          <a:xfrm flipH="1" flipV="1">
            <a:off x="4140200" y="2628900"/>
            <a:ext cx="647700" cy="944563"/>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7">
            <a:extLst>
              <a:ext uri="{FF2B5EF4-FFF2-40B4-BE49-F238E27FC236}">
                <a16:creationId xmlns:a16="http://schemas.microsoft.com/office/drawing/2014/main" id="{76EB4A89-418C-4540-844A-F1BB1E966E22}"/>
              </a:ext>
            </a:extLst>
          </p:cNvPr>
          <p:cNvSpPr txBox="1">
            <a:spLocks noChangeArrowheads="1"/>
          </p:cNvSpPr>
          <p:nvPr/>
        </p:nvSpPr>
        <p:spPr bwMode="auto">
          <a:xfrm>
            <a:off x="4787900" y="3349625"/>
            <a:ext cx="20875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I can’t understand this head block</a:t>
            </a:r>
          </a:p>
        </p:txBody>
      </p:sp>
      <p:sp>
        <p:nvSpPr>
          <p:cNvPr id="8" name="Line 6">
            <a:extLst>
              <a:ext uri="{FF2B5EF4-FFF2-40B4-BE49-F238E27FC236}">
                <a16:creationId xmlns:a16="http://schemas.microsoft.com/office/drawing/2014/main" id="{7166BAB6-AF08-4672-BCFC-55F39F26BD97}"/>
              </a:ext>
            </a:extLst>
          </p:cNvPr>
          <p:cNvSpPr>
            <a:spLocks noChangeShapeType="1"/>
          </p:cNvSpPr>
          <p:nvPr/>
        </p:nvSpPr>
        <p:spPr bwMode="auto">
          <a:xfrm flipH="1" flipV="1">
            <a:off x="3600450" y="4402138"/>
            <a:ext cx="1081088" cy="25082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Text Box 7">
            <a:extLst>
              <a:ext uri="{FF2B5EF4-FFF2-40B4-BE49-F238E27FC236}">
                <a16:creationId xmlns:a16="http://schemas.microsoft.com/office/drawing/2014/main" id="{286DAE29-1A1B-4DDB-BDE9-394EC7FF4CE9}"/>
              </a:ext>
            </a:extLst>
          </p:cNvPr>
          <p:cNvSpPr txBox="1">
            <a:spLocks noChangeArrowheads="1"/>
          </p:cNvSpPr>
          <p:nvPr/>
        </p:nvSpPr>
        <p:spPr bwMode="auto">
          <a:xfrm>
            <a:off x="4681538" y="4440238"/>
            <a:ext cx="39227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I can’t understand some mandatory </a:t>
            </a:r>
          </a:p>
        </p:txBody>
      </p:sp>
      <p:sp>
        <p:nvSpPr>
          <p:cNvPr id="10" name="Line 6">
            <a:extLst>
              <a:ext uri="{FF2B5EF4-FFF2-40B4-BE49-F238E27FC236}">
                <a16:creationId xmlns:a16="http://schemas.microsoft.com/office/drawing/2014/main" id="{67874E87-F092-46FC-8763-3BFBE3743D72}"/>
              </a:ext>
            </a:extLst>
          </p:cNvPr>
          <p:cNvSpPr>
            <a:spLocks noChangeShapeType="1"/>
          </p:cNvSpPr>
          <p:nvPr/>
        </p:nvSpPr>
        <p:spPr bwMode="auto">
          <a:xfrm flipH="1" flipV="1">
            <a:off x="5940425" y="2809875"/>
            <a:ext cx="430213" cy="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Text Box 7">
            <a:extLst>
              <a:ext uri="{FF2B5EF4-FFF2-40B4-BE49-F238E27FC236}">
                <a16:creationId xmlns:a16="http://schemas.microsoft.com/office/drawing/2014/main" id="{AA341B20-215D-480B-90B5-E49D2E52C178}"/>
              </a:ext>
            </a:extLst>
          </p:cNvPr>
          <p:cNvSpPr txBox="1">
            <a:spLocks noChangeArrowheads="1"/>
          </p:cNvSpPr>
          <p:nvPr/>
        </p:nvSpPr>
        <p:spPr bwMode="auto">
          <a:xfrm>
            <a:off x="6443663" y="2349500"/>
            <a:ext cx="2451100"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Multiple similar empty blocks are allowed, if necessary</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par>
                                <p:cTn id="13" presetID="3" presetClass="entr" presetSubtype="1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linds(horizontal)">
                                      <p:cBhvr>
                                        <p:cTn id="15"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par>
                                <p:cTn id="16" presetID="3" presetClass="entr" presetSubtype="1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blinds(horizontal)">
                                      <p:cBhvr>
                                        <p:cTn id="18"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blinds(horizontal)">
                                      <p:cBhvr>
                                        <p:cTn id="23" dur="500"/>
                                        <p:tgtEl>
                                          <p:spTgt spid="10"/>
                                        </p:tgtEl>
                                      </p:cBhvr>
                                    </p:animEffect>
                                  </p:childTnLst>
                                  <p:subTnLst>
                                    <p:set>
                                      <p:cBhvr override="childStyle">
                                        <p:cTn dur="1" fill="hold" display="0" masterRel="nextClick" afterEffect="1"/>
                                        <p:tgtEl>
                                          <p:spTgt spid="10"/>
                                        </p:tgtEl>
                                        <p:attrNameLst>
                                          <p:attrName>style.visibility</p:attrName>
                                        </p:attrNameLst>
                                      </p:cBhvr>
                                      <p:to>
                                        <p:strVal val="hidden"/>
                                      </p:to>
                                    </p:set>
                                  </p:subTnLst>
                                </p:cTn>
                              </p:par>
                              <p:par>
                                <p:cTn id="24" presetID="3" presetClass="entr" presetSubtype="1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blinds(horizontal)">
                                      <p:cBhvr>
                                        <p:cTn id="26" dur="500"/>
                                        <p:tgtEl>
                                          <p:spTgt spid="11"/>
                                        </p:tgtEl>
                                      </p:cBhvr>
                                    </p:animEffec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Lst>
  </p:timing>
</p:sld>
</file>

<file path=ppt/theme/theme1.xml><?xml version="1.0" encoding="utf-8"?>
<a:theme xmlns:a="http://schemas.openxmlformats.org/drawingml/2006/main" name="software">
  <a:themeElements>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fontScheme name="sampl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clrMap bg1="lt1" tx1="dk1" bg2="lt2" tx2="dk2" accent1="accent1" accent2="accent2" accent3="accent3" accent4="accent4" accent5="accent5" accent6="accent6" hlink="hlink" folHlink="folHlink"/>
    </a:extraClrScheme>
    <a:extraClrScheme>
      <a:clrScheme name="sample 2">
        <a:dk1>
          <a:srgbClr val="29698D"/>
        </a:dk1>
        <a:lt1>
          <a:srgbClr val="FFFFFF"/>
        </a:lt1>
        <a:dk2>
          <a:srgbClr val="000000"/>
        </a:dk2>
        <a:lt2>
          <a:srgbClr val="A1BABD"/>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sample 3">
        <a:dk1>
          <a:srgbClr val="666699"/>
        </a:dk1>
        <a:lt1>
          <a:srgbClr val="FFFFFF"/>
        </a:lt1>
        <a:dk2>
          <a:srgbClr val="000000"/>
        </a:dk2>
        <a:lt2>
          <a:srgbClr val="C0C0C0"/>
        </a:lt2>
        <a:accent1>
          <a:srgbClr val="72B88E"/>
        </a:accent1>
        <a:accent2>
          <a:srgbClr val="C78DD7"/>
        </a:accent2>
        <a:accent3>
          <a:srgbClr val="FFFFFF"/>
        </a:accent3>
        <a:accent4>
          <a:srgbClr val="565682"/>
        </a:accent4>
        <a:accent5>
          <a:srgbClr val="BCD8C6"/>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17272</TotalTime>
  <Words>4067</Words>
  <Application>Microsoft Office PowerPoint</Application>
  <PresentationFormat>全屏显示(4:3)</PresentationFormat>
  <Paragraphs>412</Paragraphs>
  <Slides>26</Slides>
  <Notes>22</Notes>
  <HiddenSlides>0</HiddenSlides>
  <MMClips>0</MMClips>
  <ScaleCrop>false</ScaleCrop>
  <HeadingPairs>
    <vt:vector size="8" baseType="variant">
      <vt:variant>
        <vt:lpstr>已用的字体</vt:lpstr>
      </vt:variant>
      <vt:variant>
        <vt:i4>3</vt:i4>
      </vt:variant>
      <vt:variant>
        <vt:lpstr>主题</vt:lpstr>
      </vt:variant>
      <vt:variant>
        <vt:i4>1</vt:i4>
      </vt:variant>
      <vt:variant>
        <vt:lpstr>嵌入 OLE 服务器</vt:lpstr>
      </vt:variant>
      <vt:variant>
        <vt:i4>1</vt:i4>
      </vt:variant>
      <vt:variant>
        <vt:lpstr>幻灯片标题</vt:lpstr>
      </vt:variant>
      <vt:variant>
        <vt:i4>26</vt:i4>
      </vt:variant>
    </vt:vector>
  </HeadingPairs>
  <TitlesOfParts>
    <vt:vector size="31" baseType="lpstr">
      <vt:lpstr>Arial</vt:lpstr>
      <vt:lpstr>Verdana</vt:lpstr>
      <vt:lpstr>Wingdings</vt:lpstr>
      <vt:lpstr>software</vt:lpstr>
      <vt:lpstr>Visio</vt:lpstr>
      <vt:lpstr>SOAP Basis Service-Oriented Software Engineering</vt:lpstr>
      <vt:lpstr>SOAP的历史</vt:lpstr>
      <vt:lpstr>What is SOAP?</vt:lpstr>
      <vt:lpstr>What SOAP does?</vt:lpstr>
      <vt:lpstr>Namespace</vt:lpstr>
      <vt:lpstr>SOAP Messages</vt:lpstr>
      <vt:lpstr>SOAP Processing Model (1/2)</vt:lpstr>
      <vt:lpstr>SOAP Processing Model (2/2)</vt:lpstr>
      <vt:lpstr>Two Types of Interaction Patterns</vt:lpstr>
      <vt:lpstr>Document-oriented Exchanges From invoker to service (1/2)</vt:lpstr>
      <vt:lpstr>Document-oriented Exchanges From invoker to service (2/2)</vt:lpstr>
      <vt:lpstr>Document-oriented Exchanges From service to invoker (1/2)</vt:lpstr>
      <vt:lpstr>Document-oriented Exchanges From service to invoker (2/2)</vt:lpstr>
      <vt:lpstr>Document-oriented Exchanges From invoker to service (1/2)</vt:lpstr>
      <vt:lpstr>Document-oriented Exchanges From invoker to service (2/2)</vt:lpstr>
      <vt:lpstr>Remote Procedure Calls (1/2)</vt:lpstr>
      <vt:lpstr>Remote Procedure Calls (2/2)</vt:lpstr>
      <vt:lpstr>RPC Request</vt:lpstr>
      <vt:lpstr>RPC Response</vt:lpstr>
      <vt:lpstr>RPC Response with “return”</vt:lpstr>
      <vt:lpstr>RPC and the underlying protocol</vt:lpstr>
      <vt:lpstr>SOAP Fault Model</vt:lpstr>
      <vt:lpstr>env:Fault Element</vt:lpstr>
      <vt:lpstr>Fault Message</vt:lpstr>
      <vt:lpstr>NotUnderstood Message (1/2)</vt:lpstr>
      <vt:lpstr>NotUnderstood Message (2/2)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贝佳</dc:creator>
  <cp:lastModifiedBy>jia bei</cp:lastModifiedBy>
  <cp:revision>246</cp:revision>
  <dcterms:created xsi:type="dcterms:W3CDTF">2008-04-16T11:36:22Z</dcterms:created>
  <dcterms:modified xsi:type="dcterms:W3CDTF">2023-10-19T04:17:13Z</dcterms:modified>
</cp:coreProperties>
</file>