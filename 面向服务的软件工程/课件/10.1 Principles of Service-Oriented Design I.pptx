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52" r:id="rId1"/>
  </p:sldMasterIdLst>
  <p:notesMasterIdLst>
    <p:notesMasterId r:id="rId60"/>
  </p:notesMasterIdLst>
  <p:sldIdLst>
    <p:sldId id="256" r:id="rId2"/>
    <p:sldId id="258" r:id="rId3"/>
    <p:sldId id="259" r:id="rId4"/>
    <p:sldId id="261" r:id="rId5"/>
    <p:sldId id="260" r:id="rId6"/>
    <p:sldId id="264" r:id="rId7"/>
    <p:sldId id="265" r:id="rId8"/>
    <p:sldId id="266" r:id="rId9"/>
    <p:sldId id="267" r:id="rId10"/>
    <p:sldId id="268" r:id="rId11"/>
    <p:sldId id="270" r:id="rId12"/>
    <p:sldId id="271" r:id="rId13"/>
    <p:sldId id="272" r:id="rId14"/>
    <p:sldId id="273" r:id="rId15"/>
    <p:sldId id="274" r:id="rId16"/>
    <p:sldId id="275" r:id="rId17"/>
    <p:sldId id="276" r:id="rId18"/>
    <p:sldId id="278" r:id="rId19"/>
    <p:sldId id="280" r:id="rId20"/>
    <p:sldId id="281" r:id="rId21"/>
    <p:sldId id="285" r:id="rId22"/>
    <p:sldId id="286" r:id="rId23"/>
    <p:sldId id="287" r:id="rId24"/>
    <p:sldId id="288" r:id="rId25"/>
    <p:sldId id="289" r:id="rId26"/>
    <p:sldId id="290" r:id="rId27"/>
    <p:sldId id="291" r:id="rId28"/>
    <p:sldId id="292" r:id="rId29"/>
    <p:sldId id="293" r:id="rId30"/>
    <p:sldId id="295" r:id="rId31"/>
    <p:sldId id="338" r:id="rId32"/>
    <p:sldId id="300" r:id="rId33"/>
    <p:sldId id="301" r:id="rId34"/>
    <p:sldId id="302" r:id="rId35"/>
    <p:sldId id="303" r:id="rId36"/>
    <p:sldId id="304" r:id="rId37"/>
    <p:sldId id="305" r:id="rId38"/>
    <p:sldId id="340" r:id="rId39"/>
    <p:sldId id="341" r:id="rId40"/>
    <p:sldId id="342" r:id="rId41"/>
    <p:sldId id="307" r:id="rId42"/>
    <p:sldId id="309" r:id="rId43"/>
    <p:sldId id="312" r:id="rId44"/>
    <p:sldId id="315" r:id="rId45"/>
    <p:sldId id="314" r:id="rId46"/>
    <p:sldId id="316" r:id="rId47"/>
    <p:sldId id="317" r:id="rId48"/>
    <p:sldId id="318" r:id="rId49"/>
    <p:sldId id="319" r:id="rId50"/>
    <p:sldId id="322" r:id="rId51"/>
    <p:sldId id="324" r:id="rId52"/>
    <p:sldId id="326" r:id="rId53"/>
    <p:sldId id="328" r:id="rId54"/>
    <p:sldId id="329" r:id="rId55"/>
    <p:sldId id="330" r:id="rId56"/>
    <p:sldId id="331" r:id="rId57"/>
    <p:sldId id="332" r:id="rId58"/>
    <p:sldId id="344" r:id="rId5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3" autoAdjust="0"/>
    <p:restoredTop sz="95773" autoAdjust="0"/>
  </p:normalViewPr>
  <p:slideViewPr>
    <p:cSldViewPr>
      <p:cViewPr varScale="1">
        <p:scale>
          <a:sx n="110" d="100"/>
          <a:sy n="110" d="100"/>
        </p:scale>
        <p:origin x="1770"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788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C2581B53-FE6D-45CC-AA52-DB5EFAF2034B}" type="slidenum">
              <a:rPr lang="en-US" altLang="zh-CN"/>
              <a:pPr>
                <a:defRPr/>
              </a:pPr>
              <a:t>‹#›</a:t>
            </a:fld>
            <a:endParaRPr lang="en-US" altLang="zh-CN" dirty="0"/>
          </a:p>
        </p:txBody>
      </p:sp>
    </p:spTree>
    <p:extLst>
      <p:ext uri="{BB962C8B-B14F-4D97-AF65-F5344CB8AC3E}">
        <p14:creationId xmlns:p14="http://schemas.microsoft.com/office/powerpoint/2010/main" val="24407265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798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5F8BFC1-79D9-48F1-A4F2-9F83542877AF}" type="slidenum">
              <a:rPr lang="en-US" altLang="zh-CN" smtClean="0"/>
              <a:pPr eaLnBrk="1" hangingPunct="1"/>
              <a:t>1</a:t>
            </a:fld>
            <a:endParaRPr lang="en-US" altLang="zh-CN"/>
          </a:p>
        </p:txBody>
      </p:sp>
    </p:spTree>
    <p:extLst>
      <p:ext uri="{BB962C8B-B14F-4D97-AF65-F5344CB8AC3E}">
        <p14:creationId xmlns:p14="http://schemas.microsoft.com/office/powerpoint/2010/main" val="1205212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0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ADB43AE-CF9F-462A-A769-093E6C0BCC44}" type="slidenum">
              <a:rPr lang="en-US" altLang="zh-CN" smtClean="0"/>
              <a:pPr eaLnBrk="1" hangingPunct="1"/>
              <a:t>2</a:t>
            </a:fld>
            <a:endParaRPr lang="en-US" altLang="zh-CN"/>
          </a:p>
        </p:txBody>
      </p:sp>
    </p:spTree>
    <p:extLst>
      <p:ext uri="{BB962C8B-B14F-4D97-AF65-F5344CB8AC3E}">
        <p14:creationId xmlns:p14="http://schemas.microsoft.com/office/powerpoint/2010/main" val="300836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p:spPr>
      </p:sp>
      <p:sp>
        <p:nvSpPr>
          <p:cNvPr id="819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19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39AC7DC-750C-439B-B596-24995FF24801}" type="slidenum">
              <a:rPr lang="en-US" altLang="zh-CN" smtClean="0"/>
              <a:pPr eaLnBrk="1" hangingPunct="1"/>
              <a:t>3</a:t>
            </a:fld>
            <a:endParaRPr lang="en-US" altLang="zh-CN"/>
          </a:p>
        </p:txBody>
      </p:sp>
    </p:spTree>
    <p:extLst>
      <p:ext uri="{BB962C8B-B14F-4D97-AF65-F5344CB8AC3E}">
        <p14:creationId xmlns:p14="http://schemas.microsoft.com/office/powerpoint/2010/main" val="2123024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5E6DE91-158A-44D1-B332-F061FC24A302}" type="slidenum">
              <a:rPr lang="en-US" altLang="zh-CN" smtClean="0"/>
              <a:pPr eaLnBrk="1" hangingPunct="1"/>
              <a:t>4</a:t>
            </a:fld>
            <a:endParaRPr lang="en-US" altLang="zh-CN"/>
          </a:p>
        </p:txBody>
      </p:sp>
    </p:spTree>
    <p:extLst>
      <p:ext uri="{BB962C8B-B14F-4D97-AF65-F5344CB8AC3E}">
        <p14:creationId xmlns:p14="http://schemas.microsoft.com/office/powerpoint/2010/main" val="2173171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BC390B0-E88A-461B-B0FD-D88689807F27}" type="slidenum">
              <a:rPr lang="en-US" altLang="zh-CN" smtClean="0"/>
              <a:pPr eaLnBrk="1" hangingPunct="1"/>
              <a:t>5</a:t>
            </a:fld>
            <a:endParaRPr lang="en-US" altLang="zh-CN"/>
          </a:p>
        </p:txBody>
      </p:sp>
    </p:spTree>
    <p:extLst>
      <p:ext uri="{BB962C8B-B14F-4D97-AF65-F5344CB8AC3E}">
        <p14:creationId xmlns:p14="http://schemas.microsoft.com/office/powerpoint/2010/main" val="69446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D417F0E-FB97-48BD-8E74-90FAB80AE4DC}" type="slidenum">
              <a:rPr lang="en-US" altLang="zh-CN" smtClean="0"/>
              <a:pPr eaLnBrk="1" hangingPunct="1"/>
              <a:t>6</a:t>
            </a:fld>
            <a:endParaRPr lang="en-US" altLang="zh-CN"/>
          </a:p>
        </p:txBody>
      </p:sp>
    </p:spTree>
    <p:extLst>
      <p:ext uri="{BB962C8B-B14F-4D97-AF65-F5344CB8AC3E}">
        <p14:creationId xmlns:p14="http://schemas.microsoft.com/office/powerpoint/2010/main" val="3662071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82451CD-5C5D-4649-BFD5-6E49EFB9E178}" type="slidenum">
              <a:rPr lang="en-US" altLang="zh-CN" smtClean="0"/>
              <a:pPr eaLnBrk="1" hangingPunct="1"/>
              <a:t>7</a:t>
            </a:fld>
            <a:endParaRPr lang="en-US" altLang="zh-CN"/>
          </a:p>
        </p:txBody>
      </p:sp>
    </p:spTree>
    <p:extLst>
      <p:ext uri="{BB962C8B-B14F-4D97-AF65-F5344CB8AC3E}">
        <p14:creationId xmlns:p14="http://schemas.microsoft.com/office/powerpoint/2010/main" val="3674218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60CF789-F584-4340-B882-577A1AB16AB1}" type="slidenum">
              <a:rPr lang="en-US" altLang="zh-CN" smtClean="0"/>
              <a:pPr eaLnBrk="1" hangingPunct="1"/>
              <a:t>8</a:t>
            </a:fld>
            <a:endParaRPr lang="en-US" altLang="zh-CN"/>
          </a:p>
        </p:txBody>
      </p:sp>
    </p:spTree>
    <p:extLst>
      <p:ext uri="{BB962C8B-B14F-4D97-AF65-F5344CB8AC3E}">
        <p14:creationId xmlns:p14="http://schemas.microsoft.com/office/powerpoint/2010/main" val="2539203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0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604B586-BBC9-40E2-AFE1-A68719219799}" type="slidenum">
              <a:rPr lang="en-US" altLang="zh-CN" smtClean="0"/>
              <a:pPr eaLnBrk="1" hangingPunct="1"/>
              <a:t>9</a:t>
            </a:fld>
            <a:endParaRPr lang="en-US" altLang="zh-CN"/>
          </a:p>
        </p:txBody>
      </p:sp>
    </p:spTree>
    <p:extLst>
      <p:ext uri="{BB962C8B-B14F-4D97-AF65-F5344CB8AC3E}">
        <p14:creationId xmlns:p14="http://schemas.microsoft.com/office/powerpoint/2010/main" val="87518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charset="-122"/>
            </a:endParaRPr>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4B8943C-00E2-46F5-B0D5-0D154F06A4DD}" type="slidenum">
              <a:rPr lang="en-US" altLang="zh-CN" smtClean="0"/>
              <a:pPr eaLnBrk="1" hangingPunct="1"/>
              <a:t>10</a:t>
            </a:fld>
            <a:endParaRPr lang="en-US" altLang="zh-CN"/>
          </a:p>
        </p:txBody>
      </p:sp>
    </p:spTree>
    <p:extLst>
      <p:ext uri="{BB962C8B-B14F-4D97-AF65-F5344CB8AC3E}">
        <p14:creationId xmlns:p14="http://schemas.microsoft.com/office/powerpoint/2010/main" val="1011213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F6227B0-7E9F-4382-80F9-7C492A47ABCB}" type="slidenum">
              <a:rPr lang="en-US" altLang="zh-CN" smtClean="0"/>
              <a:pPr eaLnBrk="1" hangingPunct="1"/>
              <a:t>11</a:t>
            </a:fld>
            <a:endParaRPr lang="en-US" altLang="zh-CN"/>
          </a:p>
        </p:txBody>
      </p:sp>
    </p:spTree>
    <p:extLst>
      <p:ext uri="{BB962C8B-B14F-4D97-AF65-F5344CB8AC3E}">
        <p14:creationId xmlns:p14="http://schemas.microsoft.com/office/powerpoint/2010/main" val="2379246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5E0B912-CA63-4C6E-B6B3-015FCDB699D5}" type="slidenum">
              <a:rPr lang="en-US" altLang="zh-CN" smtClean="0"/>
              <a:pPr eaLnBrk="1" hangingPunct="1"/>
              <a:t>12</a:t>
            </a:fld>
            <a:endParaRPr lang="en-US" altLang="zh-CN"/>
          </a:p>
        </p:txBody>
      </p:sp>
    </p:spTree>
    <p:extLst>
      <p:ext uri="{BB962C8B-B14F-4D97-AF65-F5344CB8AC3E}">
        <p14:creationId xmlns:p14="http://schemas.microsoft.com/office/powerpoint/2010/main" val="2146664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charset="-122"/>
            </a:endParaRPr>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1ED16B2-EF8C-4CC1-BA79-426ED24D41E3}" type="slidenum">
              <a:rPr lang="en-US" altLang="zh-CN" smtClean="0"/>
              <a:pPr eaLnBrk="1" hangingPunct="1"/>
              <a:t>13</a:t>
            </a:fld>
            <a:endParaRPr lang="en-US" altLang="zh-CN"/>
          </a:p>
        </p:txBody>
      </p:sp>
    </p:spTree>
    <p:extLst>
      <p:ext uri="{BB962C8B-B14F-4D97-AF65-F5344CB8AC3E}">
        <p14:creationId xmlns:p14="http://schemas.microsoft.com/office/powerpoint/2010/main" val="1903417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D07D99C-8AF8-4445-A5D6-221B2F8EB927}" type="slidenum">
              <a:rPr lang="en-US" altLang="zh-CN" smtClean="0"/>
              <a:pPr eaLnBrk="1" hangingPunct="1"/>
              <a:t>14</a:t>
            </a:fld>
            <a:endParaRPr lang="en-US" altLang="zh-CN"/>
          </a:p>
        </p:txBody>
      </p:sp>
    </p:spTree>
    <p:extLst>
      <p:ext uri="{BB962C8B-B14F-4D97-AF65-F5344CB8AC3E}">
        <p14:creationId xmlns:p14="http://schemas.microsoft.com/office/powerpoint/2010/main" val="2869041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94FC0F0-AD11-4849-B880-A3232B661B66}" type="slidenum">
              <a:rPr lang="en-US" altLang="zh-CN" smtClean="0"/>
              <a:pPr eaLnBrk="1" hangingPunct="1"/>
              <a:t>15</a:t>
            </a:fld>
            <a:endParaRPr lang="en-US" altLang="zh-CN"/>
          </a:p>
        </p:txBody>
      </p:sp>
    </p:spTree>
    <p:extLst>
      <p:ext uri="{BB962C8B-B14F-4D97-AF65-F5344CB8AC3E}">
        <p14:creationId xmlns:p14="http://schemas.microsoft.com/office/powerpoint/2010/main" val="680697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FFDBD4D-D792-49FA-A6A3-8D244B993364}" type="slidenum">
              <a:rPr lang="en-US" altLang="zh-CN" smtClean="0"/>
              <a:pPr eaLnBrk="1" hangingPunct="1"/>
              <a:t>16</a:t>
            </a:fld>
            <a:endParaRPr lang="en-US" altLang="zh-CN"/>
          </a:p>
        </p:txBody>
      </p:sp>
    </p:spTree>
    <p:extLst>
      <p:ext uri="{BB962C8B-B14F-4D97-AF65-F5344CB8AC3E}">
        <p14:creationId xmlns:p14="http://schemas.microsoft.com/office/powerpoint/2010/main" val="3951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2A8F465-BFE6-4AF9-9F2E-84B9A49D3900}" type="slidenum">
              <a:rPr lang="en-US" altLang="zh-CN" smtClean="0"/>
              <a:pPr eaLnBrk="1" hangingPunct="1"/>
              <a:t>17</a:t>
            </a:fld>
            <a:endParaRPr lang="en-US" altLang="zh-CN"/>
          </a:p>
        </p:txBody>
      </p:sp>
    </p:spTree>
    <p:extLst>
      <p:ext uri="{BB962C8B-B14F-4D97-AF65-F5344CB8AC3E}">
        <p14:creationId xmlns:p14="http://schemas.microsoft.com/office/powerpoint/2010/main" val="4293053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01EF234-B8A8-4319-B9ED-4EE6BDD61BFE}" type="slidenum">
              <a:rPr lang="en-US" altLang="zh-CN" smtClean="0"/>
              <a:pPr eaLnBrk="1" hangingPunct="1"/>
              <a:t>18</a:t>
            </a:fld>
            <a:endParaRPr lang="en-US" altLang="zh-CN"/>
          </a:p>
        </p:txBody>
      </p:sp>
    </p:spTree>
    <p:extLst>
      <p:ext uri="{BB962C8B-B14F-4D97-AF65-F5344CB8AC3E}">
        <p14:creationId xmlns:p14="http://schemas.microsoft.com/office/powerpoint/2010/main" val="295016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AE5F6B7-24D8-4B2A-92FC-EF9DCE0B982C}" type="slidenum">
              <a:rPr lang="en-US" altLang="zh-CN" smtClean="0"/>
              <a:pPr eaLnBrk="1" hangingPunct="1"/>
              <a:t>19</a:t>
            </a:fld>
            <a:endParaRPr lang="en-US" altLang="zh-CN"/>
          </a:p>
        </p:txBody>
      </p:sp>
    </p:spTree>
    <p:extLst>
      <p:ext uri="{BB962C8B-B14F-4D97-AF65-F5344CB8AC3E}">
        <p14:creationId xmlns:p14="http://schemas.microsoft.com/office/powerpoint/2010/main" val="3392576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3B2BF13-406D-4679-B4BC-D4CC0739B140}" type="slidenum">
              <a:rPr lang="en-US" altLang="zh-CN" smtClean="0"/>
              <a:pPr eaLnBrk="1" hangingPunct="1"/>
              <a:t>20</a:t>
            </a:fld>
            <a:endParaRPr lang="en-US" altLang="zh-CN"/>
          </a:p>
        </p:txBody>
      </p:sp>
    </p:spTree>
    <p:extLst>
      <p:ext uri="{BB962C8B-B14F-4D97-AF65-F5344CB8AC3E}">
        <p14:creationId xmlns:p14="http://schemas.microsoft.com/office/powerpoint/2010/main" val="3525732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075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A4B41F1-F372-490E-AB97-6686FABF10FD}" type="slidenum">
              <a:rPr lang="en-US" altLang="zh-CN" smtClean="0"/>
              <a:pPr eaLnBrk="1" hangingPunct="1"/>
              <a:t>21</a:t>
            </a:fld>
            <a:endParaRPr lang="en-US" altLang="zh-CN"/>
          </a:p>
        </p:txBody>
      </p:sp>
    </p:spTree>
    <p:extLst>
      <p:ext uri="{BB962C8B-B14F-4D97-AF65-F5344CB8AC3E}">
        <p14:creationId xmlns:p14="http://schemas.microsoft.com/office/powerpoint/2010/main" val="34012055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085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8FA6F39-2FFD-45F2-8022-6386EA769C2B}" type="slidenum">
              <a:rPr lang="en-US" altLang="zh-CN" smtClean="0"/>
              <a:pPr eaLnBrk="1" hangingPunct="1"/>
              <a:t>22</a:t>
            </a:fld>
            <a:endParaRPr lang="en-US" altLang="zh-CN"/>
          </a:p>
        </p:txBody>
      </p:sp>
    </p:spTree>
    <p:extLst>
      <p:ext uri="{BB962C8B-B14F-4D97-AF65-F5344CB8AC3E}">
        <p14:creationId xmlns:p14="http://schemas.microsoft.com/office/powerpoint/2010/main" val="10723862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09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EF5FF8B-B094-42D4-92A9-B47BE5E36714}" type="slidenum">
              <a:rPr lang="en-US" altLang="zh-CN" smtClean="0"/>
              <a:pPr eaLnBrk="1" hangingPunct="1"/>
              <a:t>23</a:t>
            </a:fld>
            <a:endParaRPr lang="en-US" altLang="zh-CN"/>
          </a:p>
        </p:txBody>
      </p:sp>
    </p:spTree>
    <p:extLst>
      <p:ext uri="{BB962C8B-B14F-4D97-AF65-F5344CB8AC3E}">
        <p14:creationId xmlns:p14="http://schemas.microsoft.com/office/powerpoint/2010/main" val="2249148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D3CEA08-097A-4318-802A-EBEFBFB7C51D}" type="slidenum">
              <a:rPr lang="en-US" altLang="zh-CN" smtClean="0"/>
              <a:pPr eaLnBrk="1" hangingPunct="1"/>
              <a:t>24</a:t>
            </a:fld>
            <a:endParaRPr lang="en-US" altLang="zh-CN"/>
          </a:p>
        </p:txBody>
      </p:sp>
    </p:spTree>
    <p:extLst>
      <p:ext uri="{BB962C8B-B14F-4D97-AF65-F5344CB8AC3E}">
        <p14:creationId xmlns:p14="http://schemas.microsoft.com/office/powerpoint/2010/main" val="3535471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EAA9738-A11A-483C-B8FA-F5EC525DC857}" type="slidenum">
              <a:rPr lang="en-US" altLang="zh-CN" smtClean="0"/>
              <a:pPr eaLnBrk="1" hangingPunct="1"/>
              <a:t>25</a:t>
            </a:fld>
            <a:endParaRPr lang="en-US" altLang="zh-CN"/>
          </a:p>
        </p:txBody>
      </p:sp>
    </p:spTree>
    <p:extLst>
      <p:ext uri="{BB962C8B-B14F-4D97-AF65-F5344CB8AC3E}">
        <p14:creationId xmlns:p14="http://schemas.microsoft.com/office/powerpoint/2010/main" val="37040979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ACE5B4F-AF07-499F-BCA5-EC1095D535B9}" type="slidenum">
              <a:rPr lang="en-US" altLang="zh-CN" smtClean="0"/>
              <a:pPr eaLnBrk="1" hangingPunct="1"/>
              <a:t>26</a:t>
            </a:fld>
            <a:endParaRPr lang="en-US" altLang="zh-CN"/>
          </a:p>
        </p:txBody>
      </p:sp>
    </p:spTree>
    <p:extLst>
      <p:ext uri="{BB962C8B-B14F-4D97-AF65-F5344CB8AC3E}">
        <p14:creationId xmlns:p14="http://schemas.microsoft.com/office/powerpoint/2010/main" val="27299750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9D8981-166B-4C84-ACA3-147550F240EE}" type="slidenum">
              <a:rPr lang="en-US" altLang="zh-CN" smtClean="0"/>
              <a:pPr eaLnBrk="1" hangingPunct="1"/>
              <a:t>27</a:t>
            </a:fld>
            <a:endParaRPr lang="en-US" altLang="zh-CN"/>
          </a:p>
        </p:txBody>
      </p:sp>
    </p:spTree>
    <p:extLst>
      <p:ext uri="{BB962C8B-B14F-4D97-AF65-F5344CB8AC3E}">
        <p14:creationId xmlns:p14="http://schemas.microsoft.com/office/powerpoint/2010/main" val="1725702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7D1B11A-BC52-440D-B97E-1922F2E5AD0C}" type="slidenum">
              <a:rPr lang="en-US" altLang="zh-CN" smtClean="0"/>
              <a:pPr eaLnBrk="1" hangingPunct="1"/>
              <a:t>28</a:t>
            </a:fld>
            <a:endParaRPr lang="en-US" altLang="zh-CN"/>
          </a:p>
        </p:txBody>
      </p:sp>
    </p:spTree>
    <p:extLst>
      <p:ext uri="{BB962C8B-B14F-4D97-AF65-F5344CB8AC3E}">
        <p14:creationId xmlns:p14="http://schemas.microsoft.com/office/powerpoint/2010/main" val="35647591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2174CD4-BE6F-4AB6-AB65-1BDE12D9E1A9}" type="slidenum">
              <a:rPr lang="en-US" altLang="zh-CN" smtClean="0"/>
              <a:pPr eaLnBrk="1" hangingPunct="1"/>
              <a:t>29</a:t>
            </a:fld>
            <a:endParaRPr lang="en-US" altLang="zh-CN"/>
          </a:p>
        </p:txBody>
      </p:sp>
    </p:spTree>
    <p:extLst>
      <p:ext uri="{BB962C8B-B14F-4D97-AF65-F5344CB8AC3E}">
        <p14:creationId xmlns:p14="http://schemas.microsoft.com/office/powerpoint/2010/main" val="35232140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17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8FD367D-873D-416C-AD7B-142A6334DAE3}" type="slidenum">
              <a:rPr lang="en-US" altLang="zh-CN" smtClean="0"/>
              <a:pPr eaLnBrk="1" hangingPunct="1"/>
              <a:t>30</a:t>
            </a:fld>
            <a:endParaRPr lang="en-US" altLang="zh-CN"/>
          </a:p>
        </p:txBody>
      </p:sp>
    </p:spTree>
    <p:extLst>
      <p:ext uri="{BB962C8B-B14F-4D97-AF65-F5344CB8AC3E}">
        <p14:creationId xmlns:p14="http://schemas.microsoft.com/office/powerpoint/2010/main" val="423327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02D03CE-D92A-4E0A-A080-2B85ACA02B9E}" type="slidenum">
              <a:rPr lang="en-US" altLang="zh-CN" smtClean="0"/>
              <a:pPr eaLnBrk="1" hangingPunct="1"/>
              <a:t>32</a:t>
            </a:fld>
            <a:endParaRPr lang="en-US" altLang="zh-CN"/>
          </a:p>
        </p:txBody>
      </p:sp>
    </p:spTree>
    <p:extLst>
      <p:ext uri="{BB962C8B-B14F-4D97-AF65-F5344CB8AC3E}">
        <p14:creationId xmlns:p14="http://schemas.microsoft.com/office/powerpoint/2010/main" val="28564329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CE43EE0-29DF-450E-A539-A1E2E612E947}" type="slidenum">
              <a:rPr lang="en-US" altLang="zh-CN" smtClean="0"/>
              <a:pPr eaLnBrk="1" hangingPunct="1"/>
              <a:t>33</a:t>
            </a:fld>
            <a:endParaRPr lang="en-US" altLang="zh-CN"/>
          </a:p>
        </p:txBody>
      </p:sp>
    </p:spTree>
    <p:extLst>
      <p:ext uri="{BB962C8B-B14F-4D97-AF65-F5344CB8AC3E}">
        <p14:creationId xmlns:p14="http://schemas.microsoft.com/office/powerpoint/2010/main" val="4250518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7EE45DD-A152-4453-A594-EF591A589951}" type="slidenum">
              <a:rPr lang="en-US" altLang="zh-CN" smtClean="0"/>
              <a:pPr eaLnBrk="1" hangingPunct="1"/>
              <a:t>34</a:t>
            </a:fld>
            <a:endParaRPr lang="en-US" altLang="zh-CN"/>
          </a:p>
        </p:txBody>
      </p:sp>
    </p:spTree>
    <p:extLst>
      <p:ext uri="{BB962C8B-B14F-4D97-AF65-F5344CB8AC3E}">
        <p14:creationId xmlns:p14="http://schemas.microsoft.com/office/powerpoint/2010/main" val="25386876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4757AB2-57DC-4949-A80B-8F10E7285FEC}" type="slidenum">
              <a:rPr lang="en-US" altLang="zh-CN" smtClean="0"/>
              <a:pPr eaLnBrk="1" hangingPunct="1"/>
              <a:t>35</a:t>
            </a:fld>
            <a:endParaRPr lang="en-US" altLang="zh-CN"/>
          </a:p>
        </p:txBody>
      </p:sp>
    </p:spTree>
    <p:extLst>
      <p:ext uri="{BB962C8B-B14F-4D97-AF65-F5344CB8AC3E}">
        <p14:creationId xmlns:p14="http://schemas.microsoft.com/office/powerpoint/2010/main" val="19990739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26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218C71E-CCDD-4F2A-98FD-845757ECD8A3}" type="slidenum">
              <a:rPr lang="en-US" altLang="zh-CN" smtClean="0"/>
              <a:pPr eaLnBrk="1" hangingPunct="1"/>
              <a:t>36</a:t>
            </a:fld>
            <a:endParaRPr lang="en-US" altLang="zh-CN"/>
          </a:p>
        </p:txBody>
      </p:sp>
    </p:spTree>
    <p:extLst>
      <p:ext uri="{BB962C8B-B14F-4D97-AF65-F5344CB8AC3E}">
        <p14:creationId xmlns:p14="http://schemas.microsoft.com/office/powerpoint/2010/main" val="3399562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C6CBEAC-C7CB-4AB5-85EF-2AB338547A21}" type="slidenum">
              <a:rPr lang="en-US" altLang="zh-CN" smtClean="0"/>
              <a:pPr eaLnBrk="1" hangingPunct="1"/>
              <a:t>37</a:t>
            </a:fld>
            <a:endParaRPr lang="en-US" altLang="zh-CN"/>
          </a:p>
        </p:txBody>
      </p:sp>
    </p:spTree>
    <p:extLst>
      <p:ext uri="{BB962C8B-B14F-4D97-AF65-F5344CB8AC3E}">
        <p14:creationId xmlns:p14="http://schemas.microsoft.com/office/powerpoint/2010/main" val="34948865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3056898-B0CC-44D5-8F94-11B5BCE7FE9D}" type="slidenum">
              <a:rPr lang="en-US" altLang="zh-CN" smtClean="0"/>
              <a:pPr eaLnBrk="1" hangingPunct="1"/>
              <a:t>38</a:t>
            </a:fld>
            <a:endParaRPr lang="en-US" altLang="zh-CN"/>
          </a:p>
        </p:txBody>
      </p:sp>
    </p:spTree>
    <p:extLst>
      <p:ext uri="{BB962C8B-B14F-4D97-AF65-F5344CB8AC3E}">
        <p14:creationId xmlns:p14="http://schemas.microsoft.com/office/powerpoint/2010/main" val="27759500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3056898-B0CC-44D5-8F94-11B5BCE7FE9D}" type="slidenum">
              <a:rPr lang="en-US" altLang="zh-CN" smtClean="0"/>
              <a:pPr eaLnBrk="1" hangingPunct="1"/>
              <a:t>39</a:t>
            </a:fld>
            <a:endParaRPr lang="en-US" altLang="zh-CN"/>
          </a:p>
        </p:txBody>
      </p:sp>
    </p:spTree>
    <p:extLst>
      <p:ext uri="{BB962C8B-B14F-4D97-AF65-F5344CB8AC3E}">
        <p14:creationId xmlns:p14="http://schemas.microsoft.com/office/powerpoint/2010/main" val="27921712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3056898-B0CC-44D5-8F94-11B5BCE7FE9D}" type="slidenum">
              <a:rPr lang="en-US" altLang="zh-CN" smtClean="0"/>
              <a:pPr eaLnBrk="1" hangingPunct="1"/>
              <a:t>40</a:t>
            </a:fld>
            <a:endParaRPr lang="en-US" altLang="zh-CN"/>
          </a:p>
        </p:txBody>
      </p:sp>
    </p:spTree>
    <p:extLst>
      <p:ext uri="{BB962C8B-B14F-4D97-AF65-F5344CB8AC3E}">
        <p14:creationId xmlns:p14="http://schemas.microsoft.com/office/powerpoint/2010/main" val="9443445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charset="-122"/>
            </a:endParaRPr>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55E99D8-B3FC-49B5-9D3A-B05BC1AADE74}" type="slidenum">
              <a:rPr lang="en-US" altLang="zh-CN" smtClean="0"/>
              <a:pPr eaLnBrk="1" hangingPunct="1"/>
              <a:t>41</a:t>
            </a:fld>
            <a:endParaRPr lang="en-US" altLang="zh-CN"/>
          </a:p>
        </p:txBody>
      </p:sp>
    </p:spTree>
    <p:extLst>
      <p:ext uri="{BB962C8B-B14F-4D97-AF65-F5344CB8AC3E}">
        <p14:creationId xmlns:p14="http://schemas.microsoft.com/office/powerpoint/2010/main" val="4579803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3ADF256-51CA-4725-8F11-10C26A359034}" type="slidenum">
              <a:rPr lang="en-US" altLang="zh-CN" smtClean="0"/>
              <a:pPr eaLnBrk="1" hangingPunct="1"/>
              <a:t>42</a:t>
            </a:fld>
            <a:endParaRPr lang="en-US" altLang="zh-CN"/>
          </a:p>
        </p:txBody>
      </p:sp>
    </p:spTree>
    <p:extLst>
      <p:ext uri="{BB962C8B-B14F-4D97-AF65-F5344CB8AC3E}">
        <p14:creationId xmlns:p14="http://schemas.microsoft.com/office/powerpoint/2010/main" val="32852481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866E8B5-0D3E-4EF9-9E6D-E7CDD0C8FDBD}" type="slidenum">
              <a:rPr lang="en-US" altLang="zh-CN" smtClean="0"/>
              <a:pPr eaLnBrk="1" hangingPunct="1"/>
              <a:t>43</a:t>
            </a:fld>
            <a:endParaRPr lang="en-US" altLang="zh-CN"/>
          </a:p>
        </p:txBody>
      </p:sp>
    </p:spTree>
    <p:extLst>
      <p:ext uri="{BB962C8B-B14F-4D97-AF65-F5344CB8AC3E}">
        <p14:creationId xmlns:p14="http://schemas.microsoft.com/office/powerpoint/2010/main" val="36207563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E060FF4-3359-40A9-9E33-A5092CFC212D}" type="slidenum">
              <a:rPr lang="en-US" altLang="zh-CN" smtClean="0"/>
              <a:pPr eaLnBrk="1" hangingPunct="1"/>
              <a:t>44</a:t>
            </a:fld>
            <a:endParaRPr lang="en-US" altLang="zh-CN"/>
          </a:p>
        </p:txBody>
      </p:sp>
    </p:spTree>
    <p:extLst>
      <p:ext uri="{BB962C8B-B14F-4D97-AF65-F5344CB8AC3E}">
        <p14:creationId xmlns:p14="http://schemas.microsoft.com/office/powerpoint/2010/main" val="33747332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61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FB0095F-3116-45C8-A107-39ABBBA0FFA5}" type="slidenum">
              <a:rPr lang="en-US" altLang="zh-CN" smtClean="0"/>
              <a:pPr eaLnBrk="1" hangingPunct="1"/>
              <a:t>45</a:t>
            </a:fld>
            <a:endParaRPr lang="en-US" altLang="zh-CN"/>
          </a:p>
        </p:txBody>
      </p:sp>
    </p:spTree>
    <p:extLst>
      <p:ext uri="{BB962C8B-B14F-4D97-AF65-F5344CB8AC3E}">
        <p14:creationId xmlns:p14="http://schemas.microsoft.com/office/powerpoint/2010/main" val="13435651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7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5A79B4E-51BB-4BCF-A430-9DA0FACCF37D}" type="slidenum">
              <a:rPr lang="en-US" altLang="zh-CN" smtClean="0"/>
              <a:pPr eaLnBrk="1" hangingPunct="1"/>
              <a:t>46</a:t>
            </a:fld>
            <a:endParaRPr lang="en-US" altLang="zh-CN"/>
          </a:p>
        </p:txBody>
      </p:sp>
    </p:spTree>
    <p:extLst>
      <p:ext uri="{BB962C8B-B14F-4D97-AF65-F5344CB8AC3E}">
        <p14:creationId xmlns:p14="http://schemas.microsoft.com/office/powerpoint/2010/main" val="7169223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charset="-122"/>
            </a:endParaRPr>
          </a:p>
        </p:txBody>
      </p:sp>
      <p:sp>
        <p:nvSpPr>
          <p:cNvPr id="138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98DB64F-357C-43D1-880E-9F8DA4B7E175}" type="slidenum">
              <a:rPr lang="en-US" altLang="zh-CN" smtClean="0"/>
              <a:pPr eaLnBrk="1" hangingPunct="1"/>
              <a:t>47</a:t>
            </a:fld>
            <a:endParaRPr lang="en-US" altLang="zh-CN"/>
          </a:p>
        </p:txBody>
      </p:sp>
    </p:spTree>
    <p:extLst>
      <p:ext uri="{BB962C8B-B14F-4D97-AF65-F5344CB8AC3E}">
        <p14:creationId xmlns:p14="http://schemas.microsoft.com/office/powerpoint/2010/main" val="36432162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9C08777-D84D-46D3-B73B-5B285841F60B}" type="slidenum">
              <a:rPr lang="en-US" altLang="zh-CN" smtClean="0"/>
              <a:pPr eaLnBrk="1" hangingPunct="1"/>
              <a:t>48</a:t>
            </a:fld>
            <a:endParaRPr lang="en-US" altLang="zh-CN"/>
          </a:p>
        </p:txBody>
      </p:sp>
    </p:spTree>
    <p:extLst>
      <p:ext uri="{BB962C8B-B14F-4D97-AF65-F5344CB8AC3E}">
        <p14:creationId xmlns:p14="http://schemas.microsoft.com/office/powerpoint/2010/main" val="31799167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40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5D680F5-F0C7-4557-83F0-118FCE96CF7E}" type="slidenum">
              <a:rPr lang="en-US" altLang="zh-CN" smtClean="0"/>
              <a:pPr eaLnBrk="1" hangingPunct="1"/>
              <a:t>49</a:t>
            </a:fld>
            <a:endParaRPr lang="en-US" altLang="zh-CN"/>
          </a:p>
        </p:txBody>
      </p:sp>
    </p:spTree>
    <p:extLst>
      <p:ext uri="{BB962C8B-B14F-4D97-AF65-F5344CB8AC3E}">
        <p14:creationId xmlns:p14="http://schemas.microsoft.com/office/powerpoint/2010/main" val="20974838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43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02567B4-5549-421E-84D5-28C35BCD191C}" type="slidenum">
              <a:rPr lang="en-US" altLang="zh-CN" smtClean="0"/>
              <a:pPr eaLnBrk="1" hangingPunct="1"/>
              <a:t>50</a:t>
            </a:fld>
            <a:endParaRPr lang="en-US" altLang="zh-CN"/>
          </a:p>
        </p:txBody>
      </p:sp>
    </p:spTree>
    <p:extLst>
      <p:ext uri="{BB962C8B-B14F-4D97-AF65-F5344CB8AC3E}">
        <p14:creationId xmlns:p14="http://schemas.microsoft.com/office/powerpoint/2010/main" val="18172532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45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AF78E70-5CDA-4C0C-AF02-FE23372F7268}" type="slidenum">
              <a:rPr lang="en-US" altLang="zh-CN" smtClean="0"/>
              <a:pPr eaLnBrk="1" hangingPunct="1"/>
              <a:t>51</a:t>
            </a:fld>
            <a:endParaRPr lang="en-US" altLang="zh-CN"/>
          </a:p>
        </p:txBody>
      </p:sp>
    </p:spTree>
    <p:extLst>
      <p:ext uri="{BB962C8B-B14F-4D97-AF65-F5344CB8AC3E}">
        <p14:creationId xmlns:p14="http://schemas.microsoft.com/office/powerpoint/2010/main" val="32180166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474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C87C6DD-1791-48B1-A962-B0A4918BDB0B}" type="slidenum">
              <a:rPr lang="en-US" altLang="zh-CN" smtClean="0"/>
              <a:pPr eaLnBrk="1" hangingPunct="1"/>
              <a:t>52</a:t>
            </a:fld>
            <a:endParaRPr lang="en-US" altLang="zh-CN"/>
          </a:p>
        </p:txBody>
      </p:sp>
    </p:spTree>
    <p:extLst>
      <p:ext uri="{BB962C8B-B14F-4D97-AF65-F5344CB8AC3E}">
        <p14:creationId xmlns:p14="http://schemas.microsoft.com/office/powerpoint/2010/main" val="40834842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49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78C549B-67AC-4FE5-A423-9645389C291A}" type="slidenum">
              <a:rPr lang="en-US" altLang="zh-CN" smtClean="0"/>
              <a:pPr eaLnBrk="1" hangingPunct="1"/>
              <a:t>53</a:t>
            </a:fld>
            <a:endParaRPr lang="en-US" altLang="zh-CN"/>
          </a:p>
        </p:txBody>
      </p:sp>
    </p:spTree>
    <p:extLst>
      <p:ext uri="{BB962C8B-B14F-4D97-AF65-F5344CB8AC3E}">
        <p14:creationId xmlns:p14="http://schemas.microsoft.com/office/powerpoint/2010/main" val="15182824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50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F4FB451-0EC4-41DC-B174-3D203A2BF8BD}" type="slidenum">
              <a:rPr lang="en-US" altLang="zh-CN" smtClean="0"/>
              <a:pPr eaLnBrk="1" hangingPunct="1"/>
              <a:t>54</a:t>
            </a:fld>
            <a:endParaRPr lang="en-US" altLang="zh-CN"/>
          </a:p>
        </p:txBody>
      </p:sp>
    </p:spTree>
    <p:extLst>
      <p:ext uri="{BB962C8B-B14F-4D97-AF65-F5344CB8AC3E}">
        <p14:creationId xmlns:p14="http://schemas.microsoft.com/office/powerpoint/2010/main" val="40499924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51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6A48D38-C18A-4A47-B401-4066A43FD80C}" type="slidenum">
              <a:rPr lang="en-US" altLang="zh-CN" smtClean="0"/>
              <a:pPr eaLnBrk="1" hangingPunct="1"/>
              <a:t>55</a:t>
            </a:fld>
            <a:endParaRPr lang="en-US" altLang="zh-CN"/>
          </a:p>
        </p:txBody>
      </p:sp>
    </p:spTree>
    <p:extLst>
      <p:ext uri="{BB962C8B-B14F-4D97-AF65-F5344CB8AC3E}">
        <p14:creationId xmlns:p14="http://schemas.microsoft.com/office/powerpoint/2010/main" val="34249196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a:ln/>
        </p:spPr>
      </p:sp>
      <p:sp>
        <p:nvSpPr>
          <p:cNvPr id="1525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525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EF4C16E-03B3-404A-BC28-5205122A61ED}" type="slidenum">
              <a:rPr lang="en-US" altLang="zh-CN" smtClean="0"/>
              <a:pPr eaLnBrk="1" hangingPunct="1"/>
              <a:t>56</a:t>
            </a:fld>
            <a:endParaRPr lang="en-US" altLang="zh-CN"/>
          </a:p>
        </p:txBody>
      </p:sp>
    </p:spTree>
    <p:extLst>
      <p:ext uri="{BB962C8B-B14F-4D97-AF65-F5344CB8AC3E}">
        <p14:creationId xmlns:p14="http://schemas.microsoft.com/office/powerpoint/2010/main" val="36969620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a:ln/>
        </p:spPr>
      </p:sp>
      <p:sp>
        <p:nvSpPr>
          <p:cNvPr id="1536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1536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5228999-85D0-4648-AEF4-DF02D5A7F2F5}" type="slidenum">
              <a:rPr lang="en-US" altLang="zh-CN" smtClean="0"/>
              <a:pPr eaLnBrk="1" hangingPunct="1"/>
              <a:t>57</a:t>
            </a:fld>
            <a:endParaRPr lang="en-US" altLang="zh-CN"/>
          </a:p>
        </p:txBody>
      </p:sp>
    </p:spTree>
    <p:extLst>
      <p:ext uri="{BB962C8B-B14F-4D97-AF65-F5344CB8AC3E}">
        <p14:creationId xmlns:p14="http://schemas.microsoft.com/office/powerpoint/2010/main" val="11910236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826983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717A40B1-AA6C-4185-84BC-661BE49E49F1}" type="slidenum">
              <a:rPr lang="en-US" altLang="zh-CN"/>
              <a:pPr>
                <a:defRPr/>
              </a:pPr>
              <a:t>‹#›</a:t>
            </a:fld>
            <a:endParaRPr lang="en-US" altLang="zh-CN" dirty="0"/>
          </a:p>
        </p:txBody>
      </p:sp>
    </p:spTree>
    <p:extLst>
      <p:ext uri="{BB962C8B-B14F-4D97-AF65-F5344CB8AC3E}">
        <p14:creationId xmlns:p14="http://schemas.microsoft.com/office/powerpoint/2010/main" val="82182280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2D4EC30-B615-4277-899A-F509CEABF39E}" type="slidenum">
              <a:rPr lang="en-US" altLang="zh-CN"/>
              <a:pPr>
                <a:defRPr/>
              </a:pPr>
              <a:t>‹#›</a:t>
            </a:fld>
            <a:endParaRPr lang="en-US" altLang="zh-CN" dirty="0"/>
          </a:p>
        </p:txBody>
      </p:sp>
    </p:spTree>
    <p:extLst>
      <p:ext uri="{BB962C8B-B14F-4D97-AF65-F5344CB8AC3E}">
        <p14:creationId xmlns:p14="http://schemas.microsoft.com/office/powerpoint/2010/main" val="304099579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69D6436-E6A4-4D3C-AABA-56EBB0667742}" type="slidenum">
              <a:rPr lang="en-US" altLang="zh-CN"/>
              <a:pPr>
                <a:defRPr/>
              </a:pPr>
              <a:t>‹#›</a:t>
            </a:fld>
            <a:endParaRPr lang="en-US" altLang="zh-CN" dirty="0"/>
          </a:p>
        </p:txBody>
      </p:sp>
    </p:spTree>
    <p:extLst>
      <p:ext uri="{BB962C8B-B14F-4D97-AF65-F5344CB8AC3E}">
        <p14:creationId xmlns:p14="http://schemas.microsoft.com/office/powerpoint/2010/main" val="2019699572"/>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7" name="Rectangle 6"/>
          <p:cNvSpPr>
            <a:spLocks noGrp="1" noChangeArrowheads="1"/>
          </p:cNvSpPr>
          <p:nvPr>
            <p:ph type="sldNum" sz="quarter" idx="10"/>
          </p:nvPr>
        </p:nvSpPr>
        <p:spPr>
          <a:ln/>
        </p:spPr>
        <p:txBody>
          <a:bodyPr/>
          <a:lstStyle>
            <a:lvl1pPr>
              <a:defRPr/>
            </a:lvl1pPr>
          </a:lstStyle>
          <a:p>
            <a:pPr>
              <a:defRPr/>
            </a:pPr>
            <a:fld id="{5DC1217F-51AD-48CD-B28A-6ADC9CB070F3}" type="slidenum">
              <a:rPr lang="en-US" altLang="zh-CN"/>
              <a:pPr>
                <a:defRPr/>
              </a:pPr>
              <a:t>‹#›</a:t>
            </a:fld>
            <a:endParaRPr lang="en-US" altLang="zh-CN" dirty="0"/>
          </a:p>
        </p:txBody>
      </p:sp>
    </p:spTree>
    <p:extLst>
      <p:ext uri="{BB962C8B-B14F-4D97-AF65-F5344CB8AC3E}">
        <p14:creationId xmlns:p14="http://schemas.microsoft.com/office/powerpoint/2010/main" val="7425349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06E960A1-4BD1-4676-9498-727B557FA87D}" type="slidenum">
              <a:rPr lang="en-US" altLang="zh-CN"/>
              <a:pPr>
                <a:defRPr/>
              </a:pPr>
              <a:t>‹#›</a:t>
            </a:fld>
            <a:endParaRPr lang="en-US" altLang="zh-CN" dirty="0"/>
          </a:p>
        </p:txBody>
      </p:sp>
    </p:spTree>
    <p:extLst>
      <p:ext uri="{BB962C8B-B14F-4D97-AF65-F5344CB8AC3E}">
        <p14:creationId xmlns:p14="http://schemas.microsoft.com/office/powerpoint/2010/main" val="414095728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F724A2F6-D209-48EE-AEA5-34DAB6B04DD7}" type="slidenum">
              <a:rPr lang="en-US" altLang="zh-CN"/>
              <a:pPr>
                <a:defRPr/>
              </a:pPr>
              <a:t>‹#›</a:t>
            </a:fld>
            <a:endParaRPr lang="en-US" altLang="zh-CN" dirty="0"/>
          </a:p>
        </p:txBody>
      </p:sp>
    </p:spTree>
    <p:extLst>
      <p:ext uri="{BB962C8B-B14F-4D97-AF65-F5344CB8AC3E}">
        <p14:creationId xmlns:p14="http://schemas.microsoft.com/office/powerpoint/2010/main" val="427143846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F9046239-E98A-4675-857E-581B3C4F409D}" type="slidenum">
              <a:rPr lang="en-US" altLang="zh-CN"/>
              <a:pPr>
                <a:defRPr/>
              </a:pPr>
              <a:t>‹#›</a:t>
            </a:fld>
            <a:endParaRPr lang="en-US" altLang="zh-CN" dirty="0"/>
          </a:p>
        </p:txBody>
      </p:sp>
    </p:spTree>
    <p:extLst>
      <p:ext uri="{BB962C8B-B14F-4D97-AF65-F5344CB8AC3E}">
        <p14:creationId xmlns:p14="http://schemas.microsoft.com/office/powerpoint/2010/main" val="7732318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B4AC6B0D-93D2-4125-8842-2FB414892D72}" type="slidenum">
              <a:rPr lang="en-US" altLang="zh-CN"/>
              <a:pPr>
                <a:defRPr/>
              </a:pPr>
              <a:t>‹#›</a:t>
            </a:fld>
            <a:endParaRPr lang="en-US" altLang="zh-CN" dirty="0"/>
          </a:p>
        </p:txBody>
      </p:sp>
    </p:spTree>
    <p:extLst>
      <p:ext uri="{BB962C8B-B14F-4D97-AF65-F5344CB8AC3E}">
        <p14:creationId xmlns:p14="http://schemas.microsoft.com/office/powerpoint/2010/main" val="311156106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E61B11F-9306-4844-812C-6018B269C14E}" type="slidenum">
              <a:rPr lang="en-US" altLang="zh-CN"/>
              <a:pPr>
                <a:defRPr/>
              </a:pPr>
              <a:t>‹#›</a:t>
            </a:fld>
            <a:endParaRPr lang="en-US" altLang="zh-CN" dirty="0"/>
          </a:p>
        </p:txBody>
      </p:sp>
    </p:spTree>
    <p:extLst>
      <p:ext uri="{BB962C8B-B14F-4D97-AF65-F5344CB8AC3E}">
        <p14:creationId xmlns:p14="http://schemas.microsoft.com/office/powerpoint/2010/main" val="76833780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752D15E-3ABC-4D48-A573-B3E5A39B232C}" type="slidenum">
              <a:rPr lang="en-US" altLang="zh-CN"/>
              <a:pPr>
                <a:defRPr/>
              </a:pPr>
              <a:t>‹#›</a:t>
            </a:fld>
            <a:endParaRPr lang="en-US" altLang="zh-CN" dirty="0"/>
          </a:p>
        </p:txBody>
      </p:sp>
    </p:spTree>
    <p:extLst>
      <p:ext uri="{BB962C8B-B14F-4D97-AF65-F5344CB8AC3E}">
        <p14:creationId xmlns:p14="http://schemas.microsoft.com/office/powerpoint/2010/main" val="88639692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7ED8BAF0-77D7-4659-8475-06975F54C6A5}" type="slidenum">
              <a:rPr lang="en-US" altLang="zh-CN"/>
              <a:pPr>
                <a:defRPr/>
              </a:pPr>
              <a:t>‹#›</a:t>
            </a:fld>
            <a:endParaRPr lang="en-US" altLang="zh-CN" dirty="0"/>
          </a:p>
        </p:txBody>
      </p:sp>
    </p:spTree>
    <p:extLst>
      <p:ext uri="{BB962C8B-B14F-4D97-AF65-F5344CB8AC3E}">
        <p14:creationId xmlns:p14="http://schemas.microsoft.com/office/powerpoint/2010/main" val="3457700232"/>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p:txBody>
          <a:bodyPr/>
          <a:lstStyle>
            <a:lvl1pPr>
              <a:defRPr smtClean="0"/>
            </a:lvl1pPr>
          </a:lstStyle>
          <a:p>
            <a:pPr>
              <a:defRPr/>
            </a:pPr>
            <a:fld id="{3A62ADFE-E0B0-477B-96E6-4F0DCD7CD461}" type="slidenum">
              <a:rPr lang="en-US" altLang="zh-CN"/>
              <a:pPr>
                <a:defRPr/>
              </a:pPr>
              <a:t>‹#›</a:t>
            </a:fld>
            <a:endParaRPr lang="en-US" altLang="zh-CN" dirty="0"/>
          </a:p>
        </p:txBody>
      </p:sp>
    </p:spTree>
    <p:extLst>
      <p:ext uri="{BB962C8B-B14F-4D97-AF65-F5344CB8AC3E}">
        <p14:creationId xmlns:p14="http://schemas.microsoft.com/office/powerpoint/2010/main" val="400441002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98C9A0A3-97A0-4BEB-B2E9-E3CC60E0053D}" type="slidenum">
              <a:rPr lang="en-US" altLang="zh-CN"/>
              <a:pPr>
                <a:defRPr/>
              </a:pPr>
              <a:t>‹#›</a:t>
            </a:fld>
            <a:endParaRPr lang="en-US" altLang="zh-CN" dirty="0"/>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4179" r:id="rId1"/>
    <p:sldLayoutId id="2147484168" r:id="rId2"/>
    <p:sldLayoutId id="2147484169" r:id="rId3"/>
    <p:sldLayoutId id="2147484170" r:id="rId4"/>
    <p:sldLayoutId id="2147484171" r:id="rId5"/>
    <p:sldLayoutId id="2147484172" r:id="rId6"/>
    <p:sldLayoutId id="2147484173" r:id="rId7"/>
    <p:sldLayoutId id="2147484174" r:id="rId8"/>
    <p:sldLayoutId id="2147484175" r:id="rId9"/>
    <p:sldLayoutId id="2147484176" r:id="rId10"/>
    <p:sldLayoutId id="2147484177" r:id="rId11"/>
    <p:sldLayoutId id="2147484178" r:id="rId12"/>
    <p:sldLayoutId id="2147484180" r:id="rId13"/>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calis2.nju.edu.cn:8080/opac/item.php?marc_no=000346523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subTitle" idx="1"/>
          </p:nvPr>
        </p:nvSpPr>
        <p:spPr>
          <a:xfrm>
            <a:off x="1403350" y="5589588"/>
            <a:ext cx="6553200" cy="1268412"/>
          </a:xfrm>
        </p:spPr>
        <p:txBody>
          <a:bodyPr/>
          <a:lstStyle/>
          <a:p>
            <a:r>
              <a:rPr lang="en-US" altLang="zh-CN" sz="2000">
                <a:solidFill>
                  <a:srgbClr val="595959"/>
                </a:solidFill>
                <a:ea typeface="宋体" charset="-122"/>
              </a:rPr>
              <a:t>Software Institute</a:t>
            </a:r>
          </a:p>
          <a:p>
            <a:r>
              <a:rPr lang="en-US" altLang="zh-CN" sz="2000">
                <a:solidFill>
                  <a:srgbClr val="595959"/>
                </a:solidFill>
                <a:ea typeface="宋体" charset="-122"/>
              </a:rPr>
              <a:t>Nanjing University</a:t>
            </a:r>
          </a:p>
          <a:p>
            <a:r>
              <a:rPr lang="en-US" altLang="zh-CN" sz="2000">
                <a:solidFill>
                  <a:srgbClr val="595959"/>
                </a:solidFill>
                <a:ea typeface="宋体" charset="-122"/>
              </a:rPr>
              <a:t>Bei Jia</a:t>
            </a:r>
          </a:p>
        </p:txBody>
      </p:sp>
      <p:sp>
        <p:nvSpPr>
          <p:cNvPr id="4099" name="Rectangle 2"/>
          <p:cNvSpPr>
            <a:spLocks noGrp="1" noChangeArrowheads="1"/>
          </p:cNvSpPr>
          <p:nvPr>
            <p:ph type="ctrTitle" sz="quarter"/>
          </p:nvPr>
        </p:nvSpPr>
        <p:spPr>
          <a:xfrm>
            <a:off x="0" y="4076700"/>
            <a:ext cx="9144000" cy="1223963"/>
          </a:xfrm>
          <a:gradFill rotWithShape="0"/>
        </p:spPr>
        <p:txBody>
          <a:bodyPr/>
          <a:lstStyle/>
          <a:p>
            <a:r>
              <a:rPr lang="en-US" altLang="zh-CN" sz="2800">
                <a:ea typeface="宋体" charset="-122"/>
              </a:rPr>
              <a:t>Principles of Service-Oriented Design I</a:t>
            </a:r>
            <a:br>
              <a:rPr lang="en-US" altLang="zh-CN">
                <a:ea typeface="宋体" charset="-122"/>
              </a:rPr>
            </a:br>
            <a:r>
              <a:rPr lang="en-US" altLang="zh-CN" sz="2000">
                <a:solidFill>
                  <a:srgbClr val="FFFFFF"/>
                </a:solidFill>
                <a:ea typeface="宋体" charset="-122"/>
              </a:rPr>
              <a:t>Service-Oriented Software Engineering</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a:t>面向服务设计的原则</a:t>
            </a:r>
          </a:p>
        </p:txBody>
      </p:sp>
      <p:sp>
        <p:nvSpPr>
          <p:cNvPr id="5123" name="内容占位符 2"/>
          <p:cNvSpPr>
            <a:spLocks noGrp="1"/>
          </p:cNvSpPr>
          <p:nvPr>
            <p:ph sz="half" idx="1"/>
          </p:nvPr>
        </p:nvSpPr>
        <p:spPr/>
        <p:txBody>
          <a:bodyPr/>
          <a:lstStyle/>
          <a:p>
            <a:r>
              <a:rPr lang="zh-CN" altLang="en-US" dirty="0"/>
              <a:t>标准化服务合约</a:t>
            </a:r>
            <a:endParaRPr lang="en-US" altLang="zh-CN" dirty="0"/>
          </a:p>
          <a:p>
            <a:pPr lvl="1"/>
            <a:r>
              <a:rPr lang="zh-CN" altLang="en-US" dirty="0"/>
              <a:t>实现一个标准化合约</a:t>
            </a:r>
            <a:endParaRPr lang="en-US" altLang="zh-CN" dirty="0"/>
          </a:p>
          <a:p>
            <a:r>
              <a:rPr lang="zh-CN" altLang="en-US" dirty="0"/>
              <a:t>服务松散耦合</a:t>
            </a:r>
            <a:endParaRPr lang="en-US" altLang="zh-CN" dirty="0"/>
          </a:p>
          <a:p>
            <a:pPr lvl="1"/>
            <a:r>
              <a:rPr lang="zh-CN" altLang="en-US" dirty="0"/>
              <a:t>最小化依赖关系</a:t>
            </a:r>
            <a:endParaRPr lang="en-US" altLang="zh-CN" dirty="0"/>
          </a:p>
          <a:p>
            <a:r>
              <a:rPr lang="zh-CN" altLang="en-US" dirty="0"/>
              <a:t>服务抽象</a:t>
            </a:r>
            <a:endParaRPr lang="en-US" altLang="zh-CN" dirty="0"/>
          </a:p>
          <a:p>
            <a:pPr lvl="1"/>
            <a:r>
              <a:rPr lang="zh-CN" altLang="en-US" dirty="0"/>
              <a:t>最小化元信息的可用性</a:t>
            </a:r>
            <a:endParaRPr lang="en-US" altLang="zh-CN" dirty="0"/>
          </a:p>
          <a:p>
            <a:r>
              <a:rPr lang="zh-CN" altLang="en-US" dirty="0"/>
              <a:t>服务可复用性</a:t>
            </a:r>
            <a:endParaRPr lang="en-US" altLang="zh-CN" dirty="0"/>
          </a:p>
          <a:p>
            <a:pPr lvl="1"/>
            <a:r>
              <a:rPr lang="zh-CN" altLang="en-US" dirty="0"/>
              <a:t>实现通用的和可复用的逻辑与合约</a:t>
            </a:r>
            <a:endParaRPr lang="en-US" altLang="zh-CN" dirty="0"/>
          </a:p>
        </p:txBody>
      </p:sp>
      <p:sp>
        <p:nvSpPr>
          <p:cNvPr id="5124" name="内容占位符 4"/>
          <p:cNvSpPr>
            <a:spLocks noGrp="1"/>
          </p:cNvSpPr>
          <p:nvPr>
            <p:ph sz="half" idx="2"/>
          </p:nvPr>
        </p:nvSpPr>
        <p:spPr/>
        <p:txBody>
          <a:bodyPr/>
          <a:lstStyle/>
          <a:p>
            <a:r>
              <a:rPr lang="zh-CN" altLang="en-US" dirty="0"/>
              <a:t>服务自治</a:t>
            </a:r>
            <a:endParaRPr lang="en-US" altLang="zh-CN" dirty="0"/>
          </a:p>
          <a:p>
            <a:pPr lvl="1"/>
            <a:r>
              <a:rPr lang="zh-CN" altLang="en-US" dirty="0"/>
              <a:t>实现独立的功能边界和运行时环境</a:t>
            </a:r>
            <a:endParaRPr lang="en-US" altLang="zh-CN" dirty="0"/>
          </a:p>
          <a:p>
            <a:r>
              <a:rPr lang="zh-CN" altLang="en-US" dirty="0"/>
              <a:t>服务无状态性</a:t>
            </a:r>
            <a:endParaRPr lang="en-US" altLang="zh-CN" dirty="0"/>
          </a:p>
          <a:p>
            <a:pPr lvl="1"/>
            <a:r>
              <a:rPr lang="zh-CN" altLang="en-US" dirty="0"/>
              <a:t>实现可适应的，和状态管理无关的逻辑</a:t>
            </a:r>
            <a:endParaRPr lang="en-US" altLang="zh-CN" dirty="0"/>
          </a:p>
          <a:p>
            <a:r>
              <a:rPr lang="zh-CN" altLang="en-US" dirty="0"/>
              <a:t>服务可发现性</a:t>
            </a:r>
            <a:endParaRPr lang="en-US" altLang="zh-CN" dirty="0"/>
          </a:p>
          <a:p>
            <a:pPr lvl="1"/>
            <a:r>
              <a:rPr lang="zh-CN" altLang="en-US" dirty="0"/>
              <a:t>实现可交流的元数据</a:t>
            </a:r>
            <a:endParaRPr lang="en-US" altLang="zh-CN" dirty="0"/>
          </a:p>
          <a:p>
            <a:r>
              <a:rPr lang="zh-CN" altLang="en-US" dirty="0"/>
              <a:t>服务可组合性</a:t>
            </a:r>
            <a:endParaRPr lang="en-US" altLang="zh-CN" dirty="0"/>
          </a:p>
          <a:p>
            <a:pPr lvl="1"/>
            <a:r>
              <a:rPr lang="zh-CN" altLang="en-US" dirty="0"/>
              <a:t>最大化可组合性</a:t>
            </a:r>
            <a:endParaRPr lang="en-US" altLang="zh-CN" dirty="0"/>
          </a:p>
          <a:p>
            <a:pPr lvl="1"/>
            <a:endParaRPr lang="zh-CN" altLang="en-US" dirty="0"/>
          </a:p>
        </p:txBody>
      </p:sp>
      <p:sp>
        <p:nvSpPr>
          <p:cNvPr id="5125"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E13E95C-5ABF-40ED-9FA7-BA0B2D4C1CA3}" type="slidenum">
              <a:rPr lang="en-US" altLang="zh-CN" smtClean="0"/>
              <a:pPr/>
              <a:t>2</a:t>
            </a:fld>
            <a:endParaRPr lang="en-US" altLang="zh-C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a:t>从而</a:t>
            </a:r>
            <a:r>
              <a:rPr lang="en-US" altLang="zh-CN"/>
              <a:t>……</a:t>
            </a:r>
            <a:endParaRPr lang="zh-CN" altLang="en-US"/>
          </a:p>
        </p:txBody>
      </p:sp>
      <p:sp>
        <p:nvSpPr>
          <p:cNvPr id="6147" name="内容占位符 5"/>
          <p:cNvSpPr>
            <a:spLocks noGrp="1"/>
          </p:cNvSpPr>
          <p:nvPr>
            <p:ph idx="1"/>
          </p:nvPr>
        </p:nvSpPr>
        <p:spPr/>
        <p:txBody>
          <a:bodyPr>
            <a:normAutofit fontScale="92500" lnSpcReduction="10000"/>
          </a:bodyPr>
          <a:lstStyle/>
          <a:p>
            <a:pPr>
              <a:lnSpc>
                <a:spcPct val="150000"/>
              </a:lnSpc>
            </a:pPr>
            <a:r>
              <a:rPr lang="zh-CN" altLang="en-US" dirty="0"/>
              <a:t>提高内在互操作性</a:t>
            </a:r>
            <a:endParaRPr lang="en-US" altLang="zh-CN" dirty="0"/>
          </a:p>
          <a:p>
            <a:pPr>
              <a:lnSpc>
                <a:spcPct val="150000"/>
              </a:lnSpc>
            </a:pPr>
            <a:r>
              <a:rPr lang="zh-CN" altLang="en-US" dirty="0"/>
              <a:t>增强联合</a:t>
            </a:r>
            <a:endParaRPr lang="en-US" altLang="zh-CN" dirty="0"/>
          </a:p>
          <a:p>
            <a:pPr>
              <a:lnSpc>
                <a:spcPct val="150000"/>
              </a:lnSpc>
            </a:pPr>
            <a:r>
              <a:rPr lang="zh-CN" altLang="en-US" dirty="0"/>
              <a:t>增加厂商多样化选择</a:t>
            </a:r>
            <a:endParaRPr lang="en-US" altLang="zh-CN" dirty="0"/>
          </a:p>
          <a:p>
            <a:pPr>
              <a:lnSpc>
                <a:spcPct val="150000"/>
              </a:lnSpc>
            </a:pPr>
            <a:r>
              <a:rPr lang="zh-CN" altLang="en-US" dirty="0"/>
              <a:t>提高业务和技术的一致性</a:t>
            </a:r>
            <a:endParaRPr lang="en-US" altLang="zh-CN" dirty="0"/>
          </a:p>
          <a:p>
            <a:pPr>
              <a:lnSpc>
                <a:spcPct val="150000"/>
              </a:lnSpc>
            </a:pPr>
            <a:r>
              <a:rPr lang="zh-CN" altLang="en-US" dirty="0"/>
              <a:t>提高投资回报率</a:t>
            </a:r>
            <a:endParaRPr lang="en-US" altLang="zh-CN" dirty="0"/>
          </a:p>
          <a:p>
            <a:pPr>
              <a:lnSpc>
                <a:spcPct val="150000"/>
              </a:lnSpc>
            </a:pPr>
            <a:r>
              <a:rPr lang="zh-CN" altLang="en-US" dirty="0"/>
              <a:t>提高组织敏捷度</a:t>
            </a:r>
            <a:endParaRPr lang="en-US" altLang="zh-CN" dirty="0"/>
          </a:p>
          <a:p>
            <a:pPr>
              <a:lnSpc>
                <a:spcPct val="150000"/>
              </a:lnSpc>
            </a:pPr>
            <a:r>
              <a:rPr lang="zh-CN" altLang="en-US" dirty="0"/>
              <a:t>降低</a:t>
            </a:r>
            <a:r>
              <a:rPr lang="en-US" altLang="zh-CN" dirty="0"/>
              <a:t>IT</a:t>
            </a:r>
            <a:r>
              <a:rPr lang="zh-CN" altLang="en-US" dirty="0"/>
              <a:t>负担</a:t>
            </a:r>
          </a:p>
        </p:txBody>
      </p:sp>
      <p:sp>
        <p:nvSpPr>
          <p:cNvPr id="6148"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B33B462-8634-4F16-A589-F443B20A648D}" type="slidenum">
              <a:rPr lang="en-US" altLang="zh-CN" smtClean="0"/>
              <a:pPr/>
              <a:t>3</a:t>
            </a:fld>
            <a:endParaRPr lang="en-US" altLang="zh-C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a:t>服务合约（标准化与设计）</a:t>
            </a:r>
          </a:p>
        </p:txBody>
      </p:sp>
      <p:sp>
        <p:nvSpPr>
          <p:cNvPr id="7171" name="内容占位符 2"/>
          <p:cNvSpPr>
            <a:spLocks noGrp="1"/>
          </p:cNvSpPr>
          <p:nvPr>
            <p:ph idx="1"/>
          </p:nvPr>
        </p:nvSpPr>
        <p:spPr>
          <a:xfrm>
            <a:off x="457200" y="1052514"/>
            <a:ext cx="8229600" cy="1800422"/>
          </a:xfrm>
        </p:spPr>
        <p:txBody>
          <a:bodyPr>
            <a:normAutofit fontScale="92500"/>
          </a:bodyPr>
          <a:lstStyle/>
          <a:p>
            <a:r>
              <a:rPr lang="zh-CN" altLang="en-US" dirty="0"/>
              <a:t>使用形式化或者标准化 </a:t>
            </a:r>
            <a:r>
              <a:rPr lang="en-US" altLang="zh-CN" dirty="0"/>
              <a:t>(Standardized) </a:t>
            </a:r>
            <a:r>
              <a:rPr lang="zh-CN" altLang="en-US" dirty="0"/>
              <a:t>的合约</a:t>
            </a:r>
            <a:endParaRPr lang="en-US" altLang="zh-CN" dirty="0"/>
          </a:p>
          <a:p>
            <a:r>
              <a:rPr lang="zh-CN" altLang="en-US" dirty="0"/>
              <a:t>其他的设计原则也会直接影响到合约的定位、设计以及最终的使用</a:t>
            </a:r>
          </a:p>
        </p:txBody>
      </p:sp>
      <p:sp>
        <p:nvSpPr>
          <p:cNvPr id="717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82E8013-A3AE-4DF2-948E-7A24EF3AC626}" type="slidenum">
              <a:rPr lang="en-US" altLang="zh-CN" smtClean="0"/>
              <a:pPr/>
              <a:t>4</a:t>
            </a:fld>
            <a:endParaRPr lang="en-US" altLang="zh-CN"/>
          </a:p>
        </p:txBody>
      </p:sp>
      <p:pic>
        <p:nvPicPr>
          <p:cNvPr id="2" name="图片 1"/>
          <p:cNvPicPr>
            <a:picLocks noChangeAspect="1"/>
          </p:cNvPicPr>
          <p:nvPr/>
        </p:nvPicPr>
        <p:blipFill>
          <a:blip r:embed="rId3"/>
          <a:stretch>
            <a:fillRect/>
          </a:stretch>
        </p:blipFill>
        <p:spPr>
          <a:xfrm>
            <a:off x="1979711" y="3055537"/>
            <a:ext cx="5419725" cy="1962150"/>
          </a:xfrm>
          <a:prstGeom prst="rect">
            <a:avLst/>
          </a:prstGeom>
        </p:spPr>
      </p:pic>
      <p:sp>
        <p:nvSpPr>
          <p:cNvPr id="3" name="矩形 2"/>
          <p:cNvSpPr/>
          <p:nvPr/>
        </p:nvSpPr>
        <p:spPr>
          <a:xfrm>
            <a:off x="1305197" y="5277741"/>
            <a:ext cx="6768752" cy="830997"/>
          </a:xfrm>
          <a:prstGeom prst="rect">
            <a:avLst/>
          </a:prstGeom>
        </p:spPr>
        <p:txBody>
          <a:bodyPr wrap="square">
            <a:spAutoFit/>
          </a:bodyPr>
          <a:lstStyle/>
          <a:p>
            <a:r>
              <a:rPr lang="zh-CN" altLang="en-US" sz="1600" dirty="0"/>
              <a:t>The fundamental role of this principle is to ensure the consistent expression of service capabilities and the overall purpose of the service as defined by the parent service context.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6"/>
          <p:cNvSpPr>
            <a:spLocks noGrp="1"/>
          </p:cNvSpPr>
          <p:nvPr>
            <p:ph type="title"/>
          </p:nvPr>
        </p:nvSpPr>
        <p:spPr/>
        <p:txBody>
          <a:bodyPr/>
          <a:lstStyle/>
          <a:p>
            <a:r>
              <a:rPr lang="zh-CN" altLang="en-US"/>
              <a:t>服务合约</a:t>
            </a:r>
          </a:p>
        </p:txBody>
      </p:sp>
      <p:sp>
        <p:nvSpPr>
          <p:cNvPr id="8195" name="内容占位符 7"/>
          <p:cNvSpPr>
            <a:spLocks noGrp="1"/>
          </p:cNvSpPr>
          <p:nvPr>
            <p:ph idx="1"/>
          </p:nvPr>
        </p:nvSpPr>
        <p:spPr>
          <a:xfrm>
            <a:off x="457200" y="1052513"/>
            <a:ext cx="8229600" cy="1850543"/>
          </a:xfrm>
        </p:spPr>
        <p:txBody>
          <a:bodyPr/>
          <a:lstStyle/>
          <a:p>
            <a:r>
              <a:rPr lang="zh-CN" altLang="en-US" dirty="0"/>
              <a:t>建立了与服务交互有关的术语</a:t>
            </a:r>
            <a:endParaRPr lang="en-US" altLang="zh-CN" dirty="0"/>
          </a:p>
          <a:p>
            <a:r>
              <a:rPr lang="zh-CN" altLang="en-US" dirty="0"/>
              <a:t>提供了技术限制和需求，及服务的拥有者希望对外公布的所有语义信息</a:t>
            </a:r>
          </a:p>
        </p:txBody>
      </p:sp>
      <p:sp>
        <p:nvSpPr>
          <p:cNvPr id="819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645C66B-CB24-4485-9AC4-02BA4932B2FD}" type="slidenum">
              <a:rPr lang="en-US" altLang="zh-CN" smtClean="0"/>
              <a:pPr/>
              <a:t>5</a:t>
            </a:fld>
            <a:endParaRPr lang="en-US" altLang="zh-CN"/>
          </a:p>
        </p:txBody>
      </p:sp>
      <p:pic>
        <p:nvPicPr>
          <p:cNvPr id="2" name="图片 1"/>
          <p:cNvPicPr>
            <a:picLocks noChangeAspect="1"/>
          </p:cNvPicPr>
          <p:nvPr/>
        </p:nvPicPr>
        <p:blipFill>
          <a:blip r:embed="rId3"/>
          <a:stretch>
            <a:fillRect/>
          </a:stretch>
        </p:blipFill>
        <p:spPr>
          <a:xfrm>
            <a:off x="2402408" y="2997200"/>
            <a:ext cx="4339183" cy="2479533"/>
          </a:xfrm>
          <a:prstGeom prst="rect">
            <a:avLst/>
          </a:prstGeom>
        </p:spPr>
      </p:pic>
      <p:sp>
        <p:nvSpPr>
          <p:cNvPr id="4" name="矩形 3"/>
          <p:cNvSpPr/>
          <p:nvPr/>
        </p:nvSpPr>
        <p:spPr>
          <a:xfrm>
            <a:off x="572433" y="5553430"/>
            <a:ext cx="7999131" cy="830997"/>
          </a:xfrm>
          <a:prstGeom prst="rect">
            <a:avLst/>
          </a:prstGeom>
        </p:spPr>
        <p:txBody>
          <a:bodyPr wrap="square">
            <a:spAutoFit/>
          </a:bodyPr>
          <a:lstStyle/>
          <a:p>
            <a:r>
              <a:rPr lang="en-US" altLang="zh-CN" sz="1600" dirty="0"/>
              <a:t>Possible service description documents that can comprise a contract for a service implemented as a Web service. The subset of these documents that establishes the technical interface for the service can be considered the technical service contract.</a:t>
            </a:r>
            <a:endParaRPr lang="zh-CN" altLang="en-US" sz="16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dirty="0"/>
              <a:t>服务功能描述的标准化</a:t>
            </a:r>
          </a:p>
        </p:txBody>
      </p:sp>
      <p:sp>
        <p:nvSpPr>
          <p:cNvPr id="11267"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BBD67CE-2ACD-417B-BB7B-DA8169E7F2FA}" type="slidenum">
              <a:rPr lang="en-US" altLang="zh-CN" smtClean="0"/>
              <a:pPr/>
              <a:t>6</a:t>
            </a:fld>
            <a:endParaRPr lang="en-US" altLang="zh-CN"/>
          </a:p>
        </p:txBody>
      </p:sp>
      <p:sp>
        <p:nvSpPr>
          <p:cNvPr id="5" name="Text Box 9"/>
          <p:cNvSpPr txBox="1">
            <a:spLocks noChangeArrowheads="1"/>
          </p:cNvSpPr>
          <p:nvPr/>
        </p:nvSpPr>
        <p:spPr bwMode="auto">
          <a:xfrm>
            <a:off x="393440" y="1735112"/>
            <a:ext cx="8280920" cy="1569660"/>
          </a:xfrm>
          <a:prstGeom prst="rect">
            <a:avLst/>
          </a:prstGeom>
          <a:noFill/>
          <a:ln w="19050">
            <a:solidFill>
              <a:schemeClr val="tx1"/>
            </a:solidFill>
            <a:miter lim="800000"/>
            <a:headEnd/>
            <a:tailEnd/>
          </a:ln>
        </p:spPr>
        <p:txBody>
          <a:bodyPr>
            <a:spAutoFit/>
          </a:bodyPr>
          <a:lstStyle/>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GetlnvoiceRequest</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part</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InvoiceCriteria</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element</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bus:GetlnvoiceRequestType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GetlnvoiceResponse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part</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InvoiceDocument</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element</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bus:GetlnvoiceResponseType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
        <p:nvSpPr>
          <p:cNvPr id="6" name="Text Box 9"/>
          <p:cNvSpPr txBox="1">
            <a:spLocks noChangeArrowheads="1"/>
          </p:cNvSpPr>
          <p:nvPr/>
        </p:nvSpPr>
        <p:spPr bwMode="auto">
          <a:xfrm>
            <a:off x="482080" y="4365104"/>
            <a:ext cx="8280920" cy="1569660"/>
          </a:xfrm>
          <a:prstGeom prst="rect">
            <a:avLst/>
          </a:prstGeom>
          <a:noFill/>
          <a:ln w="19050">
            <a:solidFill>
              <a:schemeClr val="tx1"/>
            </a:solidFill>
            <a:miter lim="800000"/>
            <a:headEnd/>
            <a:tailEnd/>
          </a:ln>
        </p:spPr>
        <p:txBody>
          <a:bodyPr>
            <a:spAutoFit/>
          </a:bodyPr>
          <a:lstStyle/>
          <a:p>
            <a:pPr>
              <a:defRPr/>
            </a:pPr>
            <a:r>
              <a:rPr lang="en-US" altLang="zh-CN" sz="1600" dirty="0">
                <a:solidFill>
                  <a:srgbClr val="0000FF"/>
                </a:solidFill>
                <a:highlight>
                  <a:srgbClr val="FFFFFF"/>
                </a:highlight>
                <a:latin typeface="Arial"/>
                <a:ea typeface="宋体" pitchFamily="2" charset="-122"/>
              </a:rPr>
              <a:t>&lt;</a:t>
            </a:r>
            <a:r>
              <a:rPr lang="en-US" altLang="zh-CN" sz="1600" dirty="0">
                <a:solidFill>
                  <a:srgbClr val="800000"/>
                </a:solidFill>
                <a:highlight>
                  <a:srgbClr val="FFFFFF"/>
                </a:highlight>
                <a:latin typeface="Arial"/>
              </a:rPr>
              <a:t>message</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GetlnvoiceRequest</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part</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RequestValue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element</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bus:lnvoiceNumber</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GetlnvoiceResponse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part</a:t>
            </a:r>
            <a:r>
              <a:rPr lang="en-US" altLang="zh-CN" sz="1600" dirty="0">
                <a:solidFill>
                  <a:srgbClr val="FF0000"/>
                </a:solidFill>
                <a:highlight>
                  <a:srgbClr val="FFFFFF"/>
                </a:highlight>
                <a:latin typeface="Arial"/>
              </a:rPr>
              <a:t> name</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ResponseValue</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element</a:t>
            </a:r>
            <a:r>
              <a:rPr lang="en-US" altLang="zh-CN" sz="1600" dirty="0">
                <a:solidFill>
                  <a:srgbClr val="0000FF"/>
                </a:solidFill>
                <a:highlight>
                  <a:srgbClr val="FFFFFF"/>
                </a:highlight>
                <a:latin typeface="Arial"/>
              </a:rPr>
              <a:t>="</a:t>
            </a:r>
            <a:r>
              <a:rPr lang="en-US" altLang="zh-CN" sz="1600" dirty="0" err="1">
                <a:solidFill>
                  <a:srgbClr val="000000"/>
                </a:solidFill>
                <a:highlight>
                  <a:srgbClr val="FFFFFF"/>
                </a:highlight>
                <a:latin typeface="Arial"/>
              </a:rPr>
              <a:t>bus:lnvoice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message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a typeface="宋体" pitchFamily="2" charset="-122"/>
            </a:endParaRPr>
          </a:p>
        </p:txBody>
      </p:sp>
      <p:sp>
        <p:nvSpPr>
          <p:cNvPr id="8" name="Line 15"/>
          <p:cNvSpPr>
            <a:spLocks noChangeShapeType="1"/>
          </p:cNvSpPr>
          <p:nvPr/>
        </p:nvSpPr>
        <p:spPr bwMode="auto">
          <a:xfrm>
            <a:off x="4427984" y="3304773"/>
            <a:ext cx="0" cy="106033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a:t>服务数据表示的标准化 （</a:t>
            </a:r>
            <a:r>
              <a:rPr lang="en-US" altLang="zh-CN"/>
              <a:t>1/3</a:t>
            </a:r>
            <a:r>
              <a:rPr lang="zh-CN" altLang="en-US"/>
              <a:t>）</a:t>
            </a:r>
          </a:p>
        </p:txBody>
      </p:sp>
      <p:sp>
        <p:nvSpPr>
          <p:cNvPr id="12291" name="内容占位符 2"/>
          <p:cNvSpPr>
            <a:spLocks noGrp="1"/>
          </p:cNvSpPr>
          <p:nvPr>
            <p:ph idx="1"/>
          </p:nvPr>
        </p:nvSpPr>
        <p:spPr>
          <a:xfrm>
            <a:off x="457200" y="1052513"/>
            <a:ext cx="8229600" cy="1224359"/>
          </a:xfrm>
        </p:spPr>
        <p:txBody>
          <a:bodyPr/>
          <a:lstStyle/>
          <a:p>
            <a:r>
              <a:rPr lang="zh-CN" altLang="en-US" dirty="0"/>
              <a:t>提倡尽量保持不同服务之间，在数据总体模型和特定数据类型之间的一致性。</a:t>
            </a:r>
          </a:p>
        </p:txBody>
      </p:sp>
      <p:sp>
        <p:nvSpPr>
          <p:cNvPr id="1229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ABEA3D6-022A-484C-AB1C-7BE899395397}" type="slidenum">
              <a:rPr lang="en-US" altLang="zh-CN" smtClean="0"/>
              <a:pPr/>
              <a:t>7</a:t>
            </a:fld>
            <a:endParaRPr lang="en-US" altLang="zh-CN"/>
          </a:p>
        </p:txBody>
      </p:sp>
      <p:pic>
        <p:nvPicPr>
          <p:cNvPr id="8" name="图片 7"/>
          <p:cNvPicPr>
            <a:picLocks noChangeAspect="1"/>
          </p:cNvPicPr>
          <p:nvPr/>
        </p:nvPicPr>
        <p:blipFill>
          <a:blip r:embed="rId3"/>
          <a:stretch>
            <a:fillRect/>
          </a:stretch>
        </p:blipFill>
        <p:spPr>
          <a:xfrm>
            <a:off x="1443037" y="2276872"/>
            <a:ext cx="6181725" cy="3038475"/>
          </a:xfrm>
          <a:prstGeom prst="rect">
            <a:avLst/>
          </a:prstGeom>
        </p:spPr>
      </p:pic>
      <p:sp>
        <p:nvSpPr>
          <p:cNvPr id="10" name="矩形 9"/>
          <p:cNvSpPr/>
          <p:nvPr/>
        </p:nvSpPr>
        <p:spPr>
          <a:xfrm>
            <a:off x="708111" y="5472737"/>
            <a:ext cx="7651575" cy="830997"/>
          </a:xfrm>
          <a:prstGeom prst="rect">
            <a:avLst/>
          </a:prstGeom>
        </p:spPr>
        <p:txBody>
          <a:bodyPr wrap="square">
            <a:spAutoFit/>
          </a:bodyPr>
          <a:lstStyle/>
          <a:p>
            <a:r>
              <a:rPr lang="en-US" altLang="zh-CN" sz="1600" dirty="0">
                <a:solidFill>
                  <a:srgbClr val="FF0000"/>
                </a:solidFill>
              </a:rPr>
              <a:t>A set of WSDL definitions for which a corresponding set of XML schemas has been custom tailored. This has the appearance of a very clean contract architecture, but it can seriously undermine the interoperability potential of an SOA</a:t>
            </a:r>
            <a:endParaRPr lang="zh-CN" altLang="en-US" sz="1600" dirty="0">
              <a:solidFill>
                <a:srgbClr val="FF0000"/>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服务数据表示的标准化 （</a:t>
            </a:r>
            <a:r>
              <a:rPr lang="en-US" altLang="zh-CN"/>
              <a:t>2/3</a:t>
            </a:r>
            <a:r>
              <a:rPr lang="zh-CN" altLang="en-US"/>
              <a:t>）</a:t>
            </a:r>
          </a:p>
        </p:txBody>
      </p:sp>
      <p:sp>
        <p:nvSpPr>
          <p:cNvPr id="13315" name="内容占位符 2"/>
          <p:cNvSpPr>
            <a:spLocks noGrp="1"/>
          </p:cNvSpPr>
          <p:nvPr>
            <p:ph idx="1"/>
          </p:nvPr>
        </p:nvSpPr>
        <p:spPr/>
        <p:txBody>
          <a:bodyPr/>
          <a:lstStyle/>
          <a:p>
            <a:r>
              <a:rPr lang="zh-CN" altLang="en-US" sz="2800" dirty="0"/>
              <a:t>非标准化的服务数据表示将导致频繁的数据转换</a:t>
            </a:r>
            <a:endParaRPr lang="en-US" altLang="zh-CN" sz="2800" dirty="0"/>
          </a:p>
          <a:p>
            <a:r>
              <a:rPr lang="en-US" altLang="zh-CN" sz="2800" dirty="0"/>
              <a:t>Schema</a:t>
            </a:r>
            <a:r>
              <a:rPr lang="zh-CN" altLang="en-US" sz="2800" dirty="0"/>
              <a:t>被单独设计和实现，与使用它的服务操作分离</a:t>
            </a:r>
            <a:endParaRPr lang="en-US" altLang="zh-CN" sz="2800" dirty="0"/>
          </a:p>
          <a:p>
            <a:r>
              <a:rPr lang="zh-CN" altLang="en-US" sz="2800" dirty="0"/>
              <a:t>采用</a:t>
            </a:r>
            <a:r>
              <a:rPr lang="en-US" altLang="zh-CN" sz="2800" dirty="0"/>
              <a:t>“Schema </a:t>
            </a:r>
            <a:r>
              <a:rPr lang="zh-CN" altLang="en-US" sz="2800" dirty="0"/>
              <a:t>集中化</a:t>
            </a:r>
            <a:r>
              <a:rPr lang="en-US" altLang="zh-CN" sz="2800" dirty="0"/>
              <a:t>”(Schema Centralization) </a:t>
            </a:r>
            <a:r>
              <a:rPr lang="zh-CN" altLang="en-US" sz="2800" dirty="0"/>
              <a:t>的设计模式，倡导对每个信息集合定义一个</a:t>
            </a:r>
            <a:r>
              <a:rPr lang="en-US" altLang="zh-CN" sz="2800" dirty="0"/>
              <a:t>“</a:t>
            </a:r>
            <a:r>
              <a:rPr lang="zh-CN" altLang="en-US" sz="2800" dirty="0"/>
              <a:t>官方</a:t>
            </a:r>
            <a:r>
              <a:rPr lang="en-US" altLang="zh-CN" sz="2800" dirty="0"/>
              <a:t>”</a:t>
            </a:r>
            <a:r>
              <a:rPr lang="zh-CN" altLang="en-US" sz="2800" dirty="0"/>
              <a:t>的</a:t>
            </a:r>
            <a:r>
              <a:rPr lang="en-US" altLang="zh-CN" sz="2800" dirty="0"/>
              <a:t>Schema</a:t>
            </a:r>
          </a:p>
          <a:p>
            <a:r>
              <a:rPr lang="zh-CN" altLang="en-US" sz="2800" dirty="0"/>
              <a:t>可以将一个企业划分为多个分离的领域，每个领域都可以被独立地进行标准化和治理</a:t>
            </a:r>
          </a:p>
        </p:txBody>
      </p:sp>
      <p:sp>
        <p:nvSpPr>
          <p:cNvPr id="1331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7F46100-0003-4C6B-82C5-E835E34C3566}" type="slidenum">
              <a:rPr lang="en-US" altLang="zh-CN" smtClean="0"/>
              <a:pPr/>
              <a:t>8</a:t>
            </a:fld>
            <a:endParaRPr lang="en-US" altLang="zh-CN"/>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a:t>服务数据表示的标准化 （</a:t>
            </a:r>
            <a:r>
              <a:rPr lang="en-US" altLang="zh-CN"/>
              <a:t>3/3</a:t>
            </a:r>
            <a:r>
              <a:rPr lang="zh-CN" altLang="en-US"/>
              <a:t>）</a:t>
            </a:r>
          </a:p>
        </p:txBody>
      </p:sp>
      <p:sp>
        <p:nvSpPr>
          <p:cNvPr id="14339" name="内容占位符 2"/>
          <p:cNvSpPr>
            <a:spLocks noGrp="1"/>
          </p:cNvSpPr>
          <p:nvPr>
            <p:ph idx="1"/>
          </p:nvPr>
        </p:nvSpPr>
        <p:spPr>
          <a:xfrm>
            <a:off x="457200" y="1052513"/>
            <a:ext cx="8229600" cy="1152351"/>
          </a:xfrm>
        </p:spPr>
        <p:txBody>
          <a:bodyPr/>
          <a:lstStyle/>
          <a:p>
            <a:r>
              <a:rPr lang="zh-CN" altLang="en-US" dirty="0"/>
              <a:t>除集中式的</a:t>
            </a:r>
            <a:r>
              <a:rPr lang="en-US" altLang="zh-CN" dirty="0"/>
              <a:t>Schema</a:t>
            </a:r>
            <a:r>
              <a:rPr lang="zh-CN" altLang="en-US" dirty="0"/>
              <a:t>外，也常常需要提供特定服务相关类型的额外的</a:t>
            </a:r>
            <a:r>
              <a:rPr lang="en-US" altLang="zh-CN" dirty="0"/>
              <a:t>Schema</a:t>
            </a:r>
            <a:endParaRPr lang="zh-CN" altLang="en-US" dirty="0"/>
          </a:p>
        </p:txBody>
      </p:sp>
      <p:sp>
        <p:nvSpPr>
          <p:cNvPr id="1434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D369F36-EDC6-4D6D-9B90-AD6FDA36F1FE}" type="slidenum">
              <a:rPr lang="en-US" altLang="zh-CN" smtClean="0"/>
              <a:pPr/>
              <a:t>9</a:t>
            </a:fld>
            <a:endParaRPr lang="en-US" altLang="zh-CN"/>
          </a:p>
        </p:txBody>
      </p:sp>
      <p:pic>
        <p:nvPicPr>
          <p:cNvPr id="8" name="图片 7"/>
          <p:cNvPicPr>
            <a:picLocks noChangeAspect="1"/>
          </p:cNvPicPr>
          <p:nvPr/>
        </p:nvPicPr>
        <p:blipFill>
          <a:blip r:embed="rId3"/>
          <a:stretch>
            <a:fillRect/>
          </a:stretch>
        </p:blipFill>
        <p:spPr>
          <a:xfrm>
            <a:off x="1481137" y="2204864"/>
            <a:ext cx="6181725" cy="2971800"/>
          </a:xfrm>
          <a:prstGeom prst="rect">
            <a:avLst/>
          </a:prstGeom>
        </p:spPr>
      </p:pic>
      <p:sp>
        <p:nvSpPr>
          <p:cNvPr id="10" name="矩形 9"/>
          <p:cNvSpPr/>
          <p:nvPr/>
        </p:nvSpPr>
        <p:spPr>
          <a:xfrm>
            <a:off x="1017611" y="5301281"/>
            <a:ext cx="7108775" cy="1077218"/>
          </a:xfrm>
          <a:prstGeom prst="rect">
            <a:avLst/>
          </a:prstGeom>
        </p:spPr>
        <p:txBody>
          <a:bodyPr wrap="square">
            <a:spAutoFit/>
          </a:bodyPr>
          <a:lstStyle/>
          <a:p>
            <a:r>
              <a:rPr lang="en-US" altLang="zh-CN" sz="1600" dirty="0"/>
              <a:t>WSDL definitions that share common XML schemas end up sharing the same data models for messages. Should the Web services represented by these WSDL definitions ever need to interact as part of a composition, they will already have established a meaningful extent of intrinsic interoperability</a:t>
            </a:r>
            <a:endParaRPr lang="zh-CN" altLang="en-US" sz="16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a:t>服务策略的标准化</a:t>
            </a:r>
          </a:p>
        </p:txBody>
      </p:sp>
      <p:sp>
        <p:nvSpPr>
          <p:cNvPr id="14339" name="内容占位符 2"/>
          <p:cNvSpPr>
            <a:spLocks noGrp="1"/>
          </p:cNvSpPr>
          <p:nvPr>
            <p:ph idx="1"/>
          </p:nvPr>
        </p:nvSpPr>
        <p:spPr/>
        <p:txBody>
          <a:bodyPr/>
          <a:lstStyle/>
          <a:p>
            <a:r>
              <a:rPr lang="en-US" altLang="zh-CN" dirty="0"/>
              <a:t>WS-Policy </a:t>
            </a:r>
            <a:r>
              <a:rPr lang="zh-CN" altLang="en-US" dirty="0"/>
              <a:t>定义为服务合约添加了一个单独的潜在抽象层次</a:t>
            </a:r>
            <a:endParaRPr lang="en-US" altLang="zh-CN" dirty="0"/>
          </a:p>
          <a:p>
            <a:r>
              <a:rPr lang="zh-CN" altLang="en-US" dirty="0"/>
              <a:t>使得逻辑能以单独的策略断言的形式存在于物理上独立的策略定义文档中</a:t>
            </a:r>
            <a:endParaRPr lang="en-US" altLang="zh-CN" dirty="0"/>
          </a:p>
          <a:p>
            <a:r>
              <a:rPr lang="zh-CN" altLang="en-US" dirty="0"/>
              <a:t>多层次的标准化</a:t>
            </a:r>
            <a:endParaRPr lang="en-US" altLang="zh-CN" dirty="0"/>
          </a:p>
          <a:p>
            <a:pPr lvl="1"/>
            <a:r>
              <a:rPr lang="zh-CN" altLang="en-US" dirty="0"/>
              <a:t>专用的断言</a:t>
            </a:r>
            <a:r>
              <a:rPr lang="zh-CN" altLang="en-US" sz="3200" dirty="0">
                <a:latin typeface="+mn-lt"/>
                <a:cs typeface="+mn-cs"/>
              </a:rPr>
              <a:t>（</a:t>
            </a:r>
            <a:r>
              <a:rPr lang="en-US" altLang="zh-CN" sz="3200" dirty="0">
                <a:latin typeface="+mn-lt"/>
                <a:cs typeface="+mn-cs"/>
              </a:rPr>
              <a:t>Assertion</a:t>
            </a:r>
            <a:r>
              <a:rPr lang="zh-CN" altLang="en-US" sz="3200" dirty="0">
                <a:latin typeface="+mn-lt"/>
                <a:cs typeface="+mn-cs"/>
              </a:rPr>
              <a:t>）</a:t>
            </a:r>
            <a:r>
              <a:rPr lang="zh-CN" altLang="en-US" dirty="0"/>
              <a:t>词汇</a:t>
            </a:r>
            <a:endParaRPr lang="en-US" altLang="zh-CN" dirty="0"/>
          </a:p>
          <a:p>
            <a:pPr lvl="1"/>
            <a:r>
              <a:rPr lang="zh-CN" altLang="en-US" dirty="0"/>
              <a:t>参数和嵌套策略</a:t>
            </a:r>
            <a:endParaRPr lang="en-US" altLang="zh-CN" dirty="0"/>
          </a:p>
          <a:p>
            <a:pPr lvl="1"/>
            <a:r>
              <a:rPr lang="zh-CN" altLang="en-US" dirty="0"/>
              <a:t>策略的模块化和集中化</a:t>
            </a:r>
            <a:endParaRPr lang="en-US" altLang="zh-CN" dirty="0"/>
          </a:p>
          <a:p>
            <a:pPr lvl="1"/>
            <a:r>
              <a:rPr lang="zh-CN" altLang="en-US" dirty="0"/>
              <a:t>结构化标准</a:t>
            </a:r>
            <a:endParaRPr lang="en-US" altLang="zh-CN" dirty="0"/>
          </a:p>
        </p:txBody>
      </p:sp>
      <p:sp>
        <p:nvSpPr>
          <p:cNvPr id="1536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8F4D4EF-54D7-4869-B1EC-80DC08931312}" type="slidenum">
              <a:rPr lang="en-US" altLang="zh-CN" smtClean="0"/>
              <a:pPr/>
              <a:t>10</a:t>
            </a:fld>
            <a:endParaRPr lang="en-US" altLang="zh-CN"/>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合约与服务设计</a:t>
            </a:r>
          </a:p>
        </p:txBody>
      </p:sp>
      <p:sp>
        <p:nvSpPr>
          <p:cNvPr id="16387" name="内容占位符 2"/>
          <p:cNvSpPr>
            <a:spLocks noGrp="1"/>
          </p:cNvSpPr>
          <p:nvPr>
            <p:ph idx="1"/>
          </p:nvPr>
        </p:nvSpPr>
        <p:spPr/>
        <p:txBody>
          <a:bodyPr/>
          <a:lstStyle/>
          <a:p>
            <a:r>
              <a:rPr lang="zh-CN" altLang="en-US" dirty="0"/>
              <a:t>数据表示标准化和转换的避免</a:t>
            </a:r>
            <a:endParaRPr lang="en-US" altLang="zh-CN" dirty="0"/>
          </a:p>
          <a:p>
            <a:pPr lvl="1"/>
            <a:r>
              <a:rPr lang="zh-CN" altLang="en-US" dirty="0"/>
              <a:t>在对服务进行集成时，统一的数据结构减少转换环节</a:t>
            </a:r>
            <a:endParaRPr lang="en-US" altLang="zh-CN" dirty="0"/>
          </a:p>
          <a:p>
            <a:r>
              <a:rPr lang="zh-CN" altLang="en-US" dirty="0"/>
              <a:t>标准化与粒度</a:t>
            </a:r>
            <a:endParaRPr lang="en-US" altLang="zh-CN" dirty="0"/>
          </a:p>
          <a:p>
            <a:pPr lvl="1"/>
            <a:r>
              <a:rPr lang="zh-CN" altLang="en-US" dirty="0"/>
              <a:t>标准化带来合适的粒度</a:t>
            </a:r>
            <a:endParaRPr lang="en-US" altLang="zh-CN" dirty="0"/>
          </a:p>
          <a:p>
            <a:r>
              <a:rPr lang="zh-CN" altLang="en-US" dirty="0"/>
              <a:t>标准化服务合约与服务模型</a:t>
            </a:r>
            <a:endParaRPr lang="en-US" altLang="zh-CN" dirty="0"/>
          </a:p>
          <a:p>
            <a:pPr lvl="1"/>
            <a:r>
              <a:rPr lang="zh-CN" altLang="en-US" dirty="0"/>
              <a:t>以不同的标准适应不同的服务模型</a:t>
            </a:r>
            <a:endParaRPr lang="en-US" altLang="zh-CN" dirty="0"/>
          </a:p>
          <a:p>
            <a:r>
              <a:rPr lang="zh-CN" altLang="en-US" dirty="0"/>
              <a:t>标准化服务合约设计与其他原则</a:t>
            </a:r>
          </a:p>
        </p:txBody>
      </p:sp>
      <p:sp>
        <p:nvSpPr>
          <p:cNvPr id="1638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DC69F74-4066-4846-BC88-871DB7B0A0A3}" type="slidenum">
              <a:rPr lang="en-US" altLang="zh-CN" smtClean="0"/>
              <a:pPr/>
              <a:t>11</a:t>
            </a:fld>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数据表示标准化和转换的避免 （</a:t>
            </a:r>
            <a:r>
              <a:rPr lang="en-US" altLang="zh-CN"/>
              <a:t>1/2</a:t>
            </a:r>
            <a:r>
              <a:rPr lang="zh-CN" altLang="en-US"/>
              <a:t>）</a:t>
            </a:r>
          </a:p>
        </p:txBody>
      </p:sp>
      <p:sp>
        <p:nvSpPr>
          <p:cNvPr id="17411" name="内容占位符 4"/>
          <p:cNvSpPr>
            <a:spLocks noGrp="1"/>
          </p:cNvSpPr>
          <p:nvPr>
            <p:ph sz="half" idx="1"/>
          </p:nvPr>
        </p:nvSpPr>
        <p:spPr/>
        <p:txBody>
          <a:bodyPr/>
          <a:lstStyle/>
          <a:p>
            <a:r>
              <a:rPr lang="zh-CN" altLang="en-US" dirty="0"/>
              <a:t>合约非标准化的普遍原因</a:t>
            </a:r>
            <a:r>
              <a:rPr lang="en-US" altLang="zh-CN" dirty="0"/>
              <a:t>:</a:t>
            </a:r>
          </a:p>
          <a:p>
            <a:pPr lvl="1"/>
            <a:r>
              <a:rPr lang="zh-CN" altLang="en-US" dirty="0"/>
              <a:t>它们是由开发工具自动生成的</a:t>
            </a:r>
            <a:endParaRPr lang="en-US" altLang="zh-CN" dirty="0"/>
          </a:p>
          <a:p>
            <a:pPr lvl="1"/>
            <a:r>
              <a:rPr lang="zh-CN" altLang="en-US" dirty="0"/>
              <a:t>它们是购买的服务适配器的一部分</a:t>
            </a:r>
            <a:endParaRPr lang="en-US" altLang="zh-CN" dirty="0"/>
          </a:p>
          <a:p>
            <a:pPr lvl="1"/>
            <a:r>
              <a:rPr lang="zh-CN" altLang="en-US" dirty="0"/>
              <a:t>当它们被创建时，并不存在设计标准</a:t>
            </a:r>
            <a:endParaRPr lang="en-US" altLang="zh-CN" dirty="0"/>
          </a:p>
          <a:p>
            <a:pPr lvl="1"/>
            <a:r>
              <a:rPr lang="zh-CN" altLang="en-US" dirty="0"/>
              <a:t>设计标准被忽略了</a:t>
            </a:r>
          </a:p>
        </p:txBody>
      </p:sp>
      <p:sp>
        <p:nvSpPr>
          <p:cNvPr id="6" name="内容占位符 5"/>
          <p:cNvSpPr>
            <a:spLocks noGrp="1"/>
          </p:cNvSpPr>
          <p:nvPr>
            <p:ph sz="half" idx="2"/>
          </p:nvPr>
        </p:nvSpPr>
        <p:spPr/>
        <p:txBody>
          <a:bodyPr>
            <a:normAutofit fontScale="92500"/>
          </a:bodyPr>
          <a:lstStyle/>
          <a:p>
            <a:r>
              <a:rPr lang="zh-CN" altLang="en-US" dirty="0"/>
              <a:t>数据转换引入了一些问题，包括</a:t>
            </a:r>
            <a:r>
              <a:rPr lang="en-US" altLang="zh-CN" dirty="0"/>
              <a:t>:</a:t>
            </a:r>
          </a:p>
          <a:p>
            <a:pPr lvl="1"/>
            <a:r>
              <a:rPr lang="zh-CN" altLang="en-US" dirty="0"/>
              <a:t>由于需要创建映射逻辑，增加了集成开发的开销</a:t>
            </a:r>
            <a:endParaRPr lang="en-US" altLang="zh-CN" dirty="0"/>
          </a:p>
          <a:p>
            <a:pPr lvl="1"/>
            <a:r>
              <a:rPr lang="zh-CN" altLang="en-US" dirty="0"/>
              <a:t>由于需要在运行时执行映射逻辑完成数据交换，增加了性能开销</a:t>
            </a:r>
            <a:endParaRPr lang="en-US" altLang="zh-CN" dirty="0"/>
          </a:p>
          <a:p>
            <a:pPr lvl="1"/>
            <a:r>
              <a:rPr lang="zh-CN" altLang="en-US" dirty="0"/>
              <a:t>由于引入转换层，增加了架构的复杂性</a:t>
            </a:r>
            <a:endParaRPr lang="en-US" altLang="zh-CN" dirty="0"/>
          </a:p>
          <a:p>
            <a:pPr lvl="1"/>
            <a:r>
              <a:rPr lang="zh-CN" altLang="en-US" dirty="0"/>
              <a:t>由于需要随着架构其他部分的变化而维护并演化转换层，增加的治理负担</a:t>
            </a:r>
          </a:p>
        </p:txBody>
      </p:sp>
      <p:sp>
        <p:nvSpPr>
          <p:cNvPr id="17413"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3F4AB6F-8B92-4092-AD72-825E8AF795CC}" type="slidenum">
              <a:rPr lang="en-US" altLang="zh-CN" smtClean="0"/>
              <a:pPr/>
              <a:t>12</a:t>
            </a:fld>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a:t>数据表示标准化和转换的避免 （</a:t>
            </a:r>
            <a:r>
              <a:rPr lang="en-US" altLang="zh-CN"/>
              <a:t>2/2</a:t>
            </a:r>
            <a:r>
              <a:rPr lang="zh-CN" altLang="en-US"/>
              <a:t>）</a:t>
            </a:r>
          </a:p>
        </p:txBody>
      </p:sp>
      <p:sp>
        <p:nvSpPr>
          <p:cNvPr id="18435" name="灯片编号占位符 4"/>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9FC3690-55FF-4F8B-916A-C0F619126D41}" type="slidenum">
              <a:rPr lang="en-US" altLang="zh-CN" smtClean="0"/>
              <a:pPr/>
              <a:t>13</a:t>
            </a:fld>
            <a:endParaRPr lang="en-US" altLang="zh-CN"/>
          </a:p>
        </p:txBody>
      </p:sp>
      <p:pic>
        <p:nvPicPr>
          <p:cNvPr id="14" name="图片 13"/>
          <p:cNvPicPr>
            <a:picLocks noChangeAspect="1"/>
          </p:cNvPicPr>
          <p:nvPr/>
        </p:nvPicPr>
        <p:blipFill>
          <a:blip r:embed="rId3"/>
          <a:stretch>
            <a:fillRect/>
          </a:stretch>
        </p:blipFill>
        <p:spPr>
          <a:xfrm>
            <a:off x="976312" y="1148576"/>
            <a:ext cx="7191375" cy="3514725"/>
          </a:xfrm>
          <a:prstGeom prst="rect">
            <a:avLst/>
          </a:prstGeom>
        </p:spPr>
      </p:pic>
      <p:pic>
        <p:nvPicPr>
          <p:cNvPr id="15" name="图片 14"/>
          <p:cNvPicPr>
            <a:picLocks noChangeAspect="1"/>
          </p:cNvPicPr>
          <p:nvPr/>
        </p:nvPicPr>
        <p:blipFill>
          <a:blip r:embed="rId4"/>
          <a:stretch>
            <a:fillRect/>
          </a:stretch>
        </p:blipFill>
        <p:spPr>
          <a:xfrm>
            <a:off x="714374" y="1221581"/>
            <a:ext cx="7715250" cy="4124325"/>
          </a:xfrm>
          <a:prstGeom prst="rect">
            <a:avLst/>
          </a:prstGeom>
        </p:spPr>
      </p:pic>
      <p:sp>
        <p:nvSpPr>
          <p:cNvPr id="16" name="矩形 15"/>
          <p:cNvSpPr/>
          <p:nvPr/>
        </p:nvSpPr>
        <p:spPr>
          <a:xfrm>
            <a:off x="338953" y="5386848"/>
            <a:ext cx="8611011" cy="1077218"/>
          </a:xfrm>
          <a:prstGeom prst="rect">
            <a:avLst/>
          </a:prstGeom>
        </p:spPr>
        <p:txBody>
          <a:bodyPr wrap="square">
            <a:spAutoFit/>
          </a:bodyPr>
          <a:lstStyle/>
          <a:p>
            <a:r>
              <a:rPr lang="zh-CN" altLang="en-US" sz="1600" dirty="0"/>
              <a:t>By increasing the standardization of service contracts and the resulting message data representation, the quantity of required transformation layers is reduced. This results in more efficient and simplified interoperability, as shown in this diagram where runtime message transformation is avoided when two services share data based on a common XML schema.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标准化与粒度</a:t>
            </a:r>
          </a:p>
        </p:txBody>
      </p:sp>
      <p:sp>
        <p:nvSpPr>
          <p:cNvPr id="18435" name="内容占位符 5"/>
          <p:cNvSpPr>
            <a:spLocks noGrp="1"/>
          </p:cNvSpPr>
          <p:nvPr>
            <p:ph idx="1"/>
          </p:nvPr>
        </p:nvSpPr>
        <p:spPr/>
        <p:txBody>
          <a:bodyPr/>
          <a:lstStyle/>
          <a:p>
            <a:r>
              <a:rPr lang="zh-CN" altLang="en-US" dirty="0"/>
              <a:t>服务级别的粒度通常受到服务模型的选择的影响</a:t>
            </a:r>
            <a:endParaRPr lang="en-US" altLang="zh-CN" dirty="0"/>
          </a:p>
          <a:p>
            <a:pPr lvl="1"/>
            <a:r>
              <a:rPr lang="zh-CN" altLang="en-US" dirty="0"/>
              <a:t>如以实体为核心的服务模型 </a:t>
            </a:r>
            <a:r>
              <a:rPr lang="en-US" altLang="zh-CN" dirty="0"/>
              <a:t>vs. </a:t>
            </a:r>
            <a:r>
              <a:rPr lang="zh-CN" altLang="en-US" dirty="0"/>
              <a:t>以任务为核心的服务模型</a:t>
            </a:r>
            <a:endParaRPr lang="en-US" altLang="zh-CN" dirty="0"/>
          </a:p>
          <a:p>
            <a:r>
              <a:rPr lang="zh-CN" altLang="en-US" dirty="0"/>
              <a:t>设计标准引入或改变服务操作的粒度</a:t>
            </a:r>
            <a:endParaRPr lang="en-US" altLang="zh-CN" dirty="0"/>
          </a:p>
          <a:p>
            <a:r>
              <a:rPr lang="zh-CN" altLang="en-US" dirty="0"/>
              <a:t>设计标准引入或改变数据的粒度</a:t>
            </a:r>
            <a:endParaRPr lang="en-US" altLang="zh-CN" dirty="0"/>
          </a:p>
          <a:p>
            <a:pPr lvl="1"/>
            <a:r>
              <a:rPr lang="en-US" altLang="zh-CN" dirty="0"/>
              <a:t>Update vs. </a:t>
            </a:r>
            <a:r>
              <a:rPr lang="en-US" altLang="zh-CN" dirty="0" err="1"/>
              <a:t>UpdateStatus</a:t>
            </a:r>
            <a:endParaRPr lang="en-US" altLang="zh-CN" dirty="0"/>
          </a:p>
          <a:p>
            <a:r>
              <a:rPr lang="zh-CN" altLang="en-US" dirty="0"/>
              <a:t>约束</a:t>
            </a:r>
            <a:r>
              <a:rPr lang="en-US" altLang="zh-CN" dirty="0"/>
              <a:t>(Restriction)</a:t>
            </a:r>
            <a:r>
              <a:rPr lang="zh-CN" altLang="en-US" dirty="0"/>
              <a:t>粒度常常被一系列的具体设计标准直接决定</a:t>
            </a:r>
          </a:p>
        </p:txBody>
      </p:sp>
      <p:sp>
        <p:nvSpPr>
          <p:cNvPr id="19460"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7E5F126-FD24-4CD6-8CFD-13C3A95D33A3}" type="slidenum">
              <a:rPr lang="en-US" altLang="zh-CN" smtClean="0"/>
              <a:pPr/>
              <a:t>14</a:t>
            </a:fld>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a:t>标准化服务合约与服务模型</a:t>
            </a:r>
          </a:p>
        </p:txBody>
      </p:sp>
      <p:sp>
        <p:nvSpPr>
          <p:cNvPr id="19459" name="内容占位符 2"/>
          <p:cNvSpPr>
            <a:spLocks noGrp="1"/>
          </p:cNvSpPr>
          <p:nvPr>
            <p:ph idx="1"/>
          </p:nvPr>
        </p:nvSpPr>
        <p:spPr/>
        <p:txBody>
          <a:bodyPr/>
          <a:lstStyle/>
          <a:p>
            <a:r>
              <a:rPr lang="zh-CN" altLang="en-US"/>
              <a:t>通用类型模板</a:t>
            </a:r>
            <a:endParaRPr lang="en-US" altLang="zh-CN"/>
          </a:p>
          <a:p>
            <a:pPr lvl="1"/>
            <a:r>
              <a:rPr lang="zh-CN" altLang="en-US"/>
              <a:t>以实体为核心的服务</a:t>
            </a:r>
            <a:endParaRPr lang="en-US" altLang="zh-CN"/>
          </a:p>
          <a:p>
            <a:pPr lvl="1"/>
            <a:r>
              <a:rPr lang="zh-CN" altLang="en-US"/>
              <a:t>应用服务</a:t>
            </a:r>
            <a:endParaRPr lang="en-US" altLang="zh-CN"/>
          </a:p>
          <a:p>
            <a:pPr lvl="1"/>
            <a:r>
              <a:rPr lang="zh-CN" altLang="en-US"/>
              <a:t>以任务为核心的服务</a:t>
            </a:r>
            <a:endParaRPr lang="en-US" altLang="zh-CN"/>
          </a:p>
          <a:p>
            <a:r>
              <a:rPr lang="zh-CN" altLang="en-US"/>
              <a:t>为同一种服务模型应用同一组设计标准和命名惯例</a:t>
            </a:r>
          </a:p>
        </p:txBody>
      </p:sp>
      <p:sp>
        <p:nvSpPr>
          <p:cNvPr id="2048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D955836A-C4E3-4596-B7E5-BD177BC2FDBB}" type="slidenum">
              <a:rPr lang="en-US" altLang="zh-CN" smtClean="0"/>
              <a:pPr/>
              <a:t>15</a:t>
            </a:fld>
            <a:endParaRPr lang="en-US" altLang="zh-C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a:t>标准化服务合约设计与其他原则 </a:t>
            </a:r>
            <a:r>
              <a:rPr lang="en-US" altLang="zh-CN"/>
              <a:t>I</a:t>
            </a:r>
            <a:endParaRPr lang="zh-CN" altLang="en-US" dirty="0"/>
          </a:p>
        </p:txBody>
      </p:sp>
      <p:sp>
        <p:nvSpPr>
          <p:cNvPr id="21507"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007C4E2-40B9-45B1-B126-F0DD732010FE}" type="slidenum">
              <a:rPr lang="en-US" altLang="zh-CN" smtClean="0"/>
              <a:pPr/>
              <a:t>16</a:t>
            </a:fld>
            <a:endParaRPr lang="en-US" altLang="zh-CN"/>
          </a:p>
        </p:txBody>
      </p:sp>
      <p:pic>
        <p:nvPicPr>
          <p:cNvPr id="5" name="图片 4"/>
          <p:cNvPicPr>
            <a:picLocks noChangeAspect="1"/>
          </p:cNvPicPr>
          <p:nvPr/>
        </p:nvPicPr>
        <p:blipFill>
          <a:blip r:embed="rId3"/>
          <a:stretch>
            <a:fillRect/>
          </a:stretch>
        </p:blipFill>
        <p:spPr>
          <a:xfrm>
            <a:off x="1259632" y="1412776"/>
            <a:ext cx="6792242" cy="4619027"/>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a:t>标准化服务合约设计与其他原则 </a:t>
            </a:r>
            <a:r>
              <a:rPr lang="en-US" altLang="zh-CN"/>
              <a:t>II</a:t>
            </a:r>
            <a:endParaRPr lang="zh-CN" altLang="en-US" dirty="0"/>
          </a:p>
        </p:txBody>
      </p:sp>
      <p:sp>
        <p:nvSpPr>
          <p:cNvPr id="21507" name="内容占位符 2"/>
          <p:cNvSpPr>
            <a:spLocks noGrp="1"/>
          </p:cNvSpPr>
          <p:nvPr>
            <p:ph idx="1"/>
          </p:nvPr>
        </p:nvSpPr>
        <p:spPr/>
        <p:txBody>
          <a:bodyPr/>
          <a:lstStyle/>
          <a:p>
            <a:r>
              <a:rPr lang="zh-CN" altLang="en-US" dirty="0"/>
              <a:t>标准化服务合约与服务松散耦合</a:t>
            </a:r>
            <a:endParaRPr lang="en-US" altLang="zh-CN" dirty="0"/>
          </a:p>
          <a:p>
            <a:pPr lvl="1"/>
            <a:r>
              <a:rPr lang="zh-CN" altLang="en-US" dirty="0"/>
              <a:t>消费者和服务之间存在对服务合约中技术接口的依赖</a:t>
            </a:r>
            <a:endParaRPr lang="en-US" altLang="zh-CN" dirty="0"/>
          </a:p>
          <a:p>
            <a:pPr lvl="2"/>
            <a:r>
              <a:rPr lang="zh-CN" altLang="en-US" dirty="0"/>
              <a:t>技术服务合约越详细，越内容丰富，消费者和服务之间的依赖关系越强</a:t>
            </a:r>
            <a:endParaRPr lang="en-US" altLang="zh-CN" dirty="0"/>
          </a:p>
          <a:p>
            <a:pPr lvl="2"/>
            <a:r>
              <a:rPr lang="zh-CN" altLang="en-US" dirty="0"/>
              <a:t>两个服务之间所达到的松散耦合程度直接与在服务合约中的依赖关系数量相关</a:t>
            </a:r>
            <a:endParaRPr lang="en-US" altLang="zh-CN" dirty="0"/>
          </a:p>
          <a:p>
            <a:pPr lvl="1"/>
            <a:r>
              <a:rPr lang="zh-CN" altLang="en-US" dirty="0"/>
              <a:t>标准化的合约将会有助于提高服务之间的一致性和耦合质量</a:t>
            </a:r>
            <a:r>
              <a:rPr lang="en-US" altLang="zh-CN" dirty="0"/>
              <a:t>(quality of coupling) </a:t>
            </a:r>
          </a:p>
        </p:txBody>
      </p:sp>
      <p:sp>
        <p:nvSpPr>
          <p:cNvPr id="2253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3BA444E-0A16-462A-A904-31081AE9D7B4}" type="slidenum">
              <a:rPr lang="en-US" altLang="zh-CN" smtClean="0"/>
              <a:pPr/>
              <a:t>17</a:t>
            </a:fld>
            <a:endParaRPr lang="en-US" altLang="zh-C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标准化服务合约设计与其他原则 </a:t>
            </a:r>
            <a:r>
              <a:rPr lang="en-US" altLang="zh-CN"/>
              <a:t>III</a:t>
            </a:r>
            <a:endParaRPr lang="zh-CN" altLang="en-US" dirty="0"/>
          </a:p>
        </p:txBody>
      </p:sp>
      <p:sp>
        <p:nvSpPr>
          <p:cNvPr id="24579" name="内容占位符 2"/>
          <p:cNvSpPr>
            <a:spLocks noGrp="1"/>
          </p:cNvSpPr>
          <p:nvPr>
            <p:ph idx="1"/>
          </p:nvPr>
        </p:nvSpPr>
        <p:spPr/>
        <p:txBody>
          <a:bodyPr>
            <a:normAutofit fontScale="85000" lnSpcReduction="20000"/>
          </a:bodyPr>
          <a:lstStyle/>
          <a:p>
            <a:pPr>
              <a:lnSpc>
                <a:spcPct val="120000"/>
              </a:lnSpc>
            </a:pPr>
            <a:r>
              <a:rPr lang="zh-CN" altLang="en-US" dirty="0"/>
              <a:t>标准化服务合约与服务抽象 </a:t>
            </a:r>
            <a:endParaRPr lang="en-US" altLang="zh-CN" dirty="0"/>
          </a:p>
          <a:p>
            <a:pPr lvl="1">
              <a:lnSpc>
                <a:spcPct val="120000"/>
              </a:lnSpc>
            </a:pPr>
            <a:r>
              <a:rPr lang="zh-CN" altLang="en-US" dirty="0"/>
              <a:t>服务抽象原则要求简化合约</a:t>
            </a:r>
            <a:endParaRPr lang="en-US" altLang="zh-CN" dirty="0"/>
          </a:p>
          <a:p>
            <a:pPr lvl="2">
              <a:lnSpc>
                <a:spcPct val="120000"/>
              </a:lnSpc>
            </a:pPr>
            <a:r>
              <a:rPr lang="zh-CN" altLang="en-US" dirty="0"/>
              <a:t>非核心信息都被隐藏</a:t>
            </a:r>
            <a:endParaRPr lang="en-US" altLang="zh-CN" dirty="0"/>
          </a:p>
          <a:p>
            <a:pPr lvl="1">
              <a:lnSpc>
                <a:spcPct val="120000"/>
              </a:lnSpc>
            </a:pPr>
            <a:r>
              <a:rPr lang="zh-CN" altLang="en-US" dirty="0"/>
              <a:t>服务合约的设计决定了抽象的程度</a:t>
            </a:r>
            <a:endParaRPr lang="en-US" altLang="zh-CN" dirty="0"/>
          </a:p>
          <a:p>
            <a:pPr lvl="2">
              <a:lnSpc>
                <a:spcPct val="120000"/>
              </a:lnSpc>
            </a:pPr>
            <a:r>
              <a:rPr lang="zh-CN" altLang="en-US" dirty="0"/>
              <a:t>在合约中的内容越仔细，服务中被抽象的信息就越少</a:t>
            </a:r>
            <a:endParaRPr lang="en-US" altLang="zh-CN" dirty="0"/>
          </a:p>
          <a:p>
            <a:pPr>
              <a:lnSpc>
                <a:spcPct val="120000"/>
              </a:lnSpc>
            </a:pPr>
            <a:r>
              <a:rPr lang="zh-CN" altLang="en-US" dirty="0"/>
              <a:t>标准化服务合约与服务可复用性</a:t>
            </a:r>
            <a:endParaRPr lang="en-US" altLang="zh-CN" dirty="0"/>
          </a:p>
          <a:p>
            <a:pPr lvl="1">
              <a:lnSpc>
                <a:spcPct val="120000"/>
              </a:lnSpc>
            </a:pPr>
            <a:r>
              <a:rPr lang="zh-CN" altLang="en-US" dirty="0"/>
              <a:t>服务可复用性原则常常侧重于服务封装的逻辑是否足够一般和通用</a:t>
            </a:r>
            <a:endParaRPr lang="en-US" altLang="zh-CN" dirty="0"/>
          </a:p>
          <a:p>
            <a:pPr lvl="1">
              <a:lnSpc>
                <a:spcPct val="120000"/>
              </a:lnSpc>
            </a:pPr>
            <a:r>
              <a:rPr lang="zh-CN" altLang="en-US" dirty="0"/>
              <a:t>可复用方案逻辑与数据交换之间的关系最终要由服务合约是如何设计的来决定</a:t>
            </a:r>
            <a:endParaRPr lang="en-US" altLang="zh-CN" dirty="0"/>
          </a:p>
          <a:p>
            <a:pPr lvl="1">
              <a:lnSpc>
                <a:spcPct val="120000"/>
              </a:lnSpc>
            </a:pPr>
            <a:r>
              <a:rPr lang="zh-CN" altLang="en-US" dirty="0"/>
              <a:t>服务合约越是通用、灵活和可扩展，服务的长远复用潜力就越大</a:t>
            </a:r>
            <a:endParaRPr lang="en-US" altLang="zh-CN" dirty="0"/>
          </a:p>
        </p:txBody>
      </p:sp>
      <p:sp>
        <p:nvSpPr>
          <p:cNvPr id="2458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AE80FD7-5273-46D3-AD2A-104275963642}" type="slidenum">
              <a:rPr lang="en-US" altLang="zh-CN" smtClean="0"/>
              <a:pPr/>
              <a:t>18</a:t>
            </a:fld>
            <a:endParaRPr lang="en-US" altLang="zh-C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标准化服务合约设计与其他原则 </a:t>
            </a:r>
            <a:r>
              <a:rPr lang="en-US" altLang="zh-CN"/>
              <a:t>IV</a:t>
            </a:r>
            <a:endParaRPr lang="zh-CN" altLang="en-US" dirty="0"/>
          </a:p>
        </p:txBody>
      </p:sp>
      <p:sp>
        <p:nvSpPr>
          <p:cNvPr id="26627" name="内容占位符 2"/>
          <p:cNvSpPr>
            <a:spLocks noGrp="1"/>
          </p:cNvSpPr>
          <p:nvPr>
            <p:ph idx="1"/>
          </p:nvPr>
        </p:nvSpPr>
        <p:spPr/>
        <p:txBody>
          <a:bodyPr>
            <a:normAutofit fontScale="92500" lnSpcReduction="20000"/>
          </a:bodyPr>
          <a:lstStyle/>
          <a:p>
            <a:pPr>
              <a:lnSpc>
                <a:spcPct val="120000"/>
              </a:lnSpc>
            </a:pPr>
            <a:r>
              <a:rPr lang="zh-CN" altLang="en-US" dirty="0"/>
              <a:t>标准化服务合约与服务可发现性</a:t>
            </a:r>
            <a:endParaRPr lang="en-US" altLang="zh-CN" dirty="0"/>
          </a:p>
          <a:p>
            <a:pPr lvl="1">
              <a:lnSpc>
                <a:spcPct val="120000"/>
              </a:lnSpc>
            </a:pPr>
            <a:r>
              <a:rPr lang="zh-CN" altLang="en-US" dirty="0"/>
              <a:t>服务合约越是得到一致的标注和结构化，对于那些需要使用它们的人来说就越是可以预测的</a:t>
            </a:r>
            <a:endParaRPr lang="en-US" altLang="zh-CN" dirty="0"/>
          </a:p>
          <a:p>
            <a:pPr lvl="1">
              <a:lnSpc>
                <a:spcPct val="120000"/>
              </a:lnSpc>
            </a:pPr>
            <a:r>
              <a:rPr lang="zh-CN" altLang="en-US" dirty="0"/>
              <a:t>服务合约越是标准化，元信息</a:t>
            </a:r>
            <a:r>
              <a:rPr lang="en-US" altLang="zh-CN" dirty="0"/>
              <a:t>(meta information) </a:t>
            </a:r>
            <a:r>
              <a:rPr lang="zh-CN" altLang="en-US" dirty="0"/>
              <a:t>的技术接口细节提供得越是充分，服务的可发现性就越高</a:t>
            </a:r>
            <a:endParaRPr lang="en-US" altLang="zh-CN" dirty="0"/>
          </a:p>
          <a:p>
            <a:pPr>
              <a:lnSpc>
                <a:spcPct val="120000"/>
              </a:lnSpc>
            </a:pPr>
            <a:r>
              <a:rPr lang="zh-CN" altLang="en-US" dirty="0"/>
              <a:t>标准化服务合约与服务可组合性</a:t>
            </a:r>
            <a:endParaRPr lang="en-US" altLang="zh-CN" dirty="0"/>
          </a:p>
          <a:p>
            <a:pPr lvl="1">
              <a:lnSpc>
                <a:spcPct val="120000"/>
              </a:lnSpc>
            </a:pPr>
            <a:r>
              <a:rPr lang="zh-CN" altLang="en-US" dirty="0"/>
              <a:t>服务的可组合性需求常常与服务合约表达其能力的粒度有关</a:t>
            </a:r>
            <a:endParaRPr lang="en-US" altLang="zh-CN" dirty="0"/>
          </a:p>
          <a:p>
            <a:pPr lvl="1">
              <a:lnSpc>
                <a:spcPct val="120000"/>
              </a:lnSpc>
            </a:pPr>
            <a:r>
              <a:rPr lang="zh-CN" altLang="en-US" dirty="0"/>
              <a:t>粗粒度的操作拥有更高的效率，但常常不适应于需要参与到更大规模组合中的服务</a:t>
            </a:r>
          </a:p>
        </p:txBody>
      </p:sp>
      <p:sp>
        <p:nvSpPr>
          <p:cNvPr id="2662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F81821B-E901-4BB3-B479-4A6787B36C0E}" type="slidenum">
              <a:rPr lang="en-US" altLang="zh-CN" smtClean="0"/>
              <a:pPr/>
              <a:t>19</a:t>
            </a:fld>
            <a:endParaRPr lang="en-US" altLang="zh-C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服务合约设计的相关风险</a:t>
            </a:r>
            <a:endParaRPr lang="zh-CN" altLang="en-US" dirty="0"/>
          </a:p>
        </p:txBody>
      </p:sp>
      <p:sp>
        <p:nvSpPr>
          <p:cNvPr id="27651" name="内容占位符 2"/>
          <p:cNvSpPr>
            <a:spLocks noGrp="1"/>
          </p:cNvSpPr>
          <p:nvPr>
            <p:ph idx="1"/>
          </p:nvPr>
        </p:nvSpPr>
        <p:spPr/>
        <p:txBody>
          <a:bodyPr>
            <a:normAutofit fontScale="77500" lnSpcReduction="20000"/>
          </a:bodyPr>
          <a:lstStyle/>
          <a:p>
            <a:pPr>
              <a:lnSpc>
                <a:spcPct val="120000"/>
              </a:lnSpc>
            </a:pPr>
            <a:r>
              <a:rPr lang="zh-CN" altLang="en-US" dirty="0"/>
              <a:t>版本化（服务合约的演化）</a:t>
            </a:r>
            <a:endParaRPr lang="en-US" altLang="zh-CN" dirty="0"/>
          </a:p>
          <a:p>
            <a:pPr lvl="1">
              <a:lnSpc>
                <a:spcPct val="120000"/>
              </a:lnSpc>
            </a:pPr>
            <a:r>
              <a:rPr lang="zh-CN" altLang="en-US" dirty="0"/>
              <a:t>服务实施后，就有可能建立起与服务消费者之间的依赖关系</a:t>
            </a:r>
            <a:endParaRPr lang="en-US" altLang="zh-CN" dirty="0"/>
          </a:p>
          <a:p>
            <a:pPr lvl="1">
              <a:lnSpc>
                <a:spcPct val="120000"/>
              </a:lnSpc>
            </a:pPr>
            <a:r>
              <a:rPr lang="zh-CN" altLang="en-US" dirty="0"/>
              <a:t>底层逻辑越是可复用，那些需要消费它的程序的数量和消费频率就会越大</a:t>
            </a:r>
            <a:endParaRPr lang="en-US" altLang="zh-CN" dirty="0"/>
          </a:p>
          <a:p>
            <a:pPr lvl="1">
              <a:lnSpc>
                <a:spcPct val="120000"/>
              </a:lnSpc>
            </a:pPr>
            <a:r>
              <a:rPr lang="zh-CN" altLang="en-US" dirty="0"/>
              <a:t>可扩展性可能引入</a:t>
            </a:r>
            <a:r>
              <a:rPr lang="en-US" altLang="zh-CN" dirty="0"/>
              <a:t>“</a:t>
            </a:r>
            <a:r>
              <a:rPr lang="zh-CN" altLang="en-US" dirty="0"/>
              <a:t>破坏</a:t>
            </a:r>
            <a:r>
              <a:rPr lang="en-US" altLang="zh-CN" dirty="0"/>
              <a:t>”</a:t>
            </a:r>
            <a:r>
              <a:rPr lang="zh-CN" altLang="en-US" dirty="0"/>
              <a:t>既定合约的重大变化，从而导致发布新的服务版本的要求</a:t>
            </a:r>
            <a:endParaRPr lang="en-US" altLang="zh-CN" dirty="0"/>
          </a:p>
          <a:p>
            <a:pPr>
              <a:lnSpc>
                <a:spcPct val="120000"/>
              </a:lnSpc>
            </a:pPr>
            <a:r>
              <a:rPr lang="zh-CN" altLang="en-US" dirty="0"/>
              <a:t>技术依赖</a:t>
            </a:r>
            <a:endParaRPr lang="en-US" altLang="zh-CN" dirty="0"/>
          </a:p>
          <a:p>
            <a:pPr lvl="1">
              <a:lnSpc>
                <a:spcPct val="120000"/>
              </a:lnSpc>
            </a:pPr>
            <a:r>
              <a:rPr lang="zh-CN" altLang="en-US" dirty="0"/>
              <a:t>不同的编程语言和开发平台来实现</a:t>
            </a:r>
            <a:endParaRPr lang="en-US" altLang="zh-CN" dirty="0"/>
          </a:p>
          <a:p>
            <a:pPr lvl="2">
              <a:lnSpc>
                <a:spcPct val="120000"/>
              </a:lnSpc>
            </a:pPr>
            <a:r>
              <a:rPr lang="zh-CN" altLang="en-US" dirty="0"/>
              <a:t>使用基于构件的系统并通过增强的</a:t>
            </a:r>
            <a:r>
              <a:rPr lang="en-US" altLang="zh-CN"/>
              <a:t>RPC</a:t>
            </a:r>
            <a:r>
              <a:rPr lang="zh-CN" altLang="en-US"/>
              <a:t>技术</a:t>
            </a:r>
            <a:r>
              <a:rPr lang="zh-CN" altLang="en-US" dirty="0"/>
              <a:t>以支持面向服务</a:t>
            </a:r>
            <a:endParaRPr lang="en-US" altLang="zh-CN" dirty="0"/>
          </a:p>
          <a:p>
            <a:pPr lvl="2">
              <a:lnSpc>
                <a:spcPct val="120000"/>
              </a:lnSpc>
            </a:pPr>
            <a:r>
              <a:rPr lang="en-US" altLang="zh-CN" dirty="0"/>
              <a:t>Web Service</a:t>
            </a:r>
            <a:r>
              <a:rPr lang="zh-CN" altLang="en-US" dirty="0"/>
              <a:t>平台以及它的非专用的通信框架</a:t>
            </a:r>
            <a:endParaRPr lang="en-US" altLang="zh-CN" dirty="0"/>
          </a:p>
          <a:p>
            <a:pPr lvl="1">
              <a:lnSpc>
                <a:spcPct val="120000"/>
              </a:lnSpc>
            </a:pPr>
            <a:r>
              <a:rPr lang="zh-CN" altLang="en-US" dirty="0"/>
              <a:t>操作性系统层的技术性变化导致服务合约变化</a:t>
            </a:r>
            <a:endParaRPr lang="en-US" altLang="zh-CN" dirty="0"/>
          </a:p>
          <a:p>
            <a:pPr>
              <a:lnSpc>
                <a:spcPct val="120000"/>
              </a:lnSpc>
            </a:pPr>
            <a:r>
              <a:rPr lang="zh-CN" altLang="en-US" dirty="0"/>
              <a:t>开发工具缺陷</a:t>
            </a:r>
            <a:endParaRPr lang="en-US" altLang="zh-CN" dirty="0"/>
          </a:p>
          <a:p>
            <a:pPr lvl="1">
              <a:lnSpc>
                <a:spcPct val="120000"/>
              </a:lnSpc>
            </a:pPr>
            <a:r>
              <a:rPr lang="zh-CN" altLang="en-US" dirty="0"/>
              <a:t>使用开发工具自动生成合约可能产生非标准化的服务合约</a:t>
            </a:r>
          </a:p>
        </p:txBody>
      </p:sp>
      <p:sp>
        <p:nvSpPr>
          <p:cNvPr id="2765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52E9632-6EEC-4B32-8A73-0565149371EB}" type="slidenum">
              <a:rPr lang="en-US" altLang="zh-CN" smtClean="0"/>
              <a:pPr/>
              <a:t>20</a:t>
            </a:fld>
            <a:endParaRPr lang="en-US" altLang="zh-CN"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a:t>案例研究</a:t>
            </a:r>
            <a:r>
              <a:rPr lang="en-US" altLang="zh-CN"/>
              <a:t>——</a:t>
            </a:r>
            <a:r>
              <a:rPr lang="zh-CN" altLang="en-US"/>
              <a:t>服务候选</a:t>
            </a:r>
          </a:p>
        </p:txBody>
      </p:sp>
      <p:sp>
        <p:nvSpPr>
          <p:cNvPr id="31747"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82638AC-B30E-41B7-9482-973D6E091E83}" type="slidenum">
              <a:rPr lang="en-US" altLang="zh-CN" smtClean="0"/>
              <a:pPr/>
              <a:t>21</a:t>
            </a:fld>
            <a:endParaRPr lang="en-US" altLang="zh-CN"/>
          </a:p>
        </p:txBody>
      </p:sp>
      <p:pic>
        <p:nvPicPr>
          <p:cNvPr id="5" name="图片 4"/>
          <p:cNvPicPr>
            <a:picLocks noChangeAspect="1"/>
          </p:cNvPicPr>
          <p:nvPr/>
        </p:nvPicPr>
        <p:blipFill>
          <a:blip r:embed="rId3"/>
          <a:stretch>
            <a:fillRect/>
          </a:stretch>
        </p:blipFill>
        <p:spPr>
          <a:xfrm>
            <a:off x="1835696" y="1484784"/>
            <a:ext cx="5019675" cy="3619500"/>
          </a:xfrm>
          <a:prstGeom prst="rect">
            <a:avLst/>
          </a:prstGeom>
        </p:spPr>
      </p:pic>
      <p:sp>
        <p:nvSpPr>
          <p:cNvPr id="7" name="矩形 6"/>
          <p:cNvSpPr/>
          <p:nvPr/>
        </p:nvSpPr>
        <p:spPr>
          <a:xfrm>
            <a:off x="1274490" y="5490317"/>
            <a:ext cx="6518820" cy="584775"/>
          </a:xfrm>
          <a:prstGeom prst="rect">
            <a:avLst/>
          </a:prstGeom>
        </p:spPr>
        <p:txBody>
          <a:bodyPr wrap="square">
            <a:spAutoFit/>
          </a:bodyPr>
          <a:lstStyle/>
          <a:p>
            <a:r>
              <a:rPr lang="en-US" altLang="zh-CN" sz="1600" dirty="0"/>
              <a:t>A high-level look at the simple composition represented by the </a:t>
            </a:r>
            <a:r>
              <a:rPr lang="en-US" altLang="zh-CN" sz="1600" dirty="0" err="1"/>
              <a:t>Cutit</a:t>
            </a:r>
            <a:r>
              <a:rPr lang="en-US" altLang="zh-CN" sz="1600" dirty="0"/>
              <a:t> services responsible for automating the lab project processes.</a:t>
            </a:r>
            <a:endParaRPr lang="zh-CN" altLang="en-US" sz="160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占位符 5"/>
          <p:cNvSpPr>
            <a:spLocks noGrp="1"/>
          </p:cNvSpPr>
          <p:nvPr>
            <p:ph type="body" idx="1"/>
          </p:nvPr>
        </p:nvSpPr>
        <p:spPr/>
        <p:txBody>
          <a:bodyPr/>
          <a:lstStyle/>
          <a:p>
            <a:r>
              <a:rPr lang="zh-CN" altLang="en-US"/>
              <a:t>功能表示标准</a:t>
            </a:r>
          </a:p>
        </p:txBody>
      </p:sp>
      <p:sp>
        <p:nvSpPr>
          <p:cNvPr id="3" name="内容占位符 2"/>
          <p:cNvSpPr>
            <a:spLocks noGrp="1"/>
          </p:cNvSpPr>
          <p:nvPr>
            <p:ph sz="half" idx="2"/>
          </p:nvPr>
        </p:nvSpPr>
        <p:spPr/>
        <p:txBody>
          <a:bodyPr>
            <a:normAutofit fontScale="92500" lnSpcReduction="10000"/>
          </a:bodyPr>
          <a:lstStyle/>
          <a:p>
            <a:r>
              <a:rPr lang="zh-CN" altLang="en-US" dirty="0"/>
              <a:t>以实体为核心的服务和它所来源的相应业务实体采用一致的命名</a:t>
            </a:r>
            <a:endParaRPr lang="en-US" altLang="zh-CN" dirty="0"/>
          </a:p>
          <a:p>
            <a:r>
              <a:rPr lang="zh-CN" altLang="en-US" dirty="0"/>
              <a:t>以任务为核心的服务的名称基于该服务负责自动化的流程，并使用合适的动词作为前缀</a:t>
            </a:r>
            <a:endParaRPr lang="en-US" altLang="zh-CN" dirty="0"/>
          </a:p>
          <a:p>
            <a:r>
              <a:rPr lang="zh-CN" altLang="en-US" dirty="0"/>
              <a:t>所有服务的操作都会基于以下命名格式</a:t>
            </a:r>
            <a:r>
              <a:rPr lang="en-US" altLang="zh-CN" dirty="0"/>
              <a:t>:</a:t>
            </a:r>
            <a:r>
              <a:rPr lang="zh-CN" altLang="en-US" dirty="0"/>
              <a:t>动词</a:t>
            </a:r>
            <a:r>
              <a:rPr lang="en-US" altLang="zh-CN" dirty="0"/>
              <a:t>+</a:t>
            </a:r>
            <a:r>
              <a:rPr lang="zh-CN" altLang="en-US" dirty="0"/>
              <a:t>名词</a:t>
            </a:r>
            <a:endParaRPr lang="en-US" altLang="zh-CN" dirty="0"/>
          </a:p>
          <a:p>
            <a:r>
              <a:rPr lang="zh-CN" altLang="en-US" dirty="0"/>
              <a:t>操作的名称不能和服务的名称重复</a:t>
            </a:r>
          </a:p>
        </p:txBody>
      </p:sp>
      <p:sp>
        <p:nvSpPr>
          <p:cNvPr id="32772" name="文本占位符 6"/>
          <p:cNvSpPr>
            <a:spLocks noGrp="1"/>
          </p:cNvSpPr>
          <p:nvPr>
            <p:ph type="body" sz="quarter" idx="3"/>
          </p:nvPr>
        </p:nvSpPr>
        <p:spPr/>
        <p:txBody>
          <a:bodyPr/>
          <a:lstStyle/>
          <a:p>
            <a:r>
              <a:rPr lang="zh-CN" altLang="en-US"/>
              <a:t>数据表示标准</a:t>
            </a:r>
          </a:p>
        </p:txBody>
      </p:sp>
      <p:sp>
        <p:nvSpPr>
          <p:cNvPr id="8" name="内容占位符 7"/>
          <p:cNvSpPr>
            <a:spLocks noGrp="1"/>
          </p:cNvSpPr>
          <p:nvPr>
            <p:ph sz="quarter" idx="4"/>
          </p:nvPr>
        </p:nvSpPr>
        <p:spPr/>
        <p:txBody>
          <a:bodyPr>
            <a:normAutofit fontScale="85000" lnSpcReduction="10000"/>
          </a:bodyPr>
          <a:lstStyle/>
          <a:p>
            <a:r>
              <a:rPr lang="zh-CN" altLang="en-US" dirty="0"/>
              <a:t>在需要表达那些己经被实体</a:t>
            </a:r>
            <a:r>
              <a:rPr lang="en-US" altLang="zh-CN" dirty="0"/>
              <a:t>schema</a:t>
            </a:r>
            <a:r>
              <a:rPr lang="zh-CN" altLang="en-US" dirty="0"/>
              <a:t>所建立的数据结构的复杂类型时，必须使用已有的复杂类型。因此，不允许出现自包含一切的、服务特定的</a:t>
            </a:r>
            <a:r>
              <a:rPr lang="en-US" altLang="zh-CN" dirty="0"/>
              <a:t>schema</a:t>
            </a:r>
            <a:r>
              <a:rPr lang="zh-CN" altLang="en-US" dirty="0"/>
              <a:t>定义</a:t>
            </a:r>
            <a:endParaRPr lang="en-US" altLang="zh-CN" dirty="0"/>
          </a:p>
          <a:p>
            <a:r>
              <a:rPr lang="zh-CN" altLang="en-US" dirty="0"/>
              <a:t>只有当服务需要新的复杂类型，并且该类型满足了服务特定的处理需求时，才允许出现服务特定的</a:t>
            </a:r>
            <a:r>
              <a:rPr lang="en-US" altLang="zh-CN" dirty="0"/>
              <a:t>Schema</a:t>
            </a:r>
            <a:r>
              <a:rPr lang="zh-CN" altLang="en-US" dirty="0"/>
              <a:t>定义</a:t>
            </a:r>
            <a:endParaRPr lang="en-US" altLang="zh-CN" dirty="0"/>
          </a:p>
          <a:p>
            <a:r>
              <a:rPr lang="zh-CN" altLang="en-US" dirty="0"/>
              <a:t>所有的</a:t>
            </a:r>
            <a:r>
              <a:rPr lang="en-US" altLang="zh-CN" dirty="0"/>
              <a:t>XML Schema</a:t>
            </a:r>
            <a:r>
              <a:rPr lang="zh-CN" altLang="en-US" dirty="0"/>
              <a:t>必须出现在单独的文件中，并且连接到相应的</a:t>
            </a:r>
            <a:r>
              <a:rPr lang="en-US" altLang="zh-CN" dirty="0"/>
              <a:t>WSDL</a:t>
            </a:r>
            <a:r>
              <a:rPr lang="zh-CN" altLang="en-US" dirty="0"/>
              <a:t>定义</a:t>
            </a:r>
          </a:p>
        </p:txBody>
      </p:sp>
      <p:sp>
        <p:nvSpPr>
          <p:cNvPr id="32775" name="标题 1"/>
          <p:cNvSpPr>
            <a:spLocks noGrp="1"/>
          </p:cNvSpPr>
          <p:nvPr>
            <p:ph type="title"/>
          </p:nvPr>
        </p:nvSpPr>
        <p:spPr/>
        <p:txBody>
          <a:bodyPr/>
          <a:lstStyle/>
          <a:p>
            <a:r>
              <a:rPr lang="zh-CN" altLang="en-US"/>
              <a:t>案例研究</a:t>
            </a:r>
            <a:r>
              <a:rPr lang="en-US" altLang="zh-CN"/>
              <a:t>——</a:t>
            </a:r>
            <a:r>
              <a:rPr lang="zh-CN" altLang="en-US"/>
              <a:t>设计标准</a:t>
            </a:r>
          </a:p>
        </p:txBody>
      </p:sp>
      <p:sp>
        <p:nvSpPr>
          <p:cNvPr id="3277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8C21CA6-74F2-4886-844F-C4C1706E9E65}" type="slidenum">
              <a:rPr lang="en-US" altLang="zh-CN" smtClean="0"/>
              <a:pPr/>
              <a:t>22</a:t>
            </a:fld>
            <a:endParaRPr lang="en-US" altLang="zh-CN"/>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a:t>案例研究</a:t>
            </a:r>
            <a:r>
              <a:rPr lang="en-US" altLang="zh-CN"/>
              <a:t>——</a:t>
            </a:r>
            <a:r>
              <a:rPr lang="zh-CN" altLang="en-US"/>
              <a:t>标准化的</a:t>
            </a:r>
            <a:r>
              <a:rPr lang="en-US" altLang="zh-CN"/>
              <a:t>WSDL </a:t>
            </a:r>
            <a:r>
              <a:rPr lang="zh-CN" altLang="en-US"/>
              <a:t>定义概要</a:t>
            </a:r>
          </a:p>
        </p:txBody>
      </p:sp>
      <p:sp>
        <p:nvSpPr>
          <p:cNvPr id="33795" name="灯片编号占位符 6"/>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CF89C63-8669-4ABE-A875-2891EEC5320A}" type="slidenum">
              <a:rPr lang="en-US" altLang="zh-CN" smtClean="0"/>
              <a:pPr/>
              <a:t>23</a:t>
            </a:fld>
            <a:endParaRPr lang="en-US" altLang="zh-CN"/>
          </a:p>
        </p:txBody>
      </p:sp>
      <p:pic>
        <p:nvPicPr>
          <p:cNvPr id="5" name="图片 4"/>
          <p:cNvPicPr>
            <a:picLocks noChangeAspect="1"/>
          </p:cNvPicPr>
          <p:nvPr/>
        </p:nvPicPr>
        <p:blipFill>
          <a:blip r:embed="rId3"/>
          <a:stretch>
            <a:fillRect/>
          </a:stretch>
        </p:blipFill>
        <p:spPr>
          <a:xfrm>
            <a:off x="2209906" y="1125741"/>
            <a:ext cx="4729051" cy="2034124"/>
          </a:xfrm>
          <a:prstGeom prst="rect">
            <a:avLst/>
          </a:prstGeom>
        </p:spPr>
      </p:pic>
      <p:pic>
        <p:nvPicPr>
          <p:cNvPr id="6" name="图片 5"/>
          <p:cNvPicPr>
            <a:picLocks noChangeAspect="1"/>
          </p:cNvPicPr>
          <p:nvPr/>
        </p:nvPicPr>
        <p:blipFill>
          <a:blip r:embed="rId4"/>
          <a:stretch>
            <a:fillRect/>
          </a:stretch>
        </p:blipFill>
        <p:spPr>
          <a:xfrm>
            <a:off x="2365022" y="3251259"/>
            <a:ext cx="4402550" cy="2328885"/>
          </a:xfrm>
          <a:prstGeom prst="rect">
            <a:avLst/>
          </a:prstGeom>
        </p:spPr>
      </p:pic>
      <p:pic>
        <p:nvPicPr>
          <p:cNvPr id="9" name="图片 8"/>
          <p:cNvPicPr>
            <a:picLocks noChangeAspect="1"/>
          </p:cNvPicPr>
          <p:nvPr/>
        </p:nvPicPr>
        <p:blipFill>
          <a:blip r:embed="rId5"/>
          <a:stretch>
            <a:fillRect/>
          </a:stretch>
        </p:blipFill>
        <p:spPr>
          <a:xfrm>
            <a:off x="2377144" y="5671538"/>
            <a:ext cx="4394576" cy="789588"/>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案例研究</a:t>
            </a:r>
            <a:r>
              <a:rPr lang="en-US" altLang="zh-CN"/>
              <a:t>——</a:t>
            </a:r>
            <a:r>
              <a:rPr lang="zh-CN" altLang="en-US"/>
              <a:t>标准化的</a:t>
            </a:r>
            <a:r>
              <a:rPr lang="en-US" altLang="zh-CN"/>
              <a:t>XML Schema </a:t>
            </a:r>
            <a:r>
              <a:rPr lang="zh-CN" altLang="en-US"/>
              <a:t>定义</a:t>
            </a:r>
          </a:p>
        </p:txBody>
      </p:sp>
      <p:sp>
        <p:nvSpPr>
          <p:cNvPr id="34819" name="内容占位符 2"/>
          <p:cNvSpPr>
            <a:spLocks noGrp="1"/>
          </p:cNvSpPr>
          <p:nvPr>
            <p:ph idx="1"/>
          </p:nvPr>
        </p:nvSpPr>
        <p:spPr/>
        <p:txBody>
          <a:bodyPr/>
          <a:lstStyle/>
          <a:p>
            <a:r>
              <a:rPr lang="en-US" altLang="zh-CN" dirty="0"/>
              <a:t>DevelopedMaterial.xsd (</a:t>
            </a:r>
            <a:r>
              <a:rPr lang="zh-CN" altLang="en-US" dirty="0"/>
              <a:t>实体</a:t>
            </a:r>
            <a:r>
              <a:rPr lang="en-US" altLang="zh-CN" dirty="0"/>
              <a:t>)</a:t>
            </a:r>
          </a:p>
          <a:p>
            <a:r>
              <a:rPr lang="en-US" altLang="zh-CN" dirty="0"/>
              <a:t>PucrhasedMaterial.xsd (</a:t>
            </a:r>
            <a:r>
              <a:rPr lang="zh-CN" altLang="en-US" dirty="0"/>
              <a:t>实体</a:t>
            </a:r>
            <a:r>
              <a:rPr lang="en-US" altLang="zh-CN" dirty="0"/>
              <a:t>)</a:t>
            </a:r>
          </a:p>
          <a:p>
            <a:r>
              <a:rPr lang="en-US" altLang="zh-CN" dirty="0"/>
              <a:t>Materials.xsd</a:t>
            </a:r>
          </a:p>
          <a:p>
            <a:r>
              <a:rPr lang="en-US" altLang="zh-CN" dirty="0"/>
              <a:t>Formula.xsd (</a:t>
            </a:r>
            <a:r>
              <a:rPr lang="zh-CN" altLang="en-US" dirty="0"/>
              <a:t>实体</a:t>
            </a:r>
            <a:r>
              <a:rPr lang="en-US" altLang="zh-CN" dirty="0"/>
              <a:t>)</a:t>
            </a:r>
          </a:p>
          <a:p>
            <a:r>
              <a:rPr lang="en-US" altLang="zh-CN" dirty="0"/>
              <a:t>Formulas.xsd</a:t>
            </a:r>
          </a:p>
          <a:p>
            <a:r>
              <a:rPr lang="en-US" altLang="zh-CN" dirty="0"/>
              <a:t>Employee.xsd (</a:t>
            </a:r>
            <a:r>
              <a:rPr lang="zh-CN" altLang="en-US" dirty="0"/>
              <a:t>实体</a:t>
            </a:r>
            <a:r>
              <a:rPr lang="en-US" altLang="zh-CN" dirty="0"/>
              <a:t>)</a:t>
            </a:r>
          </a:p>
          <a:p>
            <a:r>
              <a:rPr lang="en-US" altLang="zh-CN" dirty="0"/>
              <a:t>RunaLabProjects.xsd</a:t>
            </a:r>
            <a:endParaRPr lang="zh-CN" altLang="en-US" dirty="0"/>
          </a:p>
        </p:txBody>
      </p:sp>
      <p:sp>
        <p:nvSpPr>
          <p:cNvPr id="3482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6C2B83A-C15C-4F2B-B31A-9CFAFC6961C3}" type="slidenum">
              <a:rPr lang="en-US" altLang="zh-CN" smtClean="0"/>
              <a:pPr/>
              <a:t>24</a:t>
            </a:fld>
            <a:endParaRPr lang="en-US" altLang="zh-CN"/>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案例研究</a:t>
            </a:r>
            <a:r>
              <a:rPr lang="en-US" altLang="zh-CN"/>
              <a:t>——</a:t>
            </a:r>
            <a:r>
              <a:rPr lang="zh-CN" altLang="en-US"/>
              <a:t>标准化的服务和数据表示层</a:t>
            </a:r>
          </a:p>
        </p:txBody>
      </p:sp>
      <p:sp>
        <p:nvSpPr>
          <p:cNvPr id="35843"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5F94C7F-3DA8-4C20-9516-DC8940B3F2CC}" type="slidenum">
              <a:rPr lang="en-US" altLang="zh-CN" smtClean="0"/>
              <a:pPr/>
              <a:t>25</a:t>
            </a:fld>
            <a:endParaRPr lang="en-US" altLang="zh-CN"/>
          </a:p>
        </p:txBody>
      </p:sp>
      <p:pic>
        <p:nvPicPr>
          <p:cNvPr id="6" name="图片 5"/>
          <p:cNvPicPr>
            <a:picLocks noChangeAspect="1"/>
          </p:cNvPicPr>
          <p:nvPr/>
        </p:nvPicPr>
        <p:blipFill>
          <a:blip r:embed="rId3"/>
          <a:stretch>
            <a:fillRect/>
          </a:stretch>
        </p:blipFill>
        <p:spPr>
          <a:xfrm>
            <a:off x="1763688" y="1412776"/>
            <a:ext cx="5572100" cy="3728804"/>
          </a:xfrm>
          <a:prstGeom prst="rect">
            <a:avLst/>
          </a:prstGeom>
        </p:spPr>
      </p:pic>
      <p:sp>
        <p:nvSpPr>
          <p:cNvPr id="8" name="矩形 7"/>
          <p:cNvSpPr/>
          <p:nvPr/>
        </p:nvSpPr>
        <p:spPr>
          <a:xfrm>
            <a:off x="1182316" y="5249617"/>
            <a:ext cx="6734844" cy="1077218"/>
          </a:xfrm>
          <a:prstGeom prst="rect">
            <a:avLst/>
          </a:prstGeom>
        </p:spPr>
        <p:txBody>
          <a:bodyPr wrap="square">
            <a:spAutoFit/>
          </a:bodyPr>
          <a:lstStyle/>
          <a:p>
            <a:r>
              <a:rPr lang="en-US" altLang="zh-CN" sz="1600" dirty="0"/>
              <a:t>The seven operations provided by the three services require the involvement of seven schema definitions. Highlighted symbols represent service-specific schemas, whereas the other schemas represent document structures derived from existing business entity models.</a:t>
            </a:r>
            <a:endParaRPr lang="zh-CN" altLang="en-US" sz="16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a:t>案例研究</a:t>
            </a:r>
            <a:r>
              <a:rPr lang="en-US" altLang="zh-CN"/>
              <a:t>——</a:t>
            </a:r>
            <a:r>
              <a:rPr lang="zh-CN" altLang="en-US"/>
              <a:t>服务描述 </a:t>
            </a:r>
            <a:r>
              <a:rPr lang="en-US" altLang="zh-CN"/>
              <a:t>I</a:t>
            </a:r>
            <a:endParaRPr lang="zh-CN" altLang="en-US"/>
          </a:p>
        </p:txBody>
      </p:sp>
      <p:sp>
        <p:nvSpPr>
          <p:cNvPr id="3" name="内容占位符 2"/>
          <p:cNvSpPr>
            <a:spLocks noGrp="1"/>
          </p:cNvSpPr>
          <p:nvPr>
            <p:ph idx="1"/>
          </p:nvPr>
        </p:nvSpPr>
        <p:spPr/>
        <p:txBody>
          <a:bodyPr>
            <a:normAutofit fontScale="70000" lnSpcReduction="20000"/>
          </a:bodyPr>
          <a:lstStyle/>
          <a:p>
            <a:pPr>
              <a:lnSpc>
                <a:spcPct val="120000"/>
              </a:lnSpc>
            </a:pPr>
            <a:r>
              <a:rPr lang="en-US" altLang="zh-CN" dirty="0"/>
              <a:t>Materials</a:t>
            </a:r>
            <a:r>
              <a:rPr lang="zh-CN" altLang="en-US" dirty="0"/>
              <a:t>服务</a:t>
            </a:r>
            <a:endParaRPr lang="en-US" altLang="zh-CN" dirty="0"/>
          </a:p>
          <a:p>
            <a:pPr lvl="1">
              <a:lnSpc>
                <a:spcPct val="120000"/>
              </a:lnSpc>
            </a:pPr>
            <a:r>
              <a:rPr lang="en-US" altLang="zh-CN" dirty="0" err="1"/>
              <a:t>Cutit</a:t>
            </a:r>
            <a:r>
              <a:rPr lang="en-US" altLang="zh-CN" dirty="0"/>
              <a:t> </a:t>
            </a:r>
            <a:r>
              <a:rPr lang="zh-CN" altLang="en-US" dirty="0"/>
              <a:t>库存中的原材料被分为自制的</a:t>
            </a:r>
            <a:r>
              <a:rPr lang="en-US" altLang="zh-CN" dirty="0"/>
              <a:t>(developed)</a:t>
            </a:r>
            <a:r>
              <a:rPr lang="zh-CN" altLang="en-US" dirty="0"/>
              <a:t>和购买的</a:t>
            </a:r>
            <a:r>
              <a:rPr lang="en-US" altLang="zh-CN" dirty="0"/>
              <a:t>( purchased)</a:t>
            </a:r>
            <a:r>
              <a:rPr lang="zh-CN" altLang="en-US" dirty="0"/>
              <a:t>两类。它们别由具有不同属性和特性的两种文档表示</a:t>
            </a:r>
          </a:p>
          <a:p>
            <a:pPr lvl="1">
              <a:lnSpc>
                <a:spcPct val="120000"/>
              </a:lnSpc>
            </a:pPr>
            <a:r>
              <a:rPr lang="en-US" altLang="zh-CN" dirty="0" err="1"/>
              <a:t>Materials.wsdl</a:t>
            </a:r>
            <a:r>
              <a:rPr lang="zh-CN" altLang="en-US" dirty="0"/>
              <a:t>定义需要对外暴露的操作，使消费者程序能够处理和这两种原材料相关的数据。因此定义了单独的</a:t>
            </a:r>
            <a:r>
              <a:rPr lang="en-US" altLang="zh-CN" dirty="0" err="1"/>
              <a:t>GetDeveloped</a:t>
            </a:r>
            <a:r>
              <a:rPr lang="zh-CN" altLang="en-US" dirty="0"/>
              <a:t>和</a:t>
            </a:r>
            <a:r>
              <a:rPr lang="en-US" altLang="zh-CN" dirty="0" err="1"/>
              <a:t>GetPurchased</a:t>
            </a:r>
            <a:r>
              <a:rPr lang="zh-CN" altLang="en-US" dirty="0"/>
              <a:t>操作，各自包含了访问不同数据库并返回不同文档结构的逻辑</a:t>
            </a:r>
          </a:p>
          <a:p>
            <a:pPr lvl="1">
              <a:lnSpc>
                <a:spcPct val="120000"/>
              </a:lnSpc>
            </a:pPr>
            <a:r>
              <a:rPr lang="zh-CN" altLang="en-US" dirty="0"/>
              <a:t>几乎所有在定义</a:t>
            </a:r>
            <a:r>
              <a:rPr lang="en-US" altLang="zh-CN" dirty="0" err="1"/>
              <a:t>GetDeveloped</a:t>
            </a:r>
            <a:r>
              <a:rPr lang="zh-CN" altLang="en-US" dirty="0"/>
              <a:t>和</a:t>
            </a:r>
            <a:r>
              <a:rPr lang="en-US" altLang="zh-CN" dirty="0" err="1"/>
              <a:t>GetPurchased</a:t>
            </a:r>
            <a:r>
              <a:rPr lang="zh-CN" altLang="en-US" dirty="0"/>
              <a:t>操作的输入输出时所需要的复杂类型，都可在相应的</a:t>
            </a:r>
            <a:r>
              <a:rPr lang="en-US" altLang="zh-CN" dirty="0"/>
              <a:t>DevelopedMaterial.xsd</a:t>
            </a:r>
            <a:r>
              <a:rPr lang="zh-CN" altLang="en-US" dirty="0"/>
              <a:t>和</a:t>
            </a:r>
            <a:r>
              <a:rPr lang="en-US" altLang="zh-CN" dirty="0"/>
              <a:t>PurchasedMaterial.xsd schema</a:t>
            </a:r>
            <a:r>
              <a:rPr lang="zh-CN" altLang="en-US" dirty="0"/>
              <a:t>定义中找到</a:t>
            </a:r>
          </a:p>
          <a:p>
            <a:pPr lvl="1">
              <a:lnSpc>
                <a:spcPct val="120000"/>
              </a:lnSpc>
            </a:pPr>
            <a:r>
              <a:rPr lang="zh-CN" altLang="en-US" dirty="0"/>
              <a:t>由于</a:t>
            </a:r>
            <a:r>
              <a:rPr lang="en-US" altLang="zh-CN" dirty="0" err="1"/>
              <a:t>GetDeveloped</a:t>
            </a:r>
            <a:r>
              <a:rPr lang="zh-CN" altLang="en-US" dirty="0"/>
              <a:t>操作负责获取表示被认为是拥有知识产权的内部自制原材料的文档，它需要提出该需求的人员的员工标识。该标识对应的负责类型在</a:t>
            </a:r>
            <a:r>
              <a:rPr lang="en-US" altLang="zh-CN" dirty="0"/>
              <a:t>Employee.xsd schema</a:t>
            </a:r>
            <a:r>
              <a:rPr lang="zh-CN" altLang="en-US" dirty="0"/>
              <a:t>中定义</a:t>
            </a:r>
          </a:p>
          <a:p>
            <a:pPr lvl="1">
              <a:lnSpc>
                <a:spcPct val="120000"/>
              </a:lnSpc>
            </a:pPr>
            <a:r>
              <a:rPr lang="zh-CN" altLang="en-US" dirty="0"/>
              <a:t>该服务还提供了</a:t>
            </a:r>
            <a:r>
              <a:rPr lang="en-US" altLang="zh-CN" dirty="0" err="1"/>
              <a:t>GetStockLevels</a:t>
            </a:r>
            <a:r>
              <a:rPr lang="zh-CN" altLang="en-US" dirty="0"/>
              <a:t>操作，以返回某种原材料的当前库存量。该操作的输入和输出消息被单独定义在</a:t>
            </a:r>
            <a:r>
              <a:rPr lang="en-US" altLang="zh-CN" dirty="0"/>
              <a:t>Materials.xsd</a:t>
            </a:r>
            <a:r>
              <a:rPr lang="zh-CN" altLang="en-US" dirty="0"/>
              <a:t>定义中</a:t>
            </a:r>
          </a:p>
        </p:txBody>
      </p:sp>
      <p:sp>
        <p:nvSpPr>
          <p:cNvPr id="3686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35692F9-65B9-4E09-9E9B-2F71605D59BF}" type="slidenum">
              <a:rPr lang="en-US" altLang="zh-CN" smtClean="0"/>
              <a:pPr/>
              <a:t>26</a:t>
            </a:fld>
            <a:endParaRPr lang="en-US" altLang="zh-CN"/>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a:t>案例研究</a:t>
            </a:r>
            <a:r>
              <a:rPr lang="en-US" altLang="zh-CN"/>
              <a:t>——</a:t>
            </a:r>
            <a:r>
              <a:rPr lang="zh-CN" altLang="en-US"/>
              <a:t>服务描述 </a:t>
            </a:r>
            <a:r>
              <a:rPr lang="en-US" altLang="zh-CN"/>
              <a:t>II</a:t>
            </a:r>
            <a:endParaRPr lang="zh-CN" altLang="en-US"/>
          </a:p>
        </p:txBody>
      </p:sp>
      <p:sp>
        <p:nvSpPr>
          <p:cNvPr id="3" name="内容占位符 2"/>
          <p:cNvSpPr>
            <a:spLocks noGrp="1"/>
          </p:cNvSpPr>
          <p:nvPr>
            <p:ph idx="1"/>
          </p:nvPr>
        </p:nvSpPr>
        <p:spPr/>
        <p:txBody>
          <a:bodyPr>
            <a:normAutofit fontScale="77500" lnSpcReduction="20000"/>
          </a:bodyPr>
          <a:lstStyle/>
          <a:p>
            <a:pPr>
              <a:lnSpc>
                <a:spcPct val="120000"/>
              </a:lnSpc>
            </a:pPr>
            <a:r>
              <a:rPr lang="en-US" altLang="zh-CN" dirty="0"/>
              <a:t>Formulas</a:t>
            </a:r>
            <a:r>
              <a:rPr lang="zh-CN" altLang="en-US" dirty="0"/>
              <a:t>服务</a:t>
            </a:r>
            <a:endParaRPr lang="en-US" altLang="zh-CN" dirty="0"/>
          </a:p>
          <a:p>
            <a:pPr lvl="1">
              <a:lnSpc>
                <a:spcPct val="120000"/>
              </a:lnSpc>
            </a:pPr>
            <a:r>
              <a:rPr lang="en-US" altLang="zh-CN" dirty="0" err="1"/>
              <a:t>Cutit</a:t>
            </a:r>
            <a:r>
              <a:rPr lang="en-US" altLang="zh-CN" dirty="0"/>
              <a:t> </a:t>
            </a:r>
            <a:r>
              <a:rPr lang="zh-CN" altLang="en-US" dirty="0"/>
              <a:t>实验室中，配方作为单独的记录存在。其中有单独创建和定义的基础配方，但也可以将配方组合起来</a:t>
            </a:r>
            <a:endParaRPr lang="en-US" altLang="zh-CN" dirty="0"/>
          </a:p>
          <a:p>
            <a:pPr lvl="1">
              <a:lnSpc>
                <a:spcPct val="120000"/>
              </a:lnSpc>
            </a:pPr>
            <a:r>
              <a:rPr lang="zh-CN" altLang="en-US" dirty="0"/>
              <a:t>在</a:t>
            </a:r>
            <a:r>
              <a:rPr lang="en-US" altLang="zh-CN" dirty="0" err="1"/>
              <a:t>Formulas.wsdl</a:t>
            </a:r>
            <a:r>
              <a:rPr lang="zh-CN" altLang="en-US" dirty="0"/>
              <a:t>定义中提供了</a:t>
            </a:r>
            <a:r>
              <a:rPr lang="en-US" altLang="zh-CN" dirty="0" err="1"/>
              <a:t>AddBase</a:t>
            </a:r>
            <a:r>
              <a:rPr lang="zh-CN" altLang="en-US" dirty="0"/>
              <a:t>和</a:t>
            </a:r>
            <a:r>
              <a:rPr lang="en-US" altLang="zh-CN" dirty="0"/>
              <a:t>Simulate</a:t>
            </a:r>
            <a:r>
              <a:rPr lang="zh-CN" altLang="en-US" dirty="0"/>
              <a:t>这两个操作来分别创建基础配方和模拟应用配方。同时还定义了一个简单的</a:t>
            </a:r>
            <a:r>
              <a:rPr lang="en-US" altLang="zh-CN" dirty="0"/>
              <a:t>Get</a:t>
            </a:r>
            <a:r>
              <a:rPr lang="zh-CN" altLang="en-US" dirty="0"/>
              <a:t>操作来获取一个或者多个配方文挡</a:t>
            </a:r>
          </a:p>
          <a:p>
            <a:pPr lvl="1">
              <a:lnSpc>
                <a:spcPct val="120000"/>
              </a:lnSpc>
            </a:pPr>
            <a:r>
              <a:rPr lang="en-US" altLang="zh-CN" dirty="0" err="1"/>
              <a:t>AddBase</a:t>
            </a:r>
            <a:r>
              <a:rPr lang="zh-CN" altLang="en-US" dirty="0"/>
              <a:t>操作的输入消息和</a:t>
            </a:r>
            <a:r>
              <a:rPr lang="en-US" altLang="zh-CN" dirty="0"/>
              <a:t>Get </a:t>
            </a:r>
            <a:r>
              <a:rPr lang="zh-CN" altLang="en-US" dirty="0"/>
              <a:t>操作的输出消息都被定义</a:t>
            </a:r>
            <a:r>
              <a:rPr lang="en-US" altLang="zh-CN" dirty="0" err="1"/>
              <a:t>Formula.schema</a:t>
            </a:r>
            <a:r>
              <a:rPr lang="zh-CN" altLang="en-US" dirty="0"/>
              <a:t>所代表的配方记录的官方文档结构中</a:t>
            </a:r>
          </a:p>
          <a:p>
            <a:pPr lvl="1">
              <a:lnSpc>
                <a:spcPct val="120000"/>
              </a:lnSpc>
            </a:pPr>
            <a:r>
              <a:rPr lang="en-US" altLang="zh-CN" dirty="0" err="1"/>
              <a:t>AddBase</a:t>
            </a:r>
            <a:r>
              <a:rPr lang="zh-CN" altLang="en-US" dirty="0"/>
              <a:t>操作的输出消息中需要的返回代码的值在服务特定的</a:t>
            </a:r>
            <a:r>
              <a:rPr lang="en-US" altLang="zh-CN" dirty="0"/>
              <a:t>Formulas.xsd </a:t>
            </a:r>
            <a:r>
              <a:rPr lang="zh-CN" altLang="en-US" dirty="0"/>
              <a:t>定义中，其中还包括了</a:t>
            </a:r>
            <a:r>
              <a:rPr lang="en-US" altLang="zh-CN"/>
              <a:t>Simulate </a:t>
            </a:r>
            <a:r>
              <a:rPr lang="zh-CN" altLang="en-US" dirty="0"/>
              <a:t>操作输出的模拟报告结构</a:t>
            </a:r>
          </a:p>
          <a:p>
            <a:pPr lvl="1">
              <a:lnSpc>
                <a:spcPct val="120000"/>
              </a:lnSpc>
            </a:pPr>
            <a:r>
              <a:rPr lang="zh-CN" altLang="en-US" dirty="0"/>
              <a:t>配方记录同样也被认为是私有并且需要保护的信息。所以处理配方相关的数据时总是需要提供员工的标识。所有</a:t>
            </a:r>
            <a:r>
              <a:rPr lang="en-US" altLang="zh-CN" dirty="0"/>
              <a:t>3</a:t>
            </a:r>
            <a:r>
              <a:rPr lang="zh-CN" altLang="en-US" dirty="0"/>
              <a:t>个操作中所需要的员工标识被定义在</a:t>
            </a:r>
            <a:r>
              <a:rPr lang="en-US" altLang="zh-CN" dirty="0"/>
              <a:t>Employee.xsd schema </a:t>
            </a:r>
            <a:r>
              <a:rPr lang="zh-CN" altLang="en-US" dirty="0"/>
              <a:t>中</a:t>
            </a:r>
          </a:p>
        </p:txBody>
      </p:sp>
      <p:sp>
        <p:nvSpPr>
          <p:cNvPr id="3789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DC53F5A2-FD7E-4E0E-8CFD-87569B9D1156}" type="slidenum">
              <a:rPr lang="en-US" altLang="zh-CN" smtClean="0"/>
              <a:pPr/>
              <a:t>27</a:t>
            </a:fld>
            <a:endParaRPr lang="en-US" altLang="zh-CN"/>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案例研究</a:t>
            </a:r>
            <a:r>
              <a:rPr lang="en-US" altLang="zh-CN"/>
              <a:t>——</a:t>
            </a:r>
            <a:r>
              <a:rPr lang="zh-CN" altLang="en-US"/>
              <a:t>服务描述 </a:t>
            </a:r>
            <a:r>
              <a:rPr lang="en-US" altLang="zh-CN"/>
              <a:t>III</a:t>
            </a:r>
            <a:endParaRPr lang="zh-CN" altLang="en-US"/>
          </a:p>
        </p:txBody>
      </p:sp>
      <p:sp>
        <p:nvSpPr>
          <p:cNvPr id="3" name="内容占位符 2"/>
          <p:cNvSpPr>
            <a:spLocks noGrp="1"/>
          </p:cNvSpPr>
          <p:nvPr>
            <p:ph idx="1"/>
          </p:nvPr>
        </p:nvSpPr>
        <p:spPr/>
        <p:txBody>
          <a:bodyPr/>
          <a:lstStyle/>
          <a:p>
            <a:r>
              <a:rPr lang="en-US" altLang="zh-CN" dirty="0"/>
              <a:t>Run Lab Project</a:t>
            </a:r>
            <a:r>
              <a:rPr lang="zh-CN" altLang="en-US" dirty="0"/>
              <a:t>服务</a:t>
            </a:r>
            <a:endParaRPr lang="en-US" altLang="zh-CN" dirty="0"/>
          </a:p>
          <a:p>
            <a:pPr lvl="1"/>
            <a:r>
              <a:rPr lang="en-US" altLang="zh-CN" dirty="0" err="1"/>
              <a:t>RunLabProject.wsdl</a:t>
            </a:r>
            <a:r>
              <a:rPr lang="zh-CN" altLang="en-US" dirty="0"/>
              <a:t>定义对外暴露一个</a:t>
            </a:r>
            <a:r>
              <a:rPr lang="en-US" altLang="zh-CN" dirty="0"/>
              <a:t>Start</a:t>
            </a:r>
            <a:r>
              <a:rPr lang="zh-CN" altLang="en-US" dirty="0"/>
              <a:t>操作，该操作需要一个日期值和一个员工标识来开始流程</a:t>
            </a:r>
          </a:p>
          <a:p>
            <a:pPr lvl="1"/>
            <a:r>
              <a:rPr lang="zh-CN" altLang="en-US" dirty="0"/>
              <a:t>输入的日期值以及流程成功启动后作为输出的返回代码被定在</a:t>
            </a:r>
            <a:r>
              <a:rPr lang="en-US" altLang="zh-CN" dirty="0"/>
              <a:t>RunLabProject.xsd</a:t>
            </a:r>
            <a:r>
              <a:rPr lang="zh-CN" altLang="en-US" dirty="0"/>
              <a:t>定义中</a:t>
            </a:r>
          </a:p>
          <a:p>
            <a:pPr lvl="1"/>
            <a:r>
              <a:rPr lang="en-US" altLang="zh-CN" dirty="0"/>
              <a:t>Start</a:t>
            </a:r>
            <a:r>
              <a:rPr lang="zh-CN" altLang="en-US" dirty="0"/>
              <a:t>操作输入中所需要的员工标识定义在</a:t>
            </a:r>
            <a:r>
              <a:rPr lang="en-US" altLang="zh-CN" dirty="0"/>
              <a:t>Employee.xsd schema</a:t>
            </a:r>
            <a:r>
              <a:rPr lang="zh-CN" altLang="en-US" dirty="0"/>
              <a:t>中</a:t>
            </a:r>
          </a:p>
        </p:txBody>
      </p:sp>
      <p:sp>
        <p:nvSpPr>
          <p:cNvPr id="3891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ABCCA35-F551-4907-BAA6-DF88A51533A5}" type="slidenum">
              <a:rPr lang="en-US" altLang="zh-CN" smtClean="0"/>
              <a:pPr/>
              <a:t>28</a:t>
            </a:fld>
            <a:endParaRPr lang="en-US" altLang="zh-CN"/>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a:t>服务耦合 </a:t>
            </a:r>
            <a:r>
              <a:rPr lang="en-US" altLang="zh-CN" dirty="0"/>
              <a:t>(</a:t>
            </a:r>
            <a:r>
              <a:rPr lang="zh-CN" altLang="en-US" dirty="0"/>
              <a:t>服务内及消费者依赖</a:t>
            </a:r>
            <a:r>
              <a:rPr lang="en-US" altLang="zh-CN" dirty="0"/>
              <a:t>)</a:t>
            </a:r>
            <a:endParaRPr lang="zh-CN" altLang="en-US" dirty="0"/>
          </a:p>
        </p:txBody>
      </p:sp>
      <p:sp>
        <p:nvSpPr>
          <p:cNvPr id="39939" name="内容占位符 2"/>
          <p:cNvSpPr>
            <a:spLocks noGrp="1"/>
          </p:cNvSpPr>
          <p:nvPr>
            <p:ph idx="1"/>
          </p:nvPr>
        </p:nvSpPr>
        <p:spPr>
          <a:xfrm>
            <a:off x="457200" y="1052513"/>
            <a:ext cx="2530624" cy="5348287"/>
          </a:xfrm>
        </p:spPr>
        <p:txBody>
          <a:bodyPr>
            <a:noAutofit/>
          </a:bodyPr>
          <a:lstStyle/>
          <a:p>
            <a:pPr>
              <a:lnSpc>
                <a:spcPct val="110000"/>
              </a:lnSpc>
            </a:pPr>
            <a:r>
              <a:rPr lang="zh-CN" altLang="en-US" sz="2600" dirty="0"/>
              <a:t>关注服务耦合在哪里发生</a:t>
            </a:r>
            <a:endParaRPr lang="en-US" altLang="zh-CN" sz="2600" dirty="0"/>
          </a:p>
          <a:p>
            <a:pPr>
              <a:lnSpc>
                <a:spcPct val="110000"/>
              </a:lnSpc>
            </a:pPr>
            <a:r>
              <a:rPr lang="zh-CN" altLang="en-US" sz="2600" dirty="0"/>
              <a:t>关注一个服务组合中的各部分之间以及服务内部的各部分之间应该耦合到什么程度</a:t>
            </a:r>
            <a:endParaRPr lang="en-US" altLang="zh-CN" sz="2600" dirty="0"/>
          </a:p>
        </p:txBody>
      </p:sp>
      <p:sp>
        <p:nvSpPr>
          <p:cNvPr id="3994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5929EA5-2567-4842-8957-F94F7B671D10}" type="slidenum">
              <a:rPr lang="en-US" altLang="zh-CN" smtClean="0"/>
              <a:pPr/>
              <a:t>29</a:t>
            </a:fld>
            <a:endParaRPr lang="en-US" altLang="zh-CN"/>
          </a:p>
        </p:txBody>
      </p:sp>
      <p:pic>
        <p:nvPicPr>
          <p:cNvPr id="6" name="图片 5"/>
          <p:cNvPicPr>
            <a:picLocks noChangeAspect="1"/>
          </p:cNvPicPr>
          <p:nvPr/>
        </p:nvPicPr>
        <p:blipFill>
          <a:blip r:embed="rId3"/>
          <a:stretch>
            <a:fillRect/>
          </a:stretch>
        </p:blipFill>
        <p:spPr>
          <a:xfrm>
            <a:off x="3635896" y="1074925"/>
            <a:ext cx="4476203" cy="3953009"/>
          </a:xfrm>
          <a:prstGeom prst="rect">
            <a:avLst/>
          </a:prstGeom>
        </p:spPr>
      </p:pic>
      <p:sp>
        <p:nvSpPr>
          <p:cNvPr id="8" name="矩形 7"/>
          <p:cNvSpPr/>
          <p:nvPr/>
        </p:nvSpPr>
        <p:spPr>
          <a:xfrm>
            <a:off x="3203847" y="4935344"/>
            <a:ext cx="5942511" cy="1569660"/>
          </a:xfrm>
          <a:prstGeom prst="rect">
            <a:avLst/>
          </a:prstGeom>
        </p:spPr>
        <p:txBody>
          <a:bodyPr wrap="square">
            <a:spAutoFit/>
          </a:bodyPr>
          <a:lstStyle/>
          <a:p>
            <a:r>
              <a:rPr lang="en-US" altLang="zh-CN" sz="1600" dirty="0"/>
              <a:t>This principle emphasizes the reduction (“loosening”) of coupling between the parts of a service oriented solution, especially when compared to how applications have traditionally been designed. Specifically, loose coupling is advocated between a service contract and its consumers and between a service contract and its underlying implementation.</a:t>
            </a:r>
            <a:endParaRPr lang="zh-CN" altLang="en-US" sz="16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dirty="0"/>
              <a:t>服务松散耦合原则</a:t>
            </a:r>
          </a:p>
        </p:txBody>
      </p:sp>
      <p:sp>
        <p:nvSpPr>
          <p:cNvPr id="41987"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022B8BD-F346-43C9-A2AF-21937FED0876}" type="slidenum">
              <a:rPr lang="en-US" altLang="zh-CN" smtClean="0"/>
              <a:pPr/>
              <a:t>30</a:t>
            </a:fld>
            <a:endParaRPr lang="en-US" altLang="zh-CN"/>
          </a:p>
        </p:txBody>
      </p:sp>
      <p:pic>
        <p:nvPicPr>
          <p:cNvPr id="5" name="图片 4"/>
          <p:cNvPicPr>
            <a:picLocks noChangeAspect="1"/>
          </p:cNvPicPr>
          <p:nvPr/>
        </p:nvPicPr>
        <p:blipFill>
          <a:blip r:embed="rId3"/>
          <a:stretch>
            <a:fillRect/>
          </a:stretch>
        </p:blipFill>
        <p:spPr>
          <a:xfrm>
            <a:off x="1404937" y="1573791"/>
            <a:ext cx="6334125" cy="3076575"/>
          </a:xfrm>
          <a:prstGeom prst="rect">
            <a:avLst/>
          </a:prstGeom>
        </p:spPr>
      </p:pic>
      <p:sp>
        <p:nvSpPr>
          <p:cNvPr id="6" name="矩形 5"/>
          <p:cNvSpPr/>
          <p:nvPr/>
        </p:nvSpPr>
        <p:spPr>
          <a:xfrm>
            <a:off x="1465734" y="5085184"/>
            <a:ext cx="6212532" cy="830997"/>
          </a:xfrm>
          <a:prstGeom prst="rect">
            <a:avLst/>
          </a:prstGeom>
        </p:spPr>
        <p:txBody>
          <a:bodyPr wrap="square">
            <a:spAutoFit/>
          </a:bodyPr>
          <a:lstStyle/>
          <a:p>
            <a:r>
              <a:rPr lang="zh-CN" altLang="en-US" sz="1600" dirty="0"/>
              <a:t>The fundamental impacts of coupling on the service and consumer. The constraints expressed in this figure are amplified when the measure of coupling and the quantity of consumers is increased.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服务合约耦合的类型</a:t>
            </a:r>
          </a:p>
        </p:txBody>
      </p:sp>
      <p:sp>
        <p:nvSpPr>
          <p:cNvPr id="3" name="内容占位符 2"/>
          <p:cNvSpPr>
            <a:spLocks noGrp="1"/>
          </p:cNvSpPr>
          <p:nvPr>
            <p:ph idx="1"/>
          </p:nvPr>
        </p:nvSpPr>
        <p:spPr>
          <a:xfrm>
            <a:off x="457200" y="1052513"/>
            <a:ext cx="3440378" cy="5348287"/>
          </a:xfrm>
        </p:spPr>
        <p:txBody>
          <a:bodyPr/>
          <a:lstStyle/>
          <a:p>
            <a:r>
              <a:rPr lang="en-US" altLang="zh-CN" sz="2800" dirty="0"/>
              <a:t>"</a:t>
            </a:r>
            <a:r>
              <a:rPr lang="zh-CN" altLang="en-US" sz="2800" dirty="0"/>
              <a:t>逻辑</a:t>
            </a:r>
            <a:r>
              <a:rPr lang="en-US" altLang="zh-CN" sz="2800" dirty="0"/>
              <a:t>-</a:t>
            </a:r>
            <a:r>
              <a:rPr lang="zh-CN" altLang="en-US" sz="2800" dirty="0"/>
              <a:t>合约</a:t>
            </a:r>
            <a:r>
              <a:rPr lang="en-US" altLang="zh-CN" sz="2800" dirty="0"/>
              <a:t>"</a:t>
            </a:r>
            <a:r>
              <a:rPr lang="zh-CN" altLang="en-US" sz="2800" dirty="0"/>
              <a:t>耦合</a:t>
            </a:r>
          </a:p>
          <a:p>
            <a:r>
              <a:rPr lang="en-US" altLang="zh-CN" sz="2800" dirty="0"/>
              <a:t>"</a:t>
            </a:r>
            <a:r>
              <a:rPr lang="zh-CN" altLang="en-US" sz="2800" dirty="0"/>
              <a:t>合约</a:t>
            </a:r>
            <a:r>
              <a:rPr lang="en-US" altLang="zh-CN" sz="2800" dirty="0"/>
              <a:t>-</a:t>
            </a:r>
            <a:r>
              <a:rPr lang="zh-CN" altLang="en-US" sz="2800" dirty="0"/>
              <a:t>逻辑</a:t>
            </a:r>
            <a:r>
              <a:rPr lang="en-US" altLang="zh-CN" sz="2800" dirty="0"/>
              <a:t>"</a:t>
            </a:r>
            <a:r>
              <a:rPr lang="zh-CN" altLang="en-US" sz="2800" dirty="0"/>
              <a:t>耦合</a:t>
            </a:r>
          </a:p>
          <a:p>
            <a:r>
              <a:rPr lang="en-US" altLang="zh-CN" sz="2800" dirty="0"/>
              <a:t>"</a:t>
            </a:r>
            <a:r>
              <a:rPr lang="zh-CN" altLang="en-US" sz="2800" dirty="0"/>
              <a:t>合约</a:t>
            </a:r>
            <a:r>
              <a:rPr lang="en-US" altLang="zh-CN" sz="2800" dirty="0"/>
              <a:t>-</a:t>
            </a:r>
            <a:r>
              <a:rPr lang="zh-CN" altLang="en-US" sz="2800" dirty="0"/>
              <a:t>技术</a:t>
            </a:r>
            <a:r>
              <a:rPr lang="en-US" altLang="zh-CN" sz="2800" dirty="0"/>
              <a:t>"</a:t>
            </a:r>
            <a:r>
              <a:rPr lang="zh-CN" altLang="en-US" sz="2800" dirty="0"/>
              <a:t>耦合</a:t>
            </a:r>
          </a:p>
          <a:p>
            <a:r>
              <a:rPr lang="en-US" altLang="zh-CN" sz="2800" dirty="0"/>
              <a:t>"</a:t>
            </a:r>
            <a:r>
              <a:rPr lang="zh-CN" altLang="en-US" sz="2800" dirty="0"/>
              <a:t>合约</a:t>
            </a:r>
            <a:r>
              <a:rPr lang="en-US" altLang="zh-CN" sz="2800" dirty="0"/>
              <a:t>-</a:t>
            </a:r>
            <a:r>
              <a:rPr lang="zh-CN" altLang="en-US" sz="2800" dirty="0"/>
              <a:t>实现</a:t>
            </a:r>
            <a:r>
              <a:rPr lang="en-US" altLang="zh-CN" sz="2800" dirty="0"/>
              <a:t>"</a:t>
            </a:r>
            <a:r>
              <a:rPr lang="zh-CN" altLang="en-US" sz="2800" dirty="0"/>
              <a:t>耦合</a:t>
            </a:r>
          </a:p>
          <a:p>
            <a:r>
              <a:rPr lang="en-US" altLang="zh-CN" sz="2800" dirty="0"/>
              <a:t>"</a:t>
            </a:r>
            <a:r>
              <a:rPr lang="zh-CN" altLang="en-US" sz="2800" dirty="0"/>
              <a:t>合约</a:t>
            </a:r>
            <a:r>
              <a:rPr lang="en-US" altLang="zh-CN" sz="2800" dirty="0"/>
              <a:t>-</a:t>
            </a:r>
            <a:r>
              <a:rPr lang="zh-CN" altLang="en-US" sz="2800" dirty="0"/>
              <a:t>功能</a:t>
            </a:r>
            <a:r>
              <a:rPr lang="en-US" altLang="zh-CN" sz="2800" dirty="0"/>
              <a:t>"</a:t>
            </a:r>
            <a:r>
              <a:rPr lang="zh-CN" altLang="en-US" sz="2800" dirty="0"/>
              <a:t>耦合</a:t>
            </a:r>
          </a:p>
        </p:txBody>
      </p:sp>
      <p:sp>
        <p:nvSpPr>
          <p:cNvPr id="4" name="灯片编号占位符 3"/>
          <p:cNvSpPr>
            <a:spLocks noGrp="1"/>
          </p:cNvSpPr>
          <p:nvPr>
            <p:ph type="sldNum" sz="quarter" idx="10"/>
          </p:nvPr>
        </p:nvSpPr>
        <p:spPr/>
        <p:txBody>
          <a:bodyPr/>
          <a:lstStyle/>
          <a:p>
            <a:pPr>
              <a:defRPr/>
            </a:pPr>
            <a:fld id="{717A40B1-AA6C-4185-84BC-661BE49E49F1}" type="slidenum">
              <a:rPr lang="en-US" altLang="zh-CN" smtClean="0"/>
              <a:pPr>
                <a:defRPr/>
              </a:pPr>
              <a:t>31</a:t>
            </a:fld>
            <a:endParaRPr lang="en-US" altLang="zh-CN" dirty="0"/>
          </a:p>
        </p:txBody>
      </p:sp>
      <p:pic>
        <p:nvPicPr>
          <p:cNvPr id="6" name="图片 5"/>
          <p:cNvPicPr>
            <a:picLocks noChangeAspect="1"/>
          </p:cNvPicPr>
          <p:nvPr/>
        </p:nvPicPr>
        <p:blipFill>
          <a:blip r:embed="rId2"/>
          <a:stretch>
            <a:fillRect/>
          </a:stretch>
        </p:blipFill>
        <p:spPr>
          <a:xfrm>
            <a:off x="3865820" y="1427677"/>
            <a:ext cx="5256584" cy="4597958"/>
          </a:xfrm>
          <a:prstGeom prst="rect">
            <a:avLst/>
          </a:prstGeom>
        </p:spPr>
      </p:pic>
    </p:spTree>
    <p:extLst>
      <p:ext uri="{BB962C8B-B14F-4D97-AF65-F5344CB8AC3E}">
        <p14:creationId xmlns:p14="http://schemas.microsoft.com/office/powerpoint/2010/main" val="383772445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逻辑</a:t>
            </a:r>
            <a:r>
              <a:rPr lang="en-US" altLang="zh-CN" dirty="0"/>
              <a:t>-</a:t>
            </a:r>
            <a:r>
              <a:rPr lang="zh-CN" altLang="en-US" dirty="0"/>
              <a:t>合约</a:t>
            </a:r>
            <a:r>
              <a:rPr lang="en-US" altLang="zh-CN" dirty="0"/>
              <a:t>”</a:t>
            </a:r>
            <a:r>
              <a:rPr lang="zh-CN" altLang="en-US" dirty="0"/>
              <a:t>耦合</a:t>
            </a:r>
            <a:br>
              <a:rPr lang="en-US" altLang="zh-CN" dirty="0"/>
            </a:br>
            <a:r>
              <a:rPr lang="en-US" altLang="zh-CN" dirty="0"/>
              <a:t>(</a:t>
            </a:r>
            <a:r>
              <a:rPr lang="zh-CN" altLang="en-US" dirty="0"/>
              <a:t>服务逻辑到服务合约的耦合</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合约优先</a:t>
            </a:r>
            <a:endParaRPr lang="en-US" altLang="zh-CN" dirty="0"/>
          </a:p>
          <a:p>
            <a:pPr lvl="1"/>
            <a:r>
              <a:rPr lang="zh-CN" altLang="en-US" dirty="0"/>
              <a:t>首先设计合约，然后再设计底层的方案逻辑</a:t>
            </a:r>
            <a:endParaRPr lang="en-US" altLang="zh-CN" dirty="0"/>
          </a:p>
          <a:p>
            <a:pPr lvl="1"/>
            <a:r>
              <a:rPr lang="zh-CN" altLang="en-US" dirty="0"/>
              <a:t>允许对底层逻辑进行微调以支持服务合约</a:t>
            </a:r>
            <a:endParaRPr lang="en-US" altLang="zh-CN" dirty="0"/>
          </a:p>
          <a:p>
            <a:pPr lvl="1"/>
            <a:r>
              <a:rPr lang="zh-CN" altLang="en-US" dirty="0"/>
              <a:t>底层逻辑的微调能够优化运行效率和增强服务的健壮性</a:t>
            </a:r>
            <a:endParaRPr lang="en-US" altLang="zh-CN" dirty="0"/>
          </a:p>
          <a:p>
            <a:r>
              <a:rPr lang="en-US" altLang="zh-CN" dirty="0"/>
              <a:t>“</a:t>
            </a:r>
            <a:r>
              <a:rPr lang="zh-CN" altLang="en-US" dirty="0"/>
              <a:t>合约优先</a:t>
            </a:r>
            <a:r>
              <a:rPr lang="en-US" altLang="zh-CN" dirty="0"/>
              <a:t>”</a:t>
            </a:r>
            <a:r>
              <a:rPr lang="zh-CN" altLang="en-US" dirty="0"/>
              <a:t>的过程会造成服务逻辑对服务合约的紧密耦合</a:t>
            </a:r>
            <a:endParaRPr lang="en-US" altLang="zh-CN" dirty="0"/>
          </a:p>
          <a:p>
            <a:r>
              <a:rPr lang="zh-CN" altLang="en-US" dirty="0"/>
              <a:t>而服务合约对服务逻辑无耦合，在相同的服务合约下，可以替换服务逻辑</a:t>
            </a:r>
          </a:p>
        </p:txBody>
      </p:sp>
      <p:sp>
        <p:nvSpPr>
          <p:cNvPr id="4710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53FAA26-F23D-40FC-BC78-2F5BA034E644}" type="slidenum">
              <a:rPr lang="en-US" altLang="zh-CN" smtClean="0"/>
              <a:pPr/>
              <a:t>32</a:t>
            </a:fld>
            <a:endParaRPr lang="en-US" altLang="zh-CN"/>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合约</a:t>
            </a:r>
            <a:r>
              <a:rPr lang="en-US" altLang="zh-CN" dirty="0"/>
              <a:t>-</a:t>
            </a:r>
            <a:r>
              <a:rPr lang="zh-CN" altLang="en-US" dirty="0"/>
              <a:t>逻辑</a:t>
            </a:r>
            <a:r>
              <a:rPr lang="en-US" altLang="zh-CN" dirty="0"/>
              <a:t>”</a:t>
            </a:r>
            <a:r>
              <a:rPr lang="zh-CN" altLang="en-US" dirty="0"/>
              <a:t>耦合</a:t>
            </a:r>
            <a:br>
              <a:rPr lang="en-US" altLang="zh-CN" dirty="0"/>
            </a:br>
            <a:r>
              <a:rPr lang="en-US" altLang="zh-CN" dirty="0"/>
              <a:t>(</a:t>
            </a:r>
            <a:r>
              <a:rPr lang="zh-CN" altLang="en-US" dirty="0"/>
              <a:t>服务合约到服务逻辑的耦合</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从现有的方案逻辑当中生成</a:t>
            </a:r>
            <a:r>
              <a:rPr lang="en-US" altLang="zh-CN" dirty="0"/>
              <a:t>Web Services</a:t>
            </a:r>
          </a:p>
          <a:p>
            <a:pPr lvl="1"/>
            <a:r>
              <a:rPr lang="zh-CN" altLang="en-US" dirty="0"/>
              <a:t>合约设计中</a:t>
            </a:r>
            <a:r>
              <a:rPr lang="en-US" altLang="zh-CN" dirty="0"/>
              <a:t>WSDL</a:t>
            </a:r>
            <a:r>
              <a:rPr lang="zh-CN" altLang="en-US" dirty="0"/>
              <a:t>定义根据组件接口的定义自动生成</a:t>
            </a:r>
            <a:endParaRPr lang="en-US" altLang="zh-CN" dirty="0"/>
          </a:p>
          <a:p>
            <a:pPr lvl="1"/>
            <a:r>
              <a:rPr lang="en-US" altLang="zh-CN" dirty="0"/>
              <a:t>XML schema</a:t>
            </a:r>
            <a:r>
              <a:rPr lang="zh-CN" altLang="en-US" dirty="0"/>
              <a:t>从数据库表和其他数据模型中自动生成</a:t>
            </a:r>
            <a:endParaRPr lang="en-US" altLang="zh-CN" dirty="0"/>
          </a:p>
          <a:p>
            <a:r>
              <a:rPr lang="zh-CN" altLang="en-US" dirty="0"/>
              <a:t>往往会增加技术、功能和实现的耦合级别</a:t>
            </a:r>
            <a:endParaRPr lang="en-US" altLang="zh-CN" dirty="0"/>
          </a:p>
          <a:p>
            <a:r>
              <a:rPr lang="zh-CN" altLang="en-US" dirty="0"/>
              <a:t>作为一种</a:t>
            </a:r>
            <a:r>
              <a:rPr lang="en-US" altLang="zh-CN" dirty="0"/>
              <a:t>“</a:t>
            </a:r>
            <a:r>
              <a:rPr lang="zh-CN" altLang="en-US" dirty="0"/>
              <a:t>反模式</a:t>
            </a:r>
            <a:r>
              <a:rPr lang="en-US" altLang="zh-CN" dirty="0"/>
              <a:t>”</a:t>
            </a:r>
            <a:r>
              <a:rPr lang="zh-CN" altLang="en-US" dirty="0"/>
              <a:t>，缩短服务合约生命周期并限制服务的长期演化</a:t>
            </a:r>
          </a:p>
        </p:txBody>
      </p:sp>
      <p:sp>
        <p:nvSpPr>
          <p:cNvPr id="4813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E9F4753-0BDC-41C7-A310-0F80B47D65CE}" type="slidenum">
              <a:rPr lang="en-US" altLang="zh-CN" smtClean="0"/>
              <a:pPr/>
              <a:t>33</a:t>
            </a:fld>
            <a:endParaRPr lang="en-US" altLang="zh-C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合约</a:t>
            </a:r>
            <a:r>
              <a:rPr lang="en-US" altLang="zh-CN" dirty="0"/>
              <a:t>-</a:t>
            </a:r>
            <a:r>
              <a:rPr lang="zh-CN" altLang="en-US" dirty="0"/>
              <a:t>技术</a:t>
            </a:r>
            <a:r>
              <a:rPr lang="en-US" altLang="zh-CN" dirty="0"/>
              <a:t>”</a:t>
            </a:r>
            <a:r>
              <a:rPr lang="zh-CN" altLang="en-US" dirty="0"/>
              <a:t>耦合</a:t>
            </a:r>
            <a:br>
              <a:rPr lang="en-US" altLang="zh-CN" dirty="0"/>
            </a:br>
            <a:r>
              <a:rPr lang="en-US" altLang="zh-CN" dirty="0"/>
              <a:t>(</a:t>
            </a:r>
            <a:r>
              <a:rPr lang="zh-CN" altLang="en-US" dirty="0"/>
              <a:t>服务合约到其底层技术的耦合</a:t>
            </a:r>
            <a:r>
              <a:rPr lang="en-US" altLang="zh-CN" dirty="0"/>
              <a:t>)</a:t>
            </a:r>
            <a:endParaRPr lang="zh-CN" altLang="en-US" dirty="0"/>
          </a:p>
        </p:txBody>
      </p:sp>
      <p:sp>
        <p:nvSpPr>
          <p:cNvPr id="49155" name="内容占位符 2"/>
          <p:cNvSpPr>
            <a:spLocks noGrp="1"/>
          </p:cNvSpPr>
          <p:nvPr>
            <p:ph idx="1"/>
          </p:nvPr>
        </p:nvSpPr>
        <p:spPr/>
        <p:txBody>
          <a:bodyPr/>
          <a:lstStyle/>
          <a:p>
            <a:pPr>
              <a:lnSpc>
                <a:spcPct val="150000"/>
              </a:lnSpc>
            </a:pPr>
            <a:r>
              <a:rPr lang="zh-CN" altLang="en-US" dirty="0"/>
              <a:t>有的时候服务是作为传统专用组件存在的，这就需要服务合约与服务相关的通信技术紧密地耦合</a:t>
            </a:r>
            <a:endParaRPr lang="en-US" altLang="zh-CN" dirty="0"/>
          </a:p>
          <a:p>
            <a:pPr>
              <a:lnSpc>
                <a:spcPct val="150000"/>
              </a:lnSpc>
            </a:pPr>
            <a:r>
              <a:rPr lang="zh-CN" altLang="en-US" dirty="0"/>
              <a:t>所产生的“合约</a:t>
            </a:r>
            <a:r>
              <a:rPr lang="en-US" altLang="zh-CN" dirty="0"/>
              <a:t>-</a:t>
            </a:r>
            <a:r>
              <a:rPr lang="zh-CN" altLang="en-US" dirty="0"/>
              <a:t>技术”耦合会限制潜在的消费者</a:t>
            </a:r>
          </a:p>
        </p:txBody>
      </p:sp>
      <p:sp>
        <p:nvSpPr>
          <p:cNvPr id="4915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1BE7BCD-B74C-4901-A32A-282FD962C62E}" type="slidenum">
              <a:rPr lang="en-US" altLang="zh-CN" smtClean="0"/>
              <a:pPr/>
              <a:t>34</a:t>
            </a:fld>
            <a:endParaRPr lang="en-US" altLang="zh-C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合约</a:t>
            </a:r>
            <a:r>
              <a:rPr lang="en-US" altLang="zh-CN" dirty="0"/>
              <a:t>-</a:t>
            </a:r>
            <a:r>
              <a:rPr lang="zh-CN" altLang="en-US" dirty="0"/>
              <a:t>实现</a:t>
            </a:r>
            <a:r>
              <a:rPr lang="en-US" altLang="zh-CN" dirty="0"/>
              <a:t>”</a:t>
            </a:r>
            <a:r>
              <a:rPr lang="zh-CN" altLang="en-US" dirty="0"/>
              <a:t>耦合</a:t>
            </a:r>
            <a:br>
              <a:rPr lang="en-US" altLang="zh-CN" dirty="0"/>
            </a:br>
            <a:r>
              <a:rPr lang="en-US" altLang="zh-CN" dirty="0"/>
              <a:t>(</a:t>
            </a:r>
            <a:r>
              <a:rPr lang="zh-CN" altLang="en-US" dirty="0"/>
              <a:t>服务合约到其实现环境的耦合</a:t>
            </a:r>
            <a:r>
              <a:rPr lang="en-US" altLang="zh-CN" dirty="0"/>
              <a:t>)</a:t>
            </a:r>
            <a:endParaRPr lang="zh-CN" altLang="en-US" dirty="0"/>
          </a:p>
        </p:txBody>
      </p:sp>
      <p:sp>
        <p:nvSpPr>
          <p:cNvPr id="3" name="内容占位符 2"/>
          <p:cNvSpPr>
            <a:spLocks noGrp="1"/>
          </p:cNvSpPr>
          <p:nvPr>
            <p:ph idx="1"/>
          </p:nvPr>
        </p:nvSpPr>
        <p:spPr/>
        <p:txBody>
          <a:bodyPr/>
          <a:lstStyle/>
          <a:p>
            <a:r>
              <a:rPr lang="zh-CN" altLang="en-US" sz="2800" dirty="0"/>
              <a:t>任何一个物理上发布的服务都会包含或者需要包含除了核心服务逻辑之外的一系列实现技术和产品。如：</a:t>
            </a:r>
            <a:endParaRPr lang="en-US" altLang="zh-CN" sz="2800" dirty="0"/>
          </a:p>
          <a:p>
            <a:pPr lvl="1"/>
            <a:r>
              <a:rPr lang="zh-CN" altLang="en-US" sz="2400" dirty="0"/>
              <a:t>物理数据库和相关的物理数据模型</a:t>
            </a:r>
            <a:endParaRPr lang="en-US" altLang="zh-CN" sz="2400" dirty="0"/>
          </a:p>
          <a:p>
            <a:pPr lvl="1"/>
            <a:r>
              <a:rPr lang="zh-CN" altLang="en-US" sz="2400" dirty="0"/>
              <a:t>遗留系统</a:t>
            </a:r>
            <a:r>
              <a:rPr lang="en-US" altLang="zh-CN" sz="2400" dirty="0"/>
              <a:t>API</a:t>
            </a:r>
          </a:p>
          <a:p>
            <a:pPr lvl="1"/>
            <a:r>
              <a:rPr lang="zh-CN" altLang="en-US" sz="2400" dirty="0"/>
              <a:t>用户和群组账户以及相关的物理目录结构</a:t>
            </a:r>
            <a:endParaRPr lang="en-US" altLang="zh-CN" sz="2400" dirty="0"/>
          </a:p>
          <a:p>
            <a:pPr lvl="1"/>
            <a:r>
              <a:rPr lang="zh-CN" altLang="en-US" sz="2400" dirty="0"/>
              <a:t>物理服务器环境和相关的域名</a:t>
            </a:r>
            <a:endParaRPr lang="en-US" altLang="zh-CN" sz="2400" dirty="0"/>
          </a:p>
          <a:p>
            <a:pPr lvl="1"/>
            <a:r>
              <a:rPr lang="zh-CN" altLang="en-US" sz="2400" dirty="0"/>
              <a:t>文件名和网络路径</a:t>
            </a:r>
            <a:endParaRPr lang="en-US" altLang="zh-CN" sz="2400" dirty="0"/>
          </a:p>
          <a:p>
            <a:r>
              <a:rPr lang="zh-CN" altLang="en-US" sz="2800" dirty="0"/>
              <a:t>实现相关的特性和细节可能会在服务合约的内容中体现出来，导致“合约</a:t>
            </a:r>
            <a:r>
              <a:rPr lang="en-US" altLang="zh-CN" sz="2800" dirty="0"/>
              <a:t>-</a:t>
            </a:r>
            <a:r>
              <a:rPr lang="zh-CN" altLang="en-US" sz="2800" dirty="0"/>
              <a:t>实现”耦合</a:t>
            </a:r>
            <a:endParaRPr lang="en-US" altLang="zh-CN" sz="2800" dirty="0"/>
          </a:p>
        </p:txBody>
      </p:sp>
      <p:sp>
        <p:nvSpPr>
          <p:cNvPr id="5018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E1D8522-A23C-4D25-AEE5-2E63257BC4F1}" type="slidenum">
              <a:rPr lang="en-US" altLang="zh-CN" smtClean="0"/>
              <a:pPr/>
              <a:t>35</a:t>
            </a:fld>
            <a:endParaRPr lang="en-US" altLang="zh-CN"/>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合约</a:t>
            </a:r>
            <a:r>
              <a:rPr lang="en-US" altLang="zh-CN" dirty="0"/>
              <a:t>-</a:t>
            </a:r>
            <a:r>
              <a:rPr lang="zh-CN" altLang="en-US" dirty="0"/>
              <a:t>功能</a:t>
            </a:r>
            <a:r>
              <a:rPr lang="en-US" altLang="zh-CN" dirty="0"/>
              <a:t>”</a:t>
            </a:r>
            <a:r>
              <a:rPr lang="zh-CN" altLang="en-US" dirty="0"/>
              <a:t>耦合</a:t>
            </a:r>
            <a:br>
              <a:rPr lang="en-US" altLang="zh-CN" dirty="0"/>
            </a:br>
            <a:r>
              <a:rPr lang="en-US" altLang="zh-CN" dirty="0"/>
              <a:t>(</a:t>
            </a:r>
            <a:r>
              <a:rPr lang="zh-CN" altLang="en-US" dirty="0"/>
              <a:t>服务合约到其外部逻辑的耦合</a:t>
            </a:r>
            <a:r>
              <a:rPr lang="en-US" altLang="zh-CN" dirty="0"/>
              <a:t>)</a:t>
            </a:r>
            <a:endParaRPr lang="zh-CN" altLang="en-US" dirty="0"/>
          </a:p>
        </p:txBody>
      </p:sp>
      <p:sp>
        <p:nvSpPr>
          <p:cNvPr id="50179" name="内容占位符 2"/>
          <p:cNvSpPr>
            <a:spLocks noGrp="1"/>
          </p:cNvSpPr>
          <p:nvPr>
            <p:ph idx="1"/>
          </p:nvPr>
        </p:nvSpPr>
        <p:spPr/>
        <p:txBody>
          <a:bodyPr/>
          <a:lstStyle/>
          <a:p>
            <a:r>
              <a:rPr lang="zh-CN" altLang="en-US" dirty="0"/>
              <a:t>当由一个服务</a:t>
            </a:r>
            <a:r>
              <a:rPr lang="en-US" altLang="zh-CN" dirty="0"/>
              <a:t>(</a:t>
            </a:r>
            <a:r>
              <a:rPr lang="zh-CN" altLang="en-US" dirty="0"/>
              <a:t>或者更确切地说，一个服务操作</a:t>
            </a:r>
            <a:r>
              <a:rPr lang="en-US" altLang="zh-CN" dirty="0"/>
              <a:t>)</a:t>
            </a:r>
            <a:r>
              <a:rPr lang="zh-CN" altLang="en-US" dirty="0"/>
              <a:t>所封装的逻辑被专门设计为支持服边界之外的功能体的时候，就可能产生“合约</a:t>
            </a:r>
            <a:r>
              <a:rPr lang="en-US" altLang="zh-CN" dirty="0"/>
              <a:t>-</a:t>
            </a:r>
            <a:r>
              <a:rPr lang="zh-CN" altLang="en-US" dirty="0"/>
              <a:t>功能”耦合</a:t>
            </a:r>
            <a:endParaRPr lang="en-US" altLang="zh-CN" dirty="0"/>
          </a:p>
          <a:p>
            <a:r>
              <a:rPr lang="zh-CN" altLang="en-US" dirty="0"/>
              <a:t>常见的“合约</a:t>
            </a:r>
            <a:r>
              <a:rPr lang="en-US" altLang="zh-CN" dirty="0"/>
              <a:t>-</a:t>
            </a:r>
            <a:r>
              <a:rPr lang="zh-CN" altLang="en-US" dirty="0"/>
              <a:t>功能”耦合包括</a:t>
            </a:r>
            <a:endParaRPr lang="en-US" altLang="zh-CN" dirty="0"/>
          </a:p>
          <a:p>
            <a:pPr lvl="1"/>
            <a:r>
              <a:rPr lang="zh-CN" altLang="en-US" dirty="0"/>
              <a:t>上层进程耦合</a:t>
            </a:r>
            <a:endParaRPr lang="en-US" altLang="zh-CN" dirty="0"/>
          </a:p>
          <a:p>
            <a:pPr lvl="1"/>
            <a:r>
              <a:rPr lang="en-US" altLang="zh-CN" dirty="0"/>
              <a:t>"</a:t>
            </a:r>
            <a:r>
              <a:rPr lang="zh-CN" altLang="en-US" dirty="0"/>
              <a:t>服务</a:t>
            </a:r>
            <a:r>
              <a:rPr lang="en-US" altLang="zh-CN" dirty="0"/>
              <a:t>-</a:t>
            </a:r>
            <a:r>
              <a:rPr lang="zh-CN" altLang="en-US" dirty="0"/>
              <a:t>消费者</a:t>
            </a:r>
            <a:r>
              <a:rPr lang="en-US" altLang="zh-CN" dirty="0"/>
              <a:t>"</a:t>
            </a:r>
            <a:r>
              <a:rPr lang="zh-CN" altLang="en-US" dirty="0"/>
              <a:t>耦合</a:t>
            </a:r>
            <a:endParaRPr lang="en-US" altLang="zh-CN" dirty="0"/>
          </a:p>
          <a:p>
            <a:pPr lvl="1"/>
            <a:r>
              <a:rPr lang="zh-CN" altLang="en-US" dirty="0"/>
              <a:t>任务服务（特意的功能耦合）</a:t>
            </a:r>
          </a:p>
        </p:txBody>
      </p:sp>
      <p:sp>
        <p:nvSpPr>
          <p:cNvPr id="5120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1E8EF7A-CB73-4AF2-BD88-84D11EB0C475}" type="slidenum">
              <a:rPr lang="en-US" altLang="zh-CN" smtClean="0"/>
              <a:pPr/>
              <a:t>36</a:t>
            </a:fld>
            <a:endParaRPr lang="en-US" altLang="zh-C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3522004" y="1484784"/>
            <a:ext cx="5545451" cy="4065348"/>
          </a:xfrm>
          <a:prstGeom prst="rect">
            <a:avLst/>
          </a:prstGeom>
        </p:spPr>
      </p:pic>
      <p:sp>
        <p:nvSpPr>
          <p:cNvPr id="52226" name="标题 1"/>
          <p:cNvSpPr>
            <a:spLocks noGrp="1"/>
          </p:cNvSpPr>
          <p:nvPr>
            <p:ph type="title"/>
          </p:nvPr>
        </p:nvSpPr>
        <p:spPr/>
        <p:txBody>
          <a:bodyPr/>
          <a:lstStyle/>
          <a:p>
            <a:r>
              <a:rPr lang="zh-CN" altLang="en-US"/>
              <a:t>服务消费者耦合的类型</a:t>
            </a:r>
          </a:p>
        </p:txBody>
      </p:sp>
      <p:sp>
        <p:nvSpPr>
          <p:cNvPr id="3" name="内容占位符 2"/>
          <p:cNvSpPr>
            <a:spLocks noGrp="1"/>
          </p:cNvSpPr>
          <p:nvPr>
            <p:ph idx="1"/>
          </p:nvPr>
        </p:nvSpPr>
        <p:spPr>
          <a:xfrm>
            <a:off x="49723" y="1484784"/>
            <a:ext cx="3419872" cy="4792001"/>
          </a:xfrm>
        </p:spPr>
        <p:txBody>
          <a:bodyPr>
            <a:noAutofit/>
          </a:bodyPr>
          <a:lstStyle/>
          <a:p>
            <a:r>
              <a:rPr lang="en-US" altLang="zh-CN" sz="2800" dirty="0"/>
              <a:t>"</a:t>
            </a:r>
            <a:r>
              <a:rPr lang="zh-CN" altLang="en-US" sz="2800" dirty="0"/>
              <a:t>消费者</a:t>
            </a:r>
            <a:r>
              <a:rPr lang="en-US" altLang="zh-CN" sz="2800" dirty="0"/>
              <a:t>-</a:t>
            </a:r>
            <a:r>
              <a:rPr lang="zh-CN" altLang="en-US" sz="2800" dirty="0"/>
              <a:t>实现</a:t>
            </a:r>
            <a:r>
              <a:rPr lang="en-US" altLang="zh-CN" sz="2800" dirty="0"/>
              <a:t>"</a:t>
            </a:r>
            <a:r>
              <a:rPr lang="zh-CN" altLang="en-US" sz="2800" dirty="0"/>
              <a:t>耦合</a:t>
            </a:r>
            <a:endParaRPr lang="en-US" altLang="zh-CN" sz="2800" dirty="0"/>
          </a:p>
          <a:p>
            <a:pPr lvl="1"/>
            <a:r>
              <a:rPr lang="zh-CN" altLang="en-US" sz="2400" dirty="0"/>
              <a:t>绕过服务合约，直接使用其他入口访问服务</a:t>
            </a:r>
            <a:endParaRPr lang="en-US" altLang="zh-CN" sz="2400" dirty="0"/>
          </a:p>
          <a:p>
            <a:r>
              <a:rPr lang="en-US" altLang="zh-CN" sz="2800" dirty="0"/>
              <a:t>"</a:t>
            </a:r>
            <a:r>
              <a:rPr lang="zh-CN" altLang="en-US" sz="2800" dirty="0"/>
              <a:t>消费者</a:t>
            </a:r>
            <a:r>
              <a:rPr lang="en-US" altLang="zh-CN" sz="2800" dirty="0"/>
              <a:t>-</a:t>
            </a:r>
            <a:r>
              <a:rPr lang="zh-CN" altLang="en-US" sz="2800" dirty="0"/>
              <a:t>合约</a:t>
            </a:r>
            <a:r>
              <a:rPr lang="en-US" altLang="zh-CN" sz="2800" dirty="0"/>
              <a:t>"</a:t>
            </a:r>
            <a:r>
              <a:rPr lang="zh-CN" altLang="en-US" sz="2800" dirty="0"/>
              <a:t>耦合</a:t>
            </a:r>
            <a:endParaRPr lang="en-US" altLang="zh-CN" sz="2800" dirty="0"/>
          </a:p>
          <a:p>
            <a:pPr lvl="1"/>
            <a:r>
              <a:rPr lang="zh-CN" altLang="en-US" sz="2400" dirty="0"/>
              <a:t>本质上形成了松散耦合跨服务关系的基础</a:t>
            </a:r>
            <a:endParaRPr lang="en-US" altLang="zh-CN" sz="2400" dirty="0"/>
          </a:p>
        </p:txBody>
      </p:sp>
      <p:sp>
        <p:nvSpPr>
          <p:cNvPr id="5222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F82267F-0672-4F06-942E-988DD6F43502}" type="slidenum">
              <a:rPr lang="en-US" altLang="zh-CN" smtClean="0"/>
              <a:pPr/>
              <a:t>37</a:t>
            </a:fld>
            <a:endParaRPr lang="en-US" altLang="zh-CN"/>
          </a:p>
        </p:txBody>
      </p:sp>
      <p:sp>
        <p:nvSpPr>
          <p:cNvPr id="8" name="矩形 7"/>
          <p:cNvSpPr/>
          <p:nvPr/>
        </p:nvSpPr>
        <p:spPr>
          <a:xfrm>
            <a:off x="4139952" y="5654752"/>
            <a:ext cx="4320480" cy="830997"/>
          </a:xfrm>
          <a:prstGeom prst="rect">
            <a:avLst/>
          </a:prstGeom>
        </p:spPr>
        <p:txBody>
          <a:bodyPr wrap="square">
            <a:spAutoFit/>
          </a:bodyPr>
          <a:lstStyle/>
          <a:p>
            <a:r>
              <a:rPr lang="en-US" altLang="zh-CN" sz="1600" dirty="0"/>
              <a:t>Consumer programs can form various types of dependencies on service resources, either via the service contract or by circumventing it.</a:t>
            </a:r>
            <a:endParaRPr lang="zh-CN" altLang="en-US" sz="16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“消费者</a:t>
            </a:r>
            <a:r>
              <a:rPr lang="en-US" altLang="zh-CN" dirty="0"/>
              <a:t>-</a:t>
            </a:r>
            <a:r>
              <a:rPr lang="zh-CN" altLang="en-US" dirty="0"/>
              <a:t>合约”耦合</a:t>
            </a:r>
            <a:r>
              <a:rPr lang="en-US" altLang="zh-CN" dirty="0"/>
              <a:t>——</a:t>
            </a:r>
            <a:br>
              <a:rPr lang="en-US" altLang="zh-CN" dirty="0"/>
            </a:br>
            <a:r>
              <a:rPr lang="zh-CN" altLang="en-US" dirty="0"/>
              <a:t>直接和间接的耦合场景（</a:t>
            </a:r>
            <a:r>
              <a:rPr lang="en-US" altLang="zh-CN" dirty="0"/>
              <a:t>1/3</a:t>
            </a:r>
            <a:r>
              <a:rPr lang="zh-CN" altLang="en-US" dirty="0"/>
              <a:t>）</a:t>
            </a:r>
          </a:p>
        </p:txBody>
      </p:sp>
      <p:sp>
        <p:nvSpPr>
          <p:cNvPr id="5427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724CF96-0E0F-4FC6-B7B4-111395F7FA37}" type="slidenum">
              <a:rPr lang="en-US" altLang="zh-CN" smtClean="0"/>
              <a:pPr/>
              <a:t>38</a:t>
            </a:fld>
            <a:endParaRPr lang="en-US" altLang="zh-CN"/>
          </a:p>
        </p:txBody>
      </p:sp>
      <p:pic>
        <p:nvPicPr>
          <p:cNvPr id="3" name="图片 2"/>
          <p:cNvPicPr>
            <a:picLocks noChangeAspect="1"/>
          </p:cNvPicPr>
          <p:nvPr/>
        </p:nvPicPr>
        <p:blipFill>
          <a:blip r:embed="rId3"/>
          <a:stretch>
            <a:fillRect/>
          </a:stretch>
        </p:blipFill>
        <p:spPr>
          <a:xfrm>
            <a:off x="646919" y="2420888"/>
            <a:ext cx="7850157" cy="2295709"/>
          </a:xfrm>
          <a:prstGeom prst="rect">
            <a:avLst/>
          </a:prstGeom>
        </p:spPr>
      </p:pic>
      <p:sp>
        <p:nvSpPr>
          <p:cNvPr id="5" name="矩形 4"/>
          <p:cNvSpPr/>
          <p:nvPr/>
        </p:nvSpPr>
        <p:spPr>
          <a:xfrm>
            <a:off x="1961387" y="5239777"/>
            <a:ext cx="5221222" cy="830997"/>
          </a:xfrm>
          <a:prstGeom prst="rect">
            <a:avLst/>
          </a:prstGeom>
        </p:spPr>
        <p:txBody>
          <a:bodyPr wrap="square">
            <a:spAutoFit/>
          </a:bodyPr>
          <a:lstStyle/>
          <a:p>
            <a:r>
              <a:rPr lang="en-US" altLang="zh-CN" sz="1600" dirty="0"/>
              <a:t>When the service contract is technology coupled, its service consumers will be forced to become coupled to the service’s underlying technology</a:t>
            </a:r>
            <a:endParaRPr lang="zh-CN" altLang="en-US" sz="1600" dirty="0"/>
          </a:p>
        </p:txBody>
      </p:sp>
    </p:spTree>
    <p:extLst>
      <p:ext uri="{BB962C8B-B14F-4D97-AF65-F5344CB8AC3E}">
        <p14:creationId xmlns:p14="http://schemas.microsoft.com/office/powerpoint/2010/main" val="341115161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“消费者</a:t>
            </a:r>
            <a:r>
              <a:rPr lang="en-US" altLang="zh-CN" dirty="0"/>
              <a:t>-</a:t>
            </a:r>
            <a:r>
              <a:rPr lang="zh-CN" altLang="en-US" dirty="0"/>
              <a:t>合约”耦合</a:t>
            </a:r>
            <a:r>
              <a:rPr lang="en-US" altLang="zh-CN" dirty="0"/>
              <a:t>——</a:t>
            </a:r>
            <a:br>
              <a:rPr lang="en-US" altLang="zh-CN" dirty="0"/>
            </a:br>
            <a:r>
              <a:rPr lang="zh-CN" altLang="en-US" dirty="0"/>
              <a:t>直接和间接的耦合场景（</a:t>
            </a:r>
            <a:r>
              <a:rPr lang="en-US" altLang="zh-CN" dirty="0"/>
              <a:t>2/3</a:t>
            </a:r>
            <a:r>
              <a:rPr lang="zh-CN" altLang="en-US" dirty="0"/>
              <a:t>）</a:t>
            </a:r>
          </a:p>
        </p:txBody>
      </p:sp>
      <p:sp>
        <p:nvSpPr>
          <p:cNvPr id="5427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724CF96-0E0F-4FC6-B7B4-111395F7FA37}" type="slidenum">
              <a:rPr lang="en-US" altLang="zh-CN" smtClean="0"/>
              <a:pPr/>
              <a:t>39</a:t>
            </a:fld>
            <a:endParaRPr lang="en-US" altLang="zh-CN"/>
          </a:p>
        </p:txBody>
      </p:sp>
      <p:pic>
        <p:nvPicPr>
          <p:cNvPr id="6" name="图片 5"/>
          <p:cNvPicPr>
            <a:picLocks noChangeAspect="1"/>
          </p:cNvPicPr>
          <p:nvPr/>
        </p:nvPicPr>
        <p:blipFill>
          <a:blip r:embed="rId3"/>
          <a:stretch>
            <a:fillRect/>
          </a:stretch>
        </p:blipFill>
        <p:spPr>
          <a:xfrm>
            <a:off x="700583" y="2204864"/>
            <a:ext cx="8062417" cy="2479309"/>
          </a:xfrm>
          <a:prstGeom prst="rect">
            <a:avLst/>
          </a:prstGeom>
        </p:spPr>
      </p:pic>
      <p:sp>
        <p:nvSpPr>
          <p:cNvPr id="8" name="矩形 7"/>
          <p:cNvSpPr/>
          <p:nvPr/>
        </p:nvSpPr>
        <p:spPr>
          <a:xfrm>
            <a:off x="1691680" y="4993148"/>
            <a:ext cx="5976664" cy="830997"/>
          </a:xfrm>
          <a:prstGeom prst="rect">
            <a:avLst/>
          </a:prstGeom>
        </p:spPr>
        <p:txBody>
          <a:bodyPr wrap="square">
            <a:spAutoFit/>
          </a:bodyPr>
          <a:lstStyle/>
          <a:p>
            <a:r>
              <a:rPr lang="en-US" altLang="zh-CN" sz="1600" dirty="0"/>
              <a:t>When the service contract is functionally coupled, its service consumers are required to couple to the service’s underlying functional dependencies</a:t>
            </a:r>
            <a:endParaRPr lang="zh-CN" altLang="en-US" sz="1600" dirty="0"/>
          </a:p>
        </p:txBody>
      </p:sp>
    </p:spTree>
    <p:extLst>
      <p:ext uri="{BB962C8B-B14F-4D97-AF65-F5344CB8AC3E}">
        <p14:creationId xmlns:p14="http://schemas.microsoft.com/office/powerpoint/2010/main" val="226031850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“消费者</a:t>
            </a:r>
            <a:r>
              <a:rPr lang="en-US" altLang="zh-CN" dirty="0"/>
              <a:t>-</a:t>
            </a:r>
            <a:r>
              <a:rPr lang="zh-CN" altLang="en-US" dirty="0"/>
              <a:t>合约”耦合</a:t>
            </a:r>
            <a:r>
              <a:rPr lang="en-US" altLang="zh-CN" dirty="0"/>
              <a:t>——</a:t>
            </a:r>
            <a:br>
              <a:rPr lang="en-US" altLang="zh-CN" dirty="0"/>
            </a:br>
            <a:r>
              <a:rPr lang="zh-CN" altLang="en-US" dirty="0"/>
              <a:t>直接和间接的耦合场景（</a:t>
            </a:r>
            <a:r>
              <a:rPr lang="en-US" altLang="zh-CN" dirty="0"/>
              <a:t>3/3</a:t>
            </a:r>
            <a:r>
              <a:rPr lang="zh-CN" altLang="en-US" dirty="0"/>
              <a:t>）</a:t>
            </a:r>
          </a:p>
        </p:txBody>
      </p:sp>
      <p:sp>
        <p:nvSpPr>
          <p:cNvPr id="5427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724CF96-0E0F-4FC6-B7B4-111395F7FA37}" type="slidenum">
              <a:rPr lang="en-US" altLang="zh-CN" smtClean="0"/>
              <a:pPr/>
              <a:t>40</a:t>
            </a:fld>
            <a:endParaRPr lang="en-US" altLang="zh-CN"/>
          </a:p>
        </p:txBody>
      </p:sp>
      <p:sp>
        <p:nvSpPr>
          <p:cNvPr id="7" name="矩形 6"/>
          <p:cNvSpPr/>
          <p:nvPr/>
        </p:nvSpPr>
        <p:spPr>
          <a:xfrm>
            <a:off x="1139967" y="4869160"/>
            <a:ext cx="6787864" cy="1323439"/>
          </a:xfrm>
          <a:prstGeom prst="rect">
            <a:avLst/>
          </a:prstGeom>
        </p:spPr>
        <p:txBody>
          <a:bodyPr wrap="square">
            <a:spAutoFit/>
          </a:bodyPr>
          <a:lstStyle/>
          <a:p>
            <a:r>
              <a:rPr lang="zh-CN" altLang="en-US" sz="1600" dirty="0"/>
              <a:t>When the service contract is derived from parts of the service</a:t>
            </a:r>
            <a:r>
              <a:rPr lang="en-US" altLang="zh-CN" sz="1600" dirty="0"/>
              <a:t>’</a:t>
            </a:r>
            <a:r>
              <a:rPr lang="zh-CN" altLang="en-US" sz="1600" dirty="0"/>
              <a:t>s implementation resources, its consumers will also become coupled to those parts of the implementation environment. This is especially undesirable when the resources do not belong exclusively to the service but are instead shared parts of the overall architecture.</a:t>
            </a:r>
          </a:p>
        </p:txBody>
      </p:sp>
      <p:pic>
        <p:nvPicPr>
          <p:cNvPr id="4" name="图片 3"/>
          <p:cNvPicPr>
            <a:picLocks noChangeAspect="1"/>
          </p:cNvPicPr>
          <p:nvPr/>
        </p:nvPicPr>
        <p:blipFill>
          <a:blip r:embed="rId3"/>
          <a:stretch>
            <a:fillRect/>
          </a:stretch>
        </p:blipFill>
        <p:spPr>
          <a:xfrm>
            <a:off x="447675" y="2132310"/>
            <a:ext cx="8315325" cy="2400300"/>
          </a:xfrm>
          <a:prstGeom prst="rect">
            <a:avLst/>
          </a:prstGeom>
        </p:spPr>
      </p:pic>
    </p:spTree>
    <p:extLst>
      <p:ext uri="{BB962C8B-B14F-4D97-AF65-F5344CB8AC3E}">
        <p14:creationId xmlns:p14="http://schemas.microsoft.com/office/powerpoint/2010/main" val="332281215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“消费者</a:t>
            </a:r>
            <a:r>
              <a:rPr lang="en-US" altLang="zh-CN" dirty="0"/>
              <a:t>-</a:t>
            </a:r>
            <a:r>
              <a:rPr lang="zh-CN" altLang="en-US" dirty="0"/>
              <a:t>合约”耦合</a:t>
            </a:r>
            <a:r>
              <a:rPr lang="en-US" altLang="zh-CN" dirty="0"/>
              <a:t>——</a:t>
            </a:r>
            <a:br>
              <a:rPr lang="en-US" altLang="zh-CN" dirty="0"/>
            </a:br>
            <a:r>
              <a:rPr lang="zh-CN" altLang="en-US" dirty="0"/>
              <a:t>合约集中化和技术耦合</a:t>
            </a:r>
          </a:p>
        </p:txBody>
      </p:sp>
      <p:sp>
        <p:nvSpPr>
          <p:cNvPr id="55299" name="内容占位符 2"/>
          <p:cNvSpPr>
            <a:spLocks noGrp="1"/>
          </p:cNvSpPr>
          <p:nvPr>
            <p:ph sz="half" idx="1"/>
          </p:nvPr>
        </p:nvSpPr>
        <p:spPr>
          <a:xfrm>
            <a:off x="457201" y="1600200"/>
            <a:ext cx="2818656" cy="4530725"/>
          </a:xfrm>
        </p:spPr>
        <p:txBody>
          <a:bodyPr>
            <a:normAutofit fontScale="92500" lnSpcReduction="10000"/>
          </a:bodyPr>
          <a:lstStyle/>
          <a:p>
            <a:r>
              <a:rPr lang="zh-CN" altLang="en-US" dirty="0"/>
              <a:t>采用合约集中化，将对服务的访问控制在合约内</a:t>
            </a:r>
            <a:endParaRPr lang="en-US" altLang="zh-CN" dirty="0"/>
          </a:p>
          <a:p>
            <a:r>
              <a:rPr lang="zh-CN" altLang="en-US" dirty="0"/>
              <a:t>没有使用类似</a:t>
            </a:r>
            <a:r>
              <a:rPr lang="en-US" altLang="zh-CN" dirty="0"/>
              <a:t>Web Service </a:t>
            </a:r>
            <a:r>
              <a:rPr lang="zh-CN" altLang="en-US" dirty="0"/>
              <a:t>的开放技术平台的情况下，合约集中化可能会导致贯穿整个企业的技术耦合的产生</a:t>
            </a:r>
          </a:p>
        </p:txBody>
      </p:sp>
      <p:sp>
        <p:nvSpPr>
          <p:cNvPr id="55300"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D0C0C78-CE02-4382-B3C0-6109C573ABAE}" type="slidenum">
              <a:rPr lang="en-US" altLang="zh-CN" smtClean="0"/>
              <a:pPr/>
              <a:t>41</a:t>
            </a:fld>
            <a:endParaRPr lang="en-US" altLang="zh-CN"/>
          </a:p>
        </p:txBody>
      </p:sp>
      <p:pic>
        <p:nvPicPr>
          <p:cNvPr id="7" name="图片 6"/>
          <p:cNvPicPr>
            <a:picLocks noChangeAspect="1"/>
          </p:cNvPicPr>
          <p:nvPr/>
        </p:nvPicPr>
        <p:blipFill>
          <a:blip r:embed="rId3"/>
          <a:stretch>
            <a:fillRect/>
          </a:stretch>
        </p:blipFill>
        <p:spPr>
          <a:xfrm>
            <a:off x="3892225" y="1323308"/>
            <a:ext cx="4896544" cy="4303723"/>
          </a:xfrm>
          <a:prstGeom prst="rect">
            <a:avLst/>
          </a:prstGeom>
        </p:spPr>
      </p:pic>
      <p:sp>
        <p:nvSpPr>
          <p:cNvPr id="8" name="矩形 7"/>
          <p:cNvSpPr/>
          <p:nvPr/>
        </p:nvSpPr>
        <p:spPr>
          <a:xfrm>
            <a:off x="3401616" y="5627031"/>
            <a:ext cx="5742384" cy="1077218"/>
          </a:xfrm>
          <a:prstGeom prst="rect">
            <a:avLst/>
          </a:prstGeom>
        </p:spPr>
        <p:txBody>
          <a:bodyPr wrap="square">
            <a:spAutoFit/>
          </a:bodyPr>
          <a:lstStyle/>
          <a:p>
            <a:r>
              <a:rPr lang="zh-CN" altLang="en-US" sz="1600" dirty="0"/>
              <a:t>The figure originally displayed in the Contract-to-Technology Coupling section is revisited to show how the tight technology coupling of the service contract is passed on to a service consumer</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“消费者</a:t>
            </a:r>
            <a:r>
              <a:rPr lang="en-US" altLang="zh-CN" dirty="0"/>
              <a:t>-</a:t>
            </a:r>
            <a:r>
              <a:rPr lang="zh-CN" altLang="en-US" dirty="0"/>
              <a:t>合约”耦合</a:t>
            </a:r>
            <a:r>
              <a:rPr lang="en-US" altLang="zh-CN" dirty="0"/>
              <a:t>——</a:t>
            </a:r>
            <a:br>
              <a:rPr lang="en-US" altLang="zh-CN" dirty="0"/>
            </a:br>
            <a:r>
              <a:rPr lang="zh-CN" altLang="en-US" dirty="0"/>
              <a:t>其他</a:t>
            </a:r>
          </a:p>
        </p:txBody>
      </p:sp>
      <p:sp>
        <p:nvSpPr>
          <p:cNvPr id="56323" name="内容占位符 2"/>
          <p:cNvSpPr>
            <a:spLocks noGrp="1"/>
          </p:cNvSpPr>
          <p:nvPr>
            <p:ph idx="1"/>
          </p:nvPr>
        </p:nvSpPr>
        <p:spPr/>
        <p:txBody>
          <a:bodyPr/>
          <a:lstStyle/>
          <a:p>
            <a:r>
              <a:rPr lang="zh-CN" altLang="en-US" dirty="0"/>
              <a:t>验证耦合 </a:t>
            </a:r>
            <a:r>
              <a:rPr lang="en-US" altLang="zh-CN" dirty="0"/>
              <a:t>(validation coupling)</a:t>
            </a:r>
          </a:p>
          <a:p>
            <a:pPr lvl="1"/>
            <a:r>
              <a:rPr lang="zh-CN" altLang="en-US" dirty="0"/>
              <a:t>消费者程序遵循技术服务合约中的数据模型</a:t>
            </a:r>
            <a:endParaRPr lang="en-US" altLang="zh-CN" dirty="0"/>
          </a:p>
          <a:p>
            <a:pPr lvl="1"/>
            <a:r>
              <a:rPr lang="zh-CN" altLang="en-US" dirty="0"/>
              <a:t>如采用</a:t>
            </a:r>
            <a:r>
              <a:rPr lang="en-US" altLang="zh-CN" dirty="0"/>
              <a:t>Web Service</a:t>
            </a:r>
            <a:r>
              <a:rPr lang="zh-CN" altLang="en-US" dirty="0"/>
              <a:t>技术，验证耦合表现为</a:t>
            </a:r>
            <a:r>
              <a:rPr lang="en-US" altLang="zh-CN" dirty="0"/>
              <a:t>XML Schema</a:t>
            </a:r>
            <a:r>
              <a:rPr lang="zh-CN" altLang="en-US" dirty="0"/>
              <a:t>表示的输入输出消息的复杂类型</a:t>
            </a:r>
            <a:endParaRPr lang="en-US" altLang="zh-CN" dirty="0"/>
          </a:p>
          <a:p>
            <a:pPr lvl="1"/>
            <a:r>
              <a:rPr lang="en-US" altLang="zh-CN" dirty="0"/>
              <a:t>XML Schema</a:t>
            </a:r>
            <a:r>
              <a:rPr lang="zh-CN" altLang="en-US" dirty="0"/>
              <a:t>建立数据类型、约束、基于信息的大小和复杂度的验证规则</a:t>
            </a:r>
            <a:endParaRPr lang="en-US" altLang="zh-CN" dirty="0"/>
          </a:p>
          <a:p>
            <a:r>
              <a:rPr lang="zh-CN" altLang="en-US" dirty="0"/>
              <a:t>服务组合</a:t>
            </a:r>
            <a:endParaRPr lang="en-US" altLang="zh-CN" dirty="0"/>
          </a:p>
          <a:p>
            <a:pPr lvl="1"/>
            <a:r>
              <a:rPr lang="zh-CN" altLang="en-US" dirty="0"/>
              <a:t>在服务组合中的耦合传递</a:t>
            </a:r>
            <a:endParaRPr lang="en-US" altLang="zh-CN" dirty="0"/>
          </a:p>
        </p:txBody>
      </p:sp>
      <p:sp>
        <p:nvSpPr>
          <p:cNvPr id="5632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68E3406-9C2E-4464-8A93-773C3FF6A6D0}" type="slidenum">
              <a:rPr lang="en-US" altLang="zh-CN" smtClean="0"/>
              <a:pPr/>
              <a:t>42</a:t>
            </a:fld>
            <a:endParaRPr lang="en-US" altLang="zh-CN"/>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dirty="0"/>
              <a:t>服务松散耦合与服务设计</a:t>
            </a:r>
          </a:p>
        </p:txBody>
      </p:sp>
      <p:sp>
        <p:nvSpPr>
          <p:cNvPr id="58371" name="内容占位符 2"/>
          <p:cNvSpPr>
            <a:spLocks noGrp="1"/>
          </p:cNvSpPr>
          <p:nvPr>
            <p:ph idx="1"/>
          </p:nvPr>
        </p:nvSpPr>
        <p:spPr/>
        <p:txBody>
          <a:bodyPr/>
          <a:lstStyle/>
          <a:p>
            <a:r>
              <a:rPr lang="zh-CN" altLang="en-US" dirty="0"/>
              <a:t>耦合与面向服务</a:t>
            </a:r>
            <a:endParaRPr lang="en-US" altLang="zh-CN" dirty="0"/>
          </a:p>
          <a:p>
            <a:pPr lvl="1"/>
            <a:r>
              <a:rPr lang="zh-CN" altLang="en-US" dirty="0"/>
              <a:t>“积极耦合”</a:t>
            </a:r>
            <a:r>
              <a:rPr lang="en-US" altLang="zh-CN" dirty="0"/>
              <a:t>vs.</a:t>
            </a:r>
            <a:r>
              <a:rPr lang="zh-CN" altLang="en-US" dirty="0"/>
              <a:t>“消极耦合”</a:t>
            </a:r>
            <a:endParaRPr lang="en-US" altLang="zh-CN" dirty="0"/>
          </a:p>
          <a:p>
            <a:r>
              <a:rPr lang="zh-CN" altLang="en-US" dirty="0"/>
              <a:t>服务松散耦合与粒度</a:t>
            </a:r>
            <a:endParaRPr lang="en-US" altLang="zh-CN" dirty="0"/>
          </a:p>
          <a:p>
            <a:pPr lvl="1"/>
            <a:r>
              <a:rPr lang="zh-CN" altLang="en-US" dirty="0"/>
              <a:t>粗粒度 </a:t>
            </a:r>
            <a:r>
              <a:rPr lang="en-US" altLang="zh-CN" dirty="0"/>
              <a:t>vs. </a:t>
            </a:r>
            <a:r>
              <a:rPr lang="zh-CN" altLang="en-US" dirty="0"/>
              <a:t>细粒度</a:t>
            </a:r>
            <a:endParaRPr lang="en-US" altLang="zh-CN" dirty="0"/>
          </a:p>
          <a:p>
            <a:r>
              <a:rPr lang="zh-CN" altLang="en-US" dirty="0"/>
              <a:t>耦合与服务模型</a:t>
            </a:r>
            <a:endParaRPr lang="en-US" altLang="zh-CN" dirty="0"/>
          </a:p>
          <a:p>
            <a:pPr lvl="1"/>
            <a:r>
              <a:rPr lang="zh-CN" altLang="en-US" dirty="0"/>
              <a:t>实体服务 、应用服务 、</a:t>
            </a:r>
            <a:r>
              <a:rPr lang="en-US" altLang="zh-CN" dirty="0"/>
              <a:t> </a:t>
            </a:r>
            <a:r>
              <a:rPr lang="zh-CN" altLang="en-US" dirty="0"/>
              <a:t>任务服务 、</a:t>
            </a:r>
            <a:r>
              <a:rPr lang="en-US" altLang="zh-CN" dirty="0"/>
              <a:t> </a:t>
            </a:r>
            <a:r>
              <a:rPr lang="zh-CN" altLang="en-US" dirty="0"/>
              <a:t>编排服务</a:t>
            </a:r>
            <a:endParaRPr lang="en-US" altLang="zh-CN" dirty="0"/>
          </a:p>
          <a:p>
            <a:r>
              <a:rPr lang="zh-CN" altLang="en-US" dirty="0"/>
              <a:t>服务松散耦合与其他原则</a:t>
            </a:r>
          </a:p>
        </p:txBody>
      </p:sp>
      <p:sp>
        <p:nvSpPr>
          <p:cNvPr id="5837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D5DA3CF3-F193-443B-8397-11B158E865B5}" type="slidenum">
              <a:rPr lang="en-US" altLang="zh-CN" smtClean="0"/>
              <a:pPr/>
              <a:t>43</a:t>
            </a:fld>
            <a:endParaRPr lang="en-US" altLang="zh-CN"/>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a:t>耦合与面向服务 （</a:t>
            </a:r>
            <a:r>
              <a:rPr lang="en-US" altLang="zh-CN"/>
              <a:t>1/2</a:t>
            </a:r>
            <a:r>
              <a:rPr lang="zh-CN" altLang="en-US"/>
              <a:t>）</a:t>
            </a:r>
          </a:p>
        </p:txBody>
      </p:sp>
      <p:sp>
        <p:nvSpPr>
          <p:cNvPr id="59396"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E5C9D28-D028-47E3-A6E2-EA9CC849AD8E}" type="slidenum">
              <a:rPr lang="en-US" altLang="zh-CN" smtClean="0"/>
              <a:pPr/>
              <a:t>44</a:t>
            </a:fld>
            <a:endParaRPr lang="en-US" altLang="zh-CN"/>
          </a:p>
        </p:txBody>
      </p:sp>
      <p:pic>
        <p:nvPicPr>
          <p:cNvPr id="6" name="图片 5"/>
          <p:cNvPicPr>
            <a:picLocks noChangeAspect="1"/>
          </p:cNvPicPr>
          <p:nvPr/>
        </p:nvPicPr>
        <p:blipFill>
          <a:blip r:embed="rId3"/>
          <a:stretch>
            <a:fillRect/>
          </a:stretch>
        </p:blipFill>
        <p:spPr>
          <a:xfrm>
            <a:off x="1547664" y="1052736"/>
            <a:ext cx="6287344" cy="4831801"/>
          </a:xfrm>
          <a:prstGeom prst="rect">
            <a:avLst/>
          </a:prstGeom>
        </p:spPr>
      </p:pic>
      <p:sp>
        <p:nvSpPr>
          <p:cNvPr id="8" name="矩形 7"/>
          <p:cNvSpPr/>
          <p:nvPr/>
        </p:nvSpPr>
        <p:spPr>
          <a:xfrm>
            <a:off x="304800" y="5772798"/>
            <a:ext cx="9023697" cy="584775"/>
          </a:xfrm>
          <a:prstGeom prst="rect">
            <a:avLst/>
          </a:prstGeom>
        </p:spPr>
        <p:txBody>
          <a:bodyPr wrap="square">
            <a:spAutoFit/>
          </a:bodyPr>
          <a:lstStyle/>
          <a:p>
            <a:r>
              <a:rPr lang="en-US" altLang="zh-CN" sz="1600" dirty="0"/>
              <a:t>Through Contract Centralization we place the service contract front and center within a service-oriented architecture. This is why much of service-orientation is focused on contract design.</a:t>
            </a:r>
            <a:endParaRPr lang="zh-CN" altLang="en-US" sz="1600"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a:t>耦合与面向服务 （</a:t>
            </a:r>
            <a:r>
              <a:rPr lang="en-US" altLang="zh-CN"/>
              <a:t>2/2</a:t>
            </a:r>
            <a:r>
              <a:rPr lang="zh-CN" altLang="en-US"/>
              <a:t>）</a:t>
            </a:r>
          </a:p>
        </p:txBody>
      </p:sp>
      <p:graphicFrame>
        <p:nvGraphicFramePr>
          <p:cNvPr id="19" name="内容占位符 18"/>
          <p:cNvGraphicFramePr>
            <a:graphicFrameLocks noGrp="1"/>
          </p:cNvGraphicFramePr>
          <p:nvPr>
            <p:ph idx="1"/>
            <p:extLst>
              <p:ext uri="{D42A27DB-BD31-4B8C-83A1-F6EECF244321}">
                <p14:modId xmlns:p14="http://schemas.microsoft.com/office/powerpoint/2010/main" val="1380729853"/>
              </p:ext>
            </p:extLst>
          </p:nvPr>
        </p:nvGraphicFramePr>
        <p:xfrm>
          <a:off x="179512" y="1196752"/>
          <a:ext cx="8784976" cy="5156200"/>
        </p:xfrm>
        <a:graphic>
          <a:graphicData uri="http://schemas.openxmlformats.org/drawingml/2006/table">
            <a:tbl>
              <a:tblPr firstRow="1" bandRow="1">
                <a:tableStyleId>{5C22544A-7EE6-4342-B048-85BDC9FD1C3A}</a:tableStyleId>
              </a:tblPr>
              <a:tblGrid>
                <a:gridCol w="1671336">
                  <a:extLst>
                    <a:ext uri="{9D8B030D-6E8A-4147-A177-3AD203B41FA5}">
                      <a16:colId xmlns:a16="http://schemas.microsoft.com/office/drawing/2014/main" val="20000"/>
                    </a:ext>
                  </a:extLst>
                </a:gridCol>
                <a:gridCol w="1295608">
                  <a:extLst>
                    <a:ext uri="{9D8B030D-6E8A-4147-A177-3AD203B41FA5}">
                      <a16:colId xmlns:a16="http://schemas.microsoft.com/office/drawing/2014/main" val="20001"/>
                    </a:ext>
                  </a:extLst>
                </a:gridCol>
                <a:gridCol w="5818032">
                  <a:extLst>
                    <a:ext uri="{9D8B030D-6E8A-4147-A177-3AD203B41FA5}">
                      <a16:colId xmlns:a16="http://schemas.microsoft.com/office/drawing/2014/main" val="20002"/>
                    </a:ext>
                  </a:extLst>
                </a:gridCol>
              </a:tblGrid>
              <a:tr h="370840">
                <a:tc>
                  <a:txBody>
                    <a:bodyPr/>
                    <a:lstStyle/>
                    <a:p>
                      <a:pPr algn="ctr"/>
                      <a:r>
                        <a:rPr lang="en-US" altLang="zh-CN" sz="1600" b="1" i="0" u="none" strike="noStrike" kern="1200" baseline="0" dirty="0">
                          <a:solidFill>
                            <a:schemeClr val="lt1"/>
                          </a:solidFill>
                          <a:latin typeface="+mn-lt"/>
                          <a:ea typeface="+mn-ea"/>
                          <a:cs typeface="+mn-cs"/>
                        </a:rPr>
                        <a:t>Coupling Type</a:t>
                      </a:r>
                      <a:endParaRPr lang="zh-CN" altLang="en-US" sz="1600" dirty="0"/>
                    </a:p>
                  </a:txBody>
                  <a:tcPr anchor="ctr"/>
                </a:tc>
                <a:tc>
                  <a:txBody>
                    <a:bodyPr/>
                    <a:lstStyle/>
                    <a:p>
                      <a:pPr algn="ctr"/>
                      <a:r>
                        <a:rPr lang="en-US" altLang="zh-CN" sz="1600" b="1" i="0" u="none" strike="noStrike" kern="1200" baseline="0" dirty="0">
                          <a:solidFill>
                            <a:schemeClr val="lt1"/>
                          </a:solidFill>
                          <a:latin typeface="+mn-lt"/>
                          <a:ea typeface="+mn-ea"/>
                          <a:cs typeface="+mn-cs"/>
                        </a:rPr>
                        <a:t>Negative? </a:t>
                      </a:r>
                      <a:endParaRPr lang="zh-CN" altLang="en-US" sz="16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i="0" u="none" strike="noStrike" kern="1200" baseline="0" dirty="0">
                          <a:solidFill>
                            <a:schemeClr val="lt1"/>
                          </a:solidFill>
                          <a:latin typeface="+mn-lt"/>
                          <a:ea typeface="+mn-ea"/>
                          <a:cs typeface="+mn-cs"/>
                        </a:rPr>
                        <a:t>Note</a:t>
                      </a:r>
                      <a:endParaRPr lang="zh-CN" altLang="en-US" sz="1600" dirty="0"/>
                    </a:p>
                  </a:txBody>
                  <a:tcPr anchor="ctr"/>
                </a:tc>
                <a:extLst>
                  <a:ext uri="{0D108BD9-81ED-4DB2-BD59-A6C34878D82A}">
                    <a16:rowId xmlns:a16="http://schemas.microsoft.com/office/drawing/2014/main" val="10000"/>
                  </a:ext>
                </a:extLst>
              </a:tr>
              <a:tr h="370840">
                <a:tc>
                  <a:txBody>
                    <a:bodyPr/>
                    <a:lstStyle/>
                    <a:p>
                      <a:r>
                        <a:rPr lang="en-US" altLang="zh-CN" sz="1600" b="0" i="0" u="none" strike="noStrike" kern="1200" baseline="0" dirty="0">
                          <a:solidFill>
                            <a:schemeClr val="dk1"/>
                          </a:solidFill>
                          <a:latin typeface="+mn-lt"/>
                          <a:ea typeface="+mn-ea"/>
                          <a:cs typeface="+mn-cs"/>
                        </a:rPr>
                        <a:t>Logic-to-</a:t>
                      </a:r>
                    </a:p>
                    <a:p>
                      <a:r>
                        <a:rPr lang="en-US" altLang="zh-CN" sz="1600" b="0" i="0" u="none" strike="noStrike" kern="1200" baseline="0" dirty="0">
                          <a:solidFill>
                            <a:schemeClr val="dk1"/>
                          </a:solidFill>
                          <a:latin typeface="+mn-lt"/>
                          <a:ea typeface="+mn-ea"/>
                          <a:cs typeface="+mn-cs"/>
                        </a:rPr>
                        <a:t>Contract</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No</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Tight coupling of the service logic to the contract is acceptable and supported by the Standardized Service Contract principle.</a:t>
                      </a:r>
                      <a:endParaRPr lang="zh-CN" altLang="en-US" sz="1600" dirty="0"/>
                    </a:p>
                  </a:txBody>
                  <a:tcPr anchor="ctr"/>
                </a:tc>
                <a:extLst>
                  <a:ext uri="{0D108BD9-81ED-4DB2-BD59-A6C34878D82A}">
                    <a16:rowId xmlns:a16="http://schemas.microsoft.com/office/drawing/2014/main" val="10001"/>
                  </a:ext>
                </a:extLst>
              </a:tr>
              <a:tr h="370840">
                <a:tc>
                  <a:txBody>
                    <a:bodyPr/>
                    <a:lstStyle/>
                    <a:p>
                      <a:r>
                        <a:rPr lang="en-US" altLang="zh-CN" sz="1600" b="0" i="0" u="none" strike="noStrike" kern="1200" baseline="0" dirty="0">
                          <a:solidFill>
                            <a:schemeClr val="dk1"/>
                          </a:solidFill>
                          <a:latin typeface="+mn-lt"/>
                          <a:ea typeface="+mn-ea"/>
                          <a:cs typeface="+mn-cs"/>
                        </a:rPr>
                        <a:t>Contract-to-</a:t>
                      </a:r>
                    </a:p>
                    <a:p>
                      <a:r>
                        <a:rPr lang="en-US" altLang="zh-CN" sz="1600" b="0" i="0" u="none" strike="noStrike" kern="1200" baseline="0" dirty="0">
                          <a:solidFill>
                            <a:schemeClr val="dk1"/>
                          </a:solidFill>
                          <a:latin typeface="+mn-lt"/>
                          <a:ea typeface="+mn-ea"/>
                          <a:cs typeface="+mn-cs"/>
                        </a:rPr>
                        <a:t>Logic</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Yes</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This form of coupling is not recommended and can be avoided through the use of “contract first” design approaches.</a:t>
                      </a:r>
                      <a:endParaRPr lang="zh-CN" altLang="en-US" sz="1600" dirty="0"/>
                    </a:p>
                  </a:txBody>
                  <a:tcPr anchor="ctr"/>
                </a:tc>
                <a:extLst>
                  <a:ext uri="{0D108BD9-81ED-4DB2-BD59-A6C34878D82A}">
                    <a16:rowId xmlns:a16="http://schemas.microsoft.com/office/drawing/2014/main" val="10002"/>
                  </a:ext>
                </a:extLst>
              </a:tr>
              <a:tr h="370840">
                <a:tc>
                  <a:txBody>
                    <a:bodyPr/>
                    <a:lstStyle/>
                    <a:p>
                      <a:r>
                        <a:rPr lang="en-US" altLang="zh-CN" sz="1600" b="0" i="0" u="none" strike="noStrike" kern="1200" baseline="0" dirty="0">
                          <a:solidFill>
                            <a:schemeClr val="dk1"/>
                          </a:solidFill>
                          <a:latin typeface="+mn-lt"/>
                          <a:ea typeface="+mn-ea"/>
                          <a:cs typeface="+mn-cs"/>
                        </a:rPr>
                        <a:t>Contract-to-</a:t>
                      </a:r>
                    </a:p>
                    <a:p>
                      <a:r>
                        <a:rPr lang="en-US" altLang="zh-CN" sz="1600" b="0" i="0" u="none" strike="noStrike" kern="1200" baseline="0" dirty="0">
                          <a:solidFill>
                            <a:schemeClr val="dk1"/>
                          </a:solidFill>
                          <a:latin typeface="+mn-lt"/>
                          <a:ea typeface="+mn-ea"/>
                          <a:cs typeface="+mn-cs"/>
                        </a:rPr>
                        <a:t>Technology</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Yes</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The service contract is ideally decoupled from vendor technology, as supported by the use of open XML and Web services standards.</a:t>
                      </a:r>
                      <a:endParaRPr lang="zh-CN" altLang="en-US" sz="1600" dirty="0"/>
                    </a:p>
                  </a:txBody>
                  <a:tcPr anchor="ctr"/>
                </a:tc>
                <a:extLst>
                  <a:ext uri="{0D108BD9-81ED-4DB2-BD59-A6C34878D82A}">
                    <a16:rowId xmlns:a16="http://schemas.microsoft.com/office/drawing/2014/main" val="10003"/>
                  </a:ext>
                </a:extLst>
              </a:tr>
              <a:tr h="370840">
                <a:tc>
                  <a:txBody>
                    <a:bodyPr/>
                    <a:lstStyle/>
                    <a:p>
                      <a:r>
                        <a:rPr lang="en-US" altLang="zh-CN" sz="1600" b="0" i="0" u="none" strike="noStrike" kern="1200" baseline="0" dirty="0">
                          <a:solidFill>
                            <a:schemeClr val="dk1"/>
                          </a:solidFill>
                          <a:latin typeface="+mn-lt"/>
                          <a:ea typeface="+mn-ea"/>
                          <a:cs typeface="+mn-cs"/>
                        </a:rPr>
                        <a:t>Contract-to-</a:t>
                      </a:r>
                    </a:p>
                    <a:p>
                      <a:r>
                        <a:rPr lang="en-US" altLang="zh-CN" sz="1600" b="0" i="0" u="none" strike="noStrike" kern="1200" baseline="0" dirty="0">
                          <a:solidFill>
                            <a:schemeClr val="dk1"/>
                          </a:solidFill>
                          <a:latin typeface="+mn-lt"/>
                          <a:ea typeface="+mn-ea"/>
                          <a:cs typeface="+mn-cs"/>
                        </a:rPr>
                        <a:t>Functional</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Yes</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This negative coupling type is avoidable through the application of the Service Reusability principle but may still be required for certain types of services.</a:t>
                      </a:r>
                      <a:endParaRPr lang="zh-CN" altLang="en-US" sz="1600" dirty="0"/>
                    </a:p>
                  </a:txBody>
                  <a:tcPr anchor="ctr"/>
                </a:tc>
                <a:extLst>
                  <a:ext uri="{0D108BD9-81ED-4DB2-BD59-A6C34878D82A}">
                    <a16:rowId xmlns:a16="http://schemas.microsoft.com/office/drawing/2014/main" val="10004"/>
                  </a:ext>
                </a:extLst>
              </a:tr>
              <a:tr h="370840">
                <a:tc>
                  <a:txBody>
                    <a:bodyPr/>
                    <a:lstStyle/>
                    <a:p>
                      <a:r>
                        <a:rPr lang="en-US" altLang="zh-CN" sz="1600" b="0" i="0" u="none" strike="noStrike" kern="1200" baseline="0" dirty="0">
                          <a:solidFill>
                            <a:schemeClr val="dk1"/>
                          </a:solidFill>
                          <a:latin typeface="+mn-lt"/>
                          <a:ea typeface="+mn-ea"/>
                          <a:cs typeface="+mn-cs"/>
                        </a:rPr>
                        <a:t>Contract-to-</a:t>
                      </a:r>
                    </a:p>
                    <a:p>
                      <a:r>
                        <a:rPr lang="en-US" altLang="zh-CN" sz="1600" b="0" i="0" u="none" strike="noStrike" kern="1200" baseline="0" dirty="0">
                          <a:solidFill>
                            <a:schemeClr val="dk1"/>
                          </a:solidFill>
                          <a:latin typeface="+mn-lt"/>
                          <a:ea typeface="+mn-ea"/>
                          <a:cs typeface="+mn-cs"/>
                        </a:rPr>
                        <a:t>Implementation</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Yes</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This form of coupling is not recommended, especially in relation to external and shared implementation resources.</a:t>
                      </a:r>
                      <a:endParaRPr lang="zh-CN" altLang="en-US" sz="1600" dirty="0"/>
                    </a:p>
                  </a:txBody>
                  <a:tcPr anchor="ctr"/>
                </a:tc>
                <a:extLst>
                  <a:ext uri="{0D108BD9-81ED-4DB2-BD59-A6C34878D82A}">
                    <a16:rowId xmlns:a16="http://schemas.microsoft.com/office/drawing/2014/main" val="10005"/>
                  </a:ext>
                </a:extLst>
              </a:tr>
              <a:tr h="370840">
                <a:tc>
                  <a:txBody>
                    <a:bodyPr/>
                    <a:lstStyle/>
                    <a:p>
                      <a:r>
                        <a:rPr lang="en-US" altLang="zh-CN" sz="1600" b="0" i="0" u="none" strike="noStrike" kern="1200" baseline="0" dirty="0">
                          <a:solidFill>
                            <a:schemeClr val="dk1"/>
                          </a:solidFill>
                          <a:latin typeface="+mn-lt"/>
                          <a:ea typeface="+mn-ea"/>
                          <a:cs typeface="+mn-cs"/>
                        </a:rPr>
                        <a:t>Consumer-to-</a:t>
                      </a:r>
                    </a:p>
                    <a:p>
                      <a:r>
                        <a:rPr lang="en-US" altLang="zh-CN" sz="1600" b="0" i="0" u="none" strike="noStrike" kern="1200" baseline="0" dirty="0">
                          <a:solidFill>
                            <a:schemeClr val="dk1"/>
                          </a:solidFill>
                          <a:latin typeface="+mn-lt"/>
                          <a:ea typeface="+mn-ea"/>
                          <a:cs typeface="+mn-cs"/>
                        </a:rPr>
                        <a:t>Implementation</a:t>
                      </a:r>
                      <a:endParaRPr lang="zh-CN" altLang="en-US" sz="1600" dirty="0"/>
                    </a:p>
                  </a:txBody>
                  <a:tcPr anchor="ctr"/>
                </a:tc>
                <a:tc>
                  <a:txBody>
                    <a:bodyPr/>
                    <a:lstStyle/>
                    <a:p>
                      <a:pPr algn="ctr"/>
                      <a:r>
                        <a:rPr lang="en-US" altLang="zh-CN" sz="1600" b="0" i="0" u="none" strike="noStrike" kern="1200" baseline="0" dirty="0">
                          <a:solidFill>
                            <a:schemeClr val="dk1"/>
                          </a:solidFill>
                          <a:latin typeface="+mn-lt"/>
                          <a:ea typeface="+mn-ea"/>
                          <a:cs typeface="+mn-cs"/>
                        </a:rPr>
                        <a:t>Yes</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The Contract Centralization design pattern is used specifically to avoid this coupling type.</a:t>
                      </a:r>
                      <a:endParaRPr lang="zh-CN" altLang="en-US" sz="1600" dirty="0"/>
                    </a:p>
                  </a:txBody>
                  <a:tcPr anchor="ctr"/>
                </a:tc>
                <a:extLst>
                  <a:ext uri="{0D108BD9-81ED-4DB2-BD59-A6C34878D82A}">
                    <a16:rowId xmlns:a16="http://schemas.microsoft.com/office/drawing/2014/main" val="10006"/>
                  </a:ext>
                </a:extLst>
              </a:tr>
              <a:tr h="370840">
                <a:tc>
                  <a:txBody>
                    <a:bodyPr/>
                    <a:lstStyle/>
                    <a:p>
                      <a:r>
                        <a:rPr lang="en-US" altLang="zh-CN" sz="1600" b="0" i="0" u="none" strike="noStrike" kern="1200" baseline="0" dirty="0">
                          <a:solidFill>
                            <a:schemeClr val="dk1"/>
                          </a:solidFill>
                          <a:latin typeface="+mn-lt"/>
                          <a:ea typeface="+mn-ea"/>
                          <a:cs typeface="+mn-cs"/>
                        </a:rPr>
                        <a:t>Consumer-to-</a:t>
                      </a:r>
                    </a:p>
                    <a:p>
                      <a:r>
                        <a:rPr lang="en-US" altLang="zh-CN" sz="1600" b="0" i="0" u="none" strike="noStrike" kern="1200" baseline="0" dirty="0">
                          <a:solidFill>
                            <a:schemeClr val="dk1"/>
                          </a:solidFill>
                          <a:latin typeface="+mn-lt"/>
                          <a:ea typeface="+mn-ea"/>
                          <a:cs typeface="+mn-cs"/>
                        </a:rPr>
                        <a:t>Contract</a:t>
                      </a:r>
                      <a:endParaRPr lang="zh-CN" altLang="en-US" sz="1600" dirty="0"/>
                    </a:p>
                  </a:txBody>
                  <a:tcPr anchor="ctr"/>
                </a:tc>
                <a:tc>
                  <a:txBody>
                    <a:bodyPr/>
                    <a:lstStyle/>
                    <a:p>
                      <a:pPr algn="ctr"/>
                      <a:r>
                        <a:rPr lang="en-US" altLang="zh-CN" sz="1600" dirty="0"/>
                        <a:t>No</a:t>
                      </a:r>
                      <a:endParaRPr lang="zh-CN" altLang="en-US" sz="1600" dirty="0"/>
                    </a:p>
                  </a:txBody>
                  <a:tcPr anchor="ctr"/>
                </a:tc>
                <a:tc>
                  <a:txBody>
                    <a:bodyPr/>
                    <a:lstStyle/>
                    <a:p>
                      <a:r>
                        <a:rPr lang="en-US" altLang="zh-CN" sz="1600" b="0" i="0" u="none" strike="noStrike" kern="1200" baseline="0" dirty="0">
                          <a:solidFill>
                            <a:schemeClr val="dk1"/>
                          </a:solidFill>
                          <a:latin typeface="+mn-lt"/>
                          <a:ea typeface="+mn-ea"/>
                          <a:cs typeface="+mn-cs"/>
                        </a:rPr>
                        <a:t>This is a positive form of coupling, but its benefit is related to the extent to which negative service contract coupling levels have been avoided.</a:t>
                      </a:r>
                      <a:endParaRPr lang="zh-CN" altLang="en-US" sz="1600" dirty="0"/>
                    </a:p>
                  </a:txBody>
                  <a:tcPr anchor="ctr"/>
                </a:tc>
                <a:extLst>
                  <a:ext uri="{0D108BD9-81ED-4DB2-BD59-A6C34878D82A}">
                    <a16:rowId xmlns:a16="http://schemas.microsoft.com/office/drawing/2014/main" val="10007"/>
                  </a:ext>
                </a:extLst>
              </a:tr>
            </a:tbl>
          </a:graphicData>
        </a:graphic>
      </p:graphicFrame>
      <p:sp>
        <p:nvSpPr>
          <p:cNvPr id="60419"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87B79B6-A66E-411B-96B3-BCD23700A64E}" type="slidenum">
              <a:rPr lang="en-US" altLang="zh-CN" smtClean="0"/>
              <a:pPr/>
              <a:t>45</a:t>
            </a:fld>
            <a:endParaRPr lang="en-US" altLang="zh-CN"/>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a:t>服务松散耦合与粒度</a:t>
            </a:r>
          </a:p>
        </p:txBody>
      </p:sp>
      <p:sp>
        <p:nvSpPr>
          <p:cNvPr id="3" name="内容占位符 2"/>
          <p:cNvSpPr>
            <a:spLocks noGrp="1"/>
          </p:cNvSpPr>
          <p:nvPr>
            <p:ph idx="1"/>
          </p:nvPr>
        </p:nvSpPr>
        <p:spPr/>
        <p:txBody>
          <a:bodyPr/>
          <a:lstStyle/>
          <a:p>
            <a:r>
              <a:rPr lang="zh-CN" altLang="en-US" dirty="0"/>
              <a:t>涉及</a:t>
            </a:r>
            <a:r>
              <a:rPr lang="en-US" altLang="zh-CN" dirty="0"/>
              <a:t>“</a:t>
            </a:r>
            <a:r>
              <a:rPr lang="zh-CN" altLang="en-US" dirty="0"/>
              <a:t>消费者</a:t>
            </a:r>
            <a:r>
              <a:rPr lang="en-US" altLang="zh-CN" dirty="0"/>
              <a:t>-</a:t>
            </a:r>
            <a:r>
              <a:rPr lang="zh-CN" altLang="en-US" dirty="0"/>
              <a:t>合约</a:t>
            </a:r>
            <a:r>
              <a:rPr lang="en-US" altLang="zh-CN" dirty="0"/>
              <a:t>”</a:t>
            </a:r>
            <a:r>
              <a:rPr lang="zh-CN" altLang="en-US" dirty="0"/>
              <a:t>耦合</a:t>
            </a:r>
            <a:endParaRPr lang="en-US" altLang="zh-CN" dirty="0"/>
          </a:p>
          <a:p>
            <a:r>
              <a:rPr lang="zh-CN" altLang="en-US" dirty="0"/>
              <a:t>影响到操作、数据以及约束的粒度级别</a:t>
            </a:r>
            <a:endParaRPr lang="en-US" altLang="zh-CN" dirty="0"/>
          </a:p>
          <a:p>
            <a:pPr lvl="1"/>
            <a:r>
              <a:rPr lang="zh-CN" altLang="en-US" dirty="0"/>
              <a:t>过粗操作粒度，不必要的额外处理；过细操作粒度，过多服务往返开销</a:t>
            </a:r>
            <a:endParaRPr lang="en-US" altLang="zh-CN" dirty="0"/>
          </a:p>
          <a:p>
            <a:pPr lvl="1"/>
            <a:r>
              <a:rPr lang="zh-CN" altLang="en-US" dirty="0"/>
              <a:t>过粗数据粒度，接受无用的额外信息</a:t>
            </a:r>
            <a:r>
              <a:rPr lang="zh-CN" altLang="en-US"/>
              <a:t>；过细数据粒度</a:t>
            </a:r>
            <a:r>
              <a:rPr lang="zh-CN" altLang="en-US" dirty="0"/>
              <a:t>，没有足够信息，需要额外调用</a:t>
            </a:r>
            <a:endParaRPr lang="en-US" altLang="zh-CN" dirty="0"/>
          </a:p>
          <a:p>
            <a:pPr lvl="1"/>
            <a:r>
              <a:rPr lang="zh-CN" altLang="en-US" dirty="0"/>
              <a:t>约束粒度决定消费者验证逻辑的数量</a:t>
            </a:r>
          </a:p>
        </p:txBody>
      </p:sp>
      <p:sp>
        <p:nvSpPr>
          <p:cNvPr id="6144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740CC80-8D49-4F0C-9C01-C40D18C276DF}" type="slidenum">
              <a:rPr lang="en-US" altLang="zh-CN" smtClean="0"/>
              <a:pPr/>
              <a:t>46</a:t>
            </a:fld>
            <a:endParaRPr lang="en-US" altLang="zh-CN"/>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a:t>耦合与服务模型</a:t>
            </a:r>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a:t>以实体为核心的服务</a:t>
            </a:r>
            <a:endParaRPr lang="en-US" altLang="zh-CN" dirty="0"/>
          </a:p>
          <a:p>
            <a:pPr lvl="1">
              <a:lnSpc>
                <a:spcPct val="120000"/>
              </a:lnSpc>
            </a:pPr>
            <a:r>
              <a:rPr lang="zh-CN" altLang="en-US" dirty="0"/>
              <a:t>解耦的服务合约</a:t>
            </a:r>
            <a:endParaRPr lang="en-US" altLang="zh-CN" dirty="0"/>
          </a:p>
          <a:p>
            <a:pPr lvl="1">
              <a:lnSpc>
                <a:spcPct val="120000"/>
              </a:lnSpc>
            </a:pPr>
            <a:r>
              <a:rPr lang="zh-CN" altLang="en-US" dirty="0"/>
              <a:t>与业务实体本身高度耦合</a:t>
            </a:r>
            <a:endParaRPr lang="en-US" altLang="zh-CN" dirty="0"/>
          </a:p>
          <a:p>
            <a:pPr>
              <a:lnSpc>
                <a:spcPct val="120000"/>
              </a:lnSpc>
            </a:pPr>
            <a:r>
              <a:rPr lang="zh-CN" altLang="en-US" dirty="0"/>
              <a:t>应用服务</a:t>
            </a:r>
            <a:endParaRPr lang="en-US" altLang="zh-CN" dirty="0"/>
          </a:p>
          <a:p>
            <a:pPr lvl="1">
              <a:lnSpc>
                <a:spcPct val="120000"/>
              </a:lnSpc>
            </a:pPr>
            <a:r>
              <a:rPr lang="zh-CN" altLang="en-US" dirty="0"/>
              <a:t>往往是高度耦合的（实现耦合）</a:t>
            </a:r>
            <a:endParaRPr lang="en-US" altLang="zh-CN" dirty="0"/>
          </a:p>
          <a:p>
            <a:pPr lvl="1">
              <a:lnSpc>
                <a:spcPct val="120000"/>
              </a:lnSpc>
            </a:pPr>
            <a:r>
              <a:rPr lang="zh-CN" altLang="en-US" dirty="0"/>
              <a:t>通过标准化服务合约，避免“消费者</a:t>
            </a:r>
            <a:r>
              <a:rPr lang="en-US" altLang="zh-CN" dirty="0"/>
              <a:t>-</a:t>
            </a:r>
            <a:r>
              <a:rPr lang="zh-CN" altLang="en-US" dirty="0"/>
              <a:t>实现” 的间接耦合</a:t>
            </a:r>
            <a:endParaRPr lang="en-US" altLang="zh-CN" dirty="0"/>
          </a:p>
          <a:p>
            <a:pPr>
              <a:lnSpc>
                <a:spcPct val="120000"/>
              </a:lnSpc>
            </a:pPr>
            <a:r>
              <a:rPr lang="zh-CN" altLang="en-US" dirty="0"/>
              <a:t>以任务为核心的服务</a:t>
            </a:r>
            <a:endParaRPr lang="en-US" altLang="zh-CN" dirty="0"/>
          </a:p>
          <a:p>
            <a:pPr lvl="1">
              <a:lnSpc>
                <a:spcPct val="120000"/>
              </a:lnSpc>
            </a:pPr>
            <a:r>
              <a:rPr lang="zh-CN" altLang="en-US" dirty="0"/>
              <a:t>有时是在功能上耦合的</a:t>
            </a:r>
            <a:endParaRPr lang="en-US" altLang="zh-CN" dirty="0"/>
          </a:p>
          <a:p>
            <a:pPr lvl="1">
              <a:lnSpc>
                <a:spcPct val="120000"/>
              </a:lnSpc>
            </a:pPr>
            <a:r>
              <a:rPr lang="zh-CN" altLang="en-US" dirty="0"/>
              <a:t>有时构成</a:t>
            </a:r>
            <a:r>
              <a:rPr lang="en-US" altLang="zh-CN" dirty="0"/>
              <a:t>“</a:t>
            </a:r>
            <a:r>
              <a:rPr lang="zh-CN" altLang="en-US" dirty="0"/>
              <a:t>服务</a:t>
            </a:r>
            <a:r>
              <a:rPr lang="en-US" altLang="zh-CN" dirty="0"/>
              <a:t>-</a:t>
            </a:r>
            <a:r>
              <a:rPr lang="zh-CN" altLang="en-US" dirty="0"/>
              <a:t>消费者</a:t>
            </a:r>
            <a:r>
              <a:rPr lang="en-US" altLang="zh-CN" dirty="0"/>
              <a:t>”</a:t>
            </a:r>
            <a:r>
              <a:rPr lang="zh-CN" altLang="en-US" dirty="0"/>
              <a:t>耦合</a:t>
            </a:r>
            <a:endParaRPr lang="en-US" altLang="zh-CN" dirty="0"/>
          </a:p>
          <a:p>
            <a:pPr>
              <a:lnSpc>
                <a:spcPct val="120000"/>
              </a:lnSpc>
            </a:pPr>
            <a:r>
              <a:rPr lang="zh-CN" altLang="en-US"/>
              <a:t>编排服务</a:t>
            </a:r>
            <a:endParaRPr lang="en-US" altLang="zh-CN" dirty="0"/>
          </a:p>
          <a:p>
            <a:pPr lvl="1">
              <a:lnSpc>
                <a:spcPct val="120000"/>
              </a:lnSpc>
            </a:pPr>
            <a:r>
              <a:rPr lang="zh-CN" altLang="en-US" dirty="0"/>
              <a:t>避免技术耦合</a:t>
            </a:r>
            <a:endParaRPr lang="en-US" altLang="zh-CN" dirty="0"/>
          </a:p>
          <a:p>
            <a:pPr lvl="1">
              <a:lnSpc>
                <a:spcPct val="120000"/>
              </a:lnSpc>
            </a:pPr>
            <a:r>
              <a:rPr lang="zh-CN" altLang="en-US" dirty="0"/>
              <a:t>无法避免</a:t>
            </a:r>
            <a:r>
              <a:rPr lang="en-US" altLang="zh-CN" dirty="0"/>
              <a:t>“</a:t>
            </a:r>
            <a:r>
              <a:rPr lang="zh-CN" altLang="en-US" dirty="0"/>
              <a:t>合约</a:t>
            </a:r>
            <a:r>
              <a:rPr lang="en-US" altLang="zh-CN" dirty="0"/>
              <a:t>-</a:t>
            </a:r>
            <a:r>
              <a:rPr lang="zh-CN" altLang="en-US" dirty="0"/>
              <a:t>实现</a:t>
            </a:r>
            <a:r>
              <a:rPr lang="en-US" altLang="zh-CN" dirty="0"/>
              <a:t>”</a:t>
            </a:r>
            <a:r>
              <a:rPr lang="zh-CN" altLang="en-US" dirty="0"/>
              <a:t>耦合</a:t>
            </a:r>
            <a:endParaRPr lang="en-US" altLang="zh-CN" dirty="0"/>
          </a:p>
        </p:txBody>
      </p:sp>
      <p:sp>
        <p:nvSpPr>
          <p:cNvPr id="6246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C70A5DA-BB8C-4D72-9179-C6362217496D}" type="slidenum">
              <a:rPr lang="en-US" altLang="zh-CN" smtClean="0"/>
              <a:pPr/>
              <a:t>47</a:t>
            </a:fld>
            <a:endParaRPr lang="en-US" altLang="zh-CN"/>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a:t>服务松散耦合与其他原则 </a:t>
            </a:r>
            <a:r>
              <a:rPr lang="en-US" altLang="zh-CN"/>
              <a:t>I</a:t>
            </a:r>
            <a:endParaRPr lang="zh-CN" altLang="en-US" dirty="0"/>
          </a:p>
        </p:txBody>
      </p:sp>
      <p:sp>
        <p:nvSpPr>
          <p:cNvPr id="6349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9AEA8E2-5C7F-404A-8E57-67119D4F0CEF}" type="slidenum">
              <a:rPr lang="en-US" altLang="zh-CN" smtClean="0"/>
              <a:pPr/>
              <a:t>48</a:t>
            </a:fld>
            <a:endParaRPr lang="en-US" altLang="zh-CN"/>
          </a:p>
        </p:txBody>
      </p:sp>
      <p:pic>
        <p:nvPicPr>
          <p:cNvPr id="6" name="图片 5"/>
          <p:cNvPicPr>
            <a:picLocks noChangeAspect="1"/>
          </p:cNvPicPr>
          <p:nvPr/>
        </p:nvPicPr>
        <p:blipFill>
          <a:blip r:embed="rId3"/>
          <a:stretch>
            <a:fillRect/>
          </a:stretch>
        </p:blipFill>
        <p:spPr>
          <a:xfrm>
            <a:off x="1181100" y="1412776"/>
            <a:ext cx="6781800" cy="4695825"/>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a:t>服务松散耦合与其他原则 </a:t>
            </a:r>
            <a:r>
              <a:rPr lang="en-US" altLang="zh-CN"/>
              <a:t>II</a:t>
            </a:r>
            <a:endParaRPr lang="zh-CN" altLang="en-US" dirty="0"/>
          </a:p>
        </p:txBody>
      </p:sp>
      <p:sp>
        <p:nvSpPr>
          <p:cNvPr id="64515" name="内容占位符 2"/>
          <p:cNvSpPr>
            <a:spLocks noGrp="1"/>
          </p:cNvSpPr>
          <p:nvPr>
            <p:ph idx="1"/>
          </p:nvPr>
        </p:nvSpPr>
        <p:spPr/>
        <p:txBody>
          <a:bodyPr>
            <a:normAutofit fontScale="92500" lnSpcReduction="10000"/>
          </a:bodyPr>
          <a:lstStyle/>
          <a:p>
            <a:pPr>
              <a:lnSpc>
                <a:spcPct val="110000"/>
              </a:lnSpc>
            </a:pPr>
            <a:r>
              <a:rPr lang="zh-CN" altLang="en-US" dirty="0"/>
              <a:t>服务松散耦合与标准化服务合约</a:t>
            </a:r>
            <a:endParaRPr lang="en-US" altLang="zh-CN" dirty="0"/>
          </a:p>
          <a:p>
            <a:pPr lvl="1">
              <a:lnSpc>
                <a:spcPct val="110000"/>
              </a:lnSpc>
            </a:pPr>
            <a:r>
              <a:rPr lang="zh-CN" altLang="en-US" dirty="0"/>
              <a:t>松散耦合鼓励调节技术合约内容的数量和复杂度，从而最小化消费者依赖需求、最大化服务所有者的自由度，在不影响现有消费者的情况下随着时间演化和改变服务</a:t>
            </a:r>
            <a:endParaRPr lang="en-US" altLang="zh-CN" dirty="0"/>
          </a:p>
          <a:p>
            <a:pPr>
              <a:lnSpc>
                <a:spcPct val="110000"/>
              </a:lnSpc>
            </a:pPr>
            <a:r>
              <a:rPr lang="zh-CN" altLang="en-US" dirty="0"/>
              <a:t>服务松散耦合与服务抽象</a:t>
            </a:r>
            <a:endParaRPr lang="en-US" altLang="zh-CN" dirty="0"/>
          </a:p>
          <a:p>
            <a:pPr lvl="1">
              <a:lnSpc>
                <a:spcPct val="110000"/>
              </a:lnSpc>
            </a:pPr>
            <a:r>
              <a:rPr lang="zh-CN" altLang="en-US" dirty="0"/>
              <a:t>创建更低耦合的消费者关系，明确地要求应用良好定义的功能和技术抽象级别</a:t>
            </a:r>
            <a:endParaRPr lang="en-US" altLang="zh-CN" dirty="0"/>
          </a:p>
          <a:p>
            <a:pPr>
              <a:lnSpc>
                <a:spcPct val="110000"/>
              </a:lnSpc>
            </a:pPr>
            <a:r>
              <a:rPr lang="zh-CN" altLang="en-US" dirty="0"/>
              <a:t>服务松散耦合与服务可复用性</a:t>
            </a:r>
            <a:endParaRPr lang="en-US" altLang="zh-CN" dirty="0"/>
          </a:p>
          <a:p>
            <a:pPr lvl="1">
              <a:lnSpc>
                <a:spcPct val="110000"/>
              </a:lnSpc>
            </a:pPr>
            <a:r>
              <a:rPr lang="zh-CN" altLang="en-US" dirty="0"/>
              <a:t>减少依赖关系可以使服务更容易被组合、演化甚至扩充以支持不断变化的业务需求和方向</a:t>
            </a:r>
          </a:p>
        </p:txBody>
      </p:sp>
      <p:sp>
        <p:nvSpPr>
          <p:cNvPr id="6451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DB4007C-4F29-47E8-8A6B-4962E34BFB0E}" type="slidenum">
              <a:rPr lang="en-US" altLang="zh-CN" smtClean="0"/>
              <a:pPr/>
              <a:t>49</a:t>
            </a:fld>
            <a:endParaRPr lang="en-US" altLang="zh-CN"/>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a:t>服务松散耦合与其他原则 </a:t>
            </a:r>
            <a:r>
              <a:rPr lang="en-US" altLang="zh-CN"/>
              <a:t>III</a:t>
            </a:r>
            <a:endParaRPr lang="zh-CN" altLang="en-US" dirty="0"/>
          </a:p>
        </p:txBody>
      </p:sp>
      <p:sp>
        <p:nvSpPr>
          <p:cNvPr id="67587" name="内容占位符 2"/>
          <p:cNvSpPr>
            <a:spLocks noGrp="1"/>
          </p:cNvSpPr>
          <p:nvPr>
            <p:ph idx="1"/>
          </p:nvPr>
        </p:nvSpPr>
        <p:spPr/>
        <p:txBody>
          <a:bodyPr/>
          <a:lstStyle/>
          <a:p>
            <a:r>
              <a:rPr lang="zh-CN" altLang="en-US" dirty="0"/>
              <a:t>服务松散耦合与服务自治</a:t>
            </a:r>
            <a:endParaRPr lang="en-US" altLang="zh-CN" dirty="0"/>
          </a:p>
          <a:p>
            <a:pPr lvl="1"/>
            <a:r>
              <a:rPr lang="zh-CN" altLang="en-US" dirty="0"/>
              <a:t>减少消极耦合类型的程度，会为运行时和设计时的更高自治级别提供支持</a:t>
            </a:r>
            <a:endParaRPr lang="en-US" altLang="zh-CN" dirty="0"/>
          </a:p>
          <a:p>
            <a:pPr lvl="1"/>
            <a:r>
              <a:rPr lang="zh-CN" altLang="en-US" dirty="0"/>
              <a:t>服务消费者具有越多的跨服务依赖，它所具有的自主权就越少（服务消费者可能同时担任复合服务中的服务协调者）</a:t>
            </a:r>
            <a:endParaRPr lang="en-US" altLang="zh-CN" dirty="0"/>
          </a:p>
          <a:p>
            <a:r>
              <a:rPr lang="zh-CN" altLang="en-US" dirty="0"/>
              <a:t>服务松散耦合与服务可发现性</a:t>
            </a:r>
            <a:endParaRPr lang="en-US" altLang="zh-CN" dirty="0"/>
          </a:p>
          <a:p>
            <a:pPr lvl="1"/>
            <a:r>
              <a:rPr lang="zh-CN" altLang="en-US" dirty="0"/>
              <a:t>服务松散耦合有助于元数据的调节</a:t>
            </a:r>
            <a:endParaRPr lang="en-US" altLang="zh-CN" dirty="0"/>
          </a:p>
        </p:txBody>
      </p:sp>
      <p:sp>
        <p:nvSpPr>
          <p:cNvPr id="6758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A19DCB3-DB2C-4668-A1BF-DA561CE4CD16}" type="slidenum">
              <a:rPr lang="en-US" altLang="zh-CN" smtClean="0"/>
              <a:pPr/>
              <a:t>50</a:t>
            </a:fld>
            <a:endParaRPr lang="en-US" altLang="zh-CN"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a:t>服务松散耦合与其他原则 </a:t>
            </a:r>
            <a:r>
              <a:rPr lang="en-US" altLang="zh-CN"/>
              <a:t>IV</a:t>
            </a:r>
            <a:endParaRPr lang="zh-CN" altLang="en-US" dirty="0"/>
          </a:p>
        </p:txBody>
      </p:sp>
      <p:sp>
        <p:nvSpPr>
          <p:cNvPr id="3" name="内容占位符 2"/>
          <p:cNvSpPr>
            <a:spLocks noGrp="1"/>
          </p:cNvSpPr>
          <p:nvPr>
            <p:ph idx="1"/>
          </p:nvPr>
        </p:nvSpPr>
        <p:spPr/>
        <p:txBody>
          <a:bodyPr/>
          <a:lstStyle/>
          <a:p>
            <a:r>
              <a:rPr lang="zh-CN" altLang="en-US" dirty="0"/>
              <a:t>服务松散耦合与服务可组合性</a:t>
            </a:r>
            <a:endParaRPr lang="en-US" altLang="zh-CN" dirty="0"/>
          </a:p>
          <a:p>
            <a:pPr lvl="1"/>
            <a:r>
              <a:rPr lang="zh-CN" altLang="en-US" dirty="0"/>
              <a:t>在服务组合中，避免消极形式的耦合</a:t>
            </a:r>
            <a:endParaRPr lang="en-US" altLang="zh-CN" dirty="0"/>
          </a:p>
          <a:p>
            <a:pPr lvl="2"/>
            <a:r>
              <a:rPr lang="en-US" altLang="zh-CN" dirty="0"/>
              <a:t>“</a:t>
            </a:r>
            <a:r>
              <a:rPr lang="zh-CN" altLang="en-US" dirty="0"/>
              <a:t>合约</a:t>
            </a:r>
            <a:r>
              <a:rPr lang="en-US" altLang="zh-CN" dirty="0"/>
              <a:t>-</a:t>
            </a:r>
            <a:r>
              <a:rPr lang="zh-CN" altLang="en-US" dirty="0"/>
              <a:t>逻辑</a:t>
            </a:r>
            <a:r>
              <a:rPr lang="en-US" altLang="zh-CN" dirty="0"/>
              <a:t>”</a:t>
            </a:r>
            <a:r>
              <a:rPr lang="zh-CN" altLang="en-US" dirty="0"/>
              <a:t>耦合</a:t>
            </a:r>
            <a:r>
              <a:rPr lang="en-US" altLang="zh-CN" dirty="0"/>
              <a:t>	</a:t>
            </a:r>
            <a:r>
              <a:rPr lang="zh-CN" altLang="en-US" dirty="0"/>
              <a:t>如果服务合约是自动生成的，就很有可能在被其他服务使用时不符合标准。因此需要在它和其他组成成员之间进行转换</a:t>
            </a:r>
          </a:p>
          <a:p>
            <a:pPr lvl="2"/>
            <a:r>
              <a:rPr lang="en-US" altLang="zh-CN" dirty="0"/>
              <a:t>“</a:t>
            </a:r>
            <a:r>
              <a:rPr lang="zh-CN" altLang="en-US" dirty="0"/>
              <a:t>合约</a:t>
            </a:r>
            <a:r>
              <a:rPr lang="en-US" altLang="zh-CN" dirty="0"/>
              <a:t>-</a:t>
            </a:r>
            <a:r>
              <a:rPr lang="zh-CN" altLang="en-US" dirty="0"/>
              <a:t>技术</a:t>
            </a:r>
            <a:r>
              <a:rPr lang="en-US" altLang="zh-CN" dirty="0"/>
              <a:t>”</a:t>
            </a:r>
            <a:r>
              <a:rPr lang="zh-CN" altLang="en-US" dirty="0"/>
              <a:t>耦合</a:t>
            </a:r>
            <a:r>
              <a:rPr lang="en-US" altLang="zh-CN" dirty="0"/>
              <a:t>	</a:t>
            </a:r>
            <a:r>
              <a:rPr lang="zh-CN" altLang="en-US" dirty="0"/>
              <a:t>如果同一个组合中的不同部分同时使用开放与专用服务技术，就会需要在本地实现技术转化层</a:t>
            </a:r>
            <a:endParaRPr lang="en-US" altLang="zh-CN" dirty="0"/>
          </a:p>
          <a:p>
            <a:pPr lvl="2"/>
            <a:r>
              <a:rPr lang="en-US" altLang="zh-CN" dirty="0"/>
              <a:t>“</a:t>
            </a:r>
            <a:r>
              <a:rPr lang="zh-CN" altLang="en-US" dirty="0"/>
              <a:t>合约</a:t>
            </a:r>
            <a:r>
              <a:rPr lang="en-US" altLang="zh-CN" dirty="0"/>
              <a:t>-</a:t>
            </a:r>
            <a:r>
              <a:rPr lang="zh-CN" altLang="en-US" dirty="0"/>
              <a:t>实现</a:t>
            </a:r>
            <a:r>
              <a:rPr lang="en-US" altLang="zh-CN" dirty="0"/>
              <a:t>”</a:t>
            </a:r>
            <a:r>
              <a:rPr lang="zh-CN" altLang="en-US" dirty="0"/>
              <a:t>耦合</a:t>
            </a:r>
            <a:r>
              <a:rPr lang="en-US" altLang="zh-CN" dirty="0"/>
              <a:t>	</a:t>
            </a:r>
            <a:r>
              <a:rPr lang="zh-CN" altLang="en-US" dirty="0"/>
              <a:t>当一个服务合约与底层实现特性之间产生耦合时，就会最终把这些性质强加到作为一个整体的组合之上</a:t>
            </a:r>
          </a:p>
        </p:txBody>
      </p:sp>
      <p:sp>
        <p:nvSpPr>
          <p:cNvPr id="6963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554364E-1C2C-48C3-8620-583F95D209B8}" type="slidenum">
              <a:rPr lang="en-US" altLang="zh-CN" smtClean="0"/>
              <a:pPr/>
              <a:t>51</a:t>
            </a:fld>
            <a:endParaRPr lang="en-US" altLang="zh-CN"/>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a:t>服务松散耦合的相关风险</a:t>
            </a:r>
            <a:endParaRPr lang="zh-CN" altLang="en-US" dirty="0"/>
          </a:p>
        </p:txBody>
      </p:sp>
      <p:sp>
        <p:nvSpPr>
          <p:cNvPr id="71683" name="内容占位符 2"/>
          <p:cNvSpPr>
            <a:spLocks noGrp="1"/>
          </p:cNvSpPr>
          <p:nvPr>
            <p:ph idx="1"/>
          </p:nvPr>
        </p:nvSpPr>
        <p:spPr/>
        <p:txBody>
          <a:bodyPr>
            <a:normAutofit lnSpcReduction="10000"/>
          </a:bodyPr>
          <a:lstStyle/>
          <a:p>
            <a:r>
              <a:rPr lang="en-US" altLang="zh-CN" dirty="0"/>
              <a:t>“</a:t>
            </a:r>
            <a:r>
              <a:rPr lang="zh-CN" altLang="en-US" dirty="0"/>
              <a:t>逻辑</a:t>
            </a:r>
            <a:r>
              <a:rPr lang="en-US" altLang="zh-CN" dirty="0"/>
              <a:t>-</a:t>
            </a:r>
            <a:r>
              <a:rPr lang="zh-CN" altLang="en-US" dirty="0"/>
              <a:t>合约</a:t>
            </a:r>
            <a:r>
              <a:rPr lang="en-US" altLang="zh-CN" dirty="0"/>
              <a:t>”</a:t>
            </a:r>
            <a:r>
              <a:rPr lang="zh-CN" altLang="en-US" dirty="0"/>
              <a:t>耦合的限制</a:t>
            </a:r>
            <a:endParaRPr lang="en-US" altLang="zh-CN" dirty="0"/>
          </a:p>
          <a:p>
            <a:pPr lvl="1"/>
            <a:r>
              <a:rPr lang="zh-CN" altLang="en-US" dirty="0"/>
              <a:t>同一底层逻辑对应两个或者多个合约，从而建立多个入口，每一入口向不同类型的消费者暴露不同的服务能力（</a:t>
            </a:r>
            <a:r>
              <a:rPr lang="en-US" altLang="zh-CN" dirty="0"/>
              <a:t>Service Facade</a:t>
            </a:r>
            <a:r>
              <a:rPr lang="zh-CN" altLang="en-US" dirty="0"/>
              <a:t>）</a:t>
            </a:r>
            <a:endParaRPr lang="en-US" altLang="zh-CN" dirty="0"/>
          </a:p>
          <a:p>
            <a:r>
              <a:rPr lang="en-US" altLang="zh-CN" dirty="0"/>
              <a:t>Schema</a:t>
            </a:r>
            <a:r>
              <a:rPr lang="zh-CN" altLang="en-US" dirty="0"/>
              <a:t>耦合太</a:t>
            </a:r>
            <a:r>
              <a:rPr lang="en-US" altLang="zh-CN" dirty="0"/>
              <a:t>“</a:t>
            </a:r>
            <a:r>
              <a:rPr lang="zh-CN" altLang="en-US" dirty="0"/>
              <a:t>松散”</a:t>
            </a:r>
            <a:endParaRPr lang="en-US" altLang="zh-CN" dirty="0"/>
          </a:p>
          <a:p>
            <a:pPr lvl="1"/>
            <a:r>
              <a:rPr lang="zh-CN" altLang="en-US" dirty="0"/>
              <a:t>为了强调服务的兼容性演化能力，通过过分简化服务合约，追求减少消费者依赖，仅确定了一些非常通用的数据类型（弱类型）</a:t>
            </a:r>
            <a:endParaRPr lang="en-US" altLang="zh-CN" dirty="0"/>
          </a:p>
          <a:p>
            <a:pPr lvl="1"/>
            <a:r>
              <a:rPr lang="zh-CN" altLang="en-US" dirty="0"/>
              <a:t>验证并处理弱类型，增加服务所需的性能要求</a:t>
            </a:r>
            <a:endParaRPr lang="en-US" altLang="zh-CN" dirty="0"/>
          </a:p>
          <a:p>
            <a:pPr lvl="1"/>
            <a:r>
              <a:rPr lang="zh-CN" altLang="en-US" dirty="0"/>
              <a:t>服务合约发布的信息越少，消费者程序就需要知道越多关于服务实现逻辑的信息，从而产生消极耦合</a:t>
            </a:r>
            <a:endParaRPr lang="en-US" altLang="zh-CN" dirty="0"/>
          </a:p>
        </p:txBody>
      </p:sp>
      <p:sp>
        <p:nvSpPr>
          <p:cNvPr id="7168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9430306-15E4-4C79-B442-7F6919F0F22F}" type="slidenum">
              <a:rPr lang="en-US" altLang="zh-CN" smtClean="0"/>
              <a:pPr/>
              <a:t>52</a:t>
            </a:fld>
            <a:endParaRPr lang="en-US" altLang="zh-CN"/>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a:t>案例研究</a:t>
            </a:r>
            <a:r>
              <a:rPr lang="en-US" altLang="zh-CN"/>
              <a:t>——</a:t>
            </a:r>
            <a:r>
              <a:rPr lang="zh-CN" altLang="en-US"/>
              <a:t>现有服务的耦合级别</a:t>
            </a:r>
          </a:p>
        </p:txBody>
      </p:sp>
      <p:sp>
        <p:nvSpPr>
          <p:cNvPr id="73731" name="内容占位符 2"/>
          <p:cNvSpPr>
            <a:spLocks noGrp="1"/>
          </p:cNvSpPr>
          <p:nvPr>
            <p:ph idx="1"/>
          </p:nvPr>
        </p:nvSpPr>
        <p:spPr/>
        <p:txBody>
          <a:bodyPr/>
          <a:lstStyle/>
          <a:p>
            <a:r>
              <a:rPr lang="zh-CN" altLang="en-US" dirty="0"/>
              <a:t>作为以实体为核心的业务服务， </a:t>
            </a:r>
            <a:r>
              <a:rPr lang="en-US" altLang="zh-CN" dirty="0"/>
              <a:t>Materials</a:t>
            </a:r>
            <a:r>
              <a:rPr lang="zh-CN" altLang="en-US" dirty="0"/>
              <a:t>与</a:t>
            </a:r>
            <a:r>
              <a:rPr lang="en-US" altLang="zh-CN" dirty="0"/>
              <a:t>Formulas</a:t>
            </a:r>
            <a:r>
              <a:rPr lang="zh-CN" altLang="en-US" dirty="0"/>
              <a:t>有效地降低了潜在的与外部或者上层业务处理逻辑的功能性耦合</a:t>
            </a:r>
          </a:p>
          <a:p>
            <a:r>
              <a:rPr lang="zh-CN" altLang="en-US" dirty="0"/>
              <a:t>作为以任务为核心的业务服务，</a:t>
            </a:r>
            <a:r>
              <a:rPr lang="en-US" altLang="zh-CN" dirty="0"/>
              <a:t> </a:t>
            </a:r>
            <a:r>
              <a:rPr lang="en-US" altLang="zh-CN" dirty="0" err="1"/>
              <a:t>RunLabProject</a:t>
            </a:r>
            <a:r>
              <a:rPr lang="en-US" altLang="zh-CN" dirty="0"/>
              <a:t> </a:t>
            </a:r>
            <a:r>
              <a:rPr lang="zh-CN" altLang="en-US" dirty="0"/>
              <a:t>必然和</a:t>
            </a:r>
            <a:r>
              <a:rPr lang="en-US" altLang="zh-CN" dirty="0"/>
              <a:t>Lab Project</a:t>
            </a:r>
            <a:r>
              <a:rPr lang="zh-CN" altLang="en-US" dirty="0"/>
              <a:t>业务流程相关。与该服务有针对性的功能性耦合是有意设计的</a:t>
            </a:r>
          </a:p>
        </p:txBody>
      </p:sp>
      <p:sp>
        <p:nvSpPr>
          <p:cNvPr id="7373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746F6BD-33D4-4D70-A639-0B15FF136F81}" type="slidenum">
              <a:rPr lang="en-US" altLang="zh-CN" smtClean="0"/>
              <a:pPr/>
              <a:t>53</a:t>
            </a:fld>
            <a:endParaRPr lang="en-US" altLang="zh-CN"/>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064905" y="2443162"/>
            <a:ext cx="6553200" cy="3838575"/>
          </a:xfrm>
          <a:prstGeom prst="rect">
            <a:avLst/>
          </a:prstGeom>
        </p:spPr>
      </p:pic>
      <p:sp>
        <p:nvSpPr>
          <p:cNvPr id="74754" name="标题 1"/>
          <p:cNvSpPr>
            <a:spLocks noGrp="1"/>
          </p:cNvSpPr>
          <p:nvPr>
            <p:ph type="title"/>
          </p:nvPr>
        </p:nvSpPr>
        <p:spPr/>
        <p:txBody>
          <a:bodyPr/>
          <a:lstStyle/>
          <a:p>
            <a:r>
              <a:rPr lang="zh-CN" altLang="en-US"/>
              <a:t>案例研究</a:t>
            </a:r>
            <a:r>
              <a:rPr lang="en-US" altLang="zh-CN"/>
              <a:t>——</a:t>
            </a:r>
            <a:r>
              <a:rPr lang="zh-CN" altLang="en-US"/>
              <a:t>引入</a:t>
            </a:r>
            <a:r>
              <a:rPr lang="en-US" altLang="zh-CN"/>
              <a:t>InvLegacyAPI </a:t>
            </a:r>
            <a:r>
              <a:rPr lang="zh-CN" altLang="en-US"/>
              <a:t>服务</a:t>
            </a:r>
          </a:p>
        </p:txBody>
      </p:sp>
      <p:sp>
        <p:nvSpPr>
          <p:cNvPr id="74755" name="内容占位符 2"/>
          <p:cNvSpPr>
            <a:spLocks noGrp="1"/>
          </p:cNvSpPr>
          <p:nvPr>
            <p:ph idx="1"/>
          </p:nvPr>
        </p:nvSpPr>
        <p:spPr>
          <a:xfrm>
            <a:off x="457200" y="1052514"/>
            <a:ext cx="8229600" cy="1346386"/>
          </a:xfrm>
        </p:spPr>
        <p:txBody>
          <a:bodyPr>
            <a:normAutofit/>
          </a:bodyPr>
          <a:lstStyle/>
          <a:p>
            <a:pPr>
              <a:lnSpc>
                <a:spcPct val="120000"/>
              </a:lnSpc>
            </a:pPr>
            <a:r>
              <a:rPr lang="en-US" altLang="zh-CN" sz="2400" dirty="0"/>
              <a:t>Materials </a:t>
            </a:r>
            <a:r>
              <a:rPr lang="zh-CN" altLang="en-US" sz="2400" dirty="0"/>
              <a:t>服务中的</a:t>
            </a:r>
            <a:r>
              <a:rPr lang="en-US" altLang="zh-CN" sz="2400" dirty="0" err="1"/>
              <a:t>GetPurchased</a:t>
            </a:r>
            <a:r>
              <a:rPr lang="en-US" altLang="zh-CN" sz="2400" dirty="0"/>
              <a:t> </a:t>
            </a:r>
            <a:r>
              <a:rPr lang="zh-CN" altLang="en-US" sz="2400" dirty="0"/>
              <a:t>和</a:t>
            </a:r>
            <a:r>
              <a:rPr lang="en-US" altLang="zh-CN" sz="2400" dirty="0" err="1"/>
              <a:t>ReportStockLevels</a:t>
            </a:r>
            <a:r>
              <a:rPr lang="en-US" altLang="zh-CN" sz="2400" dirty="0"/>
              <a:t> </a:t>
            </a:r>
            <a:r>
              <a:rPr lang="zh-CN" altLang="en-US" sz="2400" dirty="0"/>
              <a:t>业务要求与遗留存货管理系统不时交互</a:t>
            </a:r>
          </a:p>
        </p:txBody>
      </p:sp>
      <p:sp>
        <p:nvSpPr>
          <p:cNvPr id="7475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7630D46-F1AB-41D1-931E-428E13907FF1}" type="slidenum">
              <a:rPr lang="en-US" altLang="zh-CN" smtClean="0"/>
              <a:pPr/>
              <a:t>54</a:t>
            </a:fld>
            <a:endParaRPr lang="en-US" altLang="zh-CN"/>
          </a:p>
        </p:txBody>
      </p:sp>
      <p:sp>
        <p:nvSpPr>
          <p:cNvPr id="6" name="Line 11"/>
          <p:cNvSpPr>
            <a:spLocks noChangeShapeType="1"/>
          </p:cNvSpPr>
          <p:nvPr/>
        </p:nvSpPr>
        <p:spPr bwMode="auto">
          <a:xfrm flipH="1" flipV="1">
            <a:off x="2916232" y="4768153"/>
            <a:ext cx="2303839" cy="168802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2"/>
          <p:cNvSpPr txBox="1">
            <a:spLocks noChangeArrowheads="1"/>
          </p:cNvSpPr>
          <p:nvPr/>
        </p:nvSpPr>
        <p:spPr bwMode="auto">
          <a:xfrm>
            <a:off x="5076448" y="6456175"/>
            <a:ext cx="2303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直接访问数据库</a:t>
            </a:r>
            <a:endParaRPr lang="en-US" altLang="zh-CN" dirty="0"/>
          </a:p>
        </p:txBody>
      </p:sp>
      <p:sp>
        <p:nvSpPr>
          <p:cNvPr id="8" name="Line 11"/>
          <p:cNvSpPr>
            <a:spLocks noChangeShapeType="1"/>
          </p:cNvSpPr>
          <p:nvPr/>
        </p:nvSpPr>
        <p:spPr bwMode="auto">
          <a:xfrm flipH="1">
            <a:off x="2916235" y="2276475"/>
            <a:ext cx="3311947" cy="86449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2"/>
          <p:cNvSpPr txBox="1">
            <a:spLocks noChangeArrowheads="1"/>
          </p:cNvSpPr>
          <p:nvPr/>
        </p:nvSpPr>
        <p:spPr bwMode="auto">
          <a:xfrm>
            <a:off x="6156176" y="2039144"/>
            <a:ext cx="208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访问遗留系统</a:t>
            </a:r>
            <a:r>
              <a:rPr lang="en-US" altLang="zh-CN" dirty="0"/>
              <a:t>API</a:t>
            </a:r>
          </a:p>
        </p:txBody>
      </p:sp>
      <p:sp>
        <p:nvSpPr>
          <p:cNvPr id="10" name="Line 11"/>
          <p:cNvSpPr>
            <a:spLocks noChangeShapeType="1"/>
          </p:cNvSpPr>
          <p:nvPr/>
        </p:nvSpPr>
        <p:spPr bwMode="auto">
          <a:xfrm flipH="1">
            <a:off x="2916233" y="2276476"/>
            <a:ext cx="3311947" cy="1828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1"/>
          <p:cNvSpPr>
            <a:spLocks noChangeShapeType="1"/>
          </p:cNvSpPr>
          <p:nvPr/>
        </p:nvSpPr>
        <p:spPr bwMode="auto">
          <a:xfrm flipH="1">
            <a:off x="3203847" y="2263773"/>
            <a:ext cx="3024335" cy="328930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zh-CN" altLang="en-US"/>
              <a:t>案例研究</a:t>
            </a:r>
            <a:r>
              <a:rPr lang="en-US" altLang="zh-CN"/>
              <a:t>——</a:t>
            </a:r>
            <a:r>
              <a:rPr lang="zh-CN" altLang="en-US"/>
              <a:t>服务设计选择</a:t>
            </a:r>
          </a:p>
        </p:txBody>
      </p:sp>
      <p:sp>
        <p:nvSpPr>
          <p:cNvPr id="74755" name="内容占位符 2"/>
          <p:cNvSpPr>
            <a:spLocks noGrp="1"/>
          </p:cNvSpPr>
          <p:nvPr>
            <p:ph idx="1"/>
          </p:nvPr>
        </p:nvSpPr>
        <p:spPr/>
        <p:txBody>
          <a:bodyPr/>
          <a:lstStyle/>
          <a:p>
            <a:r>
              <a:rPr lang="zh-CN" altLang="en-US" dirty="0"/>
              <a:t>在</a:t>
            </a:r>
            <a:r>
              <a:rPr lang="en-US" altLang="zh-CN" dirty="0" err="1"/>
              <a:t>RunLabProject</a:t>
            </a:r>
            <a:r>
              <a:rPr lang="zh-CN" altLang="en-US" dirty="0"/>
              <a:t>服务中</a:t>
            </a:r>
            <a:endParaRPr lang="en-US" altLang="zh-CN" dirty="0"/>
          </a:p>
          <a:p>
            <a:pPr lvl="1">
              <a:buFont typeface="Wingdings" panose="05000000000000000000" pitchFamily="2" charset="2"/>
              <a:buChar char="ü"/>
            </a:pPr>
            <a:r>
              <a:rPr lang="en-US" altLang="zh-CN" dirty="0"/>
              <a:t>1. </a:t>
            </a:r>
            <a:r>
              <a:rPr lang="zh-CN" altLang="en-US" dirty="0"/>
              <a:t>接受</a:t>
            </a:r>
            <a:r>
              <a:rPr lang="en-US" altLang="zh-CN" dirty="0" err="1"/>
              <a:t>InvLegacyAPI</a:t>
            </a:r>
            <a:r>
              <a:rPr lang="zh-CN" altLang="en-US" dirty="0"/>
              <a:t>服务的合约需求，并允许</a:t>
            </a:r>
            <a:r>
              <a:rPr lang="en-US" altLang="zh-CN" dirty="0"/>
              <a:t>Materials </a:t>
            </a:r>
            <a:r>
              <a:rPr lang="zh-CN" altLang="en-US" dirty="0"/>
              <a:t>服务将库存服务的</a:t>
            </a:r>
            <a:r>
              <a:rPr lang="en-US" altLang="zh-CN" dirty="0" err="1"/>
              <a:t>GetItem</a:t>
            </a:r>
            <a:r>
              <a:rPr lang="zh-CN" altLang="en-US" dirty="0"/>
              <a:t>和</a:t>
            </a:r>
            <a:r>
              <a:rPr lang="en-US" altLang="zh-CN" dirty="0" err="1"/>
              <a:t>GetItemCount</a:t>
            </a:r>
            <a:r>
              <a:rPr lang="zh-CN" altLang="en-US" dirty="0"/>
              <a:t>操作</a:t>
            </a:r>
            <a:r>
              <a:rPr lang="en-US" altLang="zh-CN" dirty="0"/>
              <a:t>"</a:t>
            </a:r>
            <a:r>
              <a:rPr lang="zh-CN" altLang="en-US" dirty="0"/>
              <a:t>按现状</a:t>
            </a:r>
            <a:r>
              <a:rPr lang="en-US" altLang="zh-CN" dirty="0"/>
              <a:t>"</a:t>
            </a:r>
            <a:r>
              <a:rPr lang="zh-CN" altLang="en-US" dirty="0"/>
              <a:t>进行绑定</a:t>
            </a:r>
            <a:endParaRPr lang="en-US" altLang="zh-CN" dirty="0"/>
          </a:p>
          <a:p>
            <a:pPr lvl="1">
              <a:buFont typeface="Wingdings" panose="05000000000000000000" pitchFamily="2" charset="2"/>
              <a:buChar char="ü"/>
            </a:pPr>
            <a:r>
              <a:rPr lang="en-US" altLang="zh-CN" dirty="0"/>
              <a:t>2</a:t>
            </a:r>
            <a:r>
              <a:rPr lang="en-US" altLang="zh-CN"/>
              <a:t>.  </a:t>
            </a:r>
            <a:r>
              <a:rPr lang="zh-CN" altLang="en-US"/>
              <a:t>引入</a:t>
            </a:r>
            <a:r>
              <a:rPr lang="zh-CN" altLang="en-US" dirty="0"/>
              <a:t>一个提供基于己有的、标准化的库存成员</a:t>
            </a:r>
            <a:r>
              <a:rPr lang="en-US" altLang="zh-CN" dirty="0"/>
              <a:t>schema</a:t>
            </a:r>
            <a:r>
              <a:rPr lang="zh-CN" altLang="en-US" dirty="0"/>
              <a:t>定义的合约服务。这将会建立一个真正的</a:t>
            </a:r>
            <a:r>
              <a:rPr lang="en-US" altLang="zh-CN" dirty="0"/>
              <a:t>Inventory</a:t>
            </a:r>
            <a:r>
              <a:rPr lang="zh-CN" altLang="en-US" dirty="0"/>
              <a:t>实体服务，仍然可以包装现有的遗留系统，但将会被构建来在遗留</a:t>
            </a:r>
            <a:r>
              <a:rPr lang="en-US" altLang="zh-CN" dirty="0"/>
              <a:t>API schema</a:t>
            </a:r>
            <a:r>
              <a:rPr lang="zh-CN" altLang="en-US" dirty="0"/>
              <a:t>与标准的运行时库存项 </a:t>
            </a:r>
            <a:r>
              <a:rPr lang="en-US" altLang="zh-CN" dirty="0"/>
              <a:t>(Inventory Item) schema</a:t>
            </a:r>
            <a:r>
              <a:rPr lang="zh-CN" altLang="en-US" dirty="0"/>
              <a:t>之间进行内部转换的机制</a:t>
            </a:r>
          </a:p>
        </p:txBody>
      </p:sp>
      <p:sp>
        <p:nvSpPr>
          <p:cNvPr id="7578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BA55E7A-9EE5-46C2-8BC9-A2673CFDC8B2}" type="slidenum">
              <a:rPr lang="en-US" altLang="zh-CN" smtClean="0"/>
              <a:pPr/>
              <a:t>55</a:t>
            </a:fld>
            <a:endParaRPr lang="en-US" altLang="zh-CN"/>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a:t>案例研究</a:t>
            </a:r>
            <a:r>
              <a:rPr lang="en-US" altLang="zh-CN"/>
              <a:t>——</a:t>
            </a:r>
            <a:r>
              <a:rPr lang="zh-CN" altLang="en-US"/>
              <a:t>选项</a:t>
            </a:r>
            <a:r>
              <a:rPr lang="en-US" altLang="zh-CN"/>
              <a:t>1</a:t>
            </a:r>
            <a:endParaRPr lang="zh-CN" altLang="en-US"/>
          </a:p>
        </p:txBody>
      </p:sp>
      <p:sp>
        <p:nvSpPr>
          <p:cNvPr id="76803"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65800FD-4539-4B1F-8076-FC68599E5332}" type="slidenum">
              <a:rPr lang="en-US" altLang="zh-CN" smtClean="0"/>
              <a:pPr/>
              <a:t>56</a:t>
            </a:fld>
            <a:endParaRPr lang="en-US" altLang="zh-CN"/>
          </a:p>
        </p:txBody>
      </p:sp>
      <p:pic>
        <p:nvPicPr>
          <p:cNvPr id="5" name="图片 4"/>
          <p:cNvPicPr>
            <a:picLocks noChangeAspect="1"/>
          </p:cNvPicPr>
          <p:nvPr/>
        </p:nvPicPr>
        <p:blipFill>
          <a:blip r:embed="rId3"/>
          <a:stretch>
            <a:fillRect/>
          </a:stretch>
        </p:blipFill>
        <p:spPr>
          <a:xfrm>
            <a:off x="2385810" y="984653"/>
            <a:ext cx="4372380" cy="5873347"/>
          </a:xfrm>
          <a:prstGeom prst="rect">
            <a:avLst/>
          </a:prstGeom>
        </p:spPr>
      </p:pic>
      <p:sp>
        <p:nvSpPr>
          <p:cNvPr id="6" name="Line 11"/>
          <p:cNvSpPr>
            <a:spLocks noChangeShapeType="1"/>
          </p:cNvSpPr>
          <p:nvPr/>
        </p:nvSpPr>
        <p:spPr bwMode="auto">
          <a:xfrm flipH="1">
            <a:off x="5292080" y="6021288"/>
            <a:ext cx="136815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2"/>
          <p:cNvSpPr txBox="1">
            <a:spLocks noChangeArrowheads="1"/>
          </p:cNvSpPr>
          <p:nvPr/>
        </p:nvSpPr>
        <p:spPr bwMode="auto">
          <a:xfrm>
            <a:off x="6660232" y="5559623"/>
            <a:ext cx="230425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标准和非标数据之间的转换对类似的服务来说都是必须的</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zh-CN" altLang="en-US"/>
              <a:t>案例研究</a:t>
            </a:r>
            <a:r>
              <a:rPr lang="en-US" altLang="zh-CN"/>
              <a:t>——</a:t>
            </a:r>
            <a:r>
              <a:rPr lang="zh-CN" altLang="en-US"/>
              <a:t>选项</a:t>
            </a:r>
            <a:r>
              <a:rPr lang="en-US" altLang="zh-CN"/>
              <a:t>2</a:t>
            </a:r>
            <a:endParaRPr lang="zh-CN" altLang="en-US"/>
          </a:p>
        </p:txBody>
      </p:sp>
      <p:sp>
        <p:nvSpPr>
          <p:cNvPr id="7782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B49742B-30F6-425E-BCE4-CB861B7F5A5F}" type="slidenum">
              <a:rPr lang="en-US" altLang="zh-CN" smtClean="0"/>
              <a:pPr/>
              <a:t>57</a:t>
            </a:fld>
            <a:endParaRPr lang="en-US" altLang="zh-CN"/>
          </a:p>
        </p:txBody>
      </p:sp>
      <p:pic>
        <p:nvPicPr>
          <p:cNvPr id="7" name="图片 6"/>
          <p:cNvPicPr>
            <a:picLocks noChangeAspect="1"/>
          </p:cNvPicPr>
          <p:nvPr/>
        </p:nvPicPr>
        <p:blipFill>
          <a:blip r:embed="rId3"/>
          <a:stretch>
            <a:fillRect/>
          </a:stretch>
        </p:blipFill>
        <p:spPr>
          <a:xfrm>
            <a:off x="2373834" y="974415"/>
            <a:ext cx="4396332" cy="5814771"/>
          </a:xfrm>
          <a:prstGeom prst="rect">
            <a:avLst/>
          </a:prstGeom>
        </p:spPr>
      </p:pic>
      <p:sp>
        <p:nvSpPr>
          <p:cNvPr id="5" name="Line 11"/>
          <p:cNvSpPr>
            <a:spLocks noChangeShapeType="1"/>
          </p:cNvSpPr>
          <p:nvPr/>
        </p:nvSpPr>
        <p:spPr bwMode="auto">
          <a:xfrm flipH="1">
            <a:off x="5220072" y="3397920"/>
            <a:ext cx="136815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12"/>
          <p:cNvSpPr txBox="1">
            <a:spLocks noChangeArrowheads="1"/>
          </p:cNvSpPr>
          <p:nvPr/>
        </p:nvSpPr>
        <p:spPr bwMode="auto">
          <a:xfrm>
            <a:off x="6588224" y="3140968"/>
            <a:ext cx="25557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t>标准和非标数据之间的转换在此处统一完成</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Read More…</a:t>
            </a:r>
            <a:endParaRPr lang="zh-CN" altLang="en-US" dirty="0"/>
          </a:p>
        </p:txBody>
      </p:sp>
      <p:sp>
        <p:nvSpPr>
          <p:cNvPr id="3" name="内容占位符 2"/>
          <p:cNvSpPr>
            <a:spLocks noGrp="1"/>
          </p:cNvSpPr>
          <p:nvPr>
            <p:ph idx="1"/>
          </p:nvPr>
        </p:nvSpPr>
        <p:spPr/>
        <p:txBody>
          <a:bodyPr>
            <a:normAutofit/>
          </a:bodyPr>
          <a:lstStyle/>
          <a:p>
            <a:pPr marL="0" indent="0">
              <a:buNone/>
            </a:pPr>
            <a:endParaRPr lang="en-US" altLang="zh-CN"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服务设计原则</a:t>
            </a:r>
            <a:r>
              <a:rPr lang="en-US" altLang="zh-CN" sz="2800" dirty="0"/>
              <a:t>/(</a:t>
            </a:r>
            <a:r>
              <a:rPr lang="zh-CN" altLang="en-US" sz="2800" dirty="0"/>
              <a:t>美</a:t>
            </a:r>
            <a:r>
              <a:rPr lang="en-US" altLang="zh-CN" sz="2800" dirty="0"/>
              <a:t>) Thomas </a:t>
            </a:r>
            <a:r>
              <a:rPr lang="en-US" altLang="zh-CN" sz="2800" dirty="0" err="1"/>
              <a:t>Erl</a:t>
            </a:r>
            <a:r>
              <a:rPr lang="zh-CN" altLang="en-US" sz="2800" dirty="0"/>
              <a:t>著 郭耀译</a:t>
            </a:r>
            <a:endParaRPr lang="en-US" altLang="zh-CN" sz="2800" dirty="0"/>
          </a:p>
          <a:p>
            <a:r>
              <a:rPr lang="zh-CN" altLang="en-US" sz="2800" dirty="0"/>
              <a:t>出版发行项</a:t>
            </a:r>
            <a:r>
              <a:rPr lang="en-US" altLang="zh-CN" sz="2800" dirty="0"/>
              <a:t>:</a:t>
            </a:r>
            <a:r>
              <a:rPr lang="zh-CN" altLang="en-US" sz="2800" dirty="0"/>
              <a:t>北京</a:t>
            </a:r>
            <a:r>
              <a:rPr lang="en-US" altLang="zh-CN" sz="2800" dirty="0"/>
              <a:t>:</a:t>
            </a:r>
            <a:r>
              <a:rPr lang="zh-CN" altLang="en-US" sz="2800" dirty="0"/>
              <a:t>人民邮电版社</a:t>
            </a:r>
            <a:r>
              <a:rPr lang="en-US" altLang="zh-CN" sz="2800" dirty="0"/>
              <a:t>,2009 </a:t>
            </a:r>
          </a:p>
          <a:p>
            <a:r>
              <a:rPr lang="en-US" altLang="zh-CN" sz="2800" dirty="0"/>
              <a:t>ISBN</a:t>
            </a:r>
            <a:r>
              <a:rPr lang="zh-CN" altLang="en-US" sz="2800" dirty="0"/>
              <a:t>及定价</a:t>
            </a:r>
            <a:r>
              <a:rPr lang="en-US" altLang="zh-CN" sz="2800" dirty="0"/>
              <a:t>:978-7-115-20492-9/CNY55.00 </a:t>
            </a:r>
          </a:p>
          <a:p>
            <a:r>
              <a:rPr lang="en-US" altLang="zh-CN" sz="2800" dirty="0"/>
              <a:t>URL:</a:t>
            </a:r>
            <a:r>
              <a:rPr lang="en-US" altLang="zh-CN" sz="2800" dirty="0">
                <a:hlinkClick r:id="rId2"/>
              </a:rPr>
              <a:t>http://calis2.nju.edu.cn:8080/opac/item.php?marc_no=0003465232</a:t>
            </a:r>
            <a:endParaRPr lang="en-US" altLang="zh-CN" sz="2800" dirty="0"/>
          </a:p>
        </p:txBody>
      </p:sp>
      <p:sp>
        <p:nvSpPr>
          <p:cNvPr id="4" name="灯片编号占位符 3"/>
          <p:cNvSpPr>
            <a:spLocks noGrp="1"/>
          </p:cNvSpPr>
          <p:nvPr>
            <p:ph type="sldNum" sz="quarter" idx="4294967295"/>
          </p:nvPr>
        </p:nvSpPr>
        <p:spPr>
          <a:xfrm>
            <a:off x="3505200" y="6461125"/>
            <a:ext cx="2133600" cy="320675"/>
          </a:xfrm>
          <a:prstGeom prst="rect">
            <a:avLst/>
          </a:prstGeom>
        </p:spPr>
        <p:txBody>
          <a:bodyPr/>
          <a:lstStyle/>
          <a:p>
            <a:pPr>
              <a:defRPr/>
            </a:pPr>
            <a:fld id="{35E2893E-1C56-4F7E-897F-1FA1E5A4D06E}" type="slidenum">
              <a:rPr lang="en-US" altLang="zh-CN" smtClean="0"/>
              <a:pPr>
                <a:defRPr/>
              </a:pPr>
              <a:t>58</a:t>
            </a:fld>
            <a:endParaRPr lang="en-US" altLang="zh-CN" dirty="0"/>
          </a:p>
        </p:txBody>
      </p:sp>
    </p:spTree>
    <p:extLst>
      <p:ext uri="{BB962C8B-B14F-4D97-AF65-F5344CB8AC3E}">
        <p14:creationId xmlns:p14="http://schemas.microsoft.com/office/powerpoint/2010/main" val="1718798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SOSE</Template>
  <TotalTime>16688</TotalTime>
  <Words>4358</Words>
  <Application>Microsoft Office PowerPoint</Application>
  <PresentationFormat>全屏显示(4:3)</PresentationFormat>
  <Paragraphs>468</Paragraphs>
  <Slides>58</Slides>
  <Notes>56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58</vt:i4>
      </vt:variant>
    </vt:vector>
  </HeadingPairs>
  <TitlesOfParts>
    <vt:vector size="62" baseType="lpstr">
      <vt:lpstr>Arial</vt:lpstr>
      <vt:lpstr>Verdana</vt:lpstr>
      <vt:lpstr>Wingdings</vt:lpstr>
      <vt:lpstr>software</vt:lpstr>
      <vt:lpstr>Principles of Service-Oriented Design I Service-Oriented Software Engineering</vt:lpstr>
      <vt:lpstr>面向服务设计的原则</vt:lpstr>
      <vt:lpstr>从而……</vt:lpstr>
      <vt:lpstr>服务合约（标准化与设计）</vt:lpstr>
      <vt:lpstr>服务合约</vt:lpstr>
      <vt:lpstr>服务功能描述的标准化</vt:lpstr>
      <vt:lpstr>服务数据表示的标准化 （1/3）</vt:lpstr>
      <vt:lpstr>服务数据表示的标准化 （2/3）</vt:lpstr>
      <vt:lpstr>服务数据表示的标准化 （3/3）</vt:lpstr>
      <vt:lpstr>服务策略的标准化</vt:lpstr>
      <vt:lpstr>合约与服务设计</vt:lpstr>
      <vt:lpstr>数据表示标准化和转换的避免 （1/2）</vt:lpstr>
      <vt:lpstr>数据表示标准化和转换的避免 （2/2）</vt:lpstr>
      <vt:lpstr>标准化与粒度</vt:lpstr>
      <vt:lpstr>标准化服务合约与服务模型</vt:lpstr>
      <vt:lpstr>标准化服务合约设计与其他原则 I</vt:lpstr>
      <vt:lpstr>标准化服务合约设计与其他原则 II</vt:lpstr>
      <vt:lpstr>标准化服务合约设计与其他原则 III</vt:lpstr>
      <vt:lpstr>标准化服务合约设计与其他原则 IV</vt:lpstr>
      <vt:lpstr>服务合约设计的相关风险</vt:lpstr>
      <vt:lpstr>案例研究——服务候选</vt:lpstr>
      <vt:lpstr>案例研究——设计标准</vt:lpstr>
      <vt:lpstr>案例研究——标准化的WSDL 定义概要</vt:lpstr>
      <vt:lpstr>案例研究——标准化的XML Schema 定义</vt:lpstr>
      <vt:lpstr>案例研究——标准化的服务和数据表示层</vt:lpstr>
      <vt:lpstr>案例研究——服务描述 I</vt:lpstr>
      <vt:lpstr>案例研究——服务描述 II</vt:lpstr>
      <vt:lpstr>案例研究——服务描述 III</vt:lpstr>
      <vt:lpstr>服务耦合 (服务内及消费者依赖)</vt:lpstr>
      <vt:lpstr>服务松散耦合原则</vt:lpstr>
      <vt:lpstr>服务合约耦合的类型</vt:lpstr>
      <vt:lpstr>“逻辑-合约”耦合 (服务逻辑到服务合约的耦合)</vt:lpstr>
      <vt:lpstr>“合约-逻辑”耦合 (服务合约到服务逻辑的耦合)</vt:lpstr>
      <vt:lpstr>“合约-技术”耦合 (服务合约到其底层技术的耦合)</vt:lpstr>
      <vt:lpstr>“合约-实现”耦合 (服务合约到其实现环境的耦合)</vt:lpstr>
      <vt:lpstr>“合约-功能”耦合 (服务合约到其外部逻辑的耦合)</vt:lpstr>
      <vt:lpstr>服务消费者耦合的类型</vt:lpstr>
      <vt:lpstr>“消费者-合约”耦合—— 直接和间接的耦合场景（1/3）</vt:lpstr>
      <vt:lpstr>“消费者-合约”耦合—— 直接和间接的耦合场景（2/3）</vt:lpstr>
      <vt:lpstr>“消费者-合约”耦合—— 直接和间接的耦合场景（3/3）</vt:lpstr>
      <vt:lpstr>“消费者-合约”耦合—— 合约集中化和技术耦合</vt:lpstr>
      <vt:lpstr>“消费者-合约”耦合—— 其他</vt:lpstr>
      <vt:lpstr>服务松散耦合与服务设计</vt:lpstr>
      <vt:lpstr>耦合与面向服务 （1/2）</vt:lpstr>
      <vt:lpstr>耦合与面向服务 （2/2）</vt:lpstr>
      <vt:lpstr>服务松散耦合与粒度</vt:lpstr>
      <vt:lpstr>耦合与服务模型</vt:lpstr>
      <vt:lpstr>服务松散耦合与其他原则 I</vt:lpstr>
      <vt:lpstr>服务松散耦合与其他原则 II</vt:lpstr>
      <vt:lpstr>服务松散耦合与其他原则 III</vt:lpstr>
      <vt:lpstr>服务松散耦合与其他原则 IV</vt:lpstr>
      <vt:lpstr>服务松散耦合的相关风险</vt:lpstr>
      <vt:lpstr>案例研究——现有服务的耦合级别</vt:lpstr>
      <vt:lpstr>案例研究——引入InvLegacyAPI 服务</vt:lpstr>
      <vt:lpstr>案例研究——服务设计选择</vt:lpstr>
      <vt:lpstr>案例研究——选项1</vt:lpstr>
      <vt:lpstr>案例研究——选项2</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274</cp:revision>
  <dcterms:created xsi:type="dcterms:W3CDTF">2008-04-16T11:36:22Z</dcterms:created>
  <dcterms:modified xsi:type="dcterms:W3CDTF">2023-03-29T02:38:44Z</dcterms:modified>
</cp:coreProperties>
</file>