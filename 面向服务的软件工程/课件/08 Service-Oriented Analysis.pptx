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3.xml" ContentType="application/vnd.openxmlformats-officedocument.presentationml.tags+xml"/>
  <Override PartName="/ppt/notesSlides/notesSlide19.xml" ContentType="application/vnd.openxmlformats-officedocument.presentationml.notesSlide+xml"/>
  <Override PartName="/ppt/tags/tag4.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5.xml" ContentType="application/vnd.openxmlformats-officedocument.presentationml.tag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tags/tag6.xml" ContentType="application/vnd.openxmlformats-officedocument.presentationml.tags+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77" r:id="rId1"/>
  </p:sldMasterIdLst>
  <p:notesMasterIdLst>
    <p:notesMasterId r:id="rId63"/>
  </p:notesMasterIdLst>
  <p:sldIdLst>
    <p:sldId id="256" r:id="rId2"/>
    <p:sldId id="330" r:id="rId3"/>
    <p:sldId id="392" r:id="rId4"/>
    <p:sldId id="393" r:id="rId5"/>
    <p:sldId id="394" r:id="rId6"/>
    <p:sldId id="395" r:id="rId7"/>
    <p:sldId id="331" r:id="rId8"/>
    <p:sldId id="332" r:id="rId9"/>
    <p:sldId id="333" r:id="rId10"/>
    <p:sldId id="334" r:id="rId11"/>
    <p:sldId id="321" r:id="rId12"/>
    <p:sldId id="320" r:id="rId13"/>
    <p:sldId id="329" r:id="rId14"/>
    <p:sldId id="340" r:id="rId15"/>
    <p:sldId id="342" r:id="rId16"/>
    <p:sldId id="343" r:id="rId17"/>
    <p:sldId id="344" r:id="rId18"/>
    <p:sldId id="345" r:id="rId19"/>
    <p:sldId id="346" r:id="rId20"/>
    <p:sldId id="347" r:id="rId21"/>
    <p:sldId id="348" r:id="rId22"/>
    <p:sldId id="349" r:id="rId23"/>
    <p:sldId id="404" r:id="rId24"/>
    <p:sldId id="406" r:id="rId25"/>
    <p:sldId id="351" r:id="rId26"/>
    <p:sldId id="352" r:id="rId27"/>
    <p:sldId id="353" r:id="rId28"/>
    <p:sldId id="354" r:id="rId29"/>
    <p:sldId id="355" r:id="rId30"/>
    <p:sldId id="401" r:id="rId31"/>
    <p:sldId id="403" r:id="rId32"/>
    <p:sldId id="357" r:id="rId33"/>
    <p:sldId id="358" r:id="rId34"/>
    <p:sldId id="359" r:id="rId35"/>
    <p:sldId id="363" r:id="rId36"/>
    <p:sldId id="365" r:id="rId37"/>
    <p:sldId id="366" r:id="rId38"/>
    <p:sldId id="367" r:id="rId39"/>
    <p:sldId id="368" r:id="rId40"/>
    <p:sldId id="369" r:id="rId41"/>
    <p:sldId id="370" r:id="rId42"/>
    <p:sldId id="371" r:id="rId43"/>
    <p:sldId id="372" r:id="rId44"/>
    <p:sldId id="373" r:id="rId45"/>
    <p:sldId id="374" r:id="rId46"/>
    <p:sldId id="375" r:id="rId47"/>
    <p:sldId id="407" r:id="rId48"/>
    <p:sldId id="378" r:id="rId49"/>
    <p:sldId id="380" r:id="rId50"/>
    <p:sldId id="379" r:id="rId51"/>
    <p:sldId id="381" r:id="rId52"/>
    <p:sldId id="382" r:id="rId53"/>
    <p:sldId id="383" r:id="rId54"/>
    <p:sldId id="386" r:id="rId55"/>
    <p:sldId id="385" r:id="rId56"/>
    <p:sldId id="387" r:id="rId57"/>
    <p:sldId id="384" r:id="rId58"/>
    <p:sldId id="388" r:id="rId59"/>
    <p:sldId id="389" r:id="rId60"/>
    <p:sldId id="390" r:id="rId61"/>
    <p:sldId id="405" r:id="rId62"/>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78" autoAdjust="0"/>
    <p:restoredTop sz="95773" autoAdjust="0"/>
  </p:normalViewPr>
  <p:slideViewPr>
    <p:cSldViewPr>
      <p:cViewPr varScale="1">
        <p:scale>
          <a:sx n="110" d="100"/>
          <a:sy n="110" d="100"/>
        </p:scale>
        <p:origin x="1536" y="5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image" Target="../media/image2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zh-CN"/>
          </a:p>
        </p:txBody>
      </p:sp>
      <p:sp>
        <p:nvSpPr>
          <p:cNvPr id="4301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6349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301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CN"/>
          </a:p>
        </p:txBody>
      </p:sp>
      <p:sp>
        <p:nvSpPr>
          <p:cNvPr id="4301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6F502F30-EBBD-4DFF-AE35-1FA457892180}" type="slidenum">
              <a:rPr lang="en-US" altLang="zh-CN"/>
              <a:pPr>
                <a:defRPr/>
              </a:pPr>
              <a:t>‹#›</a:t>
            </a:fld>
            <a:endParaRPr lang="en-US" altLang="zh-CN" dirty="0"/>
          </a:p>
        </p:txBody>
      </p:sp>
    </p:spTree>
    <p:extLst>
      <p:ext uri="{BB962C8B-B14F-4D97-AF65-F5344CB8AC3E}">
        <p14:creationId xmlns:p14="http://schemas.microsoft.com/office/powerpoint/2010/main" val="176901188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TextEdit="1"/>
          </p:cNvSpPr>
          <p:nvPr>
            <p:ph type="sldImg"/>
          </p:nvPr>
        </p:nvSpPr>
        <p:spPr>
          <a:ln/>
        </p:spPr>
      </p:sp>
      <p:sp>
        <p:nvSpPr>
          <p:cNvPr id="6451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451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43145A33-96B2-4ED0-90AB-EDD435BC143F}" type="slidenum">
              <a:rPr lang="en-US" altLang="zh-CN" smtClean="0"/>
              <a:pPr eaLnBrk="1" hangingPunct="1"/>
              <a:t>1</a:t>
            </a:fld>
            <a:endParaRPr lang="en-US" altLang="zh-CN"/>
          </a:p>
        </p:txBody>
      </p:sp>
    </p:spTree>
    <p:extLst>
      <p:ext uri="{BB962C8B-B14F-4D97-AF65-F5344CB8AC3E}">
        <p14:creationId xmlns:p14="http://schemas.microsoft.com/office/powerpoint/2010/main" val="37196875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幻灯片图像占位符 1"/>
          <p:cNvSpPr>
            <a:spLocks noGrp="1" noRot="1" noChangeAspect="1" noTextEdit="1"/>
          </p:cNvSpPr>
          <p:nvPr>
            <p:ph type="sldImg"/>
          </p:nvPr>
        </p:nvSpPr>
        <p:spPr>
          <a:ln/>
        </p:spPr>
      </p:sp>
      <p:sp>
        <p:nvSpPr>
          <p:cNvPr id="6553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554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153F7D6C-07EB-4BC3-8D1F-DAA908559713}" type="slidenum">
              <a:rPr lang="en-US" altLang="zh-CN" smtClean="0"/>
              <a:pPr eaLnBrk="1" hangingPunct="1"/>
              <a:t>2</a:t>
            </a:fld>
            <a:endParaRPr lang="en-US" altLang="zh-CN"/>
          </a:p>
        </p:txBody>
      </p:sp>
    </p:spTree>
    <p:extLst>
      <p:ext uri="{BB962C8B-B14F-4D97-AF65-F5344CB8AC3E}">
        <p14:creationId xmlns:p14="http://schemas.microsoft.com/office/powerpoint/2010/main" val="13186961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幻灯片图像占位符 1"/>
          <p:cNvSpPr>
            <a:spLocks noGrp="1" noRot="1" noChangeAspect="1" noTextEdit="1"/>
          </p:cNvSpPr>
          <p:nvPr>
            <p:ph type="sldImg"/>
          </p:nvPr>
        </p:nvSpPr>
        <p:spPr>
          <a:ln/>
        </p:spPr>
      </p:sp>
      <p:sp>
        <p:nvSpPr>
          <p:cNvPr id="6656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656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74D28BBF-FCC3-4DDB-BE6D-59B8D6DB00BB}" type="slidenum">
              <a:rPr lang="en-US" altLang="zh-CN" smtClean="0"/>
              <a:pPr eaLnBrk="1" hangingPunct="1"/>
              <a:t>6</a:t>
            </a:fld>
            <a:endParaRPr lang="en-US" altLang="zh-CN"/>
          </a:p>
        </p:txBody>
      </p:sp>
    </p:spTree>
    <p:extLst>
      <p:ext uri="{BB962C8B-B14F-4D97-AF65-F5344CB8AC3E}">
        <p14:creationId xmlns:p14="http://schemas.microsoft.com/office/powerpoint/2010/main" val="40785083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幻灯片图像占位符 1"/>
          <p:cNvSpPr>
            <a:spLocks noGrp="1" noRot="1" noChangeAspect="1" noTextEdit="1"/>
          </p:cNvSpPr>
          <p:nvPr>
            <p:ph type="sldImg"/>
          </p:nvPr>
        </p:nvSpPr>
        <p:spPr>
          <a:ln/>
        </p:spPr>
      </p:sp>
      <p:sp>
        <p:nvSpPr>
          <p:cNvPr id="6758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758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2093C23-9ADA-4885-805D-A79459A30F9A}" type="slidenum">
              <a:rPr lang="en-US" altLang="zh-CN" smtClean="0"/>
              <a:pPr eaLnBrk="1" hangingPunct="1"/>
              <a:t>7</a:t>
            </a:fld>
            <a:endParaRPr lang="en-US" altLang="zh-CN"/>
          </a:p>
        </p:txBody>
      </p:sp>
    </p:spTree>
    <p:extLst>
      <p:ext uri="{BB962C8B-B14F-4D97-AF65-F5344CB8AC3E}">
        <p14:creationId xmlns:p14="http://schemas.microsoft.com/office/powerpoint/2010/main" val="34297911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幻灯片图像占位符 1"/>
          <p:cNvSpPr>
            <a:spLocks noGrp="1" noRot="1" noChangeAspect="1" noTextEdit="1"/>
          </p:cNvSpPr>
          <p:nvPr>
            <p:ph type="sldImg"/>
          </p:nvPr>
        </p:nvSpPr>
        <p:spPr>
          <a:ln/>
        </p:spPr>
      </p:sp>
      <p:sp>
        <p:nvSpPr>
          <p:cNvPr id="6861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61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30F7CD38-F53E-4BCB-B208-7885527284F8}" type="slidenum">
              <a:rPr lang="en-US" altLang="zh-CN" smtClean="0"/>
              <a:pPr eaLnBrk="1" hangingPunct="1"/>
              <a:t>8</a:t>
            </a:fld>
            <a:endParaRPr lang="en-US" altLang="zh-CN"/>
          </a:p>
        </p:txBody>
      </p:sp>
    </p:spTree>
    <p:extLst>
      <p:ext uri="{BB962C8B-B14F-4D97-AF65-F5344CB8AC3E}">
        <p14:creationId xmlns:p14="http://schemas.microsoft.com/office/powerpoint/2010/main" val="33686819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幻灯片图像占位符 1"/>
          <p:cNvSpPr>
            <a:spLocks noGrp="1" noRot="1" noChangeAspect="1" noTextEdit="1"/>
          </p:cNvSpPr>
          <p:nvPr>
            <p:ph type="sldImg"/>
          </p:nvPr>
        </p:nvSpPr>
        <p:spPr>
          <a:ln/>
        </p:spPr>
      </p:sp>
      <p:sp>
        <p:nvSpPr>
          <p:cNvPr id="6963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963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767309B3-A561-475F-B214-8410C58FCBB0}" type="slidenum">
              <a:rPr lang="en-US" altLang="zh-CN" smtClean="0"/>
              <a:pPr eaLnBrk="1" hangingPunct="1"/>
              <a:t>9</a:t>
            </a:fld>
            <a:endParaRPr lang="en-US" altLang="zh-CN"/>
          </a:p>
        </p:txBody>
      </p:sp>
    </p:spTree>
    <p:extLst>
      <p:ext uri="{BB962C8B-B14F-4D97-AF65-F5344CB8AC3E}">
        <p14:creationId xmlns:p14="http://schemas.microsoft.com/office/powerpoint/2010/main" val="34582285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幻灯片图像占位符 1"/>
          <p:cNvSpPr>
            <a:spLocks noGrp="1" noRot="1" noChangeAspect="1" noTextEdit="1"/>
          </p:cNvSpPr>
          <p:nvPr>
            <p:ph type="sldImg"/>
          </p:nvPr>
        </p:nvSpPr>
        <p:spPr>
          <a:ln/>
        </p:spPr>
      </p:sp>
      <p:sp>
        <p:nvSpPr>
          <p:cNvPr id="7065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066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3D7F85CB-EC89-49A5-A96E-244CC7B6ACFA}" type="slidenum">
              <a:rPr lang="en-US" altLang="zh-CN" smtClean="0"/>
              <a:pPr eaLnBrk="1" hangingPunct="1"/>
              <a:t>10</a:t>
            </a:fld>
            <a:endParaRPr lang="en-US" altLang="zh-CN"/>
          </a:p>
        </p:txBody>
      </p:sp>
    </p:spTree>
    <p:extLst>
      <p:ext uri="{BB962C8B-B14F-4D97-AF65-F5344CB8AC3E}">
        <p14:creationId xmlns:p14="http://schemas.microsoft.com/office/powerpoint/2010/main" val="34383948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幻灯片图像占位符 1"/>
          <p:cNvSpPr>
            <a:spLocks noGrp="1" noRot="1" noChangeAspect="1" noTextEdit="1"/>
          </p:cNvSpPr>
          <p:nvPr>
            <p:ph type="sldImg"/>
          </p:nvPr>
        </p:nvSpPr>
        <p:spPr>
          <a:ln/>
        </p:spPr>
      </p:sp>
      <p:sp>
        <p:nvSpPr>
          <p:cNvPr id="7168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168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828D3092-BBE2-4CFA-80A7-EADFAF115F95}" type="slidenum">
              <a:rPr lang="en-US" altLang="zh-CN" smtClean="0"/>
              <a:pPr eaLnBrk="1" hangingPunct="1"/>
              <a:t>11</a:t>
            </a:fld>
            <a:endParaRPr lang="en-US" altLang="zh-CN"/>
          </a:p>
        </p:txBody>
      </p:sp>
    </p:spTree>
    <p:extLst>
      <p:ext uri="{BB962C8B-B14F-4D97-AF65-F5344CB8AC3E}">
        <p14:creationId xmlns:p14="http://schemas.microsoft.com/office/powerpoint/2010/main" val="15842127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幻灯片图像占位符 1"/>
          <p:cNvSpPr>
            <a:spLocks noGrp="1" noRot="1" noChangeAspect="1" noTextEdit="1"/>
          </p:cNvSpPr>
          <p:nvPr>
            <p:ph type="sldImg"/>
          </p:nvPr>
        </p:nvSpPr>
        <p:spPr>
          <a:ln/>
        </p:spPr>
      </p:sp>
      <p:sp>
        <p:nvSpPr>
          <p:cNvPr id="7270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70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3907D054-F88A-405D-A2AA-0EBAB1A71301}" type="slidenum">
              <a:rPr lang="en-US" altLang="zh-CN" smtClean="0"/>
              <a:pPr eaLnBrk="1" hangingPunct="1"/>
              <a:t>12</a:t>
            </a:fld>
            <a:endParaRPr lang="en-US" altLang="zh-CN"/>
          </a:p>
        </p:txBody>
      </p:sp>
    </p:spTree>
    <p:extLst>
      <p:ext uri="{BB962C8B-B14F-4D97-AF65-F5344CB8AC3E}">
        <p14:creationId xmlns:p14="http://schemas.microsoft.com/office/powerpoint/2010/main" val="38197427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幻灯片图像占位符 1"/>
          <p:cNvSpPr>
            <a:spLocks noGrp="1" noRot="1" noChangeAspect="1" noTextEdit="1"/>
          </p:cNvSpPr>
          <p:nvPr>
            <p:ph type="sldImg"/>
          </p:nvPr>
        </p:nvSpPr>
        <p:spPr>
          <a:ln/>
        </p:spPr>
      </p:sp>
      <p:sp>
        <p:nvSpPr>
          <p:cNvPr id="7373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73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77F7C4E-E17B-4075-87BB-489F6225A98D}" type="slidenum">
              <a:rPr lang="en-US" altLang="zh-CN" smtClean="0"/>
              <a:pPr eaLnBrk="1" hangingPunct="1"/>
              <a:t>13</a:t>
            </a:fld>
            <a:endParaRPr lang="en-US" altLang="zh-CN"/>
          </a:p>
        </p:txBody>
      </p:sp>
    </p:spTree>
    <p:extLst>
      <p:ext uri="{BB962C8B-B14F-4D97-AF65-F5344CB8AC3E}">
        <p14:creationId xmlns:p14="http://schemas.microsoft.com/office/powerpoint/2010/main" val="17109587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a:ln/>
        </p:spPr>
      </p:sp>
      <p:sp>
        <p:nvSpPr>
          <p:cNvPr id="7475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475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63E667B3-3CE1-41C2-86AA-0D8D76F23666}" type="slidenum">
              <a:rPr lang="en-US" altLang="zh-CN" smtClean="0"/>
              <a:pPr eaLnBrk="1" hangingPunct="1"/>
              <a:t>14</a:t>
            </a:fld>
            <a:endParaRPr lang="en-US" altLang="zh-CN"/>
          </a:p>
        </p:txBody>
      </p:sp>
    </p:spTree>
    <p:extLst>
      <p:ext uri="{BB962C8B-B14F-4D97-AF65-F5344CB8AC3E}">
        <p14:creationId xmlns:p14="http://schemas.microsoft.com/office/powerpoint/2010/main" val="11921365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幻灯片图像占位符 1"/>
          <p:cNvSpPr>
            <a:spLocks noGrp="1" noRot="1" noChangeAspect="1" noTextEdit="1"/>
          </p:cNvSpPr>
          <p:nvPr>
            <p:ph type="sldImg"/>
          </p:nvPr>
        </p:nvSpPr>
        <p:spPr>
          <a:ln/>
        </p:spPr>
      </p:sp>
      <p:sp>
        <p:nvSpPr>
          <p:cNvPr id="7577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578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619F21E0-8FB0-4816-8B25-C11F76AF4B4E}" type="slidenum">
              <a:rPr lang="en-US" altLang="zh-CN" smtClean="0"/>
              <a:pPr eaLnBrk="1" hangingPunct="1"/>
              <a:t>15</a:t>
            </a:fld>
            <a:endParaRPr lang="en-US" altLang="zh-CN"/>
          </a:p>
        </p:txBody>
      </p:sp>
    </p:spTree>
    <p:extLst>
      <p:ext uri="{BB962C8B-B14F-4D97-AF65-F5344CB8AC3E}">
        <p14:creationId xmlns:p14="http://schemas.microsoft.com/office/powerpoint/2010/main" val="10682714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p:cNvSpPr>
            <a:spLocks noGrp="1" noRot="1" noChangeAspect="1" noTextEdit="1"/>
          </p:cNvSpPr>
          <p:nvPr>
            <p:ph type="sldImg"/>
          </p:nvPr>
        </p:nvSpPr>
        <p:spPr>
          <a:ln/>
        </p:spPr>
      </p:sp>
      <p:sp>
        <p:nvSpPr>
          <p:cNvPr id="7680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680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EA821E87-355E-4F55-BE72-038D1DFC06E7}" type="slidenum">
              <a:rPr lang="en-US" altLang="zh-CN" smtClean="0"/>
              <a:pPr eaLnBrk="1" hangingPunct="1"/>
              <a:t>16</a:t>
            </a:fld>
            <a:endParaRPr lang="en-US" altLang="zh-CN"/>
          </a:p>
        </p:txBody>
      </p:sp>
    </p:spTree>
    <p:extLst>
      <p:ext uri="{BB962C8B-B14F-4D97-AF65-F5344CB8AC3E}">
        <p14:creationId xmlns:p14="http://schemas.microsoft.com/office/powerpoint/2010/main" val="20417666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幻灯片图像占位符 1"/>
          <p:cNvSpPr>
            <a:spLocks noGrp="1" noRot="1" noChangeAspect="1" noTextEdit="1"/>
          </p:cNvSpPr>
          <p:nvPr>
            <p:ph type="sldImg"/>
          </p:nvPr>
        </p:nvSpPr>
        <p:spPr>
          <a:ln/>
        </p:spPr>
      </p:sp>
      <p:sp>
        <p:nvSpPr>
          <p:cNvPr id="7782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782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B93B3970-9009-4230-8F89-938BBA7FE2A0}" type="slidenum">
              <a:rPr lang="en-US" altLang="zh-CN" smtClean="0"/>
              <a:pPr eaLnBrk="1" hangingPunct="1"/>
              <a:t>17</a:t>
            </a:fld>
            <a:endParaRPr lang="en-US" altLang="zh-CN"/>
          </a:p>
        </p:txBody>
      </p:sp>
    </p:spTree>
    <p:extLst>
      <p:ext uri="{BB962C8B-B14F-4D97-AF65-F5344CB8AC3E}">
        <p14:creationId xmlns:p14="http://schemas.microsoft.com/office/powerpoint/2010/main" val="16175820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p:cNvSpPr>
            <a:spLocks noGrp="1" noRot="1" noChangeAspect="1" noTextEdit="1"/>
          </p:cNvSpPr>
          <p:nvPr>
            <p:ph type="sldImg"/>
          </p:nvPr>
        </p:nvSpPr>
        <p:spPr>
          <a:ln/>
        </p:spPr>
      </p:sp>
      <p:sp>
        <p:nvSpPr>
          <p:cNvPr id="7885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885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8D071968-7C2C-4087-A0B7-8B0D15DDFD47}" type="slidenum">
              <a:rPr lang="en-US" altLang="zh-CN" smtClean="0"/>
              <a:pPr eaLnBrk="1" hangingPunct="1"/>
              <a:t>18</a:t>
            </a:fld>
            <a:endParaRPr lang="en-US" altLang="zh-CN"/>
          </a:p>
        </p:txBody>
      </p:sp>
    </p:spTree>
    <p:extLst>
      <p:ext uri="{BB962C8B-B14F-4D97-AF65-F5344CB8AC3E}">
        <p14:creationId xmlns:p14="http://schemas.microsoft.com/office/powerpoint/2010/main" val="5383594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幻灯片图像占位符 1"/>
          <p:cNvSpPr>
            <a:spLocks noGrp="1" noRot="1" noChangeAspect="1" noTextEdit="1"/>
          </p:cNvSpPr>
          <p:nvPr>
            <p:ph type="sldImg"/>
          </p:nvPr>
        </p:nvSpPr>
        <p:spPr>
          <a:ln/>
        </p:spPr>
      </p:sp>
      <p:sp>
        <p:nvSpPr>
          <p:cNvPr id="7987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987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CE57938F-A8C8-4635-A29F-D19C205AC804}" type="slidenum">
              <a:rPr lang="en-US" altLang="zh-CN" smtClean="0"/>
              <a:pPr eaLnBrk="1" hangingPunct="1"/>
              <a:t>19</a:t>
            </a:fld>
            <a:endParaRPr lang="en-US" altLang="zh-CN"/>
          </a:p>
        </p:txBody>
      </p:sp>
    </p:spTree>
    <p:extLst>
      <p:ext uri="{BB962C8B-B14F-4D97-AF65-F5344CB8AC3E}">
        <p14:creationId xmlns:p14="http://schemas.microsoft.com/office/powerpoint/2010/main" val="41384759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TextEdit="1"/>
          </p:cNvSpPr>
          <p:nvPr>
            <p:ph type="sldImg"/>
          </p:nvPr>
        </p:nvSpPr>
        <p:spPr>
          <a:ln/>
        </p:spPr>
      </p:sp>
      <p:sp>
        <p:nvSpPr>
          <p:cNvPr id="8089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090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11278D45-B48F-485C-A481-6D4F13F849F2}" type="slidenum">
              <a:rPr lang="en-US" altLang="zh-CN" smtClean="0"/>
              <a:pPr eaLnBrk="1" hangingPunct="1"/>
              <a:t>20</a:t>
            </a:fld>
            <a:endParaRPr lang="en-US" altLang="zh-CN"/>
          </a:p>
        </p:txBody>
      </p:sp>
    </p:spTree>
    <p:extLst>
      <p:ext uri="{BB962C8B-B14F-4D97-AF65-F5344CB8AC3E}">
        <p14:creationId xmlns:p14="http://schemas.microsoft.com/office/powerpoint/2010/main" val="37755685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幻灯片图像占位符 1"/>
          <p:cNvSpPr>
            <a:spLocks noGrp="1" noRot="1" noChangeAspect="1" noTextEdit="1"/>
          </p:cNvSpPr>
          <p:nvPr>
            <p:ph type="sldImg"/>
          </p:nvPr>
        </p:nvSpPr>
        <p:spPr>
          <a:ln/>
        </p:spPr>
      </p:sp>
      <p:sp>
        <p:nvSpPr>
          <p:cNvPr id="8192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192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9020BB30-310C-47F2-954D-FF903F17CF17}" type="slidenum">
              <a:rPr lang="en-US" altLang="zh-CN" smtClean="0"/>
              <a:pPr eaLnBrk="1" hangingPunct="1"/>
              <a:t>21</a:t>
            </a:fld>
            <a:endParaRPr lang="en-US" altLang="zh-CN"/>
          </a:p>
        </p:txBody>
      </p:sp>
    </p:spTree>
    <p:extLst>
      <p:ext uri="{BB962C8B-B14F-4D97-AF65-F5344CB8AC3E}">
        <p14:creationId xmlns:p14="http://schemas.microsoft.com/office/powerpoint/2010/main" val="42730078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p:cNvSpPr>
            <a:spLocks noGrp="1" noRot="1" noChangeAspect="1" noTextEdit="1"/>
          </p:cNvSpPr>
          <p:nvPr>
            <p:ph type="sldImg"/>
          </p:nvPr>
        </p:nvSpPr>
        <p:spPr>
          <a:ln/>
        </p:spPr>
      </p:sp>
      <p:sp>
        <p:nvSpPr>
          <p:cNvPr id="8294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294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2D4414EC-7A44-4DF6-91F8-9A471FC50D7C}" type="slidenum">
              <a:rPr lang="en-US" altLang="zh-CN" smtClean="0"/>
              <a:pPr eaLnBrk="1" hangingPunct="1"/>
              <a:t>22</a:t>
            </a:fld>
            <a:endParaRPr lang="en-US" altLang="zh-CN"/>
          </a:p>
        </p:txBody>
      </p:sp>
    </p:spTree>
    <p:extLst>
      <p:ext uri="{BB962C8B-B14F-4D97-AF65-F5344CB8AC3E}">
        <p14:creationId xmlns:p14="http://schemas.microsoft.com/office/powerpoint/2010/main" val="35925440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p:cNvSpPr>
            <a:spLocks noGrp="1" noRot="1" noChangeAspect="1" noTextEdit="1"/>
          </p:cNvSpPr>
          <p:nvPr>
            <p:ph type="sldImg"/>
          </p:nvPr>
        </p:nvSpPr>
        <p:spPr>
          <a:ln/>
        </p:spPr>
      </p:sp>
      <p:sp>
        <p:nvSpPr>
          <p:cNvPr id="8294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294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2D4414EC-7A44-4DF6-91F8-9A471FC50D7C}" type="slidenum">
              <a:rPr lang="en-US" altLang="zh-CN" smtClean="0"/>
              <a:pPr eaLnBrk="1" hangingPunct="1"/>
              <a:t>23</a:t>
            </a:fld>
            <a:endParaRPr lang="en-US" altLang="zh-CN"/>
          </a:p>
        </p:txBody>
      </p:sp>
    </p:spTree>
    <p:extLst>
      <p:ext uri="{BB962C8B-B14F-4D97-AF65-F5344CB8AC3E}">
        <p14:creationId xmlns:p14="http://schemas.microsoft.com/office/powerpoint/2010/main" val="31607502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a:ln/>
        </p:spPr>
      </p:sp>
      <p:sp>
        <p:nvSpPr>
          <p:cNvPr id="8499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499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2A2A4E40-E789-4318-9916-634F59EA425F}" type="slidenum">
              <a:rPr lang="en-US" altLang="zh-CN" smtClean="0"/>
              <a:pPr eaLnBrk="1" hangingPunct="1"/>
              <a:t>25</a:t>
            </a:fld>
            <a:endParaRPr lang="en-US" altLang="zh-CN"/>
          </a:p>
        </p:txBody>
      </p:sp>
    </p:spTree>
    <p:extLst>
      <p:ext uri="{BB962C8B-B14F-4D97-AF65-F5344CB8AC3E}">
        <p14:creationId xmlns:p14="http://schemas.microsoft.com/office/powerpoint/2010/main" val="27379032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a:ln/>
        </p:spPr>
      </p:sp>
      <p:sp>
        <p:nvSpPr>
          <p:cNvPr id="860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60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3413CD5E-AC58-401B-B56A-6ECB1B1F5AB3}" type="slidenum">
              <a:rPr lang="en-US" altLang="zh-CN" smtClean="0"/>
              <a:pPr eaLnBrk="1" hangingPunct="1"/>
              <a:t>26</a:t>
            </a:fld>
            <a:endParaRPr lang="en-US" altLang="zh-CN"/>
          </a:p>
        </p:txBody>
      </p:sp>
    </p:spTree>
    <p:extLst>
      <p:ext uri="{BB962C8B-B14F-4D97-AF65-F5344CB8AC3E}">
        <p14:creationId xmlns:p14="http://schemas.microsoft.com/office/powerpoint/2010/main" val="10357783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p:cNvSpPr>
            <a:spLocks noGrp="1" noRot="1" noChangeAspect="1" noTextEdit="1"/>
          </p:cNvSpPr>
          <p:nvPr>
            <p:ph type="sldImg"/>
          </p:nvPr>
        </p:nvSpPr>
        <p:spPr>
          <a:ln/>
        </p:spPr>
      </p:sp>
      <p:sp>
        <p:nvSpPr>
          <p:cNvPr id="870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704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525FEAE-53F5-45BA-84BB-5CB83EF3482D}" type="slidenum">
              <a:rPr lang="en-US" altLang="zh-CN" smtClean="0"/>
              <a:pPr eaLnBrk="1" hangingPunct="1"/>
              <a:t>27</a:t>
            </a:fld>
            <a:endParaRPr lang="en-US" altLang="zh-CN"/>
          </a:p>
        </p:txBody>
      </p:sp>
    </p:spTree>
    <p:extLst>
      <p:ext uri="{BB962C8B-B14F-4D97-AF65-F5344CB8AC3E}">
        <p14:creationId xmlns:p14="http://schemas.microsoft.com/office/powerpoint/2010/main" val="33433667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幻灯片图像占位符 1"/>
          <p:cNvSpPr>
            <a:spLocks noGrp="1" noRot="1" noChangeAspect="1" noTextEdit="1"/>
          </p:cNvSpPr>
          <p:nvPr>
            <p:ph type="sldImg"/>
          </p:nvPr>
        </p:nvSpPr>
        <p:spPr>
          <a:ln/>
        </p:spPr>
      </p:sp>
      <p:sp>
        <p:nvSpPr>
          <p:cNvPr id="880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80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8103C95C-BD3F-4690-857C-BC847E4BEA68}" type="slidenum">
              <a:rPr lang="en-US" altLang="zh-CN" smtClean="0"/>
              <a:pPr eaLnBrk="1" hangingPunct="1"/>
              <a:t>28</a:t>
            </a:fld>
            <a:endParaRPr lang="en-US" altLang="zh-CN"/>
          </a:p>
        </p:txBody>
      </p:sp>
    </p:spTree>
    <p:extLst>
      <p:ext uri="{BB962C8B-B14F-4D97-AF65-F5344CB8AC3E}">
        <p14:creationId xmlns:p14="http://schemas.microsoft.com/office/powerpoint/2010/main" val="17109159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p:cNvSpPr>
            <a:spLocks noGrp="1" noRot="1" noChangeAspect="1" noTextEdit="1"/>
          </p:cNvSpPr>
          <p:nvPr>
            <p:ph type="sldImg"/>
          </p:nvPr>
        </p:nvSpPr>
        <p:spPr>
          <a:ln/>
        </p:spPr>
      </p:sp>
      <p:sp>
        <p:nvSpPr>
          <p:cNvPr id="8909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909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CDED8E6D-D02B-464B-8A2B-A027DF3F99EC}" type="slidenum">
              <a:rPr lang="en-US" altLang="zh-CN" smtClean="0"/>
              <a:pPr eaLnBrk="1" hangingPunct="1"/>
              <a:t>29</a:t>
            </a:fld>
            <a:endParaRPr lang="en-US" altLang="zh-CN"/>
          </a:p>
        </p:txBody>
      </p:sp>
    </p:spTree>
    <p:extLst>
      <p:ext uri="{BB962C8B-B14F-4D97-AF65-F5344CB8AC3E}">
        <p14:creationId xmlns:p14="http://schemas.microsoft.com/office/powerpoint/2010/main" val="37845426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幻灯片图像占位符 1"/>
          <p:cNvSpPr>
            <a:spLocks noGrp="1" noRot="1" noChangeAspect="1" noTextEdit="1"/>
          </p:cNvSpPr>
          <p:nvPr>
            <p:ph type="sldImg"/>
          </p:nvPr>
        </p:nvSpPr>
        <p:spPr>
          <a:ln/>
        </p:spPr>
      </p:sp>
      <p:sp>
        <p:nvSpPr>
          <p:cNvPr id="9113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114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2C838112-357A-4A0C-B5B3-56F8A7037286}" type="slidenum">
              <a:rPr lang="en-US" altLang="zh-CN" smtClean="0"/>
              <a:pPr eaLnBrk="1" hangingPunct="1"/>
              <a:t>32</a:t>
            </a:fld>
            <a:endParaRPr lang="en-US" altLang="zh-CN"/>
          </a:p>
        </p:txBody>
      </p:sp>
    </p:spTree>
    <p:extLst>
      <p:ext uri="{BB962C8B-B14F-4D97-AF65-F5344CB8AC3E}">
        <p14:creationId xmlns:p14="http://schemas.microsoft.com/office/powerpoint/2010/main" val="41731330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p:cNvSpPr>
            <a:spLocks noGrp="1" noRot="1" noChangeAspect="1" noTextEdit="1"/>
          </p:cNvSpPr>
          <p:nvPr>
            <p:ph type="sldImg"/>
          </p:nvPr>
        </p:nvSpPr>
        <p:spPr>
          <a:ln/>
        </p:spPr>
      </p:sp>
      <p:sp>
        <p:nvSpPr>
          <p:cNvPr id="9216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216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2C8BD462-9981-489A-9580-083CA7C0B625}" type="slidenum">
              <a:rPr lang="en-US" altLang="zh-CN" smtClean="0"/>
              <a:pPr eaLnBrk="1" hangingPunct="1"/>
              <a:t>33</a:t>
            </a:fld>
            <a:endParaRPr lang="en-US" altLang="zh-CN"/>
          </a:p>
        </p:txBody>
      </p:sp>
    </p:spTree>
    <p:extLst>
      <p:ext uri="{BB962C8B-B14F-4D97-AF65-F5344CB8AC3E}">
        <p14:creationId xmlns:p14="http://schemas.microsoft.com/office/powerpoint/2010/main" val="26638308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p:cNvSpPr>
            <a:spLocks noGrp="1" noRot="1" noChangeAspect="1" noTextEdit="1"/>
          </p:cNvSpPr>
          <p:nvPr>
            <p:ph type="sldImg"/>
          </p:nvPr>
        </p:nvSpPr>
        <p:spPr>
          <a:ln/>
        </p:spPr>
      </p:sp>
      <p:sp>
        <p:nvSpPr>
          <p:cNvPr id="9318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318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AA3E4D6D-1776-4BD8-8358-66DAC6C80FEA}" type="slidenum">
              <a:rPr lang="en-US" altLang="zh-CN" smtClean="0"/>
              <a:pPr eaLnBrk="1" hangingPunct="1"/>
              <a:t>34</a:t>
            </a:fld>
            <a:endParaRPr lang="en-US" altLang="zh-CN"/>
          </a:p>
        </p:txBody>
      </p:sp>
    </p:spTree>
    <p:extLst>
      <p:ext uri="{BB962C8B-B14F-4D97-AF65-F5344CB8AC3E}">
        <p14:creationId xmlns:p14="http://schemas.microsoft.com/office/powerpoint/2010/main" val="31460007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幻灯片图像占位符 1"/>
          <p:cNvSpPr>
            <a:spLocks noGrp="1" noRot="1" noChangeAspect="1" noTextEdit="1"/>
          </p:cNvSpPr>
          <p:nvPr>
            <p:ph type="sldImg"/>
          </p:nvPr>
        </p:nvSpPr>
        <p:spPr>
          <a:ln/>
        </p:spPr>
      </p:sp>
      <p:sp>
        <p:nvSpPr>
          <p:cNvPr id="9421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421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77F8C057-3776-436A-963E-6BEC9993EA77}" type="slidenum">
              <a:rPr lang="en-US" altLang="zh-CN" smtClean="0"/>
              <a:pPr eaLnBrk="1" hangingPunct="1"/>
              <a:t>35</a:t>
            </a:fld>
            <a:endParaRPr lang="en-US" altLang="zh-CN"/>
          </a:p>
        </p:txBody>
      </p:sp>
    </p:spTree>
    <p:extLst>
      <p:ext uri="{BB962C8B-B14F-4D97-AF65-F5344CB8AC3E}">
        <p14:creationId xmlns:p14="http://schemas.microsoft.com/office/powerpoint/2010/main" val="36340033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p:cNvSpPr>
            <a:spLocks noGrp="1" noRot="1" noChangeAspect="1" noTextEdit="1"/>
          </p:cNvSpPr>
          <p:nvPr>
            <p:ph type="sldImg"/>
          </p:nvPr>
        </p:nvSpPr>
        <p:spPr>
          <a:ln/>
        </p:spPr>
      </p:sp>
      <p:sp>
        <p:nvSpPr>
          <p:cNvPr id="9523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523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6CFE2ACE-A757-4F6F-9C43-2FE37F739DD8}" type="slidenum">
              <a:rPr lang="en-US" altLang="zh-CN" smtClean="0"/>
              <a:pPr eaLnBrk="1" hangingPunct="1"/>
              <a:t>36</a:t>
            </a:fld>
            <a:endParaRPr lang="en-US" altLang="zh-CN"/>
          </a:p>
        </p:txBody>
      </p:sp>
    </p:spTree>
    <p:extLst>
      <p:ext uri="{BB962C8B-B14F-4D97-AF65-F5344CB8AC3E}">
        <p14:creationId xmlns:p14="http://schemas.microsoft.com/office/powerpoint/2010/main" val="3049046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幻灯片图像占位符 1"/>
          <p:cNvSpPr>
            <a:spLocks noGrp="1" noRot="1" noChangeAspect="1" noTextEdit="1"/>
          </p:cNvSpPr>
          <p:nvPr>
            <p:ph type="sldImg"/>
          </p:nvPr>
        </p:nvSpPr>
        <p:spPr>
          <a:ln/>
        </p:spPr>
      </p:sp>
      <p:sp>
        <p:nvSpPr>
          <p:cNvPr id="9625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626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90417A22-FFB0-4CFB-AEEF-7BFBDA283238}" type="slidenum">
              <a:rPr lang="en-US" altLang="zh-CN" smtClean="0"/>
              <a:pPr eaLnBrk="1" hangingPunct="1"/>
              <a:t>37</a:t>
            </a:fld>
            <a:endParaRPr lang="en-US" altLang="zh-CN"/>
          </a:p>
        </p:txBody>
      </p:sp>
    </p:spTree>
    <p:extLst>
      <p:ext uri="{BB962C8B-B14F-4D97-AF65-F5344CB8AC3E}">
        <p14:creationId xmlns:p14="http://schemas.microsoft.com/office/powerpoint/2010/main" val="36298070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幻灯片图像占位符 1"/>
          <p:cNvSpPr>
            <a:spLocks noGrp="1" noRot="1" noChangeAspect="1" noTextEdit="1"/>
          </p:cNvSpPr>
          <p:nvPr>
            <p:ph type="sldImg"/>
          </p:nvPr>
        </p:nvSpPr>
        <p:spPr>
          <a:ln/>
        </p:spPr>
      </p:sp>
      <p:sp>
        <p:nvSpPr>
          <p:cNvPr id="9728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728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71EE5579-B2DD-40B6-B6FF-17F1BD85747D}" type="slidenum">
              <a:rPr lang="en-US" altLang="zh-CN" smtClean="0"/>
              <a:pPr eaLnBrk="1" hangingPunct="1"/>
              <a:t>38</a:t>
            </a:fld>
            <a:endParaRPr lang="en-US" altLang="zh-CN"/>
          </a:p>
        </p:txBody>
      </p:sp>
    </p:spTree>
    <p:extLst>
      <p:ext uri="{BB962C8B-B14F-4D97-AF65-F5344CB8AC3E}">
        <p14:creationId xmlns:p14="http://schemas.microsoft.com/office/powerpoint/2010/main" val="216587904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幻灯片图像占位符 1"/>
          <p:cNvSpPr>
            <a:spLocks noGrp="1" noRot="1" noChangeAspect="1" noTextEdit="1"/>
          </p:cNvSpPr>
          <p:nvPr>
            <p:ph type="sldImg"/>
          </p:nvPr>
        </p:nvSpPr>
        <p:spPr>
          <a:ln/>
        </p:spPr>
      </p:sp>
      <p:sp>
        <p:nvSpPr>
          <p:cNvPr id="9830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830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D28A1FB5-32C2-4CA8-8C8F-B9ECB6346A68}" type="slidenum">
              <a:rPr lang="en-US" altLang="zh-CN" smtClean="0"/>
              <a:pPr eaLnBrk="1" hangingPunct="1"/>
              <a:t>39</a:t>
            </a:fld>
            <a:endParaRPr lang="en-US" altLang="zh-CN"/>
          </a:p>
        </p:txBody>
      </p:sp>
    </p:spTree>
    <p:extLst>
      <p:ext uri="{BB962C8B-B14F-4D97-AF65-F5344CB8AC3E}">
        <p14:creationId xmlns:p14="http://schemas.microsoft.com/office/powerpoint/2010/main" val="111035980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幻灯片图像占位符 1"/>
          <p:cNvSpPr>
            <a:spLocks noGrp="1" noRot="1" noChangeAspect="1" noTextEdit="1"/>
          </p:cNvSpPr>
          <p:nvPr>
            <p:ph type="sldImg"/>
          </p:nvPr>
        </p:nvSpPr>
        <p:spPr>
          <a:ln/>
        </p:spPr>
      </p:sp>
      <p:sp>
        <p:nvSpPr>
          <p:cNvPr id="9933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933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E5B1347A-A206-4A78-870B-7739E0300E6A}" type="slidenum">
              <a:rPr lang="en-US" altLang="zh-CN" smtClean="0"/>
              <a:pPr eaLnBrk="1" hangingPunct="1"/>
              <a:t>40</a:t>
            </a:fld>
            <a:endParaRPr lang="en-US" altLang="zh-CN"/>
          </a:p>
        </p:txBody>
      </p:sp>
    </p:spTree>
    <p:extLst>
      <p:ext uri="{BB962C8B-B14F-4D97-AF65-F5344CB8AC3E}">
        <p14:creationId xmlns:p14="http://schemas.microsoft.com/office/powerpoint/2010/main" val="29634270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幻灯片图像占位符 1"/>
          <p:cNvSpPr>
            <a:spLocks noGrp="1" noRot="1" noChangeAspect="1" noTextEdit="1"/>
          </p:cNvSpPr>
          <p:nvPr>
            <p:ph type="sldImg"/>
          </p:nvPr>
        </p:nvSpPr>
        <p:spPr>
          <a:ln/>
        </p:spPr>
      </p:sp>
      <p:sp>
        <p:nvSpPr>
          <p:cNvPr id="10035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035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070F7784-2BAF-49D8-8B67-CC843AE59AE4}" type="slidenum">
              <a:rPr lang="en-US" altLang="zh-CN" smtClean="0"/>
              <a:pPr eaLnBrk="1" hangingPunct="1"/>
              <a:t>41</a:t>
            </a:fld>
            <a:endParaRPr lang="en-US" altLang="zh-CN"/>
          </a:p>
        </p:txBody>
      </p:sp>
    </p:spTree>
    <p:extLst>
      <p:ext uri="{BB962C8B-B14F-4D97-AF65-F5344CB8AC3E}">
        <p14:creationId xmlns:p14="http://schemas.microsoft.com/office/powerpoint/2010/main" val="296492812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幻灯片图像占位符 1"/>
          <p:cNvSpPr>
            <a:spLocks noGrp="1" noRot="1" noChangeAspect="1" noTextEdit="1"/>
          </p:cNvSpPr>
          <p:nvPr>
            <p:ph type="sldImg"/>
          </p:nvPr>
        </p:nvSpPr>
        <p:spPr>
          <a:ln/>
        </p:spPr>
      </p:sp>
      <p:sp>
        <p:nvSpPr>
          <p:cNvPr id="10137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138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A8B18759-DABA-4C86-88CF-7AD9709F629A}" type="slidenum">
              <a:rPr lang="en-US" altLang="zh-CN" smtClean="0"/>
              <a:pPr eaLnBrk="1" hangingPunct="1"/>
              <a:t>42</a:t>
            </a:fld>
            <a:endParaRPr lang="en-US" altLang="zh-CN"/>
          </a:p>
        </p:txBody>
      </p:sp>
    </p:spTree>
    <p:extLst>
      <p:ext uri="{BB962C8B-B14F-4D97-AF65-F5344CB8AC3E}">
        <p14:creationId xmlns:p14="http://schemas.microsoft.com/office/powerpoint/2010/main" val="68270429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幻灯片图像占位符 1"/>
          <p:cNvSpPr>
            <a:spLocks noGrp="1" noRot="1" noChangeAspect="1" noTextEdit="1"/>
          </p:cNvSpPr>
          <p:nvPr>
            <p:ph type="sldImg"/>
          </p:nvPr>
        </p:nvSpPr>
        <p:spPr>
          <a:ln/>
        </p:spPr>
      </p:sp>
      <p:sp>
        <p:nvSpPr>
          <p:cNvPr id="10240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240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9F2FBEA-3F6C-45CC-B833-059C09F3243C}" type="slidenum">
              <a:rPr lang="en-US" altLang="zh-CN" smtClean="0"/>
              <a:pPr eaLnBrk="1" hangingPunct="1"/>
              <a:t>43</a:t>
            </a:fld>
            <a:endParaRPr lang="en-US" altLang="zh-CN"/>
          </a:p>
        </p:txBody>
      </p:sp>
    </p:spTree>
    <p:extLst>
      <p:ext uri="{BB962C8B-B14F-4D97-AF65-F5344CB8AC3E}">
        <p14:creationId xmlns:p14="http://schemas.microsoft.com/office/powerpoint/2010/main" val="32576324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幻灯片图像占位符 1"/>
          <p:cNvSpPr>
            <a:spLocks noGrp="1" noRot="1" noChangeAspect="1" noTextEdit="1"/>
          </p:cNvSpPr>
          <p:nvPr>
            <p:ph type="sldImg"/>
          </p:nvPr>
        </p:nvSpPr>
        <p:spPr>
          <a:ln/>
        </p:spPr>
      </p:sp>
      <p:sp>
        <p:nvSpPr>
          <p:cNvPr id="10342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42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768868B5-26CF-4002-B539-0976E59EC38A}" type="slidenum">
              <a:rPr lang="en-US" altLang="zh-CN" smtClean="0"/>
              <a:pPr eaLnBrk="1" hangingPunct="1"/>
              <a:t>44</a:t>
            </a:fld>
            <a:endParaRPr lang="en-US" altLang="zh-CN"/>
          </a:p>
        </p:txBody>
      </p:sp>
    </p:spTree>
    <p:extLst>
      <p:ext uri="{BB962C8B-B14F-4D97-AF65-F5344CB8AC3E}">
        <p14:creationId xmlns:p14="http://schemas.microsoft.com/office/powerpoint/2010/main" val="53105416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幻灯片图像占位符 1"/>
          <p:cNvSpPr>
            <a:spLocks noGrp="1" noRot="1" noChangeAspect="1" noTextEdit="1"/>
          </p:cNvSpPr>
          <p:nvPr>
            <p:ph type="sldImg"/>
          </p:nvPr>
        </p:nvSpPr>
        <p:spPr>
          <a:ln/>
        </p:spPr>
      </p:sp>
      <p:sp>
        <p:nvSpPr>
          <p:cNvPr id="10445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445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C2AFF62D-983F-422D-9159-0A57EF964BB5}" type="slidenum">
              <a:rPr lang="en-US" altLang="zh-CN" smtClean="0"/>
              <a:pPr eaLnBrk="1" hangingPunct="1"/>
              <a:t>45</a:t>
            </a:fld>
            <a:endParaRPr lang="en-US" altLang="zh-CN"/>
          </a:p>
        </p:txBody>
      </p:sp>
    </p:spTree>
    <p:extLst>
      <p:ext uri="{BB962C8B-B14F-4D97-AF65-F5344CB8AC3E}">
        <p14:creationId xmlns:p14="http://schemas.microsoft.com/office/powerpoint/2010/main" val="143110439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幻灯片图像占位符 1"/>
          <p:cNvSpPr>
            <a:spLocks noGrp="1" noRot="1" noChangeAspect="1" noTextEdit="1"/>
          </p:cNvSpPr>
          <p:nvPr>
            <p:ph type="sldImg"/>
          </p:nvPr>
        </p:nvSpPr>
        <p:spPr>
          <a:ln/>
        </p:spPr>
      </p:sp>
      <p:sp>
        <p:nvSpPr>
          <p:cNvPr id="10547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547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CA5BF634-ACDD-463C-8C71-4D85DF3170B5}" type="slidenum">
              <a:rPr lang="en-US" altLang="zh-CN" smtClean="0"/>
              <a:pPr eaLnBrk="1" hangingPunct="1"/>
              <a:t>46</a:t>
            </a:fld>
            <a:endParaRPr lang="en-US" altLang="zh-CN"/>
          </a:p>
        </p:txBody>
      </p:sp>
    </p:spTree>
    <p:extLst>
      <p:ext uri="{BB962C8B-B14F-4D97-AF65-F5344CB8AC3E}">
        <p14:creationId xmlns:p14="http://schemas.microsoft.com/office/powerpoint/2010/main" val="150018178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幻灯片图像占位符 1"/>
          <p:cNvSpPr>
            <a:spLocks noGrp="1" noRot="1" noChangeAspect="1" noTextEdit="1"/>
          </p:cNvSpPr>
          <p:nvPr>
            <p:ph type="sldImg"/>
          </p:nvPr>
        </p:nvSpPr>
        <p:spPr>
          <a:ln/>
        </p:spPr>
      </p:sp>
      <p:sp>
        <p:nvSpPr>
          <p:cNvPr id="10854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854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9611631F-8255-40A5-A3DE-3DEA326F0116}" type="slidenum">
              <a:rPr lang="en-US" altLang="zh-CN" smtClean="0"/>
              <a:pPr eaLnBrk="1" hangingPunct="1"/>
              <a:t>48</a:t>
            </a:fld>
            <a:endParaRPr lang="en-US" altLang="zh-CN"/>
          </a:p>
        </p:txBody>
      </p:sp>
    </p:spTree>
    <p:extLst>
      <p:ext uri="{BB962C8B-B14F-4D97-AF65-F5344CB8AC3E}">
        <p14:creationId xmlns:p14="http://schemas.microsoft.com/office/powerpoint/2010/main" val="60693512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幻灯片图像占位符 1"/>
          <p:cNvSpPr>
            <a:spLocks noGrp="1" noRot="1" noChangeAspect="1" noTextEdit="1"/>
          </p:cNvSpPr>
          <p:nvPr>
            <p:ph type="sldImg"/>
          </p:nvPr>
        </p:nvSpPr>
        <p:spPr>
          <a:ln/>
        </p:spPr>
      </p:sp>
      <p:sp>
        <p:nvSpPr>
          <p:cNvPr id="1095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95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946C84CB-B672-4501-8AC7-3EEFB41B810C}" type="slidenum">
              <a:rPr lang="en-US" altLang="zh-CN" smtClean="0"/>
              <a:pPr eaLnBrk="1" hangingPunct="1"/>
              <a:t>49</a:t>
            </a:fld>
            <a:endParaRPr lang="en-US" altLang="zh-CN"/>
          </a:p>
        </p:txBody>
      </p:sp>
    </p:spTree>
    <p:extLst>
      <p:ext uri="{BB962C8B-B14F-4D97-AF65-F5344CB8AC3E}">
        <p14:creationId xmlns:p14="http://schemas.microsoft.com/office/powerpoint/2010/main" val="149322456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幻灯片图像占位符 1"/>
          <p:cNvSpPr>
            <a:spLocks noGrp="1" noRot="1" noChangeAspect="1" noTextEdit="1"/>
          </p:cNvSpPr>
          <p:nvPr>
            <p:ph type="sldImg"/>
          </p:nvPr>
        </p:nvSpPr>
        <p:spPr>
          <a:ln/>
        </p:spPr>
      </p:sp>
      <p:sp>
        <p:nvSpPr>
          <p:cNvPr id="11059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059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8C1B6E35-691B-4871-8C1A-995F6AE73257}" type="slidenum">
              <a:rPr lang="en-US" altLang="zh-CN" smtClean="0"/>
              <a:pPr eaLnBrk="1" hangingPunct="1"/>
              <a:t>50</a:t>
            </a:fld>
            <a:endParaRPr lang="en-US" altLang="zh-CN"/>
          </a:p>
        </p:txBody>
      </p:sp>
    </p:spTree>
    <p:extLst>
      <p:ext uri="{BB962C8B-B14F-4D97-AF65-F5344CB8AC3E}">
        <p14:creationId xmlns:p14="http://schemas.microsoft.com/office/powerpoint/2010/main" val="282131669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幻灯片图像占位符 1"/>
          <p:cNvSpPr>
            <a:spLocks noGrp="1" noRot="1" noChangeAspect="1" noTextEdit="1"/>
          </p:cNvSpPr>
          <p:nvPr>
            <p:ph type="sldImg"/>
          </p:nvPr>
        </p:nvSpPr>
        <p:spPr>
          <a:ln/>
        </p:spPr>
      </p:sp>
      <p:sp>
        <p:nvSpPr>
          <p:cNvPr id="1116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16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2911312A-D911-4351-BF28-811151A52475}" type="slidenum">
              <a:rPr lang="en-US" altLang="zh-CN" smtClean="0"/>
              <a:pPr eaLnBrk="1" hangingPunct="1"/>
              <a:t>51</a:t>
            </a:fld>
            <a:endParaRPr lang="en-US" altLang="zh-CN"/>
          </a:p>
        </p:txBody>
      </p:sp>
    </p:spTree>
    <p:extLst>
      <p:ext uri="{BB962C8B-B14F-4D97-AF65-F5344CB8AC3E}">
        <p14:creationId xmlns:p14="http://schemas.microsoft.com/office/powerpoint/2010/main" val="63009649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幻灯片图像占位符 1"/>
          <p:cNvSpPr>
            <a:spLocks noGrp="1" noRot="1" noChangeAspect="1" noTextEdit="1"/>
          </p:cNvSpPr>
          <p:nvPr>
            <p:ph type="sldImg"/>
          </p:nvPr>
        </p:nvSpPr>
        <p:spPr>
          <a:ln/>
        </p:spPr>
      </p:sp>
      <p:sp>
        <p:nvSpPr>
          <p:cNvPr id="1126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264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A9055EBF-2815-4091-9E67-47F44A91110D}" type="slidenum">
              <a:rPr lang="en-US" altLang="zh-CN" smtClean="0"/>
              <a:pPr eaLnBrk="1" hangingPunct="1"/>
              <a:t>52</a:t>
            </a:fld>
            <a:endParaRPr lang="en-US" altLang="zh-CN"/>
          </a:p>
        </p:txBody>
      </p:sp>
    </p:spTree>
    <p:extLst>
      <p:ext uri="{BB962C8B-B14F-4D97-AF65-F5344CB8AC3E}">
        <p14:creationId xmlns:p14="http://schemas.microsoft.com/office/powerpoint/2010/main" val="250781364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幻灯片图像占位符 1"/>
          <p:cNvSpPr>
            <a:spLocks noGrp="1" noRot="1" noChangeAspect="1" noTextEdit="1"/>
          </p:cNvSpPr>
          <p:nvPr>
            <p:ph type="sldImg"/>
          </p:nvPr>
        </p:nvSpPr>
        <p:spPr>
          <a:ln/>
        </p:spPr>
      </p:sp>
      <p:sp>
        <p:nvSpPr>
          <p:cNvPr id="1136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36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D59EAE8F-7EC8-4496-8A43-8D240F136953}" type="slidenum">
              <a:rPr lang="en-US" altLang="zh-CN" smtClean="0"/>
              <a:pPr eaLnBrk="1" hangingPunct="1"/>
              <a:t>53</a:t>
            </a:fld>
            <a:endParaRPr lang="en-US" altLang="zh-CN"/>
          </a:p>
        </p:txBody>
      </p:sp>
    </p:spTree>
    <p:extLst>
      <p:ext uri="{BB962C8B-B14F-4D97-AF65-F5344CB8AC3E}">
        <p14:creationId xmlns:p14="http://schemas.microsoft.com/office/powerpoint/2010/main" val="29282937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幻灯片图像占位符 1"/>
          <p:cNvSpPr>
            <a:spLocks noGrp="1" noRot="1" noChangeAspect="1" noTextEdit="1"/>
          </p:cNvSpPr>
          <p:nvPr>
            <p:ph type="sldImg"/>
          </p:nvPr>
        </p:nvSpPr>
        <p:spPr>
          <a:ln/>
        </p:spPr>
      </p:sp>
      <p:sp>
        <p:nvSpPr>
          <p:cNvPr id="11469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469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F2BDB42-584D-438A-A742-774DDF13EFCE}" type="slidenum">
              <a:rPr lang="en-US" altLang="zh-CN" smtClean="0"/>
              <a:pPr eaLnBrk="1" hangingPunct="1"/>
              <a:t>54</a:t>
            </a:fld>
            <a:endParaRPr lang="en-US" altLang="zh-CN"/>
          </a:p>
        </p:txBody>
      </p:sp>
    </p:spTree>
    <p:extLst>
      <p:ext uri="{BB962C8B-B14F-4D97-AF65-F5344CB8AC3E}">
        <p14:creationId xmlns:p14="http://schemas.microsoft.com/office/powerpoint/2010/main" val="417836739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幻灯片图像占位符 1"/>
          <p:cNvSpPr>
            <a:spLocks noGrp="1" noRot="1" noChangeAspect="1" noTextEdit="1"/>
          </p:cNvSpPr>
          <p:nvPr>
            <p:ph type="sldImg"/>
          </p:nvPr>
        </p:nvSpPr>
        <p:spPr>
          <a:ln/>
        </p:spPr>
      </p:sp>
      <p:sp>
        <p:nvSpPr>
          <p:cNvPr id="11571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571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C7C1436-80BE-4180-9418-CC1734A89BC2}" type="slidenum">
              <a:rPr lang="en-US" altLang="zh-CN" smtClean="0"/>
              <a:pPr eaLnBrk="1" hangingPunct="1"/>
              <a:t>55</a:t>
            </a:fld>
            <a:endParaRPr lang="en-US" altLang="zh-CN"/>
          </a:p>
        </p:txBody>
      </p:sp>
    </p:spTree>
    <p:extLst>
      <p:ext uri="{BB962C8B-B14F-4D97-AF65-F5344CB8AC3E}">
        <p14:creationId xmlns:p14="http://schemas.microsoft.com/office/powerpoint/2010/main" val="4033210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幻灯片图像占位符 1"/>
          <p:cNvSpPr>
            <a:spLocks noGrp="1" noRot="1" noChangeAspect="1" noTextEdit="1"/>
          </p:cNvSpPr>
          <p:nvPr>
            <p:ph type="sldImg"/>
          </p:nvPr>
        </p:nvSpPr>
        <p:spPr>
          <a:ln/>
        </p:spPr>
      </p:sp>
      <p:sp>
        <p:nvSpPr>
          <p:cNvPr id="11673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674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3493EE95-249F-404D-B287-1F87C9AA5AE1}" type="slidenum">
              <a:rPr lang="en-US" altLang="zh-CN" smtClean="0"/>
              <a:pPr eaLnBrk="1" hangingPunct="1"/>
              <a:t>56</a:t>
            </a:fld>
            <a:endParaRPr lang="en-US" altLang="zh-CN"/>
          </a:p>
        </p:txBody>
      </p:sp>
    </p:spTree>
    <p:extLst>
      <p:ext uri="{BB962C8B-B14F-4D97-AF65-F5344CB8AC3E}">
        <p14:creationId xmlns:p14="http://schemas.microsoft.com/office/powerpoint/2010/main" val="149133652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幻灯片图像占位符 1"/>
          <p:cNvSpPr>
            <a:spLocks noGrp="1" noRot="1" noChangeAspect="1" noTextEdit="1"/>
          </p:cNvSpPr>
          <p:nvPr>
            <p:ph type="sldImg"/>
          </p:nvPr>
        </p:nvSpPr>
        <p:spPr>
          <a:ln/>
        </p:spPr>
      </p:sp>
      <p:sp>
        <p:nvSpPr>
          <p:cNvPr id="11776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76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EF12F8D3-6CDD-4142-8D1D-DD124B2D12CE}" type="slidenum">
              <a:rPr lang="en-US" altLang="zh-CN" smtClean="0"/>
              <a:pPr eaLnBrk="1" hangingPunct="1"/>
              <a:t>57</a:t>
            </a:fld>
            <a:endParaRPr lang="en-US" altLang="zh-CN"/>
          </a:p>
        </p:txBody>
      </p:sp>
    </p:spTree>
    <p:extLst>
      <p:ext uri="{BB962C8B-B14F-4D97-AF65-F5344CB8AC3E}">
        <p14:creationId xmlns:p14="http://schemas.microsoft.com/office/powerpoint/2010/main" val="13972580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幻灯片图像占位符 1"/>
          <p:cNvSpPr>
            <a:spLocks noGrp="1" noRot="1" noChangeAspect="1" noTextEdit="1"/>
          </p:cNvSpPr>
          <p:nvPr>
            <p:ph type="sldImg"/>
          </p:nvPr>
        </p:nvSpPr>
        <p:spPr>
          <a:ln/>
        </p:spPr>
      </p:sp>
      <p:sp>
        <p:nvSpPr>
          <p:cNvPr id="11878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878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99288734-3990-42B9-A561-9B5981DC70A3}" type="slidenum">
              <a:rPr lang="en-US" altLang="zh-CN" smtClean="0"/>
              <a:pPr eaLnBrk="1" hangingPunct="1"/>
              <a:t>58</a:t>
            </a:fld>
            <a:endParaRPr lang="en-US" altLang="zh-CN"/>
          </a:p>
        </p:txBody>
      </p:sp>
    </p:spTree>
    <p:extLst>
      <p:ext uri="{BB962C8B-B14F-4D97-AF65-F5344CB8AC3E}">
        <p14:creationId xmlns:p14="http://schemas.microsoft.com/office/powerpoint/2010/main" val="375396789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p:cNvSpPr>
            <a:spLocks noGrp="1" noRot="1" noChangeAspect="1" noTextEdit="1"/>
          </p:cNvSpPr>
          <p:nvPr>
            <p:ph type="sldImg"/>
          </p:nvPr>
        </p:nvSpPr>
        <p:spPr>
          <a:ln/>
        </p:spPr>
      </p:sp>
      <p:sp>
        <p:nvSpPr>
          <p:cNvPr id="11981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981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14DA2C24-6C07-4E2F-B465-D69B2FD85A47}" type="slidenum">
              <a:rPr lang="en-US" altLang="zh-CN" smtClean="0"/>
              <a:pPr eaLnBrk="1" hangingPunct="1"/>
              <a:t>59</a:t>
            </a:fld>
            <a:endParaRPr lang="en-US" altLang="zh-CN"/>
          </a:p>
        </p:txBody>
      </p:sp>
    </p:spTree>
    <p:extLst>
      <p:ext uri="{BB962C8B-B14F-4D97-AF65-F5344CB8AC3E}">
        <p14:creationId xmlns:p14="http://schemas.microsoft.com/office/powerpoint/2010/main" val="189743092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幻灯片图像占位符 1"/>
          <p:cNvSpPr>
            <a:spLocks noGrp="1" noRot="1" noChangeAspect="1" noTextEdit="1"/>
          </p:cNvSpPr>
          <p:nvPr>
            <p:ph type="sldImg"/>
          </p:nvPr>
        </p:nvSpPr>
        <p:spPr>
          <a:ln/>
        </p:spPr>
      </p:sp>
      <p:sp>
        <p:nvSpPr>
          <p:cNvPr id="12083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083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3D3FBA2E-16F5-4349-8AF8-E7E45FDDEEC9}" type="slidenum">
              <a:rPr lang="en-US" altLang="zh-CN" smtClean="0"/>
              <a:pPr eaLnBrk="1" hangingPunct="1"/>
              <a:t>60</a:t>
            </a:fld>
            <a:endParaRPr lang="en-US" altLang="zh-CN"/>
          </a:p>
        </p:txBody>
      </p:sp>
    </p:spTree>
    <p:extLst>
      <p:ext uri="{BB962C8B-B14F-4D97-AF65-F5344CB8AC3E}">
        <p14:creationId xmlns:p14="http://schemas.microsoft.com/office/powerpoint/2010/main" val="309555038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175"/>
            <a:ext cx="9144000" cy="537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16"/>
          <p:cNvSpPr txBox="1">
            <a:spLocks noChangeArrowheads="1"/>
          </p:cNvSpPr>
          <p:nvPr/>
        </p:nvSpPr>
        <p:spPr bwMode="gray">
          <a:xfrm>
            <a:off x="0" y="5300663"/>
            <a:ext cx="9144000" cy="144462"/>
          </a:xfrm>
          <a:prstGeom prst="rect">
            <a:avLst/>
          </a:prstGeom>
          <a:solidFill>
            <a:srgbClr val="A9C6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endParaRPr lang="zh-CN" altLang="zh-CN" sz="1000" b="1">
              <a:solidFill>
                <a:schemeClr val="bg1"/>
              </a:solidFill>
              <a:latin typeface="Verdana" pitchFamily="34" charset="0"/>
            </a:endParaRPr>
          </a:p>
        </p:txBody>
      </p:sp>
      <p:pic>
        <p:nvPicPr>
          <p:cNvPr id="6" name="图片 5"/>
          <p:cNvPicPr>
            <a:picLocks noChangeAspect="1"/>
          </p:cNvPicPr>
          <p:nvPr/>
        </p:nvPicPr>
        <p:blipFill>
          <a:blip r:embed="rId3"/>
          <a:stretch>
            <a:fillRect/>
          </a:stretch>
        </p:blipFill>
        <p:spPr>
          <a:xfrm>
            <a:off x="300038" y="188913"/>
            <a:ext cx="3163887" cy="722312"/>
          </a:xfrm>
          <a:prstGeom prst="rect">
            <a:avLst/>
          </a:prstGeom>
          <a:effectLst>
            <a:outerShdw blurRad="50800" dist="38100" dir="2700000" algn="tl" rotWithShape="0">
              <a:prstClr val="black">
                <a:alpha val="40000"/>
              </a:prstClr>
            </a:outerShdw>
          </a:effectLst>
        </p:spPr>
      </p:pic>
      <p:sp>
        <p:nvSpPr>
          <p:cNvPr id="3075" name="Rectangle 3"/>
          <p:cNvSpPr>
            <a:spLocks noGrp="1" noChangeArrowheads="1"/>
          </p:cNvSpPr>
          <p:nvPr>
            <p:ph type="subTitle" idx="1"/>
          </p:nvPr>
        </p:nvSpPr>
        <p:spPr bwMode="gray">
          <a:xfrm>
            <a:off x="1403648" y="5589240"/>
            <a:ext cx="6553200" cy="1268760"/>
          </a:xfrm>
        </p:spPr>
        <p:txBody>
          <a:bodyPr/>
          <a:lstStyle>
            <a:lvl1pPr marL="0" indent="0" algn="ctr">
              <a:buFont typeface="Wingdings" pitchFamily="2" charset="2"/>
              <a:buNone/>
              <a:defRPr sz="2400" b="1">
                <a:solidFill>
                  <a:schemeClr val="tx2"/>
                </a:solidFill>
                <a:latin typeface="Verdana" pitchFamily="34" charset="0"/>
              </a:defRPr>
            </a:lvl1pPr>
          </a:lstStyle>
          <a:p>
            <a:pPr lvl="0"/>
            <a:r>
              <a:rPr lang="zh-CN" altLang="en-US" noProof="0"/>
              <a:t>单击此处编辑母版副标题样式</a:t>
            </a:r>
            <a:endParaRPr lang="en-US" altLang="zh-CN" noProof="0" dirty="0"/>
          </a:p>
        </p:txBody>
      </p:sp>
      <p:sp>
        <p:nvSpPr>
          <p:cNvPr id="3093" name="Rectangle 21"/>
          <p:cNvSpPr>
            <a:spLocks noGrp="1" noChangeArrowheads="1"/>
          </p:cNvSpPr>
          <p:nvPr>
            <p:ph type="ctrTitle" sz="quarter"/>
          </p:nvPr>
        </p:nvSpPr>
        <p:spPr bwMode="gray">
          <a:xfrm>
            <a:off x="0" y="4077072"/>
            <a:ext cx="9144000" cy="1224137"/>
          </a:xfrm>
          <a:gradFill>
            <a:gsLst>
              <a:gs pos="0">
                <a:srgbClr val="00607A"/>
              </a:gs>
              <a:gs pos="100000">
                <a:srgbClr val="00607A"/>
              </a:gs>
            </a:gsLst>
            <a:lin ang="0" scaled="1"/>
          </a:gradFill>
          <a:effectLst/>
        </p:spPr>
        <p:txBody>
          <a:bodyPr/>
          <a:lstStyle>
            <a:lvl1pPr>
              <a:defRPr sz="4000"/>
            </a:lvl1pPr>
          </a:lstStyle>
          <a:p>
            <a:pPr lvl="0"/>
            <a:r>
              <a:rPr lang="zh-CN" altLang="en-US" noProof="0"/>
              <a:t>单击此处编辑母版标题样式</a:t>
            </a:r>
            <a:endParaRPr lang="en-US" altLang="ko-KR" noProof="0" dirty="0"/>
          </a:p>
        </p:txBody>
      </p:sp>
    </p:spTree>
    <p:extLst>
      <p:ext uri="{BB962C8B-B14F-4D97-AF65-F5344CB8AC3E}">
        <p14:creationId xmlns:p14="http://schemas.microsoft.com/office/powerpoint/2010/main" val="3228210556"/>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lvl1pPr>
              <a:defRPr>
                <a:solidFill>
                  <a:srgbClr val="00708E"/>
                </a:solidFill>
              </a:defRPr>
            </a:lvl1pPr>
            <a:lvl2pPr>
              <a:buClr>
                <a:srgbClr val="00607A"/>
              </a:buClr>
              <a:defRPr>
                <a:solidFill>
                  <a:srgbClr val="00708E"/>
                </a:solidFill>
                <a:latin typeface="+mn-ea"/>
                <a:ea typeface="+mn-ea"/>
              </a:defRPr>
            </a:lvl2pPr>
            <a:lvl3pPr>
              <a:buClr>
                <a:srgbClr val="00607A"/>
              </a:buClr>
              <a:defRPr>
                <a:solidFill>
                  <a:srgbClr val="00708E"/>
                </a:solidFill>
                <a:latin typeface="+mn-ea"/>
                <a:ea typeface="+mn-ea"/>
              </a:defRPr>
            </a:lvl3pPr>
            <a:lvl4pPr>
              <a:defRPr>
                <a:solidFill>
                  <a:srgbClr val="00708E"/>
                </a:solidFill>
                <a:latin typeface="+mn-ea"/>
                <a:ea typeface="+mn-ea"/>
              </a:defRPr>
            </a:lvl4pPr>
            <a:lvl5pPr>
              <a:defRPr>
                <a:solidFill>
                  <a:srgbClr val="00708E"/>
                </a:solidFill>
                <a:latin typeface="+mn-ea"/>
                <a:ea typeface="+mn-ea"/>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Rectangle 6"/>
          <p:cNvSpPr>
            <a:spLocks noGrp="1" noChangeArrowheads="1"/>
          </p:cNvSpPr>
          <p:nvPr>
            <p:ph type="sldNum" sz="quarter" idx="10"/>
          </p:nvPr>
        </p:nvSpPr>
        <p:spPr>
          <a:ln/>
        </p:spPr>
        <p:txBody>
          <a:bodyPr/>
          <a:lstStyle>
            <a:lvl1pPr>
              <a:defRPr/>
            </a:lvl1pPr>
          </a:lstStyle>
          <a:p>
            <a:pPr>
              <a:defRPr/>
            </a:pPr>
            <a:fld id="{CE1994E2-D037-49D3-9D9E-D7560473544B}" type="slidenum">
              <a:rPr lang="en-US" altLang="zh-CN"/>
              <a:pPr>
                <a:defRPr/>
              </a:pPr>
              <a:t>‹#›</a:t>
            </a:fld>
            <a:endParaRPr lang="en-US" altLang="zh-CN" dirty="0"/>
          </a:p>
        </p:txBody>
      </p:sp>
    </p:spTree>
    <p:extLst>
      <p:ext uri="{BB962C8B-B14F-4D97-AF65-F5344CB8AC3E}">
        <p14:creationId xmlns:p14="http://schemas.microsoft.com/office/powerpoint/2010/main" val="2719081639"/>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p:cNvSpPr>
            <a:spLocks noGrp="1" noChangeArrowheads="1"/>
          </p:cNvSpPr>
          <p:nvPr>
            <p:ph type="sldNum" sz="quarter" idx="10"/>
          </p:nvPr>
        </p:nvSpPr>
        <p:spPr>
          <a:ln/>
        </p:spPr>
        <p:txBody>
          <a:bodyPr/>
          <a:lstStyle>
            <a:lvl1pPr>
              <a:defRPr/>
            </a:lvl1pPr>
          </a:lstStyle>
          <a:p>
            <a:pPr>
              <a:defRPr/>
            </a:pPr>
            <a:fld id="{633F5CD1-8254-410A-9E00-9F42EF7216C1}" type="slidenum">
              <a:rPr lang="en-US" altLang="zh-CN"/>
              <a:pPr>
                <a:defRPr/>
              </a:pPr>
              <a:t>‹#›</a:t>
            </a:fld>
            <a:endParaRPr lang="en-US" altLang="zh-CN" dirty="0"/>
          </a:p>
        </p:txBody>
      </p:sp>
    </p:spTree>
    <p:extLst>
      <p:ext uri="{BB962C8B-B14F-4D97-AF65-F5344CB8AC3E}">
        <p14:creationId xmlns:p14="http://schemas.microsoft.com/office/powerpoint/2010/main" val="588837748"/>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525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B7FC6F05-4C1D-414A-8B1E-6A92CEA868C6}" type="slidenum">
              <a:rPr lang="en-US" altLang="zh-CN"/>
              <a:pPr>
                <a:defRPr/>
              </a:pPr>
              <a:t>‹#›</a:t>
            </a:fld>
            <a:endParaRPr lang="en-US" altLang="zh-CN" dirty="0"/>
          </a:p>
        </p:txBody>
      </p:sp>
    </p:spTree>
    <p:extLst>
      <p:ext uri="{BB962C8B-B14F-4D97-AF65-F5344CB8AC3E}">
        <p14:creationId xmlns:p14="http://schemas.microsoft.com/office/powerpoint/2010/main" val="3358659134"/>
      </p:ext>
    </p:extLst>
  </p:cSld>
  <p:clrMapOvr>
    <a:masterClrMapping/>
  </p:clrMapOvr>
  <p:transition/>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467544" y="1196752"/>
            <a:ext cx="403244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44824"/>
            <a:ext cx="4040188" cy="4281339"/>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4644008" y="1196752"/>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844824"/>
            <a:ext cx="4041775" cy="4281339"/>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标题 1"/>
          <p:cNvSpPr>
            <a:spLocks noGrp="1"/>
          </p:cNvSpPr>
          <p:nvPr>
            <p:ph type="title"/>
          </p:nvPr>
        </p:nvSpPr>
        <p:spPr>
          <a:xfrm>
            <a:off x="304800" y="152400"/>
            <a:ext cx="8458200" cy="563563"/>
          </a:xfrm>
        </p:spPr>
        <p:txBody>
          <a:bodyPr/>
          <a:lstStyle/>
          <a:p>
            <a:r>
              <a:rPr lang="zh-CN" altLang="en-US"/>
              <a:t>单击此处编辑母版标题样式</a:t>
            </a:r>
          </a:p>
        </p:txBody>
      </p:sp>
      <p:sp>
        <p:nvSpPr>
          <p:cNvPr id="7" name="Rectangle 6"/>
          <p:cNvSpPr>
            <a:spLocks noGrp="1" noChangeArrowheads="1"/>
          </p:cNvSpPr>
          <p:nvPr>
            <p:ph type="sldNum" sz="quarter" idx="10"/>
          </p:nvPr>
        </p:nvSpPr>
        <p:spPr>
          <a:ln/>
        </p:spPr>
        <p:txBody>
          <a:bodyPr/>
          <a:lstStyle>
            <a:lvl1pPr>
              <a:defRPr/>
            </a:lvl1pPr>
          </a:lstStyle>
          <a:p>
            <a:pPr>
              <a:defRPr/>
            </a:pPr>
            <a:fld id="{90D7FC5C-5DE5-49F9-BF3E-909A6D52156F}" type="slidenum">
              <a:rPr lang="en-US" altLang="zh-CN"/>
              <a:pPr>
                <a:defRPr/>
              </a:pPr>
              <a:t>‹#›</a:t>
            </a:fld>
            <a:endParaRPr lang="en-US" altLang="zh-CN" dirty="0"/>
          </a:p>
        </p:txBody>
      </p:sp>
    </p:spTree>
    <p:extLst>
      <p:ext uri="{BB962C8B-B14F-4D97-AF65-F5344CB8AC3E}">
        <p14:creationId xmlns:p14="http://schemas.microsoft.com/office/powerpoint/2010/main" val="775663029"/>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p:cNvSpPr>
            <a:spLocks noGrp="1" noChangeArrowheads="1"/>
          </p:cNvSpPr>
          <p:nvPr>
            <p:ph type="sldNum" sz="quarter" idx="10"/>
          </p:nvPr>
        </p:nvSpPr>
        <p:spPr>
          <a:ln/>
        </p:spPr>
        <p:txBody>
          <a:bodyPr/>
          <a:lstStyle>
            <a:lvl1pPr>
              <a:defRPr/>
            </a:lvl1pPr>
          </a:lstStyle>
          <a:p>
            <a:pPr>
              <a:defRPr/>
            </a:pPr>
            <a:fld id="{3EFF6C6F-9130-45C8-B205-0EB6310EFBAD}" type="slidenum">
              <a:rPr lang="en-US" altLang="zh-CN"/>
              <a:pPr>
                <a:defRPr/>
              </a:pPr>
              <a:t>‹#›</a:t>
            </a:fld>
            <a:endParaRPr lang="en-US" altLang="zh-CN" dirty="0"/>
          </a:p>
        </p:txBody>
      </p:sp>
    </p:spTree>
    <p:extLst>
      <p:ext uri="{BB962C8B-B14F-4D97-AF65-F5344CB8AC3E}">
        <p14:creationId xmlns:p14="http://schemas.microsoft.com/office/powerpoint/2010/main" val="3343194641"/>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1A9E1315-6740-4BAD-A9B0-1E2288F04827}" type="slidenum">
              <a:rPr lang="en-US" altLang="zh-CN"/>
              <a:pPr>
                <a:defRPr/>
              </a:pPr>
              <a:t>‹#›</a:t>
            </a:fld>
            <a:endParaRPr lang="en-US" altLang="zh-CN" dirty="0"/>
          </a:p>
        </p:txBody>
      </p:sp>
    </p:spTree>
    <p:extLst>
      <p:ext uri="{BB962C8B-B14F-4D97-AF65-F5344CB8AC3E}">
        <p14:creationId xmlns:p14="http://schemas.microsoft.com/office/powerpoint/2010/main" val="2016538191"/>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2BE40F09-125A-47C7-97A2-C2B1EF369708}" type="slidenum">
              <a:rPr lang="en-US" altLang="zh-CN"/>
              <a:pPr>
                <a:defRPr/>
              </a:pPr>
              <a:t>‹#›</a:t>
            </a:fld>
            <a:endParaRPr lang="en-US" altLang="zh-CN" dirty="0"/>
          </a:p>
        </p:txBody>
      </p:sp>
    </p:spTree>
    <p:extLst>
      <p:ext uri="{BB962C8B-B14F-4D97-AF65-F5344CB8AC3E}">
        <p14:creationId xmlns:p14="http://schemas.microsoft.com/office/powerpoint/2010/main" val="2187214282"/>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BCD49159-978C-41B9-AAD6-593719B65037}" type="slidenum">
              <a:rPr lang="en-US" altLang="zh-CN"/>
              <a:pPr>
                <a:defRPr/>
              </a:pPr>
              <a:t>‹#›</a:t>
            </a:fld>
            <a:endParaRPr lang="en-US" altLang="zh-CN" dirty="0"/>
          </a:p>
        </p:txBody>
      </p:sp>
    </p:spTree>
    <p:extLst>
      <p:ext uri="{BB962C8B-B14F-4D97-AF65-F5344CB8AC3E}">
        <p14:creationId xmlns:p14="http://schemas.microsoft.com/office/powerpoint/2010/main" val="1717204314"/>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07CFEF07-DED3-40E9-ADD2-3355B7A556CF}" type="slidenum">
              <a:rPr lang="en-US" altLang="zh-CN"/>
              <a:pPr>
                <a:defRPr/>
              </a:pPr>
              <a:t>‹#›</a:t>
            </a:fld>
            <a:endParaRPr lang="en-US" altLang="zh-CN" dirty="0"/>
          </a:p>
        </p:txBody>
      </p:sp>
    </p:spTree>
    <p:extLst>
      <p:ext uri="{BB962C8B-B14F-4D97-AF65-F5344CB8AC3E}">
        <p14:creationId xmlns:p14="http://schemas.microsoft.com/office/powerpoint/2010/main" val="3464409621"/>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8450" y="152400"/>
            <a:ext cx="211455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4800" y="152400"/>
            <a:ext cx="619125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sldNum" sz="quarter" idx="10"/>
          </p:nvPr>
        </p:nvSpPr>
        <p:spPr>
          <a:ln/>
        </p:spPr>
        <p:txBody>
          <a:bodyPr/>
          <a:lstStyle>
            <a:lvl1pPr>
              <a:defRPr/>
            </a:lvl1pPr>
          </a:lstStyle>
          <a:p>
            <a:pPr>
              <a:defRPr/>
            </a:pPr>
            <a:fld id="{729540E0-7307-43CB-9769-CBEFDAB202C7}" type="slidenum">
              <a:rPr lang="en-US" altLang="zh-CN"/>
              <a:pPr>
                <a:defRPr/>
              </a:pPr>
              <a:t>‹#›</a:t>
            </a:fld>
            <a:endParaRPr lang="en-US" altLang="zh-CN" dirty="0"/>
          </a:p>
        </p:txBody>
      </p:sp>
    </p:spTree>
    <p:extLst>
      <p:ext uri="{BB962C8B-B14F-4D97-AF65-F5344CB8AC3E}">
        <p14:creationId xmlns:p14="http://schemas.microsoft.com/office/powerpoint/2010/main" val="354364301"/>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04800" y="152400"/>
            <a:ext cx="8458200" cy="563563"/>
          </a:xfrm>
        </p:spPr>
        <p:txBody>
          <a:bodyPr/>
          <a:lstStyle/>
          <a:p>
            <a:r>
              <a:rPr lang="zh-CN" altLang="en-US"/>
              <a:t>单击此处编辑母版标题样式</a:t>
            </a:r>
          </a:p>
        </p:txBody>
      </p:sp>
      <p:sp>
        <p:nvSpPr>
          <p:cNvPr id="3" name="表格占位符 2"/>
          <p:cNvSpPr>
            <a:spLocks noGrp="1"/>
          </p:cNvSpPr>
          <p:nvPr>
            <p:ph type="tbl" idx="1"/>
          </p:nvPr>
        </p:nvSpPr>
        <p:spPr>
          <a:xfrm>
            <a:off x="457200" y="1152525"/>
            <a:ext cx="8229600" cy="5248275"/>
          </a:xfrm>
        </p:spPr>
        <p:txBody>
          <a:bodyPr/>
          <a:lstStyle/>
          <a:p>
            <a:pPr lvl="0"/>
            <a:r>
              <a:rPr lang="zh-CN" altLang="en-US" noProof="0"/>
              <a:t>单击图标添加表格</a:t>
            </a:r>
          </a:p>
        </p:txBody>
      </p:sp>
      <p:sp>
        <p:nvSpPr>
          <p:cNvPr id="4" name="Rectangle 6"/>
          <p:cNvSpPr>
            <a:spLocks noGrp="1" noChangeArrowheads="1"/>
          </p:cNvSpPr>
          <p:nvPr>
            <p:ph type="sldNum" sz="quarter" idx="10"/>
          </p:nvPr>
        </p:nvSpPr>
        <p:spPr>
          <a:ln/>
        </p:spPr>
        <p:txBody>
          <a:bodyPr/>
          <a:lstStyle>
            <a:lvl1pPr>
              <a:defRPr/>
            </a:lvl1pPr>
          </a:lstStyle>
          <a:p>
            <a:pPr>
              <a:defRPr/>
            </a:pPr>
            <a:fld id="{6DE992DA-7872-4936-B948-18537250EB23}" type="slidenum">
              <a:rPr lang="en-US" altLang="zh-CN"/>
              <a:pPr>
                <a:defRPr/>
              </a:pPr>
              <a:t>‹#›</a:t>
            </a:fld>
            <a:endParaRPr lang="en-US" altLang="zh-CN" dirty="0"/>
          </a:p>
        </p:txBody>
      </p:sp>
    </p:spTree>
    <p:extLst>
      <p:ext uri="{BB962C8B-B14F-4D97-AF65-F5344CB8AC3E}">
        <p14:creationId xmlns:p14="http://schemas.microsoft.com/office/powerpoint/2010/main" val="4058081004"/>
      </p:ext>
    </p:extLst>
  </p:cSld>
  <p:clrMapOvr>
    <a:masterClrMapping/>
  </p:clrMapOvr>
  <p:transition/>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cSld name="1_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p:cNvSpPr>
            <a:spLocks noGrp="1" noChangeArrowheads="1"/>
          </p:cNvSpPr>
          <p:nvPr>
            <p:ph type="sldNum" sz="quarter" idx="10"/>
          </p:nvPr>
        </p:nvSpPr>
        <p:spPr>
          <a:ln/>
        </p:spPr>
        <p:txBody>
          <a:bodyPr/>
          <a:lstStyle>
            <a:lvl1pPr>
              <a:defRPr/>
            </a:lvl1pPr>
          </a:lstStyle>
          <a:p>
            <a:pPr>
              <a:defRPr/>
            </a:pPr>
            <a:fld id="{5EB1CA60-D544-4E9C-A464-56B22D3ABA85}" type="slidenum">
              <a:rPr lang="en-US" altLang="zh-CN"/>
              <a:pPr>
                <a:defRPr/>
              </a:pPr>
              <a:t>‹#›</a:t>
            </a:fld>
            <a:endParaRPr lang="en-US" altLang="zh-CN" dirty="0"/>
          </a:p>
        </p:txBody>
      </p:sp>
    </p:spTree>
    <p:extLst>
      <p:ext uri="{BB962C8B-B14F-4D97-AF65-F5344CB8AC3E}">
        <p14:creationId xmlns:p14="http://schemas.microsoft.com/office/powerpoint/2010/main" val="2089997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5"/>
          <p:cNvSpPr>
            <a:spLocks noChangeArrowheads="1"/>
          </p:cNvSpPr>
          <p:nvPr/>
        </p:nvSpPr>
        <p:spPr bwMode="ltGray">
          <a:xfrm>
            <a:off x="0" y="0"/>
            <a:ext cx="9144000" cy="836613"/>
          </a:xfrm>
          <a:prstGeom prst="rect">
            <a:avLst/>
          </a:prstGeom>
          <a:solidFill>
            <a:srgbClr val="0060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027" name="Rectangle 3"/>
          <p:cNvSpPr>
            <a:spLocks noGrp="1" noChangeArrowheads="1"/>
          </p:cNvSpPr>
          <p:nvPr>
            <p:ph type="body" idx="1"/>
          </p:nvPr>
        </p:nvSpPr>
        <p:spPr bwMode="auto">
          <a:xfrm>
            <a:off x="457200" y="1052513"/>
            <a:ext cx="8229600" cy="5348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altLang="zh-CN" dirty="0"/>
          </a:p>
        </p:txBody>
      </p:sp>
      <p:sp>
        <p:nvSpPr>
          <p:cNvPr id="1030" name="Rectangle 6"/>
          <p:cNvSpPr>
            <a:spLocks noGrp="1" noChangeArrowheads="1"/>
          </p:cNvSpPr>
          <p:nvPr>
            <p:ph type="sldNum" sz="quarter" idx="4"/>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200" smtClean="0">
                <a:latin typeface="+mj-lt"/>
                <a:ea typeface="宋体" charset="-122"/>
              </a:defRPr>
            </a:lvl1pPr>
          </a:lstStyle>
          <a:p>
            <a:pPr>
              <a:defRPr/>
            </a:pPr>
            <a:fld id="{6596A40B-B1C2-44EF-9690-75E4C394FA2A}" type="slidenum">
              <a:rPr lang="en-US" altLang="zh-CN"/>
              <a:pPr>
                <a:defRPr/>
              </a:pPr>
              <a:t>‹#›</a:t>
            </a:fld>
            <a:endParaRPr lang="en-US" altLang="zh-CN" dirty="0"/>
          </a:p>
        </p:txBody>
      </p:sp>
      <p:sp>
        <p:nvSpPr>
          <p:cNvPr id="1029" name="Rectangle 2"/>
          <p:cNvSpPr>
            <a:spLocks noGrp="1" noChangeArrowheads="1"/>
          </p:cNvSpPr>
          <p:nvPr>
            <p:ph type="title"/>
          </p:nvPr>
        </p:nvSpPr>
        <p:spPr bwMode="white">
          <a:xfrm>
            <a:off x="304800" y="152400"/>
            <a:ext cx="84582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2" name="Text Box 16"/>
          <p:cNvSpPr txBox="1">
            <a:spLocks noChangeArrowheads="1"/>
          </p:cNvSpPr>
          <p:nvPr/>
        </p:nvSpPr>
        <p:spPr bwMode="gray">
          <a:xfrm>
            <a:off x="0" y="838200"/>
            <a:ext cx="9144000" cy="144463"/>
          </a:xfrm>
          <a:prstGeom prst="rect">
            <a:avLst/>
          </a:prstGeom>
          <a:solidFill>
            <a:srgbClr val="A9C6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endParaRPr lang="zh-CN" altLang="zh-CN" sz="1000" b="1">
              <a:solidFill>
                <a:schemeClr val="bg1"/>
              </a:solidFill>
              <a:latin typeface="Verdana" pitchFamily="34" charset="0"/>
            </a:endParaRPr>
          </a:p>
        </p:txBody>
      </p:sp>
      <p:pic>
        <p:nvPicPr>
          <p:cNvPr id="9" name="图片 8"/>
          <p:cNvPicPr>
            <a:picLocks noChangeAspect="1"/>
          </p:cNvPicPr>
          <p:nvPr/>
        </p:nvPicPr>
        <p:blipFill>
          <a:blip r:embed="rId15"/>
          <a:stretch>
            <a:fillRect/>
          </a:stretch>
        </p:blipFill>
        <p:spPr>
          <a:xfrm>
            <a:off x="7380288" y="6453188"/>
            <a:ext cx="1579562" cy="360362"/>
          </a:xfrm>
          <a:prstGeom prst="rect">
            <a:avLst/>
          </a:prstGeom>
          <a:effectLst>
            <a:outerShdw blurRad="50800" dist="38100" dir="2700000" algn="tl" rotWithShape="0">
              <a:prstClr val="black">
                <a:alpha val="40000"/>
              </a:prstClr>
            </a:outerShdw>
          </a:effectLst>
        </p:spPr>
      </p:pic>
    </p:spTree>
  </p:cSld>
  <p:clrMap bg1="lt1" tx1="dk1" bg2="lt2" tx2="dk2" accent1="accent1" accent2="accent2" accent3="accent3" accent4="accent4" accent5="accent5" accent6="accent6" hlink="hlink" folHlink="folHlink"/>
  <p:sldLayoutIdLst>
    <p:sldLayoutId id="2147484104" r:id="rId1"/>
    <p:sldLayoutId id="2147484092" r:id="rId2"/>
    <p:sldLayoutId id="2147484093" r:id="rId3"/>
    <p:sldLayoutId id="2147484094" r:id="rId4"/>
    <p:sldLayoutId id="2147484095" r:id="rId5"/>
    <p:sldLayoutId id="2147484096" r:id="rId6"/>
    <p:sldLayoutId id="2147484097" r:id="rId7"/>
    <p:sldLayoutId id="2147484098" r:id="rId8"/>
    <p:sldLayoutId id="2147484099" r:id="rId9"/>
    <p:sldLayoutId id="2147484100" r:id="rId10"/>
    <p:sldLayoutId id="2147484101" r:id="rId11"/>
    <p:sldLayoutId id="2147484102" r:id="rId12"/>
    <p:sldLayoutId id="2147484103" r:id="rId13"/>
  </p:sldLayoutIdLst>
  <p:transition/>
  <p:hf hdr="0" ftr="0" dt="0"/>
  <p:txStyles>
    <p:titleStyle>
      <a:lvl1pPr algn="ctr" rtl="0" fontAlgn="base">
        <a:spcBef>
          <a:spcPct val="0"/>
        </a:spcBef>
        <a:spcAft>
          <a:spcPct val="0"/>
        </a:spcAft>
        <a:defRPr sz="3200" b="1">
          <a:solidFill>
            <a:schemeClr val="bg1"/>
          </a:solidFill>
          <a:latin typeface="+mj-lt"/>
          <a:ea typeface="+mj-ea"/>
          <a:cs typeface="+mj-cs"/>
        </a:defRPr>
      </a:lvl1pPr>
      <a:lvl2pPr algn="ctr" rtl="0" fontAlgn="base">
        <a:spcBef>
          <a:spcPct val="0"/>
        </a:spcBef>
        <a:spcAft>
          <a:spcPct val="0"/>
        </a:spcAft>
        <a:defRPr sz="3200" b="1">
          <a:solidFill>
            <a:schemeClr val="bg1"/>
          </a:solidFill>
          <a:latin typeface="Verdana" pitchFamily="34" charset="0"/>
        </a:defRPr>
      </a:lvl2pPr>
      <a:lvl3pPr algn="ctr" rtl="0" fontAlgn="base">
        <a:spcBef>
          <a:spcPct val="0"/>
        </a:spcBef>
        <a:spcAft>
          <a:spcPct val="0"/>
        </a:spcAft>
        <a:defRPr sz="3200" b="1">
          <a:solidFill>
            <a:schemeClr val="bg1"/>
          </a:solidFill>
          <a:latin typeface="Verdana" pitchFamily="34" charset="0"/>
        </a:defRPr>
      </a:lvl3pPr>
      <a:lvl4pPr algn="ctr" rtl="0" fontAlgn="base">
        <a:spcBef>
          <a:spcPct val="0"/>
        </a:spcBef>
        <a:spcAft>
          <a:spcPct val="0"/>
        </a:spcAft>
        <a:defRPr sz="3200" b="1">
          <a:solidFill>
            <a:schemeClr val="bg1"/>
          </a:solidFill>
          <a:latin typeface="Verdana" pitchFamily="34" charset="0"/>
        </a:defRPr>
      </a:lvl4pPr>
      <a:lvl5pPr algn="ctr" rtl="0" fontAlgn="base">
        <a:spcBef>
          <a:spcPct val="0"/>
        </a:spcBef>
        <a:spcAft>
          <a:spcPct val="0"/>
        </a:spcAft>
        <a:defRPr sz="3200" b="1">
          <a:solidFill>
            <a:schemeClr val="bg1"/>
          </a:solidFill>
          <a:latin typeface="Verdana" pitchFamily="34" charset="0"/>
        </a:defRPr>
      </a:lvl5pPr>
      <a:lvl6pPr marL="457200" algn="ctr" rtl="0" eaLnBrk="1" fontAlgn="base" hangingPunct="1">
        <a:spcBef>
          <a:spcPct val="0"/>
        </a:spcBef>
        <a:spcAft>
          <a:spcPct val="0"/>
        </a:spcAft>
        <a:defRPr sz="3200" b="1">
          <a:solidFill>
            <a:schemeClr val="bg1"/>
          </a:solidFill>
          <a:latin typeface="Verdana" pitchFamily="34" charset="0"/>
        </a:defRPr>
      </a:lvl6pPr>
      <a:lvl7pPr marL="914400" algn="ctr" rtl="0" eaLnBrk="1" fontAlgn="base" hangingPunct="1">
        <a:spcBef>
          <a:spcPct val="0"/>
        </a:spcBef>
        <a:spcAft>
          <a:spcPct val="0"/>
        </a:spcAft>
        <a:defRPr sz="3200" b="1">
          <a:solidFill>
            <a:schemeClr val="bg1"/>
          </a:solidFill>
          <a:latin typeface="Verdana" pitchFamily="34" charset="0"/>
        </a:defRPr>
      </a:lvl7pPr>
      <a:lvl8pPr marL="1371600" algn="ctr" rtl="0" eaLnBrk="1" fontAlgn="base" hangingPunct="1">
        <a:spcBef>
          <a:spcPct val="0"/>
        </a:spcBef>
        <a:spcAft>
          <a:spcPct val="0"/>
        </a:spcAft>
        <a:defRPr sz="3200" b="1">
          <a:solidFill>
            <a:schemeClr val="bg1"/>
          </a:solidFill>
          <a:latin typeface="Verdana" pitchFamily="34" charset="0"/>
        </a:defRPr>
      </a:lvl8pPr>
      <a:lvl9pPr marL="1828800" algn="ctr" rtl="0" eaLnBrk="1" fontAlgn="base" hangingPunct="1">
        <a:spcBef>
          <a:spcPct val="0"/>
        </a:spcBef>
        <a:spcAft>
          <a:spcPct val="0"/>
        </a:spcAft>
        <a:defRPr sz="3200" b="1">
          <a:solidFill>
            <a:schemeClr val="bg1"/>
          </a:solidFill>
          <a:latin typeface="Verdana" pitchFamily="34" charset="0"/>
        </a:defRPr>
      </a:lvl9pPr>
    </p:titleStyle>
    <p:bodyStyle>
      <a:lvl1pPr marL="363538" indent="-363538" algn="l" rtl="0" fontAlgn="base">
        <a:spcBef>
          <a:spcPct val="20000"/>
        </a:spcBef>
        <a:spcAft>
          <a:spcPct val="0"/>
        </a:spcAft>
        <a:buClr>
          <a:srgbClr val="00607A"/>
        </a:buClr>
        <a:buFont typeface="Wingdings" pitchFamily="2" charset="2"/>
        <a:buChar char="l"/>
        <a:defRPr sz="3200">
          <a:solidFill>
            <a:srgbClr val="00607A"/>
          </a:solidFill>
          <a:latin typeface="+mn-lt"/>
          <a:ea typeface="+mn-ea"/>
          <a:cs typeface="+mn-cs"/>
        </a:defRPr>
      </a:lvl1pPr>
      <a:lvl2pPr marL="715963" indent="-352425" algn="l" rtl="0" fontAlgn="base">
        <a:spcBef>
          <a:spcPct val="20000"/>
        </a:spcBef>
        <a:spcAft>
          <a:spcPct val="0"/>
        </a:spcAft>
        <a:buClr>
          <a:srgbClr val="00607A"/>
        </a:buClr>
        <a:buFont typeface="Wingdings" pitchFamily="2" charset="2"/>
        <a:buChar char="n"/>
        <a:defRPr sz="2800">
          <a:solidFill>
            <a:srgbClr val="00607A"/>
          </a:solidFill>
          <a:latin typeface="+mn-lt"/>
        </a:defRPr>
      </a:lvl2pPr>
      <a:lvl3pPr marL="1079500" indent="-363538" algn="l" rtl="0" fontAlgn="base">
        <a:spcBef>
          <a:spcPct val="20000"/>
        </a:spcBef>
        <a:spcAft>
          <a:spcPct val="0"/>
        </a:spcAft>
        <a:buClr>
          <a:srgbClr val="00607A"/>
        </a:buClr>
        <a:buFont typeface="Wingdings" pitchFamily="2" charset="2"/>
        <a:buChar char="u"/>
        <a:defRPr sz="2400">
          <a:solidFill>
            <a:srgbClr val="00607A"/>
          </a:solidFill>
          <a:latin typeface="+mn-lt"/>
        </a:defRPr>
      </a:lvl3pPr>
      <a:lvl4pPr marL="1431925" indent="-352425" algn="l" rtl="0" fontAlgn="base">
        <a:spcBef>
          <a:spcPct val="20000"/>
        </a:spcBef>
        <a:spcAft>
          <a:spcPct val="0"/>
        </a:spcAft>
        <a:buChar char="–"/>
        <a:defRPr sz="2000">
          <a:solidFill>
            <a:srgbClr val="00607A"/>
          </a:solidFill>
          <a:latin typeface="+mn-lt"/>
        </a:defRPr>
      </a:lvl4pPr>
      <a:lvl5pPr marL="1795463" indent="-363538" algn="l" rtl="0" fontAlgn="base">
        <a:spcBef>
          <a:spcPct val="20000"/>
        </a:spcBef>
        <a:spcAft>
          <a:spcPct val="0"/>
        </a:spcAft>
        <a:buFont typeface="Wingdings" pitchFamily="2" charset="2"/>
        <a:buChar char="ü"/>
        <a:defRPr sz="2000">
          <a:solidFill>
            <a:srgbClr val="00607A"/>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vmlDrawing" Target="../drawings/vmlDrawing1.vml"/><Relationship Id="rId6" Type="http://schemas.openxmlformats.org/officeDocument/2006/relationships/image" Target="../media/image6.emf"/><Relationship Id="rId5" Type="http://schemas.openxmlformats.org/officeDocument/2006/relationships/oleObject" Target="../embeddings/oleObject1.bin"/><Relationship Id="rId4"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7.emf"/><Relationship Id="rId4" Type="http://schemas.openxmlformats.org/officeDocument/2006/relationships/oleObject" Target="../embeddings/oleObject2.bin"/></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11.emf"/><Relationship Id="rId4" Type="http://schemas.openxmlformats.org/officeDocument/2006/relationships/oleObject" Target="../embeddings/oleObject3.bin"/></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image" Target="../media/image23.emf"/><Relationship Id="rId3" Type="http://schemas.openxmlformats.org/officeDocument/2006/relationships/slideLayout" Target="../slideLayouts/slideLayout2.xml"/><Relationship Id="rId7" Type="http://schemas.openxmlformats.org/officeDocument/2006/relationships/oleObject" Target="../embeddings/oleObject5.bin"/><Relationship Id="rId2" Type="http://schemas.openxmlformats.org/officeDocument/2006/relationships/tags" Target="../tags/tag5.xml"/><Relationship Id="rId1" Type="http://schemas.openxmlformats.org/officeDocument/2006/relationships/vmlDrawing" Target="../drawings/vmlDrawing4.vml"/><Relationship Id="rId6" Type="http://schemas.openxmlformats.org/officeDocument/2006/relationships/image" Target="../media/image22.emf"/><Relationship Id="rId5" Type="http://schemas.openxmlformats.org/officeDocument/2006/relationships/oleObject" Target="../embeddings/oleObject4.bin"/><Relationship Id="rId4" Type="http://schemas.openxmlformats.org/officeDocument/2006/relationships/notesSlide" Target="../notesSlides/notesSlide3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5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5.xml"/><Relationship Id="rId1" Type="http://schemas.openxmlformats.org/officeDocument/2006/relationships/slideLayout" Target="../slideLayouts/slideLayout13.xml"/><Relationship Id="rId5" Type="http://schemas.openxmlformats.org/officeDocument/2006/relationships/image" Target="../media/image29.png"/><Relationship Id="rId4" Type="http://schemas.openxmlformats.org/officeDocument/2006/relationships/image" Target="../media/image28.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5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3" Type="http://schemas.openxmlformats.org/officeDocument/2006/relationships/hyperlink" Target="http://202.119.47.8:8080/opac/item.php?marc_no=0003487777" TargetMode="External"/><Relationship Id="rId2" Type="http://schemas.openxmlformats.org/officeDocument/2006/relationships/hyperlink" Target="http://202.119.47.8:8080/opac/item.php?marc_no=0003275270"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3"/>
          <p:cNvSpPr>
            <a:spLocks noGrp="1" noChangeArrowheads="1"/>
          </p:cNvSpPr>
          <p:nvPr>
            <p:ph type="subTitle" idx="1"/>
          </p:nvPr>
        </p:nvSpPr>
        <p:spPr>
          <a:xfrm>
            <a:off x="1403350" y="5589588"/>
            <a:ext cx="6553200" cy="1268412"/>
          </a:xfrm>
        </p:spPr>
        <p:txBody>
          <a:bodyPr/>
          <a:lstStyle/>
          <a:p>
            <a:r>
              <a:rPr lang="en-US" altLang="zh-CN" sz="2000" dirty="0">
                <a:solidFill>
                  <a:srgbClr val="595959"/>
                </a:solidFill>
                <a:ea typeface="宋体" pitchFamily="2" charset="-122"/>
              </a:rPr>
              <a:t>Software Institute</a:t>
            </a:r>
          </a:p>
          <a:p>
            <a:r>
              <a:rPr lang="en-US" altLang="zh-CN" sz="2000" dirty="0">
                <a:solidFill>
                  <a:srgbClr val="595959"/>
                </a:solidFill>
                <a:ea typeface="宋体" pitchFamily="2" charset="-122"/>
              </a:rPr>
              <a:t>Nanjing University</a:t>
            </a:r>
          </a:p>
          <a:p>
            <a:r>
              <a:rPr lang="en-US" altLang="zh-CN" sz="2000" dirty="0" err="1">
                <a:solidFill>
                  <a:srgbClr val="595959"/>
                </a:solidFill>
                <a:ea typeface="宋体" pitchFamily="2" charset="-122"/>
              </a:rPr>
              <a:t>Bei</a:t>
            </a:r>
            <a:r>
              <a:rPr lang="en-US" altLang="zh-CN" sz="2000" dirty="0">
                <a:solidFill>
                  <a:srgbClr val="595959"/>
                </a:solidFill>
                <a:ea typeface="宋体" pitchFamily="2" charset="-122"/>
              </a:rPr>
              <a:t> </a:t>
            </a:r>
            <a:r>
              <a:rPr lang="en-US" altLang="zh-CN" sz="2000" dirty="0" err="1">
                <a:solidFill>
                  <a:srgbClr val="595959"/>
                </a:solidFill>
                <a:ea typeface="宋体" pitchFamily="2" charset="-122"/>
              </a:rPr>
              <a:t>Jia</a:t>
            </a:r>
            <a:endParaRPr lang="en-US" altLang="zh-CN" sz="2000" dirty="0">
              <a:solidFill>
                <a:srgbClr val="595959"/>
              </a:solidFill>
              <a:ea typeface="宋体" pitchFamily="2" charset="-122"/>
            </a:endParaRPr>
          </a:p>
        </p:txBody>
      </p:sp>
      <p:sp>
        <p:nvSpPr>
          <p:cNvPr id="3075" name="Rectangle 2"/>
          <p:cNvSpPr>
            <a:spLocks noGrp="1" noChangeArrowheads="1"/>
          </p:cNvSpPr>
          <p:nvPr>
            <p:ph type="ctrTitle" sz="quarter"/>
          </p:nvPr>
        </p:nvSpPr>
        <p:spPr>
          <a:xfrm>
            <a:off x="0" y="4076700"/>
            <a:ext cx="9144000" cy="1223963"/>
          </a:xfrm>
          <a:gradFill rotWithShape="0"/>
        </p:spPr>
        <p:txBody>
          <a:bodyPr/>
          <a:lstStyle/>
          <a:p>
            <a:r>
              <a:rPr lang="en-US" altLang="zh-CN" sz="3600" dirty="0">
                <a:ea typeface="宋体" pitchFamily="2" charset="-122"/>
              </a:rPr>
              <a:t>Service-Oriented Analysis</a:t>
            </a:r>
            <a:br>
              <a:rPr lang="en-US" altLang="zh-CN" sz="2000" dirty="0">
                <a:ea typeface="宋体" pitchFamily="2" charset="-122"/>
              </a:rPr>
            </a:br>
            <a:r>
              <a:rPr lang="en-US" altLang="zh-CN" sz="2000" dirty="0">
                <a:solidFill>
                  <a:srgbClr val="FFFFFF"/>
                </a:solidFill>
              </a:rPr>
              <a:t>Service-Oriented Software Engineering</a:t>
            </a:r>
            <a:endParaRPr lang="en-US" altLang="zh-CN" sz="2000" dirty="0">
              <a:ea typeface="宋体" pitchFamily="2" charset="-122"/>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p:cNvSpPr>
            <a:spLocks noGrp="1"/>
          </p:cNvSpPr>
          <p:nvPr>
            <p:ph type="title"/>
          </p:nvPr>
        </p:nvSpPr>
        <p:spPr/>
        <p:txBody>
          <a:bodyPr/>
          <a:lstStyle/>
          <a:p>
            <a:r>
              <a:rPr lang="zh-CN" altLang="en-US"/>
              <a:t>面向服务的生命周期的基本阶段</a:t>
            </a:r>
            <a:endParaRPr lang="zh-CN" altLang="en-US" dirty="0"/>
          </a:p>
        </p:txBody>
      </p:sp>
      <p:sp>
        <p:nvSpPr>
          <p:cNvPr id="4099" name="内容占位符 2"/>
          <p:cNvSpPr>
            <a:spLocks noGrp="1"/>
          </p:cNvSpPr>
          <p:nvPr>
            <p:ph idx="1"/>
          </p:nvPr>
        </p:nvSpPr>
        <p:spPr/>
        <p:txBody>
          <a:bodyPr/>
          <a:lstStyle/>
          <a:p>
            <a:pPr>
              <a:lnSpc>
                <a:spcPct val="150000"/>
              </a:lnSpc>
            </a:pPr>
            <a:r>
              <a:rPr lang="zh-CN" altLang="en-US" dirty="0"/>
              <a:t>面向服务的分析</a:t>
            </a:r>
            <a:endParaRPr lang="en-US" altLang="zh-CN" dirty="0"/>
          </a:p>
          <a:p>
            <a:pPr>
              <a:lnSpc>
                <a:spcPct val="150000"/>
              </a:lnSpc>
            </a:pPr>
            <a:r>
              <a:rPr lang="zh-CN" altLang="en-US" dirty="0"/>
              <a:t>面向服务的设计</a:t>
            </a:r>
            <a:endParaRPr lang="en-US" altLang="zh-CN" dirty="0"/>
          </a:p>
          <a:p>
            <a:pPr>
              <a:lnSpc>
                <a:spcPct val="150000"/>
              </a:lnSpc>
            </a:pPr>
            <a:r>
              <a:rPr lang="zh-CN" altLang="en-US" dirty="0"/>
              <a:t>服务的开发</a:t>
            </a:r>
            <a:endParaRPr lang="en-US" altLang="zh-CN" dirty="0"/>
          </a:p>
          <a:p>
            <a:pPr>
              <a:lnSpc>
                <a:spcPct val="150000"/>
              </a:lnSpc>
            </a:pPr>
            <a:r>
              <a:rPr lang="zh-CN" altLang="en-US" dirty="0"/>
              <a:t>服务的测试</a:t>
            </a:r>
            <a:endParaRPr lang="en-US" altLang="zh-CN" dirty="0"/>
          </a:p>
          <a:p>
            <a:pPr>
              <a:lnSpc>
                <a:spcPct val="150000"/>
              </a:lnSpc>
            </a:pPr>
            <a:r>
              <a:rPr lang="zh-CN" altLang="en-US" dirty="0"/>
              <a:t>服务的部署</a:t>
            </a:r>
            <a:endParaRPr lang="en-US" altLang="zh-CN" dirty="0"/>
          </a:p>
          <a:p>
            <a:pPr>
              <a:lnSpc>
                <a:spcPct val="150000"/>
              </a:lnSpc>
            </a:pPr>
            <a:r>
              <a:rPr lang="zh-CN" altLang="en-US" dirty="0"/>
              <a:t>服务的管理</a:t>
            </a:r>
          </a:p>
        </p:txBody>
      </p:sp>
      <p:sp>
        <p:nvSpPr>
          <p:cNvPr id="4100" name="灯片编号占位符 3"/>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417A5787-4749-44C1-AF66-27513656707C}" type="slidenum">
              <a:rPr lang="en-US" altLang="zh-CN" smtClean="0"/>
              <a:pPr/>
              <a:t>2</a:t>
            </a:fld>
            <a:endParaRPr lang="en-US" altLang="zh-CN"/>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lstStyle/>
          <a:p>
            <a:r>
              <a:rPr lang="zh-CN" altLang="en-US"/>
              <a:t>业务逻辑</a:t>
            </a:r>
            <a:r>
              <a:rPr lang="en-US" altLang="zh-CN"/>
              <a:t>/</a:t>
            </a:r>
            <a:r>
              <a:rPr lang="zh-CN" altLang="en-US"/>
              <a:t>应用逻辑（</a:t>
            </a:r>
            <a:r>
              <a:rPr lang="en-US" altLang="zh-CN"/>
              <a:t>1/2</a:t>
            </a:r>
            <a:r>
              <a:rPr lang="zh-CN" altLang="en-US"/>
              <a:t>）</a:t>
            </a:r>
          </a:p>
        </p:txBody>
      </p:sp>
      <p:sp>
        <p:nvSpPr>
          <p:cNvPr id="5123" name="内容占位符 2"/>
          <p:cNvSpPr>
            <a:spLocks noGrp="1"/>
          </p:cNvSpPr>
          <p:nvPr>
            <p:ph idx="1"/>
          </p:nvPr>
        </p:nvSpPr>
        <p:spPr/>
        <p:txBody>
          <a:bodyPr/>
          <a:lstStyle/>
          <a:p>
            <a:pPr>
              <a:lnSpc>
                <a:spcPct val="150000"/>
              </a:lnSpc>
            </a:pPr>
            <a:r>
              <a:rPr lang="zh-CN" altLang="en-US" dirty="0"/>
              <a:t>业务逻辑源自于企业业务领域，业务需求的文档化实现</a:t>
            </a:r>
            <a:endParaRPr lang="en-US" altLang="zh-CN" dirty="0"/>
          </a:p>
          <a:p>
            <a:pPr lvl="1">
              <a:lnSpc>
                <a:spcPct val="150000"/>
              </a:lnSpc>
            </a:pPr>
            <a:r>
              <a:rPr lang="zh-CN" altLang="en-US" dirty="0"/>
              <a:t>一般被构造为表达这些需求的流程</a:t>
            </a:r>
            <a:endParaRPr lang="en-US" altLang="zh-CN" dirty="0"/>
          </a:p>
          <a:p>
            <a:pPr lvl="1">
              <a:lnSpc>
                <a:spcPct val="150000"/>
              </a:lnSpc>
            </a:pPr>
            <a:r>
              <a:rPr lang="zh-CN" altLang="en-US" dirty="0"/>
              <a:t>包括任何相关的约束、依赖及外部影响</a:t>
            </a:r>
            <a:endParaRPr lang="en-US" altLang="zh-CN" dirty="0"/>
          </a:p>
          <a:p>
            <a:pPr>
              <a:lnSpc>
                <a:spcPct val="150000"/>
              </a:lnSpc>
            </a:pPr>
            <a:r>
              <a:rPr lang="zh-CN" altLang="en-US" dirty="0"/>
              <a:t>应用逻辑是组织成不同技术解决方案的业务逻辑的自动化实现</a:t>
            </a:r>
          </a:p>
        </p:txBody>
      </p:sp>
      <p:sp>
        <p:nvSpPr>
          <p:cNvPr id="5124" name="灯片编号占位符 3"/>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375C8901-DEDF-47FA-9835-EC3639EF4287}" type="slidenum">
              <a:rPr lang="en-US" altLang="zh-CN" smtClean="0"/>
              <a:pPr/>
              <a:t>3</a:t>
            </a:fld>
            <a:endParaRPr lang="en-US" altLang="zh-CN"/>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1077006"/>
            <a:ext cx="6048375" cy="5349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146" name="标题 1"/>
          <p:cNvSpPr>
            <a:spLocks noGrp="1"/>
          </p:cNvSpPr>
          <p:nvPr>
            <p:ph type="title"/>
          </p:nvPr>
        </p:nvSpPr>
        <p:spPr/>
        <p:txBody>
          <a:bodyPr/>
          <a:lstStyle/>
          <a:p>
            <a:r>
              <a:rPr lang="zh-CN" altLang="en-US"/>
              <a:t>业务逻辑</a:t>
            </a:r>
            <a:r>
              <a:rPr lang="en-US" altLang="zh-CN"/>
              <a:t>/</a:t>
            </a:r>
            <a:r>
              <a:rPr lang="zh-CN" altLang="en-US"/>
              <a:t>应用逻辑（</a:t>
            </a:r>
            <a:r>
              <a:rPr lang="en-US" altLang="zh-CN"/>
              <a:t>2/2</a:t>
            </a:r>
            <a:r>
              <a:rPr lang="zh-CN" altLang="en-US"/>
              <a:t>）</a:t>
            </a:r>
          </a:p>
        </p:txBody>
      </p:sp>
      <p:sp>
        <p:nvSpPr>
          <p:cNvPr id="6147" name="灯片编号占位符 3"/>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AD9F90D9-1BA2-4F29-A2EE-FAE92E449C0E}" type="slidenum">
              <a:rPr lang="en-US" altLang="zh-CN" smtClean="0"/>
              <a:pPr/>
              <a:t>4</a:t>
            </a:fld>
            <a:endParaRPr lang="en-US" altLang="zh-CN"/>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p:nvPr>
        </p:nvSpPr>
        <p:spPr/>
        <p:txBody>
          <a:bodyPr/>
          <a:lstStyle/>
          <a:p>
            <a:r>
              <a:rPr lang="zh-CN" altLang="en-US"/>
              <a:t>服务层次</a:t>
            </a:r>
          </a:p>
        </p:txBody>
      </p:sp>
      <p:sp>
        <p:nvSpPr>
          <p:cNvPr id="7171" name="灯片编号占位符 3"/>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9C5483D4-E79A-4B24-A28E-D02C1937653B}" type="slidenum">
              <a:rPr lang="en-US" altLang="zh-CN" smtClean="0"/>
              <a:pPr/>
              <a:t>5</a:t>
            </a:fld>
            <a:endParaRPr lang="en-US" altLang="zh-CN"/>
          </a:p>
        </p:txBody>
      </p:sp>
      <p:pic>
        <p:nvPicPr>
          <p:cNvPr id="717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1007" y="1149479"/>
            <a:ext cx="6820006" cy="5311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Line 11"/>
          <p:cNvSpPr>
            <a:spLocks noChangeShapeType="1"/>
          </p:cNvSpPr>
          <p:nvPr/>
        </p:nvSpPr>
        <p:spPr bwMode="auto">
          <a:xfrm flipH="1" flipV="1">
            <a:off x="7596335" y="4437111"/>
            <a:ext cx="504677" cy="792113"/>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 name="Text Box 12"/>
          <p:cNvSpPr txBox="1">
            <a:spLocks noChangeArrowheads="1"/>
          </p:cNvSpPr>
          <p:nvPr/>
        </p:nvSpPr>
        <p:spPr bwMode="auto">
          <a:xfrm>
            <a:off x="6623050" y="5251450"/>
            <a:ext cx="25209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1400"/>
              <a:t>Hybrid (application) Service</a:t>
            </a:r>
          </a:p>
        </p:txBody>
      </p:sp>
      <p:sp>
        <p:nvSpPr>
          <p:cNvPr id="7" name="Line 11"/>
          <p:cNvSpPr>
            <a:spLocks noChangeShapeType="1"/>
          </p:cNvSpPr>
          <p:nvPr/>
        </p:nvSpPr>
        <p:spPr bwMode="auto">
          <a:xfrm flipH="1" flipV="1">
            <a:off x="7956375" y="3717031"/>
            <a:ext cx="144637" cy="1512193"/>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p:txBody>
          <a:bodyPr/>
          <a:lstStyle/>
          <a:p>
            <a:r>
              <a:rPr lang="zh-CN" altLang="en-US"/>
              <a:t>以</a:t>
            </a:r>
            <a:r>
              <a:rPr lang="en-US" altLang="zh-CN"/>
              <a:t>SOA</a:t>
            </a:r>
            <a:r>
              <a:rPr lang="zh-CN" altLang="en-US"/>
              <a:t>为框架</a:t>
            </a:r>
          </a:p>
        </p:txBody>
      </p:sp>
      <p:graphicFrame>
        <p:nvGraphicFramePr>
          <p:cNvPr id="8195" name="Object 4"/>
          <p:cNvGraphicFramePr>
            <a:graphicFrameLocks noGrp="1" noChangeAspect="1"/>
          </p:cNvGraphicFramePr>
          <p:nvPr>
            <p:ph idx="1"/>
            <p:extLst>
              <p:ext uri="{D42A27DB-BD31-4B8C-83A1-F6EECF244321}">
                <p14:modId xmlns:p14="http://schemas.microsoft.com/office/powerpoint/2010/main" val="2152245602"/>
              </p:ext>
            </p:extLst>
          </p:nvPr>
        </p:nvGraphicFramePr>
        <p:xfrm>
          <a:off x="789688" y="2229967"/>
          <a:ext cx="7488424" cy="3506141"/>
        </p:xfrm>
        <a:graphic>
          <a:graphicData uri="http://schemas.openxmlformats.org/presentationml/2006/ole">
            <mc:AlternateContent xmlns:mc="http://schemas.openxmlformats.org/markup-compatibility/2006">
              <mc:Choice xmlns:v="urn:schemas-microsoft-com:vml" Requires="v">
                <p:oleObj spid="_x0000_s8292" name="Visio" r:id="rId5" imgW="4668225" imgH="2186247" progId="Visio.Drawing.11">
                  <p:embed/>
                </p:oleObj>
              </mc:Choice>
              <mc:Fallback>
                <p:oleObj name="Visio" r:id="rId5" imgW="4668225" imgH="2186247" progId="Visio.Drawing.11">
                  <p:embed/>
                  <p:pic>
                    <p:nvPicPr>
                      <p:cNvPr id="0" name="Object 4"/>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9688" y="2229967"/>
                        <a:ext cx="7488424" cy="3506141"/>
                      </a:xfrm>
                      <a:prstGeom prst="rect">
                        <a:avLst/>
                      </a:prstGeom>
                      <a:noFill/>
                      <a:ln>
                        <a:noFill/>
                      </a:ln>
                    </p:spPr>
                  </p:pic>
                </p:oleObj>
              </mc:Fallback>
            </mc:AlternateContent>
          </a:graphicData>
        </a:graphic>
      </p:graphicFrame>
      <p:sp>
        <p:nvSpPr>
          <p:cNvPr id="8196" name="灯片编号占位符 3"/>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B3CC3D65-678E-4346-9551-C5195C7675A0}" type="slidenum">
              <a:rPr lang="en-US" altLang="zh-CN" smtClean="0"/>
              <a:pPr/>
              <a:t>6</a:t>
            </a:fld>
            <a:endParaRPr lang="en-US" altLang="zh-CN"/>
          </a:p>
        </p:txBody>
      </p:sp>
      <p:sp>
        <p:nvSpPr>
          <p:cNvPr id="6" name="Line 11"/>
          <p:cNvSpPr>
            <a:spLocks noChangeShapeType="1"/>
          </p:cNvSpPr>
          <p:nvPr/>
        </p:nvSpPr>
        <p:spPr bwMode="auto">
          <a:xfrm flipH="1">
            <a:off x="4932040" y="1341438"/>
            <a:ext cx="863923" cy="187325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12"/>
          <p:cNvSpPr txBox="1">
            <a:spLocks noChangeArrowheads="1"/>
          </p:cNvSpPr>
          <p:nvPr/>
        </p:nvSpPr>
        <p:spPr bwMode="auto">
          <a:xfrm>
            <a:off x="5003800" y="765175"/>
            <a:ext cx="23034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dirty="0"/>
              <a:t>the orchestration service layer</a:t>
            </a:r>
          </a:p>
        </p:txBody>
      </p:sp>
      <p:sp>
        <p:nvSpPr>
          <p:cNvPr id="8" name="Line 11"/>
          <p:cNvSpPr>
            <a:spLocks noChangeShapeType="1"/>
          </p:cNvSpPr>
          <p:nvPr/>
        </p:nvSpPr>
        <p:spPr bwMode="auto">
          <a:xfrm flipH="1">
            <a:off x="5076824" y="1790231"/>
            <a:ext cx="1512417" cy="207057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Text Box 12"/>
          <p:cNvSpPr txBox="1">
            <a:spLocks noChangeArrowheads="1"/>
          </p:cNvSpPr>
          <p:nvPr/>
        </p:nvSpPr>
        <p:spPr bwMode="auto">
          <a:xfrm>
            <a:off x="6589242" y="1414463"/>
            <a:ext cx="230346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dirty="0"/>
              <a:t>the business service layer</a:t>
            </a:r>
          </a:p>
        </p:txBody>
      </p:sp>
      <p:sp>
        <p:nvSpPr>
          <p:cNvPr id="10" name="Line 11"/>
          <p:cNvSpPr>
            <a:spLocks noChangeShapeType="1"/>
          </p:cNvSpPr>
          <p:nvPr/>
        </p:nvSpPr>
        <p:spPr bwMode="auto">
          <a:xfrm flipH="1" flipV="1">
            <a:off x="5076825" y="3860800"/>
            <a:ext cx="790575" cy="2160588"/>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 name="Text Box 12"/>
          <p:cNvSpPr txBox="1">
            <a:spLocks noChangeArrowheads="1"/>
          </p:cNvSpPr>
          <p:nvPr/>
        </p:nvSpPr>
        <p:spPr bwMode="auto">
          <a:xfrm>
            <a:off x="5724525" y="6021388"/>
            <a:ext cx="230346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a:t>the application service layer</a:t>
            </a:r>
          </a:p>
        </p:txBody>
      </p:sp>
    </p:spTree>
    <p:custDataLst>
      <p:tags r:id="rId2"/>
    </p:custData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blinds(horizontal)">
                                      <p:cBhvr>
                                        <p:cTn id="15" dur="500"/>
                                        <p:tgtEl>
                                          <p:spTgt spid="8"/>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blinds(horizontal)">
                                      <p:cBhvr>
                                        <p:cTn id="18" dur="500"/>
                                        <p:tgtEl>
                                          <p:spTgt spid="9"/>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blinds(horizontal)">
                                      <p:cBhvr>
                                        <p:cTn id="23" dur="500"/>
                                        <p:tgtEl>
                                          <p:spTgt spid="10"/>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blinds(horizontal)">
                                      <p:cBhvr>
                                        <p:cTn id="2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animBg="1"/>
      <p:bldP spid="9" grpId="0"/>
      <p:bldP spid="10" grpId="0" animBg="1"/>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p:txBody>
          <a:bodyPr/>
          <a:lstStyle/>
          <a:p>
            <a:r>
              <a:rPr lang="zh-CN" altLang="en-US"/>
              <a:t>面向服务的交付策略（</a:t>
            </a:r>
            <a:r>
              <a:rPr lang="en-US" altLang="zh-CN"/>
              <a:t>1/4</a:t>
            </a:r>
            <a:r>
              <a:rPr lang="zh-CN" altLang="en-US"/>
              <a:t>）</a:t>
            </a:r>
          </a:p>
        </p:txBody>
      </p:sp>
      <p:sp>
        <p:nvSpPr>
          <p:cNvPr id="3" name="内容占位符 2"/>
          <p:cNvSpPr>
            <a:spLocks noGrp="1"/>
          </p:cNvSpPr>
          <p:nvPr>
            <p:ph idx="1"/>
          </p:nvPr>
        </p:nvSpPr>
        <p:spPr/>
        <p:txBody>
          <a:bodyPr>
            <a:normAutofit fontScale="92500" lnSpcReduction="10000"/>
          </a:bodyPr>
          <a:lstStyle/>
          <a:p>
            <a:pPr>
              <a:lnSpc>
                <a:spcPct val="110000"/>
              </a:lnSpc>
            </a:pPr>
            <a:r>
              <a:rPr lang="zh-CN" altLang="en-US" dirty="0"/>
              <a:t>自顶向下策略</a:t>
            </a:r>
            <a:r>
              <a:rPr lang="en-US" altLang="zh-CN" dirty="0"/>
              <a:t>——</a:t>
            </a:r>
            <a:r>
              <a:rPr lang="zh-CN" altLang="en-US" dirty="0"/>
              <a:t>分析优先</a:t>
            </a:r>
            <a:endParaRPr lang="en-US" altLang="zh-CN" dirty="0"/>
          </a:p>
          <a:p>
            <a:pPr>
              <a:lnSpc>
                <a:spcPct val="110000"/>
              </a:lnSpc>
            </a:pPr>
            <a:r>
              <a:rPr lang="zh-CN" altLang="en-US" dirty="0"/>
              <a:t>过程</a:t>
            </a:r>
            <a:endParaRPr lang="en-US" altLang="zh-CN" dirty="0"/>
          </a:p>
          <a:p>
            <a:pPr lvl="1">
              <a:lnSpc>
                <a:spcPct val="110000"/>
              </a:lnSpc>
            </a:pPr>
            <a:r>
              <a:rPr lang="zh-CN" altLang="en-US" dirty="0"/>
              <a:t>定义企业范围的相关本体（</a:t>
            </a:r>
            <a:r>
              <a:rPr lang="en-US" altLang="zh-CN" dirty="0"/>
              <a:t>Ontology</a:t>
            </a:r>
            <a:r>
              <a:rPr lang="zh-CN" altLang="en-US" dirty="0"/>
              <a:t>，领域知识的概念及其关联）</a:t>
            </a:r>
            <a:endParaRPr lang="en-US" altLang="zh-CN" dirty="0"/>
          </a:p>
          <a:p>
            <a:pPr lvl="1">
              <a:lnSpc>
                <a:spcPct val="110000"/>
              </a:lnSpc>
            </a:pPr>
            <a:r>
              <a:rPr lang="zh-CN" altLang="en-US" dirty="0"/>
              <a:t>将相关的业务模型（包括实体模型）与新的或修订后的本体匹配</a:t>
            </a:r>
            <a:endParaRPr lang="en-US" altLang="zh-CN" dirty="0"/>
          </a:p>
          <a:p>
            <a:pPr lvl="1">
              <a:lnSpc>
                <a:spcPct val="110000"/>
              </a:lnSpc>
            </a:pPr>
            <a:r>
              <a:rPr lang="zh-CN" altLang="en-US" dirty="0"/>
              <a:t>进行面向服务的分析</a:t>
            </a:r>
            <a:endParaRPr lang="en-US" altLang="zh-CN" dirty="0"/>
          </a:p>
          <a:p>
            <a:pPr lvl="1">
              <a:lnSpc>
                <a:spcPct val="110000"/>
              </a:lnSpc>
            </a:pPr>
            <a:r>
              <a:rPr lang="zh-CN" altLang="en-US" dirty="0"/>
              <a:t>进行面向服务的设计</a:t>
            </a:r>
            <a:endParaRPr lang="en-US" altLang="zh-CN" dirty="0"/>
          </a:p>
          <a:p>
            <a:pPr lvl="1">
              <a:lnSpc>
                <a:spcPct val="110000"/>
              </a:lnSpc>
            </a:pPr>
            <a:r>
              <a:rPr lang="zh-CN" altLang="en-US" dirty="0"/>
              <a:t>开发所需服务</a:t>
            </a:r>
            <a:endParaRPr lang="en-US" altLang="zh-CN" dirty="0"/>
          </a:p>
          <a:p>
            <a:pPr lvl="1">
              <a:lnSpc>
                <a:spcPct val="110000"/>
              </a:lnSpc>
            </a:pPr>
            <a:r>
              <a:rPr lang="zh-CN" altLang="en-US" dirty="0"/>
              <a:t>测试服务及所有的服务操作</a:t>
            </a:r>
            <a:endParaRPr lang="en-US" altLang="zh-CN" dirty="0"/>
          </a:p>
          <a:p>
            <a:pPr lvl="1">
              <a:lnSpc>
                <a:spcPct val="110000"/>
              </a:lnSpc>
            </a:pPr>
            <a:r>
              <a:rPr lang="zh-CN" altLang="en-US" dirty="0"/>
              <a:t>部署服务</a:t>
            </a:r>
            <a:endParaRPr lang="en-US" altLang="zh-CN" dirty="0"/>
          </a:p>
        </p:txBody>
      </p:sp>
      <p:sp>
        <p:nvSpPr>
          <p:cNvPr id="9220" name="灯片编号占位符 3"/>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5A814882-7BAD-4D44-891B-BF3975F67D83}" type="slidenum">
              <a:rPr lang="en-US" altLang="zh-CN" smtClean="0"/>
              <a:pPr/>
              <a:t>7</a:t>
            </a:fld>
            <a:endParaRPr lang="en-US" altLang="zh-CN"/>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p:txBody>
          <a:bodyPr/>
          <a:lstStyle/>
          <a:p>
            <a:r>
              <a:rPr lang="zh-CN" altLang="en-US"/>
              <a:t>面向服务的交付策略（</a:t>
            </a:r>
            <a:r>
              <a:rPr lang="en-US" altLang="zh-CN"/>
              <a:t>2/4</a:t>
            </a:r>
            <a:r>
              <a:rPr lang="zh-CN" altLang="en-US"/>
              <a:t>）</a:t>
            </a:r>
          </a:p>
        </p:txBody>
      </p:sp>
      <p:sp>
        <p:nvSpPr>
          <p:cNvPr id="10243" name="内容占位符 2"/>
          <p:cNvSpPr>
            <a:spLocks noGrp="1"/>
          </p:cNvSpPr>
          <p:nvPr>
            <p:ph idx="1"/>
          </p:nvPr>
        </p:nvSpPr>
        <p:spPr/>
        <p:txBody>
          <a:bodyPr>
            <a:normAutofit fontScale="92500"/>
          </a:bodyPr>
          <a:lstStyle/>
          <a:p>
            <a:pPr>
              <a:lnSpc>
                <a:spcPct val="110000"/>
              </a:lnSpc>
            </a:pPr>
            <a:r>
              <a:rPr lang="zh-CN" altLang="en-US" sz="3600" dirty="0"/>
              <a:t>自底向上策略</a:t>
            </a:r>
            <a:r>
              <a:rPr lang="en-US" altLang="zh-CN" sz="3600" dirty="0"/>
              <a:t>——</a:t>
            </a:r>
            <a:r>
              <a:rPr lang="zh-CN" altLang="en-US" sz="3600" dirty="0"/>
              <a:t>“按需”交付，封装并集成遗留系统优先</a:t>
            </a:r>
            <a:endParaRPr lang="en-US" altLang="zh-CN" sz="3600" dirty="0"/>
          </a:p>
          <a:p>
            <a:pPr>
              <a:lnSpc>
                <a:spcPct val="110000"/>
              </a:lnSpc>
            </a:pPr>
            <a:r>
              <a:rPr lang="zh-CN" altLang="en-US" sz="3600" dirty="0"/>
              <a:t>过程</a:t>
            </a:r>
            <a:endParaRPr lang="en-US" altLang="zh-CN" sz="3600" dirty="0"/>
          </a:p>
          <a:p>
            <a:pPr lvl="1">
              <a:lnSpc>
                <a:spcPct val="110000"/>
              </a:lnSpc>
            </a:pPr>
            <a:r>
              <a:rPr lang="zh-CN" altLang="en-US" sz="3200" dirty="0"/>
              <a:t>对所需的应用服务进行建模，多为混合（应用）服务，即合并业务服务与应用服务。</a:t>
            </a:r>
            <a:endParaRPr lang="en-US" altLang="zh-CN" sz="3200" dirty="0"/>
          </a:p>
          <a:p>
            <a:pPr lvl="1">
              <a:lnSpc>
                <a:spcPct val="110000"/>
              </a:lnSpc>
            </a:pPr>
            <a:r>
              <a:rPr lang="zh-CN" altLang="en-US" sz="3200" dirty="0"/>
              <a:t>设计所需的应用服务</a:t>
            </a:r>
            <a:endParaRPr lang="en-US" altLang="zh-CN" sz="3200" dirty="0"/>
          </a:p>
          <a:p>
            <a:pPr lvl="1">
              <a:lnSpc>
                <a:spcPct val="110000"/>
              </a:lnSpc>
            </a:pPr>
            <a:r>
              <a:rPr lang="zh-CN" altLang="en-US" sz="3200" dirty="0"/>
              <a:t>开发所需的应用服务</a:t>
            </a:r>
            <a:endParaRPr lang="en-US" altLang="zh-CN" sz="3200" dirty="0"/>
          </a:p>
          <a:p>
            <a:pPr lvl="1">
              <a:lnSpc>
                <a:spcPct val="110000"/>
              </a:lnSpc>
            </a:pPr>
            <a:r>
              <a:rPr lang="zh-CN" altLang="en-US" sz="3200" dirty="0"/>
              <a:t>测试服务</a:t>
            </a:r>
            <a:endParaRPr lang="en-US" altLang="zh-CN" sz="3200" dirty="0"/>
          </a:p>
          <a:p>
            <a:pPr lvl="1">
              <a:lnSpc>
                <a:spcPct val="110000"/>
              </a:lnSpc>
            </a:pPr>
            <a:r>
              <a:rPr lang="zh-CN" altLang="en-US" sz="3200" dirty="0"/>
              <a:t>部署服务</a:t>
            </a:r>
          </a:p>
        </p:txBody>
      </p:sp>
      <p:sp>
        <p:nvSpPr>
          <p:cNvPr id="10244" name="灯片编号占位符 3"/>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4AC03CF9-838E-45B3-BBC2-EBB8ED068B66}" type="slidenum">
              <a:rPr lang="en-US" altLang="zh-CN" smtClean="0"/>
              <a:pPr/>
              <a:t>8</a:t>
            </a:fld>
            <a:endParaRPr lang="en-US" altLang="zh-CN" dirty="0"/>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p:nvPr>
        </p:nvSpPr>
        <p:spPr/>
        <p:txBody>
          <a:bodyPr/>
          <a:lstStyle/>
          <a:p>
            <a:r>
              <a:rPr lang="zh-CN" altLang="en-US" dirty="0"/>
              <a:t>面向服务的交付策略（</a:t>
            </a:r>
            <a:r>
              <a:rPr lang="en-US" altLang="zh-CN" dirty="0"/>
              <a:t>3/4</a:t>
            </a:r>
            <a:r>
              <a:rPr lang="zh-CN" altLang="en-US" dirty="0"/>
              <a:t>）</a:t>
            </a:r>
          </a:p>
        </p:txBody>
      </p:sp>
      <p:sp>
        <p:nvSpPr>
          <p:cNvPr id="11267" name="内容占位符 2"/>
          <p:cNvSpPr>
            <a:spLocks noGrp="1"/>
          </p:cNvSpPr>
          <p:nvPr>
            <p:ph idx="1"/>
          </p:nvPr>
        </p:nvSpPr>
        <p:spPr>
          <a:xfrm>
            <a:off x="457200" y="1052513"/>
            <a:ext cx="8229600" cy="1152351"/>
          </a:xfrm>
        </p:spPr>
        <p:txBody>
          <a:bodyPr/>
          <a:lstStyle/>
          <a:p>
            <a:r>
              <a:rPr lang="zh-CN" altLang="en-US" dirty="0"/>
              <a:t>敏捷策略（折衷方式）</a:t>
            </a:r>
            <a:r>
              <a:rPr lang="en-US" altLang="zh-CN" dirty="0"/>
              <a:t>——</a:t>
            </a:r>
            <a:r>
              <a:rPr lang="zh-CN" altLang="en-US" dirty="0"/>
              <a:t>“平衡”策略</a:t>
            </a:r>
            <a:endParaRPr lang="en-US" altLang="zh-CN" dirty="0"/>
          </a:p>
        </p:txBody>
      </p:sp>
      <p:sp>
        <p:nvSpPr>
          <p:cNvPr id="11268" name="灯片编号占位符 3"/>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926E133D-993D-4619-A6D8-461C95AC79FD}" type="slidenum">
              <a:rPr lang="en-US" altLang="zh-CN" smtClean="0"/>
              <a:pPr/>
              <a:t>9</a:t>
            </a:fld>
            <a:endParaRPr lang="en-US" altLang="zh-CN"/>
          </a:p>
        </p:txBody>
      </p:sp>
      <p:graphicFrame>
        <p:nvGraphicFramePr>
          <p:cNvPr id="11269" name="Object 2"/>
          <p:cNvGraphicFramePr>
            <a:graphicFrameLocks noChangeAspect="1"/>
          </p:cNvGraphicFramePr>
          <p:nvPr>
            <p:extLst>
              <p:ext uri="{D42A27DB-BD31-4B8C-83A1-F6EECF244321}">
                <p14:modId xmlns:p14="http://schemas.microsoft.com/office/powerpoint/2010/main" val="1519640963"/>
              </p:ext>
            </p:extLst>
          </p:nvPr>
        </p:nvGraphicFramePr>
        <p:xfrm>
          <a:off x="-32544" y="2510786"/>
          <a:ext cx="9209088" cy="3130550"/>
        </p:xfrm>
        <a:graphic>
          <a:graphicData uri="http://schemas.openxmlformats.org/presentationml/2006/ole">
            <mc:AlternateContent xmlns:mc="http://schemas.openxmlformats.org/markup-compatibility/2006">
              <mc:Choice xmlns:v="urn:schemas-microsoft-com:vml" Requires="v">
                <p:oleObj spid="_x0000_s11360" name="Visio" r:id="rId4" imgW="6454881" imgH="2193695" progId="Visio.Drawing.11">
                  <p:embed/>
                </p:oleObj>
              </mc:Choice>
              <mc:Fallback>
                <p:oleObj name="Visio" r:id="rId4" imgW="6454881" imgH="2193695" progId="Visio.Drawing.11">
                  <p:embed/>
                  <p:pic>
                    <p:nvPicPr>
                      <p:cNvPr id="0" name="Object 2"/>
                      <p:cNvPicPr>
                        <a:picLocks noChangeAspect="1" noChangeArrowheads="1"/>
                      </p:cNvPicPr>
                      <p:nvPr/>
                    </p:nvPicPr>
                    <p:blipFill>
                      <a:blip r:embed="rId5"/>
                      <a:srcRect/>
                      <a:stretch>
                        <a:fillRect/>
                      </a:stretch>
                    </p:blipFill>
                    <p:spPr bwMode="auto">
                      <a:xfrm>
                        <a:off x="-32544" y="2510786"/>
                        <a:ext cx="9209088" cy="3130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p:txBody>
          <a:bodyPr/>
          <a:lstStyle/>
          <a:p>
            <a:r>
              <a:rPr lang="zh-CN" altLang="en-US" dirty="0"/>
              <a:t>面向服务的交付策略（</a:t>
            </a:r>
            <a:r>
              <a:rPr lang="en-US" altLang="zh-CN" dirty="0"/>
              <a:t>4/4</a:t>
            </a:r>
            <a:r>
              <a:rPr lang="zh-CN" altLang="en-US" dirty="0"/>
              <a:t>）</a:t>
            </a:r>
          </a:p>
        </p:txBody>
      </p:sp>
      <p:sp>
        <p:nvSpPr>
          <p:cNvPr id="12291" name="内容占位符 2"/>
          <p:cNvSpPr>
            <a:spLocks noGrp="1"/>
          </p:cNvSpPr>
          <p:nvPr>
            <p:ph idx="1"/>
          </p:nvPr>
        </p:nvSpPr>
        <p:spPr>
          <a:xfrm>
            <a:off x="457200" y="1052513"/>
            <a:ext cx="8229600" cy="864319"/>
          </a:xfrm>
        </p:spPr>
        <p:txBody>
          <a:bodyPr/>
          <a:lstStyle/>
          <a:p>
            <a:r>
              <a:rPr lang="en-US" altLang="zh-CN" dirty="0">
                <a:ea typeface="宋体" pitchFamily="2" charset="-122"/>
              </a:rPr>
              <a:t>3</a:t>
            </a:r>
            <a:r>
              <a:rPr lang="zh-CN" altLang="en-US" dirty="0">
                <a:ea typeface="宋体" pitchFamily="2" charset="-122"/>
              </a:rPr>
              <a:t>种方法对比</a:t>
            </a:r>
          </a:p>
        </p:txBody>
      </p:sp>
      <p:sp>
        <p:nvSpPr>
          <p:cNvPr id="12292" name="灯片编号占位符 3"/>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B5C18E4E-6538-46CD-8099-4550ACD28715}" type="slidenum">
              <a:rPr lang="en-US" altLang="zh-CN"/>
              <a:pPr eaLnBrk="1" hangingPunct="1"/>
              <a:t>10</a:t>
            </a:fld>
            <a:endParaRPr lang="en-US" altLang="zh-CN"/>
          </a:p>
        </p:txBody>
      </p:sp>
      <p:graphicFrame>
        <p:nvGraphicFramePr>
          <p:cNvPr id="5" name="表格 4"/>
          <p:cNvGraphicFramePr>
            <a:graphicFrameLocks noGrp="1"/>
          </p:cNvGraphicFramePr>
          <p:nvPr>
            <p:extLst>
              <p:ext uri="{D42A27DB-BD31-4B8C-83A1-F6EECF244321}">
                <p14:modId xmlns:p14="http://schemas.microsoft.com/office/powerpoint/2010/main" val="3834699390"/>
              </p:ext>
            </p:extLst>
          </p:nvPr>
        </p:nvGraphicFramePr>
        <p:xfrm>
          <a:off x="463352" y="1988840"/>
          <a:ext cx="8299648" cy="4211637"/>
        </p:xfrm>
        <a:graphic>
          <a:graphicData uri="http://schemas.openxmlformats.org/drawingml/2006/table">
            <a:tbl>
              <a:tblPr firstRow="1" bandRow="1">
                <a:tableStyleId>{5C22544A-7EE6-4342-B048-85BDC9FD1C3A}</a:tableStyleId>
              </a:tblPr>
              <a:tblGrid>
                <a:gridCol w="1617707">
                  <a:extLst>
                    <a:ext uri="{9D8B030D-6E8A-4147-A177-3AD203B41FA5}">
                      <a16:colId xmlns:a16="http://schemas.microsoft.com/office/drawing/2014/main" val="20000"/>
                    </a:ext>
                  </a:extLst>
                </a:gridCol>
                <a:gridCol w="2922989">
                  <a:extLst>
                    <a:ext uri="{9D8B030D-6E8A-4147-A177-3AD203B41FA5}">
                      <a16:colId xmlns:a16="http://schemas.microsoft.com/office/drawing/2014/main" val="20001"/>
                    </a:ext>
                  </a:extLst>
                </a:gridCol>
                <a:gridCol w="3758952">
                  <a:extLst>
                    <a:ext uri="{9D8B030D-6E8A-4147-A177-3AD203B41FA5}">
                      <a16:colId xmlns:a16="http://schemas.microsoft.com/office/drawing/2014/main" val="20002"/>
                    </a:ext>
                  </a:extLst>
                </a:gridCol>
              </a:tblGrid>
              <a:tr h="370868">
                <a:tc>
                  <a:txBody>
                    <a:bodyPr/>
                    <a:lstStyle/>
                    <a:p>
                      <a:pPr algn="ctr"/>
                      <a:r>
                        <a:rPr lang="zh-CN" altLang="en-US" sz="1800" dirty="0"/>
                        <a:t>策略</a:t>
                      </a:r>
                    </a:p>
                  </a:txBody>
                  <a:tcPr marL="91446" marR="91446" marT="45723" marB="45723" anchor="ctr"/>
                </a:tc>
                <a:tc>
                  <a:txBody>
                    <a:bodyPr/>
                    <a:lstStyle/>
                    <a:p>
                      <a:pPr algn="ctr"/>
                      <a:r>
                        <a:rPr lang="zh-CN" altLang="en-US" sz="1800" dirty="0"/>
                        <a:t>优点</a:t>
                      </a:r>
                    </a:p>
                  </a:txBody>
                  <a:tcPr marL="91446" marR="91446" marT="45723" marB="45723" anchor="ctr"/>
                </a:tc>
                <a:tc>
                  <a:txBody>
                    <a:bodyPr/>
                    <a:lstStyle/>
                    <a:p>
                      <a:pPr algn="ctr"/>
                      <a:r>
                        <a:rPr lang="zh-CN" altLang="en-US" sz="1800" dirty="0"/>
                        <a:t>缺点</a:t>
                      </a:r>
                    </a:p>
                  </a:txBody>
                  <a:tcPr marL="91446" marR="91446" marT="45723" marB="45723" anchor="ctr"/>
                </a:tc>
                <a:extLst>
                  <a:ext uri="{0D108BD9-81ED-4DB2-BD59-A6C34878D82A}">
                    <a16:rowId xmlns:a16="http://schemas.microsoft.com/office/drawing/2014/main" val="10000"/>
                  </a:ext>
                </a:extLst>
              </a:tr>
              <a:tr h="1463150">
                <a:tc>
                  <a:txBody>
                    <a:bodyPr/>
                    <a:lstStyle/>
                    <a:p>
                      <a:pPr algn="ctr"/>
                      <a:r>
                        <a:rPr lang="zh-CN" altLang="en-US" sz="1800" dirty="0"/>
                        <a:t>自顶向下策略</a:t>
                      </a:r>
                    </a:p>
                  </a:txBody>
                  <a:tcPr marL="91446" marR="91446" marT="45723" marB="45723" anchor="ctr"/>
                </a:tc>
                <a:tc>
                  <a:txBody>
                    <a:bodyPr/>
                    <a:lstStyle/>
                    <a:p>
                      <a:pPr marL="285750" indent="-285750" algn="l">
                        <a:buFont typeface="Arial" pitchFamily="34" charset="0"/>
                        <a:buChar char="•"/>
                      </a:pPr>
                      <a:r>
                        <a:rPr lang="zh-CN" altLang="en-US" sz="1800" dirty="0"/>
                        <a:t>高质量的服务架构</a:t>
                      </a:r>
                      <a:endParaRPr lang="en-US" altLang="zh-CN" sz="1800" dirty="0"/>
                    </a:p>
                    <a:p>
                      <a:pPr marL="285750" indent="-285750" algn="l">
                        <a:buFont typeface="Arial" pitchFamily="34" charset="0"/>
                        <a:buChar char="•"/>
                      </a:pPr>
                      <a:r>
                        <a:rPr lang="zh-CN" altLang="en-US" sz="1800" dirty="0"/>
                        <a:t>彻底分析每个服务的接口和设计</a:t>
                      </a:r>
                      <a:endParaRPr lang="en-US" altLang="zh-CN" sz="1800" dirty="0"/>
                    </a:p>
                    <a:p>
                      <a:pPr marL="285750" indent="-285750" algn="l">
                        <a:buFont typeface="Arial" pitchFamily="34" charset="0"/>
                        <a:buChar char="•"/>
                      </a:pPr>
                      <a:r>
                        <a:rPr lang="zh-CN" altLang="en-US" sz="1800" dirty="0"/>
                        <a:t>最大的可复用潜能</a:t>
                      </a:r>
                      <a:endParaRPr lang="en-US" altLang="zh-CN" sz="1800" dirty="0"/>
                    </a:p>
                    <a:p>
                      <a:pPr marL="285750" indent="-285750" algn="l">
                        <a:buFont typeface="Arial" pitchFamily="34" charset="0"/>
                        <a:buChar char="•"/>
                      </a:pPr>
                      <a:r>
                        <a:rPr lang="zh-CN" altLang="en-US" sz="1800" dirty="0"/>
                        <a:t>促进组织的服务化</a:t>
                      </a:r>
                      <a:endParaRPr lang="en-US" altLang="zh-CN" sz="1800" dirty="0"/>
                    </a:p>
                  </a:txBody>
                  <a:tcPr marL="91446" marR="91446" marT="45723" marB="45723" anchor="ctr"/>
                </a:tc>
                <a:tc>
                  <a:txBody>
                    <a:bodyPr/>
                    <a:lstStyle/>
                    <a:p>
                      <a:pPr marL="285750" indent="-285750" algn="l">
                        <a:buFont typeface="Arial" pitchFamily="34" charset="0"/>
                        <a:buChar char="•"/>
                      </a:pPr>
                      <a:r>
                        <a:rPr lang="zh-CN" altLang="en-US" sz="1800" dirty="0"/>
                        <a:t>大量的预先分析工作量</a:t>
                      </a:r>
                      <a:endParaRPr lang="en-US" altLang="zh-CN" sz="1800" dirty="0"/>
                    </a:p>
                    <a:p>
                      <a:pPr marL="285750" indent="-285750" algn="l">
                        <a:buFont typeface="Arial" pitchFamily="34" charset="0"/>
                        <a:buChar char="•"/>
                      </a:pPr>
                      <a:r>
                        <a:rPr lang="zh-CN" altLang="en-US" sz="1800" dirty="0"/>
                        <a:t>前期投入的时间和资金</a:t>
                      </a:r>
                    </a:p>
                  </a:txBody>
                  <a:tcPr marL="91446" marR="91446" marT="45723" marB="45723" anchor="ctr"/>
                </a:tc>
                <a:extLst>
                  <a:ext uri="{0D108BD9-81ED-4DB2-BD59-A6C34878D82A}">
                    <a16:rowId xmlns:a16="http://schemas.microsoft.com/office/drawing/2014/main" val="10001"/>
                  </a:ext>
                </a:extLst>
              </a:tr>
              <a:tr h="1463150">
                <a:tc>
                  <a:txBody>
                    <a:bodyPr/>
                    <a:lstStyle/>
                    <a:p>
                      <a:pPr algn="ctr"/>
                      <a:r>
                        <a:rPr lang="zh-CN" altLang="en-US" sz="1800" dirty="0"/>
                        <a:t>自底向上策略</a:t>
                      </a:r>
                    </a:p>
                  </a:txBody>
                  <a:tcPr marL="91446" marR="91446" marT="45723" marB="45723" anchor="ctr"/>
                </a:tc>
                <a:tc>
                  <a:txBody>
                    <a:bodyPr/>
                    <a:lstStyle/>
                    <a:p>
                      <a:pPr marL="285750" indent="-285750" algn="l">
                        <a:buFont typeface="Arial" pitchFamily="34" charset="0"/>
                        <a:buChar char="•"/>
                      </a:pPr>
                      <a:r>
                        <a:rPr lang="zh-CN" altLang="en-US" sz="1800" dirty="0"/>
                        <a:t>以建立应用（服务系统）为主要目标，快速建立</a:t>
                      </a:r>
                      <a:r>
                        <a:rPr lang="en-US" altLang="zh-CN" sz="1800" dirty="0"/>
                        <a:t>Web</a:t>
                      </a:r>
                      <a:r>
                        <a:rPr lang="en-US" altLang="zh-CN" sz="1800" baseline="0" dirty="0"/>
                        <a:t> Services</a:t>
                      </a:r>
                      <a:endParaRPr lang="en-US" altLang="zh-CN" sz="1800" dirty="0"/>
                    </a:p>
                    <a:p>
                      <a:pPr marL="285750" indent="-285750" algn="l">
                        <a:buFont typeface="Arial" pitchFamily="34" charset="0"/>
                        <a:buChar char="•"/>
                      </a:pPr>
                      <a:r>
                        <a:rPr lang="zh-CN" altLang="en-US" sz="1800" dirty="0"/>
                        <a:t>简单易行</a:t>
                      </a:r>
                    </a:p>
                  </a:txBody>
                  <a:tcPr marL="91446" marR="91446" marT="45723" marB="45723" anchor="ctr"/>
                </a:tc>
                <a:tc>
                  <a:txBody>
                    <a:bodyPr/>
                    <a:lstStyle/>
                    <a:p>
                      <a:pPr marL="285750" indent="-285750" algn="l">
                        <a:buFont typeface="Arial" pitchFamily="34" charset="0"/>
                        <a:buChar char="•"/>
                      </a:pPr>
                      <a:r>
                        <a:rPr lang="zh-CN" altLang="en-US" sz="1800" dirty="0"/>
                        <a:t>保留现有应用环境（非面向服务）</a:t>
                      </a:r>
                      <a:endParaRPr lang="en-US" altLang="zh-CN" sz="1800" dirty="0"/>
                    </a:p>
                    <a:p>
                      <a:pPr marL="285750" indent="-285750" algn="l">
                        <a:buFont typeface="Arial" pitchFamily="34" charset="0"/>
                        <a:buChar char="•"/>
                      </a:pPr>
                      <a:r>
                        <a:rPr lang="en-US" altLang="zh-CN" sz="1800" dirty="0"/>
                        <a:t>Web Services</a:t>
                      </a:r>
                      <a:r>
                        <a:rPr lang="zh-CN" altLang="en-US" sz="1800" dirty="0"/>
                        <a:t>仍然面向应用</a:t>
                      </a:r>
                      <a:endParaRPr lang="en-US" altLang="zh-CN" sz="1800" dirty="0"/>
                    </a:p>
                    <a:p>
                      <a:pPr marL="285750" indent="-285750" algn="l">
                        <a:buFont typeface="Arial" pitchFamily="34" charset="0"/>
                        <a:buChar char="•"/>
                      </a:pPr>
                      <a:r>
                        <a:rPr lang="zh-CN" altLang="en-US" sz="1800" dirty="0"/>
                        <a:t>如需实现面向服务，后期需大量额外工作</a:t>
                      </a:r>
                      <a:endParaRPr lang="en-US" altLang="zh-CN" sz="1800" dirty="0"/>
                    </a:p>
                  </a:txBody>
                  <a:tcPr marL="91446" marR="91446" marT="45723" marB="45723" anchor="ctr"/>
                </a:tc>
                <a:extLst>
                  <a:ext uri="{0D108BD9-81ED-4DB2-BD59-A6C34878D82A}">
                    <a16:rowId xmlns:a16="http://schemas.microsoft.com/office/drawing/2014/main" val="10002"/>
                  </a:ext>
                </a:extLst>
              </a:tr>
              <a:tr h="914469">
                <a:tc>
                  <a:txBody>
                    <a:bodyPr/>
                    <a:lstStyle/>
                    <a:p>
                      <a:pPr algn="ctr"/>
                      <a:r>
                        <a:rPr lang="zh-CN" altLang="en-US" sz="1800" dirty="0"/>
                        <a:t>敏捷策略</a:t>
                      </a:r>
                    </a:p>
                  </a:txBody>
                  <a:tcPr marL="91446" marR="91446" marT="45723" marB="45723" anchor="ctr"/>
                </a:tc>
                <a:tc>
                  <a:txBody>
                    <a:bodyPr/>
                    <a:lstStyle/>
                    <a:p>
                      <a:pPr marL="285750" indent="-285750" algn="l">
                        <a:buFont typeface="Arial" pitchFamily="34" charset="0"/>
                        <a:buChar char="•"/>
                      </a:pPr>
                      <a:r>
                        <a:rPr lang="zh-CN" altLang="en-US" sz="1800" dirty="0"/>
                        <a:t>综合满足长期需求和短期需求</a:t>
                      </a:r>
                    </a:p>
                  </a:txBody>
                  <a:tcPr marL="91446" marR="91446" marT="45723" marB="45723" anchor="ctr"/>
                </a:tc>
                <a:tc>
                  <a:txBody>
                    <a:bodyPr/>
                    <a:lstStyle/>
                    <a:p>
                      <a:pPr marL="285750" indent="-285750" algn="l">
                        <a:buFont typeface="Arial" pitchFamily="34" charset="0"/>
                        <a:buChar char="•"/>
                      </a:pPr>
                      <a:r>
                        <a:rPr lang="zh-CN" altLang="en-US" sz="1800" dirty="0"/>
                        <a:t>服务可能被重新回顾、设计、开发</a:t>
                      </a:r>
                      <a:endParaRPr lang="en-US" altLang="zh-CN" sz="1800" dirty="0"/>
                    </a:p>
                    <a:p>
                      <a:pPr marL="285750" indent="-285750" algn="l">
                        <a:buFont typeface="Arial" pitchFamily="34" charset="0"/>
                        <a:buChar char="•"/>
                      </a:pPr>
                      <a:r>
                        <a:rPr lang="zh-CN" altLang="en-US" sz="1800" dirty="0"/>
                        <a:t>增加回顾业务环节</a:t>
                      </a:r>
                    </a:p>
                  </a:txBody>
                  <a:tcPr marL="91446" marR="91446" marT="45723" marB="45723" anchor="ctr"/>
                </a:tc>
                <a:extLst>
                  <a:ext uri="{0D108BD9-81ED-4DB2-BD59-A6C34878D82A}">
                    <a16:rowId xmlns:a16="http://schemas.microsoft.com/office/drawing/2014/main" val="10003"/>
                  </a:ext>
                </a:extLst>
              </a:tr>
            </a:tbl>
          </a:graphicData>
        </a:graphic>
      </p:graphicFrame>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p:txBody>
          <a:bodyPr/>
          <a:lstStyle/>
          <a:p>
            <a:r>
              <a:rPr lang="zh-CN" altLang="en-US"/>
              <a:t>面向服务的分析的目标</a:t>
            </a:r>
          </a:p>
        </p:txBody>
      </p:sp>
      <p:sp>
        <p:nvSpPr>
          <p:cNvPr id="3" name="内容占位符 2"/>
          <p:cNvSpPr>
            <a:spLocks noGrp="1"/>
          </p:cNvSpPr>
          <p:nvPr>
            <p:ph idx="1"/>
          </p:nvPr>
        </p:nvSpPr>
        <p:spPr/>
        <p:txBody>
          <a:bodyPr>
            <a:normAutofit fontScale="85000" lnSpcReduction="20000"/>
          </a:bodyPr>
          <a:lstStyle/>
          <a:p>
            <a:pPr>
              <a:lnSpc>
                <a:spcPct val="120000"/>
              </a:lnSpc>
            </a:pPr>
            <a:r>
              <a:rPr lang="zh-CN" altLang="en-US" dirty="0"/>
              <a:t>在服务生态系统（</a:t>
            </a:r>
            <a:r>
              <a:rPr lang="en-US" altLang="zh-CN" dirty="0"/>
              <a:t>Services ecosystem</a:t>
            </a:r>
            <a:r>
              <a:rPr lang="zh-CN" altLang="en-US" dirty="0"/>
              <a:t>）中（初步）讨论需要构建哪些服务，每个服务需要封装哪些逻辑</a:t>
            </a:r>
            <a:endParaRPr lang="en-US" altLang="zh-CN" dirty="0"/>
          </a:p>
          <a:p>
            <a:pPr lvl="1">
              <a:lnSpc>
                <a:spcPct val="120000"/>
              </a:lnSpc>
            </a:pPr>
            <a:r>
              <a:rPr lang="zh-CN" altLang="en-US" dirty="0"/>
              <a:t>定义一组预备的服务操作候选</a:t>
            </a:r>
            <a:endParaRPr lang="en-US" altLang="zh-CN" dirty="0"/>
          </a:p>
          <a:p>
            <a:pPr lvl="1">
              <a:lnSpc>
                <a:spcPct val="120000"/>
              </a:lnSpc>
            </a:pPr>
            <a:r>
              <a:rPr lang="zh-CN" altLang="en-US" dirty="0"/>
              <a:t>将服务操作候选分组到符合逻辑的语境（服务候选）中</a:t>
            </a:r>
            <a:endParaRPr lang="en-US" altLang="zh-CN" dirty="0"/>
          </a:p>
          <a:p>
            <a:pPr lvl="1">
              <a:lnSpc>
                <a:spcPct val="120000"/>
              </a:lnSpc>
            </a:pPr>
            <a:r>
              <a:rPr lang="zh-CN" altLang="en-US" dirty="0"/>
              <a:t>初步定义服务的边界，以使它们不会与任何现有的或已经规划好的服务相重叠</a:t>
            </a:r>
            <a:endParaRPr lang="en-US" altLang="zh-CN" dirty="0"/>
          </a:p>
          <a:p>
            <a:pPr lvl="1">
              <a:lnSpc>
                <a:spcPct val="120000"/>
              </a:lnSpc>
            </a:pPr>
            <a:r>
              <a:rPr lang="zh-CN" altLang="en-US" dirty="0"/>
              <a:t>识别封装好的逻辑（服务操作候选，服务候选）能够被复用的潜在可能</a:t>
            </a:r>
            <a:endParaRPr lang="en-US" altLang="zh-CN" dirty="0"/>
          </a:p>
          <a:p>
            <a:pPr lvl="1">
              <a:lnSpc>
                <a:spcPct val="120000"/>
              </a:lnSpc>
            </a:pPr>
            <a:r>
              <a:rPr lang="zh-CN" altLang="en-US" dirty="0"/>
              <a:t>确保被封装的逻辑（服务操作候选，服务候选）语境符合预期的用途</a:t>
            </a:r>
            <a:endParaRPr lang="en-US" altLang="zh-CN" dirty="0"/>
          </a:p>
          <a:p>
            <a:pPr lvl="1">
              <a:lnSpc>
                <a:spcPct val="120000"/>
              </a:lnSpc>
            </a:pPr>
            <a:r>
              <a:rPr lang="zh-CN" altLang="en-US" dirty="0"/>
              <a:t>定义任何已知的候选合成模型</a:t>
            </a:r>
            <a:endParaRPr lang="en-US" altLang="zh-CN" dirty="0"/>
          </a:p>
        </p:txBody>
      </p:sp>
      <p:sp>
        <p:nvSpPr>
          <p:cNvPr id="13316" name="灯片编号占位符 3"/>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14539425-FC9D-49F6-BB80-841AF239A338}" type="slidenum">
              <a:rPr lang="en-US" altLang="zh-CN" smtClean="0"/>
              <a:pPr/>
              <a:t>11</a:t>
            </a:fld>
            <a:endParaRPr lang="en-US" altLang="zh-CN"/>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p:txBody>
          <a:bodyPr/>
          <a:lstStyle/>
          <a:p>
            <a:r>
              <a:rPr lang="zh-CN" altLang="en-US"/>
              <a:t>需求分析技术里程碑</a:t>
            </a:r>
          </a:p>
        </p:txBody>
      </p:sp>
      <p:graphicFrame>
        <p:nvGraphicFramePr>
          <p:cNvPr id="5" name="内容占位符 4"/>
          <p:cNvGraphicFramePr>
            <a:graphicFrameLocks noGrp="1"/>
          </p:cNvGraphicFramePr>
          <p:nvPr>
            <p:ph idx="1"/>
            <p:extLst>
              <p:ext uri="{D42A27DB-BD31-4B8C-83A1-F6EECF244321}">
                <p14:modId xmlns:p14="http://schemas.microsoft.com/office/powerpoint/2010/main" val="1218232042"/>
              </p:ext>
            </p:extLst>
          </p:nvPr>
        </p:nvGraphicFramePr>
        <p:xfrm>
          <a:off x="425642" y="1412776"/>
          <a:ext cx="8352928" cy="485140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769248">
                  <a:extLst>
                    <a:ext uri="{9D8B030D-6E8A-4147-A177-3AD203B41FA5}">
                      <a16:colId xmlns:a16="http://schemas.microsoft.com/office/drawing/2014/main" val="20004"/>
                    </a:ext>
                  </a:extLst>
                </a:gridCol>
              </a:tblGrid>
              <a:tr h="370840">
                <a:tc>
                  <a:txBody>
                    <a:bodyPr/>
                    <a:lstStyle/>
                    <a:p>
                      <a:pPr algn="ctr"/>
                      <a:r>
                        <a:rPr lang="zh-CN" altLang="en-US" dirty="0"/>
                        <a:t>时间</a:t>
                      </a:r>
                    </a:p>
                  </a:txBody>
                  <a:tcPr/>
                </a:tc>
                <a:tc>
                  <a:txBody>
                    <a:bodyPr/>
                    <a:lstStyle/>
                    <a:p>
                      <a:pPr algn="ctr"/>
                      <a:r>
                        <a:rPr lang="zh-CN" altLang="en-US" dirty="0"/>
                        <a:t>主要技术</a:t>
                      </a:r>
                    </a:p>
                  </a:txBody>
                  <a:tcPr/>
                </a:tc>
                <a:tc>
                  <a:txBody>
                    <a:bodyPr/>
                    <a:lstStyle/>
                    <a:p>
                      <a:pPr algn="ctr"/>
                      <a:r>
                        <a:rPr lang="zh-CN" altLang="en-US" dirty="0"/>
                        <a:t>主要分解技术</a:t>
                      </a:r>
                    </a:p>
                  </a:txBody>
                  <a:tcPr/>
                </a:tc>
                <a:tc>
                  <a:txBody>
                    <a:bodyPr/>
                    <a:lstStyle/>
                    <a:p>
                      <a:pPr algn="ctr"/>
                      <a:r>
                        <a:rPr lang="zh-CN" altLang="en-US" dirty="0"/>
                        <a:t>影响因素</a:t>
                      </a:r>
                    </a:p>
                  </a:txBody>
                  <a:tcPr/>
                </a:tc>
                <a:tc>
                  <a:txBody>
                    <a:bodyPr/>
                    <a:lstStyle/>
                    <a:p>
                      <a:pPr algn="ctr"/>
                      <a:r>
                        <a:rPr lang="zh-CN" altLang="en-US" dirty="0"/>
                        <a:t>当前状态</a:t>
                      </a:r>
                    </a:p>
                  </a:txBody>
                  <a:tcPr/>
                </a:tc>
                <a:extLst>
                  <a:ext uri="{0D108BD9-81ED-4DB2-BD59-A6C34878D82A}">
                    <a16:rowId xmlns:a16="http://schemas.microsoft.com/office/drawing/2014/main" val="10000"/>
                  </a:ext>
                </a:extLst>
              </a:tr>
              <a:tr h="370840">
                <a:tc>
                  <a:txBody>
                    <a:bodyPr/>
                    <a:lstStyle/>
                    <a:p>
                      <a:pPr algn="ctr"/>
                      <a:r>
                        <a:rPr lang="en-US" altLang="zh-CN" dirty="0"/>
                        <a:t>1970-1980</a:t>
                      </a:r>
                      <a:r>
                        <a:rPr lang="zh-CN" altLang="en-US" dirty="0"/>
                        <a:t>年</a:t>
                      </a:r>
                    </a:p>
                  </a:txBody>
                  <a:tcPr anchor="ctr"/>
                </a:tc>
                <a:tc>
                  <a:txBody>
                    <a:bodyPr/>
                    <a:lstStyle/>
                    <a:p>
                      <a:pPr algn="ctr"/>
                      <a:r>
                        <a:rPr lang="zh-CN" altLang="en-US" dirty="0"/>
                        <a:t>软件需求工程方法学（</a:t>
                      </a:r>
                      <a:r>
                        <a:rPr lang="en-US" altLang="zh-CN" dirty="0"/>
                        <a:t>SREM</a:t>
                      </a:r>
                      <a:r>
                        <a:rPr lang="zh-CN" altLang="en-US" dirty="0"/>
                        <a:t>）</a:t>
                      </a:r>
                    </a:p>
                  </a:txBody>
                  <a:tcPr anchor="ctr"/>
                </a:tc>
                <a:tc>
                  <a:txBody>
                    <a:bodyPr/>
                    <a:lstStyle/>
                    <a:p>
                      <a:pPr algn="ctr"/>
                      <a:r>
                        <a:rPr lang="zh-CN" altLang="en-US" dirty="0"/>
                        <a:t>控制流或程序流程图</a:t>
                      </a:r>
                    </a:p>
                  </a:txBody>
                  <a:tcPr anchor="ctr"/>
                </a:tc>
                <a:tc>
                  <a:txBody>
                    <a:bodyPr/>
                    <a:lstStyle/>
                    <a:p>
                      <a:pPr algn="ctr"/>
                      <a:r>
                        <a:rPr lang="zh-CN" altLang="en-US" dirty="0"/>
                        <a:t>面向过程的编程语言</a:t>
                      </a:r>
                    </a:p>
                  </a:txBody>
                  <a:tcPr anchor="ctr"/>
                </a:tc>
                <a:tc>
                  <a:txBody>
                    <a:bodyPr/>
                    <a:lstStyle/>
                    <a:p>
                      <a:pPr algn="ctr"/>
                      <a:r>
                        <a:rPr lang="zh-CN" altLang="en-US" dirty="0"/>
                        <a:t>已经退出了历史舞台</a:t>
                      </a:r>
                    </a:p>
                  </a:txBody>
                  <a:tcPr anchor="ctr"/>
                </a:tc>
                <a:extLst>
                  <a:ext uri="{0D108BD9-81ED-4DB2-BD59-A6C34878D82A}">
                    <a16:rowId xmlns:a16="http://schemas.microsoft.com/office/drawing/2014/main" val="10001"/>
                  </a:ext>
                </a:extLst>
              </a:tr>
              <a:tr h="370840">
                <a:tc>
                  <a:txBody>
                    <a:bodyPr/>
                    <a:lstStyle/>
                    <a:p>
                      <a:pPr algn="ctr"/>
                      <a:r>
                        <a:rPr lang="en-US" altLang="zh-CN" dirty="0"/>
                        <a:t>1970-1990</a:t>
                      </a:r>
                      <a:r>
                        <a:rPr lang="zh-CN" altLang="en-US" dirty="0"/>
                        <a:t>年</a:t>
                      </a:r>
                    </a:p>
                  </a:txBody>
                  <a:tcPr anchor="ctr"/>
                </a:tc>
                <a:tc>
                  <a:txBody>
                    <a:bodyPr/>
                    <a:lstStyle/>
                    <a:p>
                      <a:pPr algn="ctr"/>
                      <a:r>
                        <a:rPr lang="zh-CN" altLang="en-US" dirty="0"/>
                        <a:t>结构化分析</a:t>
                      </a:r>
                    </a:p>
                  </a:txBody>
                  <a:tcPr anchor="ctr"/>
                </a:tc>
                <a:tc>
                  <a:txBody>
                    <a:bodyPr/>
                    <a:lstStyle/>
                    <a:p>
                      <a:pPr algn="ctr"/>
                      <a:r>
                        <a:rPr lang="zh-CN" altLang="en-US" dirty="0"/>
                        <a:t>数据流图</a:t>
                      </a:r>
                    </a:p>
                  </a:txBody>
                  <a:tcPr anchor="ctr"/>
                </a:tc>
                <a:tc>
                  <a:txBody>
                    <a:bodyPr/>
                    <a:lstStyle/>
                    <a:p>
                      <a:pPr algn="ctr"/>
                      <a:r>
                        <a:rPr lang="zh-CN" altLang="en-US" dirty="0"/>
                        <a:t>业务过程</a:t>
                      </a:r>
                    </a:p>
                  </a:txBody>
                  <a:tcPr anchor="ctr"/>
                </a:tc>
                <a:tc>
                  <a:txBody>
                    <a:bodyPr/>
                    <a:lstStyle/>
                    <a:p>
                      <a:pPr algn="ctr"/>
                      <a:r>
                        <a:rPr lang="zh-CN" altLang="en-US" dirty="0"/>
                        <a:t>已经不再那么重要了</a:t>
                      </a:r>
                    </a:p>
                  </a:txBody>
                  <a:tcPr anchor="ctr"/>
                </a:tc>
                <a:extLst>
                  <a:ext uri="{0D108BD9-81ED-4DB2-BD59-A6C34878D82A}">
                    <a16:rowId xmlns:a16="http://schemas.microsoft.com/office/drawing/2014/main" val="10002"/>
                  </a:ext>
                </a:extLst>
              </a:tr>
              <a:tr h="370840">
                <a:tc>
                  <a:txBody>
                    <a:bodyPr/>
                    <a:lstStyle/>
                    <a:p>
                      <a:pPr algn="ctr"/>
                      <a:r>
                        <a:rPr lang="en-US" altLang="zh-CN" dirty="0"/>
                        <a:t>1990</a:t>
                      </a:r>
                      <a:r>
                        <a:rPr lang="zh-CN" altLang="en-US" dirty="0"/>
                        <a:t>年至今</a:t>
                      </a:r>
                    </a:p>
                  </a:txBody>
                  <a:tcPr anchor="ctr"/>
                </a:tc>
                <a:tc>
                  <a:txBody>
                    <a:bodyPr/>
                    <a:lstStyle/>
                    <a:p>
                      <a:pPr algn="ctr"/>
                      <a:r>
                        <a:rPr lang="zh-CN" altLang="en-US" dirty="0"/>
                        <a:t>以</a:t>
                      </a:r>
                      <a:r>
                        <a:rPr lang="en-US" altLang="zh-CN" dirty="0"/>
                        <a:t>UML</a:t>
                      </a:r>
                      <a:r>
                        <a:rPr lang="zh-CN" altLang="en-US" dirty="0"/>
                        <a:t>建模语言和模型图为代表的面向对象分析</a:t>
                      </a:r>
                    </a:p>
                  </a:txBody>
                  <a:tcPr anchor="ctr"/>
                </a:tc>
                <a:tc>
                  <a:txBody>
                    <a:bodyPr/>
                    <a:lstStyle/>
                    <a:p>
                      <a:pPr algn="ctr"/>
                      <a:r>
                        <a:rPr lang="zh-CN" altLang="en-US" dirty="0"/>
                        <a:t>类、对象、方法、顺序图、用例图等</a:t>
                      </a:r>
                    </a:p>
                  </a:txBody>
                  <a:tcPr anchor="ctr"/>
                </a:tc>
                <a:tc>
                  <a:txBody>
                    <a:bodyPr/>
                    <a:lstStyle/>
                    <a:p>
                      <a:pPr algn="ctr"/>
                      <a:r>
                        <a:rPr lang="zh-CN" altLang="en-US" dirty="0"/>
                        <a:t>面向对象设计和编程语言，如</a:t>
                      </a:r>
                      <a:r>
                        <a:rPr lang="en-US" altLang="zh-CN" dirty="0" err="1"/>
                        <a:t>smalltalk</a:t>
                      </a:r>
                      <a:endParaRPr lang="zh-CN" altLang="en-US" dirty="0"/>
                    </a:p>
                  </a:txBody>
                  <a:tcPr anchor="ctr"/>
                </a:tc>
                <a:tc>
                  <a:txBody>
                    <a:bodyPr/>
                    <a:lstStyle/>
                    <a:p>
                      <a:pPr algn="ctr"/>
                      <a:r>
                        <a:rPr lang="zh-CN" altLang="en-US" dirty="0"/>
                        <a:t>非常流行，并且是现在的工业标准</a:t>
                      </a:r>
                    </a:p>
                  </a:txBody>
                  <a:tcPr anchor="ctr"/>
                </a:tc>
                <a:extLst>
                  <a:ext uri="{0D108BD9-81ED-4DB2-BD59-A6C34878D82A}">
                    <a16:rowId xmlns:a16="http://schemas.microsoft.com/office/drawing/2014/main" val="10003"/>
                  </a:ext>
                </a:extLst>
              </a:tr>
              <a:tr h="370840">
                <a:tc>
                  <a:txBody>
                    <a:bodyPr/>
                    <a:lstStyle/>
                    <a:p>
                      <a:pPr algn="ctr"/>
                      <a:r>
                        <a:rPr lang="en-US" altLang="zh-CN" dirty="0"/>
                        <a:t>2004</a:t>
                      </a:r>
                      <a:r>
                        <a:rPr lang="zh-CN" altLang="en-US" dirty="0"/>
                        <a:t>年至今</a:t>
                      </a:r>
                    </a:p>
                  </a:txBody>
                  <a:tcPr anchor="ctr"/>
                </a:tc>
                <a:tc>
                  <a:txBody>
                    <a:bodyPr/>
                    <a:lstStyle/>
                    <a:p>
                      <a:pPr algn="ctr"/>
                      <a:r>
                        <a:rPr lang="zh-CN" altLang="en-US" dirty="0"/>
                        <a:t>面向服务分析</a:t>
                      </a:r>
                    </a:p>
                  </a:txBody>
                  <a:tcPr anchor="ctr"/>
                </a:tc>
                <a:tc>
                  <a:txBody>
                    <a:bodyPr/>
                    <a:lstStyle/>
                    <a:p>
                      <a:pPr algn="ctr"/>
                      <a:r>
                        <a:rPr lang="zh-CN" altLang="en-US" dirty="0"/>
                        <a:t>工作流、服务和</a:t>
                      </a:r>
                      <a:r>
                        <a:rPr lang="en-US" altLang="zh-CN" dirty="0"/>
                        <a:t>SOA</a:t>
                      </a:r>
                      <a:r>
                        <a:rPr lang="zh-CN" altLang="en-US" dirty="0"/>
                        <a:t>框架</a:t>
                      </a:r>
                    </a:p>
                  </a:txBody>
                  <a:tcPr anchor="ctr"/>
                </a:tc>
                <a:tc>
                  <a:txBody>
                    <a:bodyPr/>
                    <a:lstStyle/>
                    <a:p>
                      <a:pPr algn="ctr"/>
                      <a:r>
                        <a:rPr lang="en-US" altLang="zh-CN" dirty="0"/>
                        <a:t>SOA</a:t>
                      </a:r>
                      <a:r>
                        <a:rPr lang="zh-CN" altLang="en-US" dirty="0"/>
                        <a:t>框架，比如</a:t>
                      </a:r>
                      <a:r>
                        <a:rPr lang="en-US" altLang="zh-CN" dirty="0"/>
                        <a:t>Web</a:t>
                      </a:r>
                      <a:r>
                        <a:rPr lang="zh-CN" altLang="en-US" dirty="0"/>
                        <a:t>服务，</a:t>
                      </a:r>
                      <a:r>
                        <a:rPr lang="en-US" altLang="zh-CN" dirty="0" err="1"/>
                        <a:t>.Net</a:t>
                      </a:r>
                      <a:r>
                        <a:rPr lang="zh-CN" altLang="en-US" dirty="0"/>
                        <a:t>，以及</a:t>
                      </a:r>
                      <a:r>
                        <a:rPr lang="en-US" altLang="zh-CN" dirty="0"/>
                        <a:t>IBM</a:t>
                      </a:r>
                      <a:r>
                        <a:rPr lang="en-US" altLang="zh-CN" baseline="0" dirty="0"/>
                        <a:t> Foundation Architecture</a:t>
                      </a:r>
                      <a:endParaRPr lang="zh-CN" altLang="en-US" dirty="0"/>
                    </a:p>
                  </a:txBody>
                  <a:tcPr anchor="ctr"/>
                </a:tc>
                <a:tc>
                  <a:txBody>
                    <a:bodyPr/>
                    <a:lstStyle/>
                    <a:p>
                      <a:pPr algn="ctr"/>
                      <a:r>
                        <a:rPr lang="zh-CN" altLang="en-US" dirty="0"/>
                        <a:t>逐渐形成</a:t>
                      </a:r>
                    </a:p>
                  </a:txBody>
                  <a:tcPr anchor="ctr"/>
                </a:tc>
                <a:extLst>
                  <a:ext uri="{0D108BD9-81ED-4DB2-BD59-A6C34878D82A}">
                    <a16:rowId xmlns:a16="http://schemas.microsoft.com/office/drawing/2014/main" val="10004"/>
                  </a:ext>
                </a:extLst>
              </a:tr>
            </a:tbl>
          </a:graphicData>
        </a:graphic>
      </p:graphicFrame>
      <p:sp>
        <p:nvSpPr>
          <p:cNvPr id="14377" name="灯片编号占位符 3"/>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47FBE2F5-B074-4DA6-8E8C-A34A5870B35E}" type="slidenum">
              <a:rPr lang="en-US" altLang="zh-CN" smtClean="0"/>
              <a:pPr/>
              <a:t>12</a:t>
            </a:fld>
            <a:endParaRPr lang="en-US" altLang="zh-CN"/>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p:txBody>
          <a:bodyPr/>
          <a:lstStyle/>
          <a:p>
            <a:r>
              <a:rPr lang="zh-CN" altLang="en-US"/>
              <a:t>面向服务分析的流程</a:t>
            </a:r>
          </a:p>
        </p:txBody>
      </p:sp>
      <p:sp>
        <p:nvSpPr>
          <p:cNvPr id="15363" name="内容占位符 2"/>
          <p:cNvSpPr>
            <a:spLocks noGrp="1"/>
          </p:cNvSpPr>
          <p:nvPr>
            <p:ph idx="1"/>
          </p:nvPr>
        </p:nvSpPr>
        <p:spPr/>
        <p:txBody>
          <a:bodyPr/>
          <a:lstStyle/>
          <a:p>
            <a:pPr>
              <a:lnSpc>
                <a:spcPct val="150000"/>
              </a:lnSpc>
            </a:pPr>
            <a:r>
              <a:rPr lang="zh-CN" altLang="en-US" dirty="0"/>
              <a:t>定义流程自动化需求</a:t>
            </a:r>
            <a:endParaRPr lang="en-US" altLang="zh-CN" dirty="0"/>
          </a:p>
          <a:p>
            <a:pPr lvl="1">
              <a:lnSpc>
                <a:spcPct val="150000"/>
              </a:lnSpc>
            </a:pPr>
            <a:r>
              <a:rPr lang="zh-CN" altLang="en-US" dirty="0"/>
              <a:t>文档化的需求描述，是服务候选建模的依据</a:t>
            </a:r>
            <a:endParaRPr lang="en-US" altLang="zh-CN" dirty="0"/>
          </a:p>
          <a:p>
            <a:pPr>
              <a:lnSpc>
                <a:spcPct val="150000"/>
              </a:lnSpc>
            </a:pPr>
            <a:r>
              <a:rPr lang="zh-CN" altLang="en-US" dirty="0"/>
              <a:t>识别现有的自动化系统</a:t>
            </a:r>
            <a:endParaRPr lang="en-US" altLang="zh-CN" dirty="0"/>
          </a:p>
          <a:p>
            <a:pPr>
              <a:lnSpc>
                <a:spcPct val="150000"/>
              </a:lnSpc>
            </a:pPr>
            <a:r>
              <a:rPr lang="zh-CN" altLang="en-US" dirty="0"/>
              <a:t>对服务候选建模</a:t>
            </a:r>
            <a:endParaRPr lang="en-US" altLang="zh-CN" dirty="0"/>
          </a:p>
          <a:p>
            <a:pPr lvl="1">
              <a:lnSpc>
                <a:spcPct val="150000"/>
              </a:lnSpc>
            </a:pPr>
            <a:r>
              <a:rPr lang="zh-CN" altLang="en-US" dirty="0"/>
              <a:t>识别服务操作候选，并将其分组到服务候选中的过程</a:t>
            </a:r>
            <a:endParaRPr lang="en-US" altLang="zh-CN" dirty="0"/>
          </a:p>
        </p:txBody>
      </p:sp>
      <p:sp>
        <p:nvSpPr>
          <p:cNvPr id="15364" name="灯片编号占位符 3"/>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06ED5088-4879-4044-B4EC-5F4C07A4D76D}" type="slidenum">
              <a:rPr lang="en-US" altLang="zh-CN" smtClean="0"/>
              <a:pPr/>
              <a:t>13</a:t>
            </a:fld>
            <a:endParaRPr lang="en-US" altLang="zh-CN"/>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a:lstStyle/>
          <a:p>
            <a:r>
              <a:rPr lang="zh-CN" altLang="en-US"/>
              <a:t>以业务为核心的</a:t>
            </a:r>
            <a:r>
              <a:rPr lang="en-US" altLang="zh-CN"/>
              <a:t>SOA</a:t>
            </a:r>
            <a:endParaRPr lang="zh-CN" altLang="en-US"/>
          </a:p>
        </p:txBody>
      </p:sp>
      <p:sp>
        <p:nvSpPr>
          <p:cNvPr id="16387" name="内容占位符 2"/>
          <p:cNvSpPr>
            <a:spLocks noGrp="1"/>
          </p:cNvSpPr>
          <p:nvPr>
            <p:ph idx="1"/>
          </p:nvPr>
        </p:nvSpPr>
        <p:spPr/>
        <p:txBody>
          <a:bodyPr/>
          <a:lstStyle/>
          <a:p>
            <a:r>
              <a:rPr lang="zh-CN" altLang="en-US" dirty="0"/>
              <a:t>面向技术 </a:t>
            </a:r>
            <a:r>
              <a:rPr lang="en-US" altLang="zh-CN" dirty="0"/>
              <a:t>vs. </a:t>
            </a:r>
            <a:r>
              <a:rPr lang="zh-CN" altLang="en-US" dirty="0"/>
              <a:t>面向业务</a:t>
            </a:r>
            <a:endParaRPr lang="en-US" altLang="zh-CN" dirty="0"/>
          </a:p>
          <a:p>
            <a:pPr lvl="1"/>
            <a:r>
              <a:rPr lang="en-US" altLang="zh-CN" dirty="0"/>
              <a:t>Web Service</a:t>
            </a:r>
            <a:r>
              <a:rPr lang="zh-CN" altLang="en-US" dirty="0"/>
              <a:t>仍然是面向技术的</a:t>
            </a:r>
            <a:endParaRPr lang="en-US" altLang="zh-CN" dirty="0"/>
          </a:p>
          <a:p>
            <a:r>
              <a:rPr lang="zh-CN" altLang="en-US" dirty="0"/>
              <a:t>面向服务的分析应以业务服务（</a:t>
            </a:r>
            <a:r>
              <a:rPr lang="en-US" altLang="zh-CN" dirty="0"/>
              <a:t>Business Services</a:t>
            </a:r>
            <a:r>
              <a:rPr lang="zh-CN" altLang="en-US" dirty="0"/>
              <a:t>）为核心</a:t>
            </a:r>
            <a:endParaRPr lang="en-US" altLang="zh-CN" dirty="0"/>
          </a:p>
          <a:p>
            <a:pPr lvl="1"/>
            <a:r>
              <a:rPr lang="zh-CN" altLang="en-US" dirty="0"/>
              <a:t>业务服务分别隔离来自业务领域和应用领域的变化</a:t>
            </a:r>
            <a:endParaRPr lang="en-US" altLang="zh-CN" dirty="0"/>
          </a:p>
          <a:p>
            <a:pPr lvl="1"/>
            <a:r>
              <a:rPr lang="zh-CN" altLang="en-US" dirty="0"/>
              <a:t>服务编排以业务服务为对象</a:t>
            </a:r>
            <a:endParaRPr lang="en-US" altLang="zh-CN" dirty="0"/>
          </a:p>
          <a:p>
            <a:pPr lvl="1"/>
            <a:r>
              <a:rPr lang="zh-CN" altLang="en-US" dirty="0"/>
              <a:t>业务服务实现复用</a:t>
            </a:r>
            <a:endParaRPr lang="en-US" altLang="zh-CN" dirty="0"/>
          </a:p>
          <a:p>
            <a:pPr lvl="1"/>
            <a:r>
              <a:rPr lang="zh-CN" altLang="en-US" dirty="0"/>
              <a:t>业务服务促进面向服务的企业</a:t>
            </a:r>
            <a:endParaRPr lang="en-US" altLang="zh-CN" dirty="0"/>
          </a:p>
        </p:txBody>
      </p:sp>
      <p:sp>
        <p:nvSpPr>
          <p:cNvPr id="16388" name="灯片编号占位符 3"/>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17E1D662-6F07-4C6C-8F4B-42355667C6BF}" type="slidenum">
              <a:rPr lang="en-US" altLang="zh-CN" smtClean="0"/>
              <a:pPr/>
              <a:t>14</a:t>
            </a:fld>
            <a:endParaRPr lang="en-US" altLang="zh-CN"/>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a:lstStyle/>
          <a:p>
            <a:r>
              <a:rPr lang="zh-CN" altLang="en-US"/>
              <a:t>常见业务分析方法（</a:t>
            </a:r>
            <a:r>
              <a:rPr lang="en-US" altLang="zh-CN"/>
              <a:t>1/2</a:t>
            </a:r>
            <a:r>
              <a:rPr lang="zh-CN" altLang="en-US"/>
              <a:t>）</a:t>
            </a:r>
          </a:p>
        </p:txBody>
      </p:sp>
      <p:sp>
        <p:nvSpPr>
          <p:cNvPr id="17411" name="内容占位符 2"/>
          <p:cNvSpPr>
            <a:spLocks noGrp="1"/>
          </p:cNvSpPr>
          <p:nvPr>
            <p:ph idx="1"/>
          </p:nvPr>
        </p:nvSpPr>
        <p:spPr>
          <a:xfrm>
            <a:off x="457200" y="1052513"/>
            <a:ext cx="8229600" cy="1512391"/>
          </a:xfrm>
        </p:spPr>
        <p:txBody>
          <a:bodyPr/>
          <a:lstStyle/>
          <a:p>
            <a:r>
              <a:rPr lang="zh-CN" altLang="en-US" dirty="0"/>
              <a:t>业务流程管理（</a:t>
            </a:r>
            <a:r>
              <a:rPr lang="en-US" altLang="zh-CN"/>
              <a:t>BPM</a:t>
            </a:r>
            <a:r>
              <a:rPr lang="zh-CN" altLang="en-US"/>
              <a:t>）</a:t>
            </a:r>
            <a:r>
              <a:rPr lang="zh-CN" altLang="en-US" dirty="0"/>
              <a:t>模型</a:t>
            </a:r>
            <a:r>
              <a:rPr lang="en-US" altLang="zh-CN" dirty="0"/>
              <a:t>	</a:t>
            </a:r>
          </a:p>
          <a:p>
            <a:pPr lvl="1"/>
            <a:r>
              <a:rPr lang="zh-CN" altLang="en-US" dirty="0"/>
              <a:t>大多数组织业务分析归档的主要形式</a:t>
            </a:r>
            <a:endParaRPr lang="en-US" altLang="zh-CN" dirty="0"/>
          </a:p>
        </p:txBody>
      </p:sp>
      <p:sp>
        <p:nvSpPr>
          <p:cNvPr id="17412" name="灯片编号占位符 3"/>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769A043B-28F1-4071-A0A2-D21B40538823}" type="slidenum">
              <a:rPr lang="en-US" altLang="zh-CN" smtClean="0"/>
              <a:pPr/>
              <a:t>15</a:t>
            </a:fld>
            <a:endParaRPr lang="en-US" altLang="zh-CN"/>
          </a:p>
        </p:txBody>
      </p:sp>
      <p:pic>
        <p:nvPicPr>
          <p:cNvPr id="2" name="图片 1"/>
          <p:cNvPicPr>
            <a:picLocks noChangeAspect="1"/>
          </p:cNvPicPr>
          <p:nvPr/>
        </p:nvPicPr>
        <p:blipFill>
          <a:blip r:embed="rId3"/>
          <a:stretch>
            <a:fillRect/>
          </a:stretch>
        </p:blipFill>
        <p:spPr>
          <a:xfrm>
            <a:off x="1907704" y="2439416"/>
            <a:ext cx="5439303" cy="4112245"/>
          </a:xfrm>
          <a:prstGeom prst="rect">
            <a:avLst/>
          </a:prstGeom>
        </p:spPr>
      </p:pic>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p:txBody>
          <a:bodyPr/>
          <a:lstStyle/>
          <a:p>
            <a:r>
              <a:rPr lang="zh-CN" altLang="en-US"/>
              <a:t>常见业务分析方法（</a:t>
            </a:r>
            <a:r>
              <a:rPr lang="en-US" altLang="zh-CN"/>
              <a:t>2/2</a:t>
            </a:r>
            <a:r>
              <a:rPr lang="zh-CN" altLang="en-US"/>
              <a:t>）</a:t>
            </a:r>
          </a:p>
        </p:txBody>
      </p:sp>
      <p:sp>
        <p:nvSpPr>
          <p:cNvPr id="18435" name="内容占位符 2"/>
          <p:cNvSpPr>
            <a:spLocks noGrp="1"/>
          </p:cNvSpPr>
          <p:nvPr>
            <p:ph idx="1"/>
          </p:nvPr>
        </p:nvSpPr>
        <p:spPr>
          <a:xfrm>
            <a:off x="457200" y="1052513"/>
            <a:ext cx="8229600" cy="1368375"/>
          </a:xfrm>
        </p:spPr>
        <p:txBody>
          <a:bodyPr/>
          <a:lstStyle/>
          <a:p>
            <a:r>
              <a:rPr lang="zh-CN" altLang="en-US" dirty="0"/>
              <a:t>实体模型</a:t>
            </a:r>
            <a:endParaRPr lang="en-US" altLang="zh-CN" dirty="0"/>
          </a:p>
          <a:p>
            <a:pPr lvl="1"/>
            <a:r>
              <a:rPr lang="zh-CN" altLang="en-US" dirty="0"/>
              <a:t>遵循</a:t>
            </a:r>
            <a:r>
              <a:rPr lang="en-US" altLang="zh-CN" dirty="0"/>
              <a:t>OO</a:t>
            </a:r>
            <a:r>
              <a:rPr lang="zh-CN" altLang="en-US" dirty="0"/>
              <a:t>规范</a:t>
            </a:r>
          </a:p>
        </p:txBody>
      </p:sp>
      <p:sp>
        <p:nvSpPr>
          <p:cNvPr id="18436" name="灯片编号占位符 3"/>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4BF0EF3B-F108-4FF7-94ED-CE2881A06F14}" type="slidenum">
              <a:rPr lang="en-US" altLang="zh-CN" smtClean="0"/>
              <a:pPr/>
              <a:t>16</a:t>
            </a:fld>
            <a:endParaRPr lang="en-US" altLang="zh-CN"/>
          </a:p>
        </p:txBody>
      </p:sp>
      <p:pic>
        <p:nvPicPr>
          <p:cNvPr id="2" name="图片 1"/>
          <p:cNvPicPr>
            <a:picLocks noChangeAspect="1"/>
          </p:cNvPicPr>
          <p:nvPr/>
        </p:nvPicPr>
        <p:blipFill>
          <a:blip r:embed="rId3"/>
          <a:stretch>
            <a:fillRect/>
          </a:stretch>
        </p:blipFill>
        <p:spPr>
          <a:xfrm>
            <a:off x="2339752" y="2276872"/>
            <a:ext cx="4349837" cy="4134572"/>
          </a:xfrm>
          <a:prstGeom prst="rect">
            <a:avLst/>
          </a:prstGeom>
        </p:spPr>
      </p:pic>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p:txBody>
          <a:bodyPr/>
          <a:lstStyle/>
          <a:p>
            <a:r>
              <a:rPr lang="zh-CN" altLang="en-US"/>
              <a:t>业务服务的派生类型（</a:t>
            </a:r>
            <a:r>
              <a:rPr lang="en-US" altLang="zh-CN"/>
              <a:t>1/2</a:t>
            </a:r>
            <a:r>
              <a:rPr lang="zh-CN" altLang="en-US"/>
              <a:t>）</a:t>
            </a:r>
          </a:p>
        </p:txBody>
      </p:sp>
      <p:sp>
        <p:nvSpPr>
          <p:cNvPr id="19459" name="内容占位符 2"/>
          <p:cNvSpPr>
            <a:spLocks noGrp="1"/>
          </p:cNvSpPr>
          <p:nvPr>
            <p:ph idx="1"/>
          </p:nvPr>
        </p:nvSpPr>
        <p:spPr/>
        <p:txBody>
          <a:bodyPr/>
          <a:lstStyle/>
          <a:p>
            <a:r>
              <a:rPr lang="zh-CN" altLang="en-US" dirty="0"/>
              <a:t>以任务为核心的业务服务（灵活性）</a:t>
            </a:r>
            <a:endParaRPr lang="en-US" altLang="zh-CN" dirty="0"/>
          </a:p>
          <a:p>
            <a:pPr lvl="1"/>
            <a:r>
              <a:rPr lang="zh-CN" altLang="en-US" dirty="0"/>
              <a:t>可能来源：用例模型，</a:t>
            </a:r>
            <a:r>
              <a:rPr lang="en-US" altLang="zh-CN" dirty="0"/>
              <a:t>BPM</a:t>
            </a:r>
            <a:r>
              <a:rPr lang="zh-CN" altLang="en-US" dirty="0"/>
              <a:t>流程定义</a:t>
            </a:r>
            <a:endParaRPr lang="en-US" altLang="zh-CN" dirty="0"/>
          </a:p>
          <a:p>
            <a:pPr lvl="1"/>
            <a:r>
              <a:rPr lang="zh-CN" altLang="en-US" dirty="0"/>
              <a:t>较少分析工作，有限复用潜力</a:t>
            </a:r>
            <a:endParaRPr lang="en-US" altLang="zh-CN" dirty="0"/>
          </a:p>
          <a:p>
            <a:pPr lvl="1"/>
            <a:r>
              <a:rPr lang="zh-CN" altLang="en-US" dirty="0"/>
              <a:t>需对多个用例和业务流程模型进行分析以识别公共性</a:t>
            </a:r>
            <a:endParaRPr lang="en-US" altLang="zh-CN" dirty="0"/>
          </a:p>
          <a:p>
            <a:r>
              <a:rPr lang="zh-CN" altLang="en-US" dirty="0"/>
              <a:t>以实体为核心的业务服务（稳定性）</a:t>
            </a:r>
            <a:endParaRPr lang="en-US" altLang="zh-CN" dirty="0"/>
          </a:p>
          <a:p>
            <a:pPr lvl="1"/>
            <a:r>
              <a:rPr lang="zh-CN" altLang="en-US" dirty="0"/>
              <a:t>来源：实体模型</a:t>
            </a:r>
            <a:endParaRPr lang="en-US" altLang="zh-CN" dirty="0"/>
          </a:p>
          <a:p>
            <a:pPr lvl="1"/>
            <a:r>
              <a:rPr lang="zh-CN" altLang="en-US" dirty="0"/>
              <a:t>较多分析工作，不包含业务流程逻辑，较高复用潜力</a:t>
            </a:r>
            <a:endParaRPr lang="en-US" altLang="zh-CN" dirty="0"/>
          </a:p>
        </p:txBody>
      </p:sp>
      <p:sp>
        <p:nvSpPr>
          <p:cNvPr id="19460" name="灯片编号占位符 3"/>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512A95F9-7548-4A8A-BF1A-9565B0BA6965}" type="slidenum">
              <a:rPr lang="en-US" altLang="zh-CN" smtClean="0"/>
              <a:pPr/>
              <a:t>17</a:t>
            </a:fld>
            <a:endParaRPr lang="en-US" altLang="zh-CN"/>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p:txBody>
          <a:bodyPr/>
          <a:lstStyle/>
          <a:p>
            <a:r>
              <a:rPr lang="zh-CN" altLang="en-US"/>
              <a:t>业务服务的派生类型（</a:t>
            </a:r>
            <a:r>
              <a:rPr lang="en-US" altLang="zh-CN"/>
              <a:t>2/2</a:t>
            </a:r>
            <a:r>
              <a:rPr lang="zh-CN" altLang="en-US"/>
              <a:t>）</a:t>
            </a:r>
          </a:p>
        </p:txBody>
      </p:sp>
      <p:pic>
        <p:nvPicPr>
          <p:cNvPr id="6" name="内容占位符 5"/>
          <p:cNvPicPr>
            <a:picLocks noGrp="1" noChangeAspect="1"/>
          </p:cNvPicPr>
          <p:nvPr>
            <p:ph idx="1"/>
          </p:nvPr>
        </p:nvPicPr>
        <p:blipFill>
          <a:blip r:embed="rId3"/>
          <a:stretch>
            <a:fillRect/>
          </a:stretch>
        </p:blipFill>
        <p:spPr>
          <a:xfrm>
            <a:off x="1852612" y="1550194"/>
            <a:ext cx="5438775" cy="4352925"/>
          </a:xfrm>
        </p:spPr>
      </p:pic>
      <p:sp>
        <p:nvSpPr>
          <p:cNvPr id="20484" name="灯片编号占位符 3"/>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C0957575-434B-4C49-8E9A-DD45DAA82727}" type="slidenum">
              <a:rPr lang="en-US" altLang="zh-CN" smtClean="0"/>
              <a:pPr/>
              <a:t>18</a:t>
            </a:fld>
            <a:endParaRPr lang="en-US" altLang="zh-CN"/>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p:txBody>
          <a:bodyPr/>
          <a:lstStyle/>
          <a:p>
            <a:r>
              <a:rPr lang="zh-CN" altLang="en-US"/>
              <a:t>业务服务与编排</a:t>
            </a:r>
          </a:p>
        </p:txBody>
      </p:sp>
      <p:sp>
        <p:nvSpPr>
          <p:cNvPr id="3" name="内容占位符 2"/>
          <p:cNvSpPr>
            <a:spLocks noGrp="1"/>
          </p:cNvSpPr>
          <p:nvPr>
            <p:ph idx="1"/>
          </p:nvPr>
        </p:nvSpPr>
        <p:spPr/>
        <p:txBody>
          <a:bodyPr>
            <a:normAutofit/>
          </a:bodyPr>
          <a:lstStyle/>
          <a:p>
            <a:pPr>
              <a:lnSpc>
                <a:spcPct val="110000"/>
              </a:lnSpc>
            </a:pPr>
            <a:r>
              <a:rPr lang="zh-CN" altLang="en-US" dirty="0"/>
              <a:t>“业务中心化”</a:t>
            </a:r>
            <a:endParaRPr lang="en-US" altLang="zh-CN" dirty="0"/>
          </a:p>
          <a:p>
            <a:pPr>
              <a:lnSpc>
                <a:spcPct val="110000"/>
              </a:lnSpc>
            </a:pPr>
            <a:r>
              <a:rPr lang="zh-CN" altLang="en-US" dirty="0"/>
              <a:t>编排能够组合以任务为核心的业务服务及以实体为核心的业务服务</a:t>
            </a:r>
            <a:endParaRPr lang="en-US" altLang="zh-CN" dirty="0"/>
          </a:p>
          <a:p>
            <a:pPr lvl="1">
              <a:lnSpc>
                <a:spcPct val="110000"/>
              </a:lnSpc>
            </a:pPr>
            <a:r>
              <a:rPr lang="zh-CN" altLang="en-US" dirty="0"/>
              <a:t>基本的业务模型由以实体为核心的服务来表示</a:t>
            </a:r>
            <a:endParaRPr lang="en-US" altLang="zh-CN" dirty="0"/>
          </a:p>
          <a:p>
            <a:pPr lvl="1">
              <a:lnSpc>
                <a:spcPct val="110000"/>
              </a:lnSpc>
            </a:pPr>
            <a:r>
              <a:rPr lang="zh-CN" altLang="en-US" dirty="0"/>
              <a:t>与业务逻辑相关的任务由以任务为核心的服务来表示</a:t>
            </a:r>
            <a:endParaRPr lang="en-US" altLang="zh-CN" dirty="0"/>
          </a:p>
          <a:p>
            <a:pPr>
              <a:lnSpc>
                <a:spcPct val="110000"/>
              </a:lnSpc>
            </a:pPr>
            <a:r>
              <a:rPr lang="zh-CN" altLang="en-US" dirty="0"/>
              <a:t>在不影响业务服务和应用服务的前提下进行业务规则和业务逻辑的变更</a:t>
            </a:r>
          </a:p>
        </p:txBody>
      </p:sp>
      <p:sp>
        <p:nvSpPr>
          <p:cNvPr id="21508" name="灯片编号占位符 3"/>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9AA49AFF-FC00-4E45-9974-377D888E378C}" type="slidenum">
              <a:rPr lang="en-US" altLang="zh-CN" smtClean="0"/>
              <a:pPr/>
              <a:t>19</a:t>
            </a:fld>
            <a:endParaRPr lang="en-US" altLang="zh-CN"/>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p:txBody>
          <a:bodyPr/>
          <a:lstStyle/>
          <a:p>
            <a:r>
              <a:rPr lang="zh-CN" altLang="en-US" dirty="0"/>
              <a:t>服务建模的产物（路线图）</a:t>
            </a:r>
          </a:p>
        </p:txBody>
      </p:sp>
      <p:sp>
        <p:nvSpPr>
          <p:cNvPr id="22531" name="内容占位符 2"/>
          <p:cNvSpPr>
            <a:spLocks noGrp="1"/>
          </p:cNvSpPr>
          <p:nvPr>
            <p:ph idx="1"/>
          </p:nvPr>
        </p:nvSpPr>
        <p:spPr>
          <a:xfrm>
            <a:off x="457200" y="1052513"/>
            <a:ext cx="8229600" cy="1224359"/>
          </a:xfrm>
        </p:spPr>
        <p:txBody>
          <a:bodyPr/>
          <a:lstStyle/>
          <a:p>
            <a:r>
              <a:rPr lang="zh-CN" altLang="en-US" sz="2800" dirty="0"/>
              <a:t>服务候选（</a:t>
            </a:r>
            <a:r>
              <a:rPr lang="en-US" altLang="zh-CN" sz="2800" dirty="0"/>
              <a:t>Service candidate</a:t>
            </a:r>
            <a:r>
              <a:rPr lang="zh-CN" altLang="en-US" sz="2800" dirty="0"/>
              <a:t>）与服务操作候选（</a:t>
            </a:r>
            <a:r>
              <a:rPr lang="en-US" altLang="zh-CN" sz="2800" dirty="0"/>
              <a:t>Service operation candidate)</a:t>
            </a:r>
          </a:p>
        </p:txBody>
      </p:sp>
      <p:sp>
        <p:nvSpPr>
          <p:cNvPr id="22532" name="灯片编号占位符 3"/>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A0501BD9-3AC5-4371-B80C-ED07C420049A}" type="slidenum">
              <a:rPr lang="en-US" altLang="zh-CN" smtClean="0"/>
              <a:pPr/>
              <a:t>20</a:t>
            </a:fld>
            <a:endParaRPr lang="en-US" altLang="zh-CN"/>
          </a:p>
        </p:txBody>
      </p:sp>
      <p:graphicFrame>
        <p:nvGraphicFramePr>
          <p:cNvPr id="22533" name="Object 2"/>
          <p:cNvGraphicFramePr>
            <a:graphicFrameLocks noChangeAspect="1"/>
          </p:cNvGraphicFramePr>
          <p:nvPr>
            <p:extLst>
              <p:ext uri="{D42A27DB-BD31-4B8C-83A1-F6EECF244321}">
                <p14:modId xmlns:p14="http://schemas.microsoft.com/office/powerpoint/2010/main" val="3416013895"/>
              </p:ext>
            </p:extLst>
          </p:nvPr>
        </p:nvGraphicFramePr>
        <p:xfrm>
          <a:off x="2267744" y="2276872"/>
          <a:ext cx="4965700" cy="4070350"/>
        </p:xfrm>
        <a:graphic>
          <a:graphicData uri="http://schemas.openxmlformats.org/presentationml/2006/ole">
            <mc:AlternateContent xmlns:mc="http://schemas.openxmlformats.org/markup-compatibility/2006">
              <mc:Choice xmlns:v="urn:schemas-microsoft-com:vml" Requires="v">
                <p:oleObj spid="_x0000_s22624" name="Visio" r:id="rId4" imgW="3228845" imgH="2644626" progId="Visio.Drawing.11">
                  <p:embed/>
                </p:oleObj>
              </mc:Choice>
              <mc:Fallback>
                <p:oleObj name="Visio" r:id="rId4" imgW="3228845" imgH="2644626" progId="Visio.Drawing.11">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67744" y="2276872"/>
                        <a:ext cx="4965700" cy="4070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p:txBody>
          <a:bodyPr/>
          <a:lstStyle/>
          <a:p>
            <a:r>
              <a:rPr lang="zh-CN" altLang="en-US"/>
              <a:t>服务建模的过程</a:t>
            </a:r>
            <a:endParaRPr lang="zh-CN" altLang="en-US" dirty="0"/>
          </a:p>
        </p:txBody>
      </p:sp>
      <p:sp>
        <p:nvSpPr>
          <p:cNvPr id="23555" name="内容占位符 2"/>
          <p:cNvSpPr>
            <a:spLocks noGrp="1"/>
          </p:cNvSpPr>
          <p:nvPr>
            <p:ph sz="half" idx="1"/>
          </p:nvPr>
        </p:nvSpPr>
        <p:spPr/>
        <p:txBody>
          <a:bodyPr/>
          <a:lstStyle/>
          <a:p>
            <a:r>
              <a:rPr lang="zh-CN" altLang="en-US" dirty="0"/>
              <a:t>分解业务流程</a:t>
            </a:r>
            <a:endParaRPr lang="en-US" altLang="zh-CN" dirty="0"/>
          </a:p>
          <a:p>
            <a:r>
              <a:rPr lang="zh-CN" altLang="en-US" dirty="0"/>
              <a:t>识别业务服务候选逻辑</a:t>
            </a:r>
            <a:endParaRPr lang="en-US" altLang="zh-CN" dirty="0"/>
          </a:p>
          <a:p>
            <a:r>
              <a:rPr lang="zh-CN" altLang="en-US" dirty="0"/>
              <a:t>抽象编排逻辑</a:t>
            </a:r>
            <a:endParaRPr lang="en-US" altLang="zh-CN" dirty="0"/>
          </a:p>
          <a:p>
            <a:r>
              <a:rPr lang="zh-CN" altLang="en-US" dirty="0"/>
              <a:t>创建业务服务候选</a:t>
            </a:r>
            <a:endParaRPr lang="en-US" altLang="zh-CN" dirty="0"/>
          </a:p>
          <a:p>
            <a:r>
              <a:rPr lang="zh-CN" altLang="en-US" dirty="0"/>
              <a:t>提炼和应用面向服务原则</a:t>
            </a:r>
            <a:endParaRPr lang="en-US" altLang="zh-CN" dirty="0"/>
          </a:p>
          <a:p>
            <a:r>
              <a:rPr lang="zh-CN" altLang="en-US" dirty="0"/>
              <a:t>识别服务候选组合</a:t>
            </a:r>
            <a:endParaRPr lang="en-US" altLang="zh-CN" dirty="0"/>
          </a:p>
        </p:txBody>
      </p:sp>
      <p:sp>
        <p:nvSpPr>
          <p:cNvPr id="23556" name="内容占位符 4"/>
          <p:cNvSpPr>
            <a:spLocks noGrp="1"/>
          </p:cNvSpPr>
          <p:nvPr>
            <p:ph sz="half" idx="2"/>
          </p:nvPr>
        </p:nvSpPr>
        <p:spPr>
          <a:xfrm>
            <a:off x="4495800" y="1600200"/>
            <a:ext cx="4191000" cy="4530725"/>
          </a:xfrm>
        </p:spPr>
        <p:txBody>
          <a:bodyPr/>
          <a:lstStyle/>
          <a:p>
            <a:r>
              <a:rPr lang="zh-CN" altLang="en-US" dirty="0"/>
              <a:t>修订业务服务候选</a:t>
            </a:r>
            <a:endParaRPr lang="en-US" altLang="zh-CN" dirty="0"/>
          </a:p>
          <a:p>
            <a:r>
              <a:rPr lang="zh-CN" altLang="en-US" dirty="0"/>
              <a:t>分析应用处理需求</a:t>
            </a:r>
            <a:endParaRPr lang="en-US" altLang="zh-CN" dirty="0"/>
          </a:p>
          <a:p>
            <a:r>
              <a:rPr lang="zh-CN" altLang="en-US" dirty="0"/>
              <a:t>识别应用服务操作候选</a:t>
            </a:r>
            <a:endParaRPr lang="en-US" altLang="zh-CN" dirty="0"/>
          </a:p>
          <a:p>
            <a:r>
              <a:rPr lang="zh-CN" altLang="en-US" dirty="0"/>
              <a:t>创建应用服务候选</a:t>
            </a:r>
            <a:endParaRPr lang="en-US" altLang="zh-CN" dirty="0"/>
          </a:p>
          <a:p>
            <a:r>
              <a:rPr lang="zh-CN" altLang="en-US" dirty="0"/>
              <a:t>修订服务候选组合</a:t>
            </a:r>
            <a:endParaRPr lang="en-US" altLang="zh-CN" dirty="0"/>
          </a:p>
          <a:p>
            <a:r>
              <a:rPr lang="zh-CN" altLang="en-US" dirty="0"/>
              <a:t>修订应用服务候选</a:t>
            </a:r>
            <a:endParaRPr lang="en-US" altLang="zh-CN" dirty="0"/>
          </a:p>
          <a:p>
            <a:pPr>
              <a:buFont typeface="Wingdings" panose="05000000000000000000" pitchFamily="2" charset="2"/>
              <a:buChar char="p"/>
            </a:pPr>
            <a:r>
              <a:rPr lang="zh-CN" altLang="en-US" dirty="0"/>
              <a:t> 保存服务候选库存</a:t>
            </a:r>
          </a:p>
        </p:txBody>
      </p:sp>
      <p:sp>
        <p:nvSpPr>
          <p:cNvPr id="23557" name="灯片编号占位符 3"/>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8A7C46C2-529B-498A-AC85-E3FB7B4AA778}" type="slidenum">
              <a:rPr lang="en-US" altLang="zh-CN" smtClean="0"/>
              <a:pPr/>
              <a:t>21</a:t>
            </a:fld>
            <a:endParaRPr lang="en-US" altLang="zh-CN"/>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5"/>
          <p:cNvSpPr>
            <a:spLocks noGrp="1"/>
          </p:cNvSpPr>
          <p:nvPr>
            <p:ph type="title"/>
          </p:nvPr>
        </p:nvSpPr>
        <p:spPr/>
        <p:txBody>
          <a:bodyPr/>
          <a:lstStyle/>
          <a:p>
            <a:r>
              <a:rPr lang="en-US" altLang="zh-CN" dirty="0"/>
              <a:t>1. </a:t>
            </a:r>
            <a:r>
              <a:rPr lang="zh-CN" altLang="en-US" dirty="0"/>
              <a:t>分解业务流程 </a:t>
            </a:r>
            <a:r>
              <a:rPr lang="en-US" altLang="zh-CN" dirty="0"/>
              <a:t>- </a:t>
            </a:r>
            <a:r>
              <a:rPr lang="zh-CN" altLang="en-US" dirty="0"/>
              <a:t>发票提交 </a:t>
            </a:r>
            <a:r>
              <a:rPr lang="en-US" altLang="zh-CN" dirty="0"/>
              <a:t>(1/2)</a:t>
            </a:r>
            <a:r>
              <a:rPr lang="zh-CN" altLang="en-US" dirty="0"/>
              <a:t> </a:t>
            </a:r>
          </a:p>
        </p:txBody>
      </p:sp>
      <p:sp>
        <p:nvSpPr>
          <p:cNvPr id="24579" name="内容占位符 7"/>
          <p:cNvSpPr>
            <a:spLocks noGrp="1"/>
          </p:cNvSpPr>
          <p:nvPr>
            <p:ph sz="half" idx="1"/>
          </p:nvPr>
        </p:nvSpPr>
        <p:spPr/>
        <p:txBody>
          <a:bodyPr>
            <a:normAutofit fontScale="70000" lnSpcReduction="20000"/>
          </a:bodyPr>
          <a:lstStyle/>
          <a:p>
            <a:pPr>
              <a:lnSpc>
                <a:spcPct val="120000"/>
              </a:lnSpc>
            </a:pPr>
            <a:r>
              <a:rPr lang="zh-CN" altLang="en-US" dirty="0"/>
              <a:t>记账员使用遗留账务系统创建和发出一张电子发票</a:t>
            </a:r>
          </a:p>
          <a:p>
            <a:pPr>
              <a:lnSpc>
                <a:spcPct val="120000"/>
              </a:lnSpc>
            </a:pPr>
            <a:r>
              <a:rPr lang="zh-CN" altLang="en-US" dirty="0"/>
              <a:t>存储事件触发一个定制脚本把该发票的电子副本导出到一个网络目录中</a:t>
            </a:r>
          </a:p>
          <a:p>
            <a:pPr>
              <a:lnSpc>
                <a:spcPct val="120000"/>
              </a:lnSpc>
            </a:pPr>
            <a:r>
              <a:rPr lang="zh-CN" altLang="en-US" dirty="0"/>
              <a:t>一个定制开发的组件每隔十分钟轮询一次该目录，获取该文件并且将其转换成</a:t>
            </a:r>
            <a:r>
              <a:rPr lang="en-US" altLang="zh-CN" dirty="0"/>
              <a:t>XML </a:t>
            </a:r>
            <a:r>
              <a:rPr lang="zh-CN" altLang="en-US" dirty="0"/>
              <a:t>文档</a:t>
            </a:r>
          </a:p>
          <a:p>
            <a:pPr>
              <a:lnSpc>
                <a:spcPct val="120000"/>
              </a:lnSpc>
            </a:pPr>
            <a:r>
              <a:rPr lang="zh-CN" altLang="en-US" dirty="0"/>
              <a:t>然后对该发票的</a:t>
            </a:r>
            <a:r>
              <a:rPr lang="en-US" altLang="zh-CN" dirty="0"/>
              <a:t>XML </a:t>
            </a:r>
            <a:r>
              <a:rPr lang="zh-CN" altLang="en-US" dirty="0"/>
              <a:t>文件进行验证。如果验证是有效的，则会被转发到发票提交服务。如果验证失败，则该文件就被拒绝，该流程终止</a:t>
            </a:r>
          </a:p>
        </p:txBody>
      </p:sp>
      <p:sp>
        <p:nvSpPr>
          <p:cNvPr id="24580" name="灯片编号占位符 4"/>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D94984F4-8E5F-43AD-B3D4-0A73EED29AEA}" type="slidenum">
              <a:rPr lang="en-US" altLang="zh-CN" smtClean="0"/>
              <a:pPr/>
              <a:t>22</a:t>
            </a:fld>
            <a:endParaRPr lang="en-US" altLang="zh-CN"/>
          </a:p>
        </p:txBody>
      </p:sp>
      <p:sp>
        <p:nvSpPr>
          <p:cNvPr id="4" name="流程图: 可选过程 3"/>
          <p:cNvSpPr/>
          <p:nvPr/>
        </p:nvSpPr>
        <p:spPr>
          <a:xfrm>
            <a:off x="6300192" y="1609292"/>
            <a:ext cx="720080"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开始</a:t>
            </a:r>
          </a:p>
        </p:txBody>
      </p:sp>
      <p:sp>
        <p:nvSpPr>
          <p:cNvPr id="5" name="流程图: 数据 4"/>
          <p:cNvSpPr/>
          <p:nvPr/>
        </p:nvSpPr>
        <p:spPr>
          <a:xfrm>
            <a:off x="5724128" y="2283351"/>
            <a:ext cx="1872208" cy="72008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创建并发布发票</a:t>
            </a:r>
          </a:p>
        </p:txBody>
      </p:sp>
      <p:sp>
        <p:nvSpPr>
          <p:cNvPr id="6" name="流程图: 过程 5"/>
          <p:cNvSpPr/>
          <p:nvPr/>
        </p:nvSpPr>
        <p:spPr>
          <a:xfrm>
            <a:off x="6023048" y="3244130"/>
            <a:ext cx="1224136" cy="576064"/>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导出发票</a:t>
            </a:r>
          </a:p>
        </p:txBody>
      </p:sp>
      <p:sp>
        <p:nvSpPr>
          <p:cNvPr id="11" name="流程图: 过程 10"/>
          <p:cNvSpPr/>
          <p:nvPr/>
        </p:nvSpPr>
        <p:spPr>
          <a:xfrm>
            <a:off x="6023048" y="4062726"/>
            <a:ext cx="1224136" cy="576064"/>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转换发票</a:t>
            </a:r>
          </a:p>
        </p:txBody>
      </p:sp>
      <p:sp>
        <p:nvSpPr>
          <p:cNvPr id="12" name="流程图: 过程 11"/>
          <p:cNvSpPr/>
          <p:nvPr/>
        </p:nvSpPr>
        <p:spPr>
          <a:xfrm>
            <a:off x="6023048" y="4881322"/>
            <a:ext cx="1224136" cy="576064"/>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发票验证</a:t>
            </a:r>
          </a:p>
        </p:txBody>
      </p:sp>
      <p:sp>
        <p:nvSpPr>
          <p:cNvPr id="8" name="流程图: 联系 7"/>
          <p:cNvSpPr/>
          <p:nvPr/>
        </p:nvSpPr>
        <p:spPr>
          <a:xfrm>
            <a:off x="6464351" y="5699918"/>
            <a:ext cx="360040" cy="36004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A</a:t>
            </a:r>
            <a:endParaRPr lang="zh-CN" altLang="en-US" dirty="0"/>
          </a:p>
        </p:txBody>
      </p:sp>
      <p:cxnSp>
        <p:nvCxnSpPr>
          <p:cNvPr id="10" name="直接箭头连接符 9"/>
          <p:cNvCxnSpPr>
            <a:stCxn id="4" idx="2"/>
            <a:endCxn id="5" idx="1"/>
          </p:cNvCxnSpPr>
          <p:nvPr/>
        </p:nvCxnSpPr>
        <p:spPr>
          <a:xfrm>
            <a:off x="6660232" y="2041340"/>
            <a:ext cx="0" cy="24201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9" name="直接箭头连接符 18"/>
          <p:cNvCxnSpPr/>
          <p:nvPr/>
        </p:nvCxnSpPr>
        <p:spPr>
          <a:xfrm>
            <a:off x="6644371" y="3003431"/>
            <a:ext cx="0" cy="24201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0" name="直接箭头连接符 19"/>
          <p:cNvCxnSpPr/>
          <p:nvPr/>
        </p:nvCxnSpPr>
        <p:spPr>
          <a:xfrm>
            <a:off x="6630579" y="3820194"/>
            <a:ext cx="0" cy="24201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1" name="直接箭头连接符 20"/>
          <p:cNvCxnSpPr/>
          <p:nvPr/>
        </p:nvCxnSpPr>
        <p:spPr>
          <a:xfrm>
            <a:off x="6644371" y="4639311"/>
            <a:ext cx="0" cy="24201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2" name="直接箭头连接符 21"/>
          <p:cNvCxnSpPr/>
          <p:nvPr/>
        </p:nvCxnSpPr>
        <p:spPr>
          <a:xfrm>
            <a:off x="6655404" y="5457907"/>
            <a:ext cx="0" cy="24201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custDataLst>
      <p:tags r:id="rId1"/>
    </p:custData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5"/>
          <p:cNvSpPr>
            <a:spLocks noGrp="1"/>
          </p:cNvSpPr>
          <p:nvPr>
            <p:ph type="title"/>
          </p:nvPr>
        </p:nvSpPr>
        <p:spPr/>
        <p:txBody>
          <a:bodyPr/>
          <a:lstStyle/>
          <a:p>
            <a:r>
              <a:rPr lang="en-US" altLang="zh-CN" dirty="0"/>
              <a:t>1. </a:t>
            </a:r>
            <a:r>
              <a:rPr lang="zh-CN" altLang="en-US" dirty="0"/>
              <a:t>分解业务流程 </a:t>
            </a:r>
            <a:r>
              <a:rPr lang="en-US" altLang="zh-CN" dirty="0"/>
              <a:t>- </a:t>
            </a:r>
            <a:r>
              <a:rPr lang="zh-CN" altLang="en-US" dirty="0"/>
              <a:t>发票提交 </a:t>
            </a:r>
            <a:r>
              <a:rPr lang="en-US" altLang="zh-CN" dirty="0"/>
              <a:t>(2/2)</a:t>
            </a:r>
            <a:r>
              <a:rPr lang="zh-CN" altLang="en-US" dirty="0"/>
              <a:t> </a:t>
            </a:r>
          </a:p>
        </p:txBody>
      </p:sp>
      <p:sp>
        <p:nvSpPr>
          <p:cNvPr id="24579" name="内容占位符 7"/>
          <p:cNvSpPr>
            <a:spLocks noGrp="1"/>
          </p:cNvSpPr>
          <p:nvPr>
            <p:ph sz="half" idx="1"/>
          </p:nvPr>
        </p:nvSpPr>
        <p:spPr>
          <a:xfrm>
            <a:off x="457200" y="1600200"/>
            <a:ext cx="3466728" cy="4530725"/>
          </a:xfrm>
        </p:spPr>
        <p:txBody>
          <a:bodyPr>
            <a:normAutofit fontScale="70000" lnSpcReduction="20000"/>
          </a:bodyPr>
          <a:lstStyle/>
          <a:p>
            <a:pPr>
              <a:lnSpc>
                <a:spcPct val="120000"/>
              </a:lnSpc>
            </a:pPr>
            <a:r>
              <a:rPr lang="zh-CN" altLang="en-US" dirty="0"/>
              <a:t>定时进行元数据检查，向</a:t>
            </a:r>
            <a:r>
              <a:rPr lang="en-US" altLang="zh-CN" dirty="0"/>
              <a:t>TLS </a:t>
            </a:r>
            <a:r>
              <a:rPr lang="zh-CN" altLang="en-US" dirty="0"/>
              <a:t>公司</a:t>
            </a:r>
            <a:r>
              <a:rPr lang="en-US" altLang="zh-CN" dirty="0"/>
              <a:t>B2B</a:t>
            </a:r>
            <a:r>
              <a:rPr lang="zh-CN" altLang="en-US" dirty="0"/>
              <a:t>解决方案发出</a:t>
            </a:r>
            <a:r>
              <a:rPr lang="en-US" altLang="zh-CN" dirty="0" err="1"/>
              <a:t>GetMetadata</a:t>
            </a:r>
            <a:r>
              <a:rPr lang="en-US" altLang="zh-CN" dirty="0"/>
              <a:t> </a:t>
            </a:r>
            <a:r>
              <a:rPr lang="zh-CN" altLang="en-US" dirty="0"/>
              <a:t>的请求。</a:t>
            </a:r>
          </a:p>
          <a:p>
            <a:pPr>
              <a:lnSpc>
                <a:spcPct val="120000"/>
              </a:lnSpc>
            </a:pPr>
            <a:r>
              <a:rPr lang="zh-CN" altLang="en-US" dirty="0"/>
              <a:t>如果获取元数据的请求被发出，并且确定它相应的</a:t>
            </a:r>
            <a:r>
              <a:rPr lang="en-US" altLang="zh-CN" dirty="0"/>
              <a:t>TLS </a:t>
            </a:r>
            <a:r>
              <a:rPr lang="zh-CN" altLang="en-US" dirty="0"/>
              <a:t>的服务描述没有发生变化，那么发票提交服务就使用</a:t>
            </a:r>
            <a:r>
              <a:rPr lang="en-US" altLang="zh-CN" dirty="0"/>
              <a:t>Exactly once</a:t>
            </a:r>
            <a:r>
              <a:rPr lang="zh-CN" altLang="en-US" dirty="0"/>
              <a:t>交付保证机制把发票文件传送到</a:t>
            </a:r>
            <a:r>
              <a:rPr lang="en-US" altLang="zh-CN" dirty="0"/>
              <a:t>TLS </a:t>
            </a:r>
            <a:r>
              <a:rPr lang="zh-CN" altLang="en-US" dirty="0"/>
              <a:t>公司</a:t>
            </a:r>
            <a:r>
              <a:rPr lang="en-US" altLang="zh-CN" dirty="0"/>
              <a:t>B2B </a:t>
            </a:r>
            <a:r>
              <a:rPr lang="zh-CN" altLang="en-US" dirty="0"/>
              <a:t>解决方案</a:t>
            </a:r>
            <a:endParaRPr lang="en-US" altLang="zh-CN" dirty="0"/>
          </a:p>
          <a:p>
            <a:pPr>
              <a:lnSpc>
                <a:spcPct val="120000"/>
              </a:lnSpc>
            </a:pPr>
            <a:r>
              <a:rPr lang="zh-CN" altLang="en-US" dirty="0"/>
              <a:t>如果在取元数据请求识别出</a:t>
            </a:r>
            <a:r>
              <a:rPr lang="en-US" altLang="zh-CN" dirty="0"/>
              <a:t>TLS </a:t>
            </a:r>
            <a:r>
              <a:rPr lang="zh-CN" altLang="en-US" dirty="0"/>
              <a:t>服务描述的发生了改变，那么就不会提交发票，流程终止。</a:t>
            </a:r>
          </a:p>
        </p:txBody>
      </p:sp>
      <p:sp>
        <p:nvSpPr>
          <p:cNvPr id="24580" name="灯片编号占位符 4"/>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D94984F4-8E5F-43AD-B3D4-0A73EED29AEA}" type="slidenum">
              <a:rPr lang="en-US" altLang="zh-CN" smtClean="0"/>
              <a:pPr/>
              <a:t>23</a:t>
            </a:fld>
            <a:endParaRPr lang="en-US" altLang="zh-CN"/>
          </a:p>
        </p:txBody>
      </p:sp>
      <p:sp>
        <p:nvSpPr>
          <p:cNvPr id="16" name="流程图: 决策 15"/>
          <p:cNvSpPr/>
          <p:nvPr/>
        </p:nvSpPr>
        <p:spPr>
          <a:xfrm>
            <a:off x="4102924" y="1602920"/>
            <a:ext cx="1944216" cy="792088"/>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发票</a:t>
            </a:r>
            <a:endParaRPr lang="en-US" altLang="zh-CN" dirty="0"/>
          </a:p>
          <a:p>
            <a:pPr algn="ctr"/>
            <a:r>
              <a:rPr lang="zh-CN" altLang="en-US" dirty="0"/>
              <a:t>有效？</a:t>
            </a:r>
          </a:p>
        </p:txBody>
      </p:sp>
      <p:sp>
        <p:nvSpPr>
          <p:cNvPr id="17" name="流程图: 联系 16"/>
          <p:cNvSpPr/>
          <p:nvPr/>
        </p:nvSpPr>
        <p:spPr>
          <a:xfrm>
            <a:off x="4895012" y="1011883"/>
            <a:ext cx="360040" cy="36004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A</a:t>
            </a:r>
            <a:endParaRPr lang="zh-CN" altLang="en-US" dirty="0"/>
          </a:p>
        </p:txBody>
      </p:sp>
      <p:sp>
        <p:nvSpPr>
          <p:cNvPr id="18" name="流程图: 决策 17"/>
          <p:cNvSpPr/>
          <p:nvPr/>
        </p:nvSpPr>
        <p:spPr>
          <a:xfrm>
            <a:off x="3922904" y="2627874"/>
            <a:ext cx="2304256" cy="792088"/>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进行元数据检查？</a:t>
            </a:r>
          </a:p>
        </p:txBody>
      </p:sp>
      <p:sp>
        <p:nvSpPr>
          <p:cNvPr id="23" name="流程图: 决策 22"/>
          <p:cNvSpPr/>
          <p:nvPr/>
        </p:nvSpPr>
        <p:spPr>
          <a:xfrm>
            <a:off x="6601417" y="3548999"/>
            <a:ext cx="1944216" cy="792088"/>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元数据有效？</a:t>
            </a:r>
          </a:p>
        </p:txBody>
      </p:sp>
      <p:sp>
        <p:nvSpPr>
          <p:cNvPr id="24" name="流程图: 过程 23"/>
          <p:cNvSpPr/>
          <p:nvPr/>
        </p:nvSpPr>
        <p:spPr>
          <a:xfrm>
            <a:off x="6876256" y="2739113"/>
            <a:ext cx="1394538" cy="576064"/>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检查元数据</a:t>
            </a:r>
          </a:p>
        </p:txBody>
      </p:sp>
      <p:sp>
        <p:nvSpPr>
          <p:cNvPr id="25" name="流程图: 过程 24"/>
          <p:cNvSpPr/>
          <p:nvPr/>
        </p:nvSpPr>
        <p:spPr>
          <a:xfrm>
            <a:off x="4462964" y="4845597"/>
            <a:ext cx="1224136" cy="576064"/>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提交发票</a:t>
            </a:r>
          </a:p>
        </p:txBody>
      </p:sp>
      <p:sp>
        <p:nvSpPr>
          <p:cNvPr id="26" name="流程图: 可选过程 25"/>
          <p:cNvSpPr/>
          <p:nvPr/>
        </p:nvSpPr>
        <p:spPr>
          <a:xfrm>
            <a:off x="4714992" y="6327982"/>
            <a:ext cx="720080"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结束</a:t>
            </a:r>
            <a:endParaRPr lang="en-US" altLang="zh-CN" dirty="0"/>
          </a:p>
        </p:txBody>
      </p:sp>
      <p:cxnSp>
        <p:nvCxnSpPr>
          <p:cNvPr id="27" name="直接箭头连接符 26"/>
          <p:cNvCxnSpPr/>
          <p:nvPr/>
        </p:nvCxnSpPr>
        <p:spPr>
          <a:xfrm>
            <a:off x="5075032" y="1371923"/>
            <a:ext cx="0" cy="24201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8" name="直接箭头连接符 27"/>
          <p:cNvCxnSpPr/>
          <p:nvPr/>
        </p:nvCxnSpPr>
        <p:spPr>
          <a:xfrm>
            <a:off x="5075032" y="2395008"/>
            <a:ext cx="0" cy="24201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9" name="直接箭头连接符 28" title="是"/>
          <p:cNvCxnSpPr>
            <a:endCxn id="24" idx="1"/>
          </p:cNvCxnSpPr>
          <p:nvPr/>
        </p:nvCxnSpPr>
        <p:spPr>
          <a:xfrm>
            <a:off x="6221887" y="3024050"/>
            <a:ext cx="654369" cy="309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0" name="文本框 29"/>
          <p:cNvSpPr txBox="1"/>
          <p:nvPr/>
        </p:nvSpPr>
        <p:spPr>
          <a:xfrm>
            <a:off x="6300192" y="2671245"/>
            <a:ext cx="576064" cy="369332"/>
          </a:xfrm>
          <a:prstGeom prst="rect">
            <a:avLst/>
          </a:prstGeom>
          <a:noFill/>
        </p:spPr>
        <p:txBody>
          <a:bodyPr wrap="square" rtlCol="0">
            <a:spAutoFit/>
          </a:bodyPr>
          <a:lstStyle/>
          <a:p>
            <a:r>
              <a:rPr lang="zh-CN" altLang="en-US" dirty="0"/>
              <a:t>是</a:t>
            </a:r>
          </a:p>
        </p:txBody>
      </p:sp>
      <p:cxnSp>
        <p:nvCxnSpPr>
          <p:cNvPr id="31" name="直接箭头连接符 30"/>
          <p:cNvCxnSpPr/>
          <p:nvPr/>
        </p:nvCxnSpPr>
        <p:spPr>
          <a:xfrm>
            <a:off x="7573525" y="3302183"/>
            <a:ext cx="0" cy="24201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2" name="直接箭头连接符 31" title="是"/>
          <p:cNvCxnSpPr>
            <a:stCxn id="18" idx="2"/>
            <a:endCxn id="25" idx="0"/>
          </p:cNvCxnSpPr>
          <p:nvPr/>
        </p:nvCxnSpPr>
        <p:spPr>
          <a:xfrm>
            <a:off x="5075032" y="3419962"/>
            <a:ext cx="0" cy="142563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3" name="文本框 32"/>
          <p:cNvSpPr txBox="1"/>
          <p:nvPr/>
        </p:nvSpPr>
        <p:spPr>
          <a:xfrm>
            <a:off x="5075032" y="3758985"/>
            <a:ext cx="360040" cy="369332"/>
          </a:xfrm>
          <a:prstGeom prst="rect">
            <a:avLst/>
          </a:prstGeom>
          <a:noFill/>
        </p:spPr>
        <p:txBody>
          <a:bodyPr wrap="square" rtlCol="0">
            <a:spAutoFit/>
          </a:bodyPr>
          <a:lstStyle/>
          <a:p>
            <a:r>
              <a:rPr lang="zh-CN" altLang="en-US" dirty="0"/>
              <a:t>否</a:t>
            </a:r>
          </a:p>
        </p:txBody>
      </p:sp>
      <p:cxnSp>
        <p:nvCxnSpPr>
          <p:cNvPr id="34" name="肘形连接符 33"/>
          <p:cNvCxnSpPr>
            <a:stCxn id="23" idx="2"/>
          </p:cNvCxnSpPr>
          <p:nvPr/>
        </p:nvCxnSpPr>
        <p:spPr>
          <a:xfrm rot="5400000">
            <a:off x="6175510" y="3240610"/>
            <a:ext cx="297539" cy="2498493"/>
          </a:xfrm>
          <a:prstGeom prst="bentConnector2">
            <a:avLst/>
          </a:prstGeom>
          <a:ln>
            <a:tailEnd type="triangle"/>
          </a:ln>
        </p:spPr>
        <p:style>
          <a:lnRef idx="3">
            <a:schemeClr val="accent1"/>
          </a:lnRef>
          <a:fillRef idx="0">
            <a:schemeClr val="accent1"/>
          </a:fillRef>
          <a:effectRef idx="2">
            <a:schemeClr val="accent1"/>
          </a:effectRef>
          <a:fontRef idx="minor">
            <a:schemeClr val="tx1"/>
          </a:fontRef>
        </p:style>
      </p:cxnSp>
      <p:sp>
        <p:nvSpPr>
          <p:cNvPr id="35" name="文本框 34"/>
          <p:cNvSpPr txBox="1"/>
          <p:nvPr/>
        </p:nvSpPr>
        <p:spPr>
          <a:xfrm>
            <a:off x="7573525" y="4360866"/>
            <a:ext cx="576064" cy="369332"/>
          </a:xfrm>
          <a:prstGeom prst="rect">
            <a:avLst/>
          </a:prstGeom>
          <a:noFill/>
        </p:spPr>
        <p:txBody>
          <a:bodyPr wrap="square" rtlCol="0">
            <a:spAutoFit/>
          </a:bodyPr>
          <a:lstStyle/>
          <a:p>
            <a:r>
              <a:rPr lang="zh-CN" altLang="en-US" dirty="0"/>
              <a:t>是</a:t>
            </a:r>
          </a:p>
        </p:txBody>
      </p:sp>
      <p:cxnSp>
        <p:nvCxnSpPr>
          <p:cNvPr id="36" name="肘形连接符 35"/>
          <p:cNvCxnSpPr>
            <a:stCxn id="23" idx="3"/>
          </p:cNvCxnSpPr>
          <p:nvPr/>
        </p:nvCxnSpPr>
        <p:spPr>
          <a:xfrm flipH="1">
            <a:off x="5075032" y="3945043"/>
            <a:ext cx="3470601" cy="1845711"/>
          </a:xfrm>
          <a:prstGeom prst="bentConnector3">
            <a:avLst>
              <a:gd name="adj1" fmla="val -6587"/>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7" name="直接箭头连接符 36" title="是"/>
          <p:cNvCxnSpPr>
            <a:stCxn id="25" idx="2"/>
          </p:cNvCxnSpPr>
          <p:nvPr/>
        </p:nvCxnSpPr>
        <p:spPr>
          <a:xfrm flipH="1">
            <a:off x="5075031" y="5421661"/>
            <a:ext cx="1" cy="91789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8" name="文本框 37"/>
          <p:cNvSpPr txBox="1"/>
          <p:nvPr/>
        </p:nvSpPr>
        <p:spPr>
          <a:xfrm>
            <a:off x="8348639" y="3497837"/>
            <a:ext cx="360040" cy="369332"/>
          </a:xfrm>
          <a:prstGeom prst="rect">
            <a:avLst/>
          </a:prstGeom>
          <a:noFill/>
        </p:spPr>
        <p:txBody>
          <a:bodyPr wrap="square" rtlCol="0">
            <a:spAutoFit/>
          </a:bodyPr>
          <a:lstStyle/>
          <a:p>
            <a:r>
              <a:rPr lang="zh-CN" altLang="en-US" dirty="0"/>
              <a:t>否</a:t>
            </a:r>
          </a:p>
        </p:txBody>
      </p:sp>
      <p:sp>
        <p:nvSpPr>
          <p:cNvPr id="39" name="文本框 38"/>
          <p:cNvSpPr txBox="1"/>
          <p:nvPr/>
        </p:nvSpPr>
        <p:spPr>
          <a:xfrm>
            <a:off x="5103947" y="2301572"/>
            <a:ext cx="576064" cy="369332"/>
          </a:xfrm>
          <a:prstGeom prst="rect">
            <a:avLst/>
          </a:prstGeom>
          <a:noFill/>
        </p:spPr>
        <p:txBody>
          <a:bodyPr wrap="square" rtlCol="0">
            <a:spAutoFit/>
          </a:bodyPr>
          <a:lstStyle/>
          <a:p>
            <a:r>
              <a:rPr lang="zh-CN" altLang="en-US" dirty="0"/>
              <a:t>是</a:t>
            </a:r>
          </a:p>
        </p:txBody>
      </p:sp>
      <p:cxnSp>
        <p:nvCxnSpPr>
          <p:cNvPr id="40" name="肘形连接符 39"/>
          <p:cNvCxnSpPr>
            <a:stCxn id="16" idx="3"/>
          </p:cNvCxnSpPr>
          <p:nvPr/>
        </p:nvCxnSpPr>
        <p:spPr>
          <a:xfrm flipH="1">
            <a:off x="5103947" y="1998964"/>
            <a:ext cx="943193" cy="4117451"/>
          </a:xfrm>
          <a:prstGeom prst="bentConnector4">
            <a:avLst>
              <a:gd name="adj1" fmla="val -322993"/>
              <a:gd name="adj2" fmla="val 99905"/>
            </a:avLst>
          </a:prstGeom>
          <a:ln>
            <a:tailEnd type="triangle"/>
          </a:ln>
        </p:spPr>
        <p:style>
          <a:lnRef idx="3">
            <a:schemeClr val="accent1"/>
          </a:lnRef>
          <a:fillRef idx="0">
            <a:schemeClr val="accent1"/>
          </a:fillRef>
          <a:effectRef idx="2">
            <a:schemeClr val="accent1"/>
          </a:effectRef>
          <a:fontRef idx="minor">
            <a:schemeClr val="tx1"/>
          </a:fontRef>
        </p:style>
      </p:cxnSp>
      <p:sp>
        <p:nvSpPr>
          <p:cNvPr id="41" name="文本框 40"/>
          <p:cNvSpPr txBox="1"/>
          <p:nvPr/>
        </p:nvSpPr>
        <p:spPr>
          <a:xfrm>
            <a:off x="5940152" y="1614927"/>
            <a:ext cx="360040" cy="369332"/>
          </a:xfrm>
          <a:prstGeom prst="rect">
            <a:avLst/>
          </a:prstGeom>
          <a:noFill/>
        </p:spPr>
        <p:txBody>
          <a:bodyPr wrap="square" rtlCol="0">
            <a:spAutoFit/>
          </a:bodyPr>
          <a:lstStyle/>
          <a:p>
            <a:r>
              <a:rPr lang="zh-CN" altLang="en-US" dirty="0"/>
              <a:t>否</a:t>
            </a:r>
          </a:p>
        </p:txBody>
      </p:sp>
    </p:spTree>
    <p:custDataLst>
      <p:tags r:id="rId1"/>
    </p:custDataLst>
    <p:extLst>
      <p:ext uri="{BB962C8B-B14F-4D97-AF65-F5344CB8AC3E}">
        <p14:creationId xmlns:p14="http://schemas.microsoft.com/office/powerpoint/2010/main" val="1792787375"/>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 </a:t>
            </a:r>
            <a:r>
              <a:rPr lang="zh-CN" altLang="en-US" dirty="0"/>
              <a:t>分解业务流程 </a:t>
            </a:r>
            <a:r>
              <a:rPr lang="en-US" altLang="zh-CN" dirty="0"/>
              <a:t>- </a:t>
            </a:r>
            <a:r>
              <a:rPr lang="zh-CN" altLang="en-US" dirty="0"/>
              <a:t>订单履行</a:t>
            </a:r>
          </a:p>
        </p:txBody>
      </p:sp>
      <p:sp>
        <p:nvSpPr>
          <p:cNvPr id="5" name="灯片编号占位符 4"/>
          <p:cNvSpPr>
            <a:spLocks noGrp="1"/>
          </p:cNvSpPr>
          <p:nvPr>
            <p:ph type="sldNum" sz="quarter" idx="10"/>
          </p:nvPr>
        </p:nvSpPr>
        <p:spPr/>
        <p:txBody>
          <a:bodyPr/>
          <a:lstStyle/>
          <a:p>
            <a:pPr>
              <a:defRPr/>
            </a:pPr>
            <a:fld id="{5EB1CA60-D544-4E9C-A464-56B22D3ABA85}" type="slidenum">
              <a:rPr lang="en-US" altLang="zh-CN" smtClean="0"/>
              <a:pPr>
                <a:defRPr/>
              </a:pPr>
              <a:t>24</a:t>
            </a:fld>
            <a:endParaRPr lang="en-US" altLang="zh-CN" dirty="0"/>
          </a:p>
        </p:txBody>
      </p:sp>
      <p:sp>
        <p:nvSpPr>
          <p:cNvPr id="7" name="内容占位符 32"/>
          <p:cNvSpPr txBox="1">
            <a:spLocks/>
          </p:cNvSpPr>
          <p:nvPr/>
        </p:nvSpPr>
        <p:spPr bwMode="auto">
          <a:xfrm>
            <a:off x="4837346" y="1124744"/>
            <a:ext cx="4127141" cy="5336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normAutofit lnSpcReduction="10000"/>
          </a:bodyPr>
          <a:lstStyle>
            <a:lvl1pPr marL="363538" indent="-363538" algn="l" rtl="0" fontAlgn="base">
              <a:spcBef>
                <a:spcPct val="20000"/>
              </a:spcBef>
              <a:spcAft>
                <a:spcPct val="0"/>
              </a:spcAft>
              <a:buClr>
                <a:srgbClr val="00607A"/>
              </a:buClr>
              <a:buFont typeface="Wingdings" pitchFamily="2" charset="2"/>
              <a:buChar char="l"/>
              <a:defRPr sz="2800">
                <a:solidFill>
                  <a:srgbClr val="00607A"/>
                </a:solidFill>
                <a:latin typeface="+mn-lt"/>
                <a:ea typeface="+mn-ea"/>
                <a:cs typeface="+mn-cs"/>
              </a:defRPr>
            </a:lvl1pPr>
            <a:lvl2pPr marL="715963" indent="-352425" algn="l" rtl="0" fontAlgn="base">
              <a:spcBef>
                <a:spcPct val="20000"/>
              </a:spcBef>
              <a:spcAft>
                <a:spcPct val="0"/>
              </a:spcAft>
              <a:buClr>
                <a:srgbClr val="00607A"/>
              </a:buClr>
              <a:buFont typeface="Wingdings" pitchFamily="2" charset="2"/>
              <a:buChar char="n"/>
              <a:defRPr sz="2400">
                <a:solidFill>
                  <a:srgbClr val="00607A"/>
                </a:solidFill>
                <a:latin typeface="+mn-lt"/>
              </a:defRPr>
            </a:lvl2pPr>
            <a:lvl3pPr marL="1079500" indent="-363538" algn="l" rtl="0" fontAlgn="base">
              <a:spcBef>
                <a:spcPct val="20000"/>
              </a:spcBef>
              <a:spcAft>
                <a:spcPct val="0"/>
              </a:spcAft>
              <a:buClr>
                <a:srgbClr val="00607A"/>
              </a:buClr>
              <a:buFont typeface="Wingdings" pitchFamily="2" charset="2"/>
              <a:buChar char="u"/>
              <a:defRPr sz="2000">
                <a:solidFill>
                  <a:srgbClr val="00607A"/>
                </a:solidFill>
                <a:latin typeface="+mn-lt"/>
              </a:defRPr>
            </a:lvl3pPr>
            <a:lvl4pPr marL="1431925" indent="-352425" algn="l" rtl="0" fontAlgn="base">
              <a:spcBef>
                <a:spcPct val="20000"/>
              </a:spcBef>
              <a:spcAft>
                <a:spcPct val="0"/>
              </a:spcAft>
              <a:buChar char="–"/>
              <a:defRPr sz="1800">
                <a:solidFill>
                  <a:srgbClr val="00607A"/>
                </a:solidFill>
                <a:latin typeface="+mn-lt"/>
              </a:defRPr>
            </a:lvl4pPr>
            <a:lvl5pPr marL="1795463" indent="-363538" algn="l" rtl="0" fontAlgn="base">
              <a:spcBef>
                <a:spcPct val="20000"/>
              </a:spcBef>
              <a:spcAft>
                <a:spcPct val="0"/>
              </a:spcAft>
              <a:buFont typeface="Wingdings" pitchFamily="2" charset="2"/>
              <a:buChar char="ü"/>
              <a:defRPr sz="1800">
                <a:solidFill>
                  <a:srgbClr val="00607A"/>
                </a:solidFill>
                <a:latin typeface="+mn-lt"/>
              </a:defRPr>
            </a:lvl5pPr>
            <a:lvl6pPr marL="2514600" indent="-228600" algn="l" rtl="0" eaLnBrk="1" fontAlgn="base" hangingPunct="1">
              <a:spcBef>
                <a:spcPct val="20000"/>
              </a:spcBef>
              <a:spcAft>
                <a:spcPct val="0"/>
              </a:spcAft>
              <a:buChar char="»"/>
              <a:defRPr sz="1800">
                <a:solidFill>
                  <a:schemeClr val="tx1"/>
                </a:solidFill>
                <a:latin typeface="+mn-lt"/>
              </a:defRPr>
            </a:lvl6pPr>
            <a:lvl7pPr marL="2971800" indent="-228600" algn="l" rtl="0" eaLnBrk="1" fontAlgn="base" hangingPunct="1">
              <a:spcBef>
                <a:spcPct val="20000"/>
              </a:spcBef>
              <a:spcAft>
                <a:spcPct val="0"/>
              </a:spcAft>
              <a:buChar char="»"/>
              <a:defRPr sz="1800">
                <a:solidFill>
                  <a:schemeClr val="tx1"/>
                </a:solidFill>
                <a:latin typeface="+mn-lt"/>
              </a:defRPr>
            </a:lvl7pPr>
            <a:lvl8pPr marL="3429000" indent="-228600" algn="l" rtl="0" eaLnBrk="1" fontAlgn="base" hangingPunct="1">
              <a:spcBef>
                <a:spcPct val="20000"/>
              </a:spcBef>
              <a:spcAft>
                <a:spcPct val="0"/>
              </a:spcAft>
              <a:buChar char="»"/>
              <a:defRPr sz="1800">
                <a:solidFill>
                  <a:schemeClr val="tx1"/>
                </a:solidFill>
                <a:latin typeface="+mn-lt"/>
              </a:defRPr>
            </a:lvl8pPr>
            <a:lvl9pPr marL="3886200" indent="-228600" algn="l" rtl="0" eaLnBrk="1" fontAlgn="base" hangingPunct="1">
              <a:spcBef>
                <a:spcPct val="20000"/>
              </a:spcBef>
              <a:spcAft>
                <a:spcPct val="0"/>
              </a:spcAft>
              <a:buChar char="»"/>
              <a:defRPr sz="1800">
                <a:solidFill>
                  <a:schemeClr val="tx1"/>
                </a:solidFill>
                <a:latin typeface="+mn-lt"/>
              </a:defRPr>
            </a:lvl9pPr>
          </a:lstStyle>
          <a:p>
            <a:pPr>
              <a:lnSpc>
                <a:spcPct val="120000"/>
              </a:lnSpc>
            </a:pPr>
            <a:r>
              <a:rPr lang="zh-CN" altLang="en-US" sz="1800" kern="0" dirty="0"/>
              <a:t>瑞克公司的定单履行服务从</a:t>
            </a:r>
            <a:r>
              <a:rPr lang="en-US" altLang="zh-CN" sz="1800" kern="0" dirty="0"/>
              <a:t>TLS </a:t>
            </a:r>
            <a:r>
              <a:rPr lang="zh-CN" altLang="en-US" sz="1800" kern="0" dirty="0"/>
              <a:t>公司接收一条</a:t>
            </a:r>
            <a:r>
              <a:rPr lang="en-US" altLang="zh-CN" sz="1800" kern="0" dirty="0"/>
              <a:t>SOAP</a:t>
            </a:r>
            <a:r>
              <a:rPr lang="zh-CN" altLang="en-US" sz="1800" kern="0" dirty="0"/>
              <a:t>消息，包含由</a:t>
            </a:r>
            <a:r>
              <a:rPr lang="en-US" altLang="zh-CN" sz="1800" kern="0" dirty="0"/>
              <a:t>TLS </a:t>
            </a:r>
            <a:r>
              <a:rPr lang="zh-CN" altLang="en-US" sz="1800" kern="0" dirty="0"/>
              <a:t>公司购买定单文件组成的有效负载。</a:t>
            </a:r>
          </a:p>
          <a:p>
            <a:pPr>
              <a:lnSpc>
                <a:spcPct val="120000"/>
              </a:lnSpc>
            </a:pPr>
            <a:r>
              <a:rPr lang="zh-CN" altLang="en-US" sz="1800" kern="0" dirty="0"/>
              <a:t>服务对到来的文件进行验证。如果验证有效，则该文件就被转发到定制的组件</a:t>
            </a:r>
            <a:endParaRPr lang="en-US" altLang="zh-CN" sz="1800" kern="0" dirty="0"/>
          </a:p>
          <a:p>
            <a:pPr>
              <a:lnSpc>
                <a:spcPct val="120000"/>
              </a:lnSpc>
            </a:pPr>
            <a:r>
              <a:rPr lang="zh-CN" altLang="en-US" sz="1800" kern="0" dirty="0"/>
              <a:t>如果</a:t>
            </a:r>
            <a:r>
              <a:rPr lang="en-US" altLang="zh-CN" sz="1800" kern="0" dirty="0"/>
              <a:t>TLS </a:t>
            </a:r>
            <a:r>
              <a:rPr lang="zh-CN" altLang="en-US" sz="1800" kern="0" dirty="0"/>
              <a:t>公司的购买定单验证失败，则会向</a:t>
            </a:r>
            <a:r>
              <a:rPr lang="en-US" altLang="zh-CN" sz="1800" kern="0" dirty="0"/>
              <a:t>TLS </a:t>
            </a:r>
            <a:r>
              <a:rPr lang="zh-CN" altLang="en-US" sz="1800" kern="0" dirty="0"/>
              <a:t>公司发送一条拒绝通知消息，流程终止</a:t>
            </a:r>
          </a:p>
          <a:p>
            <a:pPr>
              <a:lnSpc>
                <a:spcPct val="120000"/>
              </a:lnSpc>
            </a:pPr>
            <a:r>
              <a:rPr lang="zh-CN" altLang="en-US" sz="1800" kern="0" dirty="0"/>
              <a:t>组件将获得的</a:t>
            </a:r>
            <a:r>
              <a:rPr lang="en-US" altLang="zh-CN" sz="1800" kern="0" dirty="0"/>
              <a:t>XML </a:t>
            </a:r>
            <a:r>
              <a:rPr lang="zh-CN" altLang="en-US" sz="1800" kern="0" dirty="0"/>
              <a:t>文件转换成一份符合账务系统本地文件格式的购买定单</a:t>
            </a:r>
          </a:p>
          <a:p>
            <a:pPr>
              <a:lnSpc>
                <a:spcPct val="120000"/>
              </a:lnSpc>
            </a:pPr>
            <a:r>
              <a:rPr lang="zh-CN" altLang="en-US" sz="1800" kern="0" dirty="0"/>
              <a:t>该购买定单通过账务系统的导入扩展提交到账务系统</a:t>
            </a:r>
          </a:p>
          <a:p>
            <a:pPr>
              <a:lnSpc>
                <a:spcPct val="120000"/>
              </a:lnSpc>
            </a:pPr>
            <a:r>
              <a:rPr lang="zh-CN" altLang="en-US" sz="1800" kern="0" dirty="0"/>
              <a:t>购买定单最终进入记账员的工作队列，然后由记账员进行处理</a:t>
            </a:r>
          </a:p>
        </p:txBody>
      </p:sp>
      <p:sp>
        <p:nvSpPr>
          <p:cNvPr id="8" name="灯片编号占位符 4"/>
          <p:cNvSpPr txBox="1">
            <a:spLocks/>
          </p:cNvSpPr>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zh-CN"/>
            </a:defPPr>
            <a:lvl1pPr algn="ctr" rtl="0" fontAlgn="base">
              <a:spcBef>
                <a:spcPct val="0"/>
              </a:spcBef>
              <a:spcAft>
                <a:spcPct val="0"/>
              </a:spcAft>
              <a:defRPr sz="1200" kern="1200">
                <a:solidFill>
                  <a:schemeClr val="tx1"/>
                </a:solidFill>
                <a:latin typeface="+mj-lt"/>
                <a:ea typeface="宋体"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a:lstStyle>
          <a:p>
            <a:fld id="{5EB1CA60-D544-4E9C-A464-56B22D3ABA85}" type="slidenum">
              <a:rPr lang="en-US" altLang="zh-CN" smtClean="0"/>
              <a:pPr/>
              <a:t>24</a:t>
            </a:fld>
            <a:endParaRPr lang="en-US" altLang="zh-CN" dirty="0"/>
          </a:p>
        </p:txBody>
      </p:sp>
      <p:sp>
        <p:nvSpPr>
          <p:cNvPr id="9" name="流程图: 可选过程 8"/>
          <p:cNvSpPr/>
          <p:nvPr/>
        </p:nvSpPr>
        <p:spPr>
          <a:xfrm>
            <a:off x="2251435" y="943146"/>
            <a:ext cx="720080"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开始</a:t>
            </a:r>
          </a:p>
        </p:txBody>
      </p:sp>
      <p:sp>
        <p:nvSpPr>
          <p:cNvPr id="10" name="流程图: 数据 9"/>
          <p:cNvSpPr/>
          <p:nvPr/>
        </p:nvSpPr>
        <p:spPr>
          <a:xfrm>
            <a:off x="1675371" y="1621354"/>
            <a:ext cx="1872208" cy="72008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接受购买订单</a:t>
            </a:r>
          </a:p>
        </p:txBody>
      </p:sp>
      <p:sp>
        <p:nvSpPr>
          <p:cNvPr id="11" name="流程图: 过程 10"/>
          <p:cNvSpPr/>
          <p:nvPr/>
        </p:nvSpPr>
        <p:spPr>
          <a:xfrm>
            <a:off x="1983546" y="2583445"/>
            <a:ext cx="1224136" cy="576064"/>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验证购买订单</a:t>
            </a:r>
          </a:p>
        </p:txBody>
      </p:sp>
      <p:sp>
        <p:nvSpPr>
          <p:cNvPr id="12" name="流程图: 过程 11"/>
          <p:cNvSpPr/>
          <p:nvPr/>
        </p:nvSpPr>
        <p:spPr>
          <a:xfrm>
            <a:off x="235646" y="4105081"/>
            <a:ext cx="1224136" cy="576064"/>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转换购买订单</a:t>
            </a:r>
          </a:p>
        </p:txBody>
      </p:sp>
      <p:sp>
        <p:nvSpPr>
          <p:cNvPr id="13" name="流程图: 过程 12"/>
          <p:cNvSpPr/>
          <p:nvPr/>
        </p:nvSpPr>
        <p:spPr>
          <a:xfrm>
            <a:off x="235646" y="4929622"/>
            <a:ext cx="1224136" cy="576064"/>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导入购买订单</a:t>
            </a:r>
          </a:p>
        </p:txBody>
      </p:sp>
      <p:cxnSp>
        <p:nvCxnSpPr>
          <p:cNvPr id="14" name="直接箭头连接符 13"/>
          <p:cNvCxnSpPr>
            <a:endCxn id="10" idx="1"/>
          </p:cNvCxnSpPr>
          <p:nvPr/>
        </p:nvCxnSpPr>
        <p:spPr>
          <a:xfrm>
            <a:off x="2611475" y="1379343"/>
            <a:ext cx="0" cy="24201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5" name="直接箭头连接符 14"/>
          <p:cNvCxnSpPr/>
          <p:nvPr/>
        </p:nvCxnSpPr>
        <p:spPr>
          <a:xfrm>
            <a:off x="2595614" y="2341434"/>
            <a:ext cx="0" cy="24201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6" name="直接箭头连接符 15"/>
          <p:cNvCxnSpPr/>
          <p:nvPr/>
        </p:nvCxnSpPr>
        <p:spPr>
          <a:xfrm>
            <a:off x="2568248" y="3167789"/>
            <a:ext cx="0" cy="24201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7" name="流程图: 决策 16"/>
          <p:cNvSpPr/>
          <p:nvPr/>
        </p:nvSpPr>
        <p:spPr>
          <a:xfrm>
            <a:off x="1596612" y="3409800"/>
            <a:ext cx="1944216" cy="792088"/>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购买订单有效？</a:t>
            </a:r>
          </a:p>
        </p:txBody>
      </p:sp>
      <p:sp>
        <p:nvSpPr>
          <p:cNvPr id="18" name="流程图: 过程 17"/>
          <p:cNvSpPr/>
          <p:nvPr/>
        </p:nvSpPr>
        <p:spPr>
          <a:xfrm>
            <a:off x="123277" y="5754163"/>
            <a:ext cx="1448873" cy="576064"/>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发送购买订单至队列</a:t>
            </a:r>
          </a:p>
        </p:txBody>
      </p:sp>
      <p:sp>
        <p:nvSpPr>
          <p:cNvPr id="19" name="流程图: 可选过程 18"/>
          <p:cNvSpPr/>
          <p:nvPr/>
        </p:nvSpPr>
        <p:spPr>
          <a:xfrm>
            <a:off x="2208208" y="6349752"/>
            <a:ext cx="720080"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结束</a:t>
            </a:r>
          </a:p>
        </p:txBody>
      </p:sp>
      <p:sp>
        <p:nvSpPr>
          <p:cNvPr id="20" name="流程图: 过程 19"/>
          <p:cNvSpPr/>
          <p:nvPr/>
        </p:nvSpPr>
        <p:spPr>
          <a:xfrm>
            <a:off x="3505200" y="4908228"/>
            <a:ext cx="1224136" cy="576064"/>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发送通知</a:t>
            </a:r>
          </a:p>
        </p:txBody>
      </p:sp>
      <p:cxnSp>
        <p:nvCxnSpPr>
          <p:cNvPr id="21" name="肘形连接符 20"/>
          <p:cNvCxnSpPr>
            <a:stCxn id="17" idx="1"/>
            <a:endCxn id="12" idx="0"/>
          </p:cNvCxnSpPr>
          <p:nvPr/>
        </p:nvCxnSpPr>
        <p:spPr>
          <a:xfrm rot="10800000" flipV="1">
            <a:off x="847714" y="3805843"/>
            <a:ext cx="748898" cy="299237"/>
          </a:xfrm>
          <a:prstGeom prst="bentConnector2">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2" name="肘形连接符 21"/>
          <p:cNvCxnSpPr>
            <a:stCxn id="17" idx="3"/>
            <a:endCxn id="20" idx="0"/>
          </p:cNvCxnSpPr>
          <p:nvPr/>
        </p:nvCxnSpPr>
        <p:spPr>
          <a:xfrm>
            <a:off x="3540828" y="3805844"/>
            <a:ext cx="576440" cy="1102384"/>
          </a:xfrm>
          <a:prstGeom prst="bentConnector2">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3" name="肘形连接符 22"/>
          <p:cNvCxnSpPr>
            <a:stCxn id="20" idx="2"/>
            <a:endCxn id="19" idx="3"/>
          </p:cNvCxnSpPr>
          <p:nvPr/>
        </p:nvCxnSpPr>
        <p:spPr>
          <a:xfrm rot="5400000">
            <a:off x="2982036" y="5430544"/>
            <a:ext cx="1081484" cy="1188980"/>
          </a:xfrm>
          <a:prstGeom prst="bentConnector2">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4" name="肘形连接符 23"/>
          <p:cNvCxnSpPr>
            <a:stCxn id="18" idx="2"/>
            <a:endCxn id="19" idx="1"/>
          </p:cNvCxnSpPr>
          <p:nvPr/>
        </p:nvCxnSpPr>
        <p:spPr>
          <a:xfrm rot="16200000" flipH="1">
            <a:off x="1410187" y="5767754"/>
            <a:ext cx="235549" cy="1360494"/>
          </a:xfrm>
          <a:prstGeom prst="bentConnector2">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5" name="直接箭头连接符 24"/>
          <p:cNvCxnSpPr/>
          <p:nvPr/>
        </p:nvCxnSpPr>
        <p:spPr>
          <a:xfrm>
            <a:off x="847713" y="4687611"/>
            <a:ext cx="0" cy="24201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6" name="直接箭头连接符 25"/>
          <p:cNvCxnSpPr/>
          <p:nvPr/>
        </p:nvCxnSpPr>
        <p:spPr>
          <a:xfrm>
            <a:off x="851872" y="5512152"/>
            <a:ext cx="0" cy="24201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7" name="文本框 26"/>
          <p:cNvSpPr txBox="1"/>
          <p:nvPr/>
        </p:nvSpPr>
        <p:spPr>
          <a:xfrm>
            <a:off x="3607296" y="3429000"/>
            <a:ext cx="360040" cy="369332"/>
          </a:xfrm>
          <a:prstGeom prst="rect">
            <a:avLst/>
          </a:prstGeom>
          <a:noFill/>
        </p:spPr>
        <p:txBody>
          <a:bodyPr wrap="square" rtlCol="0">
            <a:spAutoFit/>
          </a:bodyPr>
          <a:lstStyle/>
          <a:p>
            <a:r>
              <a:rPr lang="zh-CN" altLang="en-US" dirty="0"/>
              <a:t>否</a:t>
            </a:r>
          </a:p>
        </p:txBody>
      </p:sp>
      <p:sp>
        <p:nvSpPr>
          <p:cNvPr id="28" name="文本框 27"/>
          <p:cNvSpPr txBox="1"/>
          <p:nvPr/>
        </p:nvSpPr>
        <p:spPr>
          <a:xfrm>
            <a:off x="1038550" y="3457094"/>
            <a:ext cx="576064" cy="369332"/>
          </a:xfrm>
          <a:prstGeom prst="rect">
            <a:avLst/>
          </a:prstGeom>
          <a:noFill/>
        </p:spPr>
        <p:txBody>
          <a:bodyPr wrap="square" rtlCol="0">
            <a:spAutoFit/>
          </a:bodyPr>
          <a:lstStyle/>
          <a:p>
            <a:r>
              <a:rPr lang="zh-CN" altLang="en-US" dirty="0"/>
              <a:t>是</a:t>
            </a:r>
          </a:p>
        </p:txBody>
      </p:sp>
    </p:spTree>
    <p:extLst>
      <p:ext uri="{BB962C8B-B14F-4D97-AF65-F5344CB8AC3E}">
        <p14:creationId xmlns:p14="http://schemas.microsoft.com/office/powerpoint/2010/main" val="21031244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r>
              <a:rPr lang="en-US" altLang="zh-CN" dirty="0"/>
              <a:t>2. </a:t>
            </a:r>
            <a:r>
              <a:rPr lang="zh-CN" altLang="en-US" dirty="0"/>
              <a:t>识别业务服务候选逻辑</a:t>
            </a:r>
          </a:p>
        </p:txBody>
      </p:sp>
      <p:sp>
        <p:nvSpPr>
          <p:cNvPr id="26627" name="内容占位符 5"/>
          <p:cNvSpPr>
            <a:spLocks noGrp="1"/>
          </p:cNvSpPr>
          <p:nvPr>
            <p:ph idx="1"/>
          </p:nvPr>
        </p:nvSpPr>
        <p:spPr/>
        <p:txBody>
          <a:bodyPr>
            <a:normAutofit fontScale="92500"/>
          </a:bodyPr>
          <a:lstStyle/>
          <a:p>
            <a:pPr>
              <a:lnSpc>
                <a:spcPct val="150000"/>
              </a:lnSpc>
            </a:pPr>
            <a:r>
              <a:rPr lang="zh-CN" altLang="en-US" dirty="0"/>
              <a:t>识别业务流程中不应被抽象为服务候选的步骤</a:t>
            </a:r>
            <a:endParaRPr lang="en-US" altLang="zh-CN" dirty="0"/>
          </a:p>
          <a:p>
            <a:pPr lvl="1">
              <a:lnSpc>
                <a:spcPct val="150000"/>
              </a:lnSpc>
            </a:pPr>
            <a:r>
              <a:rPr lang="zh-CN" altLang="en-US" dirty="0"/>
              <a:t>不能或者不应该被自动化的手工流程步骤</a:t>
            </a:r>
            <a:endParaRPr lang="en-US" altLang="zh-CN" dirty="0"/>
          </a:p>
          <a:p>
            <a:pPr lvl="1">
              <a:lnSpc>
                <a:spcPct val="150000"/>
              </a:lnSpc>
            </a:pPr>
            <a:r>
              <a:rPr lang="zh-CN" altLang="en-US" dirty="0"/>
              <a:t>流程步骤由现有遗留逻辑加以执行，且不允许被封装为服务候选</a:t>
            </a:r>
            <a:endParaRPr lang="en-US" altLang="zh-CN" dirty="0"/>
          </a:p>
          <a:p>
            <a:pPr>
              <a:lnSpc>
                <a:spcPct val="150000"/>
              </a:lnSpc>
            </a:pPr>
            <a:r>
              <a:rPr lang="zh-CN" altLang="en-US" dirty="0"/>
              <a:t>分析潜在的可复用性，具备潜在复用性的流程步骤，应充分考虑被抽象为单独的服务候选</a:t>
            </a:r>
          </a:p>
        </p:txBody>
      </p:sp>
      <p:sp>
        <p:nvSpPr>
          <p:cNvPr id="26628" name="灯片编号占位符 4"/>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87D106D8-8BB5-4B2F-BC56-702210F874EC}" type="slidenum">
              <a:rPr lang="en-US" altLang="zh-CN" smtClean="0"/>
              <a:pPr/>
              <a:t>25</a:t>
            </a:fld>
            <a:endParaRPr lang="en-US" altLang="zh-CN" dirty="0"/>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p:txBody>
          <a:bodyPr/>
          <a:lstStyle/>
          <a:p>
            <a:r>
              <a:rPr lang="en-US" altLang="zh-CN" dirty="0"/>
              <a:t>2. </a:t>
            </a:r>
            <a:r>
              <a:rPr lang="zh-CN" altLang="en-US" dirty="0"/>
              <a:t>识别业务服务候选逻辑</a:t>
            </a:r>
            <a:r>
              <a:rPr lang="en-US" altLang="zh-CN" dirty="0"/>
              <a:t>- </a:t>
            </a:r>
            <a:r>
              <a:rPr lang="zh-CN" altLang="en-US" dirty="0"/>
              <a:t>发票提交</a:t>
            </a:r>
          </a:p>
        </p:txBody>
      </p:sp>
      <p:sp>
        <p:nvSpPr>
          <p:cNvPr id="3" name="内容占位符 2"/>
          <p:cNvSpPr>
            <a:spLocks noGrp="1"/>
          </p:cNvSpPr>
          <p:nvPr>
            <p:ph idx="1"/>
          </p:nvPr>
        </p:nvSpPr>
        <p:spPr/>
        <p:txBody>
          <a:bodyPr>
            <a:normAutofit fontScale="62500" lnSpcReduction="20000"/>
          </a:bodyPr>
          <a:lstStyle/>
          <a:p>
            <a:pPr>
              <a:lnSpc>
                <a:spcPct val="120000"/>
              </a:lnSpc>
            </a:pPr>
            <a:r>
              <a:rPr lang="zh-CN" altLang="en-US" dirty="0"/>
              <a:t>创建电子发票</a:t>
            </a:r>
            <a:r>
              <a:rPr lang="en-US" altLang="zh-CN" dirty="0"/>
              <a:t>(</a:t>
            </a:r>
            <a:r>
              <a:rPr lang="zh-CN" altLang="en-US" dirty="0"/>
              <a:t>由记账员完成的手工步骤</a:t>
            </a:r>
            <a:r>
              <a:rPr lang="en-US" altLang="zh-CN" dirty="0"/>
              <a:t>)</a:t>
            </a:r>
            <a:r>
              <a:rPr lang="zh-CN" altLang="en-US" dirty="0"/>
              <a:t>。</a:t>
            </a:r>
          </a:p>
          <a:p>
            <a:pPr>
              <a:lnSpc>
                <a:spcPct val="120000"/>
              </a:lnSpc>
            </a:pPr>
            <a:r>
              <a:rPr lang="zh-CN" altLang="en-US" dirty="0"/>
              <a:t>发布电子发票</a:t>
            </a:r>
            <a:r>
              <a:rPr lang="en-US" altLang="zh-CN" dirty="0"/>
              <a:t>(</a:t>
            </a:r>
            <a:r>
              <a:rPr lang="zh-CN" altLang="en-US" dirty="0"/>
              <a:t>由记账员完成的手工步骤</a:t>
            </a:r>
            <a:r>
              <a:rPr lang="en-US" altLang="zh-CN" dirty="0"/>
              <a:t>)</a:t>
            </a:r>
            <a:r>
              <a:rPr lang="zh-CN" altLang="en-US" dirty="0"/>
              <a:t>。</a:t>
            </a:r>
          </a:p>
          <a:p>
            <a:pPr>
              <a:lnSpc>
                <a:spcPct val="120000"/>
              </a:lnSpc>
            </a:pPr>
            <a:r>
              <a:rPr lang="zh-CN" altLang="en-US" dirty="0"/>
              <a:t>将电子发票导出到网络文件夹</a:t>
            </a:r>
            <a:r>
              <a:rPr lang="en-US" altLang="zh-CN" dirty="0"/>
              <a:t>(</a:t>
            </a:r>
            <a:r>
              <a:rPr lang="zh-CN" altLang="en-US" dirty="0"/>
              <a:t>当前是一个在遗留系统上自定义开发的扩展程序。可以作为普通服务候选的一部分</a:t>
            </a:r>
            <a:r>
              <a:rPr lang="en-US" altLang="zh-CN" dirty="0"/>
              <a:t>)</a:t>
            </a:r>
            <a:r>
              <a:rPr lang="zh-CN" altLang="en-US" dirty="0"/>
              <a:t>。</a:t>
            </a:r>
          </a:p>
          <a:p>
            <a:pPr>
              <a:lnSpc>
                <a:spcPct val="120000"/>
              </a:lnSpc>
            </a:pPr>
            <a:r>
              <a:rPr lang="zh-CN" altLang="en-US" dirty="0"/>
              <a:t>轮询网络文件夹</a:t>
            </a:r>
            <a:r>
              <a:rPr lang="en-US" altLang="zh-CN" dirty="0"/>
              <a:t>(</a:t>
            </a:r>
            <a:r>
              <a:rPr lang="zh-CN" altLang="en-US" dirty="0"/>
              <a:t>目前是一个自定义开发的组件。可以作为普通服务候选的一部分</a:t>
            </a:r>
            <a:r>
              <a:rPr lang="en-US" altLang="zh-CN" dirty="0"/>
              <a:t>)</a:t>
            </a:r>
            <a:r>
              <a:rPr lang="zh-CN" altLang="en-US" dirty="0"/>
              <a:t>。</a:t>
            </a:r>
          </a:p>
          <a:p>
            <a:pPr>
              <a:lnSpc>
                <a:spcPct val="120000"/>
              </a:lnSpc>
            </a:pPr>
            <a:r>
              <a:rPr lang="zh-CN" altLang="en-US" dirty="0"/>
              <a:t>获取电子发票</a:t>
            </a:r>
            <a:r>
              <a:rPr lang="en-US" altLang="zh-CN" dirty="0"/>
              <a:t>(</a:t>
            </a:r>
            <a:r>
              <a:rPr lang="zh-CN" altLang="en-US" dirty="0"/>
              <a:t>同上</a:t>
            </a:r>
            <a:r>
              <a:rPr lang="en-US" altLang="zh-CN" dirty="0"/>
              <a:t>)</a:t>
            </a:r>
            <a:r>
              <a:rPr lang="zh-CN" altLang="en-US" dirty="0"/>
              <a:t>。</a:t>
            </a:r>
          </a:p>
          <a:p>
            <a:pPr>
              <a:lnSpc>
                <a:spcPct val="120000"/>
              </a:lnSpc>
            </a:pPr>
            <a:r>
              <a:rPr lang="zh-CN" altLang="en-US" dirty="0"/>
              <a:t>将电子发票转换成</a:t>
            </a:r>
            <a:r>
              <a:rPr lang="en-US" altLang="zh-CN" dirty="0"/>
              <a:t>XML </a:t>
            </a:r>
            <a:r>
              <a:rPr lang="zh-CN" altLang="en-US" dirty="0"/>
              <a:t>文档</a:t>
            </a:r>
            <a:r>
              <a:rPr lang="en-US" altLang="zh-CN" dirty="0"/>
              <a:t>(</a:t>
            </a:r>
            <a:r>
              <a:rPr lang="zh-CN" altLang="en-US" dirty="0"/>
              <a:t>同上</a:t>
            </a:r>
            <a:r>
              <a:rPr lang="en-US" altLang="zh-CN" dirty="0"/>
              <a:t>)</a:t>
            </a:r>
            <a:r>
              <a:rPr lang="zh-CN" altLang="en-US" dirty="0"/>
              <a:t>。</a:t>
            </a:r>
          </a:p>
          <a:p>
            <a:pPr>
              <a:lnSpc>
                <a:spcPct val="120000"/>
              </a:lnSpc>
            </a:pPr>
            <a:r>
              <a:rPr lang="zh-CN" altLang="en-US" dirty="0"/>
              <a:t>检查</a:t>
            </a:r>
            <a:r>
              <a:rPr lang="zh-CN" altLang="en-US"/>
              <a:t>发票文档的</a:t>
            </a:r>
            <a:r>
              <a:rPr lang="zh-CN" altLang="en-US" dirty="0"/>
              <a:t>有效性。如果无效，则流程终止</a:t>
            </a:r>
            <a:r>
              <a:rPr lang="en-US" altLang="zh-CN" dirty="0"/>
              <a:t>(</a:t>
            </a:r>
            <a:r>
              <a:rPr lang="zh-CN" altLang="en-US" dirty="0"/>
              <a:t>当前作为发票提交服务的分析程序的一部分执行。目前看来没有必要更改它</a:t>
            </a:r>
            <a:r>
              <a:rPr lang="en-US" altLang="zh-CN" dirty="0"/>
              <a:t>)</a:t>
            </a:r>
            <a:r>
              <a:rPr lang="zh-CN" altLang="en-US" dirty="0"/>
              <a:t>。</a:t>
            </a:r>
          </a:p>
          <a:p>
            <a:pPr>
              <a:lnSpc>
                <a:spcPct val="120000"/>
              </a:lnSpc>
            </a:pPr>
            <a:r>
              <a:rPr lang="zh-CN" altLang="en-US" dirty="0"/>
              <a:t>检查是否应该校验</a:t>
            </a:r>
            <a:r>
              <a:rPr lang="en-US" altLang="zh-CN" dirty="0"/>
              <a:t>TLS </a:t>
            </a:r>
            <a:r>
              <a:rPr lang="zh-CN" altLang="en-US" dirty="0"/>
              <a:t>公司元数据</a:t>
            </a:r>
            <a:r>
              <a:rPr lang="en-US" altLang="zh-CN" dirty="0"/>
              <a:t>(</a:t>
            </a:r>
            <a:r>
              <a:rPr lang="zh-CN" altLang="en-US" dirty="0"/>
              <a:t>当前作为发票提交服务的分析程序的一部分执行。看起来像是潜在可复用的操作候选。可以迁移到一个单独的服务候选中</a:t>
            </a:r>
            <a:r>
              <a:rPr lang="en-US" altLang="zh-CN" dirty="0"/>
              <a:t>)</a:t>
            </a:r>
            <a:r>
              <a:rPr lang="zh-CN" altLang="en-US" dirty="0"/>
              <a:t>。</a:t>
            </a:r>
          </a:p>
          <a:p>
            <a:pPr>
              <a:lnSpc>
                <a:spcPct val="120000"/>
              </a:lnSpc>
            </a:pPr>
            <a:r>
              <a:rPr lang="zh-CN" altLang="en-US" dirty="0"/>
              <a:t>如果是，则进行元数据的检查。如果元数据检查失败，则终止流程</a:t>
            </a:r>
            <a:r>
              <a:rPr lang="en-US" altLang="zh-CN" dirty="0"/>
              <a:t>(</a:t>
            </a:r>
            <a:r>
              <a:rPr lang="zh-CN" altLang="en-US" dirty="0"/>
              <a:t>同上</a:t>
            </a:r>
            <a:r>
              <a:rPr lang="en-US" altLang="zh-CN" dirty="0"/>
              <a:t>)</a:t>
            </a:r>
            <a:r>
              <a:rPr lang="zh-CN" altLang="en-US" dirty="0"/>
              <a:t>。</a:t>
            </a:r>
          </a:p>
        </p:txBody>
      </p:sp>
      <p:sp>
        <p:nvSpPr>
          <p:cNvPr id="27652" name="灯片编号占位符 3"/>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531A29C0-F6FA-4738-8108-CF7EDDE4B6AD}" type="slidenum">
              <a:rPr lang="en-US" altLang="zh-CN" smtClean="0"/>
              <a:pPr/>
              <a:t>26</a:t>
            </a:fld>
            <a:endParaRPr lang="en-US" altLang="zh-CN"/>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p:txBody>
          <a:bodyPr/>
          <a:lstStyle/>
          <a:p>
            <a:r>
              <a:rPr lang="en-US" altLang="zh-CN" dirty="0"/>
              <a:t>2. </a:t>
            </a:r>
            <a:r>
              <a:rPr lang="zh-CN" altLang="en-US" dirty="0"/>
              <a:t>识别业务服务候选逻辑 </a:t>
            </a:r>
            <a:r>
              <a:rPr lang="en-US" altLang="zh-CN" dirty="0"/>
              <a:t>- </a:t>
            </a:r>
            <a:r>
              <a:rPr lang="zh-CN" altLang="en-US" dirty="0"/>
              <a:t>订单履行</a:t>
            </a:r>
          </a:p>
        </p:txBody>
      </p:sp>
      <p:sp>
        <p:nvSpPr>
          <p:cNvPr id="3" name="内容占位符 2"/>
          <p:cNvSpPr>
            <a:spLocks noGrp="1"/>
          </p:cNvSpPr>
          <p:nvPr>
            <p:ph idx="1"/>
          </p:nvPr>
        </p:nvSpPr>
        <p:spPr/>
        <p:txBody>
          <a:bodyPr>
            <a:normAutofit fontScale="77500" lnSpcReduction="20000"/>
          </a:bodyPr>
          <a:lstStyle/>
          <a:p>
            <a:pPr>
              <a:lnSpc>
                <a:spcPct val="120000"/>
              </a:lnSpc>
            </a:pPr>
            <a:r>
              <a:rPr lang="zh-CN" altLang="en-US" dirty="0"/>
              <a:t>接收购买定单文档</a:t>
            </a:r>
            <a:r>
              <a:rPr lang="en-US" altLang="zh-CN" dirty="0"/>
              <a:t>(</a:t>
            </a:r>
            <a:r>
              <a:rPr lang="zh-CN" altLang="en-US" dirty="0"/>
              <a:t>当前由订单履行服务执行。目前看来没有必要更改它</a:t>
            </a:r>
            <a:r>
              <a:rPr lang="en-US" altLang="zh-CN" dirty="0"/>
              <a:t>)</a:t>
            </a:r>
            <a:r>
              <a:rPr lang="zh-CN" altLang="en-US" dirty="0"/>
              <a:t>。</a:t>
            </a:r>
          </a:p>
          <a:p>
            <a:pPr>
              <a:lnSpc>
                <a:spcPct val="120000"/>
              </a:lnSpc>
            </a:pPr>
            <a:r>
              <a:rPr lang="zh-CN" altLang="en-US" dirty="0"/>
              <a:t>检查购买定单文档的有效性</a:t>
            </a:r>
            <a:r>
              <a:rPr lang="en-US" altLang="zh-CN" dirty="0"/>
              <a:t>(</a:t>
            </a:r>
            <a:r>
              <a:rPr lang="zh-CN" altLang="en-US" dirty="0"/>
              <a:t>同上</a:t>
            </a:r>
            <a:r>
              <a:rPr lang="en-US" altLang="zh-CN" dirty="0"/>
              <a:t>)</a:t>
            </a:r>
            <a:r>
              <a:rPr lang="zh-CN" altLang="en-US" dirty="0"/>
              <a:t>。</a:t>
            </a:r>
          </a:p>
          <a:p>
            <a:pPr>
              <a:lnSpc>
                <a:spcPct val="120000"/>
              </a:lnSpc>
            </a:pPr>
            <a:r>
              <a:rPr lang="zh-CN" altLang="en-US" dirty="0"/>
              <a:t>如果购买定单文档无效，则发送拒绝通知并终止流程</a:t>
            </a:r>
            <a:r>
              <a:rPr lang="en-US" altLang="zh-CN" dirty="0"/>
              <a:t>(</a:t>
            </a:r>
            <a:r>
              <a:rPr lang="zh-CN" altLang="en-US" dirty="0"/>
              <a:t>同上</a:t>
            </a:r>
            <a:r>
              <a:rPr lang="en-US" altLang="zh-CN" dirty="0"/>
              <a:t>)</a:t>
            </a:r>
            <a:r>
              <a:rPr lang="zh-CN" altLang="en-US" dirty="0"/>
              <a:t>。</a:t>
            </a:r>
          </a:p>
          <a:p>
            <a:pPr>
              <a:lnSpc>
                <a:spcPct val="120000"/>
              </a:lnSpc>
            </a:pPr>
            <a:r>
              <a:rPr lang="zh-CN" altLang="en-US" dirty="0"/>
              <a:t>将购买定单</a:t>
            </a:r>
            <a:r>
              <a:rPr lang="en-US" altLang="zh-CN" dirty="0"/>
              <a:t>XML </a:t>
            </a:r>
            <a:r>
              <a:rPr lang="zh-CN" altLang="en-US" dirty="0"/>
              <a:t>文档转换成本地的电子购买定单格式</a:t>
            </a:r>
            <a:r>
              <a:rPr lang="en-US" altLang="zh-CN" dirty="0"/>
              <a:t>(</a:t>
            </a:r>
            <a:r>
              <a:rPr lang="zh-CN" altLang="en-US" dirty="0"/>
              <a:t>当前由一个自定义开发的组件来执行。可以作为一个服务候选的一部分</a:t>
            </a:r>
            <a:r>
              <a:rPr lang="en-US" altLang="zh-CN" dirty="0"/>
              <a:t>)</a:t>
            </a:r>
            <a:r>
              <a:rPr lang="zh-CN" altLang="en-US" dirty="0"/>
              <a:t>。</a:t>
            </a:r>
          </a:p>
          <a:p>
            <a:pPr>
              <a:lnSpc>
                <a:spcPct val="120000"/>
              </a:lnSpc>
            </a:pPr>
            <a:r>
              <a:rPr lang="zh-CN" altLang="en-US" dirty="0"/>
              <a:t>将电子购买定单导入账务系统</a:t>
            </a:r>
            <a:r>
              <a:rPr lang="en-US" altLang="zh-CN" dirty="0"/>
              <a:t>(</a:t>
            </a:r>
            <a:r>
              <a:rPr lang="zh-CN" altLang="en-US" dirty="0"/>
              <a:t>当前是一个在遗留系统上自定义开发的扩展程序。可以作为普通服务候选的一部分</a:t>
            </a:r>
            <a:r>
              <a:rPr lang="en-US" altLang="zh-CN" dirty="0"/>
              <a:t>)</a:t>
            </a:r>
            <a:r>
              <a:rPr lang="zh-CN" altLang="en-US" dirty="0"/>
              <a:t>。</a:t>
            </a:r>
          </a:p>
          <a:p>
            <a:pPr>
              <a:lnSpc>
                <a:spcPct val="120000"/>
              </a:lnSpc>
            </a:pPr>
            <a:r>
              <a:rPr lang="zh-CN" altLang="en-US" dirty="0"/>
              <a:t>将购买定单发送到记账员的工作队列</a:t>
            </a:r>
            <a:r>
              <a:rPr lang="en-US" altLang="zh-CN" dirty="0"/>
              <a:t>(</a:t>
            </a:r>
            <a:r>
              <a:rPr lang="zh-CN" altLang="en-US" dirty="0"/>
              <a:t>同上</a:t>
            </a:r>
            <a:r>
              <a:rPr lang="en-US" altLang="zh-CN" dirty="0"/>
              <a:t>)</a:t>
            </a:r>
            <a:r>
              <a:rPr lang="zh-CN" altLang="en-US" dirty="0"/>
              <a:t>。</a:t>
            </a:r>
          </a:p>
        </p:txBody>
      </p:sp>
      <p:sp>
        <p:nvSpPr>
          <p:cNvPr id="28676" name="灯片编号占位符 3"/>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54370496-A039-47EA-B596-BB02B2DE5D76}" type="slidenum">
              <a:rPr lang="en-US" altLang="zh-CN" smtClean="0"/>
              <a:pPr/>
              <a:t>27</a:t>
            </a:fld>
            <a:endParaRPr lang="en-US" altLang="zh-CN"/>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p:txBody>
          <a:bodyPr/>
          <a:lstStyle/>
          <a:p>
            <a:r>
              <a:rPr lang="en-US" altLang="zh-CN" dirty="0"/>
              <a:t>3.</a:t>
            </a:r>
            <a:r>
              <a:rPr lang="zh-CN" altLang="en-US" dirty="0"/>
              <a:t>抽象编排逻辑</a:t>
            </a:r>
          </a:p>
        </p:txBody>
      </p:sp>
      <p:sp>
        <p:nvSpPr>
          <p:cNvPr id="29699" name="内容占位符 2"/>
          <p:cNvSpPr>
            <a:spLocks noGrp="1"/>
          </p:cNvSpPr>
          <p:nvPr>
            <p:ph idx="1"/>
          </p:nvPr>
        </p:nvSpPr>
        <p:spPr/>
        <p:txBody>
          <a:bodyPr/>
          <a:lstStyle/>
          <a:p>
            <a:pPr>
              <a:lnSpc>
                <a:spcPct val="150000"/>
              </a:lnSpc>
            </a:pPr>
            <a:r>
              <a:rPr lang="zh-CN" altLang="en-US" dirty="0"/>
              <a:t>定义由编排层完成的潜在逻辑</a:t>
            </a:r>
            <a:endParaRPr lang="en-US" altLang="zh-CN" dirty="0"/>
          </a:p>
          <a:p>
            <a:pPr lvl="1">
              <a:lnSpc>
                <a:spcPct val="150000"/>
              </a:lnSpc>
            </a:pPr>
            <a:r>
              <a:rPr lang="zh-CN" altLang="en-US" dirty="0"/>
              <a:t>业务规则</a:t>
            </a:r>
            <a:endParaRPr lang="en-US" altLang="zh-CN" dirty="0"/>
          </a:p>
          <a:p>
            <a:pPr lvl="1">
              <a:lnSpc>
                <a:spcPct val="150000"/>
              </a:lnSpc>
            </a:pPr>
            <a:r>
              <a:rPr lang="zh-CN" altLang="en-US" dirty="0"/>
              <a:t>条件逻辑</a:t>
            </a:r>
            <a:endParaRPr lang="en-US" altLang="zh-CN" dirty="0"/>
          </a:p>
          <a:p>
            <a:pPr lvl="1">
              <a:lnSpc>
                <a:spcPct val="150000"/>
              </a:lnSpc>
            </a:pPr>
            <a:r>
              <a:rPr lang="zh-CN" altLang="en-US" dirty="0"/>
              <a:t>异常逻辑</a:t>
            </a:r>
            <a:endParaRPr lang="en-US" altLang="zh-CN" dirty="0"/>
          </a:p>
          <a:p>
            <a:pPr lvl="1">
              <a:lnSpc>
                <a:spcPct val="150000"/>
              </a:lnSpc>
            </a:pPr>
            <a:r>
              <a:rPr lang="zh-CN" altLang="en-US" dirty="0"/>
              <a:t>序列逻辑</a:t>
            </a:r>
            <a:endParaRPr lang="en-US" altLang="zh-CN" dirty="0"/>
          </a:p>
          <a:p>
            <a:pPr>
              <a:lnSpc>
                <a:spcPct val="150000"/>
              </a:lnSpc>
            </a:pPr>
            <a:r>
              <a:rPr lang="zh-CN" altLang="en-US" dirty="0"/>
              <a:t>创建的编排逻辑亦为服务操作候选</a:t>
            </a:r>
          </a:p>
        </p:txBody>
      </p:sp>
      <p:sp>
        <p:nvSpPr>
          <p:cNvPr id="29700" name="灯片编号占位符 3"/>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EC6063D6-AF1E-4844-A04B-9EFC1E254666}" type="slidenum">
              <a:rPr lang="en-US" altLang="zh-CN" smtClean="0"/>
              <a:pPr/>
              <a:t>28</a:t>
            </a:fld>
            <a:endParaRPr lang="en-US" altLang="zh-CN"/>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p:txBody>
          <a:bodyPr/>
          <a:lstStyle/>
          <a:p>
            <a:r>
              <a:rPr lang="en-US" altLang="zh-CN"/>
              <a:t>4. </a:t>
            </a:r>
            <a:r>
              <a:rPr lang="zh-CN" altLang="en-US"/>
              <a:t>创建业务服务候选</a:t>
            </a:r>
          </a:p>
        </p:txBody>
      </p:sp>
      <p:sp>
        <p:nvSpPr>
          <p:cNvPr id="30723" name="内容占位符 2"/>
          <p:cNvSpPr>
            <a:spLocks noGrp="1"/>
          </p:cNvSpPr>
          <p:nvPr>
            <p:ph idx="1"/>
          </p:nvPr>
        </p:nvSpPr>
        <p:spPr>
          <a:xfrm>
            <a:off x="457200" y="1052513"/>
            <a:ext cx="8229600" cy="1440383"/>
          </a:xfrm>
        </p:spPr>
        <p:txBody>
          <a:bodyPr/>
          <a:lstStyle/>
          <a:p>
            <a:r>
              <a:rPr lang="zh-CN" altLang="en-US" dirty="0"/>
              <a:t>在创建业务服务候选时，充分考虑业务中立，引入对额外的服务操作候选的分析</a:t>
            </a:r>
            <a:endParaRPr lang="en-US" altLang="zh-CN" dirty="0"/>
          </a:p>
        </p:txBody>
      </p:sp>
      <p:sp>
        <p:nvSpPr>
          <p:cNvPr id="30724" name="灯片编号占位符 3"/>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787CCFE4-85C5-4F08-932A-54A8EC6F5A6E}" type="slidenum">
              <a:rPr lang="en-US" altLang="zh-CN" smtClean="0"/>
              <a:pPr/>
              <a:t>29</a:t>
            </a:fld>
            <a:endParaRPr lang="en-US" altLang="zh-CN"/>
          </a:p>
        </p:txBody>
      </p:sp>
      <p:pic>
        <p:nvPicPr>
          <p:cNvPr id="2" name="图片 1"/>
          <p:cNvPicPr>
            <a:picLocks noChangeAspect="1"/>
          </p:cNvPicPr>
          <p:nvPr/>
        </p:nvPicPr>
        <p:blipFill>
          <a:blip r:embed="rId3"/>
          <a:stretch>
            <a:fillRect/>
          </a:stretch>
        </p:blipFill>
        <p:spPr>
          <a:xfrm>
            <a:off x="1979712" y="2381011"/>
            <a:ext cx="2199734" cy="2174546"/>
          </a:xfrm>
          <a:prstGeom prst="rect">
            <a:avLst/>
          </a:prstGeom>
        </p:spPr>
      </p:pic>
      <p:pic>
        <p:nvPicPr>
          <p:cNvPr id="3" name="图片 2"/>
          <p:cNvPicPr>
            <a:picLocks noChangeAspect="1"/>
          </p:cNvPicPr>
          <p:nvPr/>
        </p:nvPicPr>
        <p:blipFill>
          <a:blip r:embed="rId4"/>
          <a:stretch>
            <a:fillRect/>
          </a:stretch>
        </p:blipFill>
        <p:spPr>
          <a:xfrm>
            <a:off x="5008292" y="2372615"/>
            <a:ext cx="2199734" cy="2182942"/>
          </a:xfrm>
          <a:prstGeom prst="rect">
            <a:avLst/>
          </a:prstGeom>
        </p:spPr>
      </p:pic>
      <p:pic>
        <p:nvPicPr>
          <p:cNvPr id="4" name="图片 3"/>
          <p:cNvPicPr>
            <a:picLocks noChangeAspect="1"/>
          </p:cNvPicPr>
          <p:nvPr/>
        </p:nvPicPr>
        <p:blipFill>
          <a:blip r:embed="rId5"/>
          <a:stretch>
            <a:fillRect/>
          </a:stretch>
        </p:blipFill>
        <p:spPr>
          <a:xfrm>
            <a:off x="1902391" y="4624962"/>
            <a:ext cx="2266901" cy="2174546"/>
          </a:xfrm>
          <a:prstGeom prst="rect">
            <a:avLst/>
          </a:prstGeom>
        </p:spPr>
      </p:pic>
      <p:pic>
        <p:nvPicPr>
          <p:cNvPr id="5" name="图片 4"/>
          <p:cNvPicPr>
            <a:picLocks noChangeAspect="1"/>
          </p:cNvPicPr>
          <p:nvPr/>
        </p:nvPicPr>
        <p:blipFill>
          <a:blip r:embed="rId6"/>
          <a:stretch>
            <a:fillRect/>
          </a:stretch>
        </p:blipFill>
        <p:spPr>
          <a:xfrm>
            <a:off x="4974708" y="4576931"/>
            <a:ext cx="2266901" cy="2182942"/>
          </a:xfrm>
          <a:prstGeom prst="rect">
            <a:avLst/>
          </a:prstGeom>
        </p:spPr>
      </p:pic>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 </a:t>
            </a:r>
            <a:r>
              <a:rPr lang="zh-CN" altLang="en-US" dirty="0"/>
              <a:t>提炼和应用面向服务原则 （复用</a:t>
            </a:r>
            <a:r>
              <a:rPr lang="en-US" altLang="zh-CN" dirty="0"/>
              <a:t>/</a:t>
            </a:r>
            <a:r>
              <a:rPr lang="zh-CN" altLang="en-US" dirty="0"/>
              <a:t>自治）</a:t>
            </a:r>
          </a:p>
        </p:txBody>
      </p:sp>
      <p:sp>
        <p:nvSpPr>
          <p:cNvPr id="4" name="灯片编号占位符 3"/>
          <p:cNvSpPr>
            <a:spLocks noGrp="1"/>
          </p:cNvSpPr>
          <p:nvPr>
            <p:ph type="sldNum" sz="quarter" idx="10"/>
          </p:nvPr>
        </p:nvSpPr>
        <p:spPr/>
        <p:txBody>
          <a:bodyPr/>
          <a:lstStyle/>
          <a:p>
            <a:pPr>
              <a:defRPr/>
            </a:pPr>
            <a:fld id="{CE1994E2-D037-49D3-9D9E-D7560473544B}" type="slidenum">
              <a:rPr lang="en-US" altLang="zh-CN" smtClean="0"/>
              <a:pPr>
                <a:defRPr/>
              </a:pPr>
              <a:t>30</a:t>
            </a:fld>
            <a:endParaRPr lang="en-US" altLang="zh-CN" dirty="0"/>
          </a:p>
        </p:txBody>
      </p:sp>
      <p:pic>
        <p:nvPicPr>
          <p:cNvPr id="5" name="图片 4"/>
          <p:cNvPicPr>
            <a:picLocks noChangeAspect="1"/>
          </p:cNvPicPr>
          <p:nvPr/>
        </p:nvPicPr>
        <p:blipFill>
          <a:blip r:embed="rId2"/>
          <a:stretch>
            <a:fillRect/>
          </a:stretch>
        </p:blipFill>
        <p:spPr>
          <a:xfrm>
            <a:off x="2051720" y="1484784"/>
            <a:ext cx="4974877" cy="4781269"/>
          </a:xfrm>
          <a:prstGeom prst="rect">
            <a:avLst/>
          </a:prstGeom>
        </p:spPr>
      </p:pic>
      <p:sp>
        <p:nvSpPr>
          <p:cNvPr id="6" name="Line 7"/>
          <p:cNvSpPr>
            <a:spLocks noChangeShapeType="1"/>
          </p:cNvSpPr>
          <p:nvPr/>
        </p:nvSpPr>
        <p:spPr bwMode="auto">
          <a:xfrm>
            <a:off x="1331640" y="2131442"/>
            <a:ext cx="1080120" cy="432271"/>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8"/>
          <p:cNvSpPr txBox="1">
            <a:spLocks noChangeArrowheads="1"/>
          </p:cNvSpPr>
          <p:nvPr/>
        </p:nvSpPr>
        <p:spPr bwMode="auto">
          <a:xfrm>
            <a:off x="0" y="1485111"/>
            <a:ext cx="25209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dirty="0"/>
              <a:t>同一个操作的两阶段，且不存在复用可能</a:t>
            </a:r>
            <a:endParaRPr lang="en-US" altLang="zh-CN" dirty="0"/>
          </a:p>
        </p:txBody>
      </p:sp>
      <p:sp>
        <p:nvSpPr>
          <p:cNvPr id="8" name="Line 9"/>
          <p:cNvSpPr>
            <a:spLocks noChangeShapeType="1"/>
          </p:cNvSpPr>
          <p:nvPr/>
        </p:nvSpPr>
        <p:spPr bwMode="auto">
          <a:xfrm>
            <a:off x="1331638" y="2131442"/>
            <a:ext cx="1080121" cy="769148"/>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Line 7"/>
          <p:cNvSpPr>
            <a:spLocks noChangeShapeType="1"/>
          </p:cNvSpPr>
          <p:nvPr/>
        </p:nvSpPr>
        <p:spPr bwMode="auto">
          <a:xfrm>
            <a:off x="1331638" y="2131441"/>
            <a:ext cx="3672410" cy="3169767"/>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 name="Line 7"/>
          <p:cNvSpPr>
            <a:spLocks noChangeShapeType="1"/>
          </p:cNvSpPr>
          <p:nvPr/>
        </p:nvSpPr>
        <p:spPr bwMode="auto">
          <a:xfrm>
            <a:off x="1331637" y="2131441"/>
            <a:ext cx="3744419" cy="3434688"/>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279264088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blinds(horizontal)">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randombar(horizontal)">
                                      <p:cBhvr>
                                        <p:cTn id="18" dur="500"/>
                                        <p:tgtEl>
                                          <p:spTgt spid="10"/>
                                        </p:tgtEl>
                                      </p:cBhvr>
                                    </p:animEffect>
                                  </p:childTnLst>
                                </p:cTn>
                              </p:par>
                              <p:par>
                                <p:cTn id="19" presetID="14" presetClass="entr" presetSubtype="1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randombar(horizontal)">
                                      <p:cBhvr>
                                        <p:cTn id="2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animBg="1"/>
      <p:bldP spid="10" grpId="0" animBg="1"/>
      <p:bldP spid="1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2"/>
          <a:stretch>
            <a:fillRect/>
          </a:stretch>
        </p:blipFill>
        <p:spPr>
          <a:xfrm>
            <a:off x="2520950" y="1010801"/>
            <a:ext cx="4191247" cy="5816984"/>
          </a:xfrm>
          <a:prstGeom prst="rect">
            <a:avLst/>
          </a:prstGeom>
        </p:spPr>
      </p:pic>
      <p:sp>
        <p:nvSpPr>
          <p:cNvPr id="2" name="标题 1"/>
          <p:cNvSpPr>
            <a:spLocks noGrp="1"/>
          </p:cNvSpPr>
          <p:nvPr>
            <p:ph type="title"/>
          </p:nvPr>
        </p:nvSpPr>
        <p:spPr/>
        <p:txBody>
          <a:bodyPr/>
          <a:lstStyle/>
          <a:p>
            <a:r>
              <a:rPr lang="en-US" altLang="zh-CN" dirty="0"/>
              <a:t>5. </a:t>
            </a:r>
            <a:r>
              <a:rPr lang="zh-CN" altLang="en-US" dirty="0"/>
              <a:t>提炼和应用面向服务原则 （复用</a:t>
            </a:r>
            <a:r>
              <a:rPr lang="en-US" altLang="zh-CN" dirty="0"/>
              <a:t>/</a:t>
            </a:r>
            <a:r>
              <a:rPr lang="zh-CN" altLang="en-US" dirty="0"/>
              <a:t>自治）</a:t>
            </a:r>
          </a:p>
        </p:txBody>
      </p:sp>
      <p:sp>
        <p:nvSpPr>
          <p:cNvPr id="4" name="灯片编号占位符 3"/>
          <p:cNvSpPr>
            <a:spLocks noGrp="1"/>
          </p:cNvSpPr>
          <p:nvPr>
            <p:ph type="sldNum" sz="quarter" idx="10"/>
          </p:nvPr>
        </p:nvSpPr>
        <p:spPr/>
        <p:txBody>
          <a:bodyPr/>
          <a:lstStyle/>
          <a:p>
            <a:pPr>
              <a:defRPr/>
            </a:pPr>
            <a:fld id="{CE1994E2-D037-49D3-9D9E-D7560473544B}" type="slidenum">
              <a:rPr lang="en-US" altLang="zh-CN" smtClean="0"/>
              <a:pPr>
                <a:defRPr/>
              </a:pPr>
              <a:t>31</a:t>
            </a:fld>
            <a:endParaRPr lang="en-US" altLang="zh-CN" dirty="0"/>
          </a:p>
        </p:txBody>
      </p:sp>
      <p:sp>
        <p:nvSpPr>
          <p:cNvPr id="6" name="Line 7"/>
          <p:cNvSpPr>
            <a:spLocks noChangeShapeType="1"/>
          </p:cNvSpPr>
          <p:nvPr/>
        </p:nvSpPr>
        <p:spPr bwMode="auto">
          <a:xfrm>
            <a:off x="1979712" y="1916833"/>
            <a:ext cx="936104" cy="21461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Text Box 8"/>
          <p:cNvSpPr txBox="1">
            <a:spLocks noChangeArrowheads="1"/>
          </p:cNvSpPr>
          <p:nvPr/>
        </p:nvSpPr>
        <p:spPr bwMode="auto">
          <a:xfrm>
            <a:off x="0" y="1485111"/>
            <a:ext cx="25209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dirty="0"/>
              <a:t>同一个操作的两阶段，且不存在复用可能</a:t>
            </a:r>
            <a:endParaRPr lang="en-US" altLang="zh-CN" dirty="0"/>
          </a:p>
        </p:txBody>
      </p:sp>
      <p:sp>
        <p:nvSpPr>
          <p:cNvPr id="10" name="Line 7"/>
          <p:cNvSpPr>
            <a:spLocks noChangeShapeType="1"/>
          </p:cNvSpPr>
          <p:nvPr/>
        </p:nvSpPr>
        <p:spPr bwMode="auto">
          <a:xfrm>
            <a:off x="1979712" y="1916832"/>
            <a:ext cx="3062188" cy="4032448"/>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 name="Line 7"/>
          <p:cNvSpPr>
            <a:spLocks noChangeShapeType="1"/>
          </p:cNvSpPr>
          <p:nvPr/>
        </p:nvSpPr>
        <p:spPr bwMode="auto">
          <a:xfrm flipH="1">
            <a:off x="6156175" y="1621994"/>
            <a:ext cx="360039" cy="63226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 name="Text Box 8"/>
          <p:cNvSpPr txBox="1">
            <a:spLocks noChangeArrowheads="1"/>
          </p:cNvSpPr>
          <p:nvPr/>
        </p:nvSpPr>
        <p:spPr bwMode="auto">
          <a:xfrm>
            <a:off x="6407696" y="1300445"/>
            <a:ext cx="27363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dirty="0"/>
              <a:t>从单一文档转向抽象文档</a:t>
            </a:r>
            <a:endParaRPr lang="en-US" altLang="zh-CN" dirty="0"/>
          </a:p>
        </p:txBody>
      </p:sp>
      <p:sp>
        <p:nvSpPr>
          <p:cNvPr id="14" name="Line 9"/>
          <p:cNvSpPr>
            <a:spLocks noChangeShapeType="1"/>
          </p:cNvSpPr>
          <p:nvPr/>
        </p:nvSpPr>
        <p:spPr bwMode="auto">
          <a:xfrm flipH="1">
            <a:off x="4088688" y="1621994"/>
            <a:ext cx="2427527" cy="507681"/>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 name="Text Box 8"/>
          <p:cNvSpPr txBox="1">
            <a:spLocks noChangeArrowheads="1"/>
          </p:cNvSpPr>
          <p:nvPr/>
        </p:nvSpPr>
        <p:spPr bwMode="auto">
          <a:xfrm>
            <a:off x="6993928" y="4052520"/>
            <a:ext cx="212372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zh-CN" altLang="en-US" dirty="0"/>
              <a:t>从具体流程中独立</a:t>
            </a:r>
            <a:endParaRPr lang="en-US" altLang="zh-CN" dirty="0"/>
          </a:p>
        </p:txBody>
      </p:sp>
      <p:sp>
        <p:nvSpPr>
          <p:cNvPr id="16" name="Line 9"/>
          <p:cNvSpPr>
            <a:spLocks noChangeShapeType="1"/>
          </p:cNvSpPr>
          <p:nvPr/>
        </p:nvSpPr>
        <p:spPr bwMode="auto">
          <a:xfrm flipH="1" flipV="1">
            <a:off x="6407696" y="2424513"/>
            <a:ext cx="1486997" cy="151783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 name="Line 9"/>
          <p:cNvSpPr>
            <a:spLocks noChangeShapeType="1"/>
          </p:cNvSpPr>
          <p:nvPr/>
        </p:nvSpPr>
        <p:spPr bwMode="auto">
          <a:xfrm flipH="1" flipV="1">
            <a:off x="6516214" y="3942348"/>
            <a:ext cx="1378479" cy="1"/>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243361335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blinds(horizontal)">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blinds(horizontal)">
                                      <p:cBhvr>
                                        <p:cTn id="20" dur="500"/>
                                        <p:tgtEl>
                                          <p:spTgt spid="13"/>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blinds(horizontal)">
                                      <p:cBhvr>
                                        <p:cTn id="23" dur="500"/>
                                        <p:tgtEl>
                                          <p:spTgt spid="12"/>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blinds(horizontal)">
                                      <p:cBhvr>
                                        <p:cTn id="26" dur="5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blinds(horizontal)">
                                      <p:cBhvr>
                                        <p:cTn id="31" dur="500"/>
                                        <p:tgtEl>
                                          <p:spTgt spid="15"/>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blinds(horizontal)">
                                      <p:cBhvr>
                                        <p:cTn id="34" dur="500"/>
                                        <p:tgtEl>
                                          <p:spTgt spid="16"/>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blinds(horizontal)">
                                      <p:cBhvr>
                                        <p:cTn id="3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10" grpId="0" animBg="1"/>
      <p:bldP spid="12" grpId="0" animBg="1"/>
      <p:bldP spid="13" grpId="0"/>
      <p:bldP spid="14" grpId="0" animBg="1"/>
      <p:bldP spid="15" grpId="0"/>
      <p:bldP spid="16" grpId="0" animBg="1"/>
      <p:bldP spid="1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p:txBody>
          <a:bodyPr/>
          <a:lstStyle/>
          <a:p>
            <a:r>
              <a:rPr lang="en-US" altLang="zh-CN"/>
              <a:t>6.</a:t>
            </a:r>
            <a:r>
              <a:rPr lang="zh-CN" altLang="en-US"/>
              <a:t>识别服务候选组合</a:t>
            </a:r>
            <a:endParaRPr lang="zh-CN" altLang="en-US" dirty="0"/>
          </a:p>
        </p:txBody>
      </p:sp>
      <p:sp>
        <p:nvSpPr>
          <p:cNvPr id="3" name="内容占位符 2"/>
          <p:cNvSpPr>
            <a:spLocks noGrp="1"/>
          </p:cNvSpPr>
          <p:nvPr>
            <p:ph idx="1"/>
          </p:nvPr>
        </p:nvSpPr>
        <p:spPr>
          <a:xfrm>
            <a:off x="457200" y="1052512"/>
            <a:ext cx="8229600" cy="2376487"/>
          </a:xfrm>
        </p:spPr>
        <p:txBody>
          <a:bodyPr>
            <a:normAutofit fontScale="85000" lnSpcReduction="20000"/>
          </a:bodyPr>
          <a:lstStyle/>
          <a:p>
            <a:pPr>
              <a:lnSpc>
                <a:spcPct val="120000"/>
              </a:lnSpc>
            </a:pPr>
            <a:r>
              <a:rPr lang="zh-CN" altLang="en-US" dirty="0"/>
              <a:t>假想一系列业务流程中的通用场景</a:t>
            </a:r>
            <a:endParaRPr lang="en-US" altLang="zh-CN" dirty="0"/>
          </a:p>
          <a:p>
            <a:pPr lvl="1">
              <a:lnSpc>
                <a:spcPct val="120000"/>
              </a:lnSpc>
            </a:pPr>
            <a:r>
              <a:rPr lang="zh-CN" altLang="en-US" dirty="0"/>
              <a:t>有助于识别当前的业务流程步骤划分是否合理</a:t>
            </a:r>
            <a:endParaRPr lang="en-US" altLang="zh-CN" dirty="0"/>
          </a:p>
          <a:p>
            <a:pPr lvl="1">
              <a:lnSpc>
                <a:spcPct val="120000"/>
              </a:lnSpc>
            </a:pPr>
            <a:r>
              <a:rPr lang="zh-CN" altLang="en-US" dirty="0"/>
              <a:t>显示编排服务层和业务服务层之间的潜在关系</a:t>
            </a:r>
            <a:endParaRPr lang="en-US" altLang="zh-CN" dirty="0"/>
          </a:p>
          <a:p>
            <a:pPr lvl="1">
              <a:lnSpc>
                <a:spcPct val="120000"/>
              </a:lnSpc>
            </a:pPr>
            <a:r>
              <a:rPr lang="zh-CN" altLang="en-US" dirty="0"/>
              <a:t>定义潜在的服务组合</a:t>
            </a:r>
            <a:endParaRPr lang="en-US" altLang="zh-CN" dirty="0"/>
          </a:p>
          <a:p>
            <a:pPr lvl="1">
              <a:lnSpc>
                <a:spcPct val="120000"/>
              </a:lnSpc>
            </a:pPr>
            <a:r>
              <a:rPr lang="zh-CN" altLang="en-US" dirty="0"/>
              <a:t>突出显现当前缺失的工作流逻辑或过程步骤</a:t>
            </a:r>
          </a:p>
        </p:txBody>
      </p:sp>
      <p:sp>
        <p:nvSpPr>
          <p:cNvPr id="32772" name="灯片编号占位符 3"/>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F0B908A5-90BB-4084-94EC-868396724233}" type="slidenum">
              <a:rPr lang="en-US" altLang="zh-CN" smtClean="0"/>
              <a:pPr/>
              <a:t>32</a:t>
            </a:fld>
            <a:endParaRPr lang="en-US" altLang="zh-CN"/>
          </a:p>
        </p:txBody>
      </p:sp>
      <p:pic>
        <p:nvPicPr>
          <p:cNvPr id="2" name="图片 1"/>
          <p:cNvPicPr>
            <a:picLocks noChangeAspect="1"/>
          </p:cNvPicPr>
          <p:nvPr/>
        </p:nvPicPr>
        <p:blipFill>
          <a:blip r:embed="rId3"/>
          <a:stretch>
            <a:fillRect/>
          </a:stretch>
        </p:blipFill>
        <p:spPr>
          <a:xfrm>
            <a:off x="0" y="3428999"/>
            <a:ext cx="5657850" cy="2876550"/>
          </a:xfrm>
          <a:prstGeom prst="rect">
            <a:avLst/>
          </a:prstGeom>
        </p:spPr>
      </p:pic>
      <p:pic>
        <p:nvPicPr>
          <p:cNvPr id="4" name="图片 3"/>
          <p:cNvPicPr>
            <a:picLocks noChangeAspect="1"/>
          </p:cNvPicPr>
          <p:nvPr/>
        </p:nvPicPr>
        <p:blipFill>
          <a:blip r:embed="rId4"/>
          <a:stretch>
            <a:fillRect/>
          </a:stretch>
        </p:blipFill>
        <p:spPr>
          <a:xfrm>
            <a:off x="5478707" y="3441031"/>
            <a:ext cx="3277978" cy="2781090"/>
          </a:xfrm>
          <a:prstGeom prst="rect">
            <a:avLst/>
          </a:prstGeom>
        </p:spPr>
      </p:pic>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p:txBody>
          <a:bodyPr/>
          <a:lstStyle/>
          <a:p>
            <a:r>
              <a:rPr lang="zh-CN" altLang="en-US"/>
              <a:t>其余步骤 </a:t>
            </a:r>
            <a:r>
              <a:rPr lang="en-US" altLang="zh-CN"/>
              <a:t>I</a:t>
            </a:r>
            <a:endParaRPr lang="zh-CN" altLang="en-US" dirty="0"/>
          </a:p>
        </p:txBody>
      </p:sp>
      <p:sp>
        <p:nvSpPr>
          <p:cNvPr id="33795" name="内容占位符 2"/>
          <p:cNvSpPr>
            <a:spLocks noGrp="1"/>
          </p:cNvSpPr>
          <p:nvPr>
            <p:ph idx="1"/>
          </p:nvPr>
        </p:nvSpPr>
        <p:spPr/>
        <p:txBody>
          <a:bodyPr/>
          <a:lstStyle/>
          <a:p>
            <a:pPr>
              <a:lnSpc>
                <a:spcPct val="150000"/>
              </a:lnSpc>
            </a:pPr>
            <a:r>
              <a:rPr lang="en-US" altLang="zh-CN" dirty="0"/>
              <a:t>7.</a:t>
            </a:r>
            <a:r>
              <a:rPr lang="zh-CN" altLang="en-US" dirty="0"/>
              <a:t>修订业务服务候选</a:t>
            </a:r>
            <a:endParaRPr lang="en-US" altLang="zh-CN" dirty="0"/>
          </a:p>
          <a:p>
            <a:pPr>
              <a:lnSpc>
                <a:spcPct val="150000"/>
              </a:lnSpc>
            </a:pPr>
            <a:r>
              <a:rPr lang="en-US" altLang="zh-CN" dirty="0"/>
              <a:t>8.</a:t>
            </a:r>
            <a:r>
              <a:rPr lang="zh-CN" altLang="en-US" dirty="0"/>
              <a:t>分析应用处理需求</a:t>
            </a:r>
            <a:endParaRPr lang="en-US" altLang="zh-CN" dirty="0"/>
          </a:p>
          <a:p>
            <a:pPr lvl="1">
              <a:lnSpc>
                <a:spcPct val="150000"/>
              </a:lnSpc>
            </a:pPr>
            <a:r>
              <a:rPr lang="zh-CN" altLang="en-US" dirty="0"/>
              <a:t>为了完成服务操作候选描述的动作，需要执行哪些底层应用逻辑</a:t>
            </a:r>
            <a:endParaRPr lang="en-US" altLang="zh-CN" dirty="0"/>
          </a:p>
          <a:p>
            <a:pPr lvl="1">
              <a:lnSpc>
                <a:spcPct val="150000"/>
              </a:lnSpc>
            </a:pPr>
            <a:r>
              <a:rPr lang="zh-CN" altLang="en-US" dirty="0"/>
              <a:t>所需的应用逻辑是否存在，是否需要全新开发</a:t>
            </a:r>
            <a:endParaRPr lang="en-US" altLang="zh-CN" dirty="0"/>
          </a:p>
          <a:p>
            <a:pPr lvl="1">
              <a:lnSpc>
                <a:spcPct val="150000"/>
              </a:lnSpc>
            </a:pPr>
            <a:r>
              <a:rPr lang="zh-CN" altLang="en-US" dirty="0"/>
              <a:t>所需的应用逻辑是否跨越应用边界，即，是否需要多个系统完成该应用逻辑</a:t>
            </a:r>
            <a:endParaRPr lang="en-US" altLang="zh-CN" dirty="0"/>
          </a:p>
        </p:txBody>
      </p:sp>
      <p:sp>
        <p:nvSpPr>
          <p:cNvPr id="33796" name="灯片编号占位符 3"/>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394894E5-092B-46BE-9A7E-A942FACD7A56}" type="slidenum">
              <a:rPr lang="en-US" altLang="zh-CN" smtClean="0"/>
              <a:pPr/>
              <a:t>33</a:t>
            </a:fld>
            <a:endParaRPr lang="en-US" altLang="zh-CN"/>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p:txBody>
          <a:bodyPr/>
          <a:lstStyle/>
          <a:p>
            <a:r>
              <a:rPr lang="zh-CN" altLang="en-US"/>
              <a:t>其余步骤 </a:t>
            </a:r>
            <a:r>
              <a:rPr lang="en-US" altLang="zh-CN"/>
              <a:t>II</a:t>
            </a:r>
            <a:endParaRPr lang="zh-CN" altLang="en-US" dirty="0"/>
          </a:p>
        </p:txBody>
      </p:sp>
      <p:sp>
        <p:nvSpPr>
          <p:cNvPr id="34819" name="内容占位符 2"/>
          <p:cNvSpPr>
            <a:spLocks noGrp="1"/>
          </p:cNvSpPr>
          <p:nvPr>
            <p:ph idx="1"/>
          </p:nvPr>
        </p:nvSpPr>
        <p:spPr/>
        <p:txBody>
          <a:bodyPr/>
          <a:lstStyle/>
          <a:p>
            <a:pPr>
              <a:lnSpc>
                <a:spcPct val="150000"/>
              </a:lnSpc>
            </a:pPr>
            <a:r>
              <a:rPr lang="en-US" altLang="zh-CN" dirty="0"/>
              <a:t>9. </a:t>
            </a:r>
            <a:r>
              <a:rPr lang="zh-CN" altLang="en-US" dirty="0"/>
              <a:t>识别应用服务操作候选</a:t>
            </a:r>
            <a:endParaRPr lang="en-US" altLang="zh-CN" dirty="0"/>
          </a:p>
          <a:p>
            <a:pPr lvl="1">
              <a:lnSpc>
                <a:spcPct val="150000"/>
              </a:lnSpc>
            </a:pPr>
            <a:r>
              <a:rPr lang="zh-CN" altLang="en-US" dirty="0"/>
              <a:t>不应与业务流程步骤的上下文相关</a:t>
            </a:r>
            <a:endParaRPr lang="en-US" altLang="zh-CN" dirty="0"/>
          </a:p>
          <a:p>
            <a:pPr>
              <a:lnSpc>
                <a:spcPct val="150000"/>
              </a:lnSpc>
            </a:pPr>
            <a:r>
              <a:rPr lang="en-US" altLang="zh-CN" dirty="0"/>
              <a:t>10. </a:t>
            </a:r>
            <a:r>
              <a:rPr lang="zh-CN" altLang="en-US" dirty="0"/>
              <a:t>创建应用服务候选</a:t>
            </a:r>
            <a:endParaRPr lang="en-US" altLang="zh-CN" dirty="0"/>
          </a:p>
          <a:p>
            <a:pPr>
              <a:lnSpc>
                <a:spcPct val="150000"/>
              </a:lnSpc>
            </a:pPr>
            <a:r>
              <a:rPr lang="en-US" altLang="zh-CN" dirty="0"/>
              <a:t>11. </a:t>
            </a:r>
            <a:r>
              <a:rPr lang="zh-CN" altLang="en-US" dirty="0"/>
              <a:t>修订服务候选组合</a:t>
            </a:r>
            <a:endParaRPr lang="en-US" altLang="zh-CN" dirty="0"/>
          </a:p>
          <a:p>
            <a:pPr>
              <a:lnSpc>
                <a:spcPct val="150000"/>
              </a:lnSpc>
            </a:pPr>
            <a:r>
              <a:rPr lang="en-US" altLang="zh-CN" dirty="0"/>
              <a:t>12. </a:t>
            </a:r>
            <a:r>
              <a:rPr lang="zh-CN" altLang="en-US" dirty="0"/>
              <a:t>修订应用服务候选</a:t>
            </a:r>
            <a:endParaRPr lang="en-US" altLang="zh-CN" dirty="0"/>
          </a:p>
          <a:p>
            <a:pPr>
              <a:lnSpc>
                <a:spcPct val="150000"/>
              </a:lnSpc>
              <a:buFont typeface="Wingdings" panose="05000000000000000000" pitchFamily="2" charset="2"/>
              <a:buChar char="p"/>
            </a:pPr>
            <a:r>
              <a:rPr lang="zh-CN" altLang="en-US" dirty="0"/>
              <a:t> 可选步骤：保存服务候选库存</a:t>
            </a:r>
          </a:p>
        </p:txBody>
      </p:sp>
      <p:sp>
        <p:nvSpPr>
          <p:cNvPr id="34820" name="灯片编号占位符 3"/>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73406E98-674B-48B1-807C-ABB327AA5482}" type="slidenum">
              <a:rPr lang="en-US" altLang="zh-CN" smtClean="0"/>
              <a:pPr/>
              <a:t>34</a:t>
            </a:fld>
            <a:endParaRPr lang="en-US" altLang="zh-CN" dirty="0"/>
          </a:p>
        </p:txBody>
      </p:sp>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p:txBody>
          <a:bodyPr/>
          <a:lstStyle/>
          <a:p>
            <a:r>
              <a:rPr lang="zh-CN" altLang="en-US"/>
              <a:t>服务建模原则 </a:t>
            </a:r>
            <a:r>
              <a:rPr lang="en-US" altLang="zh-CN"/>
              <a:t>I</a:t>
            </a:r>
            <a:endParaRPr lang="zh-CN" altLang="en-US"/>
          </a:p>
        </p:txBody>
      </p:sp>
      <p:sp>
        <p:nvSpPr>
          <p:cNvPr id="35843" name="内容占位符 2"/>
          <p:cNvSpPr>
            <a:spLocks noGrp="1"/>
          </p:cNvSpPr>
          <p:nvPr>
            <p:ph idx="1"/>
          </p:nvPr>
        </p:nvSpPr>
        <p:spPr>
          <a:xfrm>
            <a:off x="457200" y="1052513"/>
            <a:ext cx="8229600" cy="2088455"/>
          </a:xfrm>
        </p:spPr>
        <p:txBody>
          <a:bodyPr/>
          <a:lstStyle/>
          <a:p>
            <a:r>
              <a:rPr lang="zh-CN" altLang="en-US" dirty="0"/>
              <a:t>考虑所封装的逻辑潜在的跨流程复用性</a:t>
            </a:r>
            <a:endParaRPr lang="en-US" altLang="zh-CN" dirty="0"/>
          </a:p>
          <a:p>
            <a:pPr lvl="1"/>
            <a:r>
              <a:rPr lang="zh-CN" altLang="en-US" dirty="0"/>
              <a:t>充分考虑企业业务模型中的所有业务流程</a:t>
            </a:r>
            <a:endParaRPr lang="en-US" altLang="zh-CN" dirty="0"/>
          </a:p>
          <a:p>
            <a:pPr lvl="1"/>
            <a:r>
              <a:rPr lang="zh-CN" altLang="en-US" dirty="0"/>
              <a:t>在粗、细两种粒度上同时提供复用性</a:t>
            </a:r>
          </a:p>
        </p:txBody>
      </p:sp>
      <p:sp>
        <p:nvSpPr>
          <p:cNvPr id="35844" name="灯片编号占位符 3"/>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4397BB2C-B342-451A-96E2-AF6DDFDA4E18}" type="slidenum">
              <a:rPr lang="en-US" altLang="zh-CN" smtClean="0"/>
              <a:pPr/>
              <a:t>35</a:t>
            </a:fld>
            <a:endParaRPr lang="en-US" altLang="zh-CN"/>
          </a:p>
        </p:txBody>
      </p:sp>
      <p:pic>
        <p:nvPicPr>
          <p:cNvPr id="2" name="图片 1"/>
          <p:cNvPicPr>
            <a:picLocks noChangeAspect="1"/>
          </p:cNvPicPr>
          <p:nvPr/>
        </p:nvPicPr>
        <p:blipFill>
          <a:blip r:embed="rId3"/>
          <a:stretch>
            <a:fillRect/>
          </a:stretch>
        </p:blipFill>
        <p:spPr>
          <a:xfrm>
            <a:off x="1403648" y="3356992"/>
            <a:ext cx="6059020" cy="2776091"/>
          </a:xfrm>
          <a:prstGeom prst="rect">
            <a:avLst/>
          </a:prstGeom>
        </p:spPr>
      </p:pic>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p:txBody>
          <a:bodyPr/>
          <a:lstStyle/>
          <a:p>
            <a:r>
              <a:rPr lang="zh-CN" altLang="en-US"/>
              <a:t>服务建模原则 </a:t>
            </a:r>
            <a:r>
              <a:rPr lang="en-US" altLang="zh-CN"/>
              <a:t>II</a:t>
            </a:r>
            <a:endParaRPr lang="zh-CN" altLang="en-US"/>
          </a:p>
        </p:txBody>
      </p:sp>
      <p:sp>
        <p:nvSpPr>
          <p:cNvPr id="36867" name="内容占位符 2"/>
          <p:cNvSpPr>
            <a:spLocks noGrp="1"/>
          </p:cNvSpPr>
          <p:nvPr>
            <p:ph idx="1"/>
          </p:nvPr>
        </p:nvSpPr>
        <p:spPr>
          <a:xfrm>
            <a:off x="457200" y="1052513"/>
            <a:ext cx="8229600" cy="1080343"/>
          </a:xfrm>
        </p:spPr>
        <p:txBody>
          <a:bodyPr/>
          <a:lstStyle/>
          <a:p>
            <a:r>
              <a:rPr lang="zh-CN" altLang="en-US" sz="2800" dirty="0"/>
              <a:t>考虑被封装逻辑</a:t>
            </a:r>
            <a:r>
              <a:rPr lang="en-US" altLang="zh-CN" sz="2800" dirty="0"/>
              <a:t>(</a:t>
            </a:r>
            <a:r>
              <a:rPr lang="zh-CN" altLang="en-US" sz="2800" dirty="0"/>
              <a:t>以任务为核心的业务服务候选</a:t>
            </a:r>
            <a:r>
              <a:rPr lang="en-US" altLang="zh-CN" sz="2800" dirty="0"/>
              <a:t>)</a:t>
            </a:r>
            <a:r>
              <a:rPr lang="zh-CN" altLang="en-US" sz="2800" dirty="0"/>
              <a:t>在流程内复用潜能</a:t>
            </a:r>
          </a:p>
        </p:txBody>
      </p:sp>
      <p:sp>
        <p:nvSpPr>
          <p:cNvPr id="36868" name="灯片编号占位符 3"/>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192857AD-98DE-4466-9DC5-4DF02823D4D7}" type="slidenum">
              <a:rPr lang="en-US" altLang="zh-CN" smtClean="0"/>
              <a:pPr/>
              <a:t>36</a:t>
            </a:fld>
            <a:endParaRPr lang="en-US" altLang="zh-CN"/>
          </a:p>
        </p:txBody>
      </p:sp>
      <p:pic>
        <p:nvPicPr>
          <p:cNvPr id="2" name="图片 1"/>
          <p:cNvPicPr>
            <a:picLocks noChangeAspect="1"/>
          </p:cNvPicPr>
          <p:nvPr/>
        </p:nvPicPr>
        <p:blipFill>
          <a:blip r:embed="rId3"/>
          <a:stretch>
            <a:fillRect/>
          </a:stretch>
        </p:blipFill>
        <p:spPr>
          <a:xfrm>
            <a:off x="2339752" y="2066622"/>
            <a:ext cx="4452516" cy="4394503"/>
          </a:xfrm>
          <a:prstGeom prst="rect">
            <a:avLst/>
          </a:prstGeom>
        </p:spPr>
      </p:pic>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p:nvPr>
        </p:nvSpPr>
        <p:spPr/>
        <p:txBody>
          <a:bodyPr/>
          <a:lstStyle/>
          <a:p>
            <a:r>
              <a:rPr lang="zh-CN" altLang="en-US"/>
              <a:t>服务建模原则 </a:t>
            </a:r>
            <a:r>
              <a:rPr lang="en-US" altLang="zh-CN"/>
              <a:t>III</a:t>
            </a:r>
            <a:endParaRPr lang="zh-CN" altLang="en-US"/>
          </a:p>
        </p:txBody>
      </p:sp>
      <p:sp>
        <p:nvSpPr>
          <p:cNvPr id="3" name="内容占位符 2"/>
          <p:cNvSpPr>
            <a:spLocks noGrp="1"/>
          </p:cNvSpPr>
          <p:nvPr>
            <p:ph idx="1"/>
          </p:nvPr>
        </p:nvSpPr>
        <p:spPr/>
        <p:txBody>
          <a:bodyPr/>
          <a:lstStyle/>
          <a:p>
            <a:pPr>
              <a:lnSpc>
                <a:spcPct val="150000"/>
              </a:lnSpc>
            </a:pPr>
            <a:r>
              <a:rPr lang="zh-CN" altLang="en-US" dirty="0"/>
              <a:t>与流程相关的依赖因素</a:t>
            </a:r>
            <a:r>
              <a:rPr lang="en-US" altLang="zh-CN" dirty="0"/>
              <a:t>(</a:t>
            </a:r>
            <a:r>
              <a:rPr lang="zh-CN" altLang="en-US" dirty="0"/>
              <a:t>以任务为核心的业务服务候选</a:t>
            </a:r>
            <a:r>
              <a:rPr lang="en-US" altLang="zh-CN" dirty="0"/>
              <a:t>)</a:t>
            </a:r>
          </a:p>
          <a:p>
            <a:pPr lvl="1">
              <a:lnSpc>
                <a:spcPct val="150000"/>
              </a:lnSpc>
            </a:pPr>
            <a:r>
              <a:rPr lang="zh-CN" altLang="en-US" dirty="0"/>
              <a:t>在流程中使用输入值或参数描述业务规则，决策点，方案，条件判定及其他相关的工作流逻辑</a:t>
            </a:r>
            <a:endParaRPr lang="en-US" altLang="zh-CN" dirty="0"/>
          </a:p>
          <a:p>
            <a:pPr lvl="1">
              <a:lnSpc>
                <a:spcPct val="150000"/>
              </a:lnSpc>
            </a:pPr>
            <a:r>
              <a:rPr lang="zh-CN" altLang="en-US" dirty="0"/>
              <a:t>这些业务服务候选的外部信息，影响业务服务的潜在灵活性和被复用和组合的程度</a:t>
            </a:r>
          </a:p>
        </p:txBody>
      </p:sp>
      <p:sp>
        <p:nvSpPr>
          <p:cNvPr id="37892" name="灯片编号占位符 3"/>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971EEFAB-D29E-43E7-97AE-D76EE147B9A6}" type="slidenum">
              <a:rPr lang="en-US" altLang="zh-CN" smtClean="0"/>
              <a:pPr/>
              <a:t>37</a:t>
            </a:fld>
            <a:endParaRPr lang="en-US" altLang="zh-CN" dirty="0"/>
          </a:p>
        </p:txBody>
      </p:sp>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p:txBody>
          <a:bodyPr/>
          <a:lstStyle/>
          <a:p>
            <a:r>
              <a:rPr lang="zh-CN" altLang="en-US"/>
              <a:t>服务建模原则 </a:t>
            </a:r>
            <a:r>
              <a:rPr lang="en-US" altLang="zh-CN"/>
              <a:t>IV &amp; V</a:t>
            </a:r>
            <a:endParaRPr lang="zh-CN" altLang="en-US"/>
          </a:p>
        </p:txBody>
      </p:sp>
      <p:sp>
        <p:nvSpPr>
          <p:cNvPr id="3" name="内容占位符 2"/>
          <p:cNvSpPr>
            <a:spLocks noGrp="1"/>
          </p:cNvSpPr>
          <p:nvPr>
            <p:ph idx="1"/>
          </p:nvPr>
        </p:nvSpPr>
        <p:spPr/>
        <p:txBody>
          <a:bodyPr/>
          <a:lstStyle/>
          <a:p>
            <a:pPr>
              <a:lnSpc>
                <a:spcPct val="150000"/>
              </a:lnSpc>
            </a:pPr>
            <a:r>
              <a:rPr lang="zh-CN" altLang="en-US" dirty="0"/>
              <a:t>跨应用复用的模式</a:t>
            </a:r>
            <a:r>
              <a:rPr lang="en-US" altLang="zh-CN" dirty="0"/>
              <a:t>(</a:t>
            </a:r>
            <a:r>
              <a:rPr lang="zh-CN" altLang="en-US" dirty="0"/>
              <a:t>应用服务候选</a:t>
            </a:r>
            <a:r>
              <a:rPr lang="en-US" altLang="zh-CN" dirty="0"/>
              <a:t>)</a:t>
            </a:r>
          </a:p>
          <a:p>
            <a:pPr lvl="1">
              <a:lnSpc>
                <a:spcPct val="150000"/>
              </a:lnSpc>
            </a:pPr>
            <a:r>
              <a:rPr lang="zh-CN" altLang="en-US" dirty="0"/>
              <a:t>应用服务候选与业务无关（</a:t>
            </a:r>
            <a:r>
              <a:rPr lang="en-US" altLang="zh-CN" dirty="0"/>
              <a:t>business-agnostic</a:t>
            </a:r>
            <a:r>
              <a:rPr lang="zh-CN" altLang="en-US" dirty="0"/>
              <a:t>）</a:t>
            </a:r>
            <a:endParaRPr lang="en-US" altLang="zh-CN" dirty="0"/>
          </a:p>
          <a:p>
            <a:pPr lvl="1">
              <a:lnSpc>
                <a:spcPct val="150000"/>
              </a:lnSpc>
            </a:pPr>
            <a:r>
              <a:rPr lang="zh-CN" altLang="en-US" dirty="0"/>
              <a:t>应用服务操作候选的语境与解决方案无关</a:t>
            </a:r>
            <a:endParaRPr lang="en-US" altLang="zh-CN" dirty="0"/>
          </a:p>
          <a:p>
            <a:pPr>
              <a:lnSpc>
                <a:spcPct val="150000"/>
              </a:lnSpc>
            </a:pPr>
            <a:r>
              <a:rPr lang="zh-CN" altLang="en-US" dirty="0"/>
              <a:t>对未来分解需求的考虑</a:t>
            </a:r>
            <a:endParaRPr lang="en-US" altLang="zh-CN" dirty="0"/>
          </a:p>
          <a:p>
            <a:pPr lvl="1">
              <a:lnSpc>
                <a:spcPct val="150000"/>
              </a:lnSpc>
            </a:pPr>
            <a:r>
              <a:rPr lang="zh-CN" altLang="en-US" dirty="0"/>
              <a:t>整体服务 </a:t>
            </a:r>
            <a:r>
              <a:rPr lang="en-US" altLang="zh-CN" dirty="0"/>
              <a:t>vs. </a:t>
            </a:r>
            <a:r>
              <a:rPr lang="zh-CN" altLang="en-US" dirty="0"/>
              <a:t>组合服务</a:t>
            </a:r>
            <a:endParaRPr lang="en-US" altLang="zh-CN" dirty="0"/>
          </a:p>
        </p:txBody>
      </p:sp>
      <p:sp>
        <p:nvSpPr>
          <p:cNvPr id="38916" name="灯片编号占位符 3"/>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27C9FCCD-AFFC-4F6A-9D01-58FB5B931490}" type="slidenum">
              <a:rPr lang="en-US" altLang="zh-CN" smtClean="0"/>
              <a:pPr/>
              <a:t>38</a:t>
            </a:fld>
            <a:endParaRPr lang="en-US" altLang="zh-CN"/>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p:txBody>
          <a:bodyPr/>
          <a:lstStyle/>
          <a:p>
            <a:r>
              <a:rPr lang="zh-CN" altLang="en-US"/>
              <a:t>服务建模原则 </a:t>
            </a:r>
            <a:r>
              <a:rPr lang="en-US" altLang="zh-CN"/>
              <a:t>VI</a:t>
            </a:r>
            <a:endParaRPr lang="zh-CN" altLang="en-US"/>
          </a:p>
        </p:txBody>
      </p:sp>
      <p:sp>
        <p:nvSpPr>
          <p:cNvPr id="39939" name="内容占位符 2"/>
          <p:cNvSpPr>
            <a:spLocks noGrp="1"/>
          </p:cNvSpPr>
          <p:nvPr>
            <p:ph idx="1"/>
          </p:nvPr>
        </p:nvSpPr>
        <p:spPr>
          <a:xfrm>
            <a:off x="457200" y="1052513"/>
            <a:ext cx="8229600" cy="750887"/>
          </a:xfrm>
        </p:spPr>
        <p:txBody>
          <a:bodyPr/>
          <a:lstStyle/>
          <a:p>
            <a:r>
              <a:rPr lang="zh-CN" altLang="en-US" dirty="0"/>
              <a:t>以清晰的边界识别工作逻辑单元</a:t>
            </a:r>
            <a:endParaRPr lang="en-US" altLang="zh-CN" dirty="0"/>
          </a:p>
        </p:txBody>
      </p:sp>
      <p:sp>
        <p:nvSpPr>
          <p:cNvPr id="4" name="灯片编号占位符 3"/>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A7148EF8-D106-4127-86A0-8B34FF244495}" type="slidenum">
              <a:rPr lang="en-US" altLang="zh-CN" smtClean="0"/>
              <a:pPr/>
              <a:t>39</a:t>
            </a:fld>
            <a:endParaRPr lang="en-US" altLang="zh-CN"/>
          </a:p>
        </p:txBody>
      </p:sp>
      <p:graphicFrame>
        <p:nvGraphicFramePr>
          <p:cNvPr id="80899" name="Object 3"/>
          <p:cNvGraphicFramePr>
            <a:graphicFrameLocks noChangeAspect="1"/>
          </p:cNvGraphicFramePr>
          <p:nvPr>
            <p:extLst>
              <p:ext uri="{D42A27DB-BD31-4B8C-83A1-F6EECF244321}">
                <p14:modId xmlns:p14="http://schemas.microsoft.com/office/powerpoint/2010/main" val="3724632442"/>
              </p:ext>
            </p:extLst>
          </p:nvPr>
        </p:nvGraphicFramePr>
        <p:xfrm>
          <a:off x="0" y="2276872"/>
          <a:ext cx="4067175" cy="1955800"/>
        </p:xfrm>
        <a:graphic>
          <a:graphicData uri="http://schemas.openxmlformats.org/presentationml/2006/ole">
            <mc:AlternateContent xmlns:mc="http://schemas.openxmlformats.org/markup-compatibility/2006">
              <mc:Choice xmlns:v="urn:schemas-microsoft-com:vml" Requires="v">
                <p:oleObj spid="_x0000_s40124" name="Visio" r:id="rId5" imgW="4947018" imgH="2377960" progId="Visio.Drawing.11">
                  <p:embed/>
                </p:oleObj>
              </mc:Choice>
              <mc:Fallback>
                <p:oleObj name="Visio" r:id="rId5" imgW="4947018" imgH="2377960" progId="Visio.Drawing.11">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2276872"/>
                        <a:ext cx="4067175" cy="195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4"/>
          <p:cNvGraphicFramePr>
            <a:graphicFrameLocks noChangeAspect="1"/>
          </p:cNvGraphicFramePr>
          <p:nvPr/>
        </p:nvGraphicFramePr>
        <p:xfrm>
          <a:off x="3582988" y="2173288"/>
          <a:ext cx="5040312" cy="3200400"/>
        </p:xfrm>
        <a:graphic>
          <a:graphicData uri="http://schemas.openxmlformats.org/presentationml/2006/ole">
            <mc:AlternateContent xmlns:mc="http://schemas.openxmlformats.org/markup-compatibility/2006">
              <mc:Choice xmlns:v="urn:schemas-microsoft-com:vml" Requires="v">
                <p:oleObj spid="_x0000_s40125" name="Visio" r:id="rId7" imgW="3804278" imgH="2413808" progId="Visio.Drawing.11">
                  <p:embed/>
                </p:oleObj>
              </mc:Choice>
              <mc:Fallback>
                <p:oleObj name="Visio" r:id="rId7" imgW="3804278" imgH="2413808" progId="Visio.Drawing.11">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82988" y="2173288"/>
                        <a:ext cx="5040312"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Text Box 6"/>
          <p:cNvSpPr txBox="1">
            <a:spLocks noChangeArrowheads="1"/>
          </p:cNvSpPr>
          <p:nvPr/>
        </p:nvSpPr>
        <p:spPr bwMode="auto">
          <a:xfrm>
            <a:off x="4140200" y="6094413"/>
            <a:ext cx="324008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1600"/>
              <a:t>Existing services with CreditCard Checking integrated</a:t>
            </a:r>
          </a:p>
        </p:txBody>
      </p:sp>
      <p:sp>
        <p:nvSpPr>
          <p:cNvPr id="9" name="Line 7"/>
          <p:cNvSpPr>
            <a:spLocks noChangeShapeType="1"/>
          </p:cNvSpPr>
          <p:nvPr/>
        </p:nvSpPr>
        <p:spPr bwMode="auto">
          <a:xfrm flipH="1" flipV="1">
            <a:off x="4283075" y="5373688"/>
            <a:ext cx="1368425" cy="72072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 name="Line 8"/>
          <p:cNvSpPr>
            <a:spLocks noChangeShapeType="1"/>
          </p:cNvSpPr>
          <p:nvPr/>
        </p:nvSpPr>
        <p:spPr bwMode="auto">
          <a:xfrm flipH="1" flipV="1">
            <a:off x="5651500" y="5373688"/>
            <a:ext cx="0" cy="72072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 name="Line 9"/>
          <p:cNvSpPr>
            <a:spLocks noChangeShapeType="1"/>
          </p:cNvSpPr>
          <p:nvPr/>
        </p:nvSpPr>
        <p:spPr bwMode="auto">
          <a:xfrm flipV="1">
            <a:off x="5651500" y="5373688"/>
            <a:ext cx="1439863" cy="72072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ustDataLst>
      <p:tags r:id="rId2"/>
    </p:custData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80899"/>
                                        </p:tgtEl>
                                        <p:attrNameLst>
                                          <p:attrName>style.visibility</p:attrName>
                                        </p:attrNameLst>
                                      </p:cBhvr>
                                      <p:to>
                                        <p:strVal val="visible"/>
                                      </p:to>
                                    </p:set>
                                    <p:animEffect transition="in" filter="fade">
                                      <p:cBhvr>
                                        <p:cTn id="7" dur="2000"/>
                                        <p:tgtEl>
                                          <p:spTgt spid="8089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2000"/>
                                        <p:tgtEl>
                                          <p:spTgt spid="4"/>
                                        </p:tgtEl>
                                      </p:cBhvr>
                                    </p:animEffect>
                                  </p:childTnLst>
                                </p:cTn>
                              </p:par>
                              <p:par>
                                <p:cTn id="13" presetID="10"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200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20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20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20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9" grpId="0" animBg="1"/>
      <p:bldP spid="10" grpId="0" animBg="1"/>
      <p:bldP spid="11"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1"/>
          <p:cNvSpPr>
            <a:spLocks noGrp="1"/>
          </p:cNvSpPr>
          <p:nvPr>
            <p:ph type="title"/>
          </p:nvPr>
        </p:nvSpPr>
        <p:spPr/>
        <p:txBody>
          <a:bodyPr/>
          <a:lstStyle/>
          <a:p>
            <a:r>
              <a:rPr lang="zh-CN" altLang="en-US"/>
              <a:t>服务建模原则 </a:t>
            </a:r>
            <a:r>
              <a:rPr lang="en-US" altLang="zh-CN"/>
              <a:t>VII (1/2)</a:t>
            </a:r>
            <a:endParaRPr lang="zh-CN" altLang="en-US"/>
          </a:p>
        </p:txBody>
      </p:sp>
      <p:sp>
        <p:nvSpPr>
          <p:cNvPr id="3" name="内容占位符 2"/>
          <p:cNvSpPr>
            <a:spLocks noGrp="1"/>
          </p:cNvSpPr>
          <p:nvPr>
            <p:ph idx="1"/>
          </p:nvPr>
        </p:nvSpPr>
        <p:spPr/>
        <p:txBody>
          <a:bodyPr/>
          <a:lstStyle/>
          <a:p>
            <a:r>
              <a:rPr lang="zh-CN" altLang="en-US" dirty="0"/>
              <a:t>避免逻辑界线蔓延</a:t>
            </a:r>
            <a:r>
              <a:rPr lang="en-US" altLang="zh-CN" dirty="0"/>
              <a:t>(</a:t>
            </a:r>
            <a:r>
              <a:rPr lang="zh-CN" altLang="en-US" dirty="0"/>
              <a:t>服务候选之间业务逻辑互相重叠）</a:t>
            </a:r>
            <a:endParaRPr lang="en-US" altLang="zh-CN" dirty="0"/>
          </a:p>
          <a:p>
            <a:pPr lvl="1"/>
            <a:r>
              <a:rPr lang="zh-CN" altLang="en-US" dirty="0"/>
              <a:t>在不同时期创建的不同业务流程中的服务，它们所封装的逻辑是相同的</a:t>
            </a:r>
          </a:p>
          <a:p>
            <a:pPr lvl="1"/>
            <a:r>
              <a:rPr lang="zh-CN" altLang="en-US" dirty="0"/>
              <a:t>在不同时期创建的不同业务流程中的服务，它们所封装的逻辑相互交叠但不相同。这种情形是在不同的工作流设计中，工作流共享了相似的逻辑</a:t>
            </a:r>
          </a:p>
          <a:p>
            <a:pPr lvl="1"/>
            <a:r>
              <a:rPr lang="zh-CN" altLang="en-US" dirty="0"/>
              <a:t>在不同时期从相同业务流程中派生出的服务。当流程的多个变种存在时尤为常见</a:t>
            </a:r>
          </a:p>
        </p:txBody>
      </p:sp>
      <p:sp>
        <p:nvSpPr>
          <p:cNvPr id="40964" name="灯片编号占位符 3"/>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CA28E536-A717-40F3-9972-7A2545C7D3BA}" type="slidenum">
              <a:rPr lang="en-US" altLang="zh-CN" smtClean="0"/>
              <a:pPr/>
              <a:t>40</a:t>
            </a:fld>
            <a:endParaRPr lang="en-US" altLang="zh-CN"/>
          </a:p>
        </p:txBody>
      </p:sp>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p:txBody>
          <a:bodyPr/>
          <a:lstStyle/>
          <a:p>
            <a:r>
              <a:rPr lang="zh-CN" altLang="en-US"/>
              <a:t>服务建模原则 </a:t>
            </a:r>
            <a:r>
              <a:rPr lang="en-US" altLang="zh-CN"/>
              <a:t>VII (2/2)</a:t>
            </a:r>
            <a:endParaRPr lang="zh-CN" altLang="en-US"/>
          </a:p>
        </p:txBody>
      </p:sp>
      <p:sp>
        <p:nvSpPr>
          <p:cNvPr id="3" name="内容占位符 2"/>
          <p:cNvSpPr>
            <a:spLocks noGrp="1"/>
          </p:cNvSpPr>
          <p:nvPr>
            <p:ph idx="1"/>
          </p:nvPr>
        </p:nvSpPr>
        <p:spPr/>
        <p:txBody>
          <a:bodyPr/>
          <a:lstStyle/>
          <a:p>
            <a:pPr>
              <a:lnSpc>
                <a:spcPct val="150000"/>
              </a:lnSpc>
            </a:pPr>
            <a:r>
              <a:rPr lang="zh-CN" altLang="en-US" dirty="0"/>
              <a:t>避免逻辑界线蔓延不适用于服务组合</a:t>
            </a:r>
            <a:endParaRPr lang="en-US" altLang="zh-CN" dirty="0"/>
          </a:p>
          <a:p>
            <a:pPr>
              <a:lnSpc>
                <a:spcPct val="150000"/>
              </a:lnSpc>
            </a:pPr>
            <a:r>
              <a:rPr lang="zh-CN" altLang="en-US" dirty="0"/>
              <a:t>通过</a:t>
            </a:r>
            <a:r>
              <a:rPr lang="en-US" altLang="zh-CN" dirty="0"/>
              <a:t>…</a:t>
            </a:r>
            <a:r>
              <a:rPr lang="zh-CN" altLang="en-US" dirty="0"/>
              <a:t>降低边界蔓延的风险</a:t>
            </a:r>
            <a:endParaRPr lang="en-US" altLang="zh-CN" dirty="0"/>
          </a:p>
          <a:p>
            <a:pPr lvl="1">
              <a:lnSpc>
                <a:spcPct val="150000"/>
              </a:lnSpc>
            </a:pPr>
            <a:r>
              <a:rPr lang="zh-CN" altLang="en-US" dirty="0"/>
              <a:t>在定义新的服务候选前，检查现有服务可用的元数据文件</a:t>
            </a:r>
            <a:endParaRPr lang="en-US" altLang="zh-CN" dirty="0"/>
          </a:p>
          <a:p>
            <a:pPr lvl="1">
              <a:lnSpc>
                <a:spcPct val="150000"/>
              </a:lnSpc>
            </a:pPr>
            <a:r>
              <a:rPr lang="zh-CN" altLang="en-US" dirty="0"/>
              <a:t>实现所有建模服务所使用的一组标准</a:t>
            </a:r>
            <a:endParaRPr lang="en-US" altLang="zh-CN" dirty="0"/>
          </a:p>
          <a:p>
            <a:pPr lvl="1">
              <a:lnSpc>
                <a:spcPct val="150000"/>
              </a:lnSpc>
            </a:pPr>
            <a:r>
              <a:rPr lang="zh-CN" altLang="en-US" dirty="0"/>
              <a:t>提醒业务流程和服务模型的所有涉及方注意这一风险</a:t>
            </a:r>
          </a:p>
        </p:txBody>
      </p:sp>
      <p:sp>
        <p:nvSpPr>
          <p:cNvPr id="41988" name="灯片编号占位符 3"/>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B817B7B5-17F5-456D-A11B-B80A1C1BFCCC}" type="slidenum">
              <a:rPr lang="en-US" altLang="zh-CN" smtClean="0"/>
              <a:pPr/>
              <a:t>41</a:t>
            </a:fld>
            <a:endParaRPr lang="en-US" altLang="zh-CN"/>
          </a:p>
        </p:txBody>
      </p:sp>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1"/>
          <p:cNvSpPr>
            <a:spLocks noGrp="1"/>
          </p:cNvSpPr>
          <p:nvPr>
            <p:ph type="title"/>
          </p:nvPr>
        </p:nvSpPr>
        <p:spPr/>
        <p:txBody>
          <a:bodyPr/>
          <a:lstStyle/>
          <a:p>
            <a:r>
              <a:rPr lang="zh-CN" altLang="en-US"/>
              <a:t>服务建模原则 </a:t>
            </a:r>
            <a:r>
              <a:rPr lang="en-US" altLang="zh-CN"/>
              <a:t>VIII</a:t>
            </a:r>
            <a:endParaRPr lang="zh-CN" altLang="en-US"/>
          </a:p>
        </p:txBody>
      </p:sp>
      <p:sp>
        <p:nvSpPr>
          <p:cNvPr id="43011" name="内容占位符 2"/>
          <p:cNvSpPr>
            <a:spLocks noGrp="1"/>
          </p:cNvSpPr>
          <p:nvPr>
            <p:ph idx="1"/>
          </p:nvPr>
        </p:nvSpPr>
        <p:spPr>
          <a:xfrm>
            <a:off x="457200" y="1052514"/>
            <a:ext cx="8229600" cy="1144588"/>
          </a:xfrm>
        </p:spPr>
        <p:txBody>
          <a:bodyPr/>
          <a:lstStyle/>
          <a:p>
            <a:r>
              <a:rPr lang="zh-CN" altLang="en-US" sz="2800" dirty="0"/>
              <a:t>不使用编排时的模拟流程服务</a:t>
            </a:r>
            <a:r>
              <a:rPr lang="en-US" altLang="zh-CN" sz="2800" dirty="0"/>
              <a:t>(</a:t>
            </a:r>
            <a:r>
              <a:rPr lang="zh-CN" altLang="en-US" sz="2800" dirty="0"/>
              <a:t>以任务为核心的业务服务候选</a:t>
            </a:r>
            <a:r>
              <a:rPr lang="en-US" altLang="zh-CN" sz="2800" dirty="0"/>
              <a:t>)</a:t>
            </a:r>
            <a:endParaRPr lang="zh-CN" altLang="en-US" sz="2800" dirty="0"/>
          </a:p>
        </p:txBody>
      </p:sp>
      <p:sp>
        <p:nvSpPr>
          <p:cNvPr id="43012" name="灯片编号占位符 3"/>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A43252B2-D3B7-42A9-8A9D-A704E674F155}" type="slidenum">
              <a:rPr lang="en-US" altLang="zh-CN" smtClean="0"/>
              <a:pPr/>
              <a:t>42</a:t>
            </a:fld>
            <a:endParaRPr lang="en-US" altLang="zh-CN"/>
          </a:p>
        </p:txBody>
      </p:sp>
      <p:pic>
        <p:nvPicPr>
          <p:cNvPr id="3" name="图片 2"/>
          <p:cNvPicPr>
            <a:picLocks noChangeAspect="1"/>
          </p:cNvPicPr>
          <p:nvPr/>
        </p:nvPicPr>
        <p:blipFill>
          <a:blip r:embed="rId3"/>
          <a:stretch>
            <a:fillRect/>
          </a:stretch>
        </p:blipFill>
        <p:spPr>
          <a:xfrm>
            <a:off x="1838325" y="2076621"/>
            <a:ext cx="5467350" cy="4438650"/>
          </a:xfrm>
          <a:prstGeom prst="rect">
            <a:avLst/>
          </a:prstGeom>
        </p:spPr>
      </p:pic>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p:txBody>
          <a:bodyPr/>
          <a:lstStyle/>
          <a:p>
            <a:r>
              <a:rPr lang="zh-CN" altLang="en-US" dirty="0"/>
              <a:t>服务建模原则 </a:t>
            </a:r>
            <a:r>
              <a:rPr lang="en-US" altLang="zh-CN" dirty="0"/>
              <a:t>IX~XI</a:t>
            </a:r>
            <a:endParaRPr lang="zh-CN" altLang="en-US" dirty="0"/>
          </a:p>
        </p:txBody>
      </p:sp>
      <p:sp>
        <p:nvSpPr>
          <p:cNvPr id="3" name="内容占位符 2"/>
          <p:cNvSpPr>
            <a:spLocks noGrp="1"/>
          </p:cNvSpPr>
          <p:nvPr>
            <p:ph idx="1"/>
          </p:nvPr>
        </p:nvSpPr>
        <p:spPr/>
        <p:txBody>
          <a:bodyPr/>
          <a:lstStyle/>
          <a:p>
            <a:pPr>
              <a:lnSpc>
                <a:spcPct val="150000"/>
              </a:lnSpc>
            </a:pPr>
            <a:r>
              <a:rPr lang="zh-CN" altLang="en-US" dirty="0"/>
              <a:t>以平衡模型为目标</a:t>
            </a:r>
            <a:endParaRPr lang="en-US" altLang="zh-CN" dirty="0"/>
          </a:p>
          <a:p>
            <a:pPr lvl="1">
              <a:lnSpc>
                <a:spcPct val="150000"/>
              </a:lnSpc>
            </a:pPr>
            <a:r>
              <a:rPr lang="zh-CN" altLang="en-US" dirty="0"/>
              <a:t>难以达成最优模型</a:t>
            </a:r>
            <a:endParaRPr lang="en-US" altLang="zh-CN" dirty="0"/>
          </a:p>
          <a:p>
            <a:pPr lvl="1">
              <a:lnSpc>
                <a:spcPct val="150000"/>
              </a:lnSpc>
            </a:pPr>
            <a:r>
              <a:rPr lang="zh-CN" altLang="en-US" dirty="0"/>
              <a:t>综合考虑服务生态系统的业务需求、一致的标准、业界约定</a:t>
            </a:r>
            <a:endParaRPr lang="en-US" altLang="zh-CN" dirty="0"/>
          </a:p>
          <a:p>
            <a:pPr>
              <a:lnSpc>
                <a:spcPct val="150000"/>
              </a:lnSpc>
            </a:pPr>
            <a:r>
              <a:rPr lang="zh-CN" altLang="en-US" dirty="0"/>
              <a:t>分类服务建模逻辑</a:t>
            </a:r>
            <a:endParaRPr lang="en-US" altLang="zh-CN" dirty="0"/>
          </a:p>
          <a:p>
            <a:pPr lvl="1">
              <a:lnSpc>
                <a:spcPct val="150000"/>
              </a:lnSpc>
            </a:pPr>
            <a:r>
              <a:rPr lang="zh-CN" altLang="en-US" dirty="0"/>
              <a:t>以分类标准区分服务候选</a:t>
            </a:r>
            <a:endParaRPr lang="en-US" altLang="zh-CN" dirty="0"/>
          </a:p>
          <a:p>
            <a:pPr lvl="1">
              <a:lnSpc>
                <a:spcPct val="150000"/>
              </a:lnSpc>
            </a:pPr>
            <a:r>
              <a:rPr lang="zh-CN" altLang="en-US" dirty="0"/>
              <a:t>使用分类模式指导服务建模</a:t>
            </a:r>
            <a:endParaRPr lang="en-US" altLang="zh-CN" dirty="0"/>
          </a:p>
        </p:txBody>
      </p:sp>
      <p:sp>
        <p:nvSpPr>
          <p:cNvPr id="44036" name="灯片编号占位符 3"/>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EF7F9D8D-9553-4959-8956-C1D6C5FC3625}" type="slidenum">
              <a:rPr lang="en-US" altLang="zh-CN" smtClean="0"/>
              <a:pPr/>
              <a:t>43</a:t>
            </a:fld>
            <a:endParaRPr lang="en-US" altLang="zh-CN"/>
          </a:p>
        </p:txBody>
      </p:sp>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p:txBody>
          <a:bodyPr/>
          <a:lstStyle/>
          <a:p>
            <a:r>
              <a:rPr lang="zh-CN" altLang="en-US"/>
              <a:t>服务建模原则 </a:t>
            </a:r>
            <a:r>
              <a:rPr lang="en-US" altLang="zh-CN"/>
              <a:t>XI</a:t>
            </a:r>
            <a:endParaRPr lang="zh-CN" altLang="en-US"/>
          </a:p>
        </p:txBody>
      </p:sp>
      <p:sp>
        <p:nvSpPr>
          <p:cNvPr id="45059" name="内容占位符 2"/>
          <p:cNvSpPr>
            <a:spLocks noGrp="1"/>
          </p:cNvSpPr>
          <p:nvPr>
            <p:ph idx="1"/>
          </p:nvPr>
        </p:nvSpPr>
        <p:spPr>
          <a:xfrm>
            <a:off x="457200" y="1052514"/>
            <a:ext cx="8229600" cy="615950"/>
          </a:xfrm>
        </p:spPr>
        <p:txBody>
          <a:bodyPr/>
          <a:lstStyle/>
          <a:p>
            <a:r>
              <a:rPr lang="zh-CN" altLang="en-US" dirty="0"/>
              <a:t>恰当分配建模资源</a:t>
            </a:r>
          </a:p>
        </p:txBody>
      </p:sp>
      <p:sp>
        <p:nvSpPr>
          <p:cNvPr id="45060" name="灯片编号占位符 3"/>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C8A0C90A-E374-4195-B076-875588F963C7}" type="slidenum">
              <a:rPr lang="en-US" altLang="zh-CN" smtClean="0"/>
              <a:pPr/>
              <a:t>44</a:t>
            </a:fld>
            <a:endParaRPr lang="en-US" altLang="zh-CN"/>
          </a:p>
        </p:txBody>
      </p:sp>
      <p:pic>
        <p:nvPicPr>
          <p:cNvPr id="2" name="图片 1"/>
          <p:cNvPicPr>
            <a:picLocks noChangeAspect="1"/>
          </p:cNvPicPr>
          <p:nvPr/>
        </p:nvPicPr>
        <p:blipFill>
          <a:blip r:embed="rId3"/>
          <a:stretch>
            <a:fillRect/>
          </a:stretch>
        </p:blipFill>
        <p:spPr>
          <a:xfrm>
            <a:off x="1704975" y="1703746"/>
            <a:ext cx="5734050" cy="4714875"/>
          </a:xfrm>
          <a:prstGeom prst="rect">
            <a:avLst/>
          </a:prstGeom>
        </p:spPr>
      </p:pic>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p:txBody>
          <a:bodyPr/>
          <a:lstStyle/>
          <a:p>
            <a:r>
              <a:rPr lang="zh-CN" altLang="en-US"/>
              <a:t>服务建模原则 </a:t>
            </a:r>
            <a:r>
              <a:rPr lang="en-US" altLang="zh-CN"/>
              <a:t>XII</a:t>
            </a:r>
            <a:endParaRPr lang="zh-CN" altLang="en-US"/>
          </a:p>
        </p:txBody>
      </p:sp>
      <p:sp>
        <p:nvSpPr>
          <p:cNvPr id="3" name="内容占位符 2"/>
          <p:cNvSpPr>
            <a:spLocks noGrp="1"/>
          </p:cNvSpPr>
          <p:nvPr>
            <p:ph idx="1"/>
          </p:nvPr>
        </p:nvSpPr>
        <p:spPr/>
        <p:txBody>
          <a:bodyPr>
            <a:normAutofit fontScale="92500" lnSpcReduction="10000"/>
          </a:bodyPr>
          <a:lstStyle/>
          <a:p>
            <a:pPr>
              <a:lnSpc>
                <a:spcPct val="110000"/>
              </a:lnSpc>
            </a:pPr>
            <a:r>
              <a:rPr lang="zh-CN" altLang="en-US" dirty="0"/>
              <a:t>创建和发布业务服务建模标准</a:t>
            </a:r>
            <a:endParaRPr lang="en-US" altLang="zh-CN" dirty="0"/>
          </a:p>
          <a:p>
            <a:pPr lvl="1">
              <a:lnSpc>
                <a:spcPct val="110000"/>
              </a:lnSpc>
            </a:pPr>
            <a:r>
              <a:rPr lang="en-US" altLang="zh-CN" dirty="0"/>
              <a:t>Extended UML</a:t>
            </a:r>
          </a:p>
          <a:p>
            <a:pPr lvl="2">
              <a:lnSpc>
                <a:spcPct val="110000"/>
              </a:lnSpc>
            </a:pPr>
            <a:r>
              <a:rPr lang="zh-CN" altLang="en-US" dirty="0"/>
              <a:t>不同角度出发刻画系统、捕捉软件开发活动所需要的重要信息。</a:t>
            </a:r>
            <a:endParaRPr lang="en-US" altLang="zh-CN" dirty="0"/>
          </a:p>
          <a:p>
            <a:pPr lvl="2">
              <a:lnSpc>
                <a:spcPct val="110000"/>
              </a:lnSpc>
            </a:pPr>
            <a:r>
              <a:rPr lang="zh-CN" altLang="en-US" dirty="0"/>
              <a:t>模型的建立、解释和转化，通常为人工过程</a:t>
            </a:r>
            <a:endParaRPr lang="en-US" altLang="zh-CN" dirty="0"/>
          </a:p>
          <a:p>
            <a:pPr lvl="1">
              <a:lnSpc>
                <a:spcPct val="110000"/>
              </a:lnSpc>
            </a:pPr>
            <a:r>
              <a:rPr lang="zh-CN" altLang="en-US" dirty="0"/>
              <a:t>模型驱动体系结构（</a:t>
            </a:r>
            <a:r>
              <a:rPr lang="en-US" altLang="zh-CN" dirty="0"/>
              <a:t>MDA</a:t>
            </a:r>
            <a:r>
              <a:rPr lang="zh-CN" altLang="en-US" dirty="0"/>
              <a:t>）</a:t>
            </a:r>
            <a:endParaRPr lang="en-US" altLang="zh-CN" dirty="0"/>
          </a:p>
          <a:p>
            <a:pPr lvl="2">
              <a:lnSpc>
                <a:spcPct val="110000"/>
              </a:lnSpc>
            </a:pPr>
            <a:r>
              <a:rPr lang="zh-CN" altLang="en-US" dirty="0"/>
              <a:t>计算无关模型（</a:t>
            </a:r>
            <a:r>
              <a:rPr lang="en-US" altLang="zh-CN" dirty="0"/>
              <a:t>CIM</a:t>
            </a:r>
            <a:r>
              <a:rPr lang="zh-CN" altLang="en-US" dirty="0"/>
              <a:t>）使应用领域专家和计算机专家对系统的需求达成共识</a:t>
            </a:r>
            <a:endParaRPr lang="en-US" altLang="zh-CN" dirty="0"/>
          </a:p>
          <a:p>
            <a:pPr lvl="2">
              <a:lnSpc>
                <a:spcPct val="110000"/>
              </a:lnSpc>
            </a:pPr>
            <a:r>
              <a:rPr lang="zh-CN" altLang="en-US" dirty="0"/>
              <a:t>平台无关模型（</a:t>
            </a:r>
            <a:r>
              <a:rPr lang="en-US" altLang="zh-CN" dirty="0"/>
              <a:t>PIM</a:t>
            </a:r>
            <a:r>
              <a:rPr lang="zh-CN" altLang="en-US" dirty="0"/>
              <a:t>）描述了实现</a:t>
            </a:r>
            <a:r>
              <a:rPr lang="en-US" altLang="zh-CN" dirty="0"/>
              <a:t>CIM</a:t>
            </a:r>
            <a:r>
              <a:rPr lang="zh-CN" altLang="en-US" dirty="0"/>
              <a:t>的软件特性，但可以映射到不同的实现平台</a:t>
            </a:r>
            <a:endParaRPr lang="en-US" altLang="zh-CN" dirty="0"/>
          </a:p>
          <a:p>
            <a:pPr lvl="2">
              <a:lnSpc>
                <a:spcPct val="110000"/>
              </a:lnSpc>
            </a:pPr>
            <a:r>
              <a:rPr lang="zh-CN" altLang="en-US" dirty="0"/>
              <a:t>特定平台模型（</a:t>
            </a:r>
            <a:r>
              <a:rPr lang="en-US" altLang="zh-CN" dirty="0"/>
              <a:t>PSM</a:t>
            </a:r>
            <a:r>
              <a:rPr lang="zh-CN" altLang="en-US" dirty="0"/>
              <a:t>）在特定软件开发平台和开发技术下的</a:t>
            </a:r>
            <a:r>
              <a:rPr lang="en-US" altLang="zh-CN" dirty="0"/>
              <a:t>PIM</a:t>
            </a:r>
            <a:r>
              <a:rPr lang="zh-CN" altLang="en-US" dirty="0"/>
              <a:t>的具体实现</a:t>
            </a:r>
            <a:endParaRPr lang="en-US" altLang="zh-CN" dirty="0"/>
          </a:p>
          <a:p>
            <a:pPr lvl="1">
              <a:lnSpc>
                <a:spcPct val="110000"/>
              </a:lnSpc>
            </a:pPr>
            <a:r>
              <a:rPr lang="en-US" altLang="zh-CN" dirty="0"/>
              <a:t>SMMA (single Model multiple analyses)</a:t>
            </a:r>
          </a:p>
        </p:txBody>
      </p:sp>
      <p:sp>
        <p:nvSpPr>
          <p:cNvPr id="46084" name="灯片编号占位符 3"/>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7491A5E2-EC17-4044-AD19-65FC8A229EC0}" type="slidenum">
              <a:rPr lang="en-US" altLang="zh-CN" smtClean="0"/>
              <a:pPr/>
              <a:t>45</a:t>
            </a:fld>
            <a:endParaRPr lang="en-US" altLang="zh-CN"/>
          </a:p>
        </p:txBody>
      </p:sp>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a:lstStyle/>
          <a:p>
            <a:r>
              <a:rPr lang="zh-CN" altLang="en-US"/>
              <a:t>服务模型逻辑分类</a:t>
            </a:r>
          </a:p>
        </p:txBody>
      </p:sp>
      <p:sp>
        <p:nvSpPr>
          <p:cNvPr id="47107" name="内容占位符 2"/>
          <p:cNvSpPr>
            <a:spLocks noGrp="1"/>
          </p:cNvSpPr>
          <p:nvPr>
            <p:ph idx="1"/>
          </p:nvPr>
        </p:nvSpPr>
        <p:spPr/>
        <p:txBody>
          <a:bodyPr>
            <a:normAutofit fontScale="92500" lnSpcReduction="10000"/>
          </a:bodyPr>
          <a:lstStyle/>
          <a:p>
            <a:pPr>
              <a:lnSpc>
                <a:spcPct val="110000"/>
              </a:lnSpc>
            </a:pPr>
            <a:r>
              <a:rPr lang="zh-CN" altLang="en-US" dirty="0"/>
              <a:t>在服务生态系统中，将模型逻辑抽象为服务候选与服务操作候选</a:t>
            </a:r>
            <a:endParaRPr lang="en-US" altLang="zh-CN" dirty="0"/>
          </a:p>
          <a:p>
            <a:pPr>
              <a:lnSpc>
                <a:spcPct val="110000"/>
              </a:lnSpc>
            </a:pPr>
            <a:r>
              <a:rPr lang="zh-CN" altLang="en-US" dirty="0"/>
              <a:t>虽然有着统一的抽象接口，服务候选与服务操作候选有着不同的规模和涵盖范围</a:t>
            </a:r>
            <a:endParaRPr lang="en-US" altLang="zh-CN" dirty="0"/>
          </a:p>
          <a:p>
            <a:pPr>
              <a:lnSpc>
                <a:spcPct val="110000"/>
              </a:lnSpc>
            </a:pPr>
            <a:r>
              <a:rPr lang="zh-CN" altLang="en-US" dirty="0"/>
              <a:t>为区分候选操作、服务和流程所覆盖的逻辑范围，在服务模型逻辑分类系统中，使用“构造块（</a:t>
            </a:r>
            <a:r>
              <a:rPr lang="en-US" altLang="zh-CN" dirty="0"/>
              <a:t>Building Block</a:t>
            </a:r>
            <a:r>
              <a:rPr lang="zh-CN" altLang="en-US" dirty="0"/>
              <a:t>）”或“服务建模单元（</a:t>
            </a:r>
            <a:r>
              <a:rPr lang="en-US" altLang="zh-CN" dirty="0"/>
              <a:t>Services Modeling Unit</a:t>
            </a:r>
            <a:r>
              <a:rPr lang="zh-CN" altLang="en-US" dirty="0"/>
              <a:t>）”来表示分类的级别</a:t>
            </a:r>
            <a:endParaRPr lang="en-US" altLang="zh-CN" dirty="0"/>
          </a:p>
          <a:p>
            <a:pPr lvl="1">
              <a:lnSpc>
                <a:spcPct val="110000"/>
              </a:lnSpc>
            </a:pPr>
            <a:r>
              <a:rPr lang="en-US" altLang="zh-CN" dirty="0"/>
              <a:t>Building Blocks </a:t>
            </a:r>
            <a:r>
              <a:rPr lang="zh-CN" altLang="en-US" dirty="0"/>
              <a:t>分类服务逻辑范围</a:t>
            </a:r>
            <a:endParaRPr lang="en-US" altLang="zh-CN" dirty="0"/>
          </a:p>
          <a:p>
            <a:pPr lvl="1">
              <a:lnSpc>
                <a:spcPct val="110000"/>
              </a:lnSpc>
            </a:pPr>
            <a:r>
              <a:rPr lang="en-US" altLang="zh-CN" dirty="0"/>
              <a:t>Service Modeling </a:t>
            </a:r>
            <a:r>
              <a:rPr lang="zh-CN" altLang="en-US" dirty="0"/>
              <a:t>分类服务逻辑种类</a:t>
            </a:r>
          </a:p>
        </p:txBody>
      </p:sp>
      <p:sp>
        <p:nvSpPr>
          <p:cNvPr id="47108" name="灯片编号占位符 3"/>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91145313-E5CB-4E5C-8979-9CF747201BD7}" type="slidenum">
              <a:rPr lang="en-US" altLang="zh-CN" smtClean="0"/>
              <a:pPr/>
              <a:t>46</a:t>
            </a:fld>
            <a:endParaRPr lang="en-US" altLang="zh-CN"/>
          </a:p>
        </p:txBody>
      </p:sp>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面向服务企业（</a:t>
            </a:r>
            <a:r>
              <a:rPr lang="en-US" altLang="zh-CN" dirty="0"/>
              <a:t>SOE</a:t>
            </a:r>
            <a:r>
              <a:rPr lang="zh-CN" altLang="en-US" dirty="0"/>
              <a:t>）模型</a:t>
            </a:r>
          </a:p>
        </p:txBody>
      </p:sp>
      <p:sp>
        <p:nvSpPr>
          <p:cNvPr id="4" name="灯片编号占位符 3"/>
          <p:cNvSpPr>
            <a:spLocks noGrp="1"/>
          </p:cNvSpPr>
          <p:nvPr>
            <p:ph type="sldNum" sz="quarter" idx="10"/>
          </p:nvPr>
        </p:nvSpPr>
        <p:spPr/>
        <p:txBody>
          <a:bodyPr/>
          <a:lstStyle/>
          <a:p>
            <a:pPr>
              <a:defRPr/>
            </a:pPr>
            <a:fld id="{CE1994E2-D037-49D3-9D9E-D7560473544B}" type="slidenum">
              <a:rPr lang="en-US" altLang="zh-CN" smtClean="0"/>
              <a:pPr>
                <a:defRPr/>
              </a:pPr>
              <a:t>47</a:t>
            </a:fld>
            <a:endParaRPr lang="en-US" altLang="zh-CN" dirty="0"/>
          </a:p>
        </p:txBody>
      </p:sp>
      <p:sp>
        <p:nvSpPr>
          <p:cNvPr id="5" name="圆角矩形 4"/>
          <p:cNvSpPr/>
          <p:nvPr/>
        </p:nvSpPr>
        <p:spPr>
          <a:xfrm>
            <a:off x="552021" y="1979911"/>
            <a:ext cx="1239715" cy="936104"/>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基本业务活动</a:t>
            </a:r>
          </a:p>
        </p:txBody>
      </p:sp>
      <p:sp>
        <p:nvSpPr>
          <p:cNvPr id="6" name="圆角矩形 5"/>
          <p:cNvSpPr/>
          <p:nvPr/>
        </p:nvSpPr>
        <p:spPr>
          <a:xfrm>
            <a:off x="1923554" y="1982061"/>
            <a:ext cx="1239715" cy="936104"/>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业务服务</a:t>
            </a:r>
          </a:p>
        </p:txBody>
      </p:sp>
      <p:sp>
        <p:nvSpPr>
          <p:cNvPr id="7" name="圆角矩形 6"/>
          <p:cNvSpPr/>
          <p:nvPr/>
        </p:nvSpPr>
        <p:spPr>
          <a:xfrm>
            <a:off x="3273430" y="1974461"/>
            <a:ext cx="1239715" cy="936104"/>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基本业务流程</a:t>
            </a:r>
          </a:p>
        </p:txBody>
      </p:sp>
      <p:sp>
        <p:nvSpPr>
          <p:cNvPr id="18" name="圆角矩形 17"/>
          <p:cNvSpPr/>
          <p:nvPr/>
        </p:nvSpPr>
        <p:spPr>
          <a:xfrm>
            <a:off x="4603657" y="1979911"/>
            <a:ext cx="1239715" cy="936104"/>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扩展业务流程</a:t>
            </a:r>
          </a:p>
        </p:txBody>
      </p:sp>
      <p:sp>
        <p:nvSpPr>
          <p:cNvPr id="19" name="圆角矩形 18"/>
          <p:cNvSpPr/>
          <p:nvPr/>
        </p:nvSpPr>
        <p:spPr>
          <a:xfrm>
            <a:off x="5975190" y="1982061"/>
            <a:ext cx="1239715" cy="936104"/>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企业域</a:t>
            </a:r>
            <a:endParaRPr lang="en-US" altLang="zh-CN" dirty="0"/>
          </a:p>
          <a:p>
            <a:pPr algn="ctr"/>
            <a:r>
              <a:rPr lang="zh-CN" altLang="en-US" dirty="0"/>
              <a:t>业务流程</a:t>
            </a:r>
          </a:p>
        </p:txBody>
      </p:sp>
      <p:sp>
        <p:nvSpPr>
          <p:cNvPr id="20" name="圆角矩形 19"/>
          <p:cNvSpPr/>
          <p:nvPr/>
        </p:nvSpPr>
        <p:spPr>
          <a:xfrm>
            <a:off x="7325066" y="1974461"/>
            <a:ext cx="1239715" cy="936104"/>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企业</a:t>
            </a:r>
            <a:endParaRPr lang="en-US" altLang="zh-CN" dirty="0"/>
          </a:p>
          <a:p>
            <a:pPr algn="ctr"/>
            <a:r>
              <a:rPr lang="zh-CN" altLang="en-US" dirty="0"/>
              <a:t>业务流程</a:t>
            </a:r>
          </a:p>
        </p:txBody>
      </p:sp>
      <p:sp>
        <p:nvSpPr>
          <p:cNvPr id="21" name="圆角矩形 20"/>
          <p:cNvSpPr/>
          <p:nvPr/>
        </p:nvSpPr>
        <p:spPr>
          <a:xfrm>
            <a:off x="519680" y="5155042"/>
            <a:ext cx="1239715" cy="936104"/>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Web</a:t>
            </a:r>
            <a:r>
              <a:rPr lang="zh-CN" altLang="en-US" dirty="0"/>
              <a:t>服务操作</a:t>
            </a:r>
          </a:p>
        </p:txBody>
      </p:sp>
      <p:sp>
        <p:nvSpPr>
          <p:cNvPr id="22" name="圆角矩形 21"/>
          <p:cNvSpPr/>
          <p:nvPr/>
        </p:nvSpPr>
        <p:spPr>
          <a:xfrm>
            <a:off x="1891213" y="5157192"/>
            <a:ext cx="1239715" cy="936104"/>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Web</a:t>
            </a:r>
            <a:r>
              <a:rPr lang="zh-CN" altLang="en-US" dirty="0"/>
              <a:t>服务</a:t>
            </a:r>
          </a:p>
        </p:txBody>
      </p:sp>
      <p:sp>
        <p:nvSpPr>
          <p:cNvPr id="23" name="圆角矩形 22"/>
          <p:cNvSpPr/>
          <p:nvPr/>
        </p:nvSpPr>
        <p:spPr>
          <a:xfrm>
            <a:off x="3241089" y="5149592"/>
            <a:ext cx="1239715" cy="936104"/>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面向服务应用架构</a:t>
            </a:r>
          </a:p>
        </p:txBody>
      </p:sp>
      <p:sp>
        <p:nvSpPr>
          <p:cNvPr id="24" name="圆角矩形 23"/>
          <p:cNvSpPr/>
          <p:nvPr/>
        </p:nvSpPr>
        <p:spPr>
          <a:xfrm>
            <a:off x="4571316" y="5155042"/>
            <a:ext cx="1239715" cy="936104"/>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面向服务集成架构</a:t>
            </a:r>
          </a:p>
        </p:txBody>
      </p:sp>
      <p:sp>
        <p:nvSpPr>
          <p:cNvPr id="25" name="圆角矩形 24"/>
          <p:cNvSpPr/>
          <p:nvPr/>
        </p:nvSpPr>
        <p:spPr>
          <a:xfrm>
            <a:off x="5942849" y="5157192"/>
            <a:ext cx="1239715" cy="936104"/>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面向服务</a:t>
            </a:r>
            <a:r>
              <a:rPr lang="en-US" altLang="zh-CN" dirty="0"/>
              <a:t>EAI</a:t>
            </a:r>
            <a:r>
              <a:rPr lang="zh-CN" altLang="en-US" dirty="0"/>
              <a:t>架构</a:t>
            </a:r>
          </a:p>
        </p:txBody>
      </p:sp>
      <p:sp>
        <p:nvSpPr>
          <p:cNvPr id="26" name="圆角矩形 25"/>
          <p:cNvSpPr/>
          <p:nvPr/>
        </p:nvSpPr>
        <p:spPr>
          <a:xfrm>
            <a:off x="7292725" y="5149592"/>
            <a:ext cx="1239715" cy="936104"/>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面向服务企业集成架构</a:t>
            </a:r>
          </a:p>
        </p:txBody>
      </p:sp>
      <p:sp>
        <p:nvSpPr>
          <p:cNvPr id="27" name="圆角矩形 26"/>
          <p:cNvSpPr/>
          <p:nvPr/>
        </p:nvSpPr>
        <p:spPr>
          <a:xfrm>
            <a:off x="539552" y="3433540"/>
            <a:ext cx="7980008" cy="1211996"/>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基本业务流程</a:t>
            </a:r>
            <a:endParaRPr lang="zh-CN" altLang="en-US" dirty="0"/>
          </a:p>
        </p:txBody>
      </p:sp>
      <p:cxnSp>
        <p:nvCxnSpPr>
          <p:cNvPr id="31" name="直接箭头连接符 30"/>
          <p:cNvCxnSpPr>
            <a:stCxn id="5" idx="2"/>
          </p:cNvCxnSpPr>
          <p:nvPr/>
        </p:nvCxnSpPr>
        <p:spPr>
          <a:xfrm>
            <a:off x="1171879" y="2916015"/>
            <a:ext cx="2956" cy="517525"/>
          </a:xfrm>
          <a:prstGeom prst="straightConnector1">
            <a:avLst/>
          </a:prstGeom>
          <a:ln>
            <a:noFill/>
            <a:tailEnd type="triangle"/>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1"/>
          </a:lnRef>
          <a:fillRef idx="0">
            <a:schemeClr val="accent1"/>
          </a:fillRef>
          <a:effectRef idx="0">
            <a:schemeClr val="accent1"/>
          </a:effectRef>
          <a:fontRef idx="minor">
            <a:schemeClr val="tx1"/>
          </a:fontRef>
        </p:style>
      </p:cxnSp>
      <p:cxnSp>
        <p:nvCxnSpPr>
          <p:cNvPr id="34" name="直接箭头连接符 33"/>
          <p:cNvCxnSpPr/>
          <p:nvPr/>
        </p:nvCxnSpPr>
        <p:spPr>
          <a:xfrm>
            <a:off x="1171879" y="2918165"/>
            <a:ext cx="0" cy="515375"/>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a:off x="2483768" y="2918165"/>
            <a:ext cx="0" cy="515375"/>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a:off x="3851920" y="2910565"/>
            <a:ext cx="0" cy="515375"/>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a:off x="5243377" y="2921465"/>
            <a:ext cx="2956" cy="517525"/>
          </a:xfrm>
          <a:prstGeom prst="straightConnector1">
            <a:avLst/>
          </a:prstGeom>
          <a:ln>
            <a:noFill/>
            <a:tailEnd type="triangle"/>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1"/>
          </a:lnRef>
          <a:fillRef idx="0">
            <a:schemeClr val="accent1"/>
          </a:fillRef>
          <a:effectRef idx="0">
            <a:schemeClr val="accent1"/>
          </a:effectRef>
          <a:fontRef idx="minor">
            <a:schemeClr val="tx1"/>
          </a:fontRef>
        </p:style>
      </p:cxnSp>
      <p:cxnSp>
        <p:nvCxnSpPr>
          <p:cNvPr id="38" name="直接箭头连接符 37"/>
          <p:cNvCxnSpPr/>
          <p:nvPr/>
        </p:nvCxnSpPr>
        <p:spPr>
          <a:xfrm>
            <a:off x="5243377" y="2923615"/>
            <a:ext cx="0" cy="515375"/>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p:nvPr/>
        </p:nvCxnSpPr>
        <p:spPr>
          <a:xfrm>
            <a:off x="6555266" y="2923615"/>
            <a:ext cx="0" cy="515375"/>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a:xfrm>
            <a:off x="7923418" y="2916015"/>
            <a:ext cx="0" cy="515375"/>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a:stCxn id="27" idx="1"/>
            <a:endCxn id="27" idx="3"/>
          </p:cNvCxnSpPr>
          <p:nvPr/>
        </p:nvCxnSpPr>
        <p:spPr>
          <a:xfrm>
            <a:off x="539552" y="4039538"/>
            <a:ext cx="7980008" cy="0"/>
          </a:xfrm>
          <a:prstGeom prst="straightConnector1">
            <a:avLst/>
          </a:prstGeom>
          <a:ln w="28575">
            <a:solidFill>
              <a:schemeClr val="bg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43" name="圆角矩形 42"/>
          <p:cNvSpPr/>
          <p:nvPr/>
        </p:nvSpPr>
        <p:spPr>
          <a:xfrm>
            <a:off x="2771800" y="3804480"/>
            <a:ext cx="3384375" cy="468052"/>
          </a:xfrm>
          <a:prstGeom prst="round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面向服务企业（</a:t>
            </a:r>
            <a:r>
              <a:rPr lang="en-US" altLang="zh-CN" dirty="0"/>
              <a:t>SOE</a:t>
            </a:r>
            <a:r>
              <a:rPr lang="zh-CN" altLang="en-US" dirty="0"/>
              <a:t>）模型</a:t>
            </a:r>
          </a:p>
        </p:txBody>
      </p:sp>
      <p:sp>
        <p:nvSpPr>
          <p:cNvPr id="46" name="矩形 45"/>
          <p:cNvSpPr/>
          <p:nvPr/>
        </p:nvSpPr>
        <p:spPr>
          <a:xfrm>
            <a:off x="683568" y="3594693"/>
            <a:ext cx="1569661" cy="369332"/>
          </a:xfrm>
          <a:prstGeom prst="rect">
            <a:avLst/>
          </a:prstGeom>
        </p:spPr>
        <p:txBody>
          <a:bodyPr wrap="none">
            <a:spAutoFit/>
          </a:bodyPr>
          <a:lstStyle/>
          <a:p>
            <a:pPr algn="ctr"/>
            <a:r>
              <a:rPr lang="zh-CN" altLang="en-US" dirty="0">
                <a:solidFill>
                  <a:schemeClr val="lt1"/>
                </a:solidFill>
                <a:latin typeface="黑体" panose="02010609060101010101" pitchFamily="49" charset="-122"/>
                <a:ea typeface="黑体" panose="02010609060101010101" pitchFamily="49" charset="-122"/>
                <a:cs typeface="Arial" panose="020B0604020202020204" pitchFamily="34" charset="0"/>
              </a:rPr>
              <a:t>企业业务模型</a:t>
            </a:r>
          </a:p>
        </p:txBody>
      </p:sp>
      <p:sp>
        <p:nvSpPr>
          <p:cNvPr id="48" name="矩形 47"/>
          <p:cNvSpPr/>
          <p:nvPr/>
        </p:nvSpPr>
        <p:spPr>
          <a:xfrm>
            <a:off x="6330041" y="4180132"/>
            <a:ext cx="1569661" cy="369332"/>
          </a:xfrm>
          <a:prstGeom prst="rect">
            <a:avLst/>
          </a:prstGeom>
        </p:spPr>
        <p:txBody>
          <a:bodyPr wrap="none">
            <a:spAutoFit/>
          </a:bodyPr>
          <a:lstStyle/>
          <a:p>
            <a:pPr algn="ctr"/>
            <a:r>
              <a:rPr lang="zh-CN" altLang="en-US" dirty="0">
                <a:solidFill>
                  <a:schemeClr val="lt1"/>
                </a:solidFill>
                <a:latin typeface="黑体" panose="02010609060101010101" pitchFamily="49" charset="-122"/>
                <a:ea typeface="黑体" panose="02010609060101010101" pitchFamily="49" charset="-122"/>
                <a:cs typeface="Arial" panose="020B0604020202020204" pitchFamily="34" charset="0"/>
              </a:rPr>
              <a:t>企业技术模型</a:t>
            </a:r>
          </a:p>
        </p:txBody>
      </p:sp>
      <p:sp>
        <p:nvSpPr>
          <p:cNvPr id="49" name="矩形 48"/>
          <p:cNvSpPr/>
          <p:nvPr/>
        </p:nvSpPr>
        <p:spPr>
          <a:xfrm>
            <a:off x="7814101" y="3711173"/>
            <a:ext cx="646331" cy="646331"/>
          </a:xfrm>
          <a:prstGeom prst="rect">
            <a:avLst/>
          </a:prstGeom>
        </p:spPr>
        <p:txBody>
          <a:bodyPr wrap="none">
            <a:spAutoFit/>
          </a:bodyPr>
          <a:lstStyle/>
          <a:p>
            <a:pPr algn="ctr"/>
            <a:r>
              <a:rPr lang="zh-CN" altLang="en-US" dirty="0">
                <a:solidFill>
                  <a:schemeClr val="lt1"/>
                </a:solidFill>
                <a:latin typeface="黑体" panose="02010609060101010101" pitchFamily="49" charset="-122"/>
                <a:ea typeface="黑体" panose="02010609060101010101" pitchFamily="49" charset="-122"/>
                <a:cs typeface="Arial" panose="020B0604020202020204" pitchFamily="34" charset="0"/>
              </a:rPr>
              <a:t>企业</a:t>
            </a:r>
            <a:endParaRPr lang="en-US" altLang="zh-CN" dirty="0">
              <a:solidFill>
                <a:schemeClr val="lt1"/>
              </a:solidFill>
              <a:latin typeface="黑体" panose="02010609060101010101" pitchFamily="49" charset="-122"/>
              <a:ea typeface="黑体" panose="02010609060101010101" pitchFamily="49" charset="-122"/>
              <a:cs typeface="Arial" panose="020B0604020202020204" pitchFamily="34" charset="0"/>
            </a:endParaRPr>
          </a:p>
          <a:p>
            <a:pPr algn="ctr"/>
            <a:r>
              <a:rPr lang="zh-CN" altLang="en-US" dirty="0">
                <a:solidFill>
                  <a:schemeClr val="lt1"/>
                </a:solidFill>
                <a:latin typeface="黑体" panose="02010609060101010101" pitchFamily="49" charset="-122"/>
                <a:ea typeface="黑体" panose="02010609060101010101" pitchFamily="49" charset="-122"/>
                <a:cs typeface="Arial" panose="020B0604020202020204" pitchFamily="34" charset="0"/>
              </a:rPr>
              <a:t>扩展</a:t>
            </a:r>
          </a:p>
        </p:txBody>
      </p:sp>
      <p:cxnSp>
        <p:nvCxnSpPr>
          <p:cNvPr id="51" name="直接箭头连接符 50"/>
          <p:cNvCxnSpPr/>
          <p:nvPr/>
        </p:nvCxnSpPr>
        <p:spPr>
          <a:xfrm>
            <a:off x="1166439" y="4640086"/>
            <a:ext cx="0" cy="515375"/>
          </a:xfrm>
          <a:prstGeom prst="straightConnector1">
            <a:avLst/>
          </a:prstGeom>
          <a:ln w="47625">
            <a:headEnd type="triangle"/>
            <a:tailEnd type="none"/>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p:nvPr/>
        </p:nvCxnSpPr>
        <p:spPr>
          <a:xfrm>
            <a:off x="2478328" y="4640086"/>
            <a:ext cx="0" cy="515375"/>
          </a:xfrm>
          <a:prstGeom prst="straightConnector1">
            <a:avLst/>
          </a:prstGeom>
          <a:ln w="47625">
            <a:headEnd type="triangle"/>
            <a:tailEnd type="none"/>
          </a:ln>
        </p:spPr>
        <p:style>
          <a:lnRef idx="1">
            <a:schemeClr val="accent1"/>
          </a:lnRef>
          <a:fillRef idx="0">
            <a:schemeClr val="accent1"/>
          </a:fillRef>
          <a:effectRef idx="0">
            <a:schemeClr val="accent1"/>
          </a:effectRef>
          <a:fontRef idx="minor">
            <a:schemeClr val="tx1"/>
          </a:fontRef>
        </p:style>
      </p:cxnSp>
      <p:cxnSp>
        <p:nvCxnSpPr>
          <p:cNvPr id="53" name="直接箭头连接符 52"/>
          <p:cNvCxnSpPr/>
          <p:nvPr/>
        </p:nvCxnSpPr>
        <p:spPr>
          <a:xfrm>
            <a:off x="3846480" y="4632486"/>
            <a:ext cx="0" cy="515375"/>
          </a:xfrm>
          <a:prstGeom prst="straightConnector1">
            <a:avLst/>
          </a:prstGeom>
          <a:ln w="47625">
            <a:headEnd type="triangle"/>
            <a:tailEnd type="none"/>
          </a:ln>
        </p:spPr>
        <p:style>
          <a:lnRef idx="1">
            <a:schemeClr val="accent1"/>
          </a:lnRef>
          <a:fillRef idx="0">
            <a:schemeClr val="accent1"/>
          </a:fillRef>
          <a:effectRef idx="0">
            <a:schemeClr val="accent1"/>
          </a:effectRef>
          <a:fontRef idx="minor">
            <a:schemeClr val="tx1"/>
          </a:fontRef>
        </p:style>
      </p:cxnSp>
      <p:cxnSp>
        <p:nvCxnSpPr>
          <p:cNvPr id="54" name="直接箭头连接符 53"/>
          <p:cNvCxnSpPr/>
          <p:nvPr/>
        </p:nvCxnSpPr>
        <p:spPr>
          <a:xfrm>
            <a:off x="5237937" y="4645536"/>
            <a:ext cx="0" cy="515375"/>
          </a:xfrm>
          <a:prstGeom prst="straightConnector1">
            <a:avLst/>
          </a:prstGeom>
          <a:ln w="47625">
            <a:headEnd type="triangle"/>
            <a:tailEnd type="none"/>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p:nvPr/>
        </p:nvCxnSpPr>
        <p:spPr>
          <a:xfrm>
            <a:off x="6549826" y="4645536"/>
            <a:ext cx="0" cy="515375"/>
          </a:xfrm>
          <a:prstGeom prst="straightConnector1">
            <a:avLst/>
          </a:prstGeom>
          <a:ln w="47625">
            <a:headEnd type="triangle"/>
            <a:tailEnd type="none"/>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p:nvPr/>
        </p:nvCxnSpPr>
        <p:spPr>
          <a:xfrm>
            <a:off x="7917978" y="4637936"/>
            <a:ext cx="0" cy="515375"/>
          </a:xfrm>
          <a:prstGeom prst="straightConnector1">
            <a:avLst/>
          </a:prstGeom>
          <a:ln w="47625">
            <a:headEnd type="triangle"/>
            <a:tailEnd type="none"/>
          </a:ln>
        </p:spPr>
        <p:style>
          <a:lnRef idx="1">
            <a:schemeClr val="accent1"/>
          </a:lnRef>
          <a:fillRef idx="0">
            <a:schemeClr val="accent1"/>
          </a:fillRef>
          <a:effectRef idx="0">
            <a:schemeClr val="accent1"/>
          </a:effectRef>
          <a:fontRef idx="minor">
            <a:schemeClr val="tx1"/>
          </a:fontRef>
        </p:style>
      </p:cxnSp>
      <p:sp>
        <p:nvSpPr>
          <p:cNvPr id="61" name="圆角矩形 60"/>
          <p:cNvSpPr/>
          <p:nvPr/>
        </p:nvSpPr>
        <p:spPr>
          <a:xfrm>
            <a:off x="395535" y="1395571"/>
            <a:ext cx="4188203" cy="1684620"/>
          </a:xfrm>
          <a:prstGeom prst="roundRect">
            <a:avLst/>
          </a:prstGeom>
          <a:solidFill>
            <a:schemeClr val="bg1">
              <a:alpha val="0"/>
            </a:schemeClr>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 name="矩形 61"/>
          <p:cNvSpPr/>
          <p:nvPr/>
        </p:nvSpPr>
        <p:spPr>
          <a:xfrm>
            <a:off x="426881" y="1457178"/>
            <a:ext cx="2031326" cy="369332"/>
          </a:xfrm>
          <a:prstGeom prst="rect">
            <a:avLst/>
          </a:prstGeom>
          <a:ln>
            <a:noFill/>
          </a:ln>
        </p:spPr>
        <p:txBody>
          <a:bodyPr wrap="none">
            <a:spAutoFit/>
          </a:bodyPr>
          <a:lstStyle/>
          <a:p>
            <a:pPr algn="ctr"/>
            <a:r>
              <a:rPr lang="zh-CN" altLang="en-US" dirty="0">
                <a:solidFill>
                  <a:schemeClr val="accent1">
                    <a:lumMod val="75000"/>
                  </a:schemeClr>
                </a:solidFill>
                <a:latin typeface="黑体" panose="02010609060101010101" pitchFamily="49" charset="-122"/>
                <a:ea typeface="黑体" panose="02010609060101010101" pitchFamily="49" charset="-122"/>
                <a:cs typeface="Arial" panose="020B0604020202020204" pitchFamily="34" charset="0"/>
              </a:rPr>
              <a:t>基本服务建模单元</a:t>
            </a:r>
          </a:p>
        </p:txBody>
      </p:sp>
    </p:spTree>
    <p:extLst>
      <p:ext uri="{BB962C8B-B14F-4D97-AF65-F5344CB8AC3E}">
        <p14:creationId xmlns:p14="http://schemas.microsoft.com/office/powerpoint/2010/main" val="237757203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P spid="62"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p:nvPr>
        </p:nvSpPr>
        <p:spPr/>
        <p:txBody>
          <a:bodyPr/>
          <a:lstStyle/>
          <a:p>
            <a:r>
              <a:rPr lang="en-US" altLang="zh-CN"/>
              <a:t>TLS</a:t>
            </a:r>
            <a:r>
              <a:rPr lang="zh-CN" altLang="en-US"/>
              <a:t>公司工单提交流程 </a:t>
            </a:r>
          </a:p>
        </p:txBody>
      </p:sp>
      <p:sp>
        <p:nvSpPr>
          <p:cNvPr id="50179" name="内容占位符 5"/>
          <p:cNvSpPr>
            <a:spLocks noGrp="1"/>
          </p:cNvSpPr>
          <p:nvPr>
            <p:ph sz="half" idx="1"/>
          </p:nvPr>
        </p:nvSpPr>
        <p:spPr/>
        <p:txBody>
          <a:bodyPr/>
          <a:lstStyle/>
          <a:p>
            <a:r>
              <a:rPr lang="zh-CN" altLang="en-US" sz="3200" dirty="0"/>
              <a:t>基本业务流程</a:t>
            </a:r>
            <a:endParaRPr lang="en-US" altLang="zh-CN" sz="3200" dirty="0"/>
          </a:p>
          <a:p>
            <a:pPr lvl="1"/>
            <a:r>
              <a:rPr lang="en-US" altLang="zh-CN" sz="2800" dirty="0"/>
              <a:t>1.</a:t>
            </a:r>
            <a:r>
              <a:rPr lang="zh-CN" altLang="en-US" sz="2800" dirty="0"/>
              <a:t>接收工单</a:t>
            </a:r>
          </a:p>
          <a:p>
            <a:pPr lvl="1"/>
            <a:r>
              <a:rPr lang="en-US" altLang="zh-CN" sz="2800" dirty="0"/>
              <a:t>2. </a:t>
            </a:r>
            <a:r>
              <a:rPr lang="zh-CN" altLang="en-US" sz="2800" dirty="0"/>
              <a:t>验证工单</a:t>
            </a:r>
          </a:p>
          <a:p>
            <a:pPr lvl="1"/>
            <a:r>
              <a:rPr lang="en-US" altLang="zh-CN" sz="2800" dirty="0"/>
              <a:t>3. </a:t>
            </a:r>
            <a:r>
              <a:rPr lang="zh-CN" altLang="en-US" sz="2800" dirty="0"/>
              <a:t>如果工单通过验证，那么接受工单的提交并转发到第</a:t>
            </a:r>
            <a:r>
              <a:rPr lang="en-US" altLang="zh-CN" sz="2800" dirty="0"/>
              <a:t>5 </a:t>
            </a:r>
            <a:r>
              <a:rPr lang="zh-CN" altLang="en-US" sz="2800" dirty="0"/>
              <a:t>步</a:t>
            </a:r>
          </a:p>
          <a:p>
            <a:pPr lvl="1"/>
            <a:r>
              <a:rPr lang="en-US" altLang="zh-CN" sz="2800" dirty="0"/>
              <a:t>4. </a:t>
            </a:r>
            <a:r>
              <a:rPr lang="zh-CN" altLang="en-US" sz="2800" dirty="0"/>
              <a:t>拒绝工单的提交</a:t>
            </a:r>
          </a:p>
          <a:p>
            <a:pPr lvl="1"/>
            <a:r>
              <a:rPr lang="en-US" altLang="zh-CN" sz="2800" dirty="0"/>
              <a:t>5. </a:t>
            </a:r>
            <a:r>
              <a:rPr lang="zh-CN" altLang="en-US" sz="2800" dirty="0"/>
              <a:t>流程终止</a:t>
            </a:r>
          </a:p>
        </p:txBody>
      </p:sp>
      <p:sp>
        <p:nvSpPr>
          <p:cNvPr id="50180" name="灯片编号占位符 3"/>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BF2580E5-E4C5-4A7A-AA96-579E09D64020}" type="slidenum">
              <a:rPr lang="en-US" altLang="zh-CN" smtClean="0"/>
              <a:pPr/>
              <a:t>48</a:t>
            </a:fld>
            <a:endParaRPr lang="en-US" altLang="zh-CN"/>
          </a:p>
        </p:txBody>
      </p:sp>
      <p:sp>
        <p:nvSpPr>
          <p:cNvPr id="10" name="流程图: 可选过程 9"/>
          <p:cNvSpPr/>
          <p:nvPr/>
        </p:nvSpPr>
        <p:spPr>
          <a:xfrm>
            <a:off x="5379641" y="1107319"/>
            <a:ext cx="720080"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开始</a:t>
            </a:r>
          </a:p>
        </p:txBody>
      </p:sp>
      <p:sp>
        <p:nvSpPr>
          <p:cNvPr id="11" name="流程图: 数据 10"/>
          <p:cNvSpPr/>
          <p:nvPr/>
        </p:nvSpPr>
        <p:spPr>
          <a:xfrm>
            <a:off x="4803577" y="1781378"/>
            <a:ext cx="1872208" cy="600739"/>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接受工单</a:t>
            </a:r>
          </a:p>
        </p:txBody>
      </p:sp>
      <p:cxnSp>
        <p:nvCxnSpPr>
          <p:cNvPr id="12" name="直接箭头连接符 11"/>
          <p:cNvCxnSpPr>
            <a:stCxn id="10" idx="2"/>
            <a:endCxn id="11" idx="1"/>
          </p:cNvCxnSpPr>
          <p:nvPr/>
        </p:nvCxnSpPr>
        <p:spPr>
          <a:xfrm>
            <a:off x="5739681" y="1539367"/>
            <a:ext cx="0" cy="24201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3" name="直接箭头连接符 12"/>
          <p:cNvCxnSpPr>
            <a:stCxn id="15" idx="2"/>
            <a:endCxn id="17" idx="0"/>
          </p:cNvCxnSpPr>
          <p:nvPr/>
        </p:nvCxnSpPr>
        <p:spPr>
          <a:xfrm>
            <a:off x="5736232" y="3363542"/>
            <a:ext cx="0" cy="47892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4" name="直接箭头连接符 13"/>
          <p:cNvCxnSpPr/>
          <p:nvPr/>
        </p:nvCxnSpPr>
        <p:spPr>
          <a:xfrm flipH="1">
            <a:off x="5736232" y="4593709"/>
            <a:ext cx="1380" cy="116595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5" name="流程图: 预定义过程 14"/>
          <p:cNvSpPr/>
          <p:nvPr/>
        </p:nvSpPr>
        <p:spPr>
          <a:xfrm>
            <a:off x="4932040" y="2815398"/>
            <a:ext cx="1608384" cy="548144"/>
          </a:xfrm>
          <a:prstGeom prst="flowChartPredefined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验证工单</a:t>
            </a:r>
          </a:p>
        </p:txBody>
      </p:sp>
      <p:sp>
        <p:nvSpPr>
          <p:cNvPr id="16" name="流程图: 可选过程 15"/>
          <p:cNvSpPr/>
          <p:nvPr/>
        </p:nvSpPr>
        <p:spPr>
          <a:xfrm>
            <a:off x="5362038" y="5759662"/>
            <a:ext cx="720080"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结束</a:t>
            </a:r>
            <a:endParaRPr lang="en-US" altLang="zh-CN" dirty="0"/>
          </a:p>
        </p:txBody>
      </p:sp>
      <p:sp>
        <p:nvSpPr>
          <p:cNvPr id="17" name="流程图: 决策 16"/>
          <p:cNvSpPr/>
          <p:nvPr/>
        </p:nvSpPr>
        <p:spPr>
          <a:xfrm>
            <a:off x="4608578" y="3842469"/>
            <a:ext cx="2255308" cy="792088"/>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验证通过？</a:t>
            </a:r>
          </a:p>
        </p:txBody>
      </p:sp>
      <p:cxnSp>
        <p:nvCxnSpPr>
          <p:cNvPr id="18" name="直接箭头连接符 17"/>
          <p:cNvCxnSpPr>
            <a:endCxn id="15" idx="0"/>
          </p:cNvCxnSpPr>
          <p:nvPr/>
        </p:nvCxnSpPr>
        <p:spPr>
          <a:xfrm>
            <a:off x="5736232" y="2382117"/>
            <a:ext cx="0" cy="433281"/>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9" name="流程图: 预定义过程 18"/>
          <p:cNvSpPr/>
          <p:nvPr/>
        </p:nvSpPr>
        <p:spPr>
          <a:xfrm>
            <a:off x="7535616" y="3964441"/>
            <a:ext cx="1608384" cy="548144"/>
          </a:xfrm>
          <a:prstGeom prst="flowChartPredefined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拒绝工单</a:t>
            </a:r>
          </a:p>
        </p:txBody>
      </p:sp>
      <p:cxnSp>
        <p:nvCxnSpPr>
          <p:cNvPr id="20" name="直接箭头连接符 19"/>
          <p:cNvCxnSpPr>
            <a:stCxn id="17" idx="3"/>
            <a:endCxn id="19" idx="1"/>
          </p:cNvCxnSpPr>
          <p:nvPr/>
        </p:nvCxnSpPr>
        <p:spPr>
          <a:xfrm>
            <a:off x="6863886" y="4238513"/>
            <a:ext cx="671730"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1" name="文本框 20"/>
          <p:cNvSpPr txBox="1"/>
          <p:nvPr/>
        </p:nvSpPr>
        <p:spPr>
          <a:xfrm>
            <a:off x="6675785" y="3842469"/>
            <a:ext cx="344487" cy="369332"/>
          </a:xfrm>
          <a:prstGeom prst="rect">
            <a:avLst/>
          </a:prstGeom>
          <a:noFill/>
        </p:spPr>
        <p:txBody>
          <a:bodyPr wrap="square" rtlCol="0">
            <a:spAutoFit/>
          </a:bodyPr>
          <a:lstStyle/>
          <a:p>
            <a:r>
              <a:rPr lang="zh-CN" altLang="en-US" dirty="0"/>
              <a:t>否</a:t>
            </a:r>
          </a:p>
        </p:txBody>
      </p:sp>
      <p:cxnSp>
        <p:nvCxnSpPr>
          <p:cNvPr id="22" name="肘形连接符 21"/>
          <p:cNvCxnSpPr>
            <a:stCxn id="19" idx="2"/>
          </p:cNvCxnSpPr>
          <p:nvPr/>
        </p:nvCxnSpPr>
        <p:spPr>
          <a:xfrm rot="5400000">
            <a:off x="6561637" y="3687180"/>
            <a:ext cx="952767" cy="2603576"/>
          </a:xfrm>
          <a:prstGeom prst="bentConnector2">
            <a:avLst/>
          </a:prstGeom>
          <a:ln>
            <a:tailEnd type="triangle"/>
          </a:ln>
        </p:spPr>
        <p:style>
          <a:lnRef idx="3">
            <a:schemeClr val="accent1"/>
          </a:lnRef>
          <a:fillRef idx="0">
            <a:schemeClr val="accent1"/>
          </a:fillRef>
          <a:effectRef idx="2">
            <a:schemeClr val="accent1"/>
          </a:effectRef>
          <a:fontRef idx="minor">
            <a:schemeClr val="tx1"/>
          </a:fontRef>
        </p:style>
      </p:cxnSp>
      <p:sp>
        <p:nvSpPr>
          <p:cNvPr id="23" name="文本框 22"/>
          <p:cNvSpPr txBox="1"/>
          <p:nvPr/>
        </p:nvSpPr>
        <p:spPr>
          <a:xfrm>
            <a:off x="5736232" y="4827777"/>
            <a:ext cx="344487" cy="369332"/>
          </a:xfrm>
          <a:prstGeom prst="rect">
            <a:avLst/>
          </a:prstGeom>
          <a:noFill/>
        </p:spPr>
        <p:txBody>
          <a:bodyPr wrap="square" rtlCol="0">
            <a:spAutoFit/>
          </a:bodyPr>
          <a:lstStyle/>
          <a:p>
            <a:r>
              <a:rPr lang="zh-CN" altLang="en-US" dirty="0"/>
              <a:t>是</a:t>
            </a:r>
          </a:p>
        </p:txBody>
      </p:sp>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扩展的</a:t>
            </a:r>
            <a:r>
              <a:rPr lang="en-US" altLang="zh-CN"/>
              <a:t>TLS</a:t>
            </a:r>
            <a:r>
              <a:rPr lang="zh-CN" altLang="en-US"/>
              <a:t>公司的工单提交流程 （</a:t>
            </a:r>
            <a:r>
              <a:rPr lang="en-US" altLang="zh-CN"/>
              <a:t>1/2</a:t>
            </a:r>
            <a:r>
              <a:rPr lang="zh-CN" altLang="en-US"/>
              <a:t>）</a:t>
            </a:r>
          </a:p>
        </p:txBody>
      </p:sp>
      <p:sp>
        <p:nvSpPr>
          <p:cNvPr id="3" name="内容占位符 2"/>
          <p:cNvSpPr>
            <a:spLocks noGrp="1"/>
          </p:cNvSpPr>
          <p:nvPr>
            <p:ph sz="half" idx="1"/>
          </p:nvPr>
        </p:nvSpPr>
        <p:spPr/>
        <p:txBody>
          <a:bodyPr>
            <a:normAutofit fontScale="92500" lnSpcReduction="20000"/>
          </a:bodyPr>
          <a:lstStyle/>
          <a:p>
            <a:pPr>
              <a:lnSpc>
                <a:spcPct val="110000"/>
              </a:lnSpc>
            </a:pPr>
            <a:r>
              <a:rPr lang="en-US" altLang="zh-CN" dirty="0"/>
              <a:t>1.</a:t>
            </a:r>
            <a:r>
              <a:rPr lang="zh-CN" altLang="en-US" dirty="0"/>
              <a:t>接收工单</a:t>
            </a:r>
          </a:p>
          <a:p>
            <a:pPr>
              <a:lnSpc>
                <a:spcPct val="110000"/>
              </a:lnSpc>
            </a:pPr>
            <a:r>
              <a:rPr lang="en-US" altLang="zh-CN" dirty="0"/>
              <a:t>2. </a:t>
            </a:r>
            <a:r>
              <a:rPr lang="zh-CN" altLang="en-US" dirty="0"/>
              <a:t>验证工单</a:t>
            </a:r>
            <a:endParaRPr lang="en-US" altLang="zh-CN" dirty="0"/>
          </a:p>
          <a:p>
            <a:pPr lvl="1">
              <a:lnSpc>
                <a:spcPct val="110000"/>
              </a:lnSpc>
            </a:pPr>
            <a:r>
              <a:rPr lang="en-US" altLang="zh-CN" dirty="0"/>
              <a:t>2a. </a:t>
            </a:r>
            <a:r>
              <a:rPr lang="zh-CN" altLang="en-US" dirty="0"/>
              <a:t>比较在工单上记录的时间与开给客户的账单上的时间</a:t>
            </a:r>
          </a:p>
          <a:p>
            <a:pPr lvl="1">
              <a:lnSpc>
                <a:spcPct val="110000"/>
              </a:lnSpc>
            </a:pPr>
            <a:r>
              <a:rPr lang="en-US" altLang="zh-CN" dirty="0"/>
              <a:t>2b. </a:t>
            </a:r>
            <a:r>
              <a:rPr lang="zh-CN" altLang="en-US" dirty="0"/>
              <a:t>确认对所有记录下来的加班时间进行认证</a:t>
            </a:r>
          </a:p>
          <a:p>
            <a:pPr lvl="1">
              <a:lnSpc>
                <a:spcPct val="110000"/>
              </a:lnSpc>
            </a:pPr>
            <a:r>
              <a:rPr lang="en-US" altLang="zh-CN" dirty="0"/>
              <a:t>2c. </a:t>
            </a:r>
            <a:r>
              <a:rPr lang="zh-CN" altLang="en-US" dirty="0"/>
              <a:t>确认对任何特殊项目的时间记录没有超出该项目预定义的界限</a:t>
            </a:r>
          </a:p>
          <a:p>
            <a:pPr lvl="1">
              <a:lnSpc>
                <a:spcPct val="110000"/>
              </a:lnSpc>
            </a:pPr>
            <a:r>
              <a:rPr lang="en-US" altLang="zh-CN" dirty="0"/>
              <a:t>2d. </a:t>
            </a:r>
            <a:r>
              <a:rPr lang="zh-CN" altLang="en-US" dirty="0"/>
              <a:t>确认所记录的一周总体时间没有超出对该工作者预定义的最大数目</a:t>
            </a:r>
          </a:p>
        </p:txBody>
      </p:sp>
      <p:sp>
        <p:nvSpPr>
          <p:cNvPr id="4" name="内容占位符 3"/>
          <p:cNvSpPr>
            <a:spLocks noGrp="1"/>
          </p:cNvSpPr>
          <p:nvPr>
            <p:ph sz="half" idx="2"/>
          </p:nvPr>
        </p:nvSpPr>
        <p:spPr/>
        <p:txBody>
          <a:bodyPr>
            <a:normAutofit fontScale="92500" lnSpcReduction="20000"/>
          </a:bodyPr>
          <a:lstStyle/>
          <a:p>
            <a:pPr>
              <a:lnSpc>
                <a:spcPct val="120000"/>
              </a:lnSpc>
            </a:pPr>
            <a:r>
              <a:rPr lang="en-US" altLang="zh-CN" dirty="0"/>
              <a:t>3. </a:t>
            </a:r>
            <a:r>
              <a:rPr lang="zh-CN" altLang="en-US" dirty="0"/>
              <a:t>如果工单通过验证，那么接受工单的提交并转发到第</a:t>
            </a:r>
            <a:r>
              <a:rPr lang="en-US" altLang="zh-CN"/>
              <a:t>5</a:t>
            </a:r>
            <a:r>
              <a:rPr lang="zh-CN" altLang="en-US"/>
              <a:t>步</a:t>
            </a:r>
            <a:endParaRPr lang="zh-CN" altLang="en-US" dirty="0"/>
          </a:p>
          <a:p>
            <a:pPr>
              <a:lnSpc>
                <a:spcPct val="120000"/>
              </a:lnSpc>
            </a:pPr>
            <a:r>
              <a:rPr lang="en-US" altLang="zh-CN" dirty="0"/>
              <a:t>4. </a:t>
            </a:r>
            <a:r>
              <a:rPr lang="zh-CN" altLang="en-US" dirty="0"/>
              <a:t>拒绝工单的提交</a:t>
            </a:r>
            <a:endParaRPr lang="en-US" altLang="zh-CN" dirty="0"/>
          </a:p>
          <a:p>
            <a:pPr lvl="1">
              <a:lnSpc>
                <a:spcPct val="120000"/>
              </a:lnSpc>
            </a:pPr>
            <a:r>
              <a:rPr lang="en-US" altLang="zh-CN" dirty="0"/>
              <a:t>4a. </a:t>
            </a:r>
            <a:r>
              <a:rPr lang="zh-CN" altLang="en-US" dirty="0"/>
              <a:t>更新工作者的档案记录以跟踪被拒绝的工单</a:t>
            </a:r>
          </a:p>
          <a:p>
            <a:pPr lvl="1">
              <a:lnSpc>
                <a:spcPct val="120000"/>
              </a:lnSpc>
            </a:pPr>
            <a:r>
              <a:rPr lang="en-US" altLang="zh-CN" dirty="0"/>
              <a:t>4b. </a:t>
            </a:r>
            <a:r>
              <a:rPr lang="zh-CN" altLang="en-US" dirty="0"/>
              <a:t>向该工作者发出一个工单拒绝通知</a:t>
            </a:r>
          </a:p>
          <a:p>
            <a:pPr lvl="1">
              <a:lnSpc>
                <a:spcPct val="120000"/>
              </a:lnSpc>
            </a:pPr>
            <a:r>
              <a:rPr lang="en-US" altLang="zh-CN" dirty="0"/>
              <a:t>4c. </a:t>
            </a:r>
            <a:r>
              <a:rPr lang="zh-CN" altLang="en-US" dirty="0"/>
              <a:t>向该工作者的管理者发出一个通知</a:t>
            </a:r>
          </a:p>
          <a:p>
            <a:pPr>
              <a:lnSpc>
                <a:spcPct val="120000"/>
              </a:lnSpc>
            </a:pPr>
            <a:r>
              <a:rPr lang="en-US" altLang="zh-CN" dirty="0"/>
              <a:t>5. </a:t>
            </a:r>
            <a:r>
              <a:rPr lang="zh-CN" altLang="en-US" dirty="0"/>
              <a:t>流程终止</a:t>
            </a:r>
          </a:p>
        </p:txBody>
      </p:sp>
      <p:sp>
        <p:nvSpPr>
          <p:cNvPr id="51205" name="灯片编号占位符 4"/>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73217BF3-C190-408A-9707-F68C9B8090EC}" type="slidenum">
              <a:rPr lang="en-US" altLang="zh-CN" smtClean="0"/>
              <a:pPr/>
              <a:t>49</a:t>
            </a:fld>
            <a:endParaRPr lang="en-US" altLang="zh-CN"/>
          </a:p>
        </p:txBody>
      </p:sp>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扩展的</a:t>
            </a:r>
            <a:r>
              <a:rPr lang="en-US" altLang="zh-CN"/>
              <a:t>TLS</a:t>
            </a:r>
            <a:r>
              <a:rPr lang="zh-CN" altLang="en-US"/>
              <a:t>公司的工单提交流程（</a:t>
            </a:r>
            <a:r>
              <a:rPr lang="en-US" altLang="zh-CN"/>
              <a:t>2/2</a:t>
            </a:r>
            <a:r>
              <a:rPr lang="zh-CN" altLang="en-US"/>
              <a:t>）</a:t>
            </a:r>
          </a:p>
        </p:txBody>
      </p:sp>
      <p:sp>
        <p:nvSpPr>
          <p:cNvPr id="52227" name="内容占位符 2"/>
          <p:cNvSpPr>
            <a:spLocks noGrp="1"/>
          </p:cNvSpPr>
          <p:nvPr>
            <p:ph sz="half" idx="1"/>
          </p:nvPr>
        </p:nvSpPr>
        <p:spPr>
          <a:xfrm>
            <a:off x="457200" y="971382"/>
            <a:ext cx="2173688" cy="5816955"/>
          </a:xfrm>
        </p:spPr>
        <p:txBody>
          <a:bodyPr>
            <a:normAutofit fontScale="92500" lnSpcReduction="20000"/>
          </a:bodyPr>
          <a:lstStyle/>
          <a:p>
            <a:pPr>
              <a:lnSpc>
                <a:spcPct val="120000"/>
              </a:lnSpc>
            </a:pPr>
            <a:r>
              <a:rPr lang="en-US" altLang="zh-CN" sz="1400" dirty="0"/>
              <a:t>1.</a:t>
            </a:r>
            <a:r>
              <a:rPr lang="zh-CN" altLang="en-US" sz="1400" dirty="0"/>
              <a:t>接收工单</a:t>
            </a:r>
          </a:p>
          <a:p>
            <a:pPr>
              <a:lnSpc>
                <a:spcPct val="120000"/>
              </a:lnSpc>
            </a:pPr>
            <a:r>
              <a:rPr lang="en-US" altLang="zh-CN" sz="1400" dirty="0"/>
              <a:t>2. </a:t>
            </a:r>
            <a:r>
              <a:rPr lang="zh-CN" altLang="en-US" sz="1400" dirty="0"/>
              <a:t>比较在工单上记录的时间与开给客户的账单上的时间</a:t>
            </a:r>
          </a:p>
          <a:p>
            <a:pPr>
              <a:lnSpc>
                <a:spcPct val="120000"/>
              </a:lnSpc>
            </a:pPr>
            <a:r>
              <a:rPr lang="en-US" altLang="zh-CN" sz="1400" dirty="0"/>
              <a:t>3. </a:t>
            </a:r>
            <a:r>
              <a:rPr lang="zh-CN" altLang="en-US" sz="1400" dirty="0"/>
              <a:t>确认对所有记录下来的加班时间进行了认证</a:t>
            </a:r>
          </a:p>
          <a:p>
            <a:pPr>
              <a:lnSpc>
                <a:spcPct val="120000"/>
              </a:lnSpc>
            </a:pPr>
            <a:r>
              <a:rPr lang="en-US" altLang="zh-CN" sz="1400" dirty="0"/>
              <a:t>4. </a:t>
            </a:r>
            <a:r>
              <a:rPr lang="zh-CN" altLang="en-US" sz="1400" dirty="0"/>
              <a:t>确认对任何特殊项目的小时记录没有超出该项目预定义的界限</a:t>
            </a:r>
          </a:p>
          <a:p>
            <a:pPr>
              <a:lnSpc>
                <a:spcPct val="120000"/>
              </a:lnSpc>
            </a:pPr>
            <a:r>
              <a:rPr lang="en-US" altLang="zh-CN" sz="1400" dirty="0"/>
              <a:t>5. </a:t>
            </a:r>
            <a:r>
              <a:rPr lang="zh-CN" altLang="en-US" sz="1400" dirty="0"/>
              <a:t>确认所记录的一周总体时间没有超出对该工作者预定义的最大数目</a:t>
            </a:r>
          </a:p>
          <a:p>
            <a:pPr>
              <a:lnSpc>
                <a:spcPct val="120000"/>
              </a:lnSpc>
            </a:pPr>
            <a:r>
              <a:rPr lang="en-US" altLang="zh-CN" sz="1400" dirty="0"/>
              <a:t>6. </a:t>
            </a:r>
            <a:r>
              <a:rPr lang="zh-CN" altLang="en-US" sz="1400" dirty="0"/>
              <a:t>如果工单已经验证过，则接受工单的提交并转发到第</a:t>
            </a:r>
            <a:r>
              <a:rPr lang="en-US" altLang="zh-CN" sz="1400" dirty="0"/>
              <a:t>11 </a:t>
            </a:r>
            <a:r>
              <a:rPr lang="zh-CN" altLang="en-US" sz="1400" dirty="0"/>
              <a:t>步</a:t>
            </a:r>
          </a:p>
          <a:p>
            <a:pPr>
              <a:lnSpc>
                <a:spcPct val="120000"/>
              </a:lnSpc>
            </a:pPr>
            <a:r>
              <a:rPr lang="en-US" altLang="zh-CN" sz="1400" dirty="0"/>
              <a:t>7. </a:t>
            </a:r>
            <a:r>
              <a:rPr lang="zh-CN" altLang="en-US" sz="1400" dirty="0"/>
              <a:t>拒绝工单的提交</a:t>
            </a:r>
          </a:p>
          <a:p>
            <a:pPr>
              <a:lnSpc>
                <a:spcPct val="120000"/>
              </a:lnSpc>
            </a:pPr>
            <a:r>
              <a:rPr lang="en-US" altLang="zh-CN" sz="1400" dirty="0"/>
              <a:t>8. </a:t>
            </a:r>
            <a:r>
              <a:rPr lang="zh-CN" altLang="en-US" sz="1400" dirty="0"/>
              <a:t>生成一条消息说明拒绝的原因</a:t>
            </a:r>
          </a:p>
          <a:p>
            <a:pPr>
              <a:lnSpc>
                <a:spcPct val="120000"/>
              </a:lnSpc>
            </a:pPr>
            <a:r>
              <a:rPr lang="en-US" altLang="zh-CN" sz="1400" dirty="0"/>
              <a:t>9. </a:t>
            </a:r>
            <a:r>
              <a:rPr lang="zh-CN" altLang="en-US" sz="1400" dirty="0"/>
              <a:t>向该工作者发出一个工单拒绝通知</a:t>
            </a:r>
          </a:p>
          <a:p>
            <a:pPr>
              <a:lnSpc>
                <a:spcPct val="120000"/>
              </a:lnSpc>
            </a:pPr>
            <a:r>
              <a:rPr lang="en-US" altLang="zh-CN" sz="1400" dirty="0"/>
              <a:t>10. </a:t>
            </a:r>
            <a:r>
              <a:rPr lang="zh-CN" altLang="en-US" sz="1400" dirty="0"/>
              <a:t>向该工作者的管理者发出一个通知</a:t>
            </a:r>
          </a:p>
          <a:p>
            <a:pPr>
              <a:lnSpc>
                <a:spcPct val="120000"/>
              </a:lnSpc>
            </a:pPr>
            <a:r>
              <a:rPr lang="en-US" altLang="zh-CN" sz="1400" dirty="0"/>
              <a:t>11. </a:t>
            </a:r>
            <a:r>
              <a:rPr lang="zh-CN" altLang="en-US" sz="1400" dirty="0"/>
              <a:t>流程终止</a:t>
            </a:r>
          </a:p>
        </p:txBody>
      </p:sp>
      <p:sp>
        <p:nvSpPr>
          <p:cNvPr id="52229" name="灯片编号占位符 4"/>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C9D5E56C-ADA1-427E-B891-829AC140A582}" type="slidenum">
              <a:rPr lang="en-US" altLang="zh-CN" smtClean="0"/>
              <a:pPr/>
              <a:t>50</a:t>
            </a:fld>
            <a:endParaRPr lang="en-US" altLang="zh-CN"/>
          </a:p>
        </p:txBody>
      </p:sp>
      <p:sp>
        <p:nvSpPr>
          <p:cNvPr id="11" name="流程图: 可选过程 10"/>
          <p:cNvSpPr/>
          <p:nvPr/>
        </p:nvSpPr>
        <p:spPr>
          <a:xfrm>
            <a:off x="5320364" y="971382"/>
            <a:ext cx="648072"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t>开始</a:t>
            </a:r>
          </a:p>
        </p:txBody>
      </p:sp>
      <p:sp>
        <p:nvSpPr>
          <p:cNvPr id="12" name="流程图: 数据 11"/>
          <p:cNvSpPr/>
          <p:nvPr/>
        </p:nvSpPr>
        <p:spPr>
          <a:xfrm>
            <a:off x="4796306" y="1662997"/>
            <a:ext cx="1684987" cy="352784"/>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t>接受工单</a:t>
            </a:r>
          </a:p>
        </p:txBody>
      </p:sp>
      <p:cxnSp>
        <p:nvCxnSpPr>
          <p:cNvPr id="13" name="直接箭头连接符 12"/>
          <p:cNvCxnSpPr>
            <a:stCxn id="11" idx="2"/>
            <a:endCxn id="12" idx="1"/>
          </p:cNvCxnSpPr>
          <p:nvPr/>
        </p:nvCxnSpPr>
        <p:spPr>
          <a:xfrm flipH="1">
            <a:off x="5638800" y="1403430"/>
            <a:ext cx="5600" cy="25956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4" name="直接箭头连接符 13"/>
          <p:cNvCxnSpPr>
            <a:stCxn id="20" idx="2"/>
          </p:cNvCxnSpPr>
          <p:nvPr/>
        </p:nvCxnSpPr>
        <p:spPr>
          <a:xfrm>
            <a:off x="5635330" y="2851412"/>
            <a:ext cx="0" cy="25956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5" name="流程图: 可选过程 14"/>
          <p:cNvSpPr/>
          <p:nvPr/>
        </p:nvSpPr>
        <p:spPr>
          <a:xfrm>
            <a:off x="5320364" y="6356289"/>
            <a:ext cx="648072" cy="43204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t>结束</a:t>
            </a:r>
            <a:endParaRPr lang="en-US" altLang="zh-CN" sz="1600" dirty="0"/>
          </a:p>
        </p:txBody>
      </p:sp>
      <p:sp>
        <p:nvSpPr>
          <p:cNvPr id="16" name="流程图: 决策 15"/>
          <p:cNvSpPr/>
          <p:nvPr/>
        </p:nvSpPr>
        <p:spPr>
          <a:xfrm>
            <a:off x="4629511" y="3110979"/>
            <a:ext cx="2029777" cy="792088"/>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t>时间匹配？</a:t>
            </a:r>
          </a:p>
        </p:txBody>
      </p:sp>
      <p:cxnSp>
        <p:nvCxnSpPr>
          <p:cNvPr id="17" name="直接箭头连接符 16"/>
          <p:cNvCxnSpPr>
            <a:stCxn id="12" idx="4"/>
            <a:endCxn id="20" idx="0"/>
          </p:cNvCxnSpPr>
          <p:nvPr/>
        </p:nvCxnSpPr>
        <p:spPr>
          <a:xfrm flipH="1">
            <a:off x="5635330" y="2015781"/>
            <a:ext cx="3470" cy="25956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8" name="文本框 17"/>
          <p:cNvSpPr txBox="1"/>
          <p:nvPr/>
        </p:nvSpPr>
        <p:spPr>
          <a:xfrm>
            <a:off x="6624680" y="3168469"/>
            <a:ext cx="310038" cy="338554"/>
          </a:xfrm>
          <a:prstGeom prst="rect">
            <a:avLst/>
          </a:prstGeom>
          <a:noFill/>
        </p:spPr>
        <p:txBody>
          <a:bodyPr wrap="square" rtlCol="0">
            <a:spAutoFit/>
          </a:bodyPr>
          <a:lstStyle/>
          <a:p>
            <a:r>
              <a:rPr lang="zh-CN" altLang="en-US" sz="1600" dirty="0"/>
              <a:t>否</a:t>
            </a:r>
          </a:p>
        </p:txBody>
      </p:sp>
      <p:sp>
        <p:nvSpPr>
          <p:cNvPr id="19" name="文本框 18"/>
          <p:cNvSpPr txBox="1"/>
          <p:nvPr/>
        </p:nvSpPr>
        <p:spPr>
          <a:xfrm>
            <a:off x="4114699" y="3198371"/>
            <a:ext cx="310038" cy="338554"/>
          </a:xfrm>
          <a:prstGeom prst="rect">
            <a:avLst/>
          </a:prstGeom>
          <a:noFill/>
        </p:spPr>
        <p:txBody>
          <a:bodyPr wrap="square" rtlCol="0">
            <a:spAutoFit/>
          </a:bodyPr>
          <a:lstStyle/>
          <a:p>
            <a:r>
              <a:rPr lang="zh-CN" altLang="en-US" sz="1600" dirty="0"/>
              <a:t>是</a:t>
            </a:r>
          </a:p>
        </p:txBody>
      </p:sp>
      <p:sp>
        <p:nvSpPr>
          <p:cNvPr id="20" name="流程图: 过程 19"/>
          <p:cNvSpPr/>
          <p:nvPr/>
        </p:nvSpPr>
        <p:spPr>
          <a:xfrm>
            <a:off x="5084469" y="2275348"/>
            <a:ext cx="1101722" cy="576064"/>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t>比较付款时间</a:t>
            </a:r>
          </a:p>
        </p:txBody>
      </p:sp>
      <p:sp>
        <p:nvSpPr>
          <p:cNvPr id="21" name="流程图: 过程 20"/>
          <p:cNvSpPr/>
          <p:nvPr/>
        </p:nvSpPr>
        <p:spPr>
          <a:xfrm>
            <a:off x="2794184" y="3218991"/>
            <a:ext cx="1101722" cy="576064"/>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t>确认授权</a:t>
            </a:r>
          </a:p>
        </p:txBody>
      </p:sp>
      <p:sp>
        <p:nvSpPr>
          <p:cNvPr id="22" name="流程图: 决策 21"/>
          <p:cNvSpPr/>
          <p:nvPr/>
        </p:nvSpPr>
        <p:spPr>
          <a:xfrm>
            <a:off x="3082010" y="4031439"/>
            <a:ext cx="518458" cy="379298"/>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sp>
        <p:nvSpPr>
          <p:cNvPr id="23" name="流程图: 过程 22"/>
          <p:cNvSpPr/>
          <p:nvPr/>
        </p:nvSpPr>
        <p:spPr>
          <a:xfrm>
            <a:off x="2794184" y="4647121"/>
            <a:ext cx="1101722" cy="576064"/>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t>确认时间限制</a:t>
            </a:r>
          </a:p>
        </p:txBody>
      </p:sp>
      <p:sp>
        <p:nvSpPr>
          <p:cNvPr id="24" name="流程图: 决策 23"/>
          <p:cNvSpPr/>
          <p:nvPr/>
        </p:nvSpPr>
        <p:spPr>
          <a:xfrm>
            <a:off x="3082010" y="5431070"/>
            <a:ext cx="518458" cy="379298"/>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sp>
        <p:nvSpPr>
          <p:cNvPr id="25" name="流程图: 过程 24"/>
          <p:cNvSpPr/>
          <p:nvPr/>
        </p:nvSpPr>
        <p:spPr>
          <a:xfrm>
            <a:off x="7308304" y="3944126"/>
            <a:ext cx="1368151" cy="576064"/>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t>更新工作者的档案记录</a:t>
            </a:r>
          </a:p>
        </p:txBody>
      </p:sp>
      <p:sp>
        <p:nvSpPr>
          <p:cNvPr id="26" name="流程图: 过程 25"/>
          <p:cNvSpPr/>
          <p:nvPr/>
        </p:nvSpPr>
        <p:spPr>
          <a:xfrm>
            <a:off x="7444615" y="4802687"/>
            <a:ext cx="1101722" cy="576064"/>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t>向管理者发出通知</a:t>
            </a:r>
          </a:p>
        </p:txBody>
      </p:sp>
      <p:sp>
        <p:nvSpPr>
          <p:cNvPr id="27" name="流程图: 过程 26"/>
          <p:cNvSpPr/>
          <p:nvPr/>
        </p:nvSpPr>
        <p:spPr>
          <a:xfrm>
            <a:off x="7452320" y="5661248"/>
            <a:ext cx="1101722" cy="576064"/>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t>向工作者发出通知</a:t>
            </a:r>
          </a:p>
        </p:txBody>
      </p:sp>
      <p:cxnSp>
        <p:nvCxnSpPr>
          <p:cNvPr id="28" name="直接箭头连接符 27"/>
          <p:cNvCxnSpPr>
            <a:stCxn id="16" idx="1"/>
            <a:endCxn id="21" idx="3"/>
          </p:cNvCxnSpPr>
          <p:nvPr/>
        </p:nvCxnSpPr>
        <p:spPr>
          <a:xfrm flipH="1">
            <a:off x="3895906" y="3507023"/>
            <a:ext cx="733605"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9" name="肘形连接符 28"/>
          <p:cNvCxnSpPr>
            <a:stCxn id="16" idx="3"/>
            <a:endCxn id="25" idx="0"/>
          </p:cNvCxnSpPr>
          <p:nvPr/>
        </p:nvCxnSpPr>
        <p:spPr>
          <a:xfrm>
            <a:off x="6659288" y="3507023"/>
            <a:ext cx="1333092" cy="437103"/>
          </a:xfrm>
          <a:prstGeom prst="bentConnector2">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0" name="直接箭头连接符 29"/>
          <p:cNvCxnSpPr>
            <a:stCxn id="25" idx="2"/>
            <a:endCxn id="26" idx="0"/>
          </p:cNvCxnSpPr>
          <p:nvPr/>
        </p:nvCxnSpPr>
        <p:spPr>
          <a:xfrm>
            <a:off x="7992380" y="4520190"/>
            <a:ext cx="3096" cy="28249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1" name="直接箭头连接符 30"/>
          <p:cNvCxnSpPr>
            <a:stCxn id="26" idx="2"/>
            <a:endCxn id="27" idx="0"/>
          </p:cNvCxnSpPr>
          <p:nvPr/>
        </p:nvCxnSpPr>
        <p:spPr>
          <a:xfrm>
            <a:off x="7995476" y="5378751"/>
            <a:ext cx="7705" cy="28249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2" name="直接箭头连接符 31"/>
          <p:cNvCxnSpPr>
            <a:stCxn id="21" idx="2"/>
            <a:endCxn id="22" idx="0"/>
          </p:cNvCxnSpPr>
          <p:nvPr/>
        </p:nvCxnSpPr>
        <p:spPr>
          <a:xfrm flipH="1">
            <a:off x="3341239" y="3795055"/>
            <a:ext cx="3806" cy="236384"/>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3" name="直接箭头连接符 32"/>
          <p:cNvCxnSpPr>
            <a:stCxn id="22" idx="2"/>
            <a:endCxn id="23" idx="0"/>
          </p:cNvCxnSpPr>
          <p:nvPr/>
        </p:nvCxnSpPr>
        <p:spPr>
          <a:xfrm>
            <a:off x="3341239" y="4410737"/>
            <a:ext cx="3806" cy="236384"/>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4" name="直接箭头连接符 33"/>
          <p:cNvCxnSpPr>
            <a:stCxn id="23" idx="2"/>
            <a:endCxn id="24" idx="0"/>
          </p:cNvCxnSpPr>
          <p:nvPr/>
        </p:nvCxnSpPr>
        <p:spPr>
          <a:xfrm flipH="1">
            <a:off x="3341239" y="5223185"/>
            <a:ext cx="3806" cy="20788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5" name="直接箭头连接符 34"/>
          <p:cNvCxnSpPr>
            <a:stCxn id="22" idx="3"/>
            <a:endCxn id="25" idx="1"/>
          </p:cNvCxnSpPr>
          <p:nvPr/>
        </p:nvCxnSpPr>
        <p:spPr>
          <a:xfrm>
            <a:off x="3600468" y="4221088"/>
            <a:ext cx="3707836" cy="1107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6" name="肘形连接符 35"/>
          <p:cNvCxnSpPr>
            <a:stCxn id="24" idx="3"/>
            <a:endCxn id="25" idx="1"/>
          </p:cNvCxnSpPr>
          <p:nvPr/>
        </p:nvCxnSpPr>
        <p:spPr>
          <a:xfrm flipV="1">
            <a:off x="3600468" y="4232158"/>
            <a:ext cx="3707836" cy="1388561"/>
          </a:xfrm>
          <a:prstGeom prst="bentConnector3">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7" name="肘形连接符 36"/>
          <p:cNvCxnSpPr>
            <a:stCxn id="24" idx="2"/>
            <a:endCxn id="15" idx="1"/>
          </p:cNvCxnSpPr>
          <p:nvPr/>
        </p:nvCxnSpPr>
        <p:spPr>
          <a:xfrm rot="16200000" flipH="1">
            <a:off x="3949829" y="5201777"/>
            <a:ext cx="761945" cy="1979125"/>
          </a:xfrm>
          <a:prstGeom prst="bentConnector2">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8" name="肘形连接符 37"/>
          <p:cNvCxnSpPr>
            <a:stCxn id="27" idx="2"/>
            <a:endCxn id="15" idx="3"/>
          </p:cNvCxnSpPr>
          <p:nvPr/>
        </p:nvCxnSpPr>
        <p:spPr>
          <a:xfrm rot="5400000">
            <a:off x="6818309" y="5387440"/>
            <a:ext cx="335001" cy="2034745"/>
          </a:xfrm>
          <a:prstGeom prst="bentConnector2">
            <a:avLst/>
          </a:prstGeom>
          <a:ln>
            <a:tailEnd type="triangle"/>
          </a:ln>
        </p:spPr>
        <p:style>
          <a:lnRef idx="3">
            <a:schemeClr val="accent1"/>
          </a:lnRef>
          <a:fillRef idx="0">
            <a:schemeClr val="accent1"/>
          </a:fillRef>
          <a:effectRef idx="2">
            <a:schemeClr val="accent1"/>
          </a:effectRef>
          <a:fontRef idx="minor">
            <a:schemeClr val="tx1"/>
          </a:fontRef>
        </p:style>
      </p:cxnSp>
      <p:sp>
        <p:nvSpPr>
          <p:cNvPr id="39" name="文本框 38"/>
          <p:cNvSpPr txBox="1"/>
          <p:nvPr/>
        </p:nvSpPr>
        <p:spPr>
          <a:xfrm flipH="1">
            <a:off x="3409378" y="4295468"/>
            <a:ext cx="354386" cy="338554"/>
          </a:xfrm>
          <a:prstGeom prst="rect">
            <a:avLst/>
          </a:prstGeom>
          <a:noFill/>
        </p:spPr>
        <p:txBody>
          <a:bodyPr wrap="square" rtlCol="0">
            <a:spAutoFit/>
          </a:bodyPr>
          <a:lstStyle/>
          <a:p>
            <a:r>
              <a:rPr lang="zh-CN" altLang="en-US" sz="1600" dirty="0"/>
              <a:t>是</a:t>
            </a:r>
          </a:p>
        </p:txBody>
      </p:sp>
      <p:sp>
        <p:nvSpPr>
          <p:cNvPr id="40" name="文本框 39"/>
          <p:cNvSpPr txBox="1"/>
          <p:nvPr/>
        </p:nvSpPr>
        <p:spPr>
          <a:xfrm flipH="1">
            <a:off x="3341239" y="5780003"/>
            <a:ext cx="354386" cy="338554"/>
          </a:xfrm>
          <a:prstGeom prst="rect">
            <a:avLst/>
          </a:prstGeom>
          <a:noFill/>
        </p:spPr>
        <p:txBody>
          <a:bodyPr wrap="square" rtlCol="0">
            <a:spAutoFit/>
          </a:bodyPr>
          <a:lstStyle/>
          <a:p>
            <a:r>
              <a:rPr lang="zh-CN" altLang="en-US" sz="1600" dirty="0"/>
              <a:t>是</a:t>
            </a:r>
          </a:p>
        </p:txBody>
      </p:sp>
      <p:sp>
        <p:nvSpPr>
          <p:cNvPr id="41" name="文本框 40"/>
          <p:cNvSpPr txBox="1"/>
          <p:nvPr/>
        </p:nvSpPr>
        <p:spPr>
          <a:xfrm>
            <a:off x="3810187" y="5282165"/>
            <a:ext cx="310038" cy="338554"/>
          </a:xfrm>
          <a:prstGeom prst="rect">
            <a:avLst/>
          </a:prstGeom>
          <a:noFill/>
        </p:spPr>
        <p:txBody>
          <a:bodyPr wrap="square" rtlCol="0">
            <a:spAutoFit/>
          </a:bodyPr>
          <a:lstStyle/>
          <a:p>
            <a:r>
              <a:rPr lang="zh-CN" altLang="en-US" sz="1600" dirty="0"/>
              <a:t>否</a:t>
            </a:r>
          </a:p>
        </p:txBody>
      </p:sp>
      <p:sp>
        <p:nvSpPr>
          <p:cNvPr id="42" name="文本框 41"/>
          <p:cNvSpPr txBox="1"/>
          <p:nvPr/>
        </p:nvSpPr>
        <p:spPr>
          <a:xfrm>
            <a:off x="3701553" y="3832174"/>
            <a:ext cx="310038" cy="338554"/>
          </a:xfrm>
          <a:prstGeom prst="rect">
            <a:avLst/>
          </a:prstGeom>
          <a:noFill/>
        </p:spPr>
        <p:txBody>
          <a:bodyPr wrap="square" rtlCol="0">
            <a:spAutoFit/>
          </a:bodyPr>
          <a:lstStyle/>
          <a:p>
            <a:r>
              <a:rPr lang="zh-CN" altLang="en-US" sz="1600" dirty="0"/>
              <a:t>否</a:t>
            </a:r>
          </a:p>
        </p:txBody>
      </p:sp>
    </p:spTree>
    <p:custDataLst>
      <p:tags r:id="rId1"/>
    </p:custDataLst>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a:t>服务建模方法</a:t>
            </a:r>
            <a:r>
              <a:rPr lang="en-US" altLang="zh-CN"/>
              <a:t>#1: </a:t>
            </a:r>
            <a:r>
              <a:rPr lang="zh-CN" altLang="en-US"/>
              <a:t>提取混合型服务（</a:t>
            </a:r>
            <a:r>
              <a:rPr lang="en-US" altLang="zh-CN"/>
              <a:t>1/3</a:t>
            </a:r>
            <a:r>
              <a:rPr lang="zh-CN" altLang="en-US"/>
              <a:t>）</a:t>
            </a:r>
            <a:endParaRPr lang="zh-CN" altLang="en-US" dirty="0"/>
          </a:p>
        </p:txBody>
      </p:sp>
      <p:sp>
        <p:nvSpPr>
          <p:cNvPr id="53251" name="内容占位符 6"/>
          <p:cNvSpPr>
            <a:spLocks noGrp="1"/>
          </p:cNvSpPr>
          <p:nvPr>
            <p:ph idx="1"/>
          </p:nvPr>
        </p:nvSpPr>
        <p:spPr>
          <a:xfrm>
            <a:off x="457200" y="1052513"/>
            <a:ext cx="8229600" cy="762459"/>
          </a:xfrm>
        </p:spPr>
        <p:txBody>
          <a:bodyPr/>
          <a:lstStyle/>
          <a:p>
            <a:r>
              <a:rPr lang="zh-CN" altLang="en-US" sz="2800" dirty="0"/>
              <a:t>创建混合的，以任务为核心的服务</a:t>
            </a:r>
            <a:endParaRPr lang="en-US" altLang="zh-CN" sz="2800" dirty="0"/>
          </a:p>
        </p:txBody>
      </p:sp>
      <p:sp>
        <p:nvSpPr>
          <p:cNvPr id="53252" name="灯片编号占位符 4"/>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75BC3003-BC4A-4BDA-9CF6-DCCFBE05CF9C}" type="slidenum">
              <a:rPr lang="en-US" altLang="zh-CN" smtClean="0"/>
              <a:pPr/>
              <a:t>51</a:t>
            </a:fld>
            <a:endParaRPr lang="en-US" altLang="zh-CN"/>
          </a:p>
        </p:txBody>
      </p:sp>
      <p:pic>
        <p:nvPicPr>
          <p:cNvPr id="2" name="图片 1"/>
          <p:cNvPicPr>
            <a:picLocks noChangeAspect="1"/>
          </p:cNvPicPr>
          <p:nvPr/>
        </p:nvPicPr>
        <p:blipFill>
          <a:blip r:embed="rId3"/>
          <a:stretch>
            <a:fillRect/>
          </a:stretch>
        </p:blipFill>
        <p:spPr>
          <a:xfrm>
            <a:off x="2759782" y="1814972"/>
            <a:ext cx="3548236" cy="4646153"/>
          </a:xfrm>
          <a:prstGeom prst="rect">
            <a:avLst/>
          </a:prstGeom>
        </p:spPr>
      </p:pic>
    </p:spTree>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服务建模方法</a:t>
            </a:r>
            <a:r>
              <a:rPr lang="en-US" altLang="zh-CN"/>
              <a:t>#1: </a:t>
            </a:r>
            <a:r>
              <a:rPr lang="zh-CN" altLang="en-US"/>
              <a:t>提取混合型服务（</a:t>
            </a:r>
            <a:r>
              <a:rPr lang="en-US" altLang="zh-CN"/>
              <a:t>2/3</a:t>
            </a:r>
            <a:r>
              <a:rPr lang="zh-CN" altLang="en-US"/>
              <a:t>）</a:t>
            </a:r>
            <a:endParaRPr lang="zh-CN" altLang="en-US" dirty="0"/>
          </a:p>
        </p:txBody>
      </p:sp>
      <p:sp>
        <p:nvSpPr>
          <p:cNvPr id="54277" name="灯片编号占位符 3"/>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F0CBFD3C-CFF7-4E70-8650-9B67DA30AA35}" type="slidenum">
              <a:rPr lang="en-US" altLang="zh-CN" smtClean="0"/>
              <a:pPr/>
              <a:t>52</a:t>
            </a:fld>
            <a:endParaRPr lang="en-US" altLang="zh-CN"/>
          </a:p>
        </p:txBody>
      </p:sp>
      <p:pic>
        <p:nvPicPr>
          <p:cNvPr id="8" name="图片 7"/>
          <p:cNvPicPr>
            <a:picLocks noChangeAspect="1"/>
          </p:cNvPicPr>
          <p:nvPr/>
        </p:nvPicPr>
        <p:blipFill>
          <a:blip r:embed="rId3"/>
          <a:stretch>
            <a:fillRect/>
          </a:stretch>
        </p:blipFill>
        <p:spPr>
          <a:xfrm>
            <a:off x="304800" y="2276872"/>
            <a:ext cx="2405982" cy="3287836"/>
          </a:xfrm>
          <a:prstGeom prst="rect">
            <a:avLst/>
          </a:prstGeom>
        </p:spPr>
      </p:pic>
      <p:pic>
        <p:nvPicPr>
          <p:cNvPr id="9" name="图片 8"/>
          <p:cNvPicPr>
            <a:picLocks noChangeAspect="1"/>
          </p:cNvPicPr>
          <p:nvPr/>
        </p:nvPicPr>
        <p:blipFill>
          <a:blip r:embed="rId4"/>
          <a:stretch>
            <a:fillRect/>
          </a:stretch>
        </p:blipFill>
        <p:spPr>
          <a:xfrm>
            <a:off x="2710782" y="2842685"/>
            <a:ext cx="2258157" cy="2156209"/>
          </a:xfrm>
          <a:prstGeom prst="rect">
            <a:avLst/>
          </a:prstGeom>
        </p:spPr>
      </p:pic>
      <p:pic>
        <p:nvPicPr>
          <p:cNvPr id="11" name="图片 10"/>
          <p:cNvPicPr>
            <a:picLocks noChangeAspect="1"/>
          </p:cNvPicPr>
          <p:nvPr/>
        </p:nvPicPr>
        <p:blipFill>
          <a:blip r:embed="rId5"/>
          <a:stretch>
            <a:fillRect/>
          </a:stretch>
        </p:blipFill>
        <p:spPr>
          <a:xfrm>
            <a:off x="5796136" y="1700808"/>
            <a:ext cx="1888139" cy="4112245"/>
          </a:xfrm>
          <a:prstGeom prst="rect">
            <a:avLst/>
          </a:prstGeom>
        </p:spPr>
      </p:pic>
    </p:spTree>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文本占位符 6"/>
          <p:cNvSpPr>
            <a:spLocks noGrp="1"/>
          </p:cNvSpPr>
          <p:nvPr>
            <p:ph type="body" idx="1"/>
          </p:nvPr>
        </p:nvSpPr>
        <p:spPr/>
        <p:txBody>
          <a:bodyPr/>
          <a:lstStyle/>
          <a:p>
            <a:r>
              <a:rPr lang="zh-CN" altLang="en-US"/>
              <a:t>优点</a:t>
            </a:r>
            <a:endParaRPr lang="en-US" altLang="zh-CN"/>
          </a:p>
        </p:txBody>
      </p:sp>
      <p:sp>
        <p:nvSpPr>
          <p:cNvPr id="55299" name="内容占位符 4"/>
          <p:cNvSpPr>
            <a:spLocks noGrp="1"/>
          </p:cNvSpPr>
          <p:nvPr>
            <p:ph sz="half" idx="2"/>
          </p:nvPr>
        </p:nvSpPr>
        <p:spPr/>
        <p:txBody>
          <a:bodyPr/>
          <a:lstStyle/>
          <a:p>
            <a:r>
              <a:rPr lang="zh-CN" altLang="en-US" dirty="0"/>
              <a:t>最小化分析和建模工作</a:t>
            </a:r>
          </a:p>
          <a:p>
            <a:r>
              <a:rPr lang="zh-CN" altLang="en-US" dirty="0"/>
              <a:t>创建简单和易于理解的服务候选</a:t>
            </a:r>
          </a:p>
        </p:txBody>
      </p:sp>
      <p:sp>
        <p:nvSpPr>
          <p:cNvPr id="55300" name="文本占位符 7"/>
          <p:cNvSpPr>
            <a:spLocks noGrp="1"/>
          </p:cNvSpPr>
          <p:nvPr>
            <p:ph type="body" sz="quarter" idx="3"/>
          </p:nvPr>
        </p:nvSpPr>
        <p:spPr/>
        <p:txBody>
          <a:bodyPr/>
          <a:lstStyle/>
          <a:p>
            <a:r>
              <a:rPr lang="zh-CN" altLang="en-US"/>
              <a:t>缺点</a:t>
            </a:r>
            <a:endParaRPr lang="en-US" altLang="zh-CN"/>
          </a:p>
        </p:txBody>
      </p:sp>
      <p:sp>
        <p:nvSpPr>
          <p:cNvPr id="55301" name="内容占位符 5"/>
          <p:cNvSpPr>
            <a:spLocks noGrp="1"/>
          </p:cNvSpPr>
          <p:nvPr>
            <p:ph sz="quarter" idx="4"/>
          </p:nvPr>
        </p:nvSpPr>
        <p:spPr/>
        <p:txBody>
          <a:bodyPr/>
          <a:lstStyle/>
          <a:p>
            <a:r>
              <a:rPr lang="zh-CN" altLang="en-US" dirty="0"/>
              <a:t>没有创建专门的服务层，因此消除了服务层抽取的潜在优点</a:t>
            </a:r>
          </a:p>
          <a:p>
            <a:r>
              <a:rPr lang="zh-CN" altLang="en-US" dirty="0"/>
              <a:t>没有达到真正的复用效益，因为服务是完全针对单个流程的（以任务为核心的服务候选）</a:t>
            </a:r>
          </a:p>
          <a:p>
            <a:r>
              <a:rPr lang="zh-CN" altLang="en-US" dirty="0"/>
              <a:t>没有达到敏捷性，因为服务逻辑与流程逻辑是紧密关联的</a:t>
            </a:r>
          </a:p>
        </p:txBody>
      </p:sp>
      <p:sp>
        <p:nvSpPr>
          <p:cNvPr id="2" name="标题 1"/>
          <p:cNvSpPr>
            <a:spLocks noGrp="1"/>
          </p:cNvSpPr>
          <p:nvPr>
            <p:ph type="title"/>
          </p:nvPr>
        </p:nvSpPr>
        <p:spPr/>
        <p:txBody>
          <a:bodyPr/>
          <a:lstStyle/>
          <a:p>
            <a:r>
              <a:rPr lang="zh-CN" altLang="en-US"/>
              <a:t>服务建模方法</a:t>
            </a:r>
            <a:r>
              <a:rPr lang="en-US" altLang="zh-CN"/>
              <a:t>#1: </a:t>
            </a:r>
            <a:r>
              <a:rPr lang="zh-CN" altLang="en-US"/>
              <a:t>提取混合型服务（</a:t>
            </a:r>
            <a:r>
              <a:rPr lang="en-US" altLang="zh-CN"/>
              <a:t>3/3</a:t>
            </a:r>
            <a:r>
              <a:rPr lang="zh-CN" altLang="en-US"/>
              <a:t>）</a:t>
            </a:r>
            <a:endParaRPr lang="zh-CN" altLang="en-US" dirty="0"/>
          </a:p>
        </p:txBody>
      </p:sp>
      <p:sp>
        <p:nvSpPr>
          <p:cNvPr id="55302" name="灯片编号占位符 3"/>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FB470EA4-C173-4A2F-9CC3-672F004D2A8D}" type="slidenum">
              <a:rPr lang="en-US" altLang="zh-CN" smtClean="0"/>
              <a:pPr/>
              <a:t>53</a:t>
            </a:fld>
            <a:endParaRPr lang="en-US" altLang="zh-CN"/>
          </a:p>
        </p:txBody>
      </p:sp>
    </p:spTree>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服务建模方法</a:t>
            </a:r>
            <a:r>
              <a:rPr lang="en-US" altLang="zh-CN" dirty="0"/>
              <a:t>#2:</a:t>
            </a:r>
            <a:r>
              <a:rPr lang="zh-CN" altLang="en-US" dirty="0"/>
              <a:t>派生以实体为核心的服务 （</a:t>
            </a:r>
            <a:r>
              <a:rPr lang="en-US" altLang="zh-CN" dirty="0"/>
              <a:t>1/5</a:t>
            </a:r>
            <a:r>
              <a:rPr lang="zh-CN" altLang="en-US" dirty="0"/>
              <a:t>）</a:t>
            </a:r>
          </a:p>
        </p:txBody>
      </p:sp>
      <p:sp>
        <p:nvSpPr>
          <p:cNvPr id="56323" name="内容占位符 5"/>
          <p:cNvSpPr>
            <a:spLocks noGrp="1"/>
          </p:cNvSpPr>
          <p:nvPr>
            <p:ph idx="1"/>
          </p:nvPr>
        </p:nvSpPr>
        <p:spPr>
          <a:xfrm>
            <a:off x="457200" y="1052514"/>
            <a:ext cx="8229600" cy="1231900"/>
          </a:xfrm>
        </p:spPr>
        <p:txBody>
          <a:bodyPr/>
          <a:lstStyle/>
          <a:p>
            <a:r>
              <a:rPr lang="zh-CN" altLang="en-US" dirty="0"/>
              <a:t>从审查现有的有关工单提交流程的实体模型入手</a:t>
            </a:r>
          </a:p>
        </p:txBody>
      </p:sp>
      <p:sp>
        <p:nvSpPr>
          <p:cNvPr id="56324" name="灯片编号占位符 4"/>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47696850-680E-4592-8654-9421E85B0CBB}" type="slidenum">
              <a:rPr lang="en-US" altLang="zh-CN" smtClean="0"/>
              <a:pPr/>
              <a:t>54</a:t>
            </a:fld>
            <a:endParaRPr lang="en-US" altLang="zh-CN"/>
          </a:p>
        </p:txBody>
      </p:sp>
      <p:pic>
        <p:nvPicPr>
          <p:cNvPr id="3" name="图片 2"/>
          <p:cNvPicPr>
            <a:picLocks noChangeAspect="1"/>
          </p:cNvPicPr>
          <p:nvPr/>
        </p:nvPicPr>
        <p:blipFill>
          <a:blip r:embed="rId3"/>
          <a:stretch>
            <a:fillRect/>
          </a:stretch>
        </p:blipFill>
        <p:spPr>
          <a:xfrm>
            <a:off x="1511821" y="2284414"/>
            <a:ext cx="6044158" cy="3870745"/>
          </a:xfrm>
          <a:prstGeom prst="rect">
            <a:avLst/>
          </a:prstGeom>
        </p:spPr>
      </p:pic>
    </p:spTree>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服务建模方法</a:t>
            </a:r>
            <a:r>
              <a:rPr lang="en-US" altLang="zh-CN" dirty="0"/>
              <a:t>#2:</a:t>
            </a:r>
            <a:r>
              <a:rPr lang="zh-CN" altLang="en-US" dirty="0"/>
              <a:t>派生以实体为核心的服务 （</a:t>
            </a:r>
            <a:r>
              <a:rPr lang="en-US" altLang="zh-CN" dirty="0"/>
              <a:t>2/5</a:t>
            </a:r>
            <a:r>
              <a:rPr lang="zh-CN" altLang="en-US" dirty="0"/>
              <a:t>）</a:t>
            </a:r>
          </a:p>
        </p:txBody>
      </p:sp>
      <p:sp>
        <p:nvSpPr>
          <p:cNvPr id="6" name="内容占位符 5"/>
          <p:cNvSpPr>
            <a:spLocks noGrp="1"/>
          </p:cNvSpPr>
          <p:nvPr>
            <p:ph idx="1"/>
          </p:nvPr>
        </p:nvSpPr>
        <p:spPr/>
        <p:txBody>
          <a:bodyPr>
            <a:normAutofit fontScale="85000" lnSpcReduction="20000"/>
          </a:bodyPr>
          <a:lstStyle/>
          <a:p>
            <a:pPr>
              <a:lnSpc>
                <a:spcPct val="120000"/>
              </a:lnSpc>
            </a:pPr>
            <a:r>
              <a:rPr lang="zh-CN" altLang="en-US" dirty="0"/>
              <a:t>识别细粒度服务操作候选列表</a:t>
            </a:r>
            <a:endParaRPr lang="en-US" altLang="zh-CN" dirty="0"/>
          </a:p>
          <a:p>
            <a:pPr lvl="1">
              <a:lnSpc>
                <a:spcPct val="120000"/>
              </a:lnSpc>
            </a:pPr>
            <a:r>
              <a:rPr lang="zh-CN" altLang="en-US" dirty="0"/>
              <a:t>获取记录的客户时间以及日期范围</a:t>
            </a:r>
          </a:p>
          <a:p>
            <a:pPr lvl="1">
              <a:lnSpc>
                <a:spcPct val="120000"/>
              </a:lnSpc>
            </a:pPr>
            <a:r>
              <a:rPr lang="zh-CN" altLang="en-US" dirty="0"/>
              <a:t>获取客户付款的时间以及日期范围</a:t>
            </a:r>
          </a:p>
          <a:p>
            <a:pPr lvl="1">
              <a:lnSpc>
                <a:spcPct val="120000"/>
              </a:lnSpc>
            </a:pPr>
            <a:r>
              <a:rPr lang="zh-CN" altLang="en-US" dirty="0"/>
              <a:t>比较记录的时间与付款的时间</a:t>
            </a:r>
          </a:p>
          <a:p>
            <a:pPr lvl="1">
              <a:lnSpc>
                <a:spcPct val="120000"/>
              </a:lnSpc>
            </a:pPr>
            <a:r>
              <a:rPr lang="zh-CN" altLang="en-US" dirty="0"/>
              <a:t>获取日期范围内的加班时间</a:t>
            </a:r>
          </a:p>
          <a:p>
            <a:pPr lvl="1">
              <a:lnSpc>
                <a:spcPct val="120000"/>
              </a:lnSpc>
            </a:pPr>
            <a:r>
              <a:rPr lang="zh-CN" altLang="en-US" dirty="0"/>
              <a:t>获取授权</a:t>
            </a:r>
          </a:p>
          <a:p>
            <a:pPr lvl="1">
              <a:lnSpc>
                <a:spcPct val="120000"/>
              </a:lnSpc>
            </a:pPr>
            <a:r>
              <a:rPr lang="zh-CN" altLang="en-US" dirty="0"/>
              <a:t>确认授权</a:t>
            </a:r>
          </a:p>
          <a:p>
            <a:pPr lvl="1">
              <a:lnSpc>
                <a:spcPct val="120000"/>
              </a:lnSpc>
            </a:pPr>
            <a:r>
              <a:rPr lang="zh-CN" altLang="en-US" dirty="0"/>
              <a:t>获取每周的时间限制</a:t>
            </a:r>
          </a:p>
          <a:p>
            <a:pPr lvl="1">
              <a:lnSpc>
                <a:spcPct val="120000"/>
              </a:lnSpc>
            </a:pPr>
            <a:r>
              <a:rPr lang="zh-CN" altLang="en-US" dirty="0"/>
              <a:t>每周的时间限制与所记录的时间的比较</a:t>
            </a:r>
          </a:p>
          <a:p>
            <a:pPr lvl="1">
              <a:lnSpc>
                <a:spcPct val="120000"/>
              </a:lnSpc>
            </a:pPr>
            <a:r>
              <a:rPr lang="zh-CN" altLang="en-US" dirty="0"/>
              <a:t>更新雇员历史</a:t>
            </a:r>
          </a:p>
          <a:p>
            <a:pPr lvl="1">
              <a:lnSpc>
                <a:spcPct val="120000"/>
              </a:lnSpc>
            </a:pPr>
            <a:r>
              <a:rPr lang="zh-CN" altLang="en-US" dirty="0"/>
              <a:t>发送消息给雇员</a:t>
            </a:r>
          </a:p>
          <a:p>
            <a:pPr lvl="1">
              <a:lnSpc>
                <a:spcPct val="120000"/>
              </a:lnSpc>
            </a:pPr>
            <a:r>
              <a:rPr lang="zh-CN" altLang="en-US" dirty="0"/>
              <a:t>发送消息给管理者</a:t>
            </a:r>
            <a:r>
              <a:rPr lang="en-US" altLang="zh-CN" dirty="0"/>
              <a:t>	</a:t>
            </a:r>
            <a:endParaRPr lang="zh-CN" altLang="en-US" dirty="0"/>
          </a:p>
        </p:txBody>
      </p:sp>
      <p:sp>
        <p:nvSpPr>
          <p:cNvPr id="57348" name="灯片编号占位符 4"/>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14D38A79-8AEE-4F3E-B1C0-78C20E918597}" type="slidenum">
              <a:rPr lang="en-US" altLang="zh-CN" smtClean="0"/>
              <a:pPr/>
              <a:t>55</a:t>
            </a:fld>
            <a:endParaRPr lang="en-US" altLang="zh-CN"/>
          </a:p>
        </p:txBody>
      </p:sp>
    </p:spTree>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服务建模方法</a:t>
            </a:r>
            <a:r>
              <a:rPr lang="en-US" altLang="zh-CN" dirty="0"/>
              <a:t>#2:</a:t>
            </a:r>
            <a:r>
              <a:rPr lang="zh-CN" altLang="en-US" dirty="0"/>
              <a:t>派生以实体为核心的服务 （</a:t>
            </a:r>
            <a:r>
              <a:rPr lang="en-US" altLang="zh-CN" dirty="0"/>
              <a:t>3/5</a:t>
            </a:r>
            <a:r>
              <a:rPr lang="zh-CN" altLang="en-US" dirty="0"/>
              <a:t>）</a:t>
            </a:r>
          </a:p>
        </p:txBody>
      </p:sp>
      <p:sp>
        <p:nvSpPr>
          <p:cNvPr id="58371" name="内容占位符 2"/>
          <p:cNvSpPr>
            <a:spLocks noGrp="1"/>
          </p:cNvSpPr>
          <p:nvPr>
            <p:ph idx="1"/>
          </p:nvPr>
        </p:nvSpPr>
        <p:spPr>
          <a:xfrm>
            <a:off x="457200" y="1052513"/>
            <a:ext cx="8229600" cy="936625"/>
          </a:xfrm>
        </p:spPr>
        <p:txBody>
          <a:bodyPr/>
          <a:lstStyle/>
          <a:p>
            <a:r>
              <a:rPr lang="zh-CN" altLang="en-US" dirty="0"/>
              <a:t>分析服务候选（流程 </a:t>
            </a:r>
            <a:r>
              <a:rPr lang="en-US" altLang="zh-CN" dirty="0"/>
              <a:t>&amp; </a:t>
            </a:r>
            <a:r>
              <a:rPr lang="zh-CN" altLang="en-US" dirty="0"/>
              <a:t>实体）</a:t>
            </a:r>
          </a:p>
        </p:txBody>
      </p:sp>
      <p:sp>
        <p:nvSpPr>
          <p:cNvPr id="58372" name="灯片编号占位符 3"/>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2D7EB170-E312-4765-8B08-9A1C9A82F693}" type="slidenum">
              <a:rPr lang="en-US" altLang="zh-CN" smtClean="0"/>
              <a:pPr/>
              <a:t>56</a:t>
            </a:fld>
            <a:endParaRPr lang="en-US" altLang="zh-CN"/>
          </a:p>
        </p:txBody>
      </p:sp>
      <p:pic>
        <p:nvPicPr>
          <p:cNvPr id="3" name="图片 2"/>
          <p:cNvPicPr>
            <a:picLocks noChangeAspect="1"/>
          </p:cNvPicPr>
          <p:nvPr/>
        </p:nvPicPr>
        <p:blipFill>
          <a:blip r:embed="rId3"/>
          <a:stretch>
            <a:fillRect/>
          </a:stretch>
        </p:blipFill>
        <p:spPr>
          <a:xfrm>
            <a:off x="520283" y="2872085"/>
            <a:ext cx="2241650" cy="2256830"/>
          </a:xfrm>
          <a:prstGeom prst="rect">
            <a:avLst/>
          </a:prstGeom>
        </p:spPr>
      </p:pic>
      <p:pic>
        <p:nvPicPr>
          <p:cNvPr id="4" name="图片 3"/>
          <p:cNvPicPr>
            <a:picLocks noChangeAspect="1"/>
          </p:cNvPicPr>
          <p:nvPr/>
        </p:nvPicPr>
        <p:blipFill>
          <a:blip r:embed="rId4"/>
          <a:stretch>
            <a:fillRect/>
          </a:stretch>
        </p:blipFill>
        <p:spPr>
          <a:xfrm>
            <a:off x="3393236" y="1926500"/>
            <a:ext cx="2211289" cy="2170808"/>
          </a:xfrm>
          <a:prstGeom prst="rect">
            <a:avLst/>
          </a:prstGeom>
        </p:spPr>
      </p:pic>
      <p:pic>
        <p:nvPicPr>
          <p:cNvPr id="5" name="图片 4"/>
          <p:cNvPicPr>
            <a:picLocks noChangeAspect="1"/>
          </p:cNvPicPr>
          <p:nvPr/>
        </p:nvPicPr>
        <p:blipFill>
          <a:blip r:embed="rId5"/>
          <a:stretch>
            <a:fillRect/>
          </a:stretch>
        </p:blipFill>
        <p:spPr>
          <a:xfrm>
            <a:off x="3316188" y="4144777"/>
            <a:ext cx="2322612" cy="2221409"/>
          </a:xfrm>
          <a:prstGeom prst="rect">
            <a:avLst/>
          </a:prstGeom>
        </p:spPr>
      </p:pic>
      <p:pic>
        <p:nvPicPr>
          <p:cNvPr id="6" name="图片 5"/>
          <p:cNvPicPr>
            <a:picLocks noChangeAspect="1"/>
          </p:cNvPicPr>
          <p:nvPr/>
        </p:nvPicPr>
        <p:blipFill>
          <a:blip r:embed="rId6"/>
          <a:stretch>
            <a:fillRect/>
          </a:stretch>
        </p:blipFill>
        <p:spPr>
          <a:xfrm>
            <a:off x="5868144" y="1926500"/>
            <a:ext cx="2277071" cy="2191048"/>
          </a:xfrm>
          <a:prstGeom prst="rect">
            <a:avLst/>
          </a:prstGeom>
        </p:spPr>
      </p:pic>
      <p:pic>
        <p:nvPicPr>
          <p:cNvPr id="7" name="图片 6"/>
          <p:cNvPicPr>
            <a:picLocks noChangeAspect="1"/>
          </p:cNvPicPr>
          <p:nvPr/>
        </p:nvPicPr>
        <p:blipFill>
          <a:blip r:embed="rId7"/>
          <a:stretch>
            <a:fillRect/>
          </a:stretch>
        </p:blipFill>
        <p:spPr>
          <a:xfrm>
            <a:off x="5852283" y="4156000"/>
            <a:ext cx="2352973" cy="2211289"/>
          </a:xfrm>
          <a:prstGeom prst="rect">
            <a:avLst/>
          </a:prstGeom>
        </p:spPr>
      </p:pic>
    </p:spTree>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服务建模方法</a:t>
            </a:r>
            <a:r>
              <a:rPr lang="en-US" altLang="zh-CN" dirty="0"/>
              <a:t>#2:</a:t>
            </a:r>
            <a:r>
              <a:rPr lang="zh-CN" altLang="en-US" dirty="0"/>
              <a:t>派生以实体为核心的服务 （</a:t>
            </a:r>
            <a:r>
              <a:rPr lang="en-US" altLang="zh-CN" dirty="0"/>
              <a:t>4/5</a:t>
            </a:r>
            <a:r>
              <a:rPr lang="zh-CN" altLang="en-US" dirty="0"/>
              <a:t>）</a:t>
            </a:r>
          </a:p>
        </p:txBody>
      </p:sp>
      <p:sp>
        <p:nvSpPr>
          <p:cNvPr id="59395" name="内容占位符 5"/>
          <p:cNvSpPr>
            <a:spLocks noGrp="1"/>
          </p:cNvSpPr>
          <p:nvPr>
            <p:ph idx="1"/>
          </p:nvPr>
        </p:nvSpPr>
        <p:spPr>
          <a:xfrm>
            <a:off x="457200" y="1052513"/>
            <a:ext cx="8229600" cy="864319"/>
          </a:xfrm>
        </p:spPr>
        <p:txBody>
          <a:bodyPr/>
          <a:lstStyle/>
          <a:p>
            <a:r>
              <a:rPr lang="zh-CN" altLang="en-US" dirty="0"/>
              <a:t>服务组合</a:t>
            </a:r>
          </a:p>
        </p:txBody>
      </p:sp>
      <p:sp>
        <p:nvSpPr>
          <p:cNvPr id="59396" name="灯片编号占位符 4"/>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0CDED27E-7CE0-4819-B22E-F73D5C3F95D8}" type="slidenum">
              <a:rPr lang="en-US" altLang="zh-CN" smtClean="0"/>
              <a:pPr/>
              <a:t>57</a:t>
            </a:fld>
            <a:endParaRPr lang="en-US" altLang="zh-CN"/>
          </a:p>
        </p:txBody>
      </p:sp>
      <p:pic>
        <p:nvPicPr>
          <p:cNvPr id="3" name="图片 2"/>
          <p:cNvPicPr>
            <a:picLocks noChangeAspect="1"/>
          </p:cNvPicPr>
          <p:nvPr/>
        </p:nvPicPr>
        <p:blipFill>
          <a:blip r:embed="rId3"/>
          <a:stretch>
            <a:fillRect/>
          </a:stretch>
        </p:blipFill>
        <p:spPr>
          <a:xfrm>
            <a:off x="1795090" y="2260768"/>
            <a:ext cx="5477619" cy="3980320"/>
          </a:xfrm>
          <a:prstGeom prst="rect">
            <a:avLst/>
          </a:prstGeom>
        </p:spPr>
      </p:pic>
    </p:spTree>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文本占位符 6"/>
          <p:cNvSpPr>
            <a:spLocks noGrp="1"/>
          </p:cNvSpPr>
          <p:nvPr>
            <p:ph type="body" idx="1"/>
          </p:nvPr>
        </p:nvSpPr>
        <p:spPr/>
        <p:txBody>
          <a:bodyPr/>
          <a:lstStyle/>
          <a:p>
            <a:r>
              <a:rPr lang="zh-CN" altLang="en-US"/>
              <a:t>优点</a:t>
            </a:r>
            <a:endParaRPr lang="en-US" altLang="zh-CN"/>
          </a:p>
        </p:txBody>
      </p:sp>
      <p:sp>
        <p:nvSpPr>
          <p:cNvPr id="60419" name="内容占位符 4"/>
          <p:cNvSpPr>
            <a:spLocks noGrp="1"/>
          </p:cNvSpPr>
          <p:nvPr>
            <p:ph sz="half" idx="2"/>
          </p:nvPr>
        </p:nvSpPr>
        <p:spPr/>
        <p:txBody>
          <a:bodyPr/>
          <a:lstStyle/>
          <a:p>
            <a:r>
              <a:rPr lang="zh-CN" altLang="en-US" dirty="0"/>
              <a:t>允许可复用服务候选的创建</a:t>
            </a:r>
          </a:p>
          <a:p>
            <a:r>
              <a:rPr lang="zh-CN" altLang="en-US" dirty="0"/>
              <a:t>通过编排层来建立一个特别的抽象层</a:t>
            </a:r>
          </a:p>
          <a:p>
            <a:r>
              <a:rPr lang="zh-CN" altLang="en-US" dirty="0"/>
              <a:t>高度的可扩展性与敏捷性</a:t>
            </a:r>
          </a:p>
        </p:txBody>
      </p:sp>
      <p:sp>
        <p:nvSpPr>
          <p:cNvPr id="60420" name="文本占位符 7"/>
          <p:cNvSpPr>
            <a:spLocks noGrp="1"/>
          </p:cNvSpPr>
          <p:nvPr>
            <p:ph type="body" sz="quarter" idx="3"/>
          </p:nvPr>
        </p:nvSpPr>
        <p:spPr/>
        <p:txBody>
          <a:bodyPr/>
          <a:lstStyle/>
          <a:p>
            <a:r>
              <a:rPr lang="zh-CN" altLang="en-US"/>
              <a:t>缺点</a:t>
            </a:r>
          </a:p>
        </p:txBody>
      </p:sp>
      <p:sp>
        <p:nvSpPr>
          <p:cNvPr id="60421" name="内容占位符 5"/>
          <p:cNvSpPr>
            <a:spLocks noGrp="1"/>
          </p:cNvSpPr>
          <p:nvPr>
            <p:ph sz="quarter" idx="4"/>
          </p:nvPr>
        </p:nvSpPr>
        <p:spPr/>
        <p:txBody>
          <a:bodyPr/>
          <a:lstStyle/>
          <a:p>
            <a:r>
              <a:rPr lang="zh-CN" altLang="en-US" dirty="0"/>
              <a:t>需要更多的分析工作</a:t>
            </a:r>
          </a:p>
          <a:p>
            <a:r>
              <a:rPr lang="zh-CN" altLang="en-US" dirty="0"/>
              <a:t>导致更复杂的服务组成</a:t>
            </a:r>
          </a:p>
          <a:p>
            <a:r>
              <a:rPr lang="zh-CN" altLang="en-US" dirty="0"/>
              <a:t>需要创建尚未识别的附加服务</a:t>
            </a:r>
            <a:r>
              <a:rPr lang="en-US" altLang="zh-CN" dirty="0"/>
              <a:t>(</a:t>
            </a:r>
            <a:r>
              <a:rPr lang="zh-CN" altLang="en-US" dirty="0"/>
              <a:t>需要完成雇员服务、工单服务和发票服务</a:t>
            </a:r>
            <a:r>
              <a:rPr lang="zh-CN" altLang="en-US"/>
              <a:t>和处理通知的</a:t>
            </a:r>
            <a:r>
              <a:rPr lang="zh-CN" altLang="en-US" dirty="0"/>
              <a:t>应用服务</a:t>
            </a:r>
            <a:r>
              <a:rPr lang="en-US" altLang="zh-CN" dirty="0"/>
              <a:t>)</a:t>
            </a:r>
            <a:endParaRPr lang="zh-CN" altLang="en-US" dirty="0"/>
          </a:p>
        </p:txBody>
      </p:sp>
      <p:sp>
        <p:nvSpPr>
          <p:cNvPr id="2" name="标题 1"/>
          <p:cNvSpPr>
            <a:spLocks noGrp="1"/>
          </p:cNvSpPr>
          <p:nvPr>
            <p:ph type="title"/>
          </p:nvPr>
        </p:nvSpPr>
        <p:spPr/>
        <p:txBody>
          <a:bodyPr>
            <a:normAutofit fontScale="90000"/>
          </a:bodyPr>
          <a:lstStyle/>
          <a:p>
            <a:r>
              <a:rPr lang="zh-CN" altLang="en-US" dirty="0"/>
              <a:t>服务建模方法</a:t>
            </a:r>
            <a:r>
              <a:rPr lang="en-US" altLang="zh-CN" dirty="0"/>
              <a:t>#2:</a:t>
            </a:r>
            <a:r>
              <a:rPr lang="zh-CN" altLang="en-US" dirty="0"/>
              <a:t>派生以实体为核心的服务 （</a:t>
            </a:r>
            <a:r>
              <a:rPr lang="en-US" altLang="zh-CN" dirty="0"/>
              <a:t>5/5</a:t>
            </a:r>
            <a:r>
              <a:rPr lang="zh-CN" altLang="en-US" dirty="0"/>
              <a:t>）</a:t>
            </a:r>
          </a:p>
        </p:txBody>
      </p:sp>
      <p:sp>
        <p:nvSpPr>
          <p:cNvPr id="60422" name="灯片编号占位符 3"/>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D24757BC-5673-40A6-9DE9-743FE0577183}" type="slidenum">
              <a:rPr lang="en-US" altLang="zh-CN" smtClean="0"/>
              <a:pPr/>
              <a:t>58</a:t>
            </a:fld>
            <a:endParaRPr lang="en-US" altLang="zh-CN"/>
          </a:p>
        </p:txBody>
      </p:sp>
    </p:spTree>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服务建模方法</a:t>
            </a:r>
            <a:r>
              <a:rPr lang="en-US" altLang="zh-CN" dirty="0"/>
              <a:t>#3:</a:t>
            </a:r>
            <a:r>
              <a:rPr lang="zh-CN" altLang="en-US" dirty="0"/>
              <a:t>混合以任务为核心与以实体为核心的服务（</a:t>
            </a:r>
            <a:r>
              <a:rPr lang="en-US" altLang="zh-CN" dirty="0"/>
              <a:t>1/2</a:t>
            </a:r>
            <a:r>
              <a:rPr lang="zh-CN" altLang="en-US" dirty="0"/>
              <a:t>）</a:t>
            </a:r>
          </a:p>
        </p:txBody>
      </p:sp>
      <p:sp>
        <p:nvSpPr>
          <p:cNvPr id="61443" name="内容占位符 5"/>
          <p:cNvSpPr>
            <a:spLocks noGrp="1"/>
          </p:cNvSpPr>
          <p:nvPr>
            <p:ph idx="1"/>
          </p:nvPr>
        </p:nvSpPr>
        <p:spPr>
          <a:xfrm>
            <a:off x="457200" y="1052513"/>
            <a:ext cx="8229600" cy="936327"/>
          </a:xfrm>
        </p:spPr>
        <p:txBody>
          <a:bodyPr>
            <a:noAutofit/>
          </a:bodyPr>
          <a:lstStyle/>
          <a:p>
            <a:pPr>
              <a:lnSpc>
                <a:spcPct val="110000"/>
              </a:lnSpc>
            </a:pPr>
            <a:r>
              <a:rPr lang="zh-CN" altLang="en-US" sz="2400" dirty="0"/>
              <a:t>在以实体为核心的服务候选中加入以任务核心的服务候选，以描述能够复用的子流程</a:t>
            </a:r>
          </a:p>
        </p:txBody>
      </p:sp>
      <p:sp>
        <p:nvSpPr>
          <p:cNvPr id="61444" name="灯片编号占位符 4"/>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B38BBFB5-D50D-4F14-95A1-B374B2446DFE}" type="slidenum">
              <a:rPr lang="en-US" altLang="zh-CN" smtClean="0"/>
              <a:pPr/>
              <a:t>59</a:t>
            </a:fld>
            <a:endParaRPr lang="en-US" altLang="zh-CN"/>
          </a:p>
        </p:txBody>
      </p:sp>
      <p:pic>
        <p:nvPicPr>
          <p:cNvPr id="8" name="图片 7"/>
          <p:cNvPicPr>
            <a:picLocks noChangeAspect="1"/>
          </p:cNvPicPr>
          <p:nvPr/>
        </p:nvPicPr>
        <p:blipFill>
          <a:blip r:embed="rId3"/>
          <a:stretch>
            <a:fillRect/>
          </a:stretch>
        </p:blipFill>
        <p:spPr>
          <a:xfrm>
            <a:off x="2987824" y="1960367"/>
            <a:ext cx="3463333" cy="4879194"/>
          </a:xfrm>
          <a:prstGeom prst="rect">
            <a:avLst/>
          </a:prstGeom>
        </p:spPr>
      </p:pic>
      <p:sp>
        <p:nvSpPr>
          <p:cNvPr id="9" name="Text Box 6"/>
          <p:cNvSpPr txBox="1">
            <a:spLocks noChangeArrowheads="1"/>
          </p:cNvSpPr>
          <p:nvPr/>
        </p:nvSpPr>
        <p:spPr bwMode="auto">
          <a:xfrm>
            <a:off x="6220416" y="4195826"/>
            <a:ext cx="115098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spcBef>
                <a:spcPct val="50000"/>
              </a:spcBef>
            </a:pPr>
            <a:r>
              <a:rPr lang="en-US" altLang="zh-CN" sz="1600" dirty="0"/>
              <a:t>added</a:t>
            </a:r>
          </a:p>
        </p:txBody>
      </p:sp>
      <p:sp>
        <p:nvSpPr>
          <p:cNvPr id="10" name="Line 7"/>
          <p:cNvSpPr>
            <a:spLocks noChangeShapeType="1"/>
          </p:cNvSpPr>
          <p:nvPr/>
        </p:nvSpPr>
        <p:spPr bwMode="auto">
          <a:xfrm flipH="1" flipV="1">
            <a:off x="5004046" y="3789038"/>
            <a:ext cx="1224137" cy="576065"/>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文本占位符 4"/>
          <p:cNvSpPr>
            <a:spLocks noGrp="1"/>
          </p:cNvSpPr>
          <p:nvPr>
            <p:ph type="body" idx="1"/>
          </p:nvPr>
        </p:nvSpPr>
        <p:spPr/>
        <p:txBody>
          <a:bodyPr/>
          <a:lstStyle/>
          <a:p>
            <a:r>
              <a:rPr lang="zh-CN" altLang="en-US" dirty="0"/>
              <a:t>优点</a:t>
            </a:r>
            <a:r>
              <a:rPr lang="en-US" altLang="zh-CN" dirty="0"/>
              <a:t>	</a:t>
            </a:r>
            <a:endParaRPr lang="zh-CN" altLang="en-US" dirty="0"/>
          </a:p>
        </p:txBody>
      </p:sp>
      <p:sp>
        <p:nvSpPr>
          <p:cNvPr id="62467" name="内容占位符 5"/>
          <p:cNvSpPr>
            <a:spLocks noGrp="1"/>
          </p:cNvSpPr>
          <p:nvPr>
            <p:ph sz="half" idx="2"/>
          </p:nvPr>
        </p:nvSpPr>
        <p:spPr/>
        <p:txBody>
          <a:bodyPr/>
          <a:lstStyle/>
          <a:p>
            <a:r>
              <a:rPr lang="zh-CN" altLang="en-US" dirty="0"/>
              <a:t>类似于仅以实体为核心的方式，在敏捷性和扩展性方面获益</a:t>
            </a:r>
          </a:p>
          <a:p>
            <a:r>
              <a:rPr lang="zh-CN" altLang="en-US" dirty="0"/>
              <a:t>如果验证工单提交流程确实可复用，那么就可能把它从大量的流程工作流逻辑中抽取出来并从中受益</a:t>
            </a:r>
          </a:p>
        </p:txBody>
      </p:sp>
      <p:sp>
        <p:nvSpPr>
          <p:cNvPr id="62468" name="文本占位符 6"/>
          <p:cNvSpPr>
            <a:spLocks noGrp="1"/>
          </p:cNvSpPr>
          <p:nvPr>
            <p:ph type="body" sz="quarter" idx="3"/>
          </p:nvPr>
        </p:nvSpPr>
        <p:spPr/>
        <p:txBody>
          <a:bodyPr/>
          <a:lstStyle/>
          <a:p>
            <a:r>
              <a:rPr lang="zh-CN" altLang="en-US"/>
              <a:t>缺点</a:t>
            </a:r>
          </a:p>
        </p:txBody>
      </p:sp>
      <p:sp>
        <p:nvSpPr>
          <p:cNvPr id="62469" name="内容占位符 7"/>
          <p:cNvSpPr>
            <a:spLocks noGrp="1"/>
          </p:cNvSpPr>
          <p:nvPr>
            <p:ph sz="quarter" idx="4"/>
          </p:nvPr>
        </p:nvSpPr>
        <p:spPr/>
        <p:txBody>
          <a:bodyPr/>
          <a:lstStyle/>
          <a:p>
            <a:r>
              <a:rPr lang="zh-CN" altLang="en-US"/>
              <a:t>导致更复杂的组合方式，引入附加的处理层</a:t>
            </a:r>
          </a:p>
          <a:p>
            <a:r>
              <a:rPr lang="zh-CN" altLang="en-US"/>
              <a:t>将工作流逻辑从流程服务中移除，使得工单提交流程的控制分散化</a:t>
            </a:r>
            <a:endParaRPr lang="en-US" altLang="zh-CN" dirty="0"/>
          </a:p>
        </p:txBody>
      </p:sp>
      <p:sp>
        <p:nvSpPr>
          <p:cNvPr id="3" name="标题 1"/>
          <p:cNvSpPr>
            <a:spLocks noGrp="1"/>
          </p:cNvSpPr>
          <p:nvPr>
            <p:ph type="title"/>
          </p:nvPr>
        </p:nvSpPr>
        <p:spPr/>
        <p:txBody>
          <a:bodyPr>
            <a:normAutofit fontScale="90000"/>
          </a:bodyPr>
          <a:lstStyle/>
          <a:p>
            <a:r>
              <a:rPr lang="zh-CN" altLang="en-US" dirty="0"/>
              <a:t>服务建模方法</a:t>
            </a:r>
            <a:r>
              <a:rPr lang="en-US" altLang="zh-CN" dirty="0"/>
              <a:t>#3:</a:t>
            </a:r>
            <a:r>
              <a:rPr lang="zh-CN" altLang="en-US" dirty="0"/>
              <a:t>混合以任务为核心与以实体为核心的服务（</a:t>
            </a:r>
            <a:r>
              <a:rPr lang="en-US" altLang="zh-CN" dirty="0"/>
              <a:t>2/2</a:t>
            </a:r>
            <a:r>
              <a:rPr lang="zh-CN" altLang="en-US" dirty="0"/>
              <a:t>）</a:t>
            </a:r>
          </a:p>
        </p:txBody>
      </p:sp>
      <p:sp>
        <p:nvSpPr>
          <p:cNvPr id="62470" name="灯片编号占位符 3"/>
          <p:cNvSpPr>
            <a:spLocks noGrp="1"/>
          </p:cNvSpPr>
          <p:nvPr>
            <p:ph type="sldNum" sz="quarter" idx="10"/>
          </p:nvPr>
        </p:nvSpPr>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fld id="{A7DFB04A-C666-4DEB-9C3A-52EF7DFF0EE3}" type="slidenum">
              <a:rPr lang="en-US" altLang="zh-CN" smtClean="0"/>
              <a:pPr/>
              <a:t>60</a:t>
            </a:fld>
            <a:endParaRPr lang="en-US" altLang="zh-CN"/>
          </a:p>
        </p:txBody>
      </p:sp>
    </p:spTree>
  </p:cSld>
  <p:clrMapOvr>
    <a:masterClrMapping/>
  </p:clrMapOvr>
  <p:transition spd="slow"/>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Read More…</a:t>
            </a:r>
            <a:endParaRPr lang="zh-CN" altLang="en-US" dirty="0"/>
          </a:p>
        </p:txBody>
      </p:sp>
      <p:sp>
        <p:nvSpPr>
          <p:cNvPr id="3" name="内容占位符 2"/>
          <p:cNvSpPr>
            <a:spLocks noGrp="1"/>
          </p:cNvSpPr>
          <p:nvPr>
            <p:ph idx="1"/>
          </p:nvPr>
        </p:nvSpPr>
        <p:spPr/>
        <p:txBody>
          <a:bodyPr>
            <a:normAutofit fontScale="92500" lnSpcReduction="20000"/>
          </a:bodyPr>
          <a:lstStyle/>
          <a:p>
            <a:pPr marL="0" indent="0">
              <a:buNone/>
            </a:pPr>
            <a:endParaRPr lang="en-US" altLang="zh-CN" dirty="0"/>
          </a:p>
          <a:p>
            <a:r>
              <a:rPr lang="zh-CN" altLang="en-US" sz="2800" dirty="0"/>
              <a:t>题名</a:t>
            </a:r>
            <a:r>
              <a:rPr lang="en-US" altLang="zh-CN" sz="2800" dirty="0"/>
              <a:t>/</a:t>
            </a:r>
            <a:r>
              <a:rPr lang="zh-CN" altLang="en-US" sz="2800" dirty="0"/>
              <a:t>责任者</a:t>
            </a:r>
            <a:r>
              <a:rPr lang="en-US" altLang="zh-CN" sz="2800" dirty="0"/>
              <a:t>:SOA</a:t>
            </a:r>
            <a:r>
              <a:rPr lang="zh-CN" altLang="en-US" sz="2800" dirty="0"/>
              <a:t>概念、技术与设计</a:t>
            </a:r>
            <a:r>
              <a:rPr lang="en-US" altLang="zh-CN" sz="2800" dirty="0"/>
              <a:t>/(</a:t>
            </a:r>
            <a:r>
              <a:rPr lang="zh-CN" altLang="en-US" sz="2800" dirty="0"/>
              <a:t>美</a:t>
            </a:r>
            <a:r>
              <a:rPr lang="en-US" altLang="zh-CN" sz="2800" dirty="0"/>
              <a:t>) Thomas </a:t>
            </a:r>
            <a:r>
              <a:rPr lang="en-US" altLang="zh-CN" sz="2800" dirty="0" err="1"/>
              <a:t>Erl</a:t>
            </a:r>
            <a:r>
              <a:rPr lang="zh-CN" altLang="en-US" sz="2800" dirty="0"/>
              <a:t>著 王满红</a:t>
            </a:r>
            <a:r>
              <a:rPr lang="en-US" altLang="zh-CN" sz="2800" dirty="0"/>
              <a:t>, </a:t>
            </a:r>
            <a:r>
              <a:rPr lang="zh-CN" altLang="en-US" sz="2800" dirty="0"/>
              <a:t>陈荣华译</a:t>
            </a:r>
            <a:endParaRPr lang="en-US" altLang="zh-CN" sz="2800" dirty="0"/>
          </a:p>
          <a:p>
            <a:r>
              <a:rPr lang="zh-CN" altLang="en-US" sz="2800" dirty="0"/>
              <a:t>出版发行项</a:t>
            </a:r>
            <a:r>
              <a:rPr lang="en-US" altLang="zh-CN" sz="2800" dirty="0"/>
              <a:t>:</a:t>
            </a:r>
            <a:r>
              <a:rPr lang="zh-CN" altLang="en-US" sz="2800" dirty="0"/>
              <a:t>北京</a:t>
            </a:r>
            <a:r>
              <a:rPr lang="en-US" altLang="zh-CN" sz="2800" dirty="0"/>
              <a:t>:</a:t>
            </a:r>
            <a:r>
              <a:rPr lang="zh-CN" altLang="en-US" sz="2800" dirty="0"/>
              <a:t>机械工业出版社</a:t>
            </a:r>
            <a:r>
              <a:rPr lang="en-US" altLang="zh-CN" sz="2800" dirty="0"/>
              <a:t>,2007</a:t>
            </a:r>
          </a:p>
          <a:p>
            <a:r>
              <a:rPr lang="en-US" altLang="zh-CN" sz="2800" dirty="0"/>
              <a:t>ISBN</a:t>
            </a:r>
            <a:r>
              <a:rPr lang="zh-CN" altLang="en-US" sz="2800" dirty="0"/>
              <a:t>及定价</a:t>
            </a:r>
            <a:r>
              <a:rPr lang="en-US" altLang="zh-CN" sz="2800" dirty="0"/>
              <a:t>:7-111-19727-5/CNY56.00</a:t>
            </a:r>
          </a:p>
          <a:p>
            <a:r>
              <a:rPr lang="en-US" altLang="zh-CN" sz="2800" dirty="0">
                <a:hlinkClick r:id="rId2"/>
              </a:rPr>
              <a:t>URL:http://202.119.47.8:8080/opac/item.php?marc_no=0003275270</a:t>
            </a:r>
            <a:endParaRPr lang="en-US" altLang="zh-CN" sz="2800" dirty="0"/>
          </a:p>
          <a:p>
            <a:endParaRPr lang="en-US" altLang="zh-CN" sz="2800" dirty="0"/>
          </a:p>
          <a:p>
            <a:r>
              <a:rPr lang="zh-CN" altLang="en-US" sz="2800" dirty="0"/>
              <a:t>题名</a:t>
            </a:r>
            <a:r>
              <a:rPr lang="en-US" altLang="zh-CN" sz="2800" dirty="0"/>
              <a:t>/</a:t>
            </a:r>
            <a:r>
              <a:rPr lang="zh-CN" altLang="en-US" sz="2800" dirty="0"/>
              <a:t>责任者</a:t>
            </a:r>
            <a:r>
              <a:rPr lang="en-US" altLang="zh-CN" sz="2800" dirty="0"/>
              <a:t>:</a:t>
            </a:r>
            <a:r>
              <a:rPr lang="zh-CN" altLang="en-US" sz="2800" dirty="0"/>
              <a:t>浅谈深析面向服务的软件工程</a:t>
            </a:r>
            <a:r>
              <a:rPr lang="en-US" altLang="zh-CN" sz="2800" dirty="0"/>
              <a:t>/</a:t>
            </a:r>
            <a:r>
              <a:rPr lang="zh-CN" altLang="en-US" sz="2800" dirty="0"/>
              <a:t>蔡维德</a:t>
            </a:r>
            <a:r>
              <a:rPr lang="en-US" altLang="zh-CN" sz="2800" dirty="0"/>
              <a:t>, </a:t>
            </a:r>
            <a:r>
              <a:rPr lang="zh-CN" altLang="en-US" sz="2800" dirty="0"/>
              <a:t>白晓颖</a:t>
            </a:r>
            <a:r>
              <a:rPr lang="en-US" altLang="zh-CN" sz="2800" dirty="0"/>
              <a:t>, </a:t>
            </a:r>
            <a:r>
              <a:rPr lang="zh-CN" altLang="en-US" sz="2800" dirty="0"/>
              <a:t>陈以农著</a:t>
            </a:r>
          </a:p>
          <a:p>
            <a:r>
              <a:rPr lang="zh-CN" altLang="en-US" sz="2800" dirty="0"/>
              <a:t>出版发行项</a:t>
            </a:r>
            <a:r>
              <a:rPr lang="en-US" altLang="zh-CN" sz="2800" dirty="0"/>
              <a:t>:</a:t>
            </a:r>
            <a:r>
              <a:rPr lang="zh-CN" altLang="en-US" sz="2800" dirty="0"/>
              <a:t>北京</a:t>
            </a:r>
            <a:r>
              <a:rPr lang="en-US" altLang="zh-CN" sz="2800" dirty="0"/>
              <a:t>:</a:t>
            </a:r>
            <a:r>
              <a:rPr lang="zh-CN" altLang="en-US" sz="2800" dirty="0"/>
              <a:t>清华大学出版社</a:t>
            </a:r>
            <a:r>
              <a:rPr lang="en-US" altLang="zh-CN" sz="2800" dirty="0"/>
              <a:t>,2008</a:t>
            </a:r>
          </a:p>
          <a:p>
            <a:r>
              <a:rPr lang="en-US" altLang="zh-CN" sz="2800" dirty="0"/>
              <a:t>ISBN</a:t>
            </a:r>
            <a:r>
              <a:rPr lang="zh-CN" altLang="en-US" sz="2800" dirty="0"/>
              <a:t>及定价</a:t>
            </a:r>
            <a:r>
              <a:rPr lang="en-US" altLang="zh-CN" sz="2800" dirty="0"/>
              <a:t>:978-7-302-17221-5/CNY29.00</a:t>
            </a:r>
          </a:p>
          <a:p>
            <a:r>
              <a:rPr lang="en-US" altLang="zh-CN" sz="2800" dirty="0">
                <a:hlinkClick r:id="rId3"/>
              </a:rPr>
              <a:t>URL:http://202.119.47.8:8080/opac/item.php?marc_no=0003487777</a:t>
            </a:r>
            <a:endParaRPr lang="en-US" altLang="zh-CN" sz="2800" dirty="0"/>
          </a:p>
          <a:p>
            <a:endParaRPr lang="en-US" altLang="zh-CN" sz="2800" dirty="0"/>
          </a:p>
        </p:txBody>
      </p:sp>
      <p:sp>
        <p:nvSpPr>
          <p:cNvPr id="4" name="灯片编号占位符 3"/>
          <p:cNvSpPr>
            <a:spLocks noGrp="1"/>
          </p:cNvSpPr>
          <p:nvPr>
            <p:ph type="sldNum" sz="quarter" idx="4294967295"/>
          </p:nvPr>
        </p:nvSpPr>
        <p:spPr>
          <a:xfrm>
            <a:off x="3505200" y="6461125"/>
            <a:ext cx="2133600" cy="320675"/>
          </a:xfrm>
          <a:prstGeom prst="rect">
            <a:avLst/>
          </a:prstGeom>
        </p:spPr>
        <p:txBody>
          <a:bodyPr/>
          <a:lstStyle/>
          <a:p>
            <a:pPr>
              <a:defRPr/>
            </a:pPr>
            <a:fld id="{35E2893E-1C56-4F7E-897F-1FA1E5A4D06E}" type="slidenum">
              <a:rPr lang="en-US" altLang="zh-CN" smtClean="0"/>
              <a:pPr>
                <a:defRPr/>
              </a:pPr>
              <a:t>61</a:t>
            </a:fld>
            <a:endParaRPr lang="en-US" altLang="zh-CN" dirty="0"/>
          </a:p>
        </p:txBody>
      </p:sp>
    </p:spTree>
    <p:extLst>
      <p:ext uri="{BB962C8B-B14F-4D97-AF65-F5344CB8AC3E}">
        <p14:creationId xmlns:p14="http://schemas.microsoft.com/office/powerpoint/2010/main" val="26055935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71.4"/>
</p:tagLst>
</file>

<file path=ppt/tags/tag2.xml><?xml version="1.0" encoding="utf-8"?>
<p:tagLst xmlns:a="http://schemas.openxmlformats.org/drawingml/2006/main" xmlns:r="http://schemas.openxmlformats.org/officeDocument/2006/relationships" xmlns:p="http://schemas.openxmlformats.org/presentationml/2006/main">
  <p:tag name="TIMING" val="|31.7|3.7|4.3"/>
</p:tagLst>
</file>

<file path=ppt/tags/tag3.xml><?xml version="1.0" encoding="utf-8"?>
<p:tagLst xmlns:a="http://schemas.openxmlformats.org/drawingml/2006/main" xmlns:r="http://schemas.openxmlformats.org/officeDocument/2006/relationships" xmlns:p="http://schemas.openxmlformats.org/presentationml/2006/main">
  <p:tag name="TIMING" val="|7.6"/>
</p:tagLst>
</file>

<file path=ppt/tags/tag4.xml><?xml version="1.0" encoding="utf-8"?>
<p:tagLst xmlns:a="http://schemas.openxmlformats.org/drawingml/2006/main" xmlns:r="http://schemas.openxmlformats.org/officeDocument/2006/relationships" xmlns:p="http://schemas.openxmlformats.org/presentationml/2006/main">
  <p:tag name="TIMING" val="|7.6"/>
</p:tagLst>
</file>

<file path=ppt/tags/tag5.xml><?xml version="1.0" encoding="utf-8"?>
<p:tagLst xmlns:a="http://schemas.openxmlformats.org/drawingml/2006/main" xmlns:r="http://schemas.openxmlformats.org/officeDocument/2006/relationships" xmlns:p="http://schemas.openxmlformats.org/presentationml/2006/main">
  <p:tag name="TIMING" val="|6.7|2"/>
</p:tagLst>
</file>

<file path=ppt/tags/tag6.xml><?xml version="1.0" encoding="utf-8"?>
<p:tagLst xmlns:a="http://schemas.openxmlformats.org/drawingml/2006/main" xmlns:r="http://schemas.openxmlformats.org/officeDocument/2006/relationships" xmlns:p="http://schemas.openxmlformats.org/presentationml/2006/main">
  <p:tag name="TIMING" val="|2.9"/>
</p:tagLst>
</file>

<file path=ppt/theme/theme1.xml><?xml version="1.0" encoding="utf-8"?>
<a:theme xmlns:a="http://schemas.openxmlformats.org/drawingml/2006/main" name="software">
  <a:themeElements>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fontScheme name="sample">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clrMap bg1="lt1" tx1="dk1" bg2="lt2" tx2="dk2" accent1="accent1" accent2="accent2" accent3="accent3" accent4="accent4" accent5="accent5" accent6="accent6" hlink="hlink" folHlink="folHlink"/>
    </a:extraClrScheme>
    <a:extraClrScheme>
      <a:clrScheme name="sample 2">
        <a:dk1>
          <a:srgbClr val="29698D"/>
        </a:dk1>
        <a:lt1>
          <a:srgbClr val="FFFFFF"/>
        </a:lt1>
        <a:dk2>
          <a:srgbClr val="000000"/>
        </a:dk2>
        <a:lt2>
          <a:srgbClr val="A1BABD"/>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sample 3">
        <a:dk1>
          <a:srgbClr val="666699"/>
        </a:dk1>
        <a:lt1>
          <a:srgbClr val="FFFFFF"/>
        </a:lt1>
        <a:dk2>
          <a:srgbClr val="000000"/>
        </a:dk2>
        <a:lt2>
          <a:srgbClr val="C0C0C0"/>
        </a:lt2>
        <a:accent1>
          <a:srgbClr val="72B88E"/>
        </a:accent1>
        <a:accent2>
          <a:srgbClr val="C78DD7"/>
        </a:accent2>
        <a:accent3>
          <a:srgbClr val="FFFFFF"/>
        </a:accent3>
        <a:accent4>
          <a:srgbClr val="565682"/>
        </a:accent4>
        <a:accent5>
          <a:srgbClr val="BCD8C6"/>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software</Template>
  <TotalTime>12753</TotalTime>
  <Words>3929</Words>
  <Application>Microsoft Office PowerPoint</Application>
  <PresentationFormat>全屏显示(4:3)</PresentationFormat>
  <Paragraphs>562</Paragraphs>
  <Slides>61</Slides>
  <Notes>53</Notes>
  <HiddenSlides>0</HiddenSlides>
  <MMClips>0</MMClips>
  <ScaleCrop>false</ScaleCrop>
  <HeadingPairs>
    <vt:vector size="8" baseType="variant">
      <vt:variant>
        <vt:lpstr>已用的字体</vt:lpstr>
      </vt:variant>
      <vt:variant>
        <vt:i4>4</vt:i4>
      </vt:variant>
      <vt:variant>
        <vt:lpstr>主题</vt:lpstr>
      </vt:variant>
      <vt:variant>
        <vt:i4>1</vt:i4>
      </vt:variant>
      <vt:variant>
        <vt:lpstr>嵌入 OLE 服务器</vt:lpstr>
      </vt:variant>
      <vt:variant>
        <vt:i4>1</vt:i4>
      </vt:variant>
      <vt:variant>
        <vt:lpstr>幻灯片标题</vt:lpstr>
      </vt:variant>
      <vt:variant>
        <vt:i4>61</vt:i4>
      </vt:variant>
    </vt:vector>
  </HeadingPairs>
  <TitlesOfParts>
    <vt:vector size="67" baseType="lpstr">
      <vt:lpstr>黑体</vt:lpstr>
      <vt:lpstr>Arial</vt:lpstr>
      <vt:lpstr>Verdana</vt:lpstr>
      <vt:lpstr>Wingdings</vt:lpstr>
      <vt:lpstr>software</vt:lpstr>
      <vt:lpstr>Visio</vt:lpstr>
      <vt:lpstr>Service-Oriented Analysis Service-Oriented Software Engineering</vt:lpstr>
      <vt:lpstr>面向服务的生命周期的基本阶段</vt:lpstr>
      <vt:lpstr>业务逻辑/应用逻辑（1/2）</vt:lpstr>
      <vt:lpstr>业务逻辑/应用逻辑（2/2）</vt:lpstr>
      <vt:lpstr>服务层次</vt:lpstr>
      <vt:lpstr>以SOA为框架</vt:lpstr>
      <vt:lpstr>面向服务的交付策略（1/4）</vt:lpstr>
      <vt:lpstr>面向服务的交付策略（2/4）</vt:lpstr>
      <vt:lpstr>面向服务的交付策略（3/4）</vt:lpstr>
      <vt:lpstr>面向服务的交付策略（4/4）</vt:lpstr>
      <vt:lpstr>面向服务的分析的目标</vt:lpstr>
      <vt:lpstr>需求分析技术里程碑</vt:lpstr>
      <vt:lpstr>面向服务分析的流程</vt:lpstr>
      <vt:lpstr>以业务为核心的SOA</vt:lpstr>
      <vt:lpstr>常见业务分析方法（1/2）</vt:lpstr>
      <vt:lpstr>常见业务分析方法（2/2）</vt:lpstr>
      <vt:lpstr>业务服务的派生类型（1/2）</vt:lpstr>
      <vt:lpstr>业务服务的派生类型（2/2）</vt:lpstr>
      <vt:lpstr>业务服务与编排</vt:lpstr>
      <vt:lpstr>服务建模的产物（路线图）</vt:lpstr>
      <vt:lpstr>服务建模的过程</vt:lpstr>
      <vt:lpstr>1. 分解业务流程 - 发票提交 (1/2) </vt:lpstr>
      <vt:lpstr>1. 分解业务流程 - 发票提交 (2/2) </vt:lpstr>
      <vt:lpstr>1. 分解业务流程 - 订单履行</vt:lpstr>
      <vt:lpstr>2. 识别业务服务候选逻辑</vt:lpstr>
      <vt:lpstr>2. 识别业务服务候选逻辑- 发票提交</vt:lpstr>
      <vt:lpstr>2. 识别业务服务候选逻辑 - 订单履行</vt:lpstr>
      <vt:lpstr>3.抽象编排逻辑</vt:lpstr>
      <vt:lpstr>4. 创建业务服务候选</vt:lpstr>
      <vt:lpstr>5. 提炼和应用面向服务原则 （复用/自治）</vt:lpstr>
      <vt:lpstr>5. 提炼和应用面向服务原则 （复用/自治）</vt:lpstr>
      <vt:lpstr>6.识别服务候选组合</vt:lpstr>
      <vt:lpstr>其余步骤 I</vt:lpstr>
      <vt:lpstr>其余步骤 II</vt:lpstr>
      <vt:lpstr>服务建模原则 I</vt:lpstr>
      <vt:lpstr>服务建模原则 II</vt:lpstr>
      <vt:lpstr>服务建模原则 III</vt:lpstr>
      <vt:lpstr>服务建模原则 IV &amp; V</vt:lpstr>
      <vt:lpstr>服务建模原则 VI</vt:lpstr>
      <vt:lpstr>服务建模原则 VII (1/2)</vt:lpstr>
      <vt:lpstr>服务建模原则 VII (2/2)</vt:lpstr>
      <vt:lpstr>服务建模原则 VIII</vt:lpstr>
      <vt:lpstr>服务建模原则 IX~XI</vt:lpstr>
      <vt:lpstr>服务建模原则 XI</vt:lpstr>
      <vt:lpstr>服务建模原则 XII</vt:lpstr>
      <vt:lpstr>服务模型逻辑分类</vt:lpstr>
      <vt:lpstr>面向服务企业（SOE）模型</vt:lpstr>
      <vt:lpstr>TLS公司工单提交流程 </vt:lpstr>
      <vt:lpstr>扩展的TLS公司的工单提交流程 （1/2）</vt:lpstr>
      <vt:lpstr>扩展的TLS公司的工单提交流程（2/2）</vt:lpstr>
      <vt:lpstr>服务建模方法#1: 提取混合型服务（1/3）</vt:lpstr>
      <vt:lpstr>服务建模方法#1: 提取混合型服务（2/3）</vt:lpstr>
      <vt:lpstr>服务建模方法#1: 提取混合型服务（3/3）</vt:lpstr>
      <vt:lpstr>服务建模方法#2:派生以实体为核心的服务 （1/5）</vt:lpstr>
      <vt:lpstr>服务建模方法#2:派生以实体为核心的服务 （2/5）</vt:lpstr>
      <vt:lpstr>服务建模方法#2:派生以实体为核心的服务 （3/5）</vt:lpstr>
      <vt:lpstr>服务建模方法#2:派生以实体为核心的服务 （4/5）</vt:lpstr>
      <vt:lpstr>服务建模方法#2:派生以实体为核心的服务 （5/5）</vt:lpstr>
      <vt:lpstr>服务建模方法#3:混合以任务为核心与以实体为核心的服务（1/2）</vt:lpstr>
      <vt:lpstr>服务建模方法#3:混合以任务为核心与以实体为核心的服务（2/2）</vt:lpstr>
      <vt:lpstr>Read More…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贝佳</dc:creator>
  <cp:lastModifiedBy>jia bei</cp:lastModifiedBy>
  <cp:revision>249</cp:revision>
  <dcterms:created xsi:type="dcterms:W3CDTF">2008-04-16T11:36:22Z</dcterms:created>
  <dcterms:modified xsi:type="dcterms:W3CDTF">2023-03-27T04:16:56Z</dcterms:modified>
</cp:coreProperties>
</file>