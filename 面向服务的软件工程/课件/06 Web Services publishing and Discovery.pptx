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notesSlides/notesSlide25.xml" ContentType="application/vnd.openxmlformats-officedocument.presentationml.notesSlide+xml"/>
  <Override PartName="/ppt/tags/tag2.xml" ContentType="application/vnd.openxmlformats-officedocument.presentationml.tags+xml"/>
  <Override PartName="/ppt/notesSlides/notesSlide26.xml" ContentType="application/vnd.openxmlformats-officedocument.presentationml.notesSlide+xml"/>
  <Override PartName="/ppt/tags/tag3.xml" ContentType="application/vnd.openxmlformats-officedocument.presentationml.tags+xml"/>
  <Override PartName="/ppt/notesSlides/notesSlide27.xml" ContentType="application/vnd.openxmlformats-officedocument.presentationml.notesSlide+xml"/>
  <Override PartName="/ppt/tags/tag4.xml" ContentType="application/vnd.openxmlformats-officedocument.presentationml.tags+xml"/>
  <Override PartName="/ppt/notesSlides/notesSlide28.xml" ContentType="application/vnd.openxmlformats-officedocument.presentationml.notesSlide+xml"/>
  <Override PartName="/ppt/tags/tag5.xml" ContentType="application/vnd.openxmlformats-officedocument.presentationml.tags+xml"/>
  <Override PartName="/ppt/notesSlides/notesSlide29.xml" ContentType="application/vnd.openxmlformats-officedocument.presentationml.notesSlide+xml"/>
  <Override PartName="/ppt/tags/tag6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5" r:id="rId1"/>
  </p:sldMasterIdLst>
  <p:notesMasterIdLst>
    <p:notesMasterId r:id="rId47"/>
  </p:notesMasterIdLst>
  <p:sldIdLst>
    <p:sldId id="256" r:id="rId2"/>
    <p:sldId id="325" r:id="rId3"/>
    <p:sldId id="427" r:id="rId4"/>
    <p:sldId id="326" r:id="rId5"/>
    <p:sldId id="410" r:id="rId6"/>
    <p:sldId id="327" r:id="rId7"/>
    <p:sldId id="417" r:id="rId8"/>
    <p:sldId id="418" r:id="rId9"/>
    <p:sldId id="419" r:id="rId10"/>
    <p:sldId id="415" r:id="rId11"/>
    <p:sldId id="411" r:id="rId12"/>
    <p:sldId id="412" r:id="rId13"/>
    <p:sldId id="414" r:id="rId14"/>
    <p:sldId id="416" r:id="rId15"/>
    <p:sldId id="420" r:id="rId16"/>
    <p:sldId id="422" r:id="rId17"/>
    <p:sldId id="423" r:id="rId18"/>
    <p:sldId id="424" r:id="rId19"/>
    <p:sldId id="425" r:id="rId20"/>
    <p:sldId id="426" r:id="rId21"/>
    <p:sldId id="428" r:id="rId22"/>
    <p:sldId id="429" r:id="rId23"/>
    <p:sldId id="430" r:id="rId24"/>
    <p:sldId id="434" r:id="rId25"/>
    <p:sldId id="435" r:id="rId26"/>
    <p:sldId id="360" r:id="rId27"/>
    <p:sldId id="361" r:id="rId28"/>
    <p:sldId id="406" r:id="rId29"/>
    <p:sldId id="362" r:id="rId30"/>
    <p:sldId id="407" r:id="rId31"/>
    <p:sldId id="408" r:id="rId32"/>
    <p:sldId id="364" r:id="rId33"/>
    <p:sldId id="365" r:id="rId34"/>
    <p:sldId id="366" r:id="rId35"/>
    <p:sldId id="375" r:id="rId36"/>
    <p:sldId id="376" r:id="rId37"/>
    <p:sldId id="377" r:id="rId38"/>
    <p:sldId id="436" r:id="rId39"/>
    <p:sldId id="378" r:id="rId40"/>
    <p:sldId id="379" r:id="rId41"/>
    <p:sldId id="433" r:id="rId42"/>
    <p:sldId id="431" r:id="rId43"/>
    <p:sldId id="432" r:id="rId44"/>
    <p:sldId id="437" r:id="rId45"/>
    <p:sldId id="438" r:id="rId4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3" autoAdjust="0"/>
    <p:restoredTop sz="94639" autoAdjust="0"/>
  </p:normalViewPr>
  <p:slideViewPr>
    <p:cSldViewPr>
      <p:cViewPr varScale="1">
        <p:scale>
          <a:sx n="80" d="100"/>
          <a:sy n="80" d="100"/>
        </p:scale>
        <p:origin x="9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B0D4431-A564-45C9-BB17-4AF556FAA1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483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856FC11-A059-41FD-83DF-20D40BD23CAC}" type="slidenum">
              <a:rPr lang="en-US" altLang="zh-CN" smtClean="0"/>
              <a:pPr eaLnBrk="1" hangingPunct="1"/>
              <a:t>1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29993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987A003-6B4A-4C1F-B99F-71E676B0670D}" type="slidenum">
              <a:rPr lang="en-US" altLang="zh-CN" smtClean="0"/>
              <a:pPr eaLnBrk="1" hangingPunct="1"/>
              <a:t>2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91542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BC2F25F-2B7D-4834-9CD5-603367BAD332}" type="slidenum">
              <a:rPr lang="en-US" altLang="zh-CN" smtClean="0"/>
              <a:pPr eaLnBrk="1" hangingPunct="1"/>
              <a:t>4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47759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7AE2F13-AA07-4C2D-B89C-62DB80C8AE5D}" type="slidenum">
              <a:rPr lang="en-US" altLang="zh-CN" smtClean="0"/>
              <a:pPr eaLnBrk="1" hangingPunct="1"/>
              <a:t>5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32819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EC54F6E-2AB4-4B43-8BD5-642223298019}" type="slidenum">
              <a:rPr lang="en-US" altLang="zh-CN" smtClean="0"/>
              <a:pPr eaLnBrk="1" hangingPunct="1"/>
              <a:t>6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498808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6A3D4B8-7A3D-4AB9-BDB1-0E7938A15A0F}" type="slidenum">
              <a:rPr lang="en-US" altLang="zh-CN" smtClean="0"/>
              <a:pPr eaLnBrk="1" hangingPunct="1"/>
              <a:t>7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90663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97BF7DD-16CF-4504-B14E-402232AD1642}" type="slidenum">
              <a:rPr lang="en-US" altLang="zh-CN" smtClean="0"/>
              <a:pPr eaLnBrk="1" hangingPunct="1"/>
              <a:t>8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294870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3FE7CD6-98FC-478E-9E45-F719DC3D29F3}" type="slidenum">
              <a:rPr lang="en-US" altLang="zh-CN" smtClean="0"/>
              <a:pPr eaLnBrk="1" hangingPunct="1"/>
              <a:t>9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159374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807F597-2000-4AEC-AB39-9359A188EE01}" type="slidenum">
              <a:rPr lang="en-US" altLang="zh-CN" smtClean="0"/>
              <a:pPr eaLnBrk="1" hangingPunct="1"/>
              <a:t>10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591755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90F7AB1-8E47-4849-8E2C-4325556913D4}" type="slidenum">
              <a:rPr lang="en-US" altLang="zh-CN" smtClean="0"/>
              <a:pPr eaLnBrk="1" hangingPunct="1"/>
              <a:t>11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30365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406BDFF-CA7E-4842-BCF9-81DC5234722B}" type="slidenum">
              <a:rPr lang="en-US" altLang="zh-CN" smtClean="0"/>
              <a:pPr eaLnBrk="1" hangingPunct="1"/>
              <a:t>12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51748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61E7042-4BB1-4F50-BA31-F23CA0249F4F}" type="slidenum">
              <a:rPr lang="en-US" altLang="zh-CN" smtClean="0"/>
              <a:pPr eaLnBrk="1" hangingPunct="1"/>
              <a:t>13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550375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0125DB0-3E16-4090-91E3-A74815F0990A}" type="slidenum">
              <a:rPr lang="en-US" altLang="zh-CN" smtClean="0"/>
              <a:pPr eaLnBrk="1" hangingPunct="1"/>
              <a:t>14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334176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A36C3F6-1850-4DAC-9133-BAE6DABCC517}" type="slidenum">
              <a:rPr lang="en-US" altLang="zh-CN" smtClean="0"/>
              <a:pPr eaLnBrk="1" hangingPunct="1"/>
              <a:t>15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806735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F25FAD1-F5A2-48E2-B479-E511E9920B62}" type="slidenum">
              <a:rPr lang="en-US" altLang="zh-CN" smtClean="0"/>
              <a:pPr eaLnBrk="1" hangingPunct="1"/>
              <a:t>16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794761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D3B23E8-DCC1-4DEA-B62D-1284BBD4A0D3}" type="slidenum">
              <a:rPr lang="en-US" altLang="zh-CN" smtClean="0"/>
              <a:pPr eaLnBrk="1" hangingPunct="1"/>
              <a:t>17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623651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5A9703B-8B20-467D-8E1D-B8635D82C907}" type="slidenum">
              <a:rPr lang="en-US" altLang="zh-CN" smtClean="0"/>
              <a:pPr eaLnBrk="1" hangingPunct="1"/>
              <a:t>18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518226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D0F7F36-CF6A-4553-9059-041A92AC9A8B}" type="slidenum">
              <a:rPr lang="en-US" altLang="zh-CN" smtClean="0"/>
              <a:pPr eaLnBrk="1" hangingPunct="1"/>
              <a:t>19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92083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BD452A9-AC11-4116-ABA1-D94C9BF7347A}" type="slidenum">
              <a:rPr lang="en-US" altLang="zh-CN" smtClean="0"/>
              <a:pPr eaLnBrk="1" hangingPunct="1"/>
              <a:t>20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872244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7E09CFA-A7C8-4A9F-8155-8007EAFBC052}" type="slidenum">
              <a:rPr lang="en-US" altLang="zh-CN" sz="1200" smtClean="0"/>
              <a:pPr eaLnBrk="1" hangingPunct="1"/>
              <a:t>21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661748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6A60E10-A535-4A7F-A14C-6A7B6F8D66F0}" type="slidenum">
              <a:rPr lang="en-US" altLang="zh-CN" sz="1200" smtClean="0"/>
              <a:pPr eaLnBrk="1" hangingPunct="1"/>
              <a:t>22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414894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136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983D421-1C29-40EB-A135-D1608D315D96}" type="slidenum">
              <a:rPr lang="en-US" altLang="zh-CN" sz="1200" smtClean="0"/>
              <a:pPr eaLnBrk="1" hangingPunct="1"/>
              <a:t>23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56310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30A37B6-FC41-473B-9E5F-D7276EA9F249}" type="slidenum">
              <a:rPr lang="en-US" altLang="zh-CN" smtClean="0"/>
              <a:pPr eaLnBrk="1" hangingPunct="1"/>
              <a:t>26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6282794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D90A2ED-78BD-4E04-8B92-38FC30DD781B}" type="slidenum">
              <a:rPr lang="en-US" altLang="zh-CN" smtClean="0"/>
              <a:pPr eaLnBrk="1" hangingPunct="1"/>
              <a:t>27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050003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DD93AF5-7195-4711-8EDD-145803D583B6}" type="slidenum">
              <a:rPr lang="en-US" altLang="zh-CN" smtClean="0"/>
              <a:pPr eaLnBrk="1" hangingPunct="1"/>
              <a:t>28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335232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3EF9F03-C46E-4623-ABE2-7AD31D4EF48D}" type="slidenum">
              <a:rPr lang="en-US" altLang="zh-CN" smtClean="0"/>
              <a:pPr eaLnBrk="1" hangingPunct="1"/>
              <a:t>29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274753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83C961B-B040-4627-B853-5546A0712755}" type="slidenum">
              <a:rPr lang="en-US" altLang="zh-CN" smtClean="0"/>
              <a:pPr eaLnBrk="1" hangingPunct="1"/>
              <a:t>30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8543999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C00B5DA-CFCC-4906-B93B-B62A3B047FA3}" type="slidenum">
              <a:rPr lang="en-US" altLang="zh-CN" smtClean="0"/>
              <a:pPr eaLnBrk="1" hangingPunct="1"/>
              <a:t>31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702922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7652A36-F814-4454-B45F-95D5E0DCE992}" type="slidenum">
              <a:rPr lang="en-US" altLang="zh-CN" smtClean="0"/>
              <a:pPr eaLnBrk="1" hangingPunct="1"/>
              <a:t>32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47631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090817C-9704-4DA8-8C63-41B64EE69F33}" type="slidenum">
              <a:rPr lang="en-US" altLang="zh-CN" smtClean="0"/>
              <a:pPr eaLnBrk="1" hangingPunct="1"/>
              <a:t>33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937332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4EA4373-BC6F-4627-BD8F-2041B889A6A4}" type="slidenum">
              <a:rPr lang="en-US" altLang="zh-CN" smtClean="0"/>
              <a:pPr eaLnBrk="1" hangingPunct="1"/>
              <a:t>34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095876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BD83A4D-AC99-4034-A898-19A5AAB56A26}" type="slidenum">
              <a:rPr lang="en-US" altLang="zh-CN" smtClean="0"/>
              <a:pPr eaLnBrk="1" hangingPunct="1"/>
              <a:t>35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9294948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1355D0E-98D9-46A3-9855-9F6429AF7739}" type="slidenum">
              <a:rPr lang="en-US" altLang="zh-CN" smtClean="0"/>
              <a:pPr eaLnBrk="1" hangingPunct="1"/>
              <a:t>36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268881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68D16BC-0B55-40A4-9BCA-CF22B6303364}" type="slidenum">
              <a:rPr lang="en-US" altLang="zh-CN" smtClean="0"/>
              <a:pPr eaLnBrk="1" hangingPunct="1"/>
              <a:t>37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3749978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678450A-3EB2-4C12-85AC-4E09FDA981AA}" type="slidenum">
              <a:rPr lang="en-US" altLang="zh-CN" smtClean="0"/>
              <a:pPr eaLnBrk="1" hangingPunct="1"/>
              <a:t>39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399531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EBA939D-78D5-4736-8F5F-988B30064057}" type="slidenum">
              <a:rPr lang="en-US" altLang="zh-CN" smtClean="0"/>
              <a:pPr eaLnBrk="1" hangingPunct="1"/>
              <a:t>40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82066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788EF1C-FDDC-457B-B578-686BF156F6CA}" type="slidenum">
              <a:rPr lang="en-US" altLang="zh-CN" sz="1200" smtClean="0"/>
              <a:pPr eaLnBrk="1" hangingPunct="1"/>
              <a:t>41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54264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88913"/>
            <a:ext cx="3163887" cy="722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dirty="0" smtClean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  <a:ex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ko-KR" noProof="0" dirty="0" smtClean="0"/>
          </a:p>
        </p:txBody>
      </p:sp>
    </p:spTree>
    <p:extLst>
      <p:ext uri="{BB962C8B-B14F-4D97-AF65-F5344CB8AC3E}">
        <p14:creationId xmlns:p14="http://schemas.microsoft.com/office/powerpoint/2010/main" val="186180060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40DE8-117D-415F-9B4C-33D34B1058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767488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05D5D-D4E4-42FF-84BB-7836CC1E76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9303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B0849-E408-4095-891F-4D35D747EF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004365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22817-BB94-4D28-B455-EC68E1B63E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48837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BF400-34A2-4DC6-9466-81DED358B6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75351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93667C-79BB-45F0-A2F2-4A5E6B1304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8319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CB969-738B-4EB1-BFBA-EC2F3D2536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67368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F8D72-F5E9-4C43-A284-318E02712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50927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CE8A8-25A5-418B-A5F1-896759F310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26335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DCEF8-68AF-4D43-9A51-22972BA770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0642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756FF-7CE6-486B-BEDE-F6660CAD73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22176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CB2218F4-426B-452A-950B-0E00F6B390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288" y="6453188"/>
            <a:ext cx="1579562" cy="360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fontAlgn="base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fontAlgn="base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fontAlgn="base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fontAlgn="base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202.119.47.8:8080/opac/item.php?marc_no=0003334218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bm.com/developerworks/webservices/library/ws-wsilover/" TargetMode="External"/><Relationship Id="rId2" Type="http://schemas.openxmlformats.org/officeDocument/2006/relationships/hyperlink" Target="http://www.uddi.org/pubs/uddi_v3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racle.com/technetwork/java/jaxr-13813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sz="2800" dirty="0" smtClean="0">
                <a:ea typeface="宋体" pitchFamily="2" charset="-122"/>
              </a:rPr>
              <a:t>Web </a:t>
            </a:r>
            <a:r>
              <a:rPr lang="en-US" altLang="zh-CN" sz="2800" dirty="0">
                <a:ea typeface="宋体" pitchFamily="2" charset="-122"/>
              </a:rPr>
              <a:t>Services Publishing and </a:t>
            </a:r>
            <a:r>
              <a:rPr lang="en-US" altLang="zh-CN" sz="2800" dirty="0" smtClean="0">
                <a:ea typeface="宋体" pitchFamily="2" charset="-122"/>
              </a:rPr>
              <a:t>Discovery</a:t>
            </a:r>
            <a:r>
              <a:rPr lang="en-US" altLang="zh-CN" dirty="0">
                <a:ea typeface="宋体" pitchFamily="2" charset="-122"/>
              </a:rPr>
              <a:t/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sz="2000" dirty="0">
                <a:solidFill>
                  <a:srgbClr val="FFFFFF"/>
                </a:solidFill>
              </a:rPr>
              <a:t>Service-Oriented Software Engineering</a:t>
            </a:r>
            <a:endParaRPr lang="en-US" altLang="zh-CN" sz="2000" dirty="0" smtClean="0">
              <a:ea typeface="宋体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itchFamily="2" charset="-122"/>
              </a:rPr>
              <a:t>Publishing a Web Service in Registry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 smtClean="0"/>
              <a:t>The implementation of Web services is deployed onto an application server accessible to Internet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 smtClean="0"/>
              <a:t>Then publish it to a service registry on the Internet so that it can be found by any user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 smtClean="0"/>
              <a:t>The service registry provides the information that service requesters need to discover services providers and their Web service, instead of actual implementation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Service name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Service provider’s name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 smtClean="0"/>
              <a:t>URL of the WSDL file describing a service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4D73183-3FD0-45EC-9A93-EA0D9C5D2765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Web services publishing approaches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52050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Publish to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A centralized services registry 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>
                <a:ea typeface="宋体" pitchFamily="2" charset="-122"/>
              </a:rPr>
              <a:t>UDDI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A distributed services registry 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>
                <a:ea typeface="宋体" pitchFamily="2" charset="-122"/>
              </a:rPr>
              <a:t>Web Services Inspection Language (WS-Inspection Language or WSIL)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79157681"/>
              </p:ext>
            </p:extLst>
          </p:nvPr>
        </p:nvGraphicFramePr>
        <p:xfrm>
          <a:off x="539552" y="3057534"/>
          <a:ext cx="8226425" cy="300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Visio" r:id="rId3" imgW="10189474" imgH="3723063" progId="Visio.Drawing.11">
                  <p:embed/>
                </p:oleObj>
              </mc:Choice>
              <mc:Fallback>
                <p:oleObj name="Visio" r:id="rId3" imgW="10189474" imgH="3723063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057534"/>
                        <a:ext cx="8226425" cy="300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90799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UDDI (1/3)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zh-CN" sz="2800" dirty="0" smtClean="0"/>
              <a:t>Universal Description, Discovery, and Integration (UDDI) is used to provides “meta service” for publishing and locating Web Services by enabling robust queries against rich metadata</a:t>
            </a:r>
          </a:p>
          <a:p>
            <a:pPr>
              <a:defRPr/>
            </a:pPr>
            <a:r>
              <a:rPr lang="en-US" altLang="zh-CN" sz="2800" dirty="0" smtClean="0"/>
              <a:t>UDDI defines a mechanism to store descriptions of registered Web services in term of XML messages</a:t>
            </a:r>
          </a:p>
          <a:p>
            <a:pPr>
              <a:defRPr/>
            </a:pPr>
            <a:r>
              <a:rPr lang="en-US" altLang="zh-CN" sz="2800" dirty="0" smtClean="0"/>
              <a:t>The UDDI specifications record information about</a:t>
            </a:r>
          </a:p>
          <a:p>
            <a:pPr lvl="1">
              <a:defRPr/>
            </a:pPr>
            <a:r>
              <a:rPr lang="en-US" altLang="zh-CN" sz="2400" dirty="0" smtClean="0"/>
              <a:t>WHO, basic information about a business</a:t>
            </a:r>
          </a:p>
          <a:p>
            <a:pPr lvl="1">
              <a:defRPr/>
            </a:pPr>
            <a:r>
              <a:rPr lang="en-US" altLang="zh-CN" sz="2400" dirty="0" smtClean="0"/>
              <a:t>WHAT, classification information</a:t>
            </a:r>
          </a:p>
          <a:p>
            <a:pPr lvl="1">
              <a:defRPr/>
            </a:pPr>
            <a:r>
              <a:rPr lang="en-US" altLang="zh-CN" sz="2400" dirty="0" smtClean="0"/>
              <a:t>WHERE, registration information</a:t>
            </a:r>
          </a:p>
          <a:p>
            <a:pPr lvl="1">
              <a:defRPr/>
            </a:pPr>
            <a:r>
              <a:rPr lang="en-US" altLang="zh-CN" sz="2400" dirty="0" smtClean="0"/>
              <a:t>HOW, registration references about interfaces and other properties of a given service 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9B01397-5BFB-4FA6-A630-14B04C5497E7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UDDI (2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en-US" altLang="zh-CN" dirty="0" smtClean="0">
                <a:ea typeface="宋体" pitchFamily="2" charset="-122"/>
              </a:rPr>
              <a:t>3)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ea typeface="宋体" pitchFamily="2" charset="-122"/>
              </a:rPr>
              <a:t>UDDI registry entries store published information about Web Services.</a:t>
            </a:r>
          </a:p>
          <a:p>
            <a:pPr lvl="1"/>
            <a:r>
              <a:rPr lang="en-US" altLang="zh-CN" dirty="0" smtClean="0">
                <a:latin typeface="Arial" charset="0"/>
                <a:ea typeface="宋体" pitchFamily="2" charset="-122"/>
              </a:rPr>
              <a:t>White Pages: information such as name, address, i.e. contact details</a:t>
            </a:r>
          </a:p>
          <a:p>
            <a:pPr lvl="1"/>
            <a:r>
              <a:rPr lang="en-US" altLang="zh-CN" dirty="0" smtClean="0">
                <a:latin typeface="Arial" charset="0"/>
                <a:ea typeface="宋体" pitchFamily="2" charset="-122"/>
              </a:rPr>
              <a:t>Yellow Pages: information such as categorization of businesses or services</a:t>
            </a:r>
          </a:p>
          <a:p>
            <a:pPr lvl="2"/>
            <a:r>
              <a:rPr lang="en-US" altLang="zh-CN" dirty="0" smtClean="0">
                <a:latin typeface="Arial" charset="0"/>
                <a:ea typeface="宋体" pitchFamily="2" charset="-122"/>
              </a:rPr>
              <a:t>Industry: NAICS (North American Industry Classification System)</a:t>
            </a:r>
          </a:p>
          <a:p>
            <a:pPr lvl="2"/>
            <a:r>
              <a:rPr lang="en-US" altLang="zh-CN" dirty="0" smtClean="0">
                <a:latin typeface="Arial" charset="0"/>
                <a:ea typeface="宋体" pitchFamily="2" charset="-122"/>
              </a:rPr>
              <a:t>Product/Services: UNSPSC (United Nations Standard Products and Services Code)</a:t>
            </a:r>
          </a:p>
          <a:p>
            <a:pPr lvl="2"/>
            <a:r>
              <a:rPr lang="en-US" altLang="zh-CN" dirty="0" smtClean="0">
                <a:latin typeface="Arial" charset="0"/>
                <a:ea typeface="宋体" pitchFamily="2" charset="-122"/>
              </a:rPr>
              <a:t>Location: Geographical taxonomy</a:t>
            </a:r>
            <a:r>
              <a:rPr lang="zh-CN" altLang="en-US" dirty="0" smtClean="0">
                <a:latin typeface="Arial" charset="0"/>
                <a:ea typeface="宋体" pitchFamily="2" charset="-122"/>
              </a:rPr>
              <a:t>　 </a:t>
            </a:r>
            <a:endParaRPr lang="en-US" altLang="zh-CN" dirty="0" smtClean="0">
              <a:latin typeface="Arial" charset="0"/>
              <a:ea typeface="宋体" pitchFamily="2" charset="-122"/>
            </a:endParaRPr>
          </a:p>
          <a:p>
            <a:pPr lvl="1"/>
            <a:r>
              <a:rPr lang="en-US" altLang="zh-CN" dirty="0" smtClean="0">
                <a:latin typeface="Arial" charset="0"/>
                <a:ea typeface="宋体" pitchFamily="2" charset="-122"/>
              </a:rPr>
              <a:t>Green Pages: information such as technical data about services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56C013A-3BE6-4A76-B943-2DBE07C345FF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UDDI (3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en-US" altLang="zh-CN" dirty="0" smtClean="0">
                <a:ea typeface="宋体" pitchFamily="2" charset="-122"/>
              </a:rPr>
              <a:t>3)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Contains five main elements</a:t>
            </a:r>
          </a:p>
          <a:p>
            <a:pPr lvl="1"/>
            <a:r>
              <a:rPr lang="en-US" altLang="zh-CN" sz="2400" i="1" dirty="0" err="1" smtClean="0">
                <a:latin typeface="Arial" charset="0"/>
                <a:ea typeface="宋体" pitchFamily="2" charset="-122"/>
              </a:rPr>
              <a:t>businessEntitiy</a:t>
            </a:r>
            <a:r>
              <a:rPr lang="en-US" altLang="zh-CN" sz="2400" i="1" dirty="0" smtClean="0">
                <a:latin typeface="Arial" charset="0"/>
                <a:ea typeface="宋体" pitchFamily="2" charset="-122"/>
              </a:rPr>
              <a:t>, </a:t>
            </a:r>
            <a:r>
              <a:rPr lang="en-US" altLang="zh-CN" sz="2400" dirty="0" smtClean="0">
                <a:latin typeface="Arial" charset="0"/>
                <a:ea typeface="宋体" pitchFamily="2" charset="-122"/>
              </a:rPr>
              <a:t>physical business by describing its information and its offered services</a:t>
            </a:r>
          </a:p>
          <a:p>
            <a:pPr lvl="1"/>
            <a:r>
              <a:rPr lang="en-US" altLang="zh-CN" sz="2400" i="1" dirty="0" err="1" smtClean="0">
                <a:latin typeface="Arial" charset="0"/>
                <a:ea typeface="宋体" pitchFamily="2" charset="-122"/>
              </a:rPr>
              <a:t>businessService</a:t>
            </a:r>
            <a:r>
              <a:rPr lang="en-US" altLang="zh-CN" sz="2400" dirty="0" smtClean="0">
                <a:latin typeface="Arial" charset="0"/>
                <a:ea typeface="宋体" pitchFamily="2" charset="-122"/>
              </a:rPr>
              <a:t>, service offered by a business</a:t>
            </a:r>
          </a:p>
          <a:p>
            <a:pPr lvl="1"/>
            <a:r>
              <a:rPr lang="en-US" altLang="zh-CN" sz="2400" i="1" dirty="0" err="1" smtClean="0">
                <a:latin typeface="Arial" charset="0"/>
                <a:ea typeface="宋体" pitchFamily="2" charset="-122"/>
              </a:rPr>
              <a:t>bindingTemplate</a:t>
            </a:r>
            <a:r>
              <a:rPr lang="en-US" altLang="zh-CN" sz="2400" dirty="0" smtClean="0">
                <a:latin typeface="Arial" charset="0"/>
                <a:ea typeface="宋体" pitchFamily="2" charset="-122"/>
              </a:rPr>
              <a:t>, how to invoke a service</a:t>
            </a:r>
          </a:p>
          <a:p>
            <a:pPr lvl="1"/>
            <a:r>
              <a:rPr lang="en-US" altLang="zh-CN" sz="2400" i="1" dirty="0" smtClean="0">
                <a:latin typeface="Arial" charset="0"/>
                <a:ea typeface="宋体" pitchFamily="2" charset="-122"/>
              </a:rPr>
              <a:t>Technical Models (</a:t>
            </a:r>
            <a:r>
              <a:rPr lang="en-US" altLang="zh-CN" sz="2400" i="1" dirty="0" err="1" smtClean="0">
                <a:latin typeface="Arial" charset="0"/>
                <a:ea typeface="宋体" pitchFamily="2" charset="-122"/>
              </a:rPr>
              <a:t>tModel</a:t>
            </a:r>
            <a:r>
              <a:rPr lang="en-US" altLang="zh-CN" sz="2400" i="1" dirty="0" smtClean="0">
                <a:latin typeface="Arial" charset="0"/>
                <a:ea typeface="宋体" pitchFamily="2" charset="-122"/>
              </a:rPr>
              <a:t>)</a:t>
            </a:r>
            <a:r>
              <a:rPr lang="en-US" altLang="zh-CN" sz="2400" dirty="0" smtClean="0">
                <a:latin typeface="Arial" charset="0"/>
                <a:ea typeface="宋体" pitchFamily="2" charset="-122"/>
              </a:rPr>
              <a:t>, unique concepts or structures</a:t>
            </a:r>
          </a:p>
          <a:p>
            <a:pPr lvl="1"/>
            <a:r>
              <a:rPr lang="en-US" altLang="zh-CN" sz="2400" i="1" dirty="0" err="1" smtClean="0">
                <a:latin typeface="Arial" charset="0"/>
                <a:ea typeface="宋体" pitchFamily="2" charset="-122"/>
              </a:rPr>
              <a:t>publisherAssertion</a:t>
            </a:r>
            <a:r>
              <a:rPr lang="en-US" altLang="zh-CN" sz="2400" dirty="0" smtClean="0">
                <a:latin typeface="Arial" charset="0"/>
                <a:ea typeface="宋体" pitchFamily="2" charset="-122"/>
              </a:rPr>
              <a:t>, 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indicate business relationship</a:t>
            </a:r>
            <a:endParaRPr lang="en-US" altLang="zh-CN" sz="2400" i="1" dirty="0" smtClean="0">
              <a:latin typeface="Arial" charset="0"/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Use XML schema to formally describe its data structure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502FDE1-D02A-43CA-8C9F-2BC753DCC137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Protocol stack of UDDI</a:t>
            </a:r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5335F2E-96C6-472C-9624-CDE7E7365529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pic>
        <p:nvPicPr>
          <p:cNvPr id="9220" name="Picture 3" descr="UDDI 的分层 Web 服务协议栈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844824"/>
            <a:ext cx="5041900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Line 11"/>
          <p:cNvSpPr>
            <a:spLocks noChangeShapeType="1"/>
          </p:cNvSpPr>
          <p:nvPr/>
        </p:nvSpPr>
        <p:spPr bwMode="auto">
          <a:xfrm flipV="1">
            <a:off x="2483917" y="2206327"/>
            <a:ext cx="647700" cy="1428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Text Box 12"/>
          <p:cNvSpPr txBox="1">
            <a:spLocks noChangeArrowheads="1"/>
          </p:cNvSpPr>
          <p:nvPr/>
        </p:nvSpPr>
        <p:spPr bwMode="auto">
          <a:xfrm>
            <a:off x="899592" y="1988840"/>
            <a:ext cx="19431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Web Services Flow Language, one of the origins of BPEL</a:t>
            </a:r>
          </a:p>
          <a:p>
            <a:pPr eaLnBrk="1" hangingPunct="1">
              <a:spcBef>
                <a:spcPct val="50000"/>
              </a:spcBef>
            </a:pP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The workflow of UDDI</a:t>
            </a:r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A3FC54D-9932-4AAB-92DB-2D1C0BAD0883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pic>
        <p:nvPicPr>
          <p:cNvPr id="10244" name="Picture 5" descr="UDDI UDDI 工作原理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700213"/>
            <a:ext cx="6408737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Public/private UDDI publishing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>
                <a:ea typeface="宋体" pitchFamily="2" charset="-122"/>
              </a:rPr>
              <a:t>A UDDI is a centralized repository that maintains a set of links of published Web services</a:t>
            </a:r>
          </a:p>
          <a:p>
            <a:r>
              <a:rPr lang="en-US" altLang="zh-CN" sz="2800" dirty="0" smtClean="0">
                <a:ea typeface="宋体" pitchFamily="2" charset="-122"/>
              </a:rPr>
              <a:t>UDDI also provides information about corresponding services providers</a:t>
            </a:r>
          </a:p>
          <a:p>
            <a:r>
              <a:rPr lang="en-US" altLang="zh-CN" sz="2800" dirty="0" smtClean="0">
                <a:ea typeface="宋体" pitchFamily="2" charset="-122"/>
              </a:rPr>
              <a:t>A UDDI registry provides a SOAP interface to enable SOAP message-based service publishing</a:t>
            </a:r>
          </a:p>
          <a:p>
            <a:r>
              <a:rPr lang="en-US" altLang="zh-CN" sz="2800" dirty="0" smtClean="0">
                <a:ea typeface="宋体" pitchFamily="2" charset="-122"/>
              </a:rPr>
              <a:t>Can be divided into public/private UDDI with the access control policies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9DA4036-7C64-4A1A-AF6D-7A87DFA73F34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UDDI Information Model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8386F84-5422-4BBA-BBDB-B8FFD0D65FC9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pic>
        <p:nvPicPr>
          <p:cNvPr id="12292" name="Picture 4" descr="UDDI information mod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73238"/>
            <a:ext cx="7237412" cy="424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 smtClean="0">
                <a:ea typeface="宋体" pitchFamily="2" charset="-122"/>
              </a:rPr>
              <a:t>businessEntitiy</a:t>
            </a:r>
            <a:r>
              <a:rPr lang="en-US" altLang="zh-CN" sz="3600" dirty="0" smtClean="0">
                <a:ea typeface="宋体" pitchFamily="2" charset="-122"/>
              </a:rPr>
              <a:t> (1</a:t>
            </a:r>
            <a:r>
              <a:rPr lang="en-US" altLang="zh-CN" sz="3600" dirty="0">
                <a:ea typeface="宋体" pitchFamily="2" charset="-122"/>
              </a:rPr>
              <a:t>/</a:t>
            </a:r>
            <a:r>
              <a:rPr lang="en-US" altLang="zh-CN" sz="3600" dirty="0" smtClean="0">
                <a:ea typeface="宋体" pitchFamily="2" charset="-122"/>
              </a:rPr>
              <a:t>2)</a:t>
            </a:r>
            <a:endParaRPr lang="zh-CN" altLang="en-US" dirty="0" smtClean="0">
              <a:ea typeface="宋体" pitchFamily="2" charset="-122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7910BAF-CEFE-4F28-9450-3A50A7C8B837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7950" y="2060848"/>
            <a:ext cx="8928100" cy="329320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businessEntity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0ADACD80-2913-11DA-B2FE-000629DC0A53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operator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www.ibm.com/services/uddi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authorizedName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06000F049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discoveryURLs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discoveryURL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useType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businessEntity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http://uddi.ibm.com/testregistry/uddiget?businessKey=0ADACD80-2913-11DA-B2FE-000629DC0A53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discoveryURLs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nl-NL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nl-NL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nl-NL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nl-NL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xml:lang</a:t>
            </a:r>
            <a:r>
              <a:rPr lang="nl-NL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nl-NL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en</a:t>
            </a:r>
            <a:r>
              <a:rPr lang="nl-NL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r>
              <a:rPr lang="nl-NL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AdvantWise Systems</a:t>
            </a:r>
            <a:r>
              <a:rPr lang="nl-NL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nl-NL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nl-NL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nl-NL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xml:lang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zh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AdvantWise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系统公司提供计算机硬件设备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自定义的中国企业工商注册号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identifierBag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UUID:28882A90-2917-11DA-B2FE-000629DC0A53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AdvantWise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Systems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9903005218088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identifierBag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 smtClean="0">
                <a:ea typeface="宋体" pitchFamily="2" charset="-122"/>
              </a:rPr>
              <a:t>businessEntitiy</a:t>
            </a:r>
            <a:r>
              <a:rPr lang="en-US" altLang="zh-CN" sz="3600" dirty="0" smtClean="0">
                <a:ea typeface="宋体" pitchFamily="2" charset="-122"/>
              </a:rPr>
              <a:t> (2</a:t>
            </a:r>
            <a:r>
              <a:rPr lang="en-US" altLang="zh-CN" sz="3600" dirty="0">
                <a:ea typeface="宋体" pitchFamily="2" charset="-122"/>
              </a:rPr>
              <a:t>/</a:t>
            </a:r>
            <a:r>
              <a:rPr lang="en-US" altLang="zh-CN" sz="3600" dirty="0" smtClean="0">
                <a:ea typeface="宋体" pitchFamily="2" charset="-122"/>
              </a:rPr>
              <a:t>2)</a:t>
            </a:r>
            <a:endParaRPr lang="zh-CN" altLang="en-US" dirty="0" smtClean="0">
              <a:ea typeface="宋体" pitchFamily="2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D50DFEC-E162-4CFC-89E1-9131942B74AD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0771" y="1916832"/>
            <a:ext cx="8928100" cy="307776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UNSPSC category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UUID:DB77450D-9FA8-45D4-A7BC-04411D14E384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Equipment and Accessories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43210000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NAICS category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UUID:C0B9FE13-179F-413D-8A5B-5004DB8E5BB2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and Electronic Product Manufacturing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334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ISO Geography category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UUID:4E49A8D6-D5A2-4FC2-93A0-0411D8D19E88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China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businessEntity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宋体" pitchFamily="2" charset="-122"/>
              </a:rPr>
              <a:t>businessService 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058EEB2-AE31-4407-80B0-6FCE748B39DA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7950" y="1700808"/>
            <a:ext cx="8928100" cy="37856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businessService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0ADACD80-2913-11DA-B2Fe-000629DC0A53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serviceKey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E3DFE280-291A-11DA-B2Fe-000629DC0A53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Purchase Computer Service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xml:lang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en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Purchase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Service</a:t>
            </a: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Omitted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UNSPSC category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UUID:DB77450D-9FA8-45D4-A7BC-04411D14E384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   	</a:t>
            </a:r>
            <a:r>
              <a:rPr lang="en-US" altLang="zh-CN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Equipment and Accessories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43210000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businessService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bindingTemplate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41BA963-06D8-413E-8370-A7E469CDB50C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8396" y="2060848"/>
            <a:ext cx="8928100" cy="329320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57C8EA90-2952-11DA-B2FE-000629DC0A53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serviceKey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E3DFE280-291A-11DA-B2FE-000629DC0A53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Purchase Computer Service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fr-FR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fr-FR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fr-FR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accesssPoint</a:t>
            </a:r>
            <a:r>
              <a:rPr lang="fr-FR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URLType</a:t>
            </a:r>
            <a:r>
              <a:rPr lang="fr-F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fr-F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</a:t>
            </a:r>
            <a:r>
              <a:rPr lang="fr-FR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</a:p>
          <a:p>
            <a:pPr>
              <a:defRPr/>
            </a:pPr>
            <a:r>
              <a:rPr lang="fr-FR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	</a:t>
            </a:r>
            <a:r>
              <a:rPr lang="fr-FR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</a:t>
            </a:r>
            <a:r>
              <a:rPr lang="fr-FR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://www.AdvantWise.com/purchasegoods</a:t>
            </a: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accesssPoint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指向技术模型实例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tModelInstanceDetails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tModelInstanceInfo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=“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UUID: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38B8FBC0-2984-11DA-B2FE-000629DC0A53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tModelInstanceDetails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bindingTemplates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tModel (wsdl)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F43644E-6EF3-4925-A533-03361205AAE5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7504" y="1268760"/>
            <a:ext cx="8928100" cy="5509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=“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UUID: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38B8FBC0-2984-11DA-B2FE-000629DC0A53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http://www.AdvantWise.com/PurchaseGoods-interface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xml:lang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en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Purchase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Interface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综述文档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xml:lang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WSDL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Service Interface Document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://</a:t>
            </a: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www.AdvantWise.com/PurchaseGoods-interface.wsdl#purchaseBinding</a:t>
            </a: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sz="1600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分类信息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UUID:C1ACF26D-9672-4404-9D70-39B756E62AB4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	</a:t>
            </a:r>
            <a:r>
              <a:rPr lang="en-US" altLang="zh-CN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uddi-org:types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wsdlSpec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UUID:DB77450D-9FA8-45D4-A7BC-04411D14E384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	</a:t>
            </a:r>
            <a:r>
              <a:rPr lang="en-US" altLang="zh-CN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Computer Equipment and Accessories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43210000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sz="1600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tModel (</a:t>
            </a:r>
            <a:r>
              <a:rPr lang="zh-CN" altLang="en-US" smtClean="0">
                <a:ea typeface="宋体" pitchFamily="2" charset="-122"/>
              </a:rPr>
              <a:t>中国企业工商注册号</a:t>
            </a:r>
            <a:r>
              <a:rPr lang="en-US" altLang="zh-CN" smtClean="0">
                <a:ea typeface="宋体" pitchFamily="2" charset="-122"/>
              </a:rPr>
              <a:t>)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5E1D305-3726-413B-B318-9B236F1C9AFA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7504" y="1556792"/>
            <a:ext cx="8928100" cy="480131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UUID:28882A90-2917-11DA-B2FE-000629DC0A53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China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Enterpise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Industry and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Commerical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Register Number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xml:lang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zh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</a:t>
            </a:r>
            <a:r>
              <a:rPr lang="zh-CN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中国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工商注册</a:t>
            </a:r>
            <a:r>
              <a:rPr lang="zh-CN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号</a:t>
            </a:r>
            <a:endParaRPr lang="en-US" altLang="zh-CN" dirty="0" smtClean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综述文档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://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www.china-industry.com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分类信息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UUID:C1ACF26D-9672-4404-9D70-39B756E62AB4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Unique Identifier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identifier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publisherAssertion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86E8FF8-B58F-4DC3-8EB3-E8435351A275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7504" y="1844824"/>
            <a:ext cx="8928100" cy="25853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publisherAssertion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fromKey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</a:p>
          <a:p>
            <a:pPr>
              <a:defRPr/>
            </a:pP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0ADACD80-2913-11DA-B2FE-000629DC0A53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fromKey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toKey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A547F090-2987-11DA-B2FE-000629DC0A53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toKey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UUID:807A2C6A-EE22-470D-ABC7-E0424A337C03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parent-child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parent-child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publisherAssertion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UDDI Basic Type System</a:t>
            </a:r>
            <a:endParaRPr lang="zh-CN" altLang="en-US" smtClean="0">
              <a:ea typeface="宋体" pitchFamily="2" charset="-122"/>
            </a:endParaRPr>
          </a:p>
        </p:txBody>
      </p:sp>
      <p:graphicFrame>
        <p:nvGraphicFramePr>
          <p:cNvPr id="20483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1133475" y="1804988"/>
          <a:ext cx="6875463" cy="384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Visio" r:id="rId4" imgW="6874775" imgH="3843939" progId="Visio.Drawing.11">
                  <p:embed/>
                </p:oleObj>
              </mc:Choice>
              <mc:Fallback>
                <p:oleObj name="Visio" r:id="rId4" imgW="6874775" imgH="3843939" progId="Visio.Drawing.11">
                  <p:embed/>
                  <p:pic>
                    <p:nvPicPr>
                      <p:cNvPr id="0" name="内容占位符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1804988"/>
                        <a:ext cx="6875463" cy="384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4E75FC7-730D-4ACC-9112-59746A9FD981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Mapping from WSDL to UDDI</a:t>
            </a:r>
            <a:endParaRPr lang="zh-CN" altLang="en-US" smtClean="0">
              <a:ea typeface="宋体" pitchFamily="2" charset="-122"/>
            </a:endParaRPr>
          </a:p>
        </p:txBody>
      </p:sp>
      <p:pic>
        <p:nvPicPr>
          <p:cNvPr id="21507" name="内容占位符 4" descr="untitled.bmp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3608" y="1595388"/>
            <a:ext cx="7454351" cy="4437112"/>
          </a:xfrm>
        </p:spPr>
      </p:pic>
      <p:sp>
        <p:nvSpPr>
          <p:cNvPr id="2150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CFAB434-97DB-4DA5-B419-EE2EF247A5A2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Binding WSDL to tModel 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DEBB7A3-D804-4775-9E14-7F19519E1737}" type="slidenum">
              <a:rPr lang="en-US" altLang="zh-CN"/>
              <a:pPr eaLnBrk="1" hangingPunct="1"/>
              <a:t>20</a:t>
            </a:fld>
            <a:endParaRPr lang="en-US" altLang="zh-CN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07504" y="1844824"/>
            <a:ext cx="8928100" cy="36933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uuid:49662926-f4a5-4ba5-b8d0-32ab388dadda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err="1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StockQuoteSoapBinding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location/sample.wsdl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overviewURL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overviewDoc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keyedReference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tModelKey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uuid:c1acf26d-9672-4404-9d70-39b756e62ab4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keyName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uddi-org:types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keyValue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wsdlSpec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&lt;!--</a:t>
            </a:r>
            <a:r>
              <a:rPr lang="zh-CN" altLang="en-US" dirty="0">
                <a:solidFill>
                  <a:srgbClr val="808080"/>
                </a:solidFill>
                <a:highlight>
                  <a:srgbClr val="FFFFFF"/>
                </a:highlight>
                <a:latin typeface="+mn-lt"/>
                <a:ea typeface="宋体"/>
              </a:rPr>
              <a:t>可以包含其他分类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--&gt;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categoryBag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tModel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History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2800" dirty="0" smtClean="0"/>
              <a:t>UDDI V1.0 (2000): Create foundation for registry of Internet-based business services</a:t>
            </a:r>
          </a:p>
          <a:p>
            <a:pPr>
              <a:defRPr/>
            </a:pPr>
            <a:r>
              <a:rPr lang="en-US" altLang="zh-CN" sz="2800" dirty="0" smtClean="0"/>
              <a:t>UDDI V2.0 (2003): Align specification with emerging Web services standards and provide support for flexible, external taxonomies</a:t>
            </a:r>
          </a:p>
          <a:p>
            <a:pPr>
              <a:defRPr/>
            </a:pPr>
            <a:r>
              <a:rPr lang="en-US" altLang="zh-CN" sz="2800" dirty="0" smtClean="0"/>
              <a:t>UDDI V3.0 (Feb 2005): Support secure interaction of private and public implementations as key element of service-oriented infrastructure</a:t>
            </a:r>
          </a:p>
          <a:p>
            <a:pPr lvl="1">
              <a:defRPr/>
            </a:pPr>
            <a:r>
              <a:rPr lang="en-US" altLang="zh-CN" sz="2000" dirty="0" smtClean="0"/>
              <a:t>This specification reflects the understanding of the need of supporting mostly business internal Web services infrastructure rather than highly distributed ones</a:t>
            </a:r>
          </a:p>
          <a:p>
            <a:pPr lvl="1">
              <a:defRPr/>
            </a:pPr>
            <a:r>
              <a:rPr lang="en-US" altLang="zh-CN" sz="2000" dirty="0" smtClean="0"/>
              <a:t>Current implementation recognizes the need for federated control in real-world environments and further integrates the standard with other elements of service oriented infrastructure</a:t>
            </a:r>
            <a:endParaRPr lang="it-IT" altLang="zh-CN" sz="2000" dirty="0" smtClean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505200" y="6461125"/>
            <a:ext cx="2133600" cy="320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DEBB7A3-D804-4775-9E14-7F19519E1737}" type="slidenum">
              <a:rPr lang="en-US" altLang="zh-CN"/>
              <a:pPr eaLnBrk="1" hangingPunct="1"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478529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The Evolvement of Core data Structure</a:t>
            </a:r>
            <a:endParaRPr lang="zh-CN" altLang="en-US" dirty="0"/>
          </a:p>
        </p:txBody>
      </p:sp>
      <p:pic>
        <p:nvPicPr>
          <p:cNvPr id="55300" name="Picture 13" descr="information model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0575" y="1759744"/>
            <a:ext cx="7562850" cy="3933825"/>
          </a:xfrm>
        </p:spPr>
      </p:pic>
      <p:sp>
        <p:nvSpPr>
          <p:cNvPr id="5529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6932A6B7-43E6-4827-BCA5-9A33EB69A04B}" type="slidenum">
              <a:rPr lang="en-US" altLang="zh-CN" sz="1200" smtClean="0"/>
              <a:pPr/>
              <a:t>22</a:t>
            </a:fld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296479182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UDDI v3 new features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/>
              <a:t>Support for registry affiliation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Publisher assigned keys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Human-friendly, URI-based keys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Subscription API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Support for digital signatures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Information Model Improvements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 smtClean="0"/>
              <a:t>categoryBags</a:t>
            </a:r>
            <a:r>
              <a:rPr lang="en-US" altLang="zh-CN" dirty="0" smtClean="0"/>
              <a:t> on </a:t>
            </a:r>
            <a:r>
              <a:rPr lang="en-US" altLang="zh-CN" dirty="0" err="1" smtClean="0"/>
              <a:t>bindingTemplates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Operational information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Support for Complex Categorization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Extended Discovery Features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Support for previous multi-step queries into single-step complex queries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Extended Wildcard support</a:t>
            </a:r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Management of large results sets</a:t>
            </a:r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E825B95D-BC1A-4791-8366-3B3842E2AB83}" type="slidenum">
              <a:rPr lang="en-US" altLang="zh-CN" sz="1200" smtClean="0"/>
              <a:pPr/>
              <a:t>23</a:t>
            </a:fld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227348279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UDDI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对于分类、编目和管理</a:t>
            </a:r>
            <a:r>
              <a:rPr lang="en-US" altLang="zh-CN" dirty="0"/>
              <a:t>Web</a:t>
            </a:r>
            <a:r>
              <a:rPr lang="zh-CN" altLang="en-US" dirty="0"/>
              <a:t>服务，</a:t>
            </a:r>
            <a:r>
              <a:rPr lang="en-US" altLang="zh-CN" dirty="0"/>
              <a:t>UDDI</a:t>
            </a:r>
            <a:r>
              <a:rPr lang="zh-CN" altLang="en-US" dirty="0"/>
              <a:t>注册库提供了一个</a:t>
            </a:r>
            <a:r>
              <a:rPr lang="zh-CN" altLang="en-US" dirty="0" smtClean="0"/>
              <a:t>标准方式</a:t>
            </a:r>
            <a:r>
              <a:rPr lang="zh-CN" altLang="en-US" dirty="0"/>
              <a:t>，以便于能够发现和使用这些</a:t>
            </a:r>
            <a:r>
              <a:rPr lang="en-US" altLang="zh-CN" dirty="0"/>
              <a:t>Web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业务</a:t>
            </a:r>
            <a:r>
              <a:rPr lang="zh-CN" altLang="en-US" dirty="0"/>
              <a:t>和提供者可以按</a:t>
            </a:r>
            <a:r>
              <a:rPr lang="zh-CN" altLang="en-US" dirty="0" smtClean="0"/>
              <a:t>标准方式</a:t>
            </a:r>
            <a:r>
              <a:rPr lang="zh-CN" altLang="en-US" dirty="0"/>
              <a:t>使用</a:t>
            </a:r>
            <a:r>
              <a:rPr lang="en-US" altLang="zh-CN" dirty="0"/>
              <a:t>UDDI</a:t>
            </a:r>
            <a:r>
              <a:rPr lang="zh-CN" altLang="en-US" dirty="0"/>
              <a:t>来表示</a:t>
            </a:r>
            <a:r>
              <a:rPr lang="en-US" altLang="zh-CN" dirty="0"/>
              <a:t>Web</a:t>
            </a:r>
            <a:r>
              <a:rPr lang="zh-CN" altLang="en-US" dirty="0"/>
              <a:t>服务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UDDI</a:t>
            </a:r>
            <a:r>
              <a:rPr lang="zh-CN" altLang="en-US" dirty="0"/>
              <a:t>使用</a:t>
            </a:r>
            <a:r>
              <a:rPr lang="en-US" altLang="zh-CN" dirty="0"/>
              <a:t>SOAP</a:t>
            </a:r>
            <a:r>
              <a:rPr lang="zh-CN" altLang="en-US" dirty="0"/>
              <a:t>作为</a:t>
            </a:r>
            <a:r>
              <a:rPr lang="zh-CN" altLang="en-US" dirty="0" smtClean="0"/>
              <a:t>它的传输</a:t>
            </a:r>
            <a:r>
              <a:rPr lang="zh-CN" altLang="en-US" dirty="0"/>
              <a:t>层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UDDI </a:t>
            </a:r>
            <a:r>
              <a:rPr lang="en-US" altLang="zh-CN" dirty="0"/>
              <a:t>API</a:t>
            </a:r>
            <a:r>
              <a:rPr lang="zh-CN" altLang="en-US" dirty="0"/>
              <a:t>是一个接口，可以接受封装在</a:t>
            </a:r>
            <a:r>
              <a:rPr lang="en-US" altLang="zh-CN" dirty="0"/>
              <a:t>SOAP</a:t>
            </a:r>
            <a:r>
              <a:rPr lang="zh-CN" altLang="en-US" dirty="0"/>
              <a:t>信封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XML</a:t>
            </a:r>
            <a:r>
              <a:rPr lang="zh-CN" altLang="en-US" dirty="0"/>
              <a:t>消息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所有的</a:t>
            </a:r>
            <a:r>
              <a:rPr lang="en-US" altLang="zh-CN" dirty="0" smtClean="0"/>
              <a:t>UDDI</a:t>
            </a:r>
            <a:r>
              <a:rPr lang="zh-CN" altLang="en-US" dirty="0"/>
              <a:t>交互都使用请求</a:t>
            </a:r>
            <a:r>
              <a:rPr lang="en-US" altLang="zh-CN" dirty="0"/>
              <a:t>/</a:t>
            </a:r>
            <a:r>
              <a:rPr lang="zh-CN" altLang="en-US" dirty="0"/>
              <a:t>响应模式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可以</a:t>
            </a:r>
            <a:r>
              <a:rPr lang="zh-CN" altLang="en-US" dirty="0"/>
              <a:t>使用出查询</a:t>
            </a:r>
            <a:r>
              <a:rPr lang="en-US" altLang="zh-CN" dirty="0"/>
              <a:t>API</a:t>
            </a:r>
            <a:r>
              <a:rPr lang="zh-CN" altLang="en-US" dirty="0"/>
              <a:t>来搜索和读取</a:t>
            </a:r>
            <a:r>
              <a:rPr lang="en-US" altLang="zh-CN" dirty="0"/>
              <a:t>UDDI</a:t>
            </a:r>
            <a:r>
              <a:rPr lang="zh-CN" altLang="en-US" dirty="0"/>
              <a:t>注册库</a:t>
            </a:r>
            <a:r>
              <a:rPr lang="zh-CN" altLang="en-US" dirty="0" smtClean="0"/>
              <a:t>中的数据</a:t>
            </a:r>
            <a:r>
              <a:rPr lang="zh-CN" altLang="en-US" dirty="0"/>
              <a:t>，并可使用发布</a:t>
            </a:r>
            <a:r>
              <a:rPr lang="en-US" altLang="zh-CN" dirty="0"/>
              <a:t>API</a:t>
            </a:r>
            <a:r>
              <a:rPr lang="zh-CN" altLang="en-US" dirty="0"/>
              <a:t>来添加、更新和删除</a:t>
            </a:r>
            <a:r>
              <a:rPr lang="en-US" altLang="zh-CN" dirty="0"/>
              <a:t>UDDI</a:t>
            </a:r>
            <a:r>
              <a:rPr lang="zh-CN" altLang="en-US" dirty="0"/>
              <a:t>注册库</a:t>
            </a:r>
            <a:r>
              <a:rPr lang="zh-CN" altLang="en-US" dirty="0" smtClean="0"/>
              <a:t>中的数据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71593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UDDI </a:t>
            </a:r>
            <a:r>
              <a:rPr lang="zh-CN" altLang="en-US" dirty="0" smtClean="0"/>
              <a:t>发布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通过发布接口，企业可以存储和更新包含在</a:t>
            </a:r>
            <a:r>
              <a:rPr lang="en-US" altLang="zh-CN" dirty="0"/>
              <a:t>UDDI</a:t>
            </a:r>
            <a:r>
              <a:rPr lang="zh-CN" altLang="en-US" dirty="0"/>
              <a:t>注册库</a:t>
            </a:r>
            <a:r>
              <a:rPr lang="zh-CN" altLang="en-US" dirty="0" smtClean="0"/>
              <a:t>中的信息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发布</a:t>
            </a:r>
            <a:r>
              <a:rPr lang="en-US" altLang="zh-CN" dirty="0"/>
              <a:t>API</a:t>
            </a:r>
            <a:r>
              <a:rPr lang="zh-CN" altLang="en-US" dirty="0"/>
              <a:t>支持</a:t>
            </a:r>
            <a:r>
              <a:rPr lang="en-US" altLang="zh-CN" dirty="0"/>
              <a:t>4</a:t>
            </a:r>
            <a:r>
              <a:rPr lang="zh-CN" altLang="en-US" dirty="0"/>
              <a:t>类操作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授权</a:t>
            </a:r>
            <a:r>
              <a:rPr lang="zh-CN" altLang="en-US" dirty="0"/>
              <a:t>：客户端可以获得</a:t>
            </a:r>
            <a:r>
              <a:rPr lang="zh-CN" altLang="en-US" dirty="0" smtClean="0"/>
              <a:t>相应的访问</a:t>
            </a:r>
            <a:r>
              <a:rPr lang="zh-CN" altLang="en-US" dirty="0"/>
              <a:t>权限、获取授权令牌、终止会话和授权</a:t>
            </a:r>
            <a:r>
              <a:rPr lang="zh-CN" altLang="en-US" dirty="0" smtClean="0"/>
              <a:t>令牌</a:t>
            </a:r>
            <a:endParaRPr lang="en-US" altLang="zh-CN" dirty="0" smtClean="0"/>
          </a:p>
          <a:p>
            <a:pPr lvl="2">
              <a:lnSpc>
                <a:spcPct val="120000"/>
              </a:lnSpc>
            </a:pPr>
            <a:r>
              <a:rPr lang="en-US" altLang="zh-CN" dirty="0" err="1" smtClean="0"/>
              <a:t>get_authtoken</a:t>
            </a:r>
            <a:r>
              <a:rPr lang="zh-CN" altLang="en-US" dirty="0"/>
              <a:t>：将客户端记录到</a:t>
            </a:r>
            <a:r>
              <a:rPr lang="zh-CN" altLang="en-US" dirty="0" smtClean="0"/>
              <a:t>注册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 err="1" smtClean="0"/>
              <a:t>discard_authtoken</a:t>
            </a:r>
            <a:r>
              <a:rPr lang="zh-CN" altLang="en-US" dirty="0"/>
              <a:t>：终止会话，并从注册库中删除客户端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保存</a:t>
            </a:r>
            <a:r>
              <a:rPr lang="zh-CN" altLang="en-US" dirty="0"/>
              <a:t>：客户端可以在</a:t>
            </a:r>
            <a:r>
              <a:rPr lang="en-US" altLang="zh-CN" dirty="0"/>
              <a:t>UDDI</a:t>
            </a:r>
            <a:r>
              <a:rPr lang="zh-CN" altLang="en-US" dirty="0" smtClean="0"/>
              <a:t>中添加或更新信息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获取</a:t>
            </a:r>
            <a:r>
              <a:rPr lang="zh-CN" altLang="en-US" dirty="0"/>
              <a:t>：可以获取客户端所</a:t>
            </a:r>
            <a:r>
              <a:rPr lang="zh-CN" altLang="en-US" dirty="0" smtClean="0"/>
              <a:t>发布的数据结构的概要</a:t>
            </a:r>
            <a:r>
              <a:rPr lang="zh-CN" altLang="en-US" dirty="0"/>
              <a:t>数据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删除</a:t>
            </a:r>
            <a:r>
              <a:rPr lang="zh-CN" altLang="en-US" dirty="0"/>
              <a:t>：客户端可以在</a:t>
            </a:r>
            <a:r>
              <a:rPr lang="en-US" altLang="zh-CN" dirty="0"/>
              <a:t>UDDI</a:t>
            </a:r>
            <a:r>
              <a:rPr lang="zh-CN" altLang="en-US" dirty="0"/>
              <a:t>中删除</a:t>
            </a:r>
            <a:r>
              <a:rPr lang="zh-CN" altLang="en-US" dirty="0" smtClean="0"/>
              <a:t>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98106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WSIL Publishing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>
                <a:ea typeface="宋体" pitchFamily="2" charset="-122"/>
              </a:rPr>
              <a:t>Web services is published to a regular Web server as a plain XML document</a:t>
            </a:r>
          </a:p>
          <a:p>
            <a:r>
              <a:rPr lang="en-US" altLang="zh-CN" sz="2800" dirty="0" smtClean="0">
                <a:ea typeface="宋体" pitchFamily="2" charset="-122"/>
              </a:rPr>
              <a:t>Web Services Inspection language (WSIL) are used to aggregate references from existing service description documents</a:t>
            </a:r>
          </a:p>
          <a:p>
            <a:r>
              <a:rPr lang="en-US" altLang="zh-CN" sz="2800" dirty="0" smtClean="0">
                <a:ea typeface="宋体" pitchFamily="2" charset="-122"/>
              </a:rPr>
              <a:t>A reference pointer can be used to connect to a service published in a UDDI registry or connect to another WSIL document</a:t>
            </a:r>
          </a:p>
          <a:p>
            <a:r>
              <a:rPr lang="en-US" altLang="zh-CN" sz="2800" dirty="0" smtClean="0">
                <a:ea typeface="宋体" pitchFamily="2" charset="-122"/>
              </a:rPr>
              <a:t>So the WSIL chains are formed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9BF22F3-3A49-43DC-A485-80D4B18A6780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 example of WSIL chain</a:t>
            </a:r>
          </a:p>
        </p:txBody>
      </p:sp>
      <p:graphicFrame>
        <p:nvGraphicFramePr>
          <p:cNvPr id="2457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057275" y="2420938"/>
          <a:ext cx="7250113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Visio" r:id="rId4" imgW="5626761" imgH="1666889" progId="Visio.Drawing.11">
                  <p:embed/>
                </p:oleObj>
              </mc:Choice>
              <mc:Fallback>
                <p:oleObj name="Visio" r:id="rId4" imgW="5626761" imgH="1666889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2420938"/>
                        <a:ext cx="7250113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B37636A-57DC-48C3-8417-6BF3B769A336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 err="1" smtClean="0">
                <a:ea typeface="宋体" pitchFamily="2" charset="-122"/>
              </a:rPr>
              <a:t>StockQuote.wsil</a:t>
            </a:r>
            <a:r>
              <a:rPr lang="en-US" altLang="zh-CN" i="1" dirty="0" smtClean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(1/2)</a:t>
            </a: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330A7AA-4A4B-4137-BC6C-CDB592452064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07950" y="1484313"/>
            <a:ext cx="8928100" cy="452431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+mn-lt"/>
                <a:ea typeface="宋体"/>
              </a:rPr>
              <a:t>&lt;?xml version="1.0" encoding="UTF-8"?&gt;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inspection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xmlns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http://schemas.xmlsoap.org/ws/2001/10/inspection/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xmlns:wsiluddi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http://schemas.xmlsoap.org/ws/2001/10/inspection/uddi/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 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A stock quote service with two descriptions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fr-FR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fr-FR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referencedNamespace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http://schemas.xmlsoap.org/wsdl/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</a:t>
            </a:r>
            <a:r>
              <a:rPr lang="fr-FR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fr-FR" altLang="zh-CN" dirty="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	location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fr-FR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http://example.com/stockquote.wsdl</a:t>
            </a:r>
            <a:r>
              <a:rPr lang="fr-FR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"/&gt;</a:t>
            </a:r>
            <a:endParaRPr lang="fr-FR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urn:uddi-org:api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wsiluddi:serviceDescription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                 	  		location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http://www.example.com/uddi/inquiryapi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"&gt;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wsiluddi:serviceKey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</a:p>
          <a:p>
            <a:pPr>
              <a:defRPr/>
            </a:pP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        	        </a:t>
            </a: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4FA28580-5C39-11D5-9FCF-BB3200333F79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wsiluddi:serviceKey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    </a:t>
            </a:r>
            <a:r>
              <a:rPr lang="en-US" altLang="zh-CN" dirty="0" smtClean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wsiluddi:serviceDescription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description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+mn-lt"/>
                <a:ea typeface="宋体"/>
              </a:rPr>
              <a:t>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latin typeface="+mn-lt"/>
                <a:ea typeface="宋体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+mn-lt"/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+mn-lt"/>
              <a:ea typeface="宋体"/>
            </a:endParaRPr>
          </a:p>
        </p:txBody>
      </p:sp>
      <p:sp>
        <p:nvSpPr>
          <p:cNvPr id="286724" name="Line 4"/>
          <p:cNvSpPr>
            <a:spLocks noChangeShapeType="1"/>
          </p:cNvSpPr>
          <p:nvPr/>
        </p:nvSpPr>
        <p:spPr bwMode="auto">
          <a:xfrm flipH="1">
            <a:off x="7019925" y="3284538"/>
            <a:ext cx="5032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7489825" y="3068638"/>
            <a:ext cx="1403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Direct link</a:t>
            </a:r>
          </a:p>
        </p:txBody>
      </p:sp>
      <p:sp>
        <p:nvSpPr>
          <p:cNvPr id="286726" name="Line 6"/>
          <p:cNvSpPr>
            <a:spLocks noChangeShapeType="1"/>
          </p:cNvSpPr>
          <p:nvPr/>
        </p:nvSpPr>
        <p:spPr bwMode="auto">
          <a:xfrm flipH="1" flipV="1">
            <a:off x="6804025" y="4724400"/>
            <a:ext cx="7207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7524750" y="450850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uuid</a:t>
            </a: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7524750" y="3429000"/>
            <a:ext cx="0" cy="11525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667625" y="3644900"/>
            <a:ext cx="1476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Web Service with 2 description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 animBg="1"/>
      <p:bldP spid="286725" grpId="0"/>
      <p:bldP spid="286726" grpId="0" animBg="1"/>
      <p:bldP spid="286727" grpId="0"/>
      <p:bldP spid="9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 err="1" smtClean="0">
                <a:ea typeface="宋体" pitchFamily="2" charset="-122"/>
              </a:rPr>
              <a:t>StockQuote.wsil</a:t>
            </a:r>
            <a:r>
              <a:rPr lang="en-US" altLang="zh-CN" dirty="0" smtClean="0">
                <a:ea typeface="宋体" pitchFamily="2" charset="-122"/>
              </a:rPr>
              <a:t> (2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en-US" altLang="zh-CN" dirty="0" smtClean="0">
                <a:ea typeface="宋体" pitchFamily="2" charset="-122"/>
              </a:rPr>
              <a:t>2)</a:t>
            </a: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7CBFE4F-53EC-453F-BC83-C7AF44367C63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2008" y="2276872"/>
            <a:ext cx="8892480" cy="230832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ea typeface="宋体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        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ea typeface="宋体"/>
              </a:rPr>
              <a:t>description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http://schemas.xmlsoap.org/wsdl/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"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            location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ftp://anotherexample.com/tools/calculator.wsdl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"/&gt;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ea typeface="宋体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&lt;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ea typeface="宋体"/>
              </a:rPr>
              <a:t>link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=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http://schemas.xmlsoap.org/ws/2001/10/inspection/</a:t>
            </a:r>
            <a:endParaRPr lang="en-US" altLang="zh-CN" dirty="0">
              <a:solidFill>
                <a:srgbClr val="0000FF"/>
              </a:solidFill>
              <a:highlight>
                <a:srgbClr val="FFFFFF"/>
              </a:highlight>
              <a:ea typeface="宋体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ea typeface="宋体"/>
              </a:rPr>
              <a:t>location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="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ea typeface="宋体"/>
              </a:rPr>
              <a:t>http://example.com/Supply.wsil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"/&gt;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ea typeface="宋体"/>
            </a:endParaRPr>
          </a:p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highlight>
                  <a:srgbClr val="FFFFFF"/>
                </a:highlight>
                <a:ea typeface="宋体"/>
              </a:rPr>
              <a:t>inspection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ea typeface="宋体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>
              <a:defRPr/>
            </a:pPr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85701" name="Line 5"/>
          <p:cNvSpPr>
            <a:spLocks noChangeShapeType="1"/>
          </p:cNvSpPr>
          <p:nvPr/>
        </p:nvSpPr>
        <p:spPr bwMode="auto">
          <a:xfrm flipH="1" flipV="1">
            <a:off x="4572000" y="3933825"/>
            <a:ext cx="936625" cy="15113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02" name="Text Box 6"/>
          <p:cNvSpPr txBox="1">
            <a:spLocks noChangeArrowheads="1"/>
          </p:cNvSpPr>
          <p:nvPr/>
        </p:nvSpPr>
        <p:spPr bwMode="auto">
          <a:xfrm>
            <a:off x="5435600" y="5516563"/>
            <a:ext cx="1654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The linked WSIL 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animBg="1"/>
      <p:bldP spid="28570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 err="1" smtClean="0">
                <a:ea typeface="宋体" pitchFamily="2" charset="-122"/>
              </a:rPr>
              <a:t>Supply.wsil</a:t>
            </a:r>
            <a:r>
              <a:rPr lang="en-US" altLang="zh-CN" i="1" dirty="0" smtClean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(1/2)</a:t>
            </a: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EC25215-0D6B-4555-AC7A-935CDDDBA921}" type="slidenum">
              <a:rPr lang="en-US" altLang="zh-CN"/>
              <a:pPr eaLnBrk="1" hangingPunct="1"/>
              <a:t>30</a:t>
            </a:fld>
            <a:endParaRPr lang="en-US" altLang="zh-CN"/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107950" y="1484313"/>
            <a:ext cx="8928100" cy="36933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+mn-lt"/>
                <a:ea typeface="宋体"/>
              </a:rPr>
              <a:t>&lt;?xml version="1.0" encoding="UTF-8"?&gt;</a:t>
            </a:r>
          </a:p>
          <a:p>
            <a:pPr eaLnBrk="1" hangingPunct="1"/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smtClean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xmlns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=…&gt;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           </a:t>
            </a:r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This 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supply service provides an online purchase order handling service</a:t>
            </a:r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.      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xml:lang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en-US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SupplyService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description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supply.wsdl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endParaRPr lang="en-US" altLang="zh-CN" dirty="0">
              <a:solidFill>
                <a:srgbClr val="FF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http://servicescomputing.org/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unknown:service-description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type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unknown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"/&gt;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description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86724" name="Line 4"/>
          <p:cNvSpPr>
            <a:spLocks noChangeShapeType="1"/>
          </p:cNvSpPr>
          <p:nvPr/>
        </p:nvSpPr>
        <p:spPr bwMode="auto">
          <a:xfrm flipH="1">
            <a:off x="6012159" y="3330972"/>
            <a:ext cx="151100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7524750" y="3043634"/>
            <a:ext cx="140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Name of the service </a:t>
            </a:r>
          </a:p>
        </p:txBody>
      </p:sp>
      <p:sp>
        <p:nvSpPr>
          <p:cNvPr id="286726" name="Line 6"/>
          <p:cNvSpPr>
            <a:spLocks noChangeShapeType="1"/>
          </p:cNvSpPr>
          <p:nvPr/>
        </p:nvSpPr>
        <p:spPr bwMode="auto">
          <a:xfrm flipH="1" flipV="1">
            <a:off x="2267744" y="3684982"/>
            <a:ext cx="0" cy="161568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1187450" y="5300663"/>
            <a:ext cx="21605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The correponding WSDL document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 animBg="1"/>
      <p:bldP spid="286725" grpId="0"/>
      <p:bldP spid="286726" grpId="0" animBg="1"/>
      <p:bldP spid="2867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smtClean="0">
                <a:ea typeface="宋体" pitchFamily="2" charset="-122"/>
              </a:rPr>
              <a:t>Supply.wsil</a:t>
            </a:r>
            <a:r>
              <a:rPr lang="en-US" altLang="zh-CN" smtClean="0">
                <a:ea typeface="宋体" pitchFamily="2" charset="-122"/>
              </a:rPr>
              <a:t> (2 of 2)</a:t>
            </a: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12351E2-0C07-4047-A3B6-35EC3B3E1C46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07950" y="1484313"/>
            <a:ext cx="8928100" cy="3681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payment.wsil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endParaRPr lang="en-US" altLang="zh-CN" dirty="0">
              <a:solidFill>
                <a:srgbClr val="FF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http://servicescomputing.org/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    Link 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to the WSIL document for payment service.</a:t>
            </a: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shipping.wsil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endParaRPr lang="en-US" altLang="zh-CN" dirty="0">
              <a:solidFill>
                <a:srgbClr val="FF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http://servicescomputing.org/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    Link 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to the WSIL document for shipping service.</a:t>
            </a: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</a:p>
        </p:txBody>
      </p:sp>
      <p:sp>
        <p:nvSpPr>
          <p:cNvPr id="285701" name="Line 5"/>
          <p:cNvSpPr>
            <a:spLocks noChangeShapeType="1"/>
          </p:cNvSpPr>
          <p:nvPr/>
        </p:nvSpPr>
        <p:spPr bwMode="auto">
          <a:xfrm flipH="1" flipV="1">
            <a:off x="4211638" y="3429000"/>
            <a:ext cx="1296987" cy="20161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02" name="Text Box 6"/>
          <p:cNvSpPr txBox="1">
            <a:spLocks noChangeArrowheads="1"/>
          </p:cNvSpPr>
          <p:nvPr/>
        </p:nvSpPr>
        <p:spPr bwMode="auto">
          <a:xfrm>
            <a:off x="5435600" y="5516563"/>
            <a:ext cx="1654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The linked WSIL 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animBg="1"/>
      <p:bldP spid="28570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smtClean="0">
                <a:ea typeface="宋体" pitchFamily="2" charset="-122"/>
              </a:rPr>
              <a:t>Shipping.wsil</a:t>
            </a: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18A845A-15A0-42E5-91C3-A30E23FD3574}" type="slidenum">
              <a:rPr lang="en-US" altLang="zh-CN"/>
              <a:pPr eaLnBrk="1" hangingPunct="1"/>
              <a:t>32</a:t>
            </a:fld>
            <a:endParaRPr lang="en-US" altLang="zh-CN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07950" y="2052638"/>
            <a:ext cx="8928100" cy="34163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+mn-lt"/>
                <a:ea typeface="宋体"/>
              </a:rPr>
              <a:t>&lt;?xml version="1.0" encoding="UTF-8"?&gt;</a:t>
            </a:r>
          </a:p>
          <a:p>
            <a:pPr eaLnBrk="1" hangingPunct="1"/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smtClean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xmlns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=…&gt;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    The 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 service 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desciption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for the 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shippingservice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xml:lang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en-US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ShippingService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dedcription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shipping.wsdl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http://servicescomputing.org/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dedcription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</a:p>
        </p:txBody>
      </p:sp>
      <p:sp>
        <p:nvSpPr>
          <p:cNvPr id="287749" name="Line 5"/>
          <p:cNvSpPr>
            <a:spLocks noChangeShapeType="1"/>
          </p:cNvSpPr>
          <p:nvPr/>
        </p:nvSpPr>
        <p:spPr bwMode="auto">
          <a:xfrm flipH="1" flipV="1">
            <a:off x="4859338" y="5157788"/>
            <a:ext cx="865187" cy="9874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0" name="Text Box 6"/>
          <p:cNvSpPr txBox="1">
            <a:spLocks noChangeArrowheads="1"/>
          </p:cNvSpPr>
          <p:nvPr/>
        </p:nvSpPr>
        <p:spPr bwMode="auto">
          <a:xfrm>
            <a:off x="5724525" y="5961856"/>
            <a:ext cx="1654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No links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9" grpId="0" animBg="1"/>
      <p:bldP spid="28775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smtClean="0">
                <a:ea typeface="宋体" pitchFamily="2" charset="-122"/>
              </a:rPr>
              <a:t>Payment.wsil</a:t>
            </a: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D6A55D5-A42B-406B-95A6-481A94014DE6}" type="slidenum">
              <a:rPr lang="en-US" altLang="zh-CN"/>
              <a:pPr eaLnBrk="1" hangingPunct="1"/>
              <a:t>33</a:t>
            </a:fld>
            <a:endParaRPr lang="en-US" altLang="zh-CN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79388" y="1412875"/>
            <a:ext cx="8928100" cy="50784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rgbClr val="008080"/>
                </a:solidFill>
                <a:highlight>
                  <a:srgbClr val="FFFFFF"/>
                </a:highlight>
                <a:latin typeface="+mn-lt"/>
                <a:ea typeface="宋体"/>
              </a:rPr>
              <a:t>&lt;?xml version="1.0" encoding="UTF-8"?&gt;</a:t>
            </a:r>
          </a:p>
          <a:p>
            <a:pPr eaLnBrk="1" hangingPunct="1"/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smtClean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xmlns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=…&gt;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The WSDL service 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desciption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for the online payment service.                 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xml:lang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en-US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OnlinePaymentService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name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 err="1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dedcription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payment.wsdl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http://servicescomputing.org/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wsdl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 err="1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dedcription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service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err="1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referencedNamespace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http://schema.xmlsoap.org/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ws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/2001/10/inspection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</a:t>
            </a:r>
            <a:endParaRPr lang="en-US" altLang="zh-CN" dirty="0">
              <a:solidFill>
                <a:srgbClr val="FF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Arial Unicode MS" pitchFamily="34" charset="-122"/>
                <a:cs typeface="Arial Unicode MS" pitchFamily="34" charset="-122"/>
              </a:rPr>
              <a:t>    location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="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bank.wsil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"&gt;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    Link 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to a </a:t>
            </a:r>
            <a:r>
              <a:rPr lang="en-US" altLang="zh-CN" dirty="0" err="1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spectific</a:t>
            </a:r>
            <a:r>
              <a:rPr lang="en-US" altLang="zh-CN" dirty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bank service provider.</a:t>
            </a: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abstract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lang="en-US" altLang="zh-CN" dirty="0" smtClean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link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  <a:endParaRPr lang="en-US" altLang="zh-CN" dirty="0">
              <a:solidFill>
                <a:srgbClr val="000000"/>
              </a:solidFill>
              <a:ea typeface="Arial Unicode MS" pitchFamily="34" charset="-122"/>
              <a:cs typeface="Arial Unicode MS" pitchFamily="34" charset="-122"/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&lt;/</a:t>
            </a:r>
            <a:r>
              <a:rPr lang="en-US" altLang="zh-CN" dirty="0">
                <a:solidFill>
                  <a:srgbClr val="800000"/>
                </a:solidFill>
                <a:ea typeface="Arial Unicode MS" pitchFamily="34" charset="-122"/>
                <a:cs typeface="Arial Unicode MS" pitchFamily="34" charset="-122"/>
              </a:rPr>
              <a:t>inspection</a:t>
            </a:r>
            <a:r>
              <a:rPr lang="en-US" altLang="zh-CN" dirty="0">
                <a:solidFill>
                  <a:srgbClr val="0000FF"/>
                </a:solidFill>
                <a:ea typeface="Arial Unicode MS" pitchFamily="34" charset="-122"/>
                <a:cs typeface="Arial Unicode MS" pitchFamily="34" charset="-122"/>
              </a:rPr>
              <a:t>&gt;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 flipV="1">
            <a:off x="3419475" y="4868863"/>
            <a:ext cx="2233613" cy="12049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653088" y="5805488"/>
            <a:ext cx="1654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Not listed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itchFamily="2" charset="-122"/>
              </a:rPr>
              <a:t>UDDI Publishing vs. WSIL Publishing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>
                <a:ea typeface="宋体" pitchFamily="2" charset="-122"/>
              </a:rPr>
              <a:t>UDDI can be viewed as a traditional Yellow page directory that categorizes and organizes published Web services form various organizations</a:t>
            </a:r>
          </a:p>
          <a:p>
            <a:r>
              <a:rPr lang="en-US" altLang="zh-CN" sz="2800" dirty="0" smtClean="0">
                <a:ea typeface="宋体" pitchFamily="2" charset="-122"/>
              </a:rPr>
              <a:t>WSIL enables Web services discovery, deployment, and invocation through regular Web server without a comprehensive and complex services registry infrastructure</a:t>
            </a:r>
          </a:p>
          <a:p>
            <a:r>
              <a:rPr lang="en-US" altLang="zh-CN" sz="2800" dirty="0" smtClean="0">
                <a:ea typeface="宋体" pitchFamily="2" charset="-122"/>
              </a:rPr>
              <a:t>The cost and complexity is different, choice between Yellow page directory or asking around for information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B05D54E-F69B-41F2-AD8D-E2A28B674418}" type="slidenum">
              <a:rPr lang="en-US" altLang="zh-CN"/>
              <a:pPr eaLnBrk="1" hangingPunct="1"/>
              <a:t>34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Web Services Discovery</a:t>
            </a:r>
          </a:p>
        </p:txBody>
      </p:sp>
      <p:graphicFrame>
        <p:nvGraphicFramePr>
          <p:cNvPr id="32771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457200" y="1090613"/>
          <a:ext cx="8228013" cy="527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Visio" r:id="rId4" imgW="10189474" imgH="6529128" progId="Visio.Drawing.11">
                  <p:embed/>
                </p:oleObj>
              </mc:Choice>
              <mc:Fallback>
                <p:oleObj name="Visio" r:id="rId4" imgW="10189474" imgH="6529128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90613"/>
                        <a:ext cx="8228013" cy="527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1D300E7-8110-47E3-897E-66D2B365EAD9}" type="slidenum">
              <a:rPr lang="en-US" altLang="zh-CN"/>
              <a:pPr eaLnBrk="1" hangingPunct="1"/>
              <a:t>35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itchFamily="2" charset="-122"/>
              </a:rPr>
              <a:t>UDDI Search (1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en-US" altLang="zh-CN" dirty="0" smtClean="0">
                <a:ea typeface="宋体" pitchFamily="2" charset="-122"/>
              </a:rPr>
              <a:t>2)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Adopts a UDDI client to look up a Web service in UDDI registry</a:t>
            </a:r>
          </a:p>
          <a:p>
            <a:pPr>
              <a:defRPr/>
            </a:pPr>
            <a:r>
              <a:rPr lang="en-US" altLang="zh-CN" dirty="0" smtClean="0"/>
              <a:t>UDDI for Java (UDDI4J)  is such a UDDI client</a:t>
            </a:r>
          </a:p>
          <a:p>
            <a:pPr lvl="1">
              <a:defRPr/>
            </a:pPr>
            <a:r>
              <a:rPr lang="en-US" altLang="zh-CN" dirty="0" smtClean="0"/>
              <a:t>Is a java class library that provides an API to interact with a UDDI registry</a:t>
            </a:r>
          </a:p>
          <a:p>
            <a:pPr lvl="1">
              <a:defRPr/>
            </a:pPr>
            <a:r>
              <a:rPr lang="en-US" altLang="zh-CN" dirty="0" smtClean="0"/>
              <a:t>Supports the UDDI specifications, SOAP transports, debug logging, and configuration capabilities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9E04750-9230-4BAD-A656-FC7A0995EC9F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itchFamily="2" charset="-122"/>
              </a:rPr>
              <a:t>UDDI Search (2/2)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 smtClean="0"/>
              <a:t>Three directions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Search for Business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business name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identifier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category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discovery URL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Search for Service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service name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category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Search for Service Type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service type name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800" dirty="0" smtClean="0"/>
              <a:t>Search by category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sz="2400" dirty="0" smtClean="0"/>
              <a:t>Some categorization taxonomies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North American Industry Classification System (NAICS)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Universal Standard Products and Services Classification (UNSPSC)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000" dirty="0" smtClean="0"/>
              <a:t>Geographic (GEO)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82316A3-9059-4A46-B1C0-A2AC391B9376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UDDI </a:t>
            </a:r>
            <a:r>
              <a:rPr lang="zh-CN" altLang="en-US" dirty="0" smtClean="0"/>
              <a:t>查询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 smtClean="0"/>
              <a:t>UDDI</a:t>
            </a:r>
            <a:r>
              <a:rPr lang="zh-CN" altLang="en-US" dirty="0"/>
              <a:t>查询</a:t>
            </a:r>
            <a:r>
              <a:rPr lang="en-US" altLang="zh-CN" dirty="0"/>
              <a:t>API</a:t>
            </a:r>
            <a:r>
              <a:rPr lang="zh-CN" altLang="en-US" dirty="0"/>
              <a:t>有两类使用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浏览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开发</a:t>
            </a:r>
            <a:r>
              <a:rPr lang="zh-CN" altLang="en-US" dirty="0"/>
              <a:t>者可以使用浏览模式（发现</a:t>
            </a:r>
            <a:r>
              <a:rPr lang="en-US" altLang="zh-CN" dirty="0"/>
              <a:t>API</a:t>
            </a:r>
            <a:r>
              <a:rPr lang="zh-CN" altLang="en-US" dirty="0"/>
              <a:t>调用）来获取满足比较</a:t>
            </a:r>
            <a:r>
              <a:rPr lang="zh-CN" altLang="en-US" dirty="0" smtClean="0"/>
              <a:t>宽泛的查询标准的接入点</a:t>
            </a:r>
            <a:r>
              <a:rPr lang="zh-CN" altLang="en-US" dirty="0"/>
              <a:t>、服务或者技术特性</a:t>
            </a:r>
          </a:p>
          <a:p>
            <a:pPr lvl="2"/>
            <a:r>
              <a:rPr lang="zh-CN" altLang="en-US" dirty="0" smtClean="0"/>
              <a:t>浏览</a:t>
            </a:r>
            <a:r>
              <a:rPr lang="zh-CN" altLang="en-US" dirty="0"/>
              <a:t>模式中，可以使用</a:t>
            </a:r>
            <a:r>
              <a:rPr lang="en-US" altLang="zh-CN" dirty="0" err="1"/>
              <a:t>find_business</a:t>
            </a:r>
            <a:r>
              <a:rPr lang="zh-CN" altLang="en-US" dirty="0"/>
              <a:t>、</a:t>
            </a:r>
            <a:r>
              <a:rPr lang="en-US" altLang="zh-CN" dirty="0" err="1"/>
              <a:t>find_relatedBusiness</a:t>
            </a:r>
            <a:r>
              <a:rPr lang="zh-CN" altLang="en-US" dirty="0"/>
              <a:t>、</a:t>
            </a:r>
            <a:r>
              <a:rPr lang="en-US" altLang="zh-CN" dirty="0" err="1"/>
              <a:t>find_service</a:t>
            </a:r>
            <a:r>
              <a:rPr lang="zh-CN" altLang="en-US" dirty="0"/>
              <a:t>、</a:t>
            </a:r>
            <a:r>
              <a:rPr lang="en-US" altLang="zh-CN" dirty="0" err="1"/>
              <a:t>find_binding</a:t>
            </a:r>
            <a:r>
              <a:rPr lang="zh-CN" altLang="en-US" dirty="0"/>
              <a:t>和</a:t>
            </a:r>
            <a:r>
              <a:rPr lang="en-US" altLang="zh-CN" dirty="0" err="1"/>
              <a:t>find_tModel</a:t>
            </a:r>
            <a:r>
              <a:rPr lang="zh-CN" altLang="en-US" dirty="0"/>
              <a:t>操作</a:t>
            </a:r>
          </a:p>
          <a:p>
            <a:pPr lvl="1"/>
            <a:r>
              <a:rPr lang="zh-CN" altLang="en-US" dirty="0" smtClean="0"/>
              <a:t>下钻</a:t>
            </a:r>
            <a:endParaRPr lang="zh-CN" altLang="en-US" dirty="0"/>
          </a:p>
          <a:p>
            <a:pPr lvl="2"/>
            <a:r>
              <a:rPr lang="zh-CN" altLang="en-US" dirty="0" smtClean="0"/>
              <a:t>使用</a:t>
            </a:r>
            <a:r>
              <a:rPr lang="zh-CN" altLang="en-US" dirty="0"/>
              <a:t>下钻模式（获取</a:t>
            </a:r>
            <a:r>
              <a:rPr lang="en-US" altLang="zh-CN" dirty="0"/>
              <a:t>API</a:t>
            </a:r>
            <a:r>
              <a:rPr lang="zh-CN" altLang="en-US" dirty="0"/>
              <a:t>调用）来获取更</a:t>
            </a:r>
            <a:r>
              <a:rPr lang="zh-CN" altLang="en-US" dirty="0" smtClean="0"/>
              <a:t>具体的功能部件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下钻</a:t>
            </a:r>
            <a:r>
              <a:rPr lang="zh-CN" altLang="en-US" dirty="0"/>
              <a:t>模式中，可以使用</a:t>
            </a:r>
            <a:r>
              <a:rPr lang="en-US" altLang="zh-CN" dirty="0" err="1"/>
              <a:t>get_businessDetail</a:t>
            </a:r>
            <a:r>
              <a:rPr lang="zh-CN" altLang="en-US" dirty="0"/>
              <a:t>、</a:t>
            </a:r>
            <a:r>
              <a:rPr lang="en-US" altLang="zh-CN" dirty="0" err="1"/>
              <a:t>get_BusinessDetailExt</a:t>
            </a:r>
            <a:r>
              <a:rPr lang="zh-CN" altLang="en-US" dirty="0"/>
              <a:t>、</a:t>
            </a:r>
            <a:r>
              <a:rPr lang="en-US" altLang="zh-CN" dirty="0" err="1" smtClean="0"/>
              <a:t>get_serviceDetail</a:t>
            </a:r>
            <a:r>
              <a:rPr lang="zh-CN" altLang="en-US" dirty="0"/>
              <a:t>、</a:t>
            </a:r>
            <a:r>
              <a:rPr lang="en-US" altLang="zh-CN" dirty="0" err="1"/>
              <a:t>get_bindingDetail</a:t>
            </a:r>
            <a:r>
              <a:rPr lang="zh-CN" altLang="en-US" dirty="0"/>
              <a:t>和</a:t>
            </a:r>
            <a:r>
              <a:rPr lang="en-US" altLang="zh-CN" dirty="0" err="1"/>
              <a:t>get_tModelDetail</a:t>
            </a:r>
            <a:r>
              <a:rPr lang="zh-CN" altLang="en-US" dirty="0"/>
              <a:t>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41732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WSIL Search (1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en-US" altLang="zh-CN" dirty="0" smtClean="0">
                <a:ea typeface="宋体" pitchFamily="2" charset="-122"/>
              </a:rPr>
              <a:t>2)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sz="2800" dirty="0" smtClean="0"/>
              <a:t>Mainly based upon an iterative search process through a WSIL document chain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300" dirty="0" smtClean="0"/>
              <a:t>Step 1: </a:t>
            </a:r>
            <a:r>
              <a:rPr lang="en-US" altLang="zh-CN" sz="2300" dirty="0" err="1" smtClean="0"/>
              <a:t>Indentify</a:t>
            </a:r>
            <a:r>
              <a:rPr lang="en-US" altLang="zh-CN" sz="2300" dirty="0" smtClean="0"/>
              <a:t> the location of a starting WSIL document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300" dirty="0" smtClean="0"/>
              <a:t>Step 2: Perform the search for the specified WSIL document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300" dirty="0" smtClean="0"/>
              <a:t>Step 3: Display a list of links contains in the WSIL document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300" dirty="0" smtClean="0"/>
              <a:t>Step 4: Select a link to launch the content of the selected WSIL document. If the launched document contains other links, chase down the links to retrieve further document  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sz="2300" dirty="0" smtClean="0"/>
              <a:t>Step 5: Repeat Steps 3 and 4 to iterate through all interested links until indented information is found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E6C9D83-A7AA-41CB-BA26-AEBC49CA6FB8}" type="slidenum">
              <a:rPr lang="en-US" altLang="zh-CN"/>
              <a:pPr eaLnBrk="1" hangingPunct="1"/>
              <a:t>39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WSIL Search </a:t>
            </a:r>
            <a:r>
              <a:rPr lang="en-US" altLang="zh-CN" smtClean="0">
                <a:ea typeface="宋体" pitchFamily="2" charset="-122"/>
              </a:rPr>
              <a:t>(2</a:t>
            </a:r>
            <a:r>
              <a:rPr lang="en-US" altLang="zh-CN">
                <a:ea typeface="宋体" pitchFamily="2" charset="-122"/>
              </a:rPr>
              <a:t>/</a:t>
            </a:r>
            <a:r>
              <a:rPr lang="en-US" altLang="zh-CN" smtClean="0">
                <a:ea typeface="宋体" pitchFamily="2" charset="-122"/>
              </a:rPr>
              <a:t>2</a:t>
            </a:r>
            <a:r>
              <a:rPr lang="en-US" altLang="zh-CN" dirty="0" smtClean="0">
                <a:ea typeface="宋体" pitchFamily="2" charset="-122"/>
              </a:rPr>
              <a:t>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 smtClean="0"/>
              <a:t>Usually performed by a search tool built on top of WSIL parser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 smtClean="0"/>
              <a:t>For example, the Web Services Inspection language for Java API (WSIL4J), it is used to parse existing WSIL documents or programmatically create new WSIL documents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 smtClean="0"/>
              <a:t>Classes to present elements in WSIL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i="1" dirty="0" err="1" smtClean="0"/>
              <a:t>WSILProxy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to access the information in WSIL documents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0B8FBA6-4302-499D-B3CE-E3476054A32F}" type="slidenum">
              <a:rPr lang="en-US" altLang="zh-CN"/>
              <a:pPr eaLnBrk="1" hangingPunct="1"/>
              <a:t>40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JAXR </a:t>
            </a:r>
            <a:r>
              <a:rPr lang="en-US" altLang="zh-CN" dirty="0"/>
              <a:t>(</a:t>
            </a:r>
            <a:r>
              <a:rPr lang="en-US" altLang="zh-CN" dirty="0" smtClean="0"/>
              <a:t>1/3)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CN" dirty="0" smtClean="0"/>
              <a:t>JAXR is</a:t>
            </a:r>
          </a:p>
          <a:p>
            <a:pPr lvl="1">
              <a:defRPr/>
            </a:pPr>
            <a:r>
              <a:rPr lang="en-US" altLang="zh-CN" dirty="0" smtClean="0"/>
              <a:t>Standard Java API for performing registry operations over diverse set of registries</a:t>
            </a:r>
          </a:p>
          <a:p>
            <a:pPr lvl="1">
              <a:defRPr/>
            </a:pPr>
            <a:r>
              <a:rPr lang="en-US" altLang="zh-CN" dirty="0" smtClean="0"/>
              <a:t>A unified information model for describing business registry content</a:t>
            </a:r>
          </a:p>
          <a:p>
            <a:pPr lvl="1">
              <a:defRPr/>
            </a:pPr>
            <a:r>
              <a:rPr lang="en-US" altLang="zh-CN" dirty="0" smtClean="0"/>
              <a:t>Provides multi-layered API abstractions</a:t>
            </a:r>
          </a:p>
          <a:p>
            <a:pPr lvl="1">
              <a:defRPr/>
            </a:pPr>
            <a:r>
              <a:rPr lang="en-US" altLang="zh-CN" dirty="0" smtClean="0"/>
              <a:t>Enabling technology for web services in the </a:t>
            </a:r>
            <a:r>
              <a:rPr lang="en-US" altLang="zh-CN" dirty="0" err="1" smtClean="0"/>
              <a:t>JavaEE</a:t>
            </a:r>
            <a:r>
              <a:rPr lang="en-US" altLang="zh-CN" dirty="0" smtClean="0"/>
              <a:t> platform</a:t>
            </a:r>
          </a:p>
          <a:p>
            <a:pPr>
              <a:defRPr/>
            </a:pPr>
            <a:r>
              <a:rPr lang="en-US" altLang="zh-CN" dirty="0" smtClean="0"/>
              <a:t>JAXR</a:t>
            </a:r>
          </a:p>
          <a:p>
            <a:pPr lvl="1">
              <a:defRPr/>
            </a:pPr>
            <a:r>
              <a:rPr lang="en-US" altLang="zh-CN" dirty="0" smtClean="0">
                <a:cs typeface="+mn-cs"/>
              </a:rPr>
              <a:t>Is not a new registry standard</a:t>
            </a:r>
          </a:p>
          <a:p>
            <a:pPr lvl="2">
              <a:defRPr/>
            </a:pPr>
            <a:r>
              <a:rPr lang="en-US" altLang="zh-CN" dirty="0" smtClean="0">
                <a:cs typeface="+mn-cs"/>
              </a:rPr>
              <a:t>JAXR defines Java APIs for accessing various current and future registries</a:t>
            </a:r>
          </a:p>
          <a:p>
            <a:pPr lvl="1">
              <a:defRPr/>
            </a:pPr>
            <a:r>
              <a:rPr lang="en-US" altLang="zh-CN" dirty="0" smtClean="0">
                <a:cs typeface="+mn-cs"/>
              </a:rPr>
              <a:t>Is not least common denominator API</a:t>
            </a:r>
          </a:p>
          <a:p>
            <a:pPr lvl="2">
              <a:defRPr/>
            </a:pPr>
            <a:r>
              <a:rPr lang="en-US" altLang="zh-CN" dirty="0" smtClean="0">
                <a:cs typeface="+mn-cs"/>
              </a:rPr>
              <a:t>JAXR supports a union of the best features of dominant registry specifications</a:t>
            </a: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63BEB80-F688-48C7-AB17-5A856EA1D873}" type="slidenum">
              <a:rPr lang="en-US" altLang="zh-CN" sz="1000" smtClean="0"/>
              <a:pPr eaLnBrk="1" hangingPunct="1"/>
              <a:t>41</a:t>
            </a:fld>
            <a:endParaRPr lang="en-US" altLang="zh-CN" sz="1000" smtClean="0"/>
          </a:p>
        </p:txBody>
      </p:sp>
    </p:spTree>
    <p:extLst>
      <p:ext uri="{BB962C8B-B14F-4D97-AF65-F5344CB8AC3E}">
        <p14:creationId xmlns:p14="http://schemas.microsoft.com/office/powerpoint/2010/main" val="109626202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JAXR (2/3)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Registry Provider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Provides an implementation of a registry specification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Is not expected to implement JAXR specification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examples: UDDI registry, </a:t>
            </a:r>
            <a:r>
              <a:rPr lang="en-US" altLang="zh-CN" dirty="0" err="1"/>
              <a:t>ebXML</a:t>
            </a:r>
            <a:r>
              <a:rPr lang="en-US" altLang="zh-CN" dirty="0"/>
              <a:t> registry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JAXR Provider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Implements JAXR specification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Typically functions as facade to existing registry providers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 example: JAXR reference implementation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JAXR Client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Uses JAXR APIs to access services provided by JAXR </a:t>
            </a:r>
            <a:r>
              <a:rPr lang="en-US" altLang="zh-CN" dirty="0" smtClean="0"/>
              <a:t>Provider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408779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JAXR </a:t>
            </a:r>
            <a:r>
              <a:rPr lang="en-US" altLang="zh-CN" smtClean="0"/>
              <a:t>(3/3)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pic>
        <p:nvPicPr>
          <p:cNvPr id="5" name="Picture 1" descr="C:\Users\beijia\AppData\Roaming\Tencent\Users\56145636\QQ\WinTemp\RichOle\HH~KJM`PBGN7PCI~]PX3__G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82381"/>
            <a:ext cx="8229600" cy="5288551"/>
          </a:xfrm>
          <a:noFill/>
        </p:spPr>
      </p:pic>
    </p:spTree>
    <p:extLst>
      <p:ext uri="{BB962C8B-B14F-4D97-AF65-F5344CB8AC3E}">
        <p14:creationId xmlns:p14="http://schemas.microsoft.com/office/powerpoint/2010/main" val="353294467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 More</a:t>
            </a:r>
            <a:r>
              <a:rPr lang="en-US" altLang="zh-CN" dirty="0" smtClean="0"/>
              <a:t>… (1/2)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hangingPunct="0"/>
            <a:r>
              <a:rPr lang="zh-CN" altLang="en-US" sz="2400" dirty="0"/>
              <a:t>题名</a:t>
            </a:r>
            <a:r>
              <a:rPr lang="en-US" altLang="zh-CN" sz="2400" dirty="0"/>
              <a:t>/</a:t>
            </a:r>
            <a:r>
              <a:rPr lang="zh-CN" altLang="en-US" sz="2400" dirty="0"/>
              <a:t>责任者</a:t>
            </a:r>
            <a:r>
              <a:rPr lang="en-US" altLang="zh-CN" sz="2400" dirty="0"/>
              <a:t>:Services computing = </a:t>
            </a:r>
            <a:r>
              <a:rPr lang="zh-CN" altLang="en-US" sz="2400" dirty="0"/>
              <a:t>服务计算 </a:t>
            </a:r>
            <a:r>
              <a:rPr lang="en-US" altLang="zh-CN" sz="2400" dirty="0"/>
              <a:t>/ Liang-</a:t>
            </a:r>
            <a:r>
              <a:rPr lang="en-US" altLang="zh-CN" sz="2400" dirty="0" err="1"/>
              <a:t>Jie</a:t>
            </a:r>
            <a:r>
              <a:rPr lang="en-US" altLang="zh-CN" sz="2400" dirty="0"/>
              <a:t> Zhang, Jia Zhang, Hong </a:t>
            </a:r>
            <a:r>
              <a:rPr lang="en-US" altLang="zh-CN" sz="2400" dirty="0" err="1"/>
              <a:t>Cai</a:t>
            </a:r>
            <a:r>
              <a:rPr lang="en-US" altLang="zh-CN" sz="2400" dirty="0"/>
              <a:t>.</a:t>
            </a:r>
          </a:p>
          <a:p>
            <a:pPr lvl="0" eaLnBrk="0" hangingPunct="0"/>
            <a:r>
              <a:rPr lang="zh-CN" altLang="en-US" sz="2400" dirty="0"/>
              <a:t>出版发行项</a:t>
            </a:r>
            <a:r>
              <a:rPr lang="en-US" altLang="zh-CN" sz="2400" dirty="0"/>
              <a:t>:Beijing : Tsinghua University Press ; Berlin ; New York : Springer, c2007.</a:t>
            </a:r>
          </a:p>
          <a:p>
            <a:pPr lvl="0" eaLnBrk="0" hangingPunct="0"/>
            <a:r>
              <a:rPr lang="en-US" altLang="zh-CN" sz="2400" dirty="0"/>
              <a:t>ISBN:9787302150756 (Tsinghua University Press)</a:t>
            </a:r>
          </a:p>
          <a:p>
            <a:pPr lvl="0" eaLnBrk="0" hangingPunct="0"/>
            <a:r>
              <a:rPr lang="en-US" altLang="zh-CN" sz="2400" dirty="0"/>
              <a:t>ISBN:9783540382812 (Springer)</a:t>
            </a:r>
          </a:p>
          <a:p>
            <a:pPr lvl="0" eaLnBrk="0" hangingPunct="0"/>
            <a:r>
              <a:rPr lang="en-US" altLang="zh-CN" sz="2400" dirty="0" smtClean="0"/>
              <a:t>URL: </a:t>
            </a:r>
            <a:r>
              <a:rPr lang="en-US" altLang="zh-CN" sz="2400" dirty="0" smtClean="0">
                <a:hlinkClick r:id="rId2"/>
              </a:rPr>
              <a:t>http</a:t>
            </a:r>
            <a:r>
              <a:rPr lang="en-US" altLang="zh-CN" sz="2400" dirty="0">
                <a:hlinkClick r:id="rId2"/>
              </a:rPr>
              <a:t>://</a:t>
            </a:r>
            <a:r>
              <a:rPr lang="en-US" altLang="zh-CN" sz="2400" dirty="0" smtClean="0">
                <a:hlinkClick r:id="rId2"/>
              </a:rPr>
              <a:t>202.119.47.8:8080/opac/item.php?marc_no=0003334218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FAFEC3-FCF9-4793-BD53-13ACF2C4D1E4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81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Read More… </a:t>
            </a:r>
            <a:r>
              <a:rPr lang="en-US" altLang="zh-CN" dirty="0" smtClean="0"/>
              <a:t>(2/2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/>
            <a:r>
              <a:rPr lang="en-US" altLang="zh-CN" sz="2400" dirty="0"/>
              <a:t>UDDI Spec TC</a:t>
            </a:r>
          </a:p>
          <a:p>
            <a:pPr lvl="0" eaLnBrk="0" hangingPunct="0"/>
            <a:r>
              <a:rPr lang="en-US" altLang="zh-CN" sz="2400" dirty="0"/>
              <a:t>URL: </a:t>
            </a:r>
            <a:r>
              <a:rPr lang="en-US" altLang="zh-CN" sz="2400" dirty="0">
                <a:hlinkClick r:id="rId2"/>
              </a:rPr>
              <a:t>http://</a:t>
            </a:r>
            <a:r>
              <a:rPr lang="en-US" altLang="zh-CN" sz="2400" dirty="0" smtClean="0">
                <a:hlinkClick r:id="rId2"/>
              </a:rPr>
              <a:t>www.uddi.org/pubs/uddi_v3.htm</a:t>
            </a:r>
            <a:endParaRPr lang="en-US" altLang="zh-CN" sz="2400" dirty="0" smtClean="0"/>
          </a:p>
          <a:p>
            <a:pPr lvl="0" eaLnBrk="0" hangingPunct="0"/>
            <a:endParaRPr lang="en-US" altLang="zh-CN" sz="2400" dirty="0" smtClean="0"/>
          </a:p>
          <a:p>
            <a:pPr lvl="0" eaLnBrk="0" hangingPunct="0"/>
            <a:r>
              <a:rPr lang="en-US" altLang="zh-CN" sz="2400" dirty="0" smtClean="0"/>
              <a:t>An </a:t>
            </a:r>
            <a:r>
              <a:rPr lang="en-US" altLang="zh-CN" sz="2400" dirty="0"/>
              <a:t>overview of the Web Services Inspection </a:t>
            </a:r>
            <a:r>
              <a:rPr lang="en-US" altLang="zh-CN" sz="2400" dirty="0" smtClean="0"/>
              <a:t>Language</a:t>
            </a:r>
          </a:p>
          <a:p>
            <a:pPr lvl="0" eaLnBrk="0" hangingPunct="0"/>
            <a:r>
              <a:rPr lang="en-US" altLang="zh-CN" sz="2400" dirty="0" smtClean="0"/>
              <a:t>URL</a:t>
            </a:r>
            <a:r>
              <a:rPr lang="en-US" altLang="zh-CN" sz="2400" dirty="0"/>
              <a:t>: </a:t>
            </a:r>
            <a:r>
              <a:rPr lang="en-US" altLang="zh-CN" sz="2400" dirty="0">
                <a:hlinkClick r:id="rId3"/>
              </a:rPr>
              <a:t>http://www.ibm.com/developerworks/webservices/library/ws-wsilover</a:t>
            </a:r>
            <a:r>
              <a:rPr lang="en-US" altLang="zh-CN" sz="2400" dirty="0" smtClean="0">
                <a:hlinkClick r:id="rId3"/>
              </a:rPr>
              <a:t>/</a:t>
            </a:r>
            <a:endParaRPr lang="en-US" altLang="zh-CN" sz="2400" dirty="0"/>
          </a:p>
          <a:p>
            <a:pPr marL="0" lvl="0" indent="0" eaLnBrk="0" hangingPunct="0">
              <a:buNone/>
            </a:pPr>
            <a:endParaRPr lang="en-US" altLang="zh-CN" sz="2400" dirty="0" smtClean="0"/>
          </a:p>
          <a:p>
            <a:pPr lvl="0" eaLnBrk="0" hangingPunct="0"/>
            <a:r>
              <a:rPr lang="en-US" altLang="zh-CN" sz="2400" dirty="0" smtClean="0"/>
              <a:t>Java </a:t>
            </a:r>
            <a:r>
              <a:rPr lang="en-US" altLang="zh-CN" sz="2400" dirty="0"/>
              <a:t>API for XML Registries (JAXR)</a:t>
            </a:r>
          </a:p>
          <a:p>
            <a:pPr lvl="0" eaLnBrk="0" hangingPunct="0"/>
            <a:r>
              <a:rPr lang="en-US" altLang="zh-CN" sz="2400" dirty="0"/>
              <a:t>URL: </a:t>
            </a:r>
            <a:r>
              <a:rPr lang="en-US" altLang="zh-CN" sz="2400" dirty="0">
                <a:hlinkClick r:id="rId4"/>
              </a:rPr>
              <a:t>http://</a:t>
            </a:r>
            <a:r>
              <a:rPr lang="en-US" altLang="zh-CN" sz="2400" dirty="0" smtClean="0">
                <a:hlinkClick r:id="rId4"/>
              </a:rPr>
              <a:t>www.oracle.com/technetwork/java/jaxr-138137.html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40DE8-117D-415F-9B4C-33D34B105886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48795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8.4|4.3|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3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"/>
</p:tagLst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15350</TotalTime>
  <Words>2628</Words>
  <Application>Microsoft Office PowerPoint</Application>
  <PresentationFormat>全屏显示(4:3)</PresentationFormat>
  <Paragraphs>454</Paragraphs>
  <Slides>45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Arial Unicode MS</vt:lpstr>
      <vt:lpstr>宋体</vt:lpstr>
      <vt:lpstr>Arial</vt:lpstr>
      <vt:lpstr>Verdana</vt:lpstr>
      <vt:lpstr>Wingdings</vt:lpstr>
      <vt:lpstr>PowerPoint Template</vt:lpstr>
      <vt:lpstr>Visio</vt:lpstr>
      <vt:lpstr>Web Services Publishing and Discovery Service-Oriented Software Engineering</vt:lpstr>
      <vt:lpstr>Publishing a Web Service in Registry</vt:lpstr>
      <vt:lpstr>Web services publishing approaches</vt:lpstr>
      <vt:lpstr>UDDI (1/3)</vt:lpstr>
      <vt:lpstr>UDDI (2/3)</vt:lpstr>
      <vt:lpstr>UDDI (3/3)</vt:lpstr>
      <vt:lpstr>Protocol stack of UDDI</vt:lpstr>
      <vt:lpstr>The workflow of UDDI</vt:lpstr>
      <vt:lpstr>Public/private UDDI publishing</vt:lpstr>
      <vt:lpstr>UDDI Information Model</vt:lpstr>
      <vt:lpstr>businessEntitiy (1/2)</vt:lpstr>
      <vt:lpstr>businessEntitiy (2/2)</vt:lpstr>
      <vt:lpstr>businessService </vt:lpstr>
      <vt:lpstr>bindingTemplate</vt:lpstr>
      <vt:lpstr>tModel (wsdl)</vt:lpstr>
      <vt:lpstr>tModel (中国企业工商注册号)</vt:lpstr>
      <vt:lpstr>publisherAssertion</vt:lpstr>
      <vt:lpstr>UDDI Basic Type System</vt:lpstr>
      <vt:lpstr>Mapping from WSDL to UDDI</vt:lpstr>
      <vt:lpstr>Binding WSDL to tModel </vt:lpstr>
      <vt:lpstr>History</vt:lpstr>
      <vt:lpstr>The Evolvement of Core data Structure</vt:lpstr>
      <vt:lpstr>UDDI v3 new features</vt:lpstr>
      <vt:lpstr>UDDI API</vt:lpstr>
      <vt:lpstr>UDDI 发布API</vt:lpstr>
      <vt:lpstr>WSIL Publishing</vt:lpstr>
      <vt:lpstr>A example of WSIL chain</vt:lpstr>
      <vt:lpstr>StockQuote.wsil (1/2)</vt:lpstr>
      <vt:lpstr>StockQuote.wsil (2/2)</vt:lpstr>
      <vt:lpstr>Supply.wsil (1/2)</vt:lpstr>
      <vt:lpstr>Supply.wsil (2 of 2)</vt:lpstr>
      <vt:lpstr>Shipping.wsil</vt:lpstr>
      <vt:lpstr>Payment.wsil</vt:lpstr>
      <vt:lpstr>UDDI Publishing vs. WSIL Publishing</vt:lpstr>
      <vt:lpstr>Web Services Discovery</vt:lpstr>
      <vt:lpstr>UDDI Search (1/2)</vt:lpstr>
      <vt:lpstr>UDDI Search (2/2)</vt:lpstr>
      <vt:lpstr>UDDI 查询API</vt:lpstr>
      <vt:lpstr>WSIL Search (1/2)</vt:lpstr>
      <vt:lpstr>WSIL Search (2/2)</vt:lpstr>
      <vt:lpstr>JAXR (1/3)</vt:lpstr>
      <vt:lpstr>JAXR (2/3)</vt:lpstr>
      <vt:lpstr>JAXR (3/3)</vt:lpstr>
      <vt:lpstr>Read More… (1/2)</vt:lpstr>
      <vt:lpstr>Read More…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贝佳</dc:creator>
  <cp:lastModifiedBy>jia bei</cp:lastModifiedBy>
  <cp:revision>192</cp:revision>
  <dcterms:created xsi:type="dcterms:W3CDTF">2008-04-16T11:36:22Z</dcterms:created>
  <dcterms:modified xsi:type="dcterms:W3CDTF">2018-11-22T08:47:48Z</dcterms:modified>
</cp:coreProperties>
</file>