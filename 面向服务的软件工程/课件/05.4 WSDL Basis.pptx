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21"/>
  </p:notesMasterIdLst>
  <p:sldIdLst>
    <p:sldId id="256" r:id="rId2"/>
    <p:sldId id="489" r:id="rId3"/>
    <p:sldId id="490" r:id="rId4"/>
    <p:sldId id="292" r:id="rId5"/>
    <p:sldId id="487" r:id="rId6"/>
    <p:sldId id="293" r:id="rId7"/>
    <p:sldId id="298" r:id="rId8"/>
    <p:sldId id="299" r:id="rId9"/>
    <p:sldId id="456" r:id="rId10"/>
    <p:sldId id="295" r:id="rId11"/>
    <p:sldId id="457" r:id="rId12"/>
    <p:sldId id="303" r:id="rId13"/>
    <p:sldId id="488" r:id="rId14"/>
    <p:sldId id="304" r:id="rId15"/>
    <p:sldId id="459" r:id="rId16"/>
    <p:sldId id="308" r:id="rId17"/>
    <p:sldId id="311" r:id="rId18"/>
    <p:sldId id="312" r:id="rId19"/>
    <p:sldId id="491" r:id="rId2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251D4AE9-A4B2-406F-A79B-67FF600602F9}"/>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51050FF7-B66D-4C8F-A217-E58ACB138C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8DB754EA-ECE5-433F-8342-25BEABE70C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B3693FF-642A-4AD9-9586-C35DF472C590}" type="slidenum">
              <a:rPr lang="en-US" altLang="zh-CN">
                <a:solidFill>
                  <a:srgbClr val="000000"/>
                </a:solidFill>
              </a:rPr>
              <a:pPr>
                <a:spcBef>
                  <a:spcPct val="0"/>
                </a:spcBef>
              </a:pPr>
              <a:t>2</a:t>
            </a:fld>
            <a:endParaRPr lang="en-US" altLang="zh-CN">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7B54A26A-9ED1-4A5B-8F48-EA881FF0ABD3}"/>
              </a:ext>
            </a:extLst>
          </p:cNvPr>
          <p:cNvSpPr>
            <a:spLocks noGrp="1" noRot="1" noChangeAspect="1" noTextEdit="1"/>
          </p:cNvSpPr>
          <p:nvPr>
            <p:ph type="sldImg"/>
          </p:nvPr>
        </p:nvSpPr>
        <p:spPr>
          <a:ln/>
        </p:spPr>
      </p:sp>
      <p:sp>
        <p:nvSpPr>
          <p:cNvPr id="25603" name="备注占位符 2">
            <a:extLst>
              <a:ext uri="{FF2B5EF4-FFF2-40B4-BE49-F238E27FC236}">
                <a16:creationId xmlns:a16="http://schemas.microsoft.com/office/drawing/2014/main" id="{43734C5E-66B2-4348-84C0-4E44FA09C8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5604" name="灯片编号占位符 3">
            <a:extLst>
              <a:ext uri="{FF2B5EF4-FFF2-40B4-BE49-F238E27FC236}">
                <a16:creationId xmlns:a16="http://schemas.microsoft.com/office/drawing/2014/main" id="{A1264C72-30D9-4F4C-840E-32A993E139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EB30C9-27F6-44FB-B92A-027B7EEE6E23}" type="slidenum">
              <a:rPr lang="en-US" altLang="zh-CN"/>
              <a:pPr>
                <a:spcBef>
                  <a:spcPct val="0"/>
                </a:spcBef>
              </a:pPr>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D0A89841-9094-47AB-A215-3868B5F94A89}"/>
              </a:ext>
            </a:extLst>
          </p:cNvPr>
          <p:cNvSpPr>
            <a:spLocks noGrp="1" noRot="1" noChangeAspect="1" noTextEdit="1"/>
          </p:cNvSpPr>
          <p:nvPr>
            <p:ph type="sldImg"/>
          </p:nvPr>
        </p:nvSpPr>
        <p:spPr>
          <a:ln/>
        </p:spPr>
      </p:sp>
      <p:sp>
        <p:nvSpPr>
          <p:cNvPr id="27651" name="备注占位符 2">
            <a:extLst>
              <a:ext uri="{FF2B5EF4-FFF2-40B4-BE49-F238E27FC236}">
                <a16:creationId xmlns:a16="http://schemas.microsoft.com/office/drawing/2014/main" id="{CC0661A2-CE8B-448D-B7DA-12F4663BA4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652" name="灯片编号占位符 3">
            <a:extLst>
              <a:ext uri="{FF2B5EF4-FFF2-40B4-BE49-F238E27FC236}">
                <a16:creationId xmlns:a16="http://schemas.microsoft.com/office/drawing/2014/main" id="{4CBBCDBA-98A5-4242-B646-761F0C0567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7D89F1-4A81-4F6B-A4DC-5E55EDF64D92}" type="slidenum">
              <a:rPr lang="en-US" altLang="zh-CN"/>
              <a:pPr>
                <a:spcBef>
                  <a:spcPct val="0"/>
                </a:spcBef>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EC2CAF8C-3870-4CB5-AC17-5BFFA2C66BED}"/>
              </a:ext>
            </a:extLst>
          </p:cNvPr>
          <p:cNvSpPr>
            <a:spLocks noGrp="1" noRot="1" noChangeAspect="1" noTextEdit="1"/>
          </p:cNvSpPr>
          <p:nvPr>
            <p:ph type="sldImg"/>
          </p:nvPr>
        </p:nvSpPr>
        <p:spPr>
          <a:ln/>
        </p:spPr>
      </p:sp>
      <p:sp>
        <p:nvSpPr>
          <p:cNvPr id="29699" name="备注占位符 2">
            <a:extLst>
              <a:ext uri="{FF2B5EF4-FFF2-40B4-BE49-F238E27FC236}">
                <a16:creationId xmlns:a16="http://schemas.microsoft.com/office/drawing/2014/main" id="{2A033232-FAAD-48A2-BAF5-2032777745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9700" name="灯片编号占位符 3">
            <a:extLst>
              <a:ext uri="{FF2B5EF4-FFF2-40B4-BE49-F238E27FC236}">
                <a16:creationId xmlns:a16="http://schemas.microsoft.com/office/drawing/2014/main" id="{19758606-304F-4246-B3DD-BC1301D802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9139A9A-0992-45D8-AEF4-CCCCBC12F9B7}" type="slidenum">
              <a:rPr lang="en-US" altLang="zh-CN"/>
              <a:pPr>
                <a:spcBef>
                  <a:spcPct val="0"/>
                </a:spcBef>
              </a:pPr>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1F426C8E-0D9F-43CB-AF76-0406BA1DE1FE}"/>
              </a:ext>
            </a:extLst>
          </p:cNvPr>
          <p:cNvSpPr>
            <a:spLocks noGrp="1" noRot="1" noChangeAspect="1" noTextEdit="1"/>
          </p:cNvSpPr>
          <p:nvPr>
            <p:ph type="sldImg"/>
          </p:nvPr>
        </p:nvSpPr>
        <p:spPr>
          <a:ln/>
        </p:spPr>
      </p:sp>
      <p:sp>
        <p:nvSpPr>
          <p:cNvPr id="31747" name="备注占位符 2">
            <a:extLst>
              <a:ext uri="{FF2B5EF4-FFF2-40B4-BE49-F238E27FC236}">
                <a16:creationId xmlns:a16="http://schemas.microsoft.com/office/drawing/2014/main" id="{67711AB0-D96B-4FE7-8DDD-DA4CD95FDB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1748" name="灯片编号占位符 3">
            <a:extLst>
              <a:ext uri="{FF2B5EF4-FFF2-40B4-BE49-F238E27FC236}">
                <a16:creationId xmlns:a16="http://schemas.microsoft.com/office/drawing/2014/main" id="{725D5AFB-5857-4D92-BC12-EDE1AFF730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12170E5-D96A-4194-8EE4-6A7A8A368ACE}" type="slidenum">
              <a:rPr lang="en-US" altLang="zh-CN"/>
              <a:pPr>
                <a:spcBef>
                  <a:spcPct val="0"/>
                </a:spcBef>
              </a:pPr>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7312456D-58B5-4AE0-8E13-16BC7D9CF507}"/>
              </a:ext>
            </a:extLst>
          </p:cNvPr>
          <p:cNvSpPr>
            <a:spLocks noGrp="1" noRot="1" noChangeAspect="1" noTextEdit="1"/>
          </p:cNvSpPr>
          <p:nvPr>
            <p:ph type="sldImg"/>
          </p:nvPr>
        </p:nvSpPr>
        <p:spPr>
          <a:ln/>
        </p:spPr>
      </p:sp>
      <p:sp>
        <p:nvSpPr>
          <p:cNvPr id="33795" name="备注占位符 2">
            <a:extLst>
              <a:ext uri="{FF2B5EF4-FFF2-40B4-BE49-F238E27FC236}">
                <a16:creationId xmlns:a16="http://schemas.microsoft.com/office/drawing/2014/main" id="{23946702-C5ED-4378-BB55-07694C52D2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3796" name="灯片编号占位符 3">
            <a:extLst>
              <a:ext uri="{FF2B5EF4-FFF2-40B4-BE49-F238E27FC236}">
                <a16:creationId xmlns:a16="http://schemas.microsoft.com/office/drawing/2014/main" id="{37B3E7E3-5358-4000-AE2C-C7F1FDC82B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5505310-212E-4296-AF85-6F0027CBC456}" type="slidenum">
              <a:rPr lang="en-US" altLang="zh-CN"/>
              <a:pPr>
                <a:spcBef>
                  <a:spcPct val="0"/>
                </a:spcBef>
              </a:pPr>
              <a:t>8</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F262722-8B0F-4979-AFD1-D7ED3BE5DE5B}"/>
              </a:ext>
            </a:extLst>
          </p:cNvPr>
          <p:cNvSpPr>
            <a:spLocks noGrp="1" noRot="1" noChangeAspect="1" noTextEdit="1"/>
          </p:cNvSpPr>
          <p:nvPr>
            <p:ph type="sldImg"/>
          </p:nvPr>
        </p:nvSpPr>
        <p:spPr>
          <a:ln/>
        </p:spPr>
      </p:sp>
      <p:sp>
        <p:nvSpPr>
          <p:cNvPr id="35843" name="备注占位符 2">
            <a:extLst>
              <a:ext uri="{FF2B5EF4-FFF2-40B4-BE49-F238E27FC236}">
                <a16:creationId xmlns:a16="http://schemas.microsoft.com/office/drawing/2014/main" id="{EE843B82-F87D-48C3-8973-DF0CAB01F0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5844" name="灯片编号占位符 3">
            <a:extLst>
              <a:ext uri="{FF2B5EF4-FFF2-40B4-BE49-F238E27FC236}">
                <a16:creationId xmlns:a16="http://schemas.microsoft.com/office/drawing/2014/main" id="{96F1FCC6-66BD-429B-B74F-E7D9946195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7B952A2-C0BA-4FC6-A68D-AC4984C82012}" type="slidenum">
              <a:rPr lang="en-US" altLang="zh-CN"/>
              <a:pPr>
                <a:spcBef>
                  <a:spcPct val="0"/>
                </a:spcBef>
              </a:pPr>
              <a:t>9</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87EBD49B-FE47-4F44-B56E-2215414C3957}"/>
              </a:ext>
            </a:extLst>
          </p:cNvPr>
          <p:cNvSpPr>
            <a:spLocks noGrp="1" noRot="1" noChangeAspect="1" noTextEdit="1"/>
          </p:cNvSpPr>
          <p:nvPr>
            <p:ph type="sldImg"/>
          </p:nvPr>
        </p:nvSpPr>
        <p:spPr>
          <a:ln/>
        </p:spPr>
      </p:sp>
      <p:sp>
        <p:nvSpPr>
          <p:cNvPr id="37891" name="备注占位符 2">
            <a:extLst>
              <a:ext uri="{FF2B5EF4-FFF2-40B4-BE49-F238E27FC236}">
                <a16:creationId xmlns:a16="http://schemas.microsoft.com/office/drawing/2014/main" id="{DC5C7985-2676-412D-99B3-A8AF6AA05E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7892" name="灯片编号占位符 3">
            <a:extLst>
              <a:ext uri="{FF2B5EF4-FFF2-40B4-BE49-F238E27FC236}">
                <a16:creationId xmlns:a16="http://schemas.microsoft.com/office/drawing/2014/main" id="{3067B6AA-E8F5-4344-9342-AF654FA99D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819DB93-6666-40A6-A87C-AA18E431C2F7}" type="slidenum">
              <a:rPr lang="en-US" altLang="zh-CN"/>
              <a:pPr>
                <a:spcBef>
                  <a:spcPct val="0"/>
                </a:spcBef>
              </a:pPr>
              <a:t>10</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3CE89DD7-C1BD-447A-A987-CDF2CFAD5395}"/>
              </a:ext>
            </a:extLst>
          </p:cNvPr>
          <p:cNvSpPr>
            <a:spLocks noGrp="1" noRot="1" noChangeAspect="1" noTextEdit="1"/>
          </p:cNvSpPr>
          <p:nvPr>
            <p:ph type="sldImg"/>
          </p:nvPr>
        </p:nvSpPr>
        <p:spPr>
          <a:ln/>
        </p:spPr>
      </p:sp>
      <p:sp>
        <p:nvSpPr>
          <p:cNvPr id="39939" name="备注占位符 2">
            <a:extLst>
              <a:ext uri="{FF2B5EF4-FFF2-40B4-BE49-F238E27FC236}">
                <a16:creationId xmlns:a16="http://schemas.microsoft.com/office/drawing/2014/main" id="{DC081249-F61B-412F-ACD8-F041596936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9940" name="灯片编号占位符 3">
            <a:extLst>
              <a:ext uri="{FF2B5EF4-FFF2-40B4-BE49-F238E27FC236}">
                <a16:creationId xmlns:a16="http://schemas.microsoft.com/office/drawing/2014/main" id="{65222C04-EA3B-4CE3-B07D-2B15ADF8B2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3B81351-34D9-4AB6-9C01-10BC13084F12}" type="slidenum">
              <a:rPr lang="en-US" altLang="zh-CN"/>
              <a:pPr>
                <a:spcBef>
                  <a:spcPct val="0"/>
                </a:spcBef>
              </a:pPr>
              <a:t>11</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78AA0D02-3754-4ABC-9016-9A98BEF1E6A7}"/>
              </a:ext>
            </a:extLst>
          </p:cNvPr>
          <p:cNvSpPr>
            <a:spLocks noGrp="1" noRot="1" noChangeAspect="1" noTextEdit="1"/>
          </p:cNvSpPr>
          <p:nvPr>
            <p:ph type="sldImg"/>
          </p:nvPr>
        </p:nvSpPr>
        <p:spPr>
          <a:ln/>
        </p:spPr>
      </p:sp>
      <p:sp>
        <p:nvSpPr>
          <p:cNvPr id="41987" name="备注占位符 2">
            <a:extLst>
              <a:ext uri="{FF2B5EF4-FFF2-40B4-BE49-F238E27FC236}">
                <a16:creationId xmlns:a16="http://schemas.microsoft.com/office/drawing/2014/main" id="{B628BA3E-9C35-409E-B1D3-9D81E79B5F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1988" name="灯片编号占位符 3">
            <a:extLst>
              <a:ext uri="{FF2B5EF4-FFF2-40B4-BE49-F238E27FC236}">
                <a16:creationId xmlns:a16="http://schemas.microsoft.com/office/drawing/2014/main" id="{59D00FCF-7A70-484F-BADD-56BE73D5BB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ABC17B8-40E9-40B4-9CB3-02221A6A5555}" type="slidenum">
              <a:rPr lang="en-US" altLang="zh-CN"/>
              <a:pPr>
                <a:spcBef>
                  <a:spcPct val="0"/>
                </a:spcBef>
              </a:pPr>
              <a:t>12</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8DF3421E-C32A-4654-8171-B652AF51C087}"/>
              </a:ext>
            </a:extLst>
          </p:cNvPr>
          <p:cNvSpPr>
            <a:spLocks noGrp="1" noRot="1" noChangeAspect="1" noTextEdit="1"/>
          </p:cNvSpPr>
          <p:nvPr>
            <p:ph type="sldImg"/>
          </p:nvPr>
        </p:nvSpPr>
        <p:spPr>
          <a:ln/>
        </p:spPr>
      </p:sp>
      <p:sp>
        <p:nvSpPr>
          <p:cNvPr id="44035" name="备注占位符 2">
            <a:extLst>
              <a:ext uri="{FF2B5EF4-FFF2-40B4-BE49-F238E27FC236}">
                <a16:creationId xmlns:a16="http://schemas.microsoft.com/office/drawing/2014/main" id="{91C8966D-A96D-4AF6-A6CA-CB5E41D679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4036" name="灯片编号占位符 3">
            <a:extLst>
              <a:ext uri="{FF2B5EF4-FFF2-40B4-BE49-F238E27FC236}">
                <a16:creationId xmlns:a16="http://schemas.microsoft.com/office/drawing/2014/main" id="{D0366DB6-6876-46F5-9F27-FB3DF6F6EA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1EAEF0-0A1E-4E4E-9905-EC154251E53F}" type="slidenum">
              <a:rPr lang="en-US" altLang="zh-CN"/>
              <a:pPr>
                <a:spcBef>
                  <a:spcPct val="0"/>
                </a:spcBef>
              </a:pPr>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5200F908-57FF-4B97-9847-2D6B55AFA37D}"/>
              </a:ext>
            </a:extLst>
          </p:cNvPr>
          <p:cNvSpPr>
            <a:spLocks noGrp="1" noRot="1" noChangeAspect="1" noTextEdit="1"/>
          </p:cNvSpPr>
          <p:nvPr>
            <p:ph type="sldImg"/>
          </p:nvPr>
        </p:nvSpPr>
        <p:spPr>
          <a:ln/>
        </p:spPr>
      </p:sp>
      <p:sp>
        <p:nvSpPr>
          <p:cNvPr id="46083" name="备注占位符 2">
            <a:extLst>
              <a:ext uri="{FF2B5EF4-FFF2-40B4-BE49-F238E27FC236}">
                <a16:creationId xmlns:a16="http://schemas.microsoft.com/office/drawing/2014/main" id="{682F78F1-1EB6-4B44-9D54-36E59844D5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6084" name="灯片编号占位符 3">
            <a:extLst>
              <a:ext uri="{FF2B5EF4-FFF2-40B4-BE49-F238E27FC236}">
                <a16:creationId xmlns:a16="http://schemas.microsoft.com/office/drawing/2014/main" id="{DA41D97F-B21F-4F34-83A9-2B6F8D2B6D9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44C5734-1601-47B7-A790-68F10C8BD111}" type="slidenum">
              <a:rPr lang="en-US" altLang="zh-CN"/>
              <a:pPr>
                <a:spcBef>
                  <a:spcPct val="0"/>
                </a:spcBef>
              </a:pPr>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1370E333-9CBE-4F52-B671-714C1C087511}"/>
              </a:ext>
            </a:extLst>
          </p:cNvPr>
          <p:cNvSpPr>
            <a:spLocks noGrp="1" noRot="1" noChangeAspect="1" noTextEdit="1"/>
          </p:cNvSpPr>
          <p:nvPr>
            <p:ph type="sldImg"/>
          </p:nvPr>
        </p:nvSpPr>
        <p:spPr>
          <a:ln/>
        </p:spPr>
      </p:sp>
      <p:sp>
        <p:nvSpPr>
          <p:cNvPr id="48131" name="备注占位符 2">
            <a:extLst>
              <a:ext uri="{FF2B5EF4-FFF2-40B4-BE49-F238E27FC236}">
                <a16:creationId xmlns:a16="http://schemas.microsoft.com/office/drawing/2014/main" id="{0F23DE03-FDFB-432D-B7FC-1ED3EBF730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8132" name="灯片编号占位符 3">
            <a:extLst>
              <a:ext uri="{FF2B5EF4-FFF2-40B4-BE49-F238E27FC236}">
                <a16:creationId xmlns:a16="http://schemas.microsoft.com/office/drawing/2014/main" id="{09D43A50-06EA-4C20-ADED-B5B653D3DB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05189E-F7BA-4F84-9573-4C7DE0967B79}" type="slidenum">
              <a:rPr lang="en-US" altLang="zh-CN"/>
              <a:pPr>
                <a:spcBef>
                  <a:spcPct val="0"/>
                </a:spcBef>
              </a:pPr>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2AD0A9D9-B839-4F08-A93F-D3A2DCDF972D}"/>
              </a:ext>
            </a:extLst>
          </p:cNvPr>
          <p:cNvSpPr>
            <a:spLocks noGrp="1" noRot="1" noChangeAspect="1" noTextEdit="1"/>
          </p:cNvSpPr>
          <p:nvPr>
            <p:ph type="sldImg"/>
          </p:nvPr>
        </p:nvSpPr>
        <p:spPr>
          <a:ln/>
        </p:spPr>
      </p:sp>
      <p:sp>
        <p:nvSpPr>
          <p:cNvPr id="50179" name="备注占位符 2">
            <a:extLst>
              <a:ext uri="{FF2B5EF4-FFF2-40B4-BE49-F238E27FC236}">
                <a16:creationId xmlns:a16="http://schemas.microsoft.com/office/drawing/2014/main" id="{53AFAF7C-0647-4D6D-9498-2041A2B47D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0180" name="灯片编号占位符 3">
            <a:extLst>
              <a:ext uri="{FF2B5EF4-FFF2-40B4-BE49-F238E27FC236}">
                <a16:creationId xmlns:a16="http://schemas.microsoft.com/office/drawing/2014/main" id="{EB80253F-4FD4-41A2-9EB7-766C304CC2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510BE9B-FA21-4DEA-A0BA-50BD580DB8AE}" type="slidenum">
              <a:rPr lang="en-US" altLang="zh-CN"/>
              <a:pPr>
                <a:spcBef>
                  <a:spcPct val="0"/>
                </a:spcBef>
              </a:pPr>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22C3ACA1-2744-4D77-AE4B-C185FDBB3DC8}"/>
              </a:ext>
            </a:extLst>
          </p:cNvPr>
          <p:cNvSpPr>
            <a:spLocks noGrp="1" noRot="1" noChangeAspect="1" noTextEdit="1"/>
          </p:cNvSpPr>
          <p:nvPr>
            <p:ph type="sldImg"/>
          </p:nvPr>
        </p:nvSpPr>
        <p:spPr>
          <a:ln/>
        </p:spPr>
      </p:sp>
      <p:sp>
        <p:nvSpPr>
          <p:cNvPr id="52227" name="备注占位符 2">
            <a:extLst>
              <a:ext uri="{FF2B5EF4-FFF2-40B4-BE49-F238E27FC236}">
                <a16:creationId xmlns:a16="http://schemas.microsoft.com/office/drawing/2014/main" id="{EC9C1E20-1A69-4465-AB37-64A0A5E29F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2228" name="灯片编号占位符 3">
            <a:extLst>
              <a:ext uri="{FF2B5EF4-FFF2-40B4-BE49-F238E27FC236}">
                <a16:creationId xmlns:a16="http://schemas.microsoft.com/office/drawing/2014/main" id="{F7538D2B-A9DB-4BAF-A7DA-A72C33ECD0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5E64B5-4D3D-4434-9E07-86F357DECFBF}" type="slidenum">
              <a:rPr lang="en-US" altLang="zh-CN"/>
              <a:pPr>
                <a:spcBef>
                  <a:spcPct val="0"/>
                </a:spcBef>
              </a:pPr>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FA8950BA-9E6C-4D05-9370-56AF013BA311}"/>
              </a:ext>
            </a:extLst>
          </p:cNvPr>
          <p:cNvSpPr>
            <a:spLocks noGrp="1" noRot="1" noChangeAspect="1" noTextEdit="1"/>
          </p:cNvSpPr>
          <p:nvPr>
            <p:ph type="sldImg"/>
          </p:nvPr>
        </p:nvSpPr>
        <p:spPr>
          <a:ln/>
        </p:spPr>
      </p:sp>
      <p:sp>
        <p:nvSpPr>
          <p:cNvPr id="54275" name="备注占位符 2">
            <a:extLst>
              <a:ext uri="{FF2B5EF4-FFF2-40B4-BE49-F238E27FC236}">
                <a16:creationId xmlns:a16="http://schemas.microsoft.com/office/drawing/2014/main" id="{98B0E407-3BFB-4AF8-8BD8-67DBEFEDC2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4276" name="灯片编号占位符 3">
            <a:extLst>
              <a:ext uri="{FF2B5EF4-FFF2-40B4-BE49-F238E27FC236}">
                <a16:creationId xmlns:a16="http://schemas.microsoft.com/office/drawing/2014/main" id="{41ABCD65-653F-4D6C-A8F2-3E36B132A9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663934-3B24-4728-BCE6-78C67DFF40B9}" type="slidenum">
              <a:rPr lang="en-US" altLang="zh-CN"/>
              <a:pPr>
                <a:spcBef>
                  <a:spcPct val="0"/>
                </a:spcBef>
              </a:pPr>
              <a:t>18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Microsoft" TargetMode="External"/><Relationship Id="rId2" Type="http://schemas.openxmlformats.org/officeDocument/2006/relationships/hyperlink" Target="http://en.wikipedia.org/wiki/IBM" TargetMode="External"/><Relationship Id="rId1" Type="http://schemas.openxmlformats.org/officeDocument/2006/relationships/slideLayout" Target="../slideLayouts/slideLayout2.xml"/><Relationship Id="rId6" Type="http://schemas.openxmlformats.org/officeDocument/2006/relationships/hyperlink" Target="http://en.wikipedia.org/wiki/SDL" TargetMode="External"/><Relationship Id="rId5" Type="http://schemas.openxmlformats.org/officeDocument/2006/relationships/hyperlink" Target="http://en.wikipedia.org/w/index.php?title=NASSL&amp;action=edit&amp;redlink=1" TargetMode="External"/><Relationship Id="rId4" Type="http://schemas.openxmlformats.org/officeDocument/2006/relationships/hyperlink" Target="http://en.wikipedia.org/wiki/Ariba"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w3.org/TR/2006/REC-xml-names-20060816/#ns-qualname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w3.org/TR/2006/REC-xml-names-20060816/#ns-qualname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w3.org/TR/2006/REC-xml-names-20060816/#ns-qualname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WSDL-PART2"/></Relationships>
</file>

<file path=ppt/slides/_rels/slide11.xml.rels><?xml version="1.0" encoding="UTF-8" standalone="yes"?>
<Relationships xmlns="http://schemas.openxmlformats.org/package/2006/relationships"><Relationship Id="rId3" Type="http://schemas.openxmlformats.org/officeDocument/2006/relationships/hyperlink" Target="#more-interfaces-operations"/><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www.w3.org/TR/2007/REC-wsdl20-adjuncts-20070626#_operation_iri_style" TargetMode="External"/><Relationship Id="rId4" Type="http://schemas.openxmlformats.org/officeDocument/2006/relationships/hyperlink" Target="http://www.w3.org/TR/2007/REC-wsdl20-adjuncts-20070626#in-out"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SOAP12-PART1"/><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WSDL-PART2"/><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ore-interfaces-operations"/><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www.w3.org/TR/2007/REC-wsdl20-adjuncts-20070626#soap-defaults" TargetMode="External"/><Relationship Id="rId4" Type="http://schemas.openxmlformats.org/officeDocument/2006/relationships/hyperlink" Target="04%20WSDL.ppt"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04%20WSDL.ppt" TargetMode="External"/><Relationship Id="rId4" Type="http://schemas.openxmlformats.org/officeDocument/2006/relationships/hyperlink" Target="http://www.w3.org/TR/2007/REC-wsdl20-adjuncts-20070626#soap-default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wsdl-infoset-diagram"/><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upload.wikimedia.org/wikipedia/commons/c/c2/WSDL_11vs20.png" TargetMode="External"/><Relationship Id="rId2" Type="http://schemas.openxmlformats.org/officeDocument/2006/relationships/hyperlink" Target="http://www.w3.org/2006/02/WSDLConvert.html"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WSDL Basis</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6C3275F-3C8B-402A-B398-8CE39713E960}"/>
              </a:ext>
            </a:extLst>
          </p:cNvPr>
          <p:cNvSpPr>
            <a:spLocks noGrp="1" noChangeArrowheads="1"/>
          </p:cNvSpPr>
          <p:nvPr>
            <p:ph type="title"/>
          </p:nvPr>
        </p:nvSpPr>
        <p:spPr/>
        <p:txBody>
          <a:bodyPr/>
          <a:lstStyle/>
          <a:p>
            <a:r>
              <a:rPr lang="en-US" altLang="zh-CN"/>
              <a:t>Basic Concepts of WSDL</a:t>
            </a:r>
          </a:p>
        </p:txBody>
      </p:sp>
      <p:sp>
        <p:nvSpPr>
          <p:cNvPr id="36868" name="Rectangle 3">
            <a:extLst>
              <a:ext uri="{FF2B5EF4-FFF2-40B4-BE49-F238E27FC236}">
                <a16:creationId xmlns:a16="http://schemas.microsoft.com/office/drawing/2014/main" id="{86E54A3E-8756-4FF3-A66A-7A6FE2CBA92C}"/>
              </a:ext>
            </a:extLst>
          </p:cNvPr>
          <p:cNvSpPr>
            <a:spLocks noGrp="1" noChangeArrowheads="1"/>
          </p:cNvSpPr>
          <p:nvPr>
            <p:ph idx="1"/>
          </p:nvPr>
        </p:nvSpPr>
        <p:spPr/>
        <p:txBody>
          <a:bodyPr>
            <a:normAutofit fontScale="70000" lnSpcReduction="20000"/>
          </a:bodyPr>
          <a:lstStyle/>
          <a:p>
            <a:pPr>
              <a:lnSpc>
                <a:spcPct val="120000"/>
              </a:lnSpc>
              <a:defRPr/>
            </a:pPr>
            <a:r>
              <a:rPr lang="en-US" altLang="zh-CN" dirty="0"/>
              <a:t>WSDL is “an XML format for describing network services as a set of endpoints operating on messages containing either document-oriented or procedure-oriented information” </a:t>
            </a:r>
          </a:p>
          <a:p>
            <a:pPr>
              <a:lnSpc>
                <a:spcPct val="120000"/>
              </a:lnSpc>
              <a:defRPr/>
            </a:pPr>
            <a:r>
              <a:rPr lang="en-US" altLang="zh-CN" dirty="0"/>
              <a:t>Includes </a:t>
            </a:r>
          </a:p>
          <a:p>
            <a:pPr lvl="1">
              <a:lnSpc>
                <a:spcPct val="120000"/>
              </a:lnSpc>
              <a:defRPr/>
            </a:pPr>
            <a:r>
              <a:rPr lang="en-US" altLang="zh-CN" dirty="0"/>
              <a:t>Functionalities</a:t>
            </a:r>
          </a:p>
          <a:p>
            <a:pPr lvl="1">
              <a:lnSpc>
                <a:spcPct val="120000"/>
              </a:lnSpc>
              <a:defRPr/>
            </a:pPr>
            <a:r>
              <a:rPr lang="en-US" altLang="zh-CN" dirty="0"/>
              <a:t>Message formats</a:t>
            </a:r>
          </a:p>
          <a:p>
            <a:pPr lvl="2">
              <a:lnSpc>
                <a:spcPct val="120000"/>
              </a:lnSpc>
              <a:defRPr/>
            </a:pPr>
            <a:r>
              <a:rPr lang="en-US" altLang="zh-CN" dirty="0"/>
              <a:t>How to interpret the data type passed in messages</a:t>
            </a:r>
          </a:p>
          <a:p>
            <a:pPr lvl="1">
              <a:lnSpc>
                <a:spcPct val="120000"/>
              </a:lnSpc>
              <a:defRPr/>
            </a:pPr>
            <a:r>
              <a:rPr lang="en-US" altLang="zh-CN" dirty="0"/>
              <a:t>Protocol binding</a:t>
            </a:r>
          </a:p>
          <a:p>
            <a:pPr lvl="2">
              <a:lnSpc>
                <a:spcPct val="120000"/>
              </a:lnSpc>
              <a:defRPr/>
            </a:pPr>
            <a:r>
              <a:rPr lang="en-US" altLang="zh-CN" dirty="0"/>
              <a:t>How to map the messages onto concrete network transports</a:t>
            </a:r>
          </a:p>
          <a:p>
            <a:pPr>
              <a:lnSpc>
                <a:spcPct val="120000"/>
              </a:lnSpc>
              <a:defRPr/>
            </a:pPr>
            <a:r>
              <a:rPr lang="en-US" altLang="zh-CN" dirty="0"/>
              <a:t>Answers</a:t>
            </a:r>
          </a:p>
          <a:p>
            <a:pPr lvl="1">
              <a:lnSpc>
                <a:spcPct val="120000"/>
              </a:lnSpc>
              <a:defRPr/>
            </a:pPr>
            <a:r>
              <a:rPr lang="en-US" altLang="zh-CN" dirty="0"/>
              <a:t>What is the service about? </a:t>
            </a:r>
          </a:p>
          <a:p>
            <a:pPr lvl="1">
              <a:lnSpc>
                <a:spcPct val="120000"/>
              </a:lnSpc>
              <a:defRPr/>
            </a:pPr>
            <a:r>
              <a:rPr lang="en-US" altLang="zh-CN" dirty="0"/>
              <a:t>Where does it reside? </a:t>
            </a:r>
          </a:p>
          <a:p>
            <a:pPr lvl="1">
              <a:lnSpc>
                <a:spcPct val="120000"/>
              </a:lnSpc>
              <a:defRPr/>
            </a:pPr>
            <a:r>
              <a:rPr lang="en-US" altLang="zh-CN" dirty="0"/>
              <a:t>How can it be invoked?</a:t>
            </a:r>
          </a:p>
          <a:p>
            <a:pPr>
              <a:lnSpc>
                <a:spcPct val="120000"/>
              </a:lnSpc>
              <a:defRPr/>
            </a:pPr>
            <a:r>
              <a:rPr lang="en-US" altLang="zh-CN" dirty="0"/>
              <a:t>Often used in combination with SOAP and XML schema</a:t>
            </a:r>
          </a:p>
        </p:txBody>
      </p:sp>
      <p:sp>
        <p:nvSpPr>
          <p:cNvPr id="21508" name="灯片编号占位符 5">
            <a:extLst>
              <a:ext uri="{FF2B5EF4-FFF2-40B4-BE49-F238E27FC236}">
                <a16:creationId xmlns:a16="http://schemas.microsoft.com/office/drawing/2014/main" id="{BAC28B73-0908-44E7-91B0-B1DA65A786D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rgbClr val="CCCCFF"/>
              </a:buClr>
              <a:buFont typeface="Wingdings" panose="05000000000000000000" pitchFamily="2" charset="2"/>
              <a:buNone/>
            </a:pPr>
            <a:fld id="{E256E1C0-B014-4778-80A7-624B6CBF5AE4}" type="slidenum">
              <a:rPr lang="en-US" altLang="zh-CN" sz="1000">
                <a:solidFill>
                  <a:srgbClr val="000000"/>
                </a:solidFill>
              </a:rPr>
              <a:pPr>
                <a:buClr>
                  <a:srgbClr val="CCCCFF"/>
                </a:buClr>
                <a:buFont typeface="Wingdings" panose="05000000000000000000" pitchFamily="2" charset="2"/>
                <a:buNone/>
              </a:pPr>
              <a:t>2</a:t>
            </a:fld>
            <a:endParaRPr lang="en-US" altLang="zh-CN" sz="1000">
              <a:solidFill>
                <a:srgbClr val="00000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AAB0B929-B623-4B7A-BAA2-EC4816DB6704}"/>
              </a:ext>
            </a:extLst>
          </p:cNvPr>
          <p:cNvSpPr>
            <a:spLocks noGrp="1"/>
          </p:cNvSpPr>
          <p:nvPr>
            <p:ph type="title"/>
          </p:nvPr>
        </p:nvSpPr>
        <p:spPr/>
        <p:txBody>
          <a:bodyPr/>
          <a:lstStyle/>
          <a:p>
            <a:r>
              <a:rPr lang="en-US" altLang="zh-CN"/>
              <a:t>The History of WSDL</a:t>
            </a:r>
            <a:endParaRPr lang="zh-CN" altLang="en-US"/>
          </a:p>
        </p:txBody>
      </p:sp>
      <p:sp>
        <p:nvSpPr>
          <p:cNvPr id="3" name="内容占位符 2">
            <a:extLst>
              <a:ext uri="{FF2B5EF4-FFF2-40B4-BE49-F238E27FC236}">
                <a16:creationId xmlns:a16="http://schemas.microsoft.com/office/drawing/2014/main" id="{59422500-338D-4DD8-A3A4-62D22587D225}"/>
              </a:ext>
            </a:extLst>
          </p:cNvPr>
          <p:cNvSpPr>
            <a:spLocks noGrp="1"/>
          </p:cNvSpPr>
          <p:nvPr>
            <p:ph idx="1"/>
          </p:nvPr>
        </p:nvSpPr>
        <p:spPr/>
        <p:txBody>
          <a:bodyPr>
            <a:normAutofit fontScale="92500" lnSpcReduction="20000"/>
          </a:bodyPr>
          <a:lstStyle/>
          <a:p>
            <a:pPr>
              <a:lnSpc>
                <a:spcPct val="120000"/>
              </a:lnSpc>
              <a:defRPr/>
            </a:pPr>
            <a:r>
              <a:rPr lang="en-US" altLang="zh-CN" sz="2400" dirty="0"/>
              <a:t>WSDL 1.0 (Sept. 2000) has been developed by </a:t>
            </a:r>
            <a:r>
              <a:rPr lang="en-US" altLang="zh-CN" sz="2400" dirty="0">
                <a:hlinkClick r:id="rId2" action="ppaction://hlinkfile" tooltip="IBM"/>
              </a:rPr>
              <a:t>IBM</a:t>
            </a:r>
            <a:r>
              <a:rPr lang="en-US" altLang="zh-CN" sz="2400" dirty="0"/>
              <a:t>, </a:t>
            </a:r>
            <a:r>
              <a:rPr lang="en-US" altLang="zh-CN" sz="2400" dirty="0">
                <a:hlinkClick r:id="rId3" action="ppaction://hlinkfile" tooltip="Microsoft"/>
              </a:rPr>
              <a:t>Microsoft</a:t>
            </a:r>
            <a:r>
              <a:rPr lang="en-US" altLang="zh-CN" sz="2400" dirty="0"/>
              <a:t>, and </a:t>
            </a:r>
            <a:r>
              <a:rPr lang="en-US" altLang="zh-CN" sz="2400" dirty="0" err="1">
                <a:hlinkClick r:id="rId4" action="ppaction://hlinkfile" tooltip="Ariba"/>
              </a:rPr>
              <a:t>Ariba</a:t>
            </a:r>
            <a:r>
              <a:rPr lang="en-US" altLang="zh-CN" sz="2400" dirty="0"/>
              <a:t> to describe Web Services for their SOAP toolkit</a:t>
            </a:r>
          </a:p>
          <a:p>
            <a:pPr lvl="1">
              <a:lnSpc>
                <a:spcPct val="120000"/>
              </a:lnSpc>
              <a:defRPr/>
            </a:pPr>
            <a:r>
              <a:rPr lang="en-US" altLang="zh-CN" sz="1800" dirty="0"/>
              <a:t>It was built by combining two service description languages: </a:t>
            </a:r>
            <a:r>
              <a:rPr lang="en-US" altLang="zh-CN" sz="1800" dirty="0">
                <a:hlinkClick r:id="rId5" action="ppaction://hlinkfile" tooltip="NASSL (page does not exist)"/>
              </a:rPr>
              <a:t>NASSL</a:t>
            </a:r>
            <a:r>
              <a:rPr lang="en-US" altLang="zh-CN" sz="1800" dirty="0"/>
              <a:t> (Network Application Service Specification Language) from IBM and </a:t>
            </a:r>
            <a:r>
              <a:rPr lang="en-US" altLang="zh-CN" sz="1800" dirty="0">
                <a:hlinkClick r:id="rId6" action="ppaction://hlinkfile" tooltip="SDL"/>
              </a:rPr>
              <a:t>SDL</a:t>
            </a:r>
            <a:r>
              <a:rPr lang="en-US" altLang="zh-CN" sz="1800" dirty="0"/>
              <a:t> (Service Description Language) from Microsoft</a:t>
            </a:r>
          </a:p>
          <a:p>
            <a:pPr>
              <a:lnSpc>
                <a:spcPct val="120000"/>
              </a:lnSpc>
              <a:defRPr/>
            </a:pPr>
            <a:r>
              <a:rPr lang="en-US" altLang="zh-CN" sz="2400" dirty="0"/>
              <a:t>WSDL 1.1 (March 2001) is the formalization of WSDL 1.0. (No major changes)</a:t>
            </a:r>
          </a:p>
          <a:p>
            <a:pPr>
              <a:lnSpc>
                <a:spcPct val="120000"/>
              </a:lnSpc>
              <a:defRPr/>
            </a:pPr>
            <a:r>
              <a:rPr lang="en-US" altLang="zh-CN" sz="2400" dirty="0"/>
              <a:t>WSDL 1.2 (June 2003) was a working draft at W3C</a:t>
            </a:r>
          </a:p>
          <a:p>
            <a:pPr lvl="1">
              <a:lnSpc>
                <a:spcPct val="120000"/>
              </a:lnSpc>
              <a:defRPr/>
            </a:pPr>
            <a:r>
              <a:rPr lang="en-US" altLang="zh-CN" sz="2000" dirty="0"/>
              <a:t>WSDL 1.2 is easier and more flexible for developers</a:t>
            </a:r>
          </a:p>
          <a:p>
            <a:pPr lvl="1">
              <a:lnSpc>
                <a:spcPct val="120000"/>
              </a:lnSpc>
              <a:defRPr/>
            </a:pPr>
            <a:r>
              <a:rPr lang="en-US" altLang="zh-CN" sz="2000" dirty="0"/>
              <a:t>WSDL 1.2 attempts to remove non-interoperable features and also defines the HTTP 1.1 binding better</a:t>
            </a:r>
          </a:p>
          <a:p>
            <a:pPr lvl="1">
              <a:lnSpc>
                <a:spcPct val="120000"/>
              </a:lnSpc>
              <a:defRPr/>
            </a:pPr>
            <a:r>
              <a:rPr lang="en-US" altLang="zh-CN" sz="2000" dirty="0"/>
              <a:t>WSDL 1.2 was not supported by most SOAP servers/vendors</a:t>
            </a:r>
          </a:p>
          <a:p>
            <a:pPr>
              <a:lnSpc>
                <a:spcPct val="120000"/>
              </a:lnSpc>
              <a:defRPr/>
            </a:pPr>
            <a:r>
              <a:rPr lang="en-US" altLang="zh-CN" sz="2400" dirty="0"/>
              <a:t>WSDL 2.0 (June 2007) became a W3C recommendation. It is renamed from WSDL 1.2</a:t>
            </a:r>
          </a:p>
        </p:txBody>
      </p:sp>
      <p:sp>
        <p:nvSpPr>
          <p:cNvPr id="23556" name="灯片编号占位符 3">
            <a:extLst>
              <a:ext uri="{FF2B5EF4-FFF2-40B4-BE49-F238E27FC236}">
                <a16:creationId xmlns:a16="http://schemas.microsoft.com/office/drawing/2014/main" id="{5B2DC35E-D4A0-4713-8476-03BB56A2E4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rgbClr val="CCCCFF"/>
              </a:buClr>
              <a:buFont typeface="Wingdings" panose="05000000000000000000" pitchFamily="2" charset="2"/>
              <a:buNone/>
            </a:pPr>
            <a:fld id="{626D9037-32C3-4373-801C-CB0E62CA3609}" type="slidenum">
              <a:rPr lang="en-US" altLang="zh-CN" sz="1000">
                <a:solidFill>
                  <a:srgbClr val="000000"/>
                </a:solidFill>
              </a:rPr>
              <a:pPr>
                <a:buClr>
                  <a:srgbClr val="CCCCFF"/>
                </a:buClr>
                <a:buFont typeface="Wingdings" panose="05000000000000000000" pitchFamily="2" charset="2"/>
                <a:buNone/>
              </a:pPr>
              <a:t>3</a:t>
            </a:fld>
            <a:endParaRPr lang="en-US" altLang="zh-CN" sz="1000">
              <a:solidFill>
                <a:srgbClr val="00000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3AAAB348-30A1-411A-9FC8-578E8555DD43}"/>
              </a:ext>
            </a:extLst>
          </p:cNvPr>
          <p:cNvSpPr>
            <a:spLocks noGrp="1"/>
          </p:cNvSpPr>
          <p:nvPr>
            <p:ph type="title"/>
          </p:nvPr>
        </p:nvSpPr>
        <p:spPr/>
        <p:txBody>
          <a:bodyPr>
            <a:normAutofit fontScale="90000"/>
          </a:bodyPr>
          <a:lstStyle/>
          <a:p>
            <a:pPr>
              <a:defRPr/>
            </a:pPr>
            <a:r>
              <a:rPr lang="en-US" altLang="zh-CN" dirty="0"/>
              <a:t>Defining a WSDL 2.0 Target Namespace (1/3)</a:t>
            </a:r>
            <a:endParaRPr lang="zh-CN" altLang="en-US" dirty="0"/>
          </a:p>
        </p:txBody>
      </p:sp>
      <p:sp>
        <p:nvSpPr>
          <p:cNvPr id="3" name="内容占位符 2">
            <a:extLst>
              <a:ext uri="{FF2B5EF4-FFF2-40B4-BE49-F238E27FC236}">
                <a16:creationId xmlns:a16="http://schemas.microsoft.com/office/drawing/2014/main" id="{93135AFC-0F24-4534-93C3-D5C0A49B63A7}"/>
              </a:ext>
            </a:extLst>
          </p:cNvPr>
          <p:cNvSpPr>
            <a:spLocks noGrp="1"/>
          </p:cNvSpPr>
          <p:nvPr>
            <p:ph idx="1"/>
          </p:nvPr>
        </p:nvSpPr>
        <p:spPr/>
        <p:txBody>
          <a:bodyPr>
            <a:normAutofit fontScale="92500" lnSpcReduction="20000"/>
          </a:bodyPr>
          <a:lstStyle/>
          <a:p>
            <a:pPr>
              <a:lnSpc>
                <a:spcPct val="120000"/>
              </a:lnSpc>
              <a:defRPr/>
            </a:pPr>
            <a:r>
              <a:rPr lang="en-US" altLang="zh-CN" sz="2400" dirty="0"/>
              <a:t>Analogous to an XML Schema target namespace, we can decide on the target namespace URI for a WSDL 2.0 document. </a:t>
            </a:r>
          </a:p>
          <a:p>
            <a:pPr>
              <a:lnSpc>
                <a:spcPct val="120000"/>
              </a:lnSpc>
              <a:defRPr/>
            </a:pPr>
            <a:r>
              <a:rPr lang="en-US" altLang="zh-CN" sz="2400" dirty="0">
                <a:hlinkClick r:id="rId3" action="ppaction://hlinkfile"/>
              </a:rPr>
              <a:t>Interface</a:t>
            </a:r>
            <a:r>
              <a:rPr lang="en-US" altLang="zh-CN" sz="2400" dirty="0"/>
              <a:t>, </a:t>
            </a:r>
            <a:r>
              <a:rPr lang="en-US" altLang="zh-CN" sz="2400" dirty="0">
                <a:hlinkClick r:id="rId3" action="ppaction://hlinkfile"/>
              </a:rPr>
              <a:t>binding </a:t>
            </a:r>
            <a:r>
              <a:rPr lang="en-US" altLang="zh-CN" sz="2400" dirty="0"/>
              <a:t>and </a:t>
            </a:r>
            <a:r>
              <a:rPr lang="en-US" altLang="zh-CN" sz="2400" dirty="0">
                <a:hlinkClick r:id="rId3" action="ppaction://hlinkfile"/>
              </a:rPr>
              <a:t>service </a:t>
            </a:r>
            <a:r>
              <a:rPr lang="en-US" altLang="zh-CN" sz="2400" dirty="0"/>
              <a:t>names that we define this document will be associated with the WSDL 2.0 target namespace, and thus will be distinguishable from similar names in a different namespace. </a:t>
            </a:r>
          </a:p>
          <a:p>
            <a:pPr lvl="1">
              <a:lnSpc>
                <a:spcPct val="120000"/>
              </a:lnSpc>
              <a:defRPr/>
            </a:pPr>
            <a:r>
              <a:rPr lang="en-US" altLang="zh-CN" sz="2000" dirty="0"/>
              <a:t>This will become important if using WSDL 2.0's import or interface inheritance mechanisms</a:t>
            </a:r>
          </a:p>
          <a:p>
            <a:pPr>
              <a:lnSpc>
                <a:spcPct val="120000"/>
              </a:lnSpc>
              <a:defRPr/>
            </a:pPr>
            <a:r>
              <a:rPr lang="en-US" altLang="zh-CN" sz="2400" dirty="0"/>
              <a:t>The value of the WSDL 2.0 target namespace must be an absolute URI</a:t>
            </a:r>
          </a:p>
          <a:p>
            <a:pPr lvl="1">
              <a:lnSpc>
                <a:spcPct val="120000"/>
              </a:lnSpc>
              <a:defRPr/>
            </a:pPr>
            <a:r>
              <a:rPr lang="en-US" altLang="zh-CN" sz="2000" dirty="0"/>
              <a:t>Furthermore, it should be </a:t>
            </a:r>
            <a:r>
              <a:rPr lang="en-US" altLang="zh-CN" sz="2000" dirty="0" err="1"/>
              <a:t>dereferenceable</a:t>
            </a:r>
            <a:r>
              <a:rPr lang="en-US" altLang="zh-CN" sz="2000" dirty="0"/>
              <a:t> to a WSDL 2.0 document that describes the Web service in this target namespace </a:t>
            </a:r>
          </a:p>
          <a:p>
            <a:pPr lvl="1">
              <a:lnSpc>
                <a:spcPct val="120000"/>
              </a:lnSpc>
              <a:defRPr/>
            </a:pPr>
            <a:r>
              <a:rPr lang="en-US" altLang="zh-CN" sz="2000" dirty="0"/>
              <a:t>However, there is no absolute requirement for this URI to be </a:t>
            </a:r>
            <a:r>
              <a:rPr lang="en-US" altLang="zh-CN" sz="2000" dirty="0" err="1"/>
              <a:t>dereferenceable</a:t>
            </a:r>
            <a:r>
              <a:rPr lang="en-US" altLang="zh-CN" sz="2000" dirty="0"/>
              <a:t>, so a WSDL 2.0 processor must not count</a:t>
            </a:r>
            <a:r>
              <a:rPr lang="zh-CN" altLang="en-US" sz="2000" dirty="0"/>
              <a:t> </a:t>
            </a:r>
            <a:r>
              <a:rPr lang="en-US" altLang="zh-CN" sz="2000" dirty="0"/>
              <a:t>on this</a:t>
            </a:r>
          </a:p>
        </p:txBody>
      </p:sp>
      <p:sp>
        <p:nvSpPr>
          <p:cNvPr id="24580" name="灯片编号占位符 3">
            <a:extLst>
              <a:ext uri="{FF2B5EF4-FFF2-40B4-BE49-F238E27FC236}">
                <a16:creationId xmlns:a16="http://schemas.microsoft.com/office/drawing/2014/main" id="{A8ADD565-8D22-468E-A9ED-108CAC24AF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rgbClr val="CCCCFF"/>
              </a:buClr>
              <a:buFont typeface="Wingdings" panose="05000000000000000000" pitchFamily="2" charset="2"/>
              <a:buNone/>
            </a:pPr>
            <a:fld id="{14B3C0CC-E836-4B08-AA25-C93F69F84739}" type="slidenum">
              <a:rPr lang="en-US" altLang="zh-CN" sz="1000">
                <a:solidFill>
                  <a:srgbClr val="000000"/>
                </a:solidFill>
              </a:rPr>
              <a:pPr>
                <a:buClr>
                  <a:srgbClr val="CCCCFF"/>
                </a:buClr>
                <a:buFont typeface="Wingdings" panose="05000000000000000000" pitchFamily="2" charset="2"/>
                <a:buNone/>
              </a:pPr>
              <a:t>4</a:t>
            </a:fld>
            <a:endParaRPr lang="en-US" altLang="zh-CN" sz="1000">
              <a:solidFill>
                <a:srgbClr val="00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3E187-E499-4CBB-8180-EB1461882BFA}"/>
              </a:ext>
            </a:extLst>
          </p:cNvPr>
          <p:cNvSpPr>
            <a:spLocks noGrp="1"/>
          </p:cNvSpPr>
          <p:nvPr>
            <p:ph type="title"/>
          </p:nvPr>
        </p:nvSpPr>
        <p:spPr/>
        <p:txBody>
          <a:bodyPr>
            <a:normAutofit fontScale="90000"/>
          </a:bodyPr>
          <a:lstStyle/>
          <a:p>
            <a:pPr>
              <a:defRPr/>
            </a:pPr>
            <a:r>
              <a:rPr lang="en-US" altLang="zh-CN" dirty="0"/>
              <a:t>Defining a WSDL 2.0 Target Namespace (2/3)</a:t>
            </a:r>
            <a:endParaRPr lang="zh-CN" altLang="en-US" dirty="0"/>
          </a:p>
        </p:txBody>
      </p:sp>
      <p:sp>
        <p:nvSpPr>
          <p:cNvPr id="26627" name="内容占位符 2">
            <a:extLst>
              <a:ext uri="{FF2B5EF4-FFF2-40B4-BE49-F238E27FC236}">
                <a16:creationId xmlns:a16="http://schemas.microsoft.com/office/drawing/2014/main" id="{1461B075-07EC-46F9-B8AC-BAE06AED7977}"/>
              </a:ext>
            </a:extLst>
          </p:cNvPr>
          <p:cNvSpPr>
            <a:spLocks noGrp="1"/>
          </p:cNvSpPr>
          <p:nvPr>
            <p:ph idx="1"/>
          </p:nvPr>
        </p:nvSpPr>
        <p:spPr/>
        <p:txBody>
          <a:bodyPr>
            <a:normAutofit fontScale="92500" lnSpcReduction="10000"/>
          </a:bodyPr>
          <a:lstStyle/>
          <a:p>
            <a:pPr>
              <a:lnSpc>
                <a:spcPct val="110000"/>
              </a:lnSpc>
              <a:defRPr/>
            </a:pPr>
            <a:r>
              <a:rPr lang="en-US" altLang="zh-CN" dirty="0"/>
              <a:t>If a WSDL 2.0 description is split into multiple documents then the WSDL 2.0 target namespace should resolve to a master document that includes all the WSDL 2.0 documents needed for that service description</a:t>
            </a:r>
          </a:p>
          <a:p>
            <a:pPr>
              <a:lnSpc>
                <a:spcPct val="110000"/>
              </a:lnSpc>
              <a:defRPr/>
            </a:pPr>
            <a:r>
              <a:rPr lang="en-US" altLang="zh-CN" dirty="0"/>
              <a:t>If the client need a copy of WSDL 2.0 document:</a:t>
            </a:r>
          </a:p>
          <a:p>
            <a:pPr lvl="1">
              <a:lnSpc>
                <a:spcPct val="110000"/>
              </a:lnSpc>
              <a:defRPr/>
            </a:pPr>
            <a:r>
              <a:rPr lang="en-US" altLang="zh-CN" sz="2400" dirty="0"/>
              <a:t>The client might have obtained the WSDL 2.0 document from anywhere -- not necessarily an authoritative source</a:t>
            </a:r>
          </a:p>
          <a:p>
            <a:pPr lvl="1">
              <a:lnSpc>
                <a:spcPct val="110000"/>
              </a:lnSpc>
              <a:defRPr/>
            </a:pPr>
            <a:r>
              <a:rPr lang="en-US" altLang="zh-CN" sz="2400" dirty="0"/>
              <a:t>But by dereferencing the WSDL 2.0 target namespace URI, a user </a:t>
            </a:r>
            <a:r>
              <a:rPr lang="en-US" altLang="zh-CN" sz="2400" dirty="0">
                <a:solidFill>
                  <a:srgbClr val="FF0000"/>
                </a:solidFill>
              </a:rPr>
              <a:t>should</a:t>
            </a:r>
            <a:r>
              <a:rPr lang="en-US" altLang="zh-CN" sz="2400" dirty="0"/>
              <a:t> be able to obtain an authoritative version</a:t>
            </a:r>
          </a:p>
        </p:txBody>
      </p:sp>
      <p:sp>
        <p:nvSpPr>
          <p:cNvPr id="26628" name="灯片编号占位符 3">
            <a:extLst>
              <a:ext uri="{FF2B5EF4-FFF2-40B4-BE49-F238E27FC236}">
                <a16:creationId xmlns:a16="http://schemas.microsoft.com/office/drawing/2014/main" id="{7681963F-442A-4CE2-8371-761B6B5D0C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rgbClr val="CCCCFF"/>
              </a:buClr>
              <a:buFont typeface="Wingdings" panose="05000000000000000000" pitchFamily="2" charset="2"/>
              <a:buNone/>
            </a:pPr>
            <a:fld id="{6551C9F1-1A50-4389-87FB-ACE9029C60EB}" type="slidenum">
              <a:rPr lang="en-US" altLang="zh-CN" sz="1000">
                <a:solidFill>
                  <a:srgbClr val="000000"/>
                </a:solidFill>
              </a:rPr>
              <a:pPr>
                <a:buClr>
                  <a:srgbClr val="CCCCFF"/>
                </a:buClr>
                <a:buFont typeface="Wingdings" panose="05000000000000000000" pitchFamily="2" charset="2"/>
                <a:buNone/>
              </a:pPr>
              <a:t>5</a:t>
            </a:fld>
            <a:endParaRPr lang="en-US" altLang="zh-CN" sz="1000">
              <a:solidFill>
                <a:srgbClr val="000000"/>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2CB88-57D6-49E4-90C9-7456B5C00D0F}"/>
              </a:ext>
            </a:extLst>
          </p:cNvPr>
          <p:cNvSpPr>
            <a:spLocks noGrp="1"/>
          </p:cNvSpPr>
          <p:nvPr>
            <p:ph type="title"/>
          </p:nvPr>
        </p:nvSpPr>
        <p:spPr/>
        <p:txBody>
          <a:bodyPr>
            <a:normAutofit fontScale="90000"/>
          </a:bodyPr>
          <a:lstStyle/>
          <a:p>
            <a:pPr>
              <a:defRPr/>
            </a:pPr>
            <a:r>
              <a:rPr lang="en-US" altLang="zh-CN" dirty="0"/>
              <a:t>Defining a WSDL 2.0 Target Namespace (3/3)</a:t>
            </a:r>
            <a:endParaRPr lang="zh-CN" altLang="en-US" dirty="0"/>
          </a:p>
        </p:txBody>
      </p:sp>
      <p:sp>
        <p:nvSpPr>
          <p:cNvPr id="5" name="Text Box 4">
            <a:extLst>
              <a:ext uri="{FF2B5EF4-FFF2-40B4-BE49-F238E27FC236}">
                <a16:creationId xmlns:a16="http://schemas.microsoft.com/office/drawing/2014/main" id="{F71E3B49-6AA5-4496-A86B-2BF741F27876}"/>
              </a:ext>
            </a:extLst>
          </p:cNvPr>
          <p:cNvSpPr txBox="1">
            <a:spLocks noGrp="1" noChangeArrowheads="1"/>
          </p:cNvSpPr>
          <p:nvPr>
            <p:ph idx="1"/>
          </p:nvPr>
        </p:nvSpPr>
        <p:spPr>
          <a:xfrm>
            <a:off x="457200" y="1600200"/>
            <a:ext cx="8229600" cy="3028521"/>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800" dirty="0">
                <a:solidFill>
                  <a:srgbClr val="008080"/>
                </a:solidFill>
                <a:highlight>
                  <a:srgbClr val="FFFFFF"/>
                </a:highlight>
              </a:rPr>
              <a:t>&lt;?xml version="1.0" encoding="utf-8" ?&gt;</a:t>
            </a:r>
            <a:r>
              <a:rPr lang="en-US" altLang="zh-CN" sz="1800" dirty="0">
                <a:solidFill>
                  <a:srgbClr val="000000"/>
                </a:solidFill>
                <a:highlight>
                  <a:srgbClr val="FFFFFF"/>
                </a:highlight>
              </a:rPr>
              <a:t> </a:t>
            </a:r>
          </a:p>
          <a:p>
            <a:pPr>
              <a:buFont typeface="Wingdings" panose="05000000000000000000" pitchFamily="2" charset="2"/>
              <a:buNone/>
              <a:defRPr/>
            </a:pPr>
            <a:r>
              <a:rPr lang="en-US" altLang="zh-CN" sz="1800" dirty="0">
                <a:solidFill>
                  <a:srgbClr val="0000FF"/>
                </a:solidFill>
                <a:highlight>
                  <a:srgbClr val="FFFFFF"/>
                </a:highlight>
              </a:rPr>
              <a:t>&lt;</a:t>
            </a:r>
            <a:r>
              <a:rPr lang="en-US" altLang="zh-CN" sz="1800" dirty="0">
                <a:solidFill>
                  <a:srgbClr val="800000"/>
                </a:solidFill>
                <a:highlight>
                  <a:srgbClr val="FFFFFF"/>
                </a:highlight>
              </a:rPr>
              <a:t>description</a:t>
            </a:r>
            <a:r>
              <a:rPr lang="en-US" altLang="zh-CN" sz="1800" dirty="0">
                <a:solidFill>
                  <a:srgbClr val="FF0000"/>
                </a:solidFill>
                <a:highlight>
                  <a:srgbClr val="FFFFFF"/>
                </a:highlight>
              </a:rPr>
              <a:t> </a:t>
            </a:r>
          </a:p>
          <a:p>
            <a:pPr>
              <a:buFont typeface="Wingdings" panose="05000000000000000000" pitchFamily="2" charset="2"/>
              <a:buNone/>
              <a:defRPr/>
            </a:pPr>
            <a:r>
              <a:rPr lang="en-US" altLang="zh-CN" sz="1800" dirty="0">
                <a:solidFill>
                  <a:srgbClr val="FF0000"/>
                </a:solidFill>
                <a:highlight>
                  <a:srgbClr val="FFFFFF"/>
                </a:highlight>
              </a:rPr>
              <a:t>    </a:t>
            </a:r>
            <a:r>
              <a:rPr lang="en-US" altLang="zh-CN" sz="1800" dirty="0" err="1">
                <a:solidFill>
                  <a:srgbClr val="FF0000"/>
                </a:solidFill>
                <a:highlight>
                  <a:srgbClr val="FFFFFF"/>
                </a:highlight>
              </a:rPr>
              <a:t>xmlns</a:t>
            </a:r>
            <a:r>
              <a:rPr lang="en-US" altLang="zh-CN" sz="1800" dirty="0">
                <a:solidFill>
                  <a:srgbClr val="0000FF"/>
                </a:solidFill>
                <a:highlight>
                  <a:srgbClr val="FFFFFF"/>
                </a:highlight>
              </a:rPr>
              <a:t>="</a:t>
            </a:r>
            <a:r>
              <a:rPr lang="en-US" altLang="zh-CN" sz="1800" dirty="0">
                <a:solidFill>
                  <a:srgbClr val="000000"/>
                </a:solidFill>
                <a:highlight>
                  <a:srgbClr val="FFFFFF"/>
                </a:highlight>
              </a:rPr>
              <a:t>http://www.w3.org/ns/wsdl</a:t>
            </a:r>
            <a:r>
              <a:rPr lang="en-US" altLang="zh-CN" sz="1800" dirty="0">
                <a:solidFill>
                  <a:srgbClr val="0000FF"/>
                </a:solidFill>
                <a:highlight>
                  <a:srgbClr val="FFFFFF"/>
                </a:highlight>
              </a:rPr>
              <a:t>"</a:t>
            </a:r>
            <a:endParaRPr lang="en-US" altLang="zh-CN" sz="1800" dirty="0">
              <a:solidFill>
                <a:srgbClr val="FF0000"/>
              </a:solidFill>
              <a:highlight>
                <a:srgbClr val="FFFFFF"/>
              </a:highlight>
            </a:endParaRPr>
          </a:p>
          <a:p>
            <a:pPr>
              <a:buFont typeface="Wingdings" panose="05000000000000000000" pitchFamily="2" charset="2"/>
              <a:buNone/>
              <a:defRPr/>
            </a:pPr>
            <a:r>
              <a:rPr lang="en-US" altLang="zh-CN" sz="1800" dirty="0">
                <a:solidFill>
                  <a:srgbClr val="FF0000"/>
                </a:solidFill>
                <a:highlight>
                  <a:srgbClr val="FFFFFF"/>
                </a:highlight>
              </a:rPr>
              <a:t>    </a:t>
            </a:r>
            <a:r>
              <a:rPr lang="en-US" altLang="zh-CN" sz="1800" dirty="0" err="1">
                <a:solidFill>
                  <a:srgbClr val="FF0000"/>
                </a:solidFill>
                <a:highlight>
                  <a:srgbClr val="FFFFFF"/>
                </a:highlight>
              </a:rPr>
              <a:t>targetNamespace</a:t>
            </a:r>
            <a:r>
              <a:rPr lang="en-US" altLang="zh-CN" sz="1800" dirty="0">
                <a:solidFill>
                  <a:srgbClr val="0000FF"/>
                </a:solidFill>
                <a:highlight>
                  <a:srgbClr val="FFFFFF"/>
                </a:highlight>
              </a:rPr>
              <a:t>= "</a:t>
            </a:r>
            <a:r>
              <a:rPr lang="en-US" altLang="zh-CN" sz="1800" dirty="0">
                <a:solidFill>
                  <a:srgbClr val="000000"/>
                </a:solidFill>
                <a:highlight>
                  <a:srgbClr val="FFFFFF"/>
                </a:highlight>
              </a:rPr>
              <a:t>http://greath.example.com/2004/wsdl/resSvc</a:t>
            </a:r>
            <a:r>
              <a:rPr lang="en-US" altLang="zh-CN" sz="1800" dirty="0">
                <a:solidFill>
                  <a:srgbClr val="0000FF"/>
                </a:solidFill>
                <a:highlight>
                  <a:srgbClr val="FFFFFF"/>
                </a:highlight>
              </a:rPr>
              <a:t>"</a:t>
            </a:r>
            <a:r>
              <a:rPr lang="en-US" altLang="zh-CN" sz="1800" dirty="0">
                <a:solidFill>
                  <a:srgbClr val="FF0000"/>
                </a:solidFill>
                <a:highlight>
                  <a:srgbClr val="FFFFFF"/>
                </a:highlight>
              </a:rPr>
              <a:t> </a:t>
            </a:r>
          </a:p>
          <a:p>
            <a:pPr>
              <a:buFont typeface="Wingdings" panose="05000000000000000000" pitchFamily="2" charset="2"/>
              <a:buNone/>
              <a:defRPr/>
            </a:pPr>
            <a:r>
              <a:rPr lang="en-US" altLang="zh-CN" sz="1800" dirty="0">
                <a:solidFill>
                  <a:srgbClr val="FF0000"/>
                </a:solidFill>
                <a:highlight>
                  <a:srgbClr val="FFFFFF"/>
                </a:highlight>
              </a:rPr>
              <a:t>    </a:t>
            </a:r>
            <a:r>
              <a:rPr lang="en-US" altLang="zh-CN" sz="1800" dirty="0" err="1">
                <a:solidFill>
                  <a:srgbClr val="FF0000"/>
                </a:solidFill>
                <a:highlight>
                  <a:srgbClr val="FFFFFF"/>
                </a:highlight>
              </a:rPr>
              <a:t>xmlns:tns</a:t>
            </a:r>
            <a:r>
              <a:rPr lang="en-US" altLang="zh-CN" sz="1800" dirty="0">
                <a:solidFill>
                  <a:srgbClr val="0000FF"/>
                </a:solidFill>
                <a:highlight>
                  <a:srgbClr val="FFFFFF"/>
                </a:highlight>
              </a:rPr>
              <a:t>= "</a:t>
            </a:r>
            <a:r>
              <a:rPr lang="en-US" altLang="zh-CN" sz="1800" dirty="0">
                <a:solidFill>
                  <a:srgbClr val="000000"/>
                </a:solidFill>
                <a:highlight>
                  <a:srgbClr val="FFFFFF"/>
                </a:highlight>
              </a:rPr>
              <a:t>http://greath.example.com/2004/wsdl/resSvc</a:t>
            </a:r>
            <a:r>
              <a:rPr lang="en-US" altLang="zh-CN" sz="1800" dirty="0">
                <a:solidFill>
                  <a:srgbClr val="0000FF"/>
                </a:solidFill>
                <a:highlight>
                  <a:srgbClr val="FFFFFF"/>
                </a:highlight>
              </a:rPr>
              <a:t>"</a:t>
            </a:r>
            <a:endParaRPr lang="en-US" altLang="zh-CN" sz="1800" dirty="0">
              <a:solidFill>
                <a:srgbClr val="FF0000"/>
              </a:solidFill>
              <a:highlight>
                <a:srgbClr val="FFFFFF"/>
              </a:highlight>
            </a:endParaRPr>
          </a:p>
          <a:p>
            <a:pPr>
              <a:buFont typeface="Wingdings" panose="05000000000000000000" pitchFamily="2" charset="2"/>
              <a:buNone/>
              <a:defRPr/>
            </a:pPr>
            <a:r>
              <a:rPr lang="zh-CN" altLang="en-US" sz="1800" dirty="0">
                <a:solidFill>
                  <a:srgbClr val="FF0000"/>
                </a:solidFill>
                <a:highlight>
                  <a:srgbClr val="FFFFFF"/>
                </a:highlight>
              </a:rPr>
              <a:t>    </a:t>
            </a:r>
            <a:r>
              <a:rPr lang="en-US" altLang="zh-CN" sz="1800" dirty="0">
                <a:solidFill>
                  <a:srgbClr val="FF0000"/>
                </a:solidFill>
                <a:highlight>
                  <a:srgbClr val="FFFFFF"/>
                </a:highlight>
              </a:rPr>
              <a:t>. . . </a:t>
            </a:r>
            <a:r>
              <a:rPr lang="en-US" altLang="zh-CN" sz="1800" dirty="0">
                <a:solidFill>
                  <a:srgbClr val="0000FF"/>
                </a:solidFill>
                <a:highlight>
                  <a:srgbClr val="FFFFFF"/>
                </a:highlight>
              </a:rPr>
              <a:t>&gt;</a:t>
            </a:r>
            <a:endParaRPr lang="zh-CN" altLang="en-US" sz="1800" dirty="0">
              <a:solidFill>
                <a:srgbClr val="000000"/>
              </a:solidFill>
              <a:highlight>
                <a:srgbClr val="FFFFFF"/>
              </a:highlight>
            </a:endParaRPr>
          </a:p>
          <a:p>
            <a:pPr>
              <a:buFont typeface="Wingdings" panose="05000000000000000000" pitchFamily="2" charset="2"/>
              <a:buNone/>
              <a:defRPr/>
            </a:pPr>
            <a:endParaRPr lang="zh-CN" altLang="en-US" sz="1800" dirty="0">
              <a:solidFill>
                <a:srgbClr val="000000"/>
              </a:solidFill>
              <a:highlight>
                <a:srgbClr val="FFFFFF"/>
              </a:highlight>
            </a:endParaRPr>
          </a:p>
          <a:p>
            <a:pPr>
              <a:buFont typeface="Wingdings" panose="05000000000000000000" pitchFamily="2" charset="2"/>
              <a:buNone/>
              <a:defRPr/>
            </a:pPr>
            <a:r>
              <a:rPr lang="zh-CN" altLang="en-US" sz="1800" dirty="0">
                <a:solidFill>
                  <a:srgbClr val="000000"/>
                </a:solidFill>
                <a:highlight>
                  <a:srgbClr val="FFFFFF"/>
                </a:highlight>
              </a:rPr>
              <a:t>  </a:t>
            </a:r>
            <a:r>
              <a:rPr lang="en-US" altLang="zh-CN" sz="1800" dirty="0">
                <a:solidFill>
                  <a:srgbClr val="000000"/>
                </a:solidFill>
                <a:highlight>
                  <a:srgbClr val="FFFFFF"/>
                </a:highlight>
              </a:rPr>
              <a:t>. . .</a:t>
            </a:r>
          </a:p>
          <a:p>
            <a:pPr>
              <a:buFont typeface="Wingdings" panose="05000000000000000000" pitchFamily="2" charset="2"/>
              <a:buNone/>
              <a:defRPr/>
            </a:pPr>
            <a:r>
              <a:rPr lang="en-US" altLang="zh-CN" sz="1800" dirty="0">
                <a:solidFill>
                  <a:srgbClr val="0000FF"/>
                </a:solidFill>
                <a:highlight>
                  <a:srgbClr val="FFFFFF"/>
                </a:highlight>
              </a:rPr>
              <a:t>&lt;/</a:t>
            </a:r>
            <a:r>
              <a:rPr lang="en-US" altLang="zh-CN" sz="1800" dirty="0">
                <a:solidFill>
                  <a:srgbClr val="800000"/>
                </a:solidFill>
                <a:highlight>
                  <a:srgbClr val="FFFFFF"/>
                </a:highlight>
              </a:rPr>
              <a:t>description</a:t>
            </a:r>
            <a:r>
              <a:rPr lang="en-US" altLang="zh-CN" sz="1800" dirty="0">
                <a:solidFill>
                  <a:srgbClr val="0000FF"/>
                </a:solidFill>
                <a:highlight>
                  <a:srgbClr val="FFFFFF"/>
                </a:highlight>
              </a:rPr>
              <a:t>&gt;</a:t>
            </a:r>
            <a:endParaRPr lang="en-US" altLang="zh-CN" sz="1800" dirty="0">
              <a:solidFill>
                <a:srgbClr val="000000"/>
              </a:solidFill>
            </a:endParaRPr>
          </a:p>
        </p:txBody>
      </p:sp>
      <p:sp>
        <p:nvSpPr>
          <p:cNvPr id="28675" name="灯片编号占位符 3">
            <a:extLst>
              <a:ext uri="{FF2B5EF4-FFF2-40B4-BE49-F238E27FC236}">
                <a16:creationId xmlns:a16="http://schemas.microsoft.com/office/drawing/2014/main" id="{538BBB4C-F00D-4193-94D8-77245B3A59C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Clr>
                <a:srgbClr val="CCCCFF"/>
              </a:buClr>
              <a:buFont typeface="Wingdings" panose="05000000000000000000" pitchFamily="2" charset="2"/>
              <a:buNone/>
            </a:pPr>
            <a:fld id="{ED37FDC6-D679-43F2-9EDD-67E7454F8C5D}" type="slidenum">
              <a:rPr lang="en-US" altLang="zh-CN" sz="1000">
                <a:solidFill>
                  <a:srgbClr val="000000"/>
                </a:solidFill>
              </a:rPr>
              <a:pPr>
                <a:buClr>
                  <a:srgbClr val="CCCCFF"/>
                </a:buClr>
                <a:buFont typeface="Wingdings" panose="05000000000000000000" pitchFamily="2" charset="2"/>
                <a:buNone/>
              </a:pPr>
              <a:t>6</a:t>
            </a:fld>
            <a:endParaRPr lang="en-US" altLang="zh-CN" sz="1000">
              <a:solidFill>
                <a:srgbClr val="000000"/>
              </a:solidFill>
            </a:endParaRPr>
          </a:p>
        </p:txBody>
      </p:sp>
      <p:sp>
        <p:nvSpPr>
          <p:cNvPr id="6" name="Line 15">
            <a:extLst>
              <a:ext uri="{FF2B5EF4-FFF2-40B4-BE49-F238E27FC236}">
                <a16:creationId xmlns:a16="http://schemas.microsoft.com/office/drawing/2014/main" id="{009DB74B-AF08-4C7F-A9F5-D67D4BB6A4B2}"/>
              </a:ext>
            </a:extLst>
          </p:cNvPr>
          <p:cNvSpPr>
            <a:spLocks noChangeShapeType="1"/>
          </p:cNvSpPr>
          <p:nvPr/>
        </p:nvSpPr>
        <p:spPr bwMode="auto">
          <a:xfrm flipH="1">
            <a:off x="1908175" y="2133600"/>
            <a:ext cx="2592388"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598D7324-C061-4933-A528-4DBBB2630517}"/>
              </a:ext>
            </a:extLst>
          </p:cNvPr>
          <p:cNvSpPr txBox="1">
            <a:spLocks noChangeArrowheads="1"/>
          </p:cNvSpPr>
          <p:nvPr/>
        </p:nvSpPr>
        <p:spPr bwMode="auto">
          <a:xfrm>
            <a:off x="4475163" y="1824038"/>
            <a:ext cx="4622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Mandatory root element defined by WSDL</a:t>
            </a:r>
          </a:p>
        </p:txBody>
      </p:sp>
      <p:sp>
        <p:nvSpPr>
          <p:cNvPr id="9" name="Line 15">
            <a:extLst>
              <a:ext uri="{FF2B5EF4-FFF2-40B4-BE49-F238E27FC236}">
                <a16:creationId xmlns:a16="http://schemas.microsoft.com/office/drawing/2014/main" id="{45AF4AF2-5DBB-4895-A18F-783AEDA65718}"/>
              </a:ext>
            </a:extLst>
          </p:cNvPr>
          <p:cNvSpPr>
            <a:spLocks noChangeShapeType="1"/>
          </p:cNvSpPr>
          <p:nvPr/>
        </p:nvSpPr>
        <p:spPr bwMode="auto">
          <a:xfrm flipH="1" flipV="1">
            <a:off x="2700338" y="2576513"/>
            <a:ext cx="935037" cy="10683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16">
            <a:extLst>
              <a:ext uri="{FF2B5EF4-FFF2-40B4-BE49-F238E27FC236}">
                <a16:creationId xmlns:a16="http://schemas.microsoft.com/office/drawing/2014/main" id="{0AC669D3-1CE2-4DC4-89D2-5B2AE385B40F}"/>
              </a:ext>
            </a:extLst>
          </p:cNvPr>
          <p:cNvSpPr txBox="1">
            <a:spLocks noChangeArrowheads="1"/>
          </p:cNvSpPr>
          <p:nvPr/>
        </p:nvSpPr>
        <p:spPr bwMode="auto">
          <a:xfrm>
            <a:off x="3543300" y="3295650"/>
            <a:ext cx="437038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Default namespace corresponding to WSDL 2.0</a:t>
            </a:r>
          </a:p>
        </p:txBody>
      </p:sp>
      <p:sp>
        <p:nvSpPr>
          <p:cNvPr id="12" name="Line 15">
            <a:extLst>
              <a:ext uri="{FF2B5EF4-FFF2-40B4-BE49-F238E27FC236}">
                <a16:creationId xmlns:a16="http://schemas.microsoft.com/office/drawing/2014/main" id="{394EA5DE-FB41-4199-8DB8-A6A0423A2708}"/>
              </a:ext>
            </a:extLst>
          </p:cNvPr>
          <p:cNvSpPr>
            <a:spLocks noChangeShapeType="1"/>
          </p:cNvSpPr>
          <p:nvPr/>
        </p:nvSpPr>
        <p:spPr bwMode="auto">
          <a:xfrm flipH="1" flipV="1">
            <a:off x="2505075" y="2852738"/>
            <a:ext cx="1450975" cy="17764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97F59DF5-F9BE-4BB1-B61A-D8E25CE112EF}"/>
              </a:ext>
            </a:extLst>
          </p:cNvPr>
          <p:cNvSpPr txBox="1">
            <a:spLocks noChangeArrowheads="1"/>
          </p:cNvSpPr>
          <p:nvPr/>
        </p:nvSpPr>
        <p:spPr bwMode="auto">
          <a:xfrm>
            <a:off x="3956050" y="4002088"/>
            <a:ext cx="3730625"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Target namespace. GreatH should own this URI and make this document available here</a:t>
            </a:r>
          </a:p>
        </p:txBody>
      </p:sp>
      <p:sp>
        <p:nvSpPr>
          <p:cNvPr id="16" name="Line 15">
            <a:extLst>
              <a:ext uri="{FF2B5EF4-FFF2-40B4-BE49-F238E27FC236}">
                <a16:creationId xmlns:a16="http://schemas.microsoft.com/office/drawing/2014/main" id="{BC9E819C-4D2C-4E2F-BCFC-8DD672B6F1B8}"/>
              </a:ext>
            </a:extLst>
          </p:cNvPr>
          <p:cNvSpPr>
            <a:spLocks noChangeShapeType="1"/>
          </p:cNvSpPr>
          <p:nvPr/>
        </p:nvSpPr>
        <p:spPr bwMode="auto">
          <a:xfrm flipH="1" flipV="1">
            <a:off x="2051050" y="3295650"/>
            <a:ext cx="1924050" cy="22685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a:extLst>
              <a:ext uri="{FF2B5EF4-FFF2-40B4-BE49-F238E27FC236}">
                <a16:creationId xmlns:a16="http://schemas.microsoft.com/office/drawing/2014/main" id="{E3ECF025-D700-40EC-8095-0C83507931ED}"/>
              </a:ext>
            </a:extLst>
          </p:cNvPr>
          <p:cNvSpPr txBox="1">
            <a:spLocks noChangeArrowheads="1"/>
          </p:cNvSpPr>
          <p:nvPr/>
        </p:nvSpPr>
        <p:spPr bwMode="auto">
          <a:xfrm>
            <a:off x="3975100" y="4937125"/>
            <a:ext cx="37306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And we can use </a:t>
            </a:r>
            <a:r>
              <a:rPr lang="en-US" altLang="zh-CN" sz="2000">
                <a:hlinkClick r:id="rId3"/>
              </a:rPr>
              <a:t>tns:</a:t>
            </a:r>
            <a:r>
              <a:rPr lang="en-US" altLang="zh-CN" sz="2000"/>
              <a:t> as the prefix of Qname to refer to elements</a:t>
            </a:r>
            <a:r>
              <a:rPr lang="zh-CN" altLang="en-US" sz="2000"/>
              <a:t> </a:t>
            </a:r>
            <a:r>
              <a:rPr lang="en-US" altLang="zh-CN" sz="2000"/>
              <a:t>defined within this target namespace</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B44335BD-CB47-4412-94AF-D77D3321BCC8}"/>
              </a:ext>
            </a:extLst>
          </p:cNvPr>
          <p:cNvSpPr>
            <a:spLocks noGrp="1"/>
          </p:cNvSpPr>
          <p:nvPr>
            <p:ph type="title"/>
          </p:nvPr>
        </p:nvSpPr>
        <p:spPr/>
        <p:txBody>
          <a:bodyPr/>
          <a:lstStyle/>
          <a:p>
            <a:r>
              <a:rPr lang="en-US" altLang="zh-CN"/>
              <a:t>Defining Message Types (1/3)</a:t>
            </a:r>
            <a:endParaRPr lang="zh-CN" altLang="en-US"/>
          </a:p>
        </p:txBody>
      </p:sp>
      <p:sp>
        <p:nvSpPr>
          <p:cNvPr id="3" name="内容占位符 2">
            <a:extLst>
              <a:ext uri="{FF2B5EF4-FFF2-40B4-BE49-F238E27FC236}">
                <a16:creationId xmlns:a16="http://schemas.microsoft.com/office/drawing/2014/main" id="{8BDDF4AE-8D0F-46FC-A366-F5B5022327CE}"/>
              </a:ext>
            </a:extLst>
          </p:cNvPr>
          <p:cNvSpPr>
            <a:spLocks noGrp="1"/>
          </p:cNvSpPr>
          <p:nvPr>
            <p:ph idx="1"/>
          </p:nvPr>
        </p:nvSpPr>
        <p:spPr/>
        <p:txBody>
          <a:bodyPr>
            <a:normAutofit fontScale="62500" lnSpcReduction="20000"/>
          </a:bodyPr>
          <a:lstStyle/>
          <a:p>
            <a:pPr>
              <a:lnSpc>
                <a:spcPct val="120000"/>
              </a:lnSpc>
              <a:defRPr/>
            </a:pPr>
            <a:r>
              <a:rPr lang="en-US" altLang="zh-CN" sz="3600" dirty="0"/>
              <a:t>WSDL 2.0 processors are likely to support XML Schema at a minimum </a:t>
            </a:r>
          </a:p>
          <a:p>
            <a:pPr lvl="1">
              <a:lnSpc>
                <a:spcPct val="120000"/>
              </a:lnSpc>
              <a:defRPr/>
            </a:pPr>
            <a:r>
              <a:rPr lang="en-US" altLang="zh-CN" sz="3300" dirty="0"/>
              <a:t>However, WSDL 2.0 does not prohibit the use of some other schema definition language</a:t>
            </a:r>
          </a:p>
          <a:p>
            <a:pPr>
              <a:lnSpc>
                <a:spcPct val="120000"/>
              </a:lnSpc>
              <a:defRPr/>
            </a:pPr>
            <a:r>
              <a:rPr lang="en-US" altLang="zh-CN" sz="3600" dirty="0"/>
              <a:t>WSDL 2.0 allows message types to be defined directly within the WSDL 2.0 document, inside the </a:t>
            </a:r>
            <a:r>
              <a:rPr lang="en-US" altLang="zh-CN" sz="3600" dirty="0">
                <a:hlinkClick r:id="rId3"/>
              </a:rPr>
              <a:t>types</a:t>
            </a:r>
            <a:r>
              <a:rPr lang="en-US" altLang="zh-CN" sz="3600" dirty="0"/>
              <a:t> element, which is a child of the </a:t>
            </a:r>
            <a:r>
              <a:rPr lang="en-US" altLang="zh-CN" sz="3600" dirty="0">
                <a:hlinkClick r:id="rId3"/>
              </a:rPr>
              <a:t>description</a:t>
            </a:r>
            <a:r>
              <a:rPr lang="en-US" altLang="zh-CN" sz="3600" dirty="0"/>
              <a:t> element</a:t>
            </a:r>
          </a:p>
          <a:p>
            <a:pPr>
              <a:lnSpc>
                <a:spcPct val="120000"/>
              </a:lnSpc>
              <a:defRPr/>
            </a:pPr>
            <a:r>
              <a:rPr lang="en-US" altLang="zh-CN" sz="3600" dirty="0"/>
              <a:t>Or we can also provide the type definitions in a separate document, using XML Schema's import mechanism.</a:t>
            </a:r>
          </a:p>
          <a:p>
            <a:pPr>
              <a:lnSpc>
                <a:spcPct val="120000"/>
              </a:lnSpc>
              <a:defRPr/>
            </a:pPr>
            <a:r>
              <a:rPr lang="en-US" altLang="zh-CN" sz="3600" dirty="0"/>
              <a:t>In WSDL 2.0, all normal and fault message types must be defined as single elements at the topmost level (each element may have any amount of substructure inside it). Thus, a message type must not directly consist of a sequence of elements or other complex type</a:t>
            </a:r>
          </a:p>
          <a:p>
            <a:pPr>
              <a:defRPr/>
            </a:pPr>
            <a:endParaRPr lang="zh-CN" altLang="en-US" dirty="0"/>
          </a:p>
        </p:txBody>
      </p:sp>
      <p:sp>
        <p:nvSpPr>
          <p:cNvPr id="30726" name="灯片编号占位符 3">
            <a:extLst>
              <a:ext uri="{FF2B5EF4-FFF2-40B4-BE49-F238E27FC236}">
                <a16:creationId xmlns:a16="http://schemas.microsoft.com/office/drawing/2014/main" id="{05864559-23A0-4272-A96E-27CE377889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637237C3-6B5B-480D-AF73-F1003A61E150}" type="slidenum">
              <a:rPr lang="en-US" altLang="zh-CN" sz="1000">
                <a:solidFill>
                  <a:srgbClr val="000000"/>
                </a:solidFill>
              </a:rPr>
              <a:pPr>
                <a:buFont typeface="Wingdings" panose="05000000000000000000" pitchFamily="2" charset="2"/>
                <a:buNone/>
              </a:pPr>
              <a:t>7</a:t>
            </a:fld>
            <a:endParaRPr lang="en-US" altLang="zh-CN" sz="1000">
              <a:solidFill>
                <a:srgbClr val="000000"/>
              </a:solidFill>
            </a:endParaRPr>
          </a:p>
        </p:txBody>
      </p:sp>
      <p:sp>
        <p:nvSpPr>
          <p:cNvPr id="5" name="Line 15">
            <a:extLst>
              <a:ext uri="{FF2B5EF4-FFF2-40B4-BE49-F238E27FC236}">
                <a16:creationId xmlns:a16="http://schemas.microsoft.com/office/drawing/2014/main" id="{1AAC8C9B-C489-4C90-A1C5-3F52BD53C233}"/>
              </a:ext>
            </a:extLst>
          </p:cNvPr>
          <p:cNvSpPr>
            <a:spLocks noChangeShapeType="1"/>
          </p:cNvSpPr>
          <p:nvPr/>
        </p:nvSpPr>
        <p:spPr bwMode="auto">
          <a:xfrm flipV="1">
            <a:off x="5580112" y="4293096"/>
            <a:ext cx="0" cy="19050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16">
            <a:extLst>
              <a:ext uri="{FF2B5EF4-FFF2-40B4-BE49-F238E27FC236}">
                <a16:creationId xmlns:a16="http://schemas.microsoft.com/office/drawing/2014/main" id="{D458422B-6B9A-4E54-90F4-DD55EBF87F50}"/>
              </a:ext>
            </a:extLst>
          </p:cNvPr>
          <p:cNvSpPr txBox="1">
            <a:spLocks noChangeArrowheads="1"/>
          </p:cNvSpPr>
          <p:nvPr/>
        </p:nvSpPr>
        <p:spPr bwMode="auto">
          <a:xfrm>
            <a:off x="4427587" y="6221412"/>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dirty="0">
                <a:solidFill>
                  <a:srgbClr val="000000"/>
                </a:solidFill>
              </a:rPr>
              <a:t>Why not include?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0C144367-810C-4694-BC76-2E98544A1092}"/>
              </a:ext>
            </a:extLst>
          </p:cNvPr>
          <p:cNvSpPr>
            <a:spLocks noGrp="1"/>
          </p:cNvSpPr>
          <p:nvPr>
            <p:ph type="title"/>
          </p:nvPr>
        </p:nvSpPr>
        <p:spPr/>
        <p:txBody>
          <a:bodyPr/>
          <a:lstStyle/>
          <a:p>
            <a:r>
              <a:rPr lang="en-US" altLang="zh-CN"/>
              <a:t>Defining Message Types (2/3)</a:t>
            </a:r>
            <a:endParaRPr lang="zh-CN" altLang="en-US"/>
          </a:p>
        </p:txBody>
      </p:sp>
      <p:sp>
        <p:nvSpPr>
          <p:cNvPr id="32771" name="灯片编号占位符 3">
            <a:extLst>
              <a:ext uri="{FF2B5EF4-FFF2-40B4-BE49-F238E27FC236}">
                <a16:creationId xmlns:a16="http://schemas.microsoft.com/office/drawing/2014/main" id="{F2BB8CBF-B24A-45BA-AB3E-A8B3F09BC8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B0D0F1CC-F761-47C4-AAE7-6F8B27505E27}" type="slidenum">
              <a:rPr lang="en-US" altLang="zh-CN" sz="1000">
                <a:solidFill>
                  <a:srgbClr val="000000"/>
                </a:solidFill>
              </a:rPr>
              <a:pPr>
                <a:buFont typeface="Wingdings" panose="05000000000000000000" pitchFamily="2" charset="2"/>
                <a:buNone/>
              </a:pPr>
              <a:t>8</a:t>
            </a:fld>
            <a:endParaRPr lang="en-US" altLang="zh-CN" sz="1000">
              <a:solidFill>
                <a:srgbClr val="000000"/>
              </a:solidFill>
            </a:endParaRPr>
          </a:p>
        </p:txBody>
      </p:sp>
      <p:sp>
        <p:nvSpPr>
          <p:cNvPr id="5" name="Text Box 4">
            <a:extLst>
              <a:ext uri="{FF2B5EF4-FFF2-40B4-BE49-F238E27FC236}">
                <a16:creationId xmlns:a16="http://schemas.microsoft.com/office/drawing/2014/main" id="{0A4A8383-127A-475D-BD06-B56DC8C42433}"/>
              </a:ext>
            </a:extLst>
          </p:cNvPr>
          <p:cNvSpPr txBox="1">
            <a:spLocks noChangeArrowheads="1"/>
          </p:cNvSpPr>
          <p:nvPr/>
        </p:nvSpPr>
        <p:spPr bwMode="auto">
          <a:xfrm>
            <a:off x="457200" y="1600200"/>
            <a:ext cx="8229600" cy="502291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8080"/>
                </a:solidFill>
                <a:highlight>
                  <a:srgbClr val="FFFFFF"/>
                </a:highlight>
                <a:latin typeface="Arial"/>
              </a:rPr>
              <a:t>&lt;?xml version="1.0" encoding="utf-8" ?&gt;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targetNamespace</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http://greath.example.com/2004/wsdl/resSvc</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xmlns:tns</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http://greath.example.com/2004/wsdl/resSvc</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xmlns:ghns</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http://greath.example.com/2004/schemas/</a:t>
            </a:r>
            <a:r>
              <a:rPr lang="en-US" altLang="zh-CN" sz="1800" dirty="0" err="1">
                <a:solidFill>
                  <a:srgbClr val="000000"/>
                </a:solidFill>
                <a:highlight>
                  <a:srgbClr val="FFFFFF"/>
                </a:highlight>
                <a:latin typeface="Arial"/>
              </a:rPr>
              <a:t>resSvc</a:t>
            </a:r>
            <a:r>
              <a:rPr lang="en-US" altLang="zh-CN" sz="1800" dirty="0">
                <a:solidFill>
                  <a:srgbClr val="0000FF"/>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xmlns:wsdlx</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http://www.w3.org/ns/wsdl-extensions</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FF0000"/>
                </a:solidFill>
                <a:highlight>
                  <a:srgbClr val="FFFFFF"/>
                </a:highlight>
                <a:latin typeface="Arial"/>
              </a:rPr>
              <a:t>    </a:t>
            </a:r>
            <a:r>
              <a:rPr lang="en-US" altLang="zh-CN" sz="1800" dirty="0">
                <a:solidFill>
                  <a:srgbClr val="FF0000"/>
                </a:solidFill>
                <a:highlight>
                  <a:srgbClr val="FFFFFF"/>
                </a:highlight>
                <a:latin typeface="Arial"/>
              </a:rPr>
              <a:t>. . . </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types</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xs:schema</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xmlns:xs</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http://www.w3.org/2001/XMLSchema</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targetNamespace</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http://greath.example.com/2004/schemas/resSvc</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http://greath.example.com/2004/schemas/resSvc</a:t>
            </a:r>
            <a:r>
              <a:rPr lang="en-US" altLang="zh-CN" sz="18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a:t>
            </a:r>
            <a:endParaRPr lang="zh-CN" altLang="en-US" sz="18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F9C27C27-58BD-4C6C-980F-F4D0126DF5A0}"/>
              </a:ext>
            </a:extLst>
          </p:cNvPr>
          <p:cNvSpPr>
            <a:spLocks noChangeShapeType="1"/>
          </p:cNvSpPr>
          <p:nvPr/>
        </p:nvSpPr>
        <p:spPr bwMode="auto">
          <a:xfrm flipH="1" flipV="1">
            <a:off x="1973263" y="3573463"/>
            <a:ext cx="222250" cy="3603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C58D8DB2-DDC6-4A60-9233-562B057F4787}"/>
              </a:ext>
            </a:extLst>
          </p:cNvPr>
          <p:cNvSpPr txBox="1">
            <a:spLocks noChangeArrowheads="1"/>
          </p:cNvSpPr>
          <p:nvPr/>
        </p:nvSpPr>
        <p:spPr bwMode="auto">
          <a:xfrm>
            <a:off x="2051050" y="3849688"/>
            <a:ext cx="4143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prefix used to </a:t>
            </a:r>
            <a:r>
              <a:rPr lang="en-US" altLang="zh-CN" sz="2000"/>
              <a:t>reference </a:t>
            </a:r>
            <a:r>
              <a:rPr lang="en-US" altLang="zh-CN" sz="2000">
                <a:solidFill>
                  <a:srgbClr val="000000"/>
                </a:solidFill>
              </a:rPr>
              <a:t>target namespace of Schema </a:t>
            </a:r>
          </a:p>
        </p:txBody>
      </p:sp>
      <p:sp>
        <p:nvSpPr>
          <p:cNvPr id="10" name="Line 15">
            <a:extLst>
              <a:ext uri="{FF2B5EF4-FFF2-40B4-BE49-F238E27FC236}">
                <a16:creationId xmlns:a16="http://schemas.microsoft.com/office/drawing/2014/main" id="{14E43473-065E-4B9D-86DD-31EBAC11851F}"/>
              </a:ext>
            </a:extLst>
          </p:cNvPr>
          <p:cNvSpPr>
            <a:spLocks noChangeShapeType="1"/>
          </p:cNvSpPr>
          <p:nvPr/>
        </p:nvSpPr>
        <p:spPr bwMode="auto">
          <a:xfrm flipV="1">
            <a:off x="7235825" y="2862263"/>
            <a:ext cx="0" cy="509587"/>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84259234-32BA-4818-BB1C-46787FA939B5}"/>
              </a:ext>
            </a:extLst>
          </p:cNvPr>
          <p:cNvSpPr txBox="1">
            <a:spLocks noChangeArrowheads="1"/>
          </p:cNvSpPr>
          <p:nvPr/>
        </p:nvSpPr>
        <p:spPr bwMode="auto">
          <a:xfrm>
            <a:off x="7350125" y="2957513"/>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Not same </a:t>
            </a:r>
          </a:p>
        </p:txBody>
      </p:sp>
      <p:sp>
        <p:nvSpPr>
          <p:cNvPr id="12" name="Line 15">
            <a:extLst>
              <a:ext uri="{FF2B5EF4-FFF2-40B4-BE49-F238E27FC236}">
                <a16:creationId xmlns:a16="http://schemas.microsoft.com/office/drawing/2014/main" id="{41EA4D36-3C21-4402-BE2A-6ACB547391C5}"/>
              </a:ext>
            </a:extLst>
          </p:cNvPr>
          <p:cNvSpPr>
            <a:spLocks noChangeShapeType="1"/>
          </p:cNvSpPr>
          <p:nvPr/>
        </p:nvSpPr>
        <p:spPr bwMode="auto">
          <a:xfrm flipV="1">
            <a:off x="5284788" y="3573463"/>
            <a:ext cx="3175" cy="2087562"/>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3DE35DCF-2B1D-4AAD-9AD1-015F8CA11E50}"/>
              </a:ext>
            </a:extLst>
          </p:cNvPr>
          <p:cNvSpPr txBox="1">
            <a:spLocks noChangeArrowheads="1"/>
          </p:cNvSpPr>
          <p:nvPr/>
        </p:nvSpPr>
        <p:spPr bwMode="auto">
          <a:xfrm>
            <a:off x="5284788" y="4122738"/>
            <a:ext cx="1225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Same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5BFEB95C-814A-4D28-8D5A-7C258AA0C98A}"/>
              </a:ext>
            </a:extLst>
          </p:cNvPr>
          <p:cNvSpPr>
            <a:spLocks noGrp="1"/>
          </p:cNvSpPr>
          <p:nvPr>
            <p:ph type="title"/>
          </p:nvPr>
        </p:nvSpPr>
        <p:spPr/>
        <p:txBody>
          <a:bodyPr/>
          <a:lstStyle/>
          <a:p>
            <a:r>
              <a:rPr lang="en-US" altLang="zh-CN"/>
              <a:t>Defining Message Types (3/3)</a:t>
            </a:r>
            <a:endParaRPr lang="zh-CN" altLang="en-US"/>
          </a:p>
        </p:txBody>
      </p:sp>
      <p:sp>
        <p:nvSpPr>
          <p:cNvPr id="34819" name="灯片编号占位符 3">
            <a:extLst>
              <a:ext uri="{FF2B5EF4-FFF2-40B4-BE49-F238E27FC236}">
                <a16:creationId xmlns:a16="http://schemas.microsoft.com/office/drawing/2014/main" id="{A20E2CE7-77A7-4434-8E2C-41BB7B818CC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53774646-E8C6-451C-AA77-FAB658D3EB9D}" type="slidenum">
              <a:rPr lang="en-US" altLang="zh-CN" sz="1000">
                <a:solidFill>
                  <a:srgbClr val="000000"/>
                </a:solidFill>
              </a:rPr>
              <a:pPr>
                <a:buFont typeface="Wingdings" panose="05000000000000000000" pitchFamily="2" charset="2"/>
                <a:buNone/>
              </a:pPr>
              <a:t>9</a:t>
            </a:fld>
            <a:endParaRPr lang="en-US" altLang="zh-CN" sz="1000">
              <a:solidFill>
                <a:srgbClr val="000000"/>
              </a:solidFill>
            </a:endParaRPr>
          </a:p>
        </p:txBody>
      </p:sp>
      <p:sp>
        <p:nvSpPr>
          <p:cNvPr id="5" name="Text Box 4">
            <a:extLst>
              <a:ext uri="{FF2B5EF4-FFF2-40B4-BE49-F238E27FC236}">
                <a16:creationId xmlns:a16="http://schemas.microsoft.com/office/drawing/2014/main" id="{23E97F10-D00F-4CB6-93CE-E66F18300772}"/>
              </a:ext>
            </a:extLst>
          </p:cNvPr>
          <p:cNvSpPr txBox="1">
            <a:spLocks noChangeArrowheads="1"/>
          </p:cNvSpPr>
          <p:nvPr/>
        </p:nvSpPr>
        <p:spPr bwMode="auto">
          <a:xfrm>
            <a:off x="169167" y="1593980"/>
            <a:ext cx="8229600" cy="469051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checkAvailability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tCheckAvailability</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xs:complexType</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tCheckAvailability</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xs:sequence</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checkInDate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xs:date</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checkOutDate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xs:date</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roomType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xs:string</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xs:sequence</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xs:complexType</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checkAvailabilityResponse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xs:double</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xs:element</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invalidDataError</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xs:string</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xs:schema</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types</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 . .</a:t>
            </a:r>
          </a:p>
        </p:txBody>
      </p:sp>
      <p:sp>
        <p:nvSpPr>
          <p:cNvPr id="6" name="Line 15">
            <a:extLst>
              <a:ext uri="{FF2B5EF4-FFF2-40B4-BE49-F238E27FC236}">
                <a16:creationId xmlns:a16="http://schemas.microsoft.com/office/drawing/2014/main" id="{E7D5C6D1-3870-4079-BE26-1E4B6F7C9A75}"/>
              </a:ext>
            </a:extLst>
          </p:cNvPr>
          <p:cNvSpPr>
            <a:spLocks noChangeShapeType="1"/>
          </p:cNvSpPr>
          <p:nvPr/>
        </p:nvSpPr>
        <p:spPr bwMode="auto">
          <a:xfrm flipH="1">
            <a:off x="1619250" y="1474788"/>
            <a:ext cx="720725" cy="4333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4BFD2047-9F21-4981-96A1-4A3621959F8B}"/>
              </a:ext>
            </a:extLst>
          </p:cNvPr>
          <p:cNvSpPr txBox="1">
            <a:spLocks noChangeArrowheads="1"/>
          </p:cNvSpPr>
          <p:nvPr/>
        </p:nvSpPr>
        <p:spPr bwMode="auto">
          <a:xfrm>
            <a:off x="2362200" y="1277938"/>
            <a:ext cx="5810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Defined inline with the semantic of XML schema</a:t>
            </a:r>
          </a:p>
        </p:txBody>
      </p:sp>
      <p:sp>
        <p:nvSpPr>
          <p:cNvPr id="8" name="Line 15">
            <a:extLst>
              <a:ext uri="{FF2B5EF4-FFF2-40B4-BE49-F238E27FC236}">
                <a16:creationId xmlns:a16="http://schemas.microsoft.com/office/drawing/2014/main" id="{D5FCC3E4-5209-418F-B601-D43FA7819888}"/>
              </a:ext>
            </a:extLst>
          </p:cNvPr>
          <p:cNvSpPr>
            <a:spLocks noChangeShapeType="1"/>
          </p:cNvSpPr>
          <p:nvPr/>
        </p:nvSpPr>
        <p:spPr bwMode="auto">
          <a:xfrm flipH="1" flipV="1">
            <a:off x="4067175" y="2205038"/>
            <a:ext cx="2089150" cy="15843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4DB2EDE9-1589-4A9F-9F2F-EE18882DCE5A}"/>
              </a:ext>
            </a:extLst>
          </p:cNvPr>
          <p:cNvSpPr txBox="1">
            <a:spLocks noChangeArrowheads="1"/>
          </p:cNvSpPr>
          <p:nvPr/>
        </p:nvSpPr>
        <p:spPr bwMode="auto">
          <a:xfrm>
            <a:off x="6189928" y="2575999"/>
            <a:ext cx="298782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en-US" altLang="zh-CN" sz="2000" dirty="0">
                <a:solidFill>
                  <a:srgbClr val="000000"/>
                </a:solidFill>
              </a:rPr>
              <a:t>Under the namespace of </a:t>
            </a:r>
            <a:r>
              <a:rPr lang="en-US" altLang="zh-CN" sz="1800" dirty="0">
                <a:hlinkClick r:id="rId3"/>
              </a:rPr>
              <a:t>"http://greath.example.com/2004/schemas/</a:t>
            </a:r>
            <a:r>
              <a:rPr lang="en-US" altLang="zh-CN" sz="1800" dirty="0" err="1">
                <a:hlinkClick r:id="rId3"/>
              </a:rPr>
              <a:t>resSvc</a:t>
            </a:r>
            <a:r>
              <a:rPr lang="en-US" altLang="zh-CN" sz="1800" dirty="0">
                <a:hlinkClick r:id="rId3"/>
              </a:rPr>
              <a:t>" </a:t>
            </a:r>
            <a:endParaRPr lang="en-US" altLang="zh-CN" sz="1800" dirty="0"/>
          </a:p>
          <a:p>
            <a:pPr eaLnBrk="1" hangingPunct="1">
              <a:spcBef>
                <a:spcPct val="50000"/>
              </a:spcBef>
              <a:defRPr/>
            </a:pPr>
            <a:r>
              <a:rPr lang="en-US" altLang="zh-CN" sz="2000" dirty="0">
                <a:solidFill>
                  <a:srgbClr val="000000"/>
                </a:solidFill>
              </a:rPr>
              <a:t>With the prefix </a:t>
            </a:r>
            <a:r>
              <a:rPr lang="en-US" altLang="zh-CN" sz="2000" dirty="0" err="1">
                <a:solidFill>
                  <a:srgbClr val="FF0000"/>
                </a:solidFill>
                <a:highlight>
                  <a:srgbClr val="FFFFFF"/>
                </a:highlight>
                <a:latin typeface="Arial"/>
              </a:rPr>
              <a:t>ghns</a:t>
            </a:r>
            <a:r>
              <a:rPr lang="en-US" altLang="zh-CN" sz="2000" dirty="0">
                <a:solidFill>
                  <a:srgbClr val="FF0000"/>
                </a:solidFill>
                <a:highlight>
                  <a:srgbClr val="FFFFFF"/>
                </a:highlight>
                <a:latin typeface="Arial"/>
              </a:rPr>
              <a:t>: </a:t>
            </a:r>
            <a:r>
              <a:rPr lang="en-US" altLang="zh-CN" sz="2000" dirty="0">
                <a:solidFill>
                  <a:srgbClr val="000000"/>
                </a:solidFill>
              </a:rPr>
              <a:t>available in this document</a:t>
            </a:r>
          </a:p>
        </p:txBody>
      </p:sp>
      <p:sp>
        <p:nvSpPr>
          <p:cNvPr id="10" name="Line 15">
            <a:extLst>
              <a:ext uri="{FF2B5EF4-FFF2-40B4-BE49-F238E27FC236}">
                <a16:creationId xmlns:a16="http://schemas.microsoft.com/office/drawing/2014/main" id="{E4E84E7A-F927-4C46-B5C0-8FED6AA4B96B}"/>
              </a:ext>
            </a:extLst>
          </p:cNvPr>
          <p:cNvSpPr>
            <a:spLocks noChangeShapeType="1"/>
          </p:cNvSpPr>
          <p:nvPr/>
        </p:nvSpPr>
        <p:spPr bwMode="auto">
          <a:xfrm flipH="1">
            <a:off x="3779838" y="3789363"/>
            <a:ext cx="2376487" cy="812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5">
            <a:extLst>
              <a:ext uri="{FF2B5EF4-FFF2-40B4-BE49-F238E27FC236}">
                <a16:creationId xmlns:a16="http://schemas.microsoft.com/office/drawing/2014/main" id="{56ED1A26-C8F5-487B-906F-429A16CFB7CD}"/>
              </a:ext>
            </a:extLst>
          </p:cNvPr>
          <p:cNvSpPr>
            <a:spLocks noChangeShapeType="1"/>
          </p:cNvSpPr>
          <p:nvPr/>
        </p:nvSpPr>
        <p:spPr bwMode="auto">
          <a:xfrm flipH="1">
            <a:off x="4211638" y="3789363"/>
            <a:ext cx="1944687" cy="11731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F14C1135-C541-4B58-88EE-FBA30EC22B9A}"/>
              </a:ext>
            </a:extLst>
          </p:cNvPr>
          <p:cNvSpPr>
            <a:spLocks noGrp="1"/>
          </p:cNvSpPr>
          <p:nvPr>
            <p:ph type="title"/>
          </p:nvPr>
        </p:nvSpPr>
        <p:spPr/>
        <p:txBody>
          <a:bodyPr/>
          <a:lstStyle/>
          <a:p>
            <a:r>
              <a:rPr lang="en-US" altLang="zh-CN"/>
              <a:t>Defining an Interface (1/2)</a:t>
            </a:r>
          </a:p>
        </p:txBody>
      </p:sp>
      <p:sp>
        <p:nvSpPr>
          <p:cNvPr id="3" name="内容占位符 2">
            <a:extLst>
              <a:ext uri="{FF2B5EF4-FFF2-40B4-BE49-F238E27FC236}">
                <a16:creationId xmlns:a16="http://schemas.microsoft.com/office/drawing/2014/main" id="{47229887-4593-4E5F-8BAE-F1E8420A57DC}"/>
              </a:ext>
            </a:extLst>
          </p:cNvPr>
          <p:cNvSpPr>
            <a:spLocks noGrp="1"/>
          </p:cNvSpPr>
          <p:nvPr>
            <p:ph idx="1"/>
          </p:nvPr>
        </p:nvSpPr>
        <p:spPr/>
        <p:txBody>
          <a:bodyPr>
            <a:normAutofit fontScale="70000" lnSpcReduction="20000"/>
          </a:bodyPr>
          <a:lstStyle/>
          <a:p>
            <a:pPr>
              <a:lnSpc>
                <a:spcPct val="120000"/>
              </a:lnSpc>
              <a:defRPr/>
            </a:pPr>
            <a:r>
              <a:rPr lang="en-US" altLang="zh-CN" dirty="0"/>
              <a:t>A WSDL 2.0 </a:t>
            </a:r>
            <a:r>
              <a:rPr lang="en-US" altLang="zh-CN" dirty="0">
                <a:hlinkClick r:id="rId3" action="ppaction://hlinkfile"/>
              </a:rPr>
              <a:t>interface </a:t>
            </a:r>
            <a:r>
              <a:rPr lang="en-US" altLang="zh-CN" dirty="0"/>
              <a:t>defines the abstract interface of a Web service as a set of abstract </a:t>
            </a:r>
            <a:r>
              <a:rPr lang="en-US" altLang="zh-CN" dirty="0">
                <a:hlinkClick r:id="rId4" action="ppaction://hlinkfile"/>
              </a:rPr>
              <a:t>operation</a:t>
            </a:r>
            <a:r>
              <a:rPr lang="en-US" altLang="zh-CN" dirty="0"/>
              <a:t>s</a:t>
            </a:r>
          </a:p>
          <a:p>
            <a:pPr lvl="1">
              <a:lnSpc>
                <a:spcPct val="120000"/>
              </a:lnSpc>
              <a:defRPr/>
            </a:pPr>
            <a:r>
              <a:rPr lang="en-US" altLang="zh-CN" dirty="0"/>
              <a:t>Each operation representing a simple interaction between the client and the service</a:t>
            </a:r>
          </a:p>
          <a:p>
            <a:pPr lvl="1">
              <a:lnSpc>
                <a:spcPct val="120000"/>
              </a:lnSpc>
              <a:defRPr/>
            </a:pPr>
            <a:r>
              <a:rPr lang="en-US" altLang="zh-CN" dirty="0"/>
              <a:t>Each operation specifies the types of messages that the service can send or receive as part of that operation</a:t>
            </a:r>
          </a:p>
          <a:p>
            <a:pPr lvl="1">
              <a:lnSpc>
                <a:spcPct val="120000"/>
              </a:lnSpc>
              <a:defRPr/>
            </a:pPr>
            <a:r>
              <a:rPr lang="en-US" altLang="zh-CN" dirty="0"/>
              <a:t>Each operation also specifies a message exchange pattern (MEP) that indicates the sequence in which the associated messages are to be transmitted between the parties</a:t>
            </a:r>
          </a:p>
          <a:p>
            <a:pPr>
              <a:lnSpc>
                <a:spcPct val="120000"/>
              </a:lnSpc>
              <a:defRPr/>
            </a:pPr>
            <a:r>
              <a:rPr lang="en-US" altLang="zh-CN" dirty="0"/>
              <a:t>In order to define fault, WSDL 2.0 permits fault messages to be declared within the interface element in order to facilitate reuse of faults across operations</a:t>
            </a:r>
          </a:p>
          <a:p>
            <a:pPr lvl="1">
              <a:lnSpc>
                <a:spcPct val="120000"/>
              </a:lnSpc>
              <a:defRPr/>
            </a:pPr>
            <a:r>
              <a:rPr lang="en-US" altLang="zh-CN" dirty="0"/>
              <a:t>If a fault occurs, it terminates whatever message sequence was indicated by the message exchange pattern of the operation</a:t>
            </a:r>
          </a:p>
          <a:p>
            <a:pPr lvl="1">
              <a:defRPr/>
            </a:pPr>
            <a:endParaRPr lang="en-US" altLang="zh-CN" dirty="0"/>
          </a:p>
        </p:txBody>
      </p:sp>
      <p:sp>
        <p:nvSpPr>
          <p:cNvPr id="36868" name="灯片编号占位符 3">
            <a:extLst>
              <a:ext uri="{FF2B5EF4-FFF2-40B4-BE49-F238E27FC236}">
                <a16:creationId xmlns:a16="http://schemas.microsoft.com/office/drawing/2014/main" id="{81FA84A6-2BE0-4887-BFBA-128FD38F27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39156063-BB72-4EA0-9166-B936FC66AC65}" type="slidenum">
              <a:rPr lang="en-US" altLang="zh-CN" sz="1000">
                <a:solidFill>
                  <a:srgbClr val="000000"/>
                </a:solidFill>
              </a:rPr>
              <a:pPr>
                <a:buFont typeface="Wingdings" panose="05000000000000000000" pitchFamily="2" charset="2"/>
                <a:buNone/>
              </a:pPr>
              <a:t>10</a:t>
            </a:fld>
            <a:endParaRPr lang="en-US" altLang="zh-CN" sz="1000">
              <a:solidFill>
                <a:srgbClr val="00000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46B777B0-6524-4D5A-9EBC-C028AFC0DBAF}"/>
              </a:ext>
            </a:extLst>
          </p:cNvPr>
          <p:cNvSpPr>
            <a:spLocks noGrp="1"/>
          </p:cNvSpPr>
          <p:nvPr>
            <p:ph type="title"/>
          </p:nvPr>
        </p:nvSpPr>
        <p:spPr/>
        <p:txBody>
          <a:bodyPr/>
          <a:lstStyle/>
          <a:p>
            <a:r>
              <a:rPr lang="en-US" altLang="zh-CN"/>
              <a:t>Defining an Interface (2/2)</a:t>
            </a:r>
            <a:endParaRPr lang="zh-CN" altLang="en-US"/>
          </a:p>
        </p:txBody>
      </p:sp>
      <p:sp>
        <p:nvSpPr>
          <p:cNvPr id="38915" name="灯片编号占位符 3">
            <a:extLst>
              <a:ext uri="{FF2B5EF4-FFF2-40B4-BE49-F238E27FC236}">
                <a16:creationId xmlns:a16="http://schemas.microsoft.com/office/drawing/2014/main" id="{9756CDA6-12EC-4977-AAD6-AFF71AA254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03DE4728-70BE-476D-8593-174A15DA7F96}" type="slidenum">
              <a:rPr lang="en-US" altLang="zh-CN" sz="1000">
                <a:solidFill>
                  <a:srgbClr val="000000"/>
                </a:solidFill>
              </a:rPr>
              <a:pPr>
                <a:buFont typeface="Wingdings" panose="05000000000000000000" pitchFamily="2" charset="2"/>
                <a:buNone/>
              </a:pPr>
              <a:t>11</a:t>
            </a:fld>
            <a:endParaRPr lang="en-US" altLang="zh-CN" sz="1000">
              <a:solidFill>
                <a:srgbClr val="000000"/>
              </a:solidFill>
            </a:endParaRPr>
          </a:p>
        </p:txBody>
      </p:sp>
      <p:sp>
        <p:nvSpPr>
          <p:cNvPr id="5" name="Text Box 4">
            <a:extLst>
              <a:ext uri="{FF2B5EF4-FFF2-40B4-BE49-F238E27FC236}">
                <a16:creationId xmlns:a16="http://schemas.microsoft.com/office/drawing/2014/main" id="{5034F901-0607-4D9A-9DD9-003CEEF4736E}"/>
              </a:ext>
            </a:extLst>
          </p:cNvPr>
          <p:cNvSpPr txBox="1">
            <a:spLocks noChangeArrowheads="1"/>
          </p:cNvSpPr>
          <p:nvPr/>
        </p:nvSpPr>
        <p:spPr bwMode="auto">
          <a:xfrm>
            <a:off x="323528" y="1441456"/>
            <a:ext cx="8424936" cy="5022914"/>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defRPr/>
            </a:pPr>
            <a:r>
              <a:rPr lang="en-US" altLang="zh-CN" sz="1800" dirty="0">
                <a:solidFill>
                  <a:srgbClr val="0000FF"/>
                </a:solidFill>
                <a:highlight>
                  <a:srgbClr val="FFFFFF"/>
                </a:highlight>
                <a:latin typeface="Arial"/>
              </a:rPr>
              <a:t>……</a:t>
            </a:r>
            <a:endParaRPr lang="zh-CN" altLang="en-US"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FF0000"/>
                </a:solidFill>
                <a:highlight>
                  <a:srgbClr val="FFFFFF"/>
                </a:highlight>
                <a:latin typeface="Arial"/>
              </a:rPr>
              <a:t>  name </a:t>
            </a:r>
            <a:r>
              <a:rPr lang="en-US" altLang="zh-CN" sz="1800" dirty="0">
                <a:solidFill>
                  <a:srgbClr val="0000FF"/>
                </a:solidFill>
                <a:highlight>
                  <a:srgbClr val="FFFFFF"/>
                </a:highlight>
                <a:latin typeface="Arial"/>
              </a:rPr>
              <a:t>= "</a:t>
            </a:r>
            <a:r>
              <a:rPr lang="en-US" altLang="zh-CN" sz="1800" dirty="0" err="1">
                <a:solidFill>
                  <a:srgbClr val="000000"/>
                </a:solidFill>
                <a:highlight>
                  <a:srgbClr val="FFFFFF"/>
                </a:highlight>
                <a:latin typeface="Arial"/>
              </a:rPr>
              <a:t>reservationInterface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fault</a:t>
            </a:r>
            <a:r>
              <a:rPr lang="en-US" altLang="zh-CN" sz="1800" dirty="0">
                <a:solidFill>
                  <a:srgbClr val="FF0000"/>
                </a:solidFill>
                <a:highlight>
                  <a:srgbClr val="FFFFFF"/>
                </a:highlight>
                <a:latin typeface="Arial"/>
              </a:rPr>
              <a:t> name </a:t>
            </a:r>
            <a:r>
              <a:rPr lang="en-US" altLang="zh-CN" sz="1800" dirty="0">
                <a:solidFill>
                  <a:srgbClr val="0000FF"/>
                </a:solidFill>
                <a:highlight>
                  <a:srgbClr val="FFFFFF"/>
                </a:highlight>
                <a:latin typeface="Arial"/>
              </a:rPr>
              <a:t>= "</a:t>
            </a:r>
            <a:r>
              <a:rPr lang="en-US" altLang="zh-CN" sz="1800" dirty="0" err="1">
                <a:solidFill>
                  <a:srgbClr val="000000"/>
                </a:solidFill>
                <a:highlight>
                  <a:srgbClr val="FFFFFF"/>
                </a:highlight>
                <a:latin typeface="Arial"/>
              </a:rPr>
              <a:t>invalidDataFault</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defRPr/>
            </a:pPr>
            <a:r>
              <a:rPr lang="en-US" altLang="zh-CN" sz="1800" dirty="0">
                <a:solidFill>
                  <a:srgbClr val="FF0000"/>
                </a:solidFill>
                <a:highlight>
                  <a:srgbClr val="FFFFFF"/>
                </a:highlight>
                <a:latin typeface="Arial"/>
              </a:rPr>
              <a:t>            element </a:t>
            </a:r>
            <a:r>
              <a:rPr lang="en-US" altLang="zh-CN" sz="1800" dirty="0">
                <a:solidFill>
                  <a:srgbClr val="0000FF"/>
                </a:solidFill>
                <a:highlight>
                  <a:srgbClr val="FFFFFF"/>
                </a:highlight>
                <a:latin typeface="Arial"/>
              </a:rPr>
              <a:t>= "</a:t>
            </a:r>
            <a:r>
              <a:rPr lang="en-US" altLang="zh-CN" sz="1800" dirty="0" err="1">
                <a:solidFill>
                  <a:srgbClr val="000000"/>
                </a:solidFill>
                <a:highlight>
                  <a:srgbClr val="FFFFFF"/>
                </a:highlight>
                <a:latin typeface="Arial"/>
              </a:rPr>
              <a:t>ghns:invalidDataError</a:t>
            </a:r>
            <a:r>
              <a:rPr lang="en-US" altLang="zh-CN" sz="1800" dirty="0">
                <a:solidFill>
                  <a:srgbClr val="0000FF"/>
                </a:solidFill>
                <a:highlight>
                  <a:srgbClr val="FFFFFF"/>
                </a:highlight>
                <a:latin typeface="Arial"/>
              </a:rPr>
              <a:t>"/&gt;</a:t>
            </a:r>
            <a:r>
              <a:rPr lang="en-US" altLang="zh-CN" sz="1800" dirty="0">
                <a:solidFill>
                  <a:srgbClr val="000000"/>
                </a:solidFill>
                <a:highlight>
                  <a:srgbClr val="FFFFFF"/>
                </a:highlight>
                <a:latin typeface="Arial"/>
              </a:rPr>
              <a:t> </a:t>
            </a:r>
            <a:endParaRPr lang="zh-CN" altLang="en-US"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opCheckAvailability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defRPr/>
            </a:pPr>
            <a:r>
              <a:rPr lang="en-US" altLang="zh-CN" sz="1800" dirty="0">
                <a:solidFill>
                  <a:srgbClr val="FF0000"/>
                </a:solidFill>
                <a:highlight>
                  <a:srgbClr val="FFFFFF"/>
                </a:highlight>
                <a:latin typeface="Arial"/>
              </a:rPr>
              <a:t>            pattern</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http://www.w3.org/ns/wsdl/in-out</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defRPr/>
            </a:pPr>
            <a:r>
              <a:rPr lang="en-US" altLang="zh-CN" sz="1800" dirty="0">
                <a:solidFill>
                  <a:srgbClr val="FF0000"/>
                </a:solidFill>
                <a:highlight>
                  <a:srgbClr val="FFFFFF"/>
                </a:highlight>
                <a:latin typeface="Arial"/>
              </a:rPr>
              <a:t>            style</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http://www.w3.org/ns/wsdl/style/iri</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wsdlx:safe</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true</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input</a:t>
            </a: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messageLabel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In</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element</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ghns:checkAvailability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output</a:t>
            </a: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messageLabel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Out</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element</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ghns:checkAvailabilityResponse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err="1">
                <a:solidFill>
                  <a:srgbClr val="800000"/>
                </a:solidFill>
                <a:highlight>
                  <a:srgbClr val="FFFFFF"/>
                </a:highlight>
                <a:latin typeface="Arial"/>
              </a:rPr>
              <a:t>outfault</a:t>
            </a:r>
            <a:r>
              <a:rPr lang="en-US" altLang="zh-CN" sz="1800" dirty="0">
                <a:solidFill>
                  <a:srgbClr val="FF0000"/>
                </a:solidFill>
                <a:highlight>
                  <a:srgbClr val="FFFFFF"/>
                </a:highlight>
                <a:latin typeface="Arial"/>
              </a:rPr>
              <a:t> ref</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tns:invalidDataFault</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messageLabel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Out</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 . .</a:t>
            </a:r>
          </a:p>
          <a:p>
            <a:pPr eaLnBrk="1" hangingPunct="1">
              <a:spcBef>
                <a:spcPct val="20000"/>
              </a:spcBef>
              <a:buClr>
                <a:schemeClr val="accent1"/>
              </a:buClr>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7D632C2F-148F-4CAC-8160-6283BAC2EF6B}"/>
              </a:ext>
            </a:extLst>
          </p:cNvPr>
          <p:cNvSpPr>
            <a:spLocks noChangeShapeType="1"/>
          </p:cNvSpPr>
          <p:nvPr/>
        </p:nvSpPr>
        <p:spPr bwMode="auto">
          <a:xfrm flipH="1">
            <a:off x="5076825" y="1989138"/>
            <a:ext cx="574675"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5C1314E1-E4BF-47D1-A59F-E7680937954A}"/>
              </a:ext>
            </a:extLst>
          </p:cNvPr>
          <p:cNvSpPr txBox="1">
            <a:spLocks noChangeArrowheads="1"/>
          </p:cNvSpPr>
          <p:nvPr/>
        </p:nvSpPr>
        <p:spPr bwMode="auto">
          <a:xfrm>
            <a:off x="5711369" y="1556792"/>
            <a:ext cx="354115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en-US" altLang="zh-CN" sz="2000" dirty="0"/>
              <a:t>Declared directly inside the </a:t>
            </a:r>
            <a:r>
              <a:rPr lang="en-US" altLang="zh-CN" sz="2000" dirty="0">
                <a:hlinkClick r:id="rId3" action="ppaction://hlinkfile"/>
              </a:rPr>
              <a:t>description</a:t>
            </a:r>
            <a:r>
              <a:rPr lang="en-US" altLang="zh-CN" sz="2000" dirty="0"/>
              <a:t> element</a:t>
            </a:r>
          </a:p>
          <a:p>
            <a:pPr eaLnBrk="1" hangingPunct="1">
              <a:spcBef>
                <a:spcPct val="50000"/>
              </a:spcBef>
              <a:defRPr/>
            </a:pPr>
            <a:r>
              <a:rPr lang="en-US" altLang="zh-CN" sz="2000" dirty="0">
                <a:solidFill>
                  <a:srgbClr val="000000"/>
                </a:solidFill>
              </a:rPr>
              <a:t>Multiple </a:t>
            </a:r>
            <a:r>
              <a:rPr lang="en-US" altLang="zh-CN" sz="2000" dirty="0">
                <a:hlinkClick r:id="rId3" action="ppaction://hlinkfile"/>
              </a:rPr>
              <a:t>interface</a:t>
            </a:r>
            <a:r>
              <a:rPr lang="en-US" altLang="zh-CN" sz="2000" dirty="0"/>
              <a:t> are allowed with unique </a:t>
            </a:r>
            <a:r>
              <a:rPr lang="en-US" altLang="zh-CN" sz="2000" dirty="0">
                <a:solidFill>
                  <a:srgbClr val="FF0000"/>
                </a:solidFill>
                <a:highlight>
                  <a:srgbClr val="FFFFFF"/>
                </a:highlight>
                <a:latin typeface="Arial"/>
              </a:rPr>
              <a:t>name</a:t>
            </a:r>
            <a:r>
              <a:rPr lang="en-US" altLang="zh-CN" sz="2000" dirty="0">
                <a:highlight>
                  <a:srgbClr val="FFFFFF"/>
                </a:highlight>
                <a:latin typeface="Arial"/>
              </a:rPr>
              <a:t>s</a:t>
            </a:r>
            <a:endParaRPr lang="en-US" altLang="zh-CN" sz="2000" dirty="0"/>
          </a:p>
        </p:txBody>
      </p:sp>
      <p:sp>
        <p:nvSpPr>
          <p:cNvPr id="8" name="Line 15">
            <a:extLst>
              <a:ext uri="{FF2B5EF4-FFF2-40B4-BE49-F238E27FC236}">
                <a16:creationId xmlns:a16="http://schemas.microsoft.com/office/drawing/2014/main" id="{8EE6AEC5-62F6-4D88-8FF6-E309E53A86D9}"/>
              </a:ext>
            </a:extLst>
          </p:cNvPr>
          <p:cNvSpPr>
            <a:spLocks noChangeShapeType="1"/>
          </p:cNvSpPr>
          <p:nvPr/>
        </p:nvSpPr>
        <p:spPr bwMode="auto">
          <a:xfrm flipH="1">
            <a:off x="4211638" y="1417638"/>
            <a:ext cx="1247775" cy="3841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4493FB4C-741C-4B8A-942C-9E55BAA298A6}"/>
              </a:ext>
            </a:extLst>
          </p:cNvPr>
          <p:cNvSpPr txBox="1">
            <a:spLocks noChangeArrowheads="1"/>
          </p:cNvSpPr>
          <p:nvPr/>
        </p:nvSpPr>
        <p:spPr bwMode="auto">
          <a:xfrm>
            <a:off x="5461000" y="1016000"/>
            <a:ext cx="35417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2000">
                <a:solidFill>
                  <a:srgbClr val="000000"/>
                </a:solidFill>
              </a:rPr>
              <a:t>Token that </a:t>
            </a:r>
            <a:r>
              <a:rPr lang="en-US" altLang="zh-CN" sz="2000"/>
              <a:t>must not contain a space or colon (":").</a:t>
            </a:r>
            <a:r>
              <a:rPr lang="en-US" altLang="zh-CN" sz="2000">
                <a:solidFill>
                  <a:srgbClr val="000000"/>
                </a:solidFill>
              </a:rPr>
              <a:t> </a:t>
            </a:r>
          </a:p>
        </p:txBody>
      </p:sp>
      <p:sp>
        <p:nvSpPr>
          <p:cNvPr id="10" name="Line 15">
            <a:extLst>
              <a:ext uri="{FF2B5EF4-FFF2-40B4-BE49-F238E27FC236}">
                <a16:creationId xmlns:a16="http://schemas.microsoft.com/office/drawing/2014/main" id="{248B15D0-A451-44E1-8E88-C2819A99257F}"/>
              </a:ext>
            </a:extLst>
          </p:cNvPr>
          <p:cNvSpPr>
            <a:spLocks noChangeShapeType="1"/>
          </p:cNvSpPr>
          <p:nvPr/>
        </p:nvSpPr>
        <p:spPr bwMode="auto">
          <a:xfrm flipH="1">
            <a:off x="4184650" y="2316163"/>
            <a:ext cx="576263"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A9A299C2-FCB3-4C6C-B756-BB33EBE0CCEE}"/>
              </a:ext>
            </a:extLst>
          </p:cNvPr>
          <p:cNvSpPr txBox="1">
            <a:spLocks noChangeArrowheads="1"/>
          </p:cNvSpPr>
          <p:nvPr/>
        </p:nvSpPr>
        <p:spPr bwMode="auto">
          <a:xfrm>
            <a:off x="4783138" y="1963738"/>
            <a:ext cx="354012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2000">
                <a:solidFill>
                  <a:srgbClr val="000000"/>
                </a:solidFill>
              </a:rPr>
              <a:t>The name of fault. It is unique within this </a:t>
            </a:r>
            <a:r>
              <a:rPr lang="en-US" altLang="zh-CN" sz="2000">
                <a:hlinkClick r:id="rId3" action="ppaction://hlinkfile"/>
              </a:rPr>
              <a:t>interface</a:t>
            </a:r>
            <a:r>
              <a:rPr lang="en-US" altLang="zh-CN" sz="2000"/>
              <a:t> </a:t>
            </a:r>
            <a:endParaRPr lang="en-US" altLang="zh-CN" sz="2000">
              <a:solidFill>
                <a:srgbClr val="000000"/>
              </a:solidFill>
            </a:endParaRPr>
          </a:p>
        </p:txBody>
      </p:sp>
      <p:sp>
        <p:nvSpPr>
          <p:cNvPr id="12" name="Line 15">
            <a:extLst>
              <a:ext uri="{FF2B5EF4-FFF2-40B4-BE49-F238E27FC236}">
                <a16:creationId xmlns:a16="http://schemas.microsoft.com/office/drawing/2014/main" id="{9C4AB088-FD93-4EAD-87CA-891D56C6193B}"/>
              </a:ext>
            </a:extLst>
          </p:cNvPr>
          <p:cNvSpPr>
            <a:spLocks noChangeShapeType="1"/>
          </p:cNvSpPr>
          <p:nvPr/>
        </p:nvSpPr>
        <p:spPr bwMode="auto">
          <a:xfrm flipH="1">
            <a:off x="5005388" y="2659063"/>
            <a:ext cx="57626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9F35A690-20E6-4183-84A2-189FFC962EFB}"/>
              </a:ext>
            </a:extLst>
          </p:cNvPr>
          <p:cNvSpPr txBox="1">
            <a:spLocks noChangeArrowheads="1"/>
          </p:cNvSpPr>
          <p:nvPr/>
        </p:nvSpPr>
        <p:spPr bwMode="auto">
          <a:xfrm>
            <a:off x="5602288" y="2305050"/>
            <a:ext cx="35417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2000"/>
              <a:t>The schema type of the fault message as a Qname</a:t>
            </a:r>
            <a:endParaRPr lang="en-US" altLang="zh-CN" sz="2000">
              <a:solidFill>
                <a:srgbClr val="000000"/>
              </a:solidFill>
            </a:endParaRPr>
          </a:p>
        </p:txBody>
      </p:sp>
      <p:sp>
        <p:nvSpPr>
          <p:cNvPr id="14" name="Line 15">
            <a:extLst>
              <a:ext uri="{FF2B5EF4-FFF2-40B4-BE49-F238E27FC236}">
                <a16:creationId xmlns:a16="http://schemas.microsoft.com/office/drawing/2014/main" id="{4B66A02D-9949-4AE1-B102-250FAEEEF689}"/>
              </a:ext>
            </a:extLst>
          </p:cNvPr>
          <p:cNvSpPr>
            <a:spLocks noChangeShapeType="1"/>
          </p:cNvSpPr>
          <p:nvPr/>
        </p:nvSpPr>
        <p:spPr bwMode="auto">
          <a:xfrm flipH="1">
            <a:off x="4857750" y="2970213"/>
            <a:ext cx="576263"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16">
            <a:extLst>
              <a:ext uri="{FF2B5EF4-FFF2-40B4-BE49-F238E27FC236}">
                <a16:creationId xmlns:a16="http://schemas.microsoft.com/office/drawing/2014/main" id="{03FFE4A4-7DF9-4C04-9C37-F27B740D19B3}"/>
              </a:ext>
            </a:extLst>
          </p:cNvPr>
          <p:cNvSpPr txBox="1">
            <a:spLocks noChangeArrowheads="1"/>
          </p:cNvSpPr>
          <p:nvPr/>
        </p:nvSpPr>
        <p:spPr bwMode="auto">
          <a:xfrm>
            <a:off x="5540375" y="1798638"/>
            <a:ext cx="35401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2000"/>
              <a:t>The name of operation. It’s also unique. </a:t>
            </a:r>
          </a:p>
          <a:p>
            <a:pPr eaLnBrk="1" hangingPunct="1">
              <a:spcBef>
                <a:spcPct val="50000"/>
              </a:spcBef>
              <a:buClrTx/>
              <a:buFont typeface="Wingdings" panose="05000000000000000000" pitchFamily="2" charset="2"/>
              <a:buNone/>
            </a:pPr>
            <a:r>
              <a:rPr lang="en-US" altLang="zh-CN" sz="2000">
                <a:solidFill>
                  <a:srgbClr val="000000"/>
                </a:solidFill>
              </a:rPr>
              <a:t>But </a:t>
            </a:r>
            <a:r>
              <a:rPr lang="en-US" altLang="zh-CN" sz="2000"/>
              <a:t>WSDL 2.0 uses separate symbol spaces for operation and fault names, so operation name "</a:t>
            </a:r>
            <a:r>
              <a:rPr lang="en-US" altLang="zh-CN" sz="2000">
                <a:solidFill>
                  <a:srgbClr val="FF0000"/>
                </a:solidFill>
              </a:rPr>
              <a:t>foo</a:t>
            </a:r>
            <a:r>
              <a:rPr lang="en-US" altLang="zh-CN" sz="2000"/>
              <a:t>" is distinct from fault name "</a:t>
            </a:r>
            <a:r>
              <a:rPr lang="en-US" altLang="zh-CN" sz="2000">
                <a:solidFill>
                  <a:srgbClr val="FF0000"/>
                </a:solidFill>
              </a:rPr>
              <a:t>foo</a:t>
            </a:r>
            <a:r>
              <a:rPr lang="en-US" altLang="zh-CN" sz="2000"/>
              <a:t>".</a:t>
            </a:r>
            <a:endParaRPr lang="en-US" altLang="zh-CN" sz="2000">
              <a:solidFill>
                <a:srgbClr val="000000"/>
              </a:solidFill>
            </a:endParaRPr>
          </a:p>
        </p:txBody>
      </p:sp>
      <p:sp>
        <p:nvSpPr>
          <p:cNvPr id="16" name="Line 15">
            <a:extLst>
              <a:ext uri="{FF2B5EF4-FFF2-40B4-BE49-F238E27FC236}">
                <a16:creationId xmlns:a16="http://schemas.microsoft.com/office/drawing/2014/main" id="{CFAF059F-57EE-4D81-9B7C-8DE6CB6DC1BD}"/>
              </a:ext>
            </a:extLst>
          </p:cNvPr>
          <p:cNvSpPr>
            <a:spLocks noChangeShapeType="1"/>
          </p:cNvSpPr>
          <p:nvPr/>
        </p:nvSpPr>
        <p:spPr bwMode="auto">
          <a:xfrm flipH="1">
            <a:off x="5591175" y="3336925"/>
            <a:ext cx="496888"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a:extLst>
              <a:ext uri="{FF2B5EF4-FFF2-40B4-BE49-F238E27FC236}">
                <a16:creationId xmlns:a16="http://schemas.microsoft.com/office/drawing/2014/main" id="{4C81CDB1-38B8-4FFE-845D-CF13547EAD20}"/>
              </a:ext>
            </a:extLst>
          </p:cNvPr>
          <p:cNvSpPr txBox="1">
            <a:spLocks noChangeArrowheads="1"/>
          </p:cNvSpPr>
          <p:nvPr/>
        </p:nvSpPr>
        <p:spPr bwMode="auto">
          <a:xfrm>
            <a:off x="6149975" y="2784475"/>
            <a:ext cx="3048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 typeface="Wingdings" panose="05000000000000000000" pitchFamily="2" charset="2"/>
              <a:buNone/>
            </a:pPr>
            <a:r>
              <a:rPr lang="en-US" altLang="zh-CN" sz="2000"/>
              <a:t>Use the </a:t>
            </a:r>
            <a:r>
              <a:rPr lang="en-US" altLang="zh-CN" sz="2000">
                <a:hlinkClick r:id="rId4"/>
              </a:rPr>
              <a:t>in-out</a:t>
            </a:r>
            <a:r>
              <a:rPr lang="en-US" altLang="zh-CN" sz="2000"/>
              <a:t> pattern. Customized patterns can be referenced by URI </a:t>
            </a:r>
            <a:endParaRPr lang="en-US" altLang="zh-CN" sz="2000">
              <a:solidFill>
                <a:srgbClr val="000000"/>
              </a:solidFill>
            </a:endParaRPr>
          </a:p>
        </p:txBody>
      </p:sp>
      <p:sp>
        <p:nvSpPr>
          <p:cNvPr id="18" name="Line 15">
            <a:extLst>
              <a:ext uri="{FF2B5EF4-FFF2-40B4-BE49-F238E27FC236}">
                <a16:creationId xmlns:a16="http://schemas.microsoft.com/office/drawing/2014/main" id="{77486945-6C36-4EE3-8632-075CBAEBA0EA}"/>
              </a:ext>
            </a:extLst>
          </p:cNvPr>
          <p:cNvSpPr>
            <a:spLocks noChangeShapeType="1"/>
          </p:cNvSpPr>
          <p:nvPr/>
        </p:nvSpPr>
        <p:spPr bwMode="auto">
          <a:xfrm flipH="1">
            <a:off x="5540375" y="3627438"/>
            <a:ext cx="496888"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16">
            <a:extLst>
              <a:ext uri="{FF2B5EF4-FFF2-40B4-BE49-F238E27FC236}">
                <a16:creationId xmlns:a16="http://schemas.microsoft.com/office/drawing/2014/main" id="{DAD798A9-A869-4E29-BC65-8D1EF6CFB32F}"/>
              </a:ext>
            </a:extLst>
          </p:cNvPr>
          <p:cNvSpPr txBox="1">
            <a:spLocks noChangeArrowheads="1"/>
          </p:cNvSpPr>
          <p:nvPr/>
        </p:nvSpPr>
        <p:spPr bwMode="auto">
          <a:xfrm>
            <a:off x="5981700" y="2232025"/>
            <a:ext cx="304958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The input message of this operation follows a set of rules as specified in </a:t>
            </a:r>
            <a:r>
              <a:rPr lang="en-US" altLang="zh-CN" sz="2000">
                <a:hlinkClick r:id="rId5"/>
              </a:rPr>
              <a:t>IRI Style</a:t>
            </a:r>
            <a:r>
              <a:rPr lang="en-US" altLang="zh-CN" sz="2000"/>
              <a:t> that ensures the message can be serialized as an IRI</a:t>
            </a:r>
            <a:endParaRPr lang="en-US" altLang="zh-CN" sz="2000">
              <a:hlinkClick r:id="rId4"/>
            </a:endParaRPr>
          </a:p>
        </p:txBody>
      </p:sp>
      <p:sp>
        <p:nvSpPr>
          <p:cNvPr id="20" name="Line 15">
            <a:extLst>
              <a:ext uri="{FF2B5EF4-FFF2-40B4-BE49-F238E27FC236}">
                <a16:creationId xmlns:a16="http://schemas.microsoft.com/office/drawing/2014/main" id="{3EDFA8C8-0F2E-4881-9918-2019E7570D43}"/>
              </a:ext>
            </a:extLst>
          </p:cNvPr>
          <p:cNvSpPr>
            <a:spLocks noChangeShapeType="1"/>
          </p:cNvSpPr>
          <p:nvPr/>
        </p:nvSpPr>
        <p:spPr bwMode="auto">
          <a:xfrm flipH="1" flipV="1">
            <a:off x="1619250" y="4365625"/>
            <a:ext cx="1081088" cy="16462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16">
            <a:extLst>
              <a:ext uri="{FF2B5EF4-FFF2-40B4-BE49-F238E27FC236}">
                <a16:creationId xmlns:a16="http://schemas.microsoft.com/office/drawing/2014/main" id="{55DBF2F1-748C-4FA5-8927-E0ECB5AD0A3E}"/>
              </a:ext>
            </a:extLst>
          </p:cNvPr>
          <p:cNvSpPr txBox="1">
            <a:spLocks noChangeArrowheads="1"/>
          </p:cNvSpPr>
          <p:nvPr/>
        </p:nvSpPr>
        <p:spPr bwMode="auto">
          <a:xfrm>
            <a:off x="1955800" y="6011863"/>
            <a:ext cx="3049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The input message</a:t>
            </a:r>
            <a:endParaRPr lang="en-US" altLang="zh-CN" sz="2000">
              <a:hlinkClick r:id="rId4"/>
            </a:endParaRPr>
          </a:p>
        </p:txBody>
      </p:sp>
      <p:sp>
        <p:nvSpPr>
          <p:cNvPr id="22" name="Line 15">
            <a:extLst>
              <a:ext uri="{FF2B5EF4-FFF2-40B4-BE49-F238E27FC236}">
                <a16:creationId xmlns:a16="http://schemas.microsoft.com/office/drawing/2014/main" id="{E4F3405E-8E92-4106-BC51-4DE4302DBD4A}"/>
              </a:ext>
            </a:extLst>
          </p:cNvPr>
          <p:cNvSpPr>
            <a:spLocks noChangeShapeType="1"/>
          </p:cNvSpPr>
          <p:nvPr/>
        </p:nvSpPr>
        <p:spPr bwMode="auto">
          <a:xfrm flipH="1" flipV="1">
            <a:off x="3541713" y="4313238"/>
            <a:ext cx="1219200" cy="11684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16">
            <a:extLst>
              <a:ext uri="{FF2B5EF4-FFF2-40B4-BE49-F238E27FC236}">
                <a16:creationId xmlns:a16="http://schemas.microsoft.com/office/drawing/2014/main" id="{A392732D-43EB-4256-9A0E-C09DC6A25415}"/>
              </a:ext>
            </a:extLst>
          </p:cNvPr>
          <p:cNvSpPr txBox="1">
            <a:spLocks noChangeArrowheads="1"/>
          </p:cNvSpPr>
          <p:nvPr/>
        </p:nvSpPr>
        <p:spPr bwMode="auto">
          <a:xfrm>
            <a:off x="4308475" y="5481638"/>
            <a:ext cx="38385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Used to indicate particular message in pattern, if multiple input messages are allowed. Operational</a:t>
            </a:r>
            <a:r>
              <a:rPr lang="zh-CN" altLang="en-US" sz="2000"/>
              <a:t> </a:t>
            </a:r>
            <a:r>
              <a:rPr lang="en-US" altLang="zh-CN" sz="2000"/>
              <a:t>in some patterns</a:t>
            </a:r>
            <a:endParaRPr lang="en-US" altLang="zh-CN" sz="2000">
              <a:hlinkClick r:id="rId4"/>
            </a:endParaRPr>
          </a:p>
        </p:txBody>
      </p:sp>
      <p:sp>
        <p:nvSpPr>
          <p:cNvPr id="24" name="Line 15">
            <a:extLst>
              <a:ext uri="{FF2B5EF4-FFF2-40B4-BE49-F238E27FC236}">
                <a16:creationId xmlns:a16="http://schemas.microsoft.com/office/drawing/2014/main" id="{06EA8B5D-E3F3-4C4A-8210-5BE756270301}"/>
              </a:ext>
            </a:extLst>
          </p:cNvPr>
          <p:cNvSpPr>
            <a:spLocks noChangeShapeType="1"/>
          </p:cNvSpPr>
          <p:nvPr/>
        </p:nvSpPr>
        <p:spPr bwMode="auto">
          <a:xfrm flipH="1" flipV="1">
            <a:off x="5137150" y="4316413"/>
            <a:ext cx="1081088" cy="1647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16">
            <a:extLst>
              <a:ext uri="{FF2B5EF4-FFF2-40B4-BE49-F238E27FC236}">
                <a16:creationId xmlns:a16="http://schemas.microsoft.com/office/drawing/2014/main" id="{5AEA90CB-6701-4741-9989-D1E785D96EA5}"/>
              </a:ext>
            </a:extLst>
          </p:cNvPr>
          <p:cNvSpPr txBox="1">
            <a:spLocks noChangeArrowheads="1"/>
          </p:cNvSpPr>
          <p:nvPr/>
        </p:nvSpPr>
        <p:spPr bwMode="auto">
          <a:xfrm>
            <a:off x="5588000" y="5922963"/>
            <a:ext cx="1919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Message type</a:t>
            </a:r>
            <a:endParaRPr lang="en-US" altLang="zh-CN" sz="2000">
              <a:hlinkClick r:id="rId4"/>
            </a:endParaRPr>
          </a:p>
        </p:txBody>
      </p:sp>
      <p:sp>
        <p:nvSpPr>
          <p:cNvPr id="26" name="Line 15">
            <a:extLst>
              <a:ext uri="{FF2B5EF4-FFF2-40B4-BE49-F238E27FC236}">
                <a16:creationId xmlns:a16="http://schemas.microsoft.com/office/drawing/2014/main" id="{3FFB1240-7C92-4470-BF38-DA924C3F0FC8}"/>
              </a:ext>
            </a:extLst>
          </p:cNvPr>
          <p:cNvSpPr>
            <a:spLocks noChangeShapeType="1"/>
          </p:cNvSpPr>
          <p:nvPr/>
        </p:nvSpPr>
        <p:spPr bwMode="auto">
          <a:xfrm flipH="1" flipV="1">
            <a:off x="1620838" y="4725988"/>
            <a:ext cx="1081087" cy="1647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16">
            <a:extLst>
              <a:ext uri="{FF2B5EF4-FFF2-40B4-BE49-F238E27FC236}">
                <a16:creationId xmlns:a16="http://schemas.microsoft.com/office/drawing/2014/main" id="{159E30C7-E825-4046-A53F-921329623BF9}"/>
              </a:ext>
            </a:extLst>
          </p:cNvPr>
          <p:cNvSpPr txBox="1">
            <a:spLocks noChangeArrowheads="1"/>
          </p:cNvSpPr>
          <p:nvPr/>
        </p:nvSpPr>
        <p:spPr bwMode="auto">
          <a:xfrm>
            <a:off x="2200275" y="6373813"/>
            <a:ext cx="96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Similar</a:t>
            </a:r>
            <a:endParaRPr lang="en-US" altLang="zh-CN" sz="2000">
              <a:hlinkClick r:id="rId4"/>
            </a:endParaRPr>
          </a:p>
        </p:txBody>
      </p:sp>
      <p:sp>
        <p:nvSpPr>
          <p:cNvPr id="30" name="Line 15">
            <a:extLst>
              <a:ext uri="{FF2B5EF4-FFF2-40B4-BE49-F238E27FC236}">
                <a16:creationId xmlns:a16="http://schemas.microsoft.com/office/drawing/2014/main" id="{BE360A84-EA99-4868-AEFF-864E3ECDCCBE}"/>
              </a:ext>
            </a:extLst>
          </p:cNvPr>
          <p:cNvSpPr>
            <a:spLocks noChangeShapeType="1"/>
          </p:cNvSpPr>
          <p:nvPr/>
        </p:nvSpPr>
        <p:spPr bwMode="auto">
          <a:xfrm flipV="1">
            <a:off x="2747963" y="4725988"/>
            <a:ext cx="247650" cy="1647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15">
            <a:extLst>
              <a:ext uri="{FF2B5EF4-FFF2-40B4-BE49-F238E27FC236}">
                <a16:creationId xmlns:a16="http://schemas.microsoft.com/office/drawing/2014/main" id="{2F8AE0CE-7C04-464D-B392-5F17545E93F4}"/>
              </a:ext>
            </a:extLst>
          </p:cNvPr>
          <p:cNvSpPr>
            <a:spLocks noChangeShapeType="1"/>
          </p:cNvSpPr>
          <p:nvPr/>
        </p:nvSpPr>
        <p:spPr bwMode="auto">
          <a:xfrm flipV="1">
            <a:off x="2747963" y="4725988"/>
            <a:ext cx="1662112" cy="1647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5">
            <a:extLst>
              <a:ext uri="{FF2B5EF4-FFF2-40B4-BE49-F238E27FC236}">
                <a16:creationId xmlns:a16="http://schemas.microsoft.com/office/drawing/2014/main" id="{0C038A2D-B086-4C38-BB05-7016CE7E31C1}"/>
              </a:ext>
            </a:extLst>
          </p:cNvPr>
          <p:cNvSpPr>
            <a:spLocks noChangeShapeType="1"/>
          </p:cNvSpPr>
          <p:nvPr/>
        </p:nvSpPr>
        <p:spPr bwMode="auto">
          <a:xfrm flipH="1" flipV="1">
            <a:off x="3194050" y="5013325"/>
            <a:ext cx="349250" cy="12144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 Box 16">
            <a:extLst>
              <a:ext uri="{FF2B5EF4-FFF2-40B4-BE49-F238E27FC236}">
                <a16:creationId xmlns:a16="http://schemas.microsoft.com/office/drawing/2014/main" id="{7EFA87B7-0B57-4740-B142-4F70CE93A441}"/>
              </a:ext>
            </a:extLst>
          </p:cNvPr>
          <p:cNvSpPr txBox="1">
            <a:spLocks noChangeArrowheads="1"/>
          </p:cNvSpPr>
          <p:nvPr/>
        </p:nvSpPr>
        <p:spPr bwMode="auto">
          <a:xfrm>
            <a:off x="2398713" y="6134100"/>
            <a:ext cx="3536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The Qname of this fault </a:t>
            </a:r>
            <a:endParaRPr lang="en-US" altLang="zh-CN" sz="2000">
              <a:hlinkClick r:id="rId4"/>
            </a:endParaRPr>
          </a:p>
        </p:txBody>
      </p:sp>
      <p:sp>
        <p:nvSpPr>
          <p:cNvPr id="34" name="Line 15">
            <a:extLst>
              <a:ext uri="{FF2B5EF4-FFF2-40B4-BE49-F238E27FC236}">
                <a16:creationId xmlns:a16="http://schemas.microsoft.com/office/drawing/2014/main" id="{35048154-09F3-41C9-9484-CF1228AD1F33}"/>
              </a:ext>
            </a:extLst>
          </p:cNvPr>
          <p:cNvSpPr>
            <a:spLocks noChangeShapeType="1"/>
          </p:cNvSpPr>
          <p:nvPr/>
        </p:nvSpPr>
        <p:spPr bwMode="auto">
          <a:xfrm flipH="1" flipV="1">
            <a:off x="5981700" y="5027613"/>
            <a:ext cx="1976438" cy="11715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Text Box 16">
            <a:extLst>
              <a:ext uri="{FF2B5EF4-FFF2-40B4-BE49-F238E27FC236}">
                <a16:creationId xmlns:a16="http://schemas.microsoft.com/office/drawing/2014/main" id="{5D5E0B80-00F3-4076-9D9B-B5B0591491FC}"/>
              </a:ext>
            </a:extLst>
          </p:cNvPr>
          <p:cNvSpPr txBox="1">
            <a:spLocks noChangeArrowheads="1"/>
          </p:cNvSpPr>
          <p:nvPr/>
        </p:nvSpPr>
        <p:spPr bwMode="auto">
          <a:xfrm>
            <a:off x="7605713" y="6122988"/>
            <a:ext cx="96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Similar</a:t>
            </a:r>
            <a:endParaRPr lang="en-US" altLang="zh-CN" sz="2000">
              <a:hlinkClick r:id="rId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par>
                                <p:cTn id="64" presetID="10" presetClass="entr" presetSubtype="0"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par>
                                <p:cTn id="72" presetID="10" presetClass="entr" presetSubtype="0" fill="hold"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75" fill="hold" nodeType="clickPar">
                      <p:stCondLst>
                        <p:cond delay="indefinite"/>
                      </p:stCondLst>
                      <p:childTnLst>
                        <p:par>
                          <p:cTn id="76" fill="hold" nodeType="withGroup">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par>
                                <p:cTn id="80" presetID="10" presetClass="entr" presetSubtype="0" fill="hold"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83" fill="hold" nodeType="clickPar">
                      <p:stCondLst>
                        <p:cond delay="indefinite"/>
                      </p:stCondLst>
                      <p:childTnLst>
                        <p:par>
                          <p:cTn id="84" fill="hold" nodeType="withGroup">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par>
                                <p:cTn id="88" presetID="10" presetClass="entr" presetSubtype="0" fill="hold"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par>
                                <p:cTn id="91" presetID="10"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par>
                                <p:cTn id="94" presetID="10" presetClass="entr" presetSubtype="0"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97" fill="hold" nodeType="clickPar">
                      <p:stCondLst>
                        <p:cond delay="indefinite"/>
                      </p:stCondLst>
                      <p:childTnLst>
                        <p:par>
                          <p:cTn id="98" fill="hold" nodeType="withGroup">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par>
                                <p:cTn id="102" presetID="10" presetClass="entr" presetSubtype="0" fill="hold"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105" fill="hold" nodeType="clickPar">
                      <p:stCondLst>
                        <p:cond delay="indefinite"/>
                      </p:stCondLst>
                      <p:childTnLst>
                        <p:par>
                          <p:cTn id="106" fill="hold" nodeType="withGroup">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childTnLst>
                                  <p:subTnLst>
                                    <p:set>
                                      <p:cBhvr override="childStyle">
                                        <p:cTn dur="1" fill="hold" display="0" masterRel="nextClick" afterEffect="1"/>
                                        <p:tgtEl>
                                          <p:spTgt spid="35"/>
                                        </p:tgtEl>
                                        <p:attrNameLst>
                                          <p:attrName>style.visibility</p:attrName>
                                        </p:attrNameLst>
                                      </p:cBhvr>
                                      <p:to>
                                        <p:strVal val="hidden"/>
                                      </p:to>
                                    </p:set>
                                  </p:subTnLst>
                                </p:cTn>
                              </p:par>
                              <p:par>
                                <p:cTn id="110" presetID="10" presetClass="entr" presetSubtype="0" fill="hold"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P spid="19" grpId="0"/>
      <p:bldP spid="21" grpId="0"/>
      <p:bldP spid="23" grpId="0"/>
      <p:bldP spid="25" grpId="0"/>
      <p:bldP spid="27" grpId="0"/>
      <p:bldP spid="33"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22B49E9D-93FF-4CF8-838D-D46B111015D2}"/>
              </a:ext>
            </a:extLst>
          </p:cNvPr>
          <p:cNvSpPr>
            <a:spLocks noGrp="1"/>
          </p:cNvSpPr>
          <p:nvPr>
            <p:ph type="title"/>
          </p:nvPr>
        </p:nvSpPr>
        <p:spPr/>
        <p:txBody>
          <a:bodyPr/>
          <a:lstStyle/>
          <a:p>
            <a:r>
              <a:rPr lang="en-US" altLang="zh-CN"/>
              <a:t>Defining a Binding (1/4)</a:t>
            </a:r>
            <a:endParaRPr lang="zh-CN" altLang="en-US"/>
          </a:p>
        </p:txBody>
      </p:sp>
      <p:sp>
        <p:nvSpPr>
          <p:cNvPr id="3" name="内容占位符 2">
            <a:extLst>
              <a:ext uri="{FF2B5EF4-FFF2-40B4-BE49-F238E27FC236}">
                <a16:creationId xmlns:a16="http://schemas.microsoft.com/office/drawing/2014/main" id="{1BF4AC04-04BB-41A7-A07F-15BCEB5A4650}"/>
              </a:ext>
            </a:extLst>
          </p:cNvPr>
          <p:cNvSpPr>
            <a:spLocks noGrp="1"/>
          </p:cNvSpPr>
          <p:nvPr>
            <p:ph idx="1"/>
          </p:nvPr>
        </p:nvSpPr>
        <p:spPr/>
        <p:txBody>
          <a:bodyPr>
            <a:normAutofit lnSpcReduction="10000"/>
          </a:bodyPr>
          <a:lstStyle/>
          <a:p>
            <a:pPr>
              <a:defRPr/>
            </a:pPr>
            <a:r>
              <a:rPr lang="en-US" altLang="zh-CN" sz="2400" dirty="0"/>
              <a:t>A </a:t>
            </a:r>
            <a:r>
              <a:rPr lang="en-US" altLang="zh-CN" sz="2400" dirty="0">
                <a:hlinkClick r:id="rId3" action="ppaction://hlinkfile"/>
              </a:rPr>
              <a:t>binding</a:t>
            </a:r>
            <a:r>
              <a:rPr lang="en-US" altLang="zh-CN" sz="2400" dirty="0"/>
              <a:t> specifies concrete message format and transmission protocol details for an interface, and must supply such details for every operation and fault in the interface</a:t>
            </a:r>
          </a:p>
          <a:p>
            <a:pPr>
              <a:defRPr/>
            </a:pPr>
            <a:r>
              <a:rPr lang="en-US" altLang="zh-CN" sz="2400" dirty="0"/>
              <a:t>In the general case, binding details for each operation and fault are specified using </a:t>
            </a:r>
            <a:r>
              <a:rPr lang="en-US" altLang="zh-CN" sz="2400" dirty="0">
                <a:hlinkClick r:id="rId3" action="ppaction://hlinkfile"/>
              </a:rPr>
              <a:t>operation</a:t>
            </a:r>
            <a:r>
              <a:rPr lang="en-US" altLang="zh-CN" sz="2400" dirty="0"/>
              <a:t> and </a:t>
            </a:r>
            <a:r>
              <a:rPr lang="en-US" altLang="zh-CN" sz="2400" dirty="0">
                <a:hlinkClick r:id="rId3" action="ppaction://hlinkfile"/>
              </a:rPr>
              <a:t>fault</a:t>
            </a:r>
            <a:r>
              <a:rPr lang="en-US" altLang="zh-CN" sz="2400" dirty="0"/>
              <a:t> elements inside a </a:t>
            </a:r>
            <a:r>
              <a:rPr lang="en-US" altLang="zh-CN" sz="2400" dirty="0">
                <a:hlinkClick r:id="rId3" action="ppaction://hlinkfile"/>
              </a:rPr>
              <a:t>binding</a:t>
            </a:r>
            <a:r>
              <a:rPr lang="en-US" altLang="zh-CN" sz="2400" dirty="0"/>
              <a:t> element</a:t>
            </a:r>
          </a:p>
          <a:p>
            <a:pPr>
              <a:defRPr/>
            </a:pPr>
            <a:r>
              <a:rPr lang="en-US" altLang="zh-CN" sz="2400" dirty="0"/>
              <a:t>However, in some cases it is possible to use defaulting rules to supply the information</a:t>
            </a:r>
          </a:p>
          <a:p>
            <a:pPr lvl="1">
              <a:defRPr/>
            </a:pPr>
            <a:r>
              <a:rPr lang="en-US" altLang="zh-CN" sz="1900" dirty="0"/>
              <a:t>For example, the WSDL 2.0 SOAP binding extension, defines some defaulting rules for operations</a:t>
            </a:r>
          </a:p>
          <a:p>
            <a:pPr>
              <a:defRPr/>
            </a:pPr>
            <a:r>
              <a:rPr lang="en-US" altLang="zh-CN" sz="2400" dirty="0"/>
              <a:t>In order to accommodate new kinds of message formats and transmission protocols, bindings are defined using extensions to the WSDL 2.0 language, via WSDL 2.0's open content model</a:t>
            </a:r>
          </a:p>
        </p:txBody>
      </p:sp>
      <p:sp>
        <p:nvSpPr>
          <p:cNvPr id="40964" name="灯片编号占位符 3">
            <a:extLst>
              <a:ext uri="{FF2B5EF4-FFF2-40B4-BE49-F238E27FC236}">
                <a16:creationId xmlns:a16="http://schemas.microsoft.com/office/drawing/2014/main" id="{EDB6BB54-E43A-4BAF-B545-7084A38268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8FFDE897-5995-4652-944A-B050885346BB}" type="slidenum">
              <a:rPr lang="en-US" altLang="zh-CN" sz="1000">
                <a:solidFill>
                  <a:srgbClr val="000000"/>
                </a:solidFill>
              </a:rPr>
              <a:pPr>
                <a:buFont typeface="Wingdings" panose="05000000000000000000" pitchFamily="2" charset="2"/>
                <a:buNone/>
              </a:pPr>
              <a:t>12</a:t>
            </a:fld>
            <a:endParaRPr lang="en-US" altLang="zh-CN" sz="1000">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9FD6C52B-E4BA-49FD-AC14-6E4F6C38FF7F}"/>
              </a:ext>
            </a:extLst>
          </p:cNvPr>
          <p:cNvSpPr>
            <a:spLocks noGrp="1"/>
          </p:cNvSpPr>
          <p:nvPr>
            <p:ph type="title"/>
          </p:nvPr>
        </p:nvSpPr>
        <p:spPr/>
        <p:txBody>
          <a:bodyPr/>
          <a:lstStyle/>
          <a:p>
            <a:r>
              <a:rPr lang="en-US" altLang="zh-CN"/>
              <a:t>Defining a Binding (2/4)</a:t>
            </a:r>
            <a:endParaRPr lang="zh-CN" altLang="en-US"/>
          </a:p>
        </p:txBody>
      </p:sp>
      <p:sp>
        <p:nvSpPr>
          <p:cNvPr id="3" name="内容占位符 2">
            <a:extLst>
              <a:ext uri="{FF2B5EF4-FFF2-40B4-BE49-F238E27FC236}">
                <a16:creationId xmlns:a16="http://schemas.microsoft.com/office/drawing/2014/main" id="{34BEC6B8-21D1-4BBA-9BC8-B823581F7847}"/>
              </a:ext>
            </a:extLst>
          </p:cNvPr>
          <p:cNvSpPr>
            <a:spLocks noGrp="1"/>
          </p:cNvSpPr>
          <p:nvPr>
            <p:ph idx="1"/>
          </p:nvPr>
        </p:nvSpPr>
        <p:spPr/>
        <p:txBody>
          <a:bodyPr>
            <a:normAutofit lnSpcReduction="10000"/>
          </a:bodyPr>
          <a:lstStyle/>
          <a:p>
            <a:pPr>
              <a:lnSpc>
                <a:spcPct val="120000"/>
              </a:lnSpc>
              <a:defRPr/>
            </a:pPr>
            <a:r>
              <a:rPr lang="en-US" altLang="zh-CN" sz="2800" dirty="0"/>
              <a:t>WSDL 2.0 Part 2 [</a:t>
            </a:r>
            <a:r>
              <a:rPr lang="en-US" altLang="zh-CN" sz="2800" i="1" dirty="0">
                <a:hlinkClick r:id="rId3" action="ppaction://hlinkfile"/>
              </a:rPr>
              <a:t>WSDL 2.0 Adjuncts</a:t>
            </a:r>
            <a:r>
              <a:rPr lang="en-US" altLang="zh-CN" sz="2800" dirty="0"/>
              <a:t>] defines binding extensions for SOAP 1.2 and HTTP 1.1 as predefined extensions, so that SOAP 1.2 or HTTP 1.1 bindings can be easily defined in WSDL 2.0 documents</a:t>
            </a:r>
          </a:p>
          <a:p>
            <a:pPr>
              <a:lnSpc>
                <a:spcPct val="120000"/>
              </a:lnSpc>
              <a:defRPr/>
            </a:pPr>
            <a:r>
              <a:rPr lang="en-US" altLang="zh-CN" sz="2800" dirty="0"/>
              <a:t>However, other specifications could define new binding extensions that could also be used to define bindings. </a:t>
            </a:r>
          </a:p>
          <a:p>
            <a:pPr lvl="1">
              <a:lnSpc>
                <a:spcPct val="120000"/>
              </a:lnSpc>
              <a:defRPr/>
            </a:pPr>
            <a:r>
              <a:rPr lang="en-US" altLang="zh-CN" sz="2300" dirty="0"/>
              <a:t>As with any extension, other WSDL 2.0 processors would have to know about the new constructs in order to make use of them</a:t>
            </a:r>
          </a:p>
        </p:txBody>
      </p:sp>
      <p:sp>
        <p:nvSpPr>
          <p:cNvPr id="43012" name="灯片编号占位符 3">
            <a:extLst>
              <a:ext uri="{FF2B5EF4-FFF2-40B4-BE49-F238E27FC236}">
                <a16:creationId xmlns:a16="http://schemas.microsoft.com/office/drawing/2014/main" id="{771D2B01-5C5B-4EEF-8F91-CA4418D4D2A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52E2B5F0-92EA-4678-A5FF-7C20EB0D2BAC}" type="slidenum">
              <a:rPr lang="en-US" altLang="zh-CN" sz="1000">
                <a:solidFill>
                  <a:srgbClr val="000000"/>
                </a:solidFill>
              </a:rPr>
              <a:pPr>
                <a:buFont typeface="Wingdings" panose="05000000000000000000" pitchFamily="2" charset="2"/>
                <a:buNone/>
              </a:pPr>
              <a:t>13</a:t>
            </a:fld>
            <a:endParaRPr lang="en-US" altLang="zh-CN" sz="1000">
              <a:solidFill>
                <a:srgbClr val="00000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2B49982C-280F-4E81-A0DF-12326AC34CC5}"/>
              </a:ext>
            </a:extLst>
          </p:cNvPr>
          <p:cNvSpPr>
            <a:spLocks noGrp="1"/>
          </p:cNvSpPr>
          <p:nvPr>
            <p:ph type="title"/>
          </p:nvPr>
        </p:nvSpPr>
        <p:spPr/>
        <p:txBody>
          <a:bodyPr/>
          <a:lstStyle/>
          <a:p>
            <a:r>
              <a:rPr lang="en-US" altLang="zh-CN"/>
              <a:t>Defining a Binding (3/4)</a:t>
            </a:r>
            <a:endParaRPr lang="zh-CN" altLang="en-US"/>
          </a:p>
        </p:txBody>
      </p:sp>
      <p:sp>
        <p:nvSpPr>
          <p:cNvPr id="45059" name="灯片编号占位符 3">
            <a:extLst>
              <a:ext uri="{FF2B5EF4-FFF2-40B4-BE49-F238E27FC236}">
                <a16:creationId xmlns:a16="http://schemas.microsoft.com/office/drawing/2014/main" id="{13B7BE8B-25F9-4E8C-8577-C0CB2960EAE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E3FD94DF-3F68-4095-B458-2F8E7285B069}" type="slidenum">
              <a:rPr lang="en-US" altLang="zh-CN" sz="1000">
                <a:solidFill>
                  <a:srgbClr val="000000"/>
                </a:solidFill>
              </a:rPr>
              <a:pPr>
                <a:buFont typeface="Wingdings" panose="05000000000000000000" pitchFamily="2" charset="2"/>
                <a:buNone/>
              </a:pPr>
              <a:t>14</a:t>
            </a:fld>
            <a:endParaRPr lang="en-US" altLang="zh-CN" sz="1000">
              <a:solidFill>
                <a:srgbClr val="000000"/>
              </a:solidFill>
            </a:endParaRPr>
          </a:p>
        </p:txBody>
      </p:sp>
      <p:sp>
        <p:nvSpPr>
          <p:cNvPr id="5" name="Text Box 4">
            <a:extLst>
              <a:ext uri="{FF2B5EF4-FFF2-40B4-BE49-F238E27FC236}">
                <a16:creationId xmlns:a16="http://schemas.microsoft.com/office/drawing/2014/main" id="{E16EFF3C-DAED-4EF3-B7B6-5AFBBFE0835F}"/>
              </a:ext>
            </a:extLst>
          </p:cNvPr>
          <p:cNvSpPr txBox="1">
            <a:spLocks noChangeArrowheads="1"/>
          </p:cNvSpPr>
          <p:nvPr/>
        </p:nvSpPr>
        <p:spPr bwMode="auto">
          <a:xfrm>
            <a:off x="542925" y="1417638"/>
            <a:ext cx="8229600" cy="535531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8080"/>
                </a:solidFill>
                <a:highlight>
                  <a:srgbClr val="FFFFFF"/>
                </a:highlight>
                <a:latin typeface="Arial"/>
              </a:rPr>
              <a:t>&lt;?xml version="1.0" encoding="utf-8" ?&gt;</a:t>
            </a:r>
            <a:r>
              <a:rPr lang="en-US" altLang="zh-CN" sz="18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targetNamespace</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http://greath.example.com/2004/wsdl/resSvc</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xmlns:tns</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http://greath.example.com/2004/wsdl/resSvc</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xmlns:ghns</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http://greath.example.com/2004/schemas/resSvc</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xmlns:wsoap</a:t>
            </a:r>
            <a:r>
              <a:rPr lang="en-US" altLang="zh-CN" sz="1800" dirty="0">
                <a:solidFill>
                  <a:srgbClr val="0000FF"/>
                </a:solidFill>
                <a:highlight>
                  <a:srgbClr val="FFFFFF"/>
                </a:highlight>
                <a:latin typeface="Arial"/>
              </a:rPr>
              <a:t>= "</a:t>
            </a:r>
            <a:r>
              <a:rPr lang="en-US" altLang="zh-CN" sz="1800" dirty="0">
                <a:solidFill>
                  <a:srgbClr val="000000"/>
                </a:solidFill>
                <a:highlight>
                  <a:srgbClr val="FFFFFF"/>
                </a:highlight>
                <a:latin typeface="Arial"/>
              </a:rPr>
              <a:t>http://www.w3.org/ns/wsdl/soap</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xmlns:soap</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http://www.w3.org/2003/05/soap-envelope</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 . .</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types</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types</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FF0000"/>
                </a:solidFill>
                <a:highlight>
                  <a:srgbClr val="FFFFFF"/>
                </a:highlight>
                <a:latin typeface="Arial"/>
              </a:rPr>
              <a:t>  name </a:t>
            </a:r>
            <a:r>
              <a:rPr lang="en-US" altLang="zh-CN" sz="1800" dirty="0">
                <a:solidFill>
                  <a:srgbClr val="0000FF"/>
                </a:solidFill>
                <a:highlight>
                  <a:srgbClr val="FFFFFF"/>
                </a:highlight>
                <a:latin typeface="Arial"/>
              </a:rPr>
              <a:t>= "</a:t>
            </a:r>
            <a:r>
              <a:rPr lang="en-US" altLang="zh-CN" sz="1800" dirty="0" err="1">
                <a:solidFill>
                  <a:srgbClr val="000000"/>
                </a:solidFill>
                <a:highlight>
                  <a:srgbClr val="FFFFFF"/>
                </a:highlight>
                <a:latin typeface="Arial"/>
              </a:rPr>
              <a:t>reservationInterface</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r>
              <a:rPr lang="en-US" altLang="zh-CN" sz="1800" dirty="0">
                <a:solidFill>
                  <a:srgbClr val="0000FF"/>
                </a:solidFill>
                <a:highlight>
                  <a:srgbClr val="FFFFFF"/>
                </a:highlight>
                <a:latin typeface="Arial"/>
              </a:rPr>
              <a:t>&gt;</a:t>
            </a:r>
            <a:endParaRPr lang="en-US" altLang="zh-CN"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interface</a:t>
            </a:r>
            <a:r>
              <a:rPr lang="en-US" altLang="zh-CN" sz="18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a:t>
            </a:r>
            <a:endParaRPr lang="zh-CN" altLang="en-US" sz="1800" dirty="0">
              <a:solidFill>
                <a:srgbClr val="000000"/>
              </a:solidFill>
              <a:highlight>
                <a:srgbClr val="FFFFFF"/>
              </a:highlight>
              <a:latin typeface="Arial"/>
            </a:endParaRPr>
          </a:p>
        </p:txBody>
      </p:sp>
      <p:sp>
        <p:nvSpPr>
          <p:cNvPr id="6" name="Line 15">
            <a:extLst>
              <a:ext uri="{FF2B5EF4-FFF2-40B4-BE49-F238E27FC236}">
                <a16:creationId xmlns:a16="http://schemas.microsoft.com/office/drawing/2014/main" id="{7E29C7AA-1C04-4BDC-BF90-95280EA18DBF}"/>
              </a:ext>
            </a:extLst>
          </p:cNvPr>
          <p:cNvSpPr>
            <a:spLocks noChangeShapeType="1"/>
          </p:cNvSpPr>
          <p:nvPr/>
        </p:nvSpPr>
        <p:spPr bwMode="auto">
          <a:xfrm flipH="1" flipV="1">
            <a:off x="5724525" y="3573463"/>
            <a:ext cx="1511300" cy="711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6">
            <a:extLst>
              <a:ext uri="{FF2B5EF4-FFF2-40B4-BE49-F238E27FC236}">
                <a16:creationId xmlns:a16="http://schemas.microsoft.com/office/drawing/2014/main" id="{DE984F86-A91C-4223-B688-BD4444DFAF30}"/>
              </a:ext>
            </a:extLst>
          </p:cNvPr>
          <p:cNvSpPr txBox="1">
            <a:spLocks noChangeArrowheads="1"/>
          </p:cNvSpPr>
          <p:nvPr/>
        </p:nvSpPr>
        <p:spPr bwMode="auto">
          <a:xfrm>
            <a:off x="6467475" y="4197350"/>
            <a:ext cx="23050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Namespace for SOAP binding</a:t>
            </a:r>
          </a:p>
        </p:txBody>
      </p:sp>
      <p:sp>
        <p:nvSpPr>
          <p:cNvPr id="8" name="Line 15">
            <a:extLst>
              <a:ext uri="{FF2B5EF4-FFF2-40B4-BE49-F238E27FC236}">
                <a16:creationId xmlns:a16="http://schemas.microsoft.com/office/drawing/2014/main" id="{417FD9F7-418E-4B11-8FD2-CCD55383CD03}"/>
              </a:ext>
            </a:extLst>
          </p:cNvPr>
          <p:cNvSpPr>
            <a:spLocks noChangeShapeType="1"/>
          </p:cNvSpPr>
          <p:nvPr/>
        </p:nvSpPr>
        <p:spPr bwMode="auto">
          <a:xfrm flipH="1" flipV="1">
            <a:off x="4044950" y="4027488"/>
            <a:ext cx="1511300" cy="711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6">
            <a:extLst>
              <a:ext uri="{FF2B5EF4-FFF2-40B4-BE49-F238E27FC236}">
                <a16:creationId xmlns:a16="http://schemas.microsoft.com/office/drawing/2014/main" id="{0C00565A-C5E6-4B3C-A2B7-A2B6828F05E1}"/>
              </a:ext>
            </a:extLst>
          </p:cNvPr>
          <p:cNvSpPr txBox="1">
            <a:spLocks noChangeArrowheads="1"/>
          </p:cNvSpPr>
          <p:nvPr/>
        </p:nvSpPr>
        <p:spPr bwMode="auto">
          <a:xfrm>
            <a:off x="4787900" y="4652963"/>
            <a:ext cx="230505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Namespace for SOAP 1.2</a:t>
            </a:r>
            <a:endParaRPr lang="en-US" altLang="zh-CN"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B2505EB3-0E3B-4018-86C7-CFD233B4AC84}"/>
              </a:ext>
            </a:extLst>
          </p:cNvPr>
          <p:cNvSpPr>
            <a:spLocks noGrp="1"/>
          </p:cNvSpPr>
          <p:nvPr>
            <p:ph type="title"/>
          </p:nvPr>
        </p:nvSpPr>
        <p:spPr/>
        <p:txBody>
          <a:bodyPr/>
          <a:lstStyle/>
          <a:p>
            <a:r>
              <a:rPr lang="en-US" altLang="zh-CN"/>
              <a:t>Defining a Binding (4/4)</a:t>
            </a:r>
            <a:endParaRPr lang="zh-CN" altLang="en-US"/>
          </a:p>
        </p:txBody>
      </p:sp>
      <p:sp>
        <p:nvSpPr>
          <p:cNvPr id="47107" name="灯片编号占位符 3">
            <a:extLst>
              <a:ext uri="{FF2B5EF4-FFF2-40B4-BE49-F238E27FC236}">
                <a16:creationId xmlns:a16="http://schemas.microsoft.com/office/drawing/2014/main" id="{52F6A725-9A87-4832-874B-38EE38BB566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A5C67184-935B-4EAF-89DB-06089152E73B}" type="slidenum">
              <a:rPr lang="en-US" altLang="zh-CN" sz="1000">
                <a:solidFill>
                  <a:srgbClr val="000000"/>
                </a:solidFill>
              </a:rPr>
              <a:pPr>
                <a:buFont typeface="Wingdings" panose="05000000000000000000" pitchFamily="2" charset="2"/>
                <a:buNone/>
              </a:pPr>
              <a:t>15</a:t>
            </a:fld>
            <a:endParaRPr lang="en-US" altLang="zh-CN" sz="1000">
              <a:solidFill>
                <a:srgbClr val="000000"/>
              </a:solidFill>
            </a:endParaRPr>
          </a:p>
        </p:txBody>
      </p:sp>
      <p:sp>
        <p:nvSpPr>
          <p:cNvPr id="5" name="Text Box 4">
            <a:extLst>
              <a:ext uri="{FF2B5EF4-FFF2-40B4-BE49-F238E27FC236}">
                <a16:creationId xmlns:a16="http://schemas.microsoft.com/office/drawing/2014/main" id="{7C96B912-A57A-45A5-ACCD-2B4A7837B25C}"/>
              </a:ext>
            </a:extLst>
          </p:cNvPr>
          <p:cNvSpPr txBox="1">
            <a:spLocks noChangeArrowheads="1"/>
          </p:cNvSpPr>
          <p:nvPr/>
        </p:nvSpPr>
        <p:spPr bwMode="auto">
          <a:xfrm>
            <a:off x="457200" y="1600200"/>
            <a:ext cx="8229600" cy="402571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binding</a:t>
            </a:r>
            <a:r>
              <a:rPr lang="en-US" altLang="zh-CN" sz="1800" dirty="0">
                <a:solidFill>
                  <a:srgbClr val="FF0000"/>
                </a:solidFill>
                <a:highlight>
                  <a:srgbClr val="FFFFFF"/>
                </a:highlight>
                <a:latin typeface="Arial"/>
              </a:rPr>
              <a:t> name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reservationSOAPBinding</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interface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tns:reservationInterface</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type</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http://www.w3.org/ns/wsdl/soap</a:t>
            </a:r>
            <a:r>
              <a:rPr lang="en-US" altLang="zh-CN" sz="1800" dirty="0">
                <a:solidFill>
                  <a:srgbClr val="0000FF"/>
                </a:solidFill>
                <a:highlight>
                  <a:srgbClr val="FFFFFF"/>
                </a:highlight>
                <a:latin typeface="Arial"/>
              </a:rPr>
              <a:t>"</a:t>
            </a:r>
            <a:endParaRPr lang="en-US" altLang="zh-CN" sz="18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wsoap:protocol</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http://www.w3.org/2003/05/soap/bindings/HTTP/</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operation</a:t>
            </a:r>
            <a:r>
              <a:rPr lang="en-US" altLang="zh-CN" sz="1800" dirty="0">
                <a:solidFill>
                  <a:srgbClr val="FF0000"/>
                </a:solidFill>
                <a:highlight>
                  <a:srgbClr val="FFFFFF"/>
                </a:highlight>
                <a:latin typeface="Arial"/>
              </a:rPr>
              <a:t> ref</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tns:opCheckAvailability</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wsoap:mep</a:t>
            </a:r>
            <a:r>
              <a:rPr lang="en-US" altLang="zh-CN" sz="1800" dirty="0">
                <a:solidFill>
                  <a:srgbClr val="0000FF"/>
                </a:solidFill>
                <a:highlight>
                  <a:srgbClr val="FFFFFF"/>
                </a:highlight>
                <a:latin typeface="Arial"/>
              </a:rPr>
              <a:t>="</a:t>
            </a:r>
            <a:r>
              <a:rPr lang="en-US" altLang="zh-CN" sz="1800" dirty="0">
                <a:solidFill>
                  <a:srgbClr val="000000"/>
                </a:solidFill>
                <a:highlight>
                  <a:srgbClr val="FFFFFF"/>
                </a:highlight>
                <a:latin typeface="Arial"/>
              </a:rPr>
              <a:t>http://www.w3.org/2003/05/soap/mep/soap-response</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fault</a:t>
            </a:r>
            <a:r>
              <a:rPr lang="en-US" altLang="zh-CN" sz="1800" dirty="0">
                <a:solidFill>
                  <a:srgbClr val="FF0000"/>
                </a:solidFill>
                <a:highlight>
                  <a:srgbClr val="FFFFFF"/>
                </a:highlight>
                <a:latin typeface="Arial"/>
              </a:rPr>
              <a:t> ref</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tns:invalidDataFault</a:t>
            </a:r>
            <a:r>
              <a:rPr lang="en-US" altLang="zh-CN" sz="1800" dirty="0">
                <a:solidFill>
                  <a:srgbClr val="0000FF"/>
                </a:solidFill>
                <a:highlight>
                  <a:srgbClr val="FFFFFF"/>
                </a:highlight>
                <a:latin typeface="Arial"/>
              </a:rPr>
              <a:t>"</a:t>
            </a:r>
            <a:r>
              <a:rPr lang="en-US" altLang="zh-CN" sz="18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800" dirty="0">
                <a:solidFill>
                  <a:srgbClr val="FF0000"/>
                </a:solidFill>
                <a:highlight>
                  <a:srgbClr val="FFFFFF"/>
                </a:highlight>
                <a:latin typeface="Arial"/>
              </a:rPr>
              <a:t>      </a:t>
            </a:r>
            <a:r>
              <a:rPr lang="en-US" altLang="zh-CN" sz="1800" dirty="0" err="1">
                <a:solidFill>
                  <a:srgbClr val="FF0000"/>
                </a:solidFill>
                <a:highlight>
                  <a:srgbClr val="FFFFFF"/>
                </a:highlight>
                <a:latin typeface="Arial"/>
              </a:rPr>
              <a:t>wsoap:code</a:t>
            </a:r>
            <a:r>
              <a:rPr lang="en-US" altLang="zh-CN" sz="1800" dirty="0">
                <a:solidFill>
                  <a:srgbClr val="0000FF"/>
                </a:solidFill>
                <a:highlight>
                  <a:srgbClr val="FFFFFF"/>
                </a:highlight>
                <a:latin typeface="Arial"/>
              </a:rPr>
              <a:t>="</a:t>
            </a:r>
            <a:r>
              <a:rPr lang="en-US" altLang="zh-CN" sz="1800" dirty="0" err="1">
                <a:solidFill>
                  <a:srgbClr val="000000"/>
                </a:solidFill>
                <a:highlight>
                  <a:srgbClr val="FFFFFF"/>
                </a:highlight>
                <a:latin typeface="Arial"/>
              </a:rPr>
              <a:t>soap:Sender</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800" dirty="0">
                <a:solidFill>
                  <a:srgbClr val="000000"/>
                </a:solidFill>
                <a:highlight>
                  <a:srgbClr val="FFFFFF"/>
                </a:highlight>
                <a:latin typeface="Arial"/>
              </a:rPr>
              <a:t>  </a:t>
            </a: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binding</a:t>
            </a:r>
            <a:r>
              <a:rPr lang="en-US" altLang="zh-CN" sz="1800" dirty="0">
                <a:solidFill>
                  <a:srgbClr val="0000FF"/>
                </a:solidFill>
                <a:highlight>
                  <a:srgbClr val="FFFFFF"/>
                </a:highlight>
                <a:latin typeface="Arial"/>
              </a:rPr>
              <a:t>&gt;</a:t>
            </a:r>
            <a:endParaRPr lang="zh-CN" altLang="en-US" sz="18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800" dirty="0">
                <a:solidFill>
                  <a:srgbClr val="000000"/>
                </a:solidFill>
                <a:highlight>
                  <a:srgbClr val="FFFFFF"/>
                </a:highlight>
                <a:latin typeface="Arial"/>
              </a:rPr>
              <a:t>  </a:t>
            </a:r>
            <a:r>
              <a:rPr lang="en-US" altLang="zh-CN" sz="1800" dirty="0">
                <a:solidFill>
                  <a:srgbClr val="000000"/>
                </a:solidFill>
                <a:highlight>
                  <a:srgbClr val="FFFFFF"/>
                </a:highlight>
                <a:latin typeface="Arial"/>
              </a:rPr>
              <a:t>. . .</a:t>
            </a:r>
          </a:p>
          <a:p>
            <a:pPr eaLnBrk="1" hangingPunct="1">
              <a:spcBef>
                <a:spcPct val="20000"/>
              </a:spcBef>
              <a:buClr>
                <a:schemeClr val="accent1"/>
              </a:buClr>
              <a:buFont typeface="Wingdings" panose="05000000000000000000" pitchFamily="2" charset="2"/>
              <a:buNone/>
              <a:defRPr/>
            </a:pPr>
            <a:r>
              <a:rPr lang="en-US" altLang="zh-CN" sz="1800" dirty="0">
                <a:solidFill>
                  <a:srgbClr val="0000FF"/>
                </a:solidFill>
                <a:highlight>
                  <a:srgbClr val="FFFFFF"/>
                </a:highlight>
                <a:latin typeface="Arial"/>
              </a:rPr>
              <a:t>&lt;/</a:t>
            </a:r>
            <a:r>
              <a:rPr lang="en-US" altLang="zh-CN" sz="1800" dirty="0">
                <a:solidFill>
                  <a:srgbClr val="800000"/>
                </a:solidFill>
                <a:highlight>
                  <a:srgbClr val="FFFFFF"/>
                </a:highlight>
                <a:latin typeface="Arial"/>
              </a:rPr>
              <a:t>description</a:t>
            </a:r>
            <a:r>
              <a:rPr lang="en-US" altLang="zh-CN" sz="1800" dirty="0">
                <a:solidFill>
                  <a:srgbClr val="0000FF"/>
                </a:solidFill>
                <a:highlight>
                  <a:srgbClr val="FFFFFF"/>
                </a:highlight>
                <a:latin typeface="Arial"/>
              </a:rPr>
              <a:t>&gt;</a:t>
            </a:r>
          </a:p>
        </p:txBody>
      </p:sp>
      <p:sp>
        <p:nvSpPr>
          <p:cNvPr id="10" name="Line 15">
            <a:extLst>
              <a:ext uri="{FF2B5EF4-FFF2-40B4-BE49-F238E27FC236}">
                <a16:creationId xmlns:a16="http://schemas.microsoft.com/office/drawing/2014/main" id="{18B4B1A0-2DB2-4FB6-B259-66742989F9DA}"/>
              </a:ext>
            </a:extLst>
          </p:cNvPr>
          <p:cNvSpPr>
            <a:spLocks noChangeShapeType="1"/>
          </p:cNvSpPr>
          <p:nvPr/>
        </p:nvSpPr>
        <p:spPr bwMode="auto">
          <a:xfrm flipH="1" flipV="1">
            <a:off x="5003800" y="2133600"/>
            <a:ext cx="75565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CFE782B1-1A74-47C5-BE59-35A0D2133F59}"/>
              </a:ext>
            </a:extLst>
          </p:cNvPr>
          <p:cNvSpPr txBox="1">
            <a:spLocks noChangeArrowheads="1"/>
          </p:cNvSpPr>
          <p:nvPr/>
        </p:nvSpPr>
        <p:spPr bwMode="auto">
          <a:xfrm>
            <a:off x="5759152" y="1240304"/>
            <a:ext cx="307366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en-US" altLang="zh-CN" sz="2000" dirty="0"/>
              <a:t>Declared directly inside the </a:t>
            </a:r>
            <a:r>
              <a:rPr lang="en-US" altLang="zh-CN" sz="2000" dirty="0">
                <a:hlinkClick r:id="rId3" action="ppaction://hlinkfile"/>
              </a:rPr>
              <a:t>description</a:t>
            </a:r>
            <a:r>
              <a:rPr lang="en-US" altLang="zh-CN" sz="2000" dirty="0"/>
              <a:t> element</a:t>
            </a:r>
          </a:p>
          <a:p>
            <a:pPr eaLnBrk="1" hangingPunct="1">
              <a:spcBef>
                <a:spcPct val="50000"/>
              </a:spcBef>
              <a:defRPr/>
            </a:pPr>
            <a:r>
              <a:rPr lang="en-US" altLang="zh-CN" sz="2000" dirty="0">
                <a:solidFill>
                  <a:srgbClr val="000000"/>
                </a:solidFill>
              </a:rPr>
              <a:t>Multiple </a:t>
            </a:r>
            <a:r>
              <a:rPr lang="en-US" altLang="zh-CN" sz="2000" dirty="0">
                <a:solidFill>
                  <a:srgbClr val="000000"/>
                </a:solidFill>
                <a:hlinkClick r:id="rId4" action="ppaction://hlinkpres?slideindex=1&amp;slidetitle="/>
              </a:rPr>
              <a:t>binding</a:t>
            </a:r>
            <a:r>
              <a:rPr lang="en-US" altLang="zh-CN" sz="2000" dirty="0"/>
              <a:t> are allowed with unique </a:t>
            </a:r>
            <a:r>
              <a:rPr lang="en-US" altLang="zh-CN" sz="2000" dirty="0">
                <a:solidFill>
                  <a:srgbClr val="FF0000"/>
                </a:solidFill>
                <a:highlight>
                  <a:srgbClr val="FFFFFF"/>
                </a:highlight>
                <a:latin typeface="Arial"/>
              </a:rPr>
              <a:t>name</a:t>
            </a:r>
            <a:r>
              <a:rPr lang="en-US" altLang="zh-CN" sz="2000" dirty="0">
                <a:highlight>
                  <a:srgbClr val="FFFFFF"/>
                </a:highlight>
                <a:latin typeface="Arial"/>
              </a:rPr>
              <a:t>s</a:t>
            </a:r>
            <a:endParaRPr lang="en-US" altLang="zh-CN" sz="2000" dirty="0">
              <a:solidFill>
                <a:srgbClr val="000000"/>
              </a:solidFill>
            </a:endParaRPr>
          </a:p>
        </p:txBody>
      </p:sp>
      <p:sp>
        <p:nvSpPr>
          <p:cNvPr id="15" name="Text Box 16">
            <a:extLst>
              <a:ext uri="{FF2B5EF4-FFF2-40B4-BE49-F238E27FC236}">
                <a16:creationId xmlns:a16="http://schemas.microsoft.com/office/drawing/2014/main" id="{91C7F5A6-24AD-4705-BE8E-AD9EAE7EB256}"/>
              </a:ext>
            </a:extLst>
          </p:cNvPr>
          <p:cNvSpPr txBox="1">
            <a:spLocks noChangeArrowheads="1"/>
          </p:cNvSpPr>
          <p:nvPr/>
        </p:nvSpPr>
        <p:spPr bwMode="auto">
          <a:xfrm>
            <a:off x="5219700" y="4292600"/>
            <a:ext cx="324008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 typeface="Wingdings" panose="05000000000000000000" pitchFamily="2" charset="2"/>
              <a:buNone/>
            </a:pPr>
            <a:r>
              <a:rPr lang="en-US" altLang="zh-CN" sz="2000"/>
              <a:t>WSDL 2.0 uses separate symbol spaces for interfaces, bindings and services, so interface "</a:t>
            </a:r>
            <a:r>
              <a:rPr lang="en-US" altLang="zh-CN" sz="2000">
                <a:solidFill>
                  <a:srgbClr val="FF0000"/>
                </a:solidFill>
              </a:rPr>
              <a:t>foo</a:t>
            </a:r>
            <a:r>
              <a:rPr lang="en-US" altLang="zh-CN" sz="2000"/>
              <a:t>", binding "</a:t>
            </a:r>
            <a:r>
              <a:rPr lang="en-US" altLang="zh-CN" sz="2000">
                <a:solidFill>
                  <a:srgbClr val="FF0000"/>
                </a:solidFill>
              </a:rPr>
              <a:t>foo</a:t>
            </a:r>
            <a:r>
              <a:rPr lang="en-US" altLang="zh-CN" sz="2000"/>
              <a:t>" and service "</a:t>
            </a:r>
            <a:r>
              <a:rPr lang="en-US" altLang="zh-CN" sz="2000">
                <a:solidFill>
                  <a:srgbClr val="FF0000"/>
                </a:solidFill>
              </a:rPr>
              <a:t>foo</a:t>
            </a:r>
            <a:r>
              <a:rPr lang="en-US" altLang="zh-CN" sz="2000"/>
              <a:t>" are all distinct</a:t>
            </a:r>
          </a:p>
        </p:txBody>
      </p:sp>
      <p:sp>
        <p:nvSpPr>
          <p:cNvPr id="16" name="Line 15">
            <a:extLst>
              <a:ext uri="{FF2B5EF4-FFF2-40B4-BE49-F238E27FC236}">
                <a16:creationId xmlns:a16="http://schemas.microsoft.com/office/drawing/2014/main" id="{3589439A-6667-46C7-BA6D-AEF068D9AA09}"/>
              </a:ext>
            </a:extLst>
          </p:cNvPr>
          <p:cNvSpPr>
            <a:spLocks noChangeShapeType="1"/>
          </p:cNvSpPr>
          <p:nvPr/>
        </p:nvSpPr>
        <p:spPr bwMode="auto">
          <a:xfrm flipH="1">
            <a:off x="4787900" y="2133600"/>
            <a:ext cx="971550" cy="2873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a:extLst>
              <a:ext uri="{FF2B5EF4-FFF2-40B4-BE49-F238E27FC236}">
                <a16:creationId xmlns:a16="http://schemas.microsoft.com/office/drawing/2014/main" id="{54A6F4B7-38BD-4A25-B2ED-E19CCC8874A3}"/>
              </a:ext>
            </a:extLst>
          </p:cNvPr>
          <p:cNvSpPr txBox="1">
            <a:spLocks noChangeArrowheads="1"/>
          </p:cNvSpPr>
          <p:nvPr/>
        </p:nvSpPr>
        <p:spPr bwMode="auto">
          <a:xfrm>
            <a:off x="5829300" y="1287463"/>
            <a:ext cx="30734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Qname is used to define the interface to bind</a:t>
            </a:r>
          </a:p>
          <a:p>
            <a:pPr eaLnBrk="1" hangingPunct="1">
              <a:spcBef>
                <a:spcPct val="50000"/>
              </a:spcBef>
              <a:buClrTx/>
              <a:buFontTx/>
              <a:buNone/>
            </a:pPr>
            <a:r>
              <a:rPr lang="en-US" altLang="zh-CN" sz="2000">
                <a:solidFill>
                  <a:srgbClr val="000000"/>
                </a:solidFill>
              </a:rPr>
              <a:t>Omitted for reusable binding</a:t>
            </a:r>
          </a:p>
        </p:txBody>
      </p:sp>
      <p:sp>
        <p:nvSpPr>
          <p:cNvPr id="18" name="Line 15">
            <a:extLst>
              <a:ext uri="{FF2B5EF4-FFF2-40B4-BE49-F238E27FC236}">
                <a16:creationId xmlns:a16="http://schemas.microsoft.com/office/drawing/2014/main" id="{C4F4AA5A-A081-4E5E-8371-5B6A4601F7F9}"/>
              </a:ext>
            </a:extLst>
          </p:cNvPr>
          <p:cNvSpPr>
            <a:spLocks noChangeShapeType="1"/>
          </p:cNvSpPr>
          <p:nvPr/>
        </p:nvSpPr>
        <p:spPr bwMode="auto">
          <a:xfrm flipH="1">
            <a:off x="2484438" y="1844675"/>
            <a:ext cx="719137" cy="4968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16">
            <a:extLst>
              <a:ext uri="{FF2B5EF4-FFF2-40B4-BE49-F238E27FC236}">
                <a16:creationId xmlns:a16="http://schemas.microsoft.com/office/drawing/2014/main" id="{916B8FEC-B561-4F3F-A3F6-097BF486446F}"/>
              </a:ext>
            </a:extLst>
          </p:cNvPr>
          <p:cNvSpPr txBox="1">
            <a:spLocks noChangeArrowheads="1"/>
          </p:cNvSpPr>
          <p:nvPr/>
        </p:nvSpPr>
        <p:spPr bwMode="auto">
          <a:xfrm>
            <a:off x="2011363" y="1198563"/>
            <a:ext cx="38655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The </a:t>
            </a:r>
            <a:r>
              <a:rPr lang="en-US" altLang="zh-CN" sz="2000">
                <a:solidFill>
                  <a:srgbClr val="000000"/>
                </a:solidFill>
                <a:hlinkClick r:id="rId4" action="ppaction://hlinkpres?slideindex=1&amp;slidetitle="/>
              </a:rPr>
              <a:t>binding </a:t>
            </a:r>
            <a:r>
              <a:rPr lang="en-US" altLang="zh-CN" sz="2000">
                <a:solidFill>
                  <a:srgbClr val="000000"/>
                </a:solidFill>
              </a:rPr>
              <a:t>and </a:t>
            </a:r>
            <a:r>
              <a:rPr lang="en-US" altLang="zh-CN" sz="2000">
                <a:solidFill>
                  <a:srgbClr val="000000"/>
                </a:solidFill>
                <a:hlinkClick r:id="rId4" action="ppaction://hlinkpres?slideindex=1&amp;slidetitle="/>
              </a:rPr>
              <a:t>interface </a:t>
            </a:r>
            <a:r>
              <a:rPr lang="en-US" altLang="zh-CN" sz="2000">
                <a:solidFill>
                  <a:srgbClr val="000000"/>
                </a:solidFill>
              </a:rPr>
              <a:t>may under different namespace</a:t>
            </a:r>
          </a:p>
        </p:txBody>
      </p:sp>
      <p:sp>
        <p:nvSpPr>
          <p:cNvPr id="20" name="Line 15">
            <a:extLst>
              <a:ext uri="{FF2B5EF4-FFF2-40B4-BE49-F238E27FC236}">
                <a16:creationId xmlns:a16="http://schemas.microsoft.com/office/drawing/2014/main" id="{E9C44789-FD90-4D5F-921F-1017B7E86154}"/>
              </a:ext>
            </a:extLst>
          </p:cNvPr>
          <p:cNvSpPr>
            <a:spLocks noChangeShapeType="1"/>
          </p:cNvSpPr>
          <p:nvPr/>
        </p:nvSpPr>
        <p:spPr bwMode="auto">
          <a:xfrm flipH="1">
            <a:off x="5148263" y="2389188"/>
            <a:ext cx="728662" cy="4429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16">
            <a:extLst>
              <a:ext uri="{FF2B5EF4-FFF2-40B4-BE49-F238E27FC236}">
                <a16:creationId xmlns:a16="http://schemas.microsoft.com/office/drawing/2014/main" id="{85389FF0-CCBE-468B-A0A7-F30E92A43D26}"/>
              </a:ext>
            </a:extLst>
          </p:cNvPr>
          <p:cNvSpPr txBox="1">
            <a:spLocks noChangeArrowheads="1"/>
          </p:cNvSpPr>
          <p:nvPr/>
        </p:nvSpPr>
        <p:spPr bwMode="auto">
          <a:xfrm>
            <a:off x="5876925" y="2146300"/>
            <a:ext cx="2732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We are binding to SOAP message</a:t>
            </a:r>
          </a:p>
        </p:txBody>
      </p:sp>
      <p:sp>
        <p:nvSpPr>
          <p:cNvPr id="22" name="Line 15">
            <a:extLst>
              <a:ext uri="{FF2B5EF4-FFF2-40B4-BE49-F238E27FC236}">
                <a16:creationId xmlns:a16="http://schemas.microsoft.com/office/drawing/2014/main" id="{4947AB99-47EF-4EEC-B5CC-C7C46E1B2938}"/>
              </a:ext>
            </a:extLst>
          </p:cNvPr>
          <p:cNvSpPr>
            <a:spLocks noChangeShapeType="1"/>
          </p:cNvSpPr>
          <p:nvPr/>
        </p:nvSpPr>
        <p:spPr bwMode="auto">
          <a:xfrm flipH="1">
            <a:off x="5157788" y="2389188"/>
            <a:ext cx="601662" cy="5699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16">
            <a:extLst>
              <a:ext uri="{FF2B5EF4-FFF2-40B4-BE49-F238E27FC236}">
                <a16:creationId xmlns:a16="http://schemas.microsoft.com/office/drawing/2014/main" id="{3A02A408-F5E7-4E48-A981-F31F714740A1}"/>
              </a:ext>
            </a:extLst>
          </p:cNvPr>
          <p:cNvSpPr txBox="1">
            <a:spLocks noChangeArrowheads="1"/>
          </p:cNvSpPr>
          <p:nvPr/>
        </p:nvSpPr>
        <p:spPr bwMode="auto">
          <a:xfrm>
            <a:off x="5686425" y="1855788"/>
            <a:ext cx="38655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We are binding to SOAP message with HTTP as underlying protocol</a:t>
            </a:r>
          </a:p>
        </p:txBody>
      </p:sp>
      <p:sp>
        <p:nvSpPr>
          <p:cNvPr id="24" name="Line 15">
            <a:extLst>
              <a:ext uri="{FF2B5EF4-FFF2-40B4-BE49-F238E27FC236}">
                <a16:creationId xmlns:a16="http://schemas.microsoft.com/office/drawing/2014/main" id="{1BCCA4EA-0E79-4DE9-BEC8-95D8E47D252D}"/>
              </a:ext>
            </a:extLst>
          </p:cNvPr>
          <p:cNvSpPr>
            <a:spLocks noChangeShapeType="1"/>
          </p:cNvSpPr>
          <p:nvPr/>
        </p:nvSpPr>
        <p:spPr bwMode="auto">
          <a:xfrm flipH="1" flipV="1">
            <a:off x="1547813" y="3213100"/>
            <a:ext cx="11112" cy="24368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16">
            <a:extLst>
              <a:ext uri="{FF2B5EF4-FFF2-40B4-BE49-F238E27FC236}">
                <a16:creationId xmlns:a16="http://schemas.microsoft.com/office/drawing/2014/main" id="{2357DF48-EE85-4AAE-BF0F-07E4D1582644}"/>
              </a:ext>
            </a:extLst>
          </p:cNvPr>
          <p:cNvSpPr txBox="1">
            <a:spLocks noChangeArrowheads="1"/>
          </p:cNvSpPr>
          <p:nvPr/>
        </p:nvSpPr>
        <p:spPr bwMode="auto">
          <a:xfrm>
            <a:off x="311150" y="5586413"/>
            <a:ext cx="4127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Defined by SOAP binding extension</a:t>
            </a:r>
          </a:p>
        </p:txBody>
      </p:sp>
      <p:sp>
        <p:nvSpPr>
          <p:cNvPr id="26" name="Line 15">
            <a:extLst>
              <a:ext uri="{FF2B5EF4-FFF2-40B4-BE49-F238E27FC236}">
                <a16:creationId xmlns:a16="http://schemas.microsoft.com/office/drawing/2014/main" id="{EF6813C8-18EA-458E-ACEC-4FA668CB937C}"/>
              </a:ext>
            </a:extLst>
          </p:cNvPr>
          <p:cNvSpPr>
            <a:spLocks noChangeShapeType="1"/>
          </p:cNvSpPr>
          <p:nvPr/>
        </p:nvSpPr>
        <p:spPr bwMode="auto">
          <a:xfrm flipH="1" flipV="1">
            <a:off x="1704975" y="3500438"/>
            <a:ext cx="6350" cy="23018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16">
            <a:extLst>
              <a:ext uri="{FF2B5EF4-FFF2-40B4-BE49-F238E27FC236}">
                <a16:creationId xmlns:a16="http://schemas.microsoft.com/office/drawing/2014/main" id="{B43CBA8A-33A1-4854-BFC4-5CF1917D030A}"/>
              </a:ext>
            </a:extLst>
          </p:cNvPr>
          <p:cNvSpPr txBox="1">
            <a:spLocks noChangeArrowheads="1"/>
          </p:cNvSpPr>
          <p:nvPr/>
        </p:nvSpPr>
        <p:spPr bwMode="auto">
          <a:xfrm>
            <a:off x="463550" y="5738813"/>
            <a:ext cx="4540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Instead of defining a new operation, it defines a binding to existing operation. Omitted if default rules are used</a:t>
            </a:r>
          </a:p>
        </p:txBody>
      </p:sp>
      <p:sp>
        <p:nvSpPr>
          <p:cNvPr id="28" name="Line 15">
            <a:extLst>
              <a:ext uri="{FF2B5EF4-FFF2-40B4-BE49-F238E27FC236}">
                <a16:creationId xmlns:a16="http://schemas.microsoft.com/office/drawing/2014/main" id="{17CCDE10-301C-4695-A4DF-0BA995297ADD}"/>
              </a:ext>
            </a:extLst>
          </p:cNvPr>
          <p:cNvSpPr>
            <a:spLocks noChangeShapeType="1"/>
          </p:cNvSpPr>
          <p:nvPr/>
        </p:nvSpPr>
        <p:spPr bwMode="auto">
          <a:xfrm flipV="1">
            <a:off x="5003800" y="3906838"/>
            <a:ext cx="4763" cy="6016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16">
            <a:extLst>
              <a:ext uri="{FF2B5EF4-FFF2-40B4-BE49-F238E27FC236}">
                <a16:creationId xmlns:a16="http://schemas.microsoft.com/office/drawing/2014/main" id="{D3836307-C01E-4465-81B4-516AC9640613}"/>
              </a:ext>
            </a:extLst>
          </p:cNvPr>
          <p:cNvSpPr txBox="1">
            <a:spLocks noChangeArrowheads="1"/>
          </p:cNvSpPr>
          <p:nvPr/>
        </p:nvSpPr>
        <p:spPr bwMode="auto">
          <a:xfrm>
            <a:off x="4040188" y="4460875"/>
            <a:ext cx="4595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We are using SOAP-Response mode</a:t>
            </a:r>
          </a:p>
        </p:txBody>
      </p:sp>
      <p:sp>
        <p:nvSpPr>
          <p:cNvPr id="30" name="Line 15">
            <a:extLst>
              <a:ext uri="{FF2B5EF4-FFF2-40B4-BE49-F238E27FC236}">
                <a16:creationId xmlns:a16="http://schemas.microsoft.com/office/drawing/2014/main" id="{BB634506-48CB-44F6-A6A7-57A97EC88746}"/>
              </a:ext>
            </a:extLst>
          </p:cNvPr>
          <p:cNvSpPr>
            <a:spLocks noChangeShapeType="1"/>
          </p:cNvSpPr>
          <p:nvPr/>
        </p:nvSpPr>
        <p:spPr bwMode="auto">
          <a:xfrm flipH="1" flipV="1">
            <a:off x="1325563" y="4229100"/>
            <a:ext cx="1158875" cy="8651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16">
            <a:extLst>
              <a:ext uri="{FF2B5EF4-FFF2-40B4-BE49-F238E27FC236}">
                <a16:creationId xmlns:a16="http://schemas.microsoft.com/office/drawing/2014/main" id="{50DD3F82-38CE-450B-BBCA-6D36C8B454D3}"/>
              </a:ext>
            </a:extLst>
          </p:cNvPr>
          <p:cNvSpPr txBox="1">
            <a:spLocks noChangeArrowheads="1"/>
          </p:cNvSpPr>
          <p:nvPr/>
        </p:nvSpPr>
        <p:spPr bwMode="auto">
          <a:xfrm>
            <a:off x="2446338" y="4897438"/>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Similar</a:t>
            </a:r>
          </a:p>
        </p:txBody>
      </p:sp>
      <p:sp>
        <p:nvSpPr>
          <p:cNvPr id="32" name="Line 15">
            <a:extLst>
              <a:ext uri="{FF2B5EF4-FFF2-40B4-BE49-F238E27FC236}">
                <a16:creationId xmlns:a16="http://schemas.microsoft.com/office/drawing/2014/main" id="{2EF1D2E4-499D-4254-A959-5F7BFA578628}"/>
              </a:ext>
            </a:extLst>
          </p:cNvPr>
          <p:cNvSpPr>
            <a:spLocks noChangeShapeType="1"/>
          </p:cNvSpPr>
          <p:nvPr/>
        </p:nvSpPr>
        <p:spPr bwMode="auto">
          <a:xfrm flipH="1" flipV="1">
            <a:off x="1914525" y="4514850"/>
            <a:ext cx="1158875" cy="8651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 Box 16">
            <a:extLst>
              <a:ext uri="{FF2B5EF4-FFF2-40B4-BE49-F238E27FC236}">
                <a16:creationId xmlns:a16="http://schemas.microsoft.com/office/drawing/2014/main" id="{CA6B705B-5A93-4CE0-A3BA-DD6FFB8CAAEF}"/>
              </a:ext>
            </a:extLst>
          </p:cNvPr>
          <p:cNvSpPr txBox="1">
            <a:spLocks noChangeArrowheads="1"/>
          </p:cNvSpPr>
          <p:nvPr/>
        </p:nvSpPr>
        <p:spPr bwMode="auto">
          <a:xfrm>
            <a:off x="3035300" y="5183188"/>
            <a:ext cx="3546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t>The SOAP 1.2 fault code, </a:t>
            </a:r>
            <a:r>
              <a:rPr lang="en-US" altLang="zh-CN" sz="2000">
                <a:hlinkClick r:id="rId5"/>
              </a:rPr>
              <a:t>wsoap:subcodes</a:t>
            </a:r>
            <a:r>
              <a:rPr lang="en-US" altLang="zh-CN" sz="2000"/>
              <a:t> is allowed</a:t>
            </a:r>
            <a:endParaRPr lang="en-US" altLang="zh-CN" sz="200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par>
                                <p:cTn id="45" presetID="10"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1" grpId="0"/>
      <p:bldP spid="23" grpId="0"/>
      <p:bldP spid="25" grpId="0"/>
      <p:bldP spid="27" grpId="0"/>
      <p:bldP spid="29" grpId="0"/>
      <p:bldP spid="31"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FF09DAC1-8970-4962-A399-A4051665E490}"/>
              </a:ext>
            </a:extLst>
          </p:cNvPr>
          <p:cNvSpPr>
            <a:spLocks noGrp="1"/>
          </p:cNvSpPr>
          <p:nvPr>
            <p:ph type="title"/>
          </p:nvPr>
        </p:nvSpPr>
        <p:spPr/>
        <p:txBody>
          <a:bodyPr/>
          <a:lstStyle/>
          <a:p>
            <a:r>
              <a:rPr lang="en-US" altLang="zh-CN"/>
              <a:t>Defining a Service</a:t>
            </a:r>
            <a:endParaRPr lang="zh-CN" altLang="en-US"/>
          </a:p>
        </p:txBody>
      </p:sp>
      <p:sp>
        <p:nvSpPr>
          <p:cNvPr id="3" name="内容占位符 2">
            <a:extLst>
              <a:ext uri="{FF2B5EF4-FFF2-40B4-BE49-F238E27FC236}">
                <a16:creationId xmlns:a16="http://schemas.microsoft.com/office/drawing/2014/main" id="{DF2E66B1-3A53-4186-A4EA-4380715EE08E}"/>
              </a:ext>
            </a:extLst>
          </p:cNvPr>
          <p:cNvSpPr>
            <a:spLocks noGrp="1"/>
          </p:cNvSpPr>
          <p:nvPr>
            <p:ph idx="1"/>
          </p:nvPr>
        </p:nvSpPr>
        <p:spPr>
          <a:xfrm>
            <a:off x="250825" y="1341438"/>
            <a:ext cx="2952750" cy="5327650"/>
          </a:xfrm>
        </p:spPr>
        <p:txBody>
          <a:bodyPr>
            <a:normAutofit fontScale="92500" lnSpcReduction="10000"/>
          </a:bodyPr>
          <a:lstStyle/>
          <a:p>
            <a:pPr>
              <a:defRPr/>
            </a:pPr>
            <a:r>
              <a:rPr lang="en-US" altLang="zh-CN" sz="1800" dirty="0">
                <a:hlinkClick r:id="rId3" action="ppaction://hlinkfile"/>
              </a:rPr>
              <a:t>Binding </a:t>
            </a:r>
            <a:r>
              <a:rPr lang="en-US" altLang="zh-CN" sz="1800" dirty="0"/>
              <a:t>has specified </a:t>
            </a:r>
            <a:r>
              <a:rPr lang="en-US" altLang="zh-CN" sz="1800" i="1" dirty="0">
                <a:solidFill>
                  <a:srgbClr val="FF0000"/>
                </a:solidFill>
              </a:rPr>
              <a:t>how</a:t>
            </a:r>
            <a:r>
              <a:rPr lang="en-US" altLang="zh-CN" sz="1800" dirty="0">
                <a:solidFill>
                  <a:srgbClr val="FF0000"/>
                </a:solidFill>
              </a:rPr>
              <a:t> </a:t>
            </a:r>
            <a:r>
              <a:rPr lang="en-US" altLang="zh-CN" sz="1800" dirty="0"/>
              <a:t>messages will be transmitted, we use </a:t>
            </a:r>
            <a:r>
              <a:rPr lang="en-US" altLang="zh-CN" sz="1800" dirty="0">
                <a:hlinkClick r:id="rId4"/>
              </a:rPr>
              <a:t>service</a:t>
            </a:r>
            <a:r>
              <a:rPr lang="en-US" altLang="zh-CN" sz="1800" dirty="0"/>
              <a:t> element to specify </a:t>
            </a:r>
            <a:r>
              <a:rPr lang="en-US" altLang="zh-CN" sz="1800" i="1" dirty="0">
                <a:solidFill>
                  <a:srgbClr val="FF0000"/>
                </a:solidFill>
              </a:rPr>
              <a:t>where</a:t>
            </a:r>
            <a:r>
              <a:rPr lang="en-US" altLang="zh-CN" sz="1800" dirty="0">
                <a:solidFill>
                  <a:srgbClr val="FF0000"/>
                </a:solidFill>
              </a:rPr>
              <a:t> </a:t>
            </a:r>
            <a:r>
              <a:rPr lang="en-US" altLang="zh-CN" sz="1800" dirty="0"/>
              <a:t>the service can be accessed</a:t>
            </a:r>
          </a:p>
          <a:p>
            <a:pPr>
              <a:defRPr/>
            </a:pPr>
            <a:r>
              <a:rPr lang="en-US" altLang="zh-CN" sz="1800" dirty="0"/>
              <a:t>A WSDL 2.0 </a:t>
            </a:r>
            <a:r>
              <a:rPr lang="en-US" altLang="zh-CN" sz="1800" dirty="0">
                <a:hlinkClick r:id="rId4"/>
              </a:rPr>
              <a:t>service </a:t>
            </a:r>
            <a:r>
              <a:rPr lang="en-US" altLang="zh-CN" sz="1800" dirty="0"/>
              <a:t>specifies </a:t>
            </a:r>
            <a:r>
              <a:rPr lang="en-US" altLang="zh-CN" sz="1800" dirty="0">
                <a:solidFill>
                  <a:srgbClr val="FF0000"/>
                </a:solidFill>
              </a:rPr>
              <a:t>a single </a:t>
            </a:r>
            <a:r>
              <a:rPr lang="en-US" altLang="zh-CN" sz="1800" dirty="0">
                <a:solidFill>
                  <a:srgbClr val="FF0000"/>
                </a:solidFill>
                <a:hlinkClick r:id="rId3" action="ppaction://hlinkfile"/>
              </a:rPr>
              <a:t>interface</a:t>
            </a:r>
            <a:r>
              <a:rPr lang="en-US" altLang="zh-CN" sz="1800" dirty="0">
                <a:hlinkClick r:id="rId3" action="ppaction://hlinkfile"/>
              </a:rPr>
              <a:t> </a:t>
            </a:r>
            <a:r>
              <a:rPr lang="en-US" altLang="zh-CN" sz="1800" dirty="0"/>
              <a:t>(only one permitted) that the service will support, and a list of </a:t>
            </a:r>
            <a:r>
              <a:rPr lang="en-US" altLang="zh-CN" sz="1800" dirty="0">
                <a:hlinkClick r:id="rId5" action="ppaction://hlinkpres?slideindex=1&amp;slidetitle="/>
              </a:rPr>
              <a:t>endpoint </a:t>
            </a:r>
            <a:r>
              <a:rPr lang="en-US" altLang="zh-CN" sz="1800" dirty="0"/>
              <a:t>locations where that service can be accessed</a:t>
            </a:r>
          </a:p>
          <a:p>
            <a:pPr>
              <a:defRPr/>
            </a:pPr>
            <a:r>
              <a:rPr lang="en-US" altLang="zh-CN" sz="1800" dirty="0"/>
              <a:t>Each endpoint must also reference a previously defined </a:t>
            </a:r>
            <a:r>
              <a:rPr lang="en-US" altLang="zh-CN" sz="1800" dirty="0">
                <a:solidFill>
                  <a:srgbClr val="FF0000"/>
                </a:solidFill>
                <a:hlinkClick r:id="rId3" action="ppaction://hlinkfile"/>
              </a:rPr>
              <a:t>binding</a:t>
            </a:r>
            <a:r>
              <a:rPr lang="en-US" altLang="zh-CN" sz="1800" dirty="0">
                <a:hlinkClick r:id="rId3" action="ppaction://hlinkfile"/>
              </a:rPr>
              <a:t> </a:t>
            </a:r>
            <a:r>
              <a:rPr lang="en-US" altLang="zh-CN" sz="1800" dirty="0"/>
              <a:t>to indicate what protocols and transmission formats are to be used at that endpoint </a:t>
            </a:r>
          </a:p>
        </p:txBody>
      </p:sp>
      <p:sp>
        <p:nvSpPr>
          <p:cNvPr id="49156" name="灯片编号占位符 3">
            <a:extLst>
              <a:ext uri="{FF2B5EF4-FFF2-40B4-BE49-F238E27FC236}">
                <a16:creationId xmlns:a16="http://schemas.microsoft.com/office/drawing/2014/main" id="{CD7A11ED-A11E-4C39-9D5D-9D1F4758B80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CA494CCE-2504-4CFF-81A9-5B05A330EDED}" type="slidenum">
              <a:rPr lang="en-US" altLang="zh-CN" sz="1000">
                <a:solidFill>
                  <a:srgbClr val="000000"/>
                </a:solidFill>
              </a:rPr>
              <a:pPr>
                <a:buFont typeface="Wingdings" panose="05000000000000000000" pitchFamily="2" charset="2"/>
                <a:buNone/>
              </a:pPr>
              <a:t>16</a:t>
            </a:fld>
            <a:endParaRPr lang="en-US" altLang="zh-CN" sz="1000">
              <a:solidFill>
                <a:srgbClr val="000000"/>
              </a:solidFill>
            </a:endParaRPr>
          </a:p>
        </p:txBody>
      </p:sp>
      <p:sp>
        <p:nvSpPr>
          <p:cNvPr id="5" name="Text Box 4">
            <a:extLst>
              <a:ext uri="{FF2B5EF4-FFF2-40B4-BE49-F238E27FC236}">
                <a16:creationId xmlns:a16="http://schemas.microsoft.com/office/drawing/2014/main" id="{AFA829F2-642F-4EA5-A368-1EADFD9184C4}"/>
              </a:ext>
            </a:extLst>
          </p:cNvPr>
          <p:cNvSpPr txBox="1">
            <a:spLocks noChangeArrowheads="1"/>
          </p:cNvSpPr>
          <p:nvPr/>
        </p:nvSpPr>
        <p:spPr bwMode="auto">
          <a:xfrm>
            <a:off x="3347864" y="1196752"/>
            <a:ext cx="5688632" cy="547842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encoding="utf-8" ?&gt;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http://www.w3.org/ns/wsdl</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targetNamespace</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xmlns:tns</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http://greath.example.com/2004/wsdl/resSvc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xmlns:ghns</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http://greath.example.com/2004/schemas/resSvc</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xmlns:wsoap</a:t>
            </a:r>
            <a:r>
              <a:rPr lang="en-US" altLang="zh-CN" sz="1400" dirty="0">
                <a:solidFill>
                  <a:srgbClr val="0000FF"/>
                </a:solidFill>
                <a:highlight>
                  <a:srgbClr val="FFFFFF"/>
                </a:highlight>
                <a:latin typeface="Arial"/>
              </a:rPr>
              <a:t>= "</a:t>
            </a:r>
            <a:r>
              <a:rPr lang="en-US" altLang="zh-CN" sz="1400" dirty="0">
                <a:solidFill>
                  <a:srgbClr val="000000"/>
                </a:solidFill>
                <a:highlight>
                  <a:srgbClr val="FFFFFF"/>
                </a:highlight>
                <a:latin typeface="Arial"/>
              </a:rPr>
              <a:t>http://www.w3.org/ns/wsdl/soap</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xmlns:soap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types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interface</a:t>
            </a:r>
            <a:r>
              <a:rPr lang="en-US" altLang="zh-CN" sz="1400" dirty="0">
                <a:solidFill>
                  <a:srgbClr val="FF0000"/>
                </a:solidFill>
                <a:highlight>
                  <a:srgbClr val="FFFFFF"/>
                </a:highlight>
                <a:latin typeface="Arial"/>
              </a:rPr>
              <a:t>  name </a:t>
            </a:r>
            <a:r>
              <a:rPr lang="en-US" altLang="zh-CN" sz="1400" dirty="0">
                <a:solidFill>
                  <a:srgbClr val="0000FF"/>
                </a:solidFill>
                <a:highlight>
                  <a:srgbClr val="FFFFFF"/>
                </a:highlight>
                <a:latin typeface="Arial"/>
              </a:rPr>
              <a:t>= "</a:t>
            </a:r>
            <a:r>
              <a:rPr lang="en-US" altLang="zh-CN" sz="1400" dirty="0" err="1">
                <a:solidFill>
                  <a:srgbClr val="000000"/>
                </a:solidFill>
                <a:highlight>
                  <a:srgbClr val="FFFFFF"/>
                </a:highlight>
                <a:latin typeface="Arial"/>
              </a:rPr>
              <a:t>reservationInterface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interface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binding</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reservationSOAPBinding</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interface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tns:reservationInterface</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FF0000"/>
                </a:solidFill>
                <a:highlight>
                  <a:srgbClr val="FFFFFF"/>
                </a:highlight>
                <a:latin typeface="Arial"/>
              </a:rPr>
              <a:t>        </a:t>
            </a:r>
            <a:r>
              <a:rPr lang="en-US" altLang="zh-CN" sz="1400" dirty="0">
                <a:solidFill>
                  <a:srgbClr val="FF0000"/>
                </a:solidFill>
                <a:highlight>
                  <a:srgbClr val="FFFFFF"/>
                </a:highlight>
                <a:latin typeface="Arial"/>
              </a:rPr>
              <a:t>. . . </a:t>
            </a:r>
            <a:r>
              <a:rPr lang="en-US" altLang="zh-CN" sz="1400" dirty="0">
                <a:solidFill>
                  <a:srgbClr val="0000FF"/>
                </a:solidFill>
                <a:highlight>
                  <a:srgbClr val="FFFFFF"/>
                </a:highlight>
                <a:latin typeface="Arial"/>
              </a:rPr>
              <a:t>&gt;</a:t>
            </a: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 . .</a:t>
            </a:r>
            <a:r>
              <a:rPr lang="en-US" altLang="zh-CN" sz="1400" dirty="0">
                <a:solidFill>
                  <a:srgbClr val="0000FF"/>
                </a:solidFill>
                <a:highlight>
                  <a:srgbClr val="FFFFFF"/>
                </a:highlight>
                <a:latin typeface="Arial"/>
              </a:rPr>
              <a:t> &lt;/</a:t>
            </a:r>
            <a:r>
              <a:rPr lang="en-US" altLang="zh-CN" sz="1400" dirty="0">
                <a:solidFill>
                  <a:srgbClr val="800000"/>
                </a:solidFill>
                <a:highlight>
                  <a:srgbClr val="FFFFFF"/>
                </a:highlight>
                <a:latin typeface="Arial"/>
              </a:rPr>
              <a:t>binding</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service</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reservationService</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interface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tns:reservationInterface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endpoint</a:t>
            </a:r>
            <a:r>
              <a:rPr lang="en-US" altLang="zh-CN" sz="1400" dirty="0">
                <a:solidFill>
                  <a:srgbClr val="FF0000"/>
                </a:solidFill>
                <a:highlight>
                  <a:srgbClr val="FFFFFF"/>
                </a:highlight>
                <a:latin typeface="Arial"/>
              </a:rPr>
              <a:t> name</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reservationEndpoint</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binding</a:t>
            </a:r>
            <a:r>
              <a:rPr lang="en-US" altLang="zh-CN" sz="1400" dirty="0">
                <a:solidFill>
                  <a:srgbClr val="0000FF"/>
                </a:solidFill>
                <a:highlight>
                  <a:srgbClr val="FFFFFF"/>
                </a:highlight>
                <a:latin typeface="Arial"/>
              </a:rPr>
              <a:t>="</a:t>
            </a:r>
            <a:r>
              <a:rPr lang="en-US" altLang="zh-CN" sz="1400" dirty="0" err="1">
                <a:solidFill>
                  <a:srgbClr val="000000"/>
                </a:solidFill>
                <a:highlight>
                  <a:srgbClr val="FFFFFF"/>
                </a:highlight>
                <a:latin typeface="Arial"/>
              </a:rPr>
              <a:t>tns:reservationSOAPBinding</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address </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http://greath.example.com/2004/reservation</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service</a:t>
            </a:r>
            <a:r>
              <a:rPr lang="en-US" altLang="zh-CN" sz="1400" dirty="0">
                <a:solidFill>
                  <a:srgbClr val="0000FF"/>
                </a:solidFill>
                <a:highlight>
                  <a:srgbClr val="FFFFFF"/>
                </a:highlight>
                <a:latin typeface="Arial"/>
              </a:rPr>
              <a:t>&gt;</a:t>
            </a:r>
            <a:endParaRPr lang="zh-CN" altLang="en-US"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description</a:t>
            </a:r>
            <a:r>
              <a:rPr lang="en-US" altLang="zh-CN" sz="1400" dirty="0">
                <a:solidFill>
                  <a:srgbClr val="0000FF"/>
                </a:solidFill>
                <a:highlight>
                  <a:srgbClr val="FFFFFF"/>
                </a:highlight>
                <a:latin typeface="Arial"/>
              </a:rPr>
              <a:t>&gt;</a:t>
            </a:r>
          </a:p>
        </p:txBody>
      </p:sp>
      <p:sp>
        <p:nvSpPr>
          <p:cNvPr id="6" name="Line 15">
            <a:extLst>
              <a:ext uri="{FF2B5EF4-FFF2-40B4-BE49-F238E27FC236}">
                <a16:creationId xmlns:a16="http://schemas.microsoft.com/office/drawing/2014/main" id="{A1D2F9ED-1B6A-466F-BAD9-B6DDA39BDD0A}"/>
              </a:ext>
            </a:extLst>
          </p:cNvPr>
          <p:cNvSpPr>
            <a:spLocks noChangeShapeType="1"/>
          </p:cNvSpPr>
          <p:nvPr/>
        </p:nvSpPr>
        <p:spPr bwMode="auto">
          <a:xfrm>
            <a:off x="2843213" y="2773363"/>
            <a:ext cx="841375" cy="2117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15">
            <a:extLst>
              <a:ext uri="{FF2B5EF4-FFF2-40B4-BE49-F238E27FC236}">
                <a16:creationId xmlns:a16="http://schemas.microsoft.com/office/drawing/2014/main" id="{C6F87C21-3BD7-4553-9FAE-13B468AAEA87}"/>
              </a:ext>
            </a:extLst>
          </p:cNvPr>
          <p:cNvSpPr>
            <a:spLocks noChangeShapeType="1"/>
          </p:cNvSpPr>
          <p:nvPr/>
        </p:nvSpPr>
        <p:spPr bwMode="auto">
          <a:xfrm>
            <a:off x="2411413" y="3213100"/>
            <a:ext cx="1273175" cy="19446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5">
            <a:extLst>
              <a:ext uri="{FF2B5EF4-FFF2-40B4-BE49-F238E27FC236}">
                <a16:creationId xmlns:a16="http://schemas.microsoft.com/office/drawing/2014/main" id="{8BF65250-5E9E-41A9-872C-FF48AD841B6F}"/>
              </a:ext>
            </a:extLst>
          </p:cNvPr>
          <p:cNvSpPr>
            <a:spLocks noChangeShapeType="1"/>
          </p:cNvSpPr>
          <p:nvPr/>
        </p:nvSpPr>
        <p:spPr bwMode="auto">
          <a:xfrm>
            <a:off x="2411413" y="4149725"/>
            <a:ext cx="1273175" cy="12954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5">
            <a:extLst>
              <a:ext uri="{FF2B5EF4-FFF2-40B4-BE49-F238E27FC236}">
                <a16:creationId xmlns:a16="http://schemas.microsoft.com/office/drawing/2014/main" id="{93D9529E-541E-408F-B643-38181808E20A}"/>
              </a:ext>
            </a:extLst>
          </p:cNvPr>
          <p:cNvSpPr>
            <a:spLocks noChangeShapeType="1"/>
          </p:cNvSpPr>
          <p:nvPr/>
        </p:nvSpPr>
        <p:spPr bwMode="auto">
          <a:xfrm>
            <a:off x="2411413" y="5330825"/>
            <a:ext cx="1728787" cy="4016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15">
            <a:extLst>
              <a:ext uri="{FF2B5EF4-FFF2-40B4-BE49-F238E27FC236}">
                <a16:creationId xmlns:a16="http://schemas.microsoft.com/office/drawing/2014/main" id="{B1D51F33-70AA-4432-82C4-3A013E425AEB}"/>
              </a:ext>
            </a:extLst>
          </p:cNvPr>
          <p:cNvSpPr>
            <a:spLocks noChangeShapeType="1"/>
          </p:cNvSpPr>
          <p:nvPr/>
        </p:nvSpPr>
        <p:spPr bwMode="auto">
          <a:xfrm flipH="1">
            <a:off x="7667625" y="5157788"/>
            <a:ext cx="0" cy="7191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6">
            <a:extLst>
              <a:ext uri="{FF2B5EF4-FFF2-40B4-BE49-F238E27FC236}">
                <a16:creationId xmlns:a16="http://schemas.microsoft.com/office/drawing/2014/main" id="{1C563C16-BDA0-4ACF-BEAB-933D8C7D0019}"/>
              </a:ext>
            </a:extLst>
          </p:cNvPr>
          <p:cNvSpPr txBox="1">
            <a:spLocks noChangeArrowheads="1"/>
          </p:cNvSpPr>
          <p:nvPr/>
        </p:nvSpPr>
        <p:spPr bwMode="auto">
          <a:xfrm>
            <a:off x="6900863" y="4521200"/>
            <a:ext cx="21351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Where to find this service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60AD955C-BE86-4FB6-ADC7-FF29D2BD6830}"/>
              </a:ext>
            </a:extLst>
          </p:cNvPr>
          <p:cNvSpPr>
            <a:spLocks noGrp="1"/>
          </p:cNvSpPr>
          <p:nvPr>
            <p:ph type="title"/>
          </p:nvPr>
        </p:nvSpPr>
        <p:spPr/>
        <p:txBody>
          <a:bodyPr/>
          <a:lstStyle/>
          <a:p>
            <a:r>
              <a:rPr lang="en-US" altLang="zh-CN"/>
              <a:t>Documenting the Service (1/2)</a:t>
            </a:r>
            <a:endParaRPr lang="zh-CN" altLang="en-US"/>
          </a:p>
        </p:txBody>
      </p:sp>
      <p:sp>
        <p:nvSpPr>
          <p:cNvPr id="3" name="内容占位符 2">
            <a:extLst>
              <a:ext uri="{FF2B5EF4-FFF2-40B4-BE49-F238E27FC236}">
                <a16:creationId xmlns:a16="http://schemas.microsoft.com/office/drawing/2014/main" id="{E593EF7B-E76D-4AAC-9418-FE96273DC0CF}"/>
              </a:ext>
            </a:extLst>
          </p:cNvPr>
          <p:cNvSpPr>
            <a:spLocks noGrp="1"/>
          </p:cNvSpPr>
          <p:nvPr>
            <p:ph idx="1"/>
          </p:nvPr>
        </p:nvSpPr>
        <p:spPr/>
        <p:txBody>
          <a:bodyPr>
            <a:normAutofit fontScale="62500" lnSpcReduction="20000"/>
          </a:bodyPr>
          <a:lstStyle/>
          <a:p>
            <a:pPr>
              <a:lnSpc>
                <a:spcPct val="120000"/>
              </a:lnSpc>
              <a:defRPr/>
            </a:pPr>
            <a:r>
              <a:rPr lang="en-US" altLang="zh-CN" dirty="0"/>
              <a:t>A WSDL 2.0 document is inherently only a </a:t>
            </a:r>
            <a:r>
              <a:rPr lang="en-US" altLang="zh-CN" i="1" dirty="0">
                <a:solidFill>
                  <a:srgbClr val="FF0000"/>
                </a:solidFill>
              </a:rPr>
              <a:t>partial</a:t>
            </a:r>
            <a:r>
              <a:rPr lang="en-US" altLang="zh-CN" dirty="0">
                <a:solidFill>
                  <a:srgbClr val="FF0000"/>
                </a:solidFill>
              </a:rPr>
              <a:t> </a:t>
            </a:r>
            <a:r>
              <a:rPr lang="en-US" altLang="zh-CN" dirty="0"/>
              <a:t>description of a service. Although it captures the basic mechanics of interacting with the service (the message types, transmission protocols, service location, </a:t>
            </a:r>
            <a:r>
              <a:rPr lang="en-US" altLang="zh-CN" dirty="0" err="1"/>
              <a:t>etc</a:t>
            </a:r>
            <a:r>
              <a:rPr lang="en-US" altLang="zh-CN" dirty="0"/>
              <a:t>), in general, additional documentation will need to explain other application-level requirements for its use</a:t>
            </a:r>
          </a:p>
          <a:p>
            <a:pPr lvl="1">
              <a:lnSpc>
                <a:spcPct val="120000"/>
              </a:lnSpc>
              <a:defRPr/>
            </a:pPr>
            <a:r>
              <a:rPr lang="en-US" altLang="zh-CN" dirty="0"/>
              <a:t>For example, such documentation should explain the purpose and use of the service, the meanings of all messages, constraints on their use, and the sequence in which operations should be invoked</a:t>
            </a:r>
          </a:p>
          <a:p>
            <a:pPr>
              <a:lnSpc>
                <a:spcPct val="120000"/>
              </a:lnSpc>
              <a:defRPr/>
            </a:pPr>
            <a:r>
              <a:rPr lang="en-US" altLang="zh-CN" dirty="0"/>
              <a:t>The </a:t>
            </a:r>
            <a:r>
              <a:rPr lang="en-US" altLang="zh-CN" dirty="0">
                <a:hlinkClick r:id="rId3" action="ppaction://hlinkfile"/>
              </a:rPr>
              <a:t>documentation</a:t>
            </a:r>
            <a:r>
              <a:rPr lang="en-US" altLang="zh-CN" dirty="0"/>
              <a:t> element allows the WSDL 2.0 author to include some (human-readable) documentation inside a WSDL 2.0 document. It is also a convenient place to reference any additional external documentation that a client developer may need in order to use the service</a:t>
            </a:r>
          </a:p>
          <a:p>
            <a:pPr>
              <a:lnSpc>
                <a:spcPct val="120000"/>
              </a:lnSpc>
              <a:defRPr/>
            </a:pPr>
            <a:r>
              <a:rPr lang="en-US" altLang="zh-CN" dirty="0"/>
              <a:t>It can appear in a number of places in a WSDL 2.0 document</a:t>
            </a:r>
            <a:endParaRPr lang="zh-CN" altLang="en-US" dirty="0"/>
          </a:p>
        </p:txBody>
      </p:sp>
      <p:sp>
        <p:nvSpPr>
          <p:cNvPr id="51204" name="灯片编号占位符 3">
            <a:extLst>
              <a:ext uri="{FF2B5EF4-FFF2-40B4-BE49-F238E27FC236}">
                <a16:creationId xmlns:a16="http://schemas.microsoft.com/office/drawing/2014/main" id="{5D795C32-10CC-4AB1-9596-9BEE5FD2D3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2778F302-49A2-4FC8-BEAE-3BFFCC41075E}" type="slidenum">
              <a:rPr lang="en-US" altLang="zh-CN" sz="1000">
                <a:solidFill>
                  <a:srgbClr val="000000"/>
                </a:solidFill>
              </a:rPr>
              <a:pPr>
                <a:buFont typeface="Wingdings" panose="05000000000000000000" pitchFamily="2" charset="2"/>
                <a:buNone/>
              </a:pPr>
              <a:t>17</a:t>
            </a:fld>
            <a:endParaRPr lang="en-US" altLang="zh-CN" sz="1000">
              <a:solidFill>
                <a:srgbClr val="0000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E3216F4F-8D85-4CF3-94D2-1FA0E418CDD1}"/>
              </a:ext>
            </a:extLst>
          </p:cNvPr>
          <p:cNvSpPr>
            <a:spLocks noGrp="1"/>
          </p:cNvSpPr>
          <p:nvPr>
            <p:ph type="title"/>
          </p:nvPr>
        </p:nvSpPr>
        <p:spPr/>
        <p:txBody>
          <a:bodyPr/>
          <a:lstStyle/>
          <a:p>
            <a:r>
              <a:rPr lang="en-US" altLang="zh-CN"/>
              <a:t>Documenting the Service (2/2)</a:t>
            </a:r>
            <a:endParaRPr lang="zh-CN" altLang="en-US"/>
          </a:p>
        </p:txBody>
      </p:sp>
      <p:sp>
        <p:nvSpPr>
          <p:cNvPr id="53251" name="灯片编号占位符 3">
            <a:extLst>
              <a:ext uri="{FF2B5EF4-FFF2-40B4-BE49-F238E27FC236}">
                <a16:creationId xmlns:a16="http://schemas.microsoft.com/office/drawing/2014/main" id="{48B62399-C69F-4C8C-80E1-BB4B3DFCEF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fld id="{10EA95EB-D18B-48ED-AE92-3975CDDF4AB8}" type="slidenum">
              <a:rPr lang="en-US" altLang="zh-CN" sz="1000">
                <a:solidFill>
                  <a:srgbClr val="000000"/>
                </a:solidFill>
              </a:rPr>
              <a:pPr>
                <a:buFont typeface="Wingdings" panose="05000000000000000000" pitchFamily="2" charset="2"/>
                <a:buNone/>
              </a:pPr>
              <a:t>18</a:t>
            </a:fld>
            <a:endParaRPr lang="en-US" altLang="zh-CN" sz="1000">
              <a:solidFill>
                <a:srgbClr val="000000"/>
              </a:solidFill>
            </a:endParaRPr>
          </a:p>
        </p:txBody>
      </p:sp>
      <p:sp>
        <p:nvSpPr>
          <p:cNvPr id="5" name="Text Box 4">
            <a:extLst>
              <a:ext uri="{FF2B5EF4-FFF2-40B4-BE49-F238E27FC236}">
                <a16:creationId xmlns:a16="http://schemas.microsoft.com/office/drawing/2014/main" id="{148B7CB3-7CAF-4015-A8D9-05C9F41FC3C1}"/>
              </a:ext>
            </a:extLst>
          </p:cNvPr>
          <p:cNvSpPr txBox="1">
            <a:spLocks noChangeArrowheads="1"/>
          </p:cNvSpPr>
          <p:nvPr/>
        </p:nvSpPr>
        <p:spPr bwMode="auto">
          <a:xfrm>
            <a:off x="1259632" y="2078210"/>
            <a:ext cx="6408712" cy="358867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rPr>
              <a:t>&lt;?xml version="1.0" encoding="utf-8" ?&gt;</a:t>
            </a:r>
            <a:r>
              <a:rPr lang="en-US" altLang="zh-CN" sz="16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zh-CN" altLang="en-US" sz="1600" dirty="0">
                <a:solidFill>
                  <a:srgbClr val="FF0000"/>
                </a:solidFill>
                <a:highlight>
                  <a:srgbClr val="FFFFFF"/>
                </a:highlight>
                <a:latin typeface="Arial"/>
              </a:rPr>
              <a:t>    </a:t>
            </a:r>
            <a:r>
              <a:rPr lang="en-US" altLang="zh-CN" sz="1600" dirty="0">
                <a:solidFill>
                  <a:srgbClr val="FF0000"/>
                </a:solidFill>
                <a:highlight>
                  <a:srgbClr val="FFFFFF"/>
                </a:highlight>
                <a:latin typeface="Arial"/>
              </a:rPr>
              <a:t>. . . </a:t>
            </a:r>
            <a:r>
              <a:rPr lang="en-US" altLang="zh-CN" sz="1600" dirty="0">
                <a:solidFill>
                  <a:srgbClr val="0000FF"/>
                </a:solidFill>
                <a:highlight>
                  <a:srgbClr val="FFFFFF"/>
                </a:highlight>
                <a:latin typeface="Arial"/>
              </a:rPr>
              <a:t>&gt;</a:t>
            </a: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documentation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This document describes the </a:t>
            </a:r>
            <a:r>
              <a:rPr lang="en-US" altLang="zh-CN" sz="1600" dirty="0" err="1">
                <a:solidFill>
                  <a:srgbClr val="000000"/>
                </a:solidFill>
                <a:highlight>
                  <a:srgbClr val="FFFFFF"/>
                </a:highlight>
                <a:latin typeface="Arial"/>
              </a:rPr>
              <a:t>GreatH</a:t>
            </a:r>
            <a:r>
              <a:rPr lang="en-US" altLang="zh-CN" sz="1600" dirty="0">
                <a:solidFill>
                  <a:srgbClr val="000000"/>
                </a:solidFill>
                <a:highlight>
                  <a:srgbClr val="FFFFFF"/>
                </a:highlight>
                <a:latin typeface="Arial"/>
              </a:rPr>
              <a:t> Web service.  Additional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application-level requirements for use of this service --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beyond what WSDL 2.0 is able to describe -- are available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http://greath.example.com/2004/reservation-documentation.html</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documentation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 . .  </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description</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
        <p:nvSpPr>
          <p:cNvPr id="7" name="Line 15">
            <a:extLst>
              <a:ext uri="{FF2B5EF4-FFF2-40B4-BE49-F238E27FC236}">
                <a16:creationId xmlns:a16="http://schemas.microsoft.com/office/drawing/2014/main" id="{E8AFF1A5-12D4-46DD-ABF1-EB6500D6CBF8}"/>
              </a:ext>
            </a:extLst>
          </p:cNvPr>
          <p:cNvSpPr>
            <a:spLocks noChangeShapeType="1"/>
          </p:cNvSpPr>
          <p:nvPr/>
        </p:nvSpPr>
        <p:spPr bwMode="auto">
          <a:xfrm flipH="1">
            <a:off x="3059113" y="3141663"/>
            <a:ext cx="1657350"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16">
            <a:extLst>
              <a:ext uri="{FF2B5EF4-FFF2-40B4-BE49-F238E27FC236}">
                <a16:creationId xmlns:a16="http://schemas.microsoft.com/office/drawing/2014/main" id="{C8B8F37E-38FC-4409-B327-149985EF3605}"/>
              </a:ext>
            </a:extLst>
          </p:cNvPr>
          <p:cNvSpPr txBox="1">
            <a:spLocks noChangeArrowheads="1"/>
          </p:cNvSpPr>
          <p:nvPr/>
        </p:nvSpPr>
        <p:spPr bwMode="auto">
          <a:xfrm>
            <a:off x="4827588" y="2646363"/>
            <a:ext cx="1847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Optional but recommended</a:t>
            </a:r>
            <a:endParaRPr lang="en-US" altLang="zh-CN" sz="2000"/>
          </a:p>
        </p:txBody>
      </p:sp>
      <p:sp>
        <p:nvSpPr>
          <p:cNvPr id="9" name="Line 15">
            <a:extLst>
              <a:ext uri="{FF2B5EF4-FFF2-40B4-BE49-F238E27FC236}">
                <a16:creationId xmlns:a16="http://schemas.microsoft.com/office/drawing/2014/main" id="{125BC076-7B41-431D-8D50-48E314C2B341}"/>
              </a:ext>
            </a:extLst>
          </p:cNvPr>
          <p:cNvSpPr>
            <a:spLocks noChangeShapeType="1"/>
          </p:cNvSpPr>
          <p:nvPr/>
        </p:nvSpPr>
        <p:spPr bwMode="auto">
          <a:xfrm flipH="1" flipV="1">
            <a:off x="5867400" y="4724400"/>
            <a:ext cx="936625" cy="4333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16">
            <a:extLst>
              <a:ext uri="{FF2B5EF4-FFF2-40B4-BE49-F238E27FC236}">
                <a16:creationId xmlns:a16="http://schemas.microsoft.com/office/drawing/2014/main" id="{3F852EDB-BAE7-44BE-844D-32ACD5B4C68E}"/>
              </a:ext>
            </a:extLst>
          </p:cNvPr>
          <p:cNvSpPr txBox="1">
            <a:spLocks noChangeArrowheads="1"/>
          </p:cNvSpPr>
          <p:nvPr/>
        </p:nvSpPr>
        <p:spPr bwMode="auto">
          <a:xfrm>
            <a:off x="6804025" y="4652963"/>
            <a:ext cx="23399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rgbClr val="000000"/>
                </a:solidFill>
              </a:rPr>
              <a:t>Any mixed content, URI may be used to link external document</a:t>
            </a:r>
            <a:endParaRPr lang="en-US" altLang="zh-CN"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9530241D-4C0E-4BF7-A51B-CDCBF7FC2079}"/>
              </a:ext>
            </a:extLst>
          </p:cNvPr>
          <p:cNvSpPr>
            <a:spLocks noGrp="1"/>
          </p:cNvSpPr>
          <p:nvPr>
            <p:ph type="title"/>
          </p:nvPr>
        </p:nvSpPr>
        <p:spPr/>
        <p:txBody>
          <a:bodyPr/>
          <a:lstStyle/>
          <a:p>
            <a:r>
              <a:rPr lang="en-US" altLang="zh-CN"/>
              <a:t>WSDL 1.1 vs WSDL 2.0</a:t>
            </a:r>
            <a:endParaRPr lang="zh-CN" altLang="en-US"/>
          </a:p>
        </p:txBody>
      </p:sp>
      <p:sp>
        <p:nvSpPr>
          <p:cNvPr id="55299" name="内容占位符 2">
            <a:extLst>
              <a:ext uri="{FF2B5EF4-FFF2-40B4-BE49-F238E27FC236}">
                <a16:creationId xmlns:a16="http://schemas.microsoft.com/office/drawing/2014/main" id="{39C98B59-FEDD-4352-83C9-4D4A0B788818}"/>
              </a:ext>
            </a:extLst>
          </p:cNvPr>
          <p:cNvSpPr>
            <a:spLocks noGrp="1"/>
          </p:cNvSpPr>
          <p:nvPr>
            <p:ph idx="1"/>
          </p:nvPr>
        </p:nvSpPr>
        <p:spPr>
          <a:xfrm>
            <a:off x="457200" y="5516563"/>
            <a:ext cx="8229600" cy="614362"/>
          </a:xfrm>
        </p:spPr>
        <p:txBody>
          <a:bodyPr/>
          <a:lstStyle/>
          <a:p>
            <a:r>
              <a:rPr lang="en-US" altLang="zh-CN" sz="2400">
                <a:hlinkClick r:id="rId2"/>
              </a:rPr>
              <a:t>http://www.w3.org/2006/02/WSDLConvert.html</a:t>
            </a:r>
            <a:endParaRPr lang="en-US" altLang="zh-CN" sz="2400"/>
          </a:p>
        </p:txBody>
      </p:sp>
      <p:sp>
        <p:nvSpPr>
          <p:cNvPr id="55301" name="灯片编号占位符 3">
            <a:extLst>
              <a:ext uri="{FF2B5EF4-FFF2-40B4-BE49-F238E27FC236}">
                <a16:creationId xmlns:a16="http://schemas.microsoft.com/office/drawing/2014/main" id="{C44DF4B7-7A52-4F4E-874A-B83B729CB5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en-US" altLang="zh-CN" sz="1000">
                <a:solidFill>
                  <a:srgbClr val="000000"/>
                </a:solidFill>
              </a:rPr>
              <a:t>19</a:t>
            </a:r>
          </a:p>
        </p:txBody>
      </p:sp>
      <p:pic>
        <p:nvPicPr>
          <p:cNvPr id="55300" name="Picture 2" descr="File:WSDL 11vs20.png">
            <a:hlinkClick r:id="rId3"/>
            <a:extLst>
              <a:ext uri="{FF2B5EF4-FFF2-40B4-BE49-F238E27FC236}">
                <a16:creationId xmlns:a16="http://schemas.microsoft.com/office/drawing/2014/main" id="{CCF3307E-0D6B-4E3D-8151-70BA03DD1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417638"/>
            <a:ext cx="4543425" cy="402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17274</TotalTime>
  <Words>2732</Words>
  <Application>Microsoft Office PowerPoint</Application>
  <PresentationFormat>全屏显示(4:3)</PresentationFormat>
  <Paragraphs>272</Paragraphs>
  <Slides>19</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19</vt:i4>
      </vt:variant>
    </vt:vector>
  </HeadingPairs>
  <TitlesOfParts>
    <vt:vector size="23" baseType="lpstr">
      <vt:lpstr>Arial</vt:lpstr>
      <vt:lpstr>Verdana</vt:lpstr>
      <vt:lpstr>Wingdings</vt:lpstr>
      <vt:lpstr>software</vt:lpstr>
      <vt:lpstr>WSDL Basis Service-Oriented Software Engineering</vt:lpstr>
      <vt:lpstr>Basic Concepts of WSDL</vt:lpstr>
      <vt:lpstr>The History of WSDL</vt:lpstr>
      <vt:lpstr>Defining a WSDL 2.0 Target Namespace (1/3)</vt:lpstr>
      <vt:lpstr>Defining a WSDL 2.0 Target Namespace (2/3)</vt:lpstr>
      <vt:lpstr>Defining a WSDL 2.0 Target Namespace (3/3)</vt:lpstr>
      <vt:lpstr>Defining Message Types (1/3)</vt:lpstr>
      <vt:lpstr>Defining Message Types (2/3)</vt:lpstr>
      <vt:lpstr>Defining Message Types (3/3)</vt:lpstr>
      <vt:lpstr>Defining an Interface (1/2)</vt:lpstr>
      <vt:lpstr>Defining an Interface (2/2)</vt:lpstr>
      <vt:lpstr>Defining a Binding (1/4)</vt:lpstr>
      <vt:lpstr>Defining a Binding (2/4)</vt:lpstr>
      <vt:lpstr>Defining a Binding (3/4)</vt:lpstr>
      <vt:lpstr>Defining a Binding (4/4)</vt:lpstr>
      <vt:lpstr>Defining a Service</vt:lpstr>
      <vt:lpstr>Documenting the Service (1/2)</vt:lpstr>
      <vt:lpstr>Documenting the Service (2/2)</vt:lpstr>
      <vt:lpstr>WSDL 1.1 vs WSDL 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248</cp:revision>
  <dcterms:created xsi:type="dcterms:W3CDTF">2008-04-16T11:36:22Z</dcterms:created>
  <dcterms:modified xsi:type="dcterms:W3CDTF">2023-10-19T04:48:14Z</dcterms:modified>
</cp:coreProperties>
</file>