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32"/>
  </p:notesMasterIdLst>
  <p:sldIdLst>
    <p:sldId id="256" r:id="rId2"/>
    <p:sldId id="332" r:id="rId3"/>
    <p:sldId id="337" r:id="rId4"/>
    <p:sldId id="334" r:id="rId5"/>
    <p:sldId id="338" r:id="rId6"/>
    <p:sldId id="340" r:id="rId7"/>
    <p:sldId id="421" r:id="rId8"/>
    <p:sldId id="345" r:id="rId9"/>
    <p:sldId id="347" r:id="rId10"/>
    <p:sldId id="348" r:id="rId11"/>
    <p:sldId id="396" r:id="rId12"/>
    <p:sldId id="370" r:id="rId13"/>
    <p:sldId id="372" r:id="rId14"/>
    <p:sldId id="350" r:id="rId15"/>
    <p:sldId id="351" r:id="rId16"/>
    <p:sldId id="353" r:id="rId17"/>
    <p:sldId id="354" r:id="rId18"/>
    <p:sldId id="355" r:id="rId19"/>
    <p:sldId id="356" r:id="rId20"/>
    <p:sldId id="357" r:id="rId21"/>
    <p:sldId id="358" r:id="rId22"/>
    <p:sldId id="359" r:id="rId23"/>
    <p:sldId id="360" r:id="rId24"/>
    <p:sldId id="398" r:id="rId25"/>
    <p:sldId id="362" r:id="rId26"/>
    <p:sldId id="363" r:id="rId27"/>
    <p:sldId id="399" r:id="rId28"/>
    <p:sldId id="364" r:id="rId29"/>
    <p:sldId id="365" r:id="rId30"/>
    <p:sldId id="400" r:id="rId3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3" autoAdjust="0"/>
    <p:restoredTop sz="94639" autoAdjust="0"/>
  </p:normalViewPr>
  <p:slideViewPr>
    <p:cSldViewPr>
      <p:cViewPr varScale="1">
        <p:scale>
          <a:sx n="109" d="100"/>
          <a:sy n="109" d="100"/>
        </p:scale>
        <p:origin x="1749" y="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2262B14-ADD9-4EF4-8894-95364EC9DDD0}" type="slidenum">
              <a:rPr lang="en-US" altLang="zh-CN"/>
              <a:pPr>
                <a:defRPr/>
              </a:pPr>
              <a:t>‹#›</a:t>
            </a:fld>
            <a:endParaRPr lang="en-US" altLang="zh-CN"/>
          </a:p>
        </p:txBody>
      </p:sp>
    </p:spTree>
    <p:extLst>
      <p:ext uri="{BB962C8B-B14F-4D97-AF65-F5344CB8AC3E}">
        <p14:creationId xmlns:p14="http://schemas.microsoft.com/office/powerpoint/2010/main" val="1346057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73E74F-837B-4786-B3B6-E0D8EFDAEAC0}" type="slidenum">
              <a:rPr lang="en-US" altLang="zh-CN" smtClean="0"/>
              <a:pPr eaLnBrk="1" hangingPunct="1"/>
              <a:t>1</a:t>
            </a:fld>
            <a:endParaRPr lang="en-US" altLang="zh-CN"/>
          </a:p>
        </p:txBody>
      </p:sp>
    </p:spTree>
    <p:extLst>
      <p:ext uri="{BB962C8B-B14F-4D97-AF65-F5344CB8AC3E}">
        <p14:creationId xmlns:p14="http://schemas.microsoft.com/office/powerpoint/2010/main" val="396052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B77CD125-886C-415B-BAF9-46E8CCCA1B8F}"/>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0606AD89-B9FE-4BC8-BB2F-31661EE55C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AD1AEC0F-544F-4D3A-9A99-D88237E312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55A8A7A-5797-42F6-81E0-AFFB19387A3C}" type="slidenum">
              <a:rPr lang="en-US" altLang="zh-CN"/>
              <a:pPr>
                <a:spcBef>
                  <a:spcPct val="0"/>
                </a:spcBef>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FA1E7186-4F34-46FB-A830-822F5C613B53}"/>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02B2DB4D-CE1A-49BC-9216-8F7B536886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745EFFAE-EDD6-4546-AF58-139FE43BE5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BE29536-9147-4CDB-8857-B450011DF7C1}" type="slidenum">
              <a:rPr lang="en-US" altLang="zh-CN"/>
              <a:pPr>
                <a:spcBef>
                  <a:spcPct val="0"/>
                </a:spcBef>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856A9D93-9252-42A1-BCC0-68467701FA73}"/>
              </a:ext>
            </a:extLst>
          </p:cNvPr>
          <p:cNvSpPr>
            <a:spLocks noGrp="1" noRot="1" noChangeAspect="1" noTextEdit="1"/>
          </p:cNvSpPr>
          <p:nvPr>
            <p:ph type="sldImg"/>
          </p:nvPr>
        </p:nvSpPr>
        <p:spPr>
          <a:ln/>
        </p:spPr>
      </p:sp>
      <p:sp>
        <p:nvSpPr>
          <p:cNvPr id="11267" name="备注占位符 2">
            <a:extLst>
              <a:ext uri="{FF2B5EF4-FFF2-40B4-BE49-F238E27FC236}">
                <a16:creationId xmlns:a16="http://schemas.microsoft.com/office/drawing/2014/main" id="{2A01DF1B-EF6F-4EA4-A9C3-B33347CC6F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4757EB0A-31F7-47FB-B9B4-1D258F95F80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0A0178D-07E3-4A64-93A5-9BC51C78AA3C}" type="slidenum">
              <a:rPr lang="en-US" altLang="zh-CN"/>
              <a:pPr>
                <a:spcBef>
                  <a:spcPct val="0"/>
                </a:spcBef>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2C08B5CD-2FF6-40F9-8BDA-E13325CCF880}"/>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110B022F-D883-41CF-B1CF-E74249AB42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7D0C79D7-76A1-4ED8-846A-9D8551BA15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244F4CE-A808-4478-B696-C9F0F44154BA}" type="slidenum">
              <a:rPr lang="en-US" altLang="zh-CN"/>
              <a:pPr>
                <a:spcBef>
                  <a:spcPct val="0"/>
                </a:spcBef>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6F464F52-20B0-4C2A-AE2C-0D947CDA4AF0}"/>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4E9FAF7E-EABB-4B5B-B47D-3EDCB573307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AF109214-49A0-4AE1-8703-A8AB276F373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F2B09E-2552-4463-82D2-271B1CCFD0F0}" type="slidenum">
              <a:rPr lang="en-US" altLang="zh-CN"/>
              <a:pPr>
                <a:spcBef>
                  <a:spcPct val="0"/>
                </a:spcBef>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89A5CAD3-38D8-46B1-8950-57FDDF74B86D}"/>
              </a:ext>
            </a:extLst>
          </p:cNvPr>
          <p:cNvSpPr>
            <a:spLocks noGrp="1" noRot="1" noChangeAspect="1" noTextEdit="1"/>
          </p:cNvSpPr>
          <p:nvPr>
            <p:ph type="sldImg"/>
          </p:nvPr>
        </p:nvSpPr>
        <p:spPr>
          <a:ln/>
        </p:spPr>
      </p:sp>
      <p:sp>
        <p:nvSpPr>
          <p:cNvPr id="17411" name="备注占位符 2">
            <a:extLst>
              <a:ext uri="{FF2B5EF4-FFF2-40B4-BE49-F238E27FC236}">
                <a16:creationId xmlns:a16="http://schemas.microsoft.com/office/drawing/2014/main" id="{5705E09E-3804-4BC9-AE33-61189DC17D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412" name="灯片编号占位符 3">
            <a:extLst>
              <a:ext uri="{FF2B5EF4-FFF2-40B4-BE49-F238E27FC236}">
                <a16:creationId xmlns:a16="http://schemas.microsoft.com/office/drawing/2014/main" id="{B9F02522-2E8E-463A-8F80-8E0FC8BB88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34DD88A-DC50-40F2-A768-A8C109946137}" type="slidenum">
              <a:rPr lang="en-US" altLang="zh-CN"/>
              <a:pPr>
                <a:spcBef>
                  <a:spcPct val="0"/>
                </a:spcBef>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C49AD5AE-B01E-4D57-9B41-376E4BEFD333}"/>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F46E6687-4B1A-43E6-AA1C-74806CCC0F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34766C3B-53CE-4245-9FEC-F03DD02A14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2EA45C8-7058-4A9A-8D95-67D2091CAFDC}" type="slidenum">
              <a:rPr lang="en-US" altLang="zh-CN"/>
              <a:pPr>
                <a:spcBef>
                  <a:spcPct val="0"/>
                </a:spcBef>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AE555E47-18DA-43EF-B7AE-7D566B9170B2}"/>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E833051D-D995-4BF7-B2B9-1DD906B761D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2EF73F67-FBFD-4926-A525-73787DE6D0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9E9FDCE-14F6-4652-9956-9DA73B1DB45D}" type="slidenum">
              <a:rPr lang="en-US" altLang="zh-CN"/>
              <a:pPr>
                <a:spcBef>
                  <a:spcPct val="0"/>
                </a:spcBef>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BC0DD964-05C8-49E2-9CCC-17AC4A0C93DF}"/>
              </a:ext>
            </a:extLst>
          </p:cNvPr>
          <p:cNvSpPr>
            <a:spLocks noGrp="1" noRot="1" noChangeAspect="1" noTextEdit="1"/>
          </p:cNvSpPr>
          <p:nvPr>
            <p:ph type="sldImg"/>
          </p:nvPr>
        </p:nvSpPr>
        <p:spPr>
          <a:ln/>
        </p:spPr>
      </p:sp>
      <p:sp>
        <p:nvSpPr>
          <p:cNvPr id="11267" name="备注占位符 2">
            <a:extLst>
              <a:ext uri="{FF2B5EF4-FFF2-40B4-BE49-F238E27FC236}">
                <a16:creationId xmlns:a16="http://schemas.microsoft.com/office/drawing/2014/main" id="{B437239B-1C16-4622-B411-1467D8A9333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1434E55E-844C-4759-9A39-1DB65990933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E591650-204A-4142-9E55-849405EB63B1}" type="slidenum">
              <a:rPr lang="en-US" altLang="zh-CN"/>
              <a:pPr>
                <a:spcBef>
                  <a:spcPct val="0"/>
                </a:spcBef>
              </a:pPr>
              <a:t>10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98B55912-F596-4585-8EFB-6B369AECF3D3}"/>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6219EC6E-8F40-46BE-AC9A-7DEDD6ED03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AAF24700-9893-4A11-8357-F85C58D3DA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A89AF4A-DD05-4F0C-9F7D-AB670CEACE0F}" type="slidenum">
              <a:rPr lang="en-US" altLang="zh-CN"/>
              <a:pPr>
                <a:spcBef>
                  <a:spcPct val="0"/>
                </a:spcBef>
              </a:pPr>
              <a:t>11</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3C54820F-0C57-41A1-947B-AAE7C1FFF0C5}"/>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478CF2F3-9EDD-4874-B3AD-EF85070447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1FAFF925-8016-4D7D-AA76-FFF19ED158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E3660C1-1858-44E2-B7EB-E0189BC6BB40}" type="slidenum">
              <a:rPr lang="en-US" altLang="zh-CN"/>
              <a:pPr>
                <a:spcBef>
                  <a:spcPct val="0"/>
                </a:spcBef>
              </a:pPr>
              <a:t>12</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E55B4D42-4E6C-49F0-829A-AAF66B4B3E91}"/>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5D6A2277-9AEE-42BD-ACB0-1F22925872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6A4A9801-C7F0-44F3-B922-CC6DE5B72BF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FB32014-1866-4045-8337-4C623CC558C6}" type="slidenum">
              <a:rPr lang="en-US" altLang="zh-CN"/>
              <a:pPr>
                <a:spcBef>
                  <a:spcPct val="0"/>
                </a:spcBef>
              </a:pPr>
              <a:t>13</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2F8F25FE-882D-4637-A39F-F7D447AC8244}"/>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4A618451-D794-49A9-B003-E9E6623E4F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C304CBCC-6653-455E-AF80-A94DA297CE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C179FD-A0FC-4F4E-979E-A3C0CAAAAEE9}" type="slidenum">
              <a:rPr lang="en-US" altLang="zh-CN"/>
              <a:pPr>
                <a:spcBef>
                  <a:spcPct val="0"/>
                </a:spcBef>
              </a:pPr>
              <a:t>14</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0E08334E-5748-4A57-A868-D0B07ECCA2CB}"/>
              </a:ext>
            </a:extLst>
          </p:cNvPr>
          <p:cNvSpPr>
            <a:spLocks noGrp="1" noRot="1" noChangeAspect="1" noTextEdit="1"/>
          </p:cNvSpPr>
          <p:nvPr>
            <p:ph type="sldImg"/>
          </p:nvPr>
        </p:nvSpPr>
        <p:spPr>
          <a:ln/>
        </p:spPr>
      </p:sp>
      <p:sp>
        <p:nvSpPr>
          <p:cNvPr id="17411" name="备注占位符 2">
            <a:extLst>
              <a:ext uri="{FF2B5EF4-FFF2-40B4-BE49-F238E27FC236}">
                <a16:creationId xmlns:a16="http://schemas.microsoft.com/office/drawing/2014/main" id="{896FE668-5957-44A7-AE85-8625114957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412" name="灯片编号占位符 3">
            <a:extLst>
              <a:ext uri="{FF2B5EF4-FFF2-40B4-BE49-F238E27FC236}">
                <a16:creationId xmlns:a16="http://schemas.microsoft.com/office/drawing/2014/main" id="{AD465394-28A1-455E-A1FF-7DEE262247E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265FCC4-8CA5-4145-8FC2-92560AA2CBEC}" type="slidenum">
              <a:rPr lang="en-US" altLang="zh-CN"/>
              <a:pPr>
                <a:spcBef>
                  <a:spcPct val="0"/>
                </a:spcBef>
              </a:pPr>
              <a:t>15</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FCBDAB60-5542-43ED-AA0E-68413BB6A1DC}"/>
              </a:ext>
            </a:extLst>
          </p:cNvPr>
          <p:cNvSpPr>
            <a:spLocks noGrp="1" noRot="1" noChangeAspect="1" noTextEdit="1"/>
          </p:cNvSpPr>
          <p:nvPr>
            <p:ph type="sldImg"/>
          </p:nvPr>
        </p:nvSpPr>
        <p:spPr>
          <a:ln/>
        </p:spPr>
      </p:sp>
      <p:sp>
        <p:nvSpPr>
          <p:cNvPr id="19459" name="备注占位符 2">
            <a:extLst>
              <a:ext uri="{FF2B5EF4-FFF2-40B4-BE49-F238E27FC236}">
                <a16:creationId xmlns:a16="http://schemas.microsoft.com/office/drawing/2014/main" id="{EA518FA8-49BC-4DF8-B8D7-8B262C582B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9460" name="灯片编号占位符 3">
            <a:extLst>
              <a:ext uri="{FF2B5EF4-FFF2-40B4-BE49-F238E27FC236}">
                <a16:creationId xmlns:a16="http://schemas.microsoft.com/office/drawing/2014/main" id="{860A62C4-52F7-45CB-B021-88CC2A72C6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B525E0A-DEAE-45D6-BBF2-0571BD494107}" type="slidenum">
              <a:rPr lang="en-US" altLang="zh-CN"/>
              <a:pPr>
                <a:spcBef>
                  <a:spcPct val="0"/>
                </a:spcBef>
              </a:pPr>
              <a:t>16</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7B5B2DD3-1906-4355-8DDD-CE6CFBB84B6B}"/>
              </a:ext>
            </a:extLst>
          </p:cNvPr>
          <p:cNvSpPr>
            <a:spLocks noGrp="1" noRot="1" noChangeAspect="1" noTextEdit="1"/>
          </p:cNvSpPr>
          <p:nvPr>
            <p:ph type="sldImg"/>
          </p:nvPr>
        </p:nvSpPr>
        <p:spPr>
          <a:ln/>
        </p:spPr>
      </p:sp>
      <p:sp>
        <p:nvSpPr>
          <p:cNvPr id="21507" name="备注占位符 2">
            <a:extLst>
              <a:ext uri="{FF2B5EF4-FFF2-40B4-BE49-F238E27FC236}">
                <a16:creationId xmlns:a16="http://schemas.microsoft.com/office/drawing/2014/main" id="{E16C1131-A865-4CE7-8437-CF68BBB0AD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1508" name="灯片编号占位符 3">
            <a:extLst>
              <a:ext uri="{FF2B5EF4-FFF2-40B4-BE49-F238E27FC236}">
                <a16:creationId xmlns:a16="http://schemas.microsoft.com/office/drawing/2014/main" id="{11AF0662-9CD8-40CB-A123-4402DC1372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9DFBA12-1A90-4029-81E3-A73F9A531480}" type="slidenum">
              <a:rPr lang="en-US" altLang="zh-CN"/>
              <a:pPr>
                <a:spcBef>
                  <a:spcPct val="0"/>
                </a:spcBef>
              </a:pPr>
              <a:t>17</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8DF747F4-0FBE-4CD6-8BAF-B10E213E3F9C}"/>
              </a:ext>
            </a:extLst>
          </p:cNvPr>
          <p:cNvSpPr>
            <a:spLocks noGrp="1" noRot="1" noChangeAspect="1" noTextEdit="1"/>
          </p:cNvSpPr>
          <p:nvPr>
            <p:ph type="sldImg"/>
          </p:nvPr>
        </p:nvSpPr>
        <p:spPr>
          <a:ln/>
        </p:spPr>
      </p:sp>
      <p:sp>
        <p:nvSpPr>
          <p:cNvPr id="23555" name="备注占位符 2">
            <a:extLst>
              <a:ext uri="{FF2B5EF4-FFF2-40B4-BE49-F238E27FC236}">
                <a16:creationId xmlns:a16="http://schemas.microsoft.com/office/drawing/2014/main" id="{FF580BF6-7819-4FDD-86AB-CFE5414BD4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3556" name="灯片编号占位符 3">
            <a:extLst>
              <a:ext uri="{FF2B5EF4-FFF2-40B4-BE49-F238E27FC236}">
                <a16:creationId xmlns:a16="http://schemas.microsoft.com/office/drawing/2014/main" id="{57EF9D11-F5AC-43B0-A3A2-003DB17701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368F272-8EC7-4AFE-8C94-5B527D7742D6}" type="slidenum">
              <a:rPr lang="en-US" altLang="zh-CN"/>
              <a:pPr>
                <a:spcBef>
                  <a:spcPct val="0"/>
                </a:spcBef>
              </a:pPr>
              <a:t>18</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D0475FB1-C8F1-484A-AF57-0F8520B8E30F}"/>
              </a:ext>
            </a:extLst>
          </p:cNvPr>
          <p:cNvSpPr>
            <a:spLocks noGrp="1" noRot="1" noChangeAspect="1" noTextEdit="1"/>
          </p:cNvSpPr>
          <p:nvPr>
            <p:ph type="sldImg"/>
          </p:nvPr>
        </p:nvSpPr>
        <p:spPr>
          <a:ln/>
        </p:spPr>
      </p:sp>
      <p:sp>
        <p:nvSpPr>
          <p:cNvPr id="25603" name="备注占位符 2">
            <a:extLst>
              <a:ext uri="{FF2B5EF4-FFF2-40B4-BE49-F238E27FC236}">
                <a16:creationId xmlns:a16="http://schemas.microsoft.com/office/drawing/2014/main" id="{E81EF077-8046-496F-BFC5-54AA8F52F6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5604" name="灯片编号占位符 3">
            <a:extLst>
              <a:ext uri="{FF2B5EF4-FFF2-40B4-BE49-F238E27FC236}">
                <a16:creationId xmlns:a16="http://schemas.microsoft.com/office/drawing/2014/main" id="{6578BAA0-4DB3-4FC9-822D-AA7114182D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40723F6-3D5F-49D0-A89F-1058E9194392}" type="slidenum">
              <a:rPr lang="en-US" altLang="zh-CN"/>
              <a:pPr>
                <a:spcBef>
                  <a:spcPct val="0"/>
                </a:spcBef>
              </a:pPr>
              <a:t>19</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A6778C39-4B78-4E55-8337-DDA02F37CCB7}"/>
              </a:ext>
            </a:extLst>
          </p:cNvPr>
          <p:cNvSpPr>
            <a:spLocks noGrp="1" noRot="1" noChangeAspect="1" noTextEdit="1"/>
          </p:cNvSpPr>
          <p:nvPr>
            <p:ph type="sldImg"/>
          </p:nvPr>
        </p:nvSpPr>
        <p:spPr>
          <a:ln/>
        </p:spPr>
      </p:sp>
      <p:sp>
        <p:nvSpPr>
          <p:cNvPr id="27651" name="备注占位符 2">
            <a:extLst>
              <a:ext uri="{FF2B5EF4-FFF2-40B4-BE49-F238E27FC236}">
                <a16:creationId xmlns:a16="http://schemas.microsoft.com/office/drawing/2014/main" id="{C64D9BE9-FACB-49C4-9E6C-13742EB2501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7652" name="灯片编号占位符 3">
            <a:extLst>
              <a:ext uri="{FF2B5EF4-FFF2-40B4-BE49-F238E27FC236}">
                <a16:creationId xmlns:a16="http://schemas.microsoft.com/office/drawing/2014/main" id="{9930144A-8375-4AEB-8EA6-4DAEBDFF92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D7EFB4A-DF88-4603-A09D-968E34131B71}" type="slidenum">
              <a:rPr lang="en-US" altLang="zh-CN"/>
              <a:pPr>
                <a:spcBef>
                  <a:spcPct val="0"/>
                </a:spcBef>
              </a:pPr>
              <a:t>20</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E9DCF62A-EDDD-4C7F-8FF2-0BD74A9F0BB0}"/>
              </a:ext>
            </a:extLst>
          </p:cNvPr>
          <p:cNvSpPr>
            <a:spLocks noGrp="1" noRot="1" noChangeAspect="1" noTextEdit="1"/>
          </p:cNvSpPr>
          <p:nvPr>
            <p:ph type="sldImg"/>
          </p:nvPr>
        </p:nvSpPr>
        <p:spPr>
          <a:ln/>
        </p:spPr>
      </p:sp>
      <p:sp>
        <p:nvSpPr>
          <p:cNvPr id="29699" name="备注占位符 2">
            <a:extLst>
              <a:ext uri="{FF2B5EF4-FFF2-40B4-BE49-F238E27FC236}">
                <a16:creationId xmlns:a16="http://schemas.microsoft.com/office/drawing/2014/main" id="{D2C244F8-69BE-482F-9BED-0371894E91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9700" name="灯片编号占位符 3">
            <a:extLst>
              <a:ext uri="{FF2B5EF4-FFF2-40B4-BE49-F238E27FC236}">
                <a16:creationId xmlns:a16="http://schemas.microsoft.com/office/drawing/2014/main" id="{A9EE5B96-6FF7-4120-ACDB-F1C0A898B0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88E714D-7D4F-433B-86E6-A7DC5D71EE89}" type="slidenum">
              <a:rPr lang="en-US" altLang="zh-CN"/>
              <a:pPr>
                <a:spcBef>
                  <a:spcPct val="0"/>
                </a:spcBef>
              </a:pPr>
              <a:t>21</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B57D2D16-1337-4ADA-94B5-CBE9AC78E6F5}"/>
              </a:ext>
            </a:extLst>
          </p:cNvPr>
          <p:cNvSpPr>
            <a:spLocks noGrp="1" noRot="1" noChangeAspect="1" noTextEdit="1"/>
          </p:cNvSpPr>
          <p:nvPr>
            <p:ph type="sldImg"/>
          </p:nvPr>
        </p:nvSpPr>
        <p:spPr>
          <a:ln/>
        </p:spPr>
      </p:sp>
      <p:sp>
        <p:nvSpPr>
          <p:cNvPr id="31747" name="备注占位符 2">
            <a:extLst>
              <a:ext uri="{FF2B5EF4-FFF2-40B4-BE49-F238E27FC236}">
                <a16:creationId xmlns:a16="http://schemas.microsoft.com/office/drawing/2014/main" id="{A8604B66-7555-466F-B9B6-D55E4CDAC0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1748" name="灯片编号占位符 3">
            <a:extLst>
              <a:ext uri="{FF2B5EF4-FFF2-40B4-BE49-F238E27FC236}">
                <a16:creationId xmlns:a16="http://schemas.microsoft.com/office/drawing/2014/main" id="{556A5B72-E90A-4FA9-805B-F354A05061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CDB8505-698F-4FA1-B4E2-D63AF5C880F9}" type="slidenum">
              <a:rPr lang="en-US" altLang="zh-CN"/>
              <a:pPr>
                <a:spcBef>
                  <a:spcPct val="0"/>
                </a:spcBef>
              </a:pPr>
              <a:t>22</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684B52CD-FCCB-4EC8-A350-AA7E04EA319A}"/>
              </a:ext>
            </a:extLst>
          </p:cNvPr>
          <p:cNvSpPr>
            <a:spLocks noGrp="1" noRot="1" noChangeAspect="1" noTextEdit="1"/>
          </p:cNvSpPr>
          <p:nvPr>
            <p:ph type="sldImg"/>
          </p:nvPr>
        </p:nvSpPr>
        <p:spPr>
          <a:ln/>
        </p:spPr>
      </p:sp>
      <p:sp>
        <p:nvSpPr>
          <p:cNvPr id="33795" name="备注占位符 2">
            <a:extLst>
              <a:ext uri="{FF2B5EF4-FFF2-40B4-BE49-F238E27FC236}">
                <a16:creationId xmlns:a16="http://schemas.microsoft.com/office/drawing/2014/main" id="{DC5D8CBD-7FEF-4BE6-A349-9B235E5070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3796" name="灯片编号占位符 3">
            <a:extLst>
              <a:ext uri="{FF2B5EF4-FFF2-40B4-BE49-F238E27FC236}">
                <a16:creationId xmlns:a16="http://schemas.microsoft.com/office/drawing/2014/main" id="{4F1792B4-2D7C-4E2A-B1B0-0B3A46F856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7D6A416-7064-4FAA-9770-81F0AD5764BE}" type="slidenum">
              <a:rPr lang="en-US" altLang="zh-CN"/>
              <a:pPr>
                <a:spcBef>
                  <a:spcPct val="0"/>
                </a:spcBef>
              </a:pPr>
              <a:t>23</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F14D8FE-25AA-4438-93E5-B646DA86A779}"/>
              </a:ext>
            </a:extLst>
          </p:cNvPr>
          <p:cNvSpPr>
            <a:spLocks noGrp="1" noRot="1" noChangeAspect="1" noTextEdit="1"/>
          </p:cNvSpPr>
          <p:nvPr>
            <p:ph type="sldImg"/>
          </p:nvPr>
        </p:nvSpPr>
        <p:spPr>
          <a:ln/>
        </p:spPr>
      </p:sp>
      <p:sp>
        <p:nvSpPr>
          <p:cNvPr id="35843" name="备注占位符 2">
            <a:extLst>
              <a:ext uri="{FF2B5EF4-FFF2-40B4-BE49-F238E27FC236}">
                <a16:creationId xmlns:a16="http://schemas.microsoft.com/office/drawing/2014/main" id="{0CC01381-EF36-4D31-B251-395F3618E2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5844" name="灯片编号占位符 3">
            <a:extLst>
              <a:ext uri="{FF2B5EF4-FFF2-40B4-BE49-F238E27FC236}">
                <a16:creationId xmlns:a16="http://schemas.microsoft.com/office/drawing/2014/main" id="{76F2FF81-A9E5-4B10-8A1B-1FC77478D6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7B49D52-EC62-4EC8-8820-326BC9882EEB}" type="slidenum">
              <a:rPr lang="en-US" altLang="zh-CN"/>
              <a:pPr>
                <a:spcBef>
                  <a:spcPct val="0"/>
                </a:spcBef>
              </a:pPr>
              <a:t>24</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607783CC-CE71-42F6-B2AA-F1466F90ACED}"/>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9480AD39-2818-4F2C-969F-8750C7CA2CA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87B124A2-6CAC-420F-AED0-4979540B41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4E91B84-B405-4476-976D-F610EFD3BA07}" type="slidenum">
              <a:rPr lang="en-US" altLang="zh-CN"/>
              <a:pPr>
                <a:spcBef>
                  <a:spcPct val="0"/>
                </a:spcBef>
              </a:pPr>
              <a:t>25</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59AE9D26-DBEE-4066-94C5-8F69A393B669}"/>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93322520-7EB0-4564-86C4-9A7F44461D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E4CA498B-92B1-45E8-B2C9-BC907B6F0D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BA6F4C-D23E-4EDB-8B89-50A5FBCBCD2A}" type="slidenum">
              <a:rPr lang="en-US" altLang="zh-CN"/>
              <a:pPr>
                <a:spcBef>
                  <a:spcPct val="0"/>
                </a:spcBef>
              </a:pPr>
              <a:t>26</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1A00E389-4701-4DFF-9E97-15A5B5F47A9B}"/>
              </a:ext>
            </a:extLst>
          </p:cNvPr>
          <p:cNvSpPr>
            <a:spLocks noGrp="1" noRot="1" noChangeAspect="1" noTextEdit="1"/>
          </p:cNvSpPr>
          <p:nvPr>
            <p:ph type="sldImg"/>
          </p:nvPr>
        </p:nvSpPr>
        <p:spPr>
          <a:ln/>
        </p:spPr>
      </p:sp>
      <p:sp>
        <p:nvSpPr>
          <p:cNvPr id="11267" name="备注占位符 2">
            <a:extLst>
              <a:ext uri="{FF2B5EF4-FFF2-40B4-BE49-F238E27FC236}">
                <a16:creationId xmlns:a16="http://schemas.microsoft.com/office/drawing/2014/main" id="{0A1F7BFA-4D3C-4BEC-8C3E-6AD8A52CB8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AFE41309-4ABB-4E93-9FDA-33CEFB2FAB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72E862-B05B-4039-ADD0-F0641C2A8444}" type="slidenum">
              <a:rPr lang="en-US" altLang="zh-CN"/>
              <a:pPr>
                <a:spcBef>
                  <a:spcPct val="0"/>
                </a:spcBef>
              </a:pPr>
              <a:t>27</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05506043-CA9D-4956-878B-34882484BB58}"/>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B2802B3A-8DC8-4ED8-BDD8-2525CA1E1B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5E8BC58C-2C34-4DCF-BF82-035B030822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A8CC223-7DE8-4E94-99A6-B278B3EE3D82}" type="slidenum">
              <a:rPr lang="en-US" altLang="zh-CN"/>
              <a:pPr>
                <a:spcBef>
                  <a:spcPct val="0"/>
                </a:spcBef>
              </a:pPr>
              <a:t>28</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0403B1A7-6096-4F15-8FD6-03A25EDA337F}"/>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93E7246E-E9DB-4348-B537-1846CBCC22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290C8550-2DAF-4D5F-8285-DC0DC2BD16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749F6B-D15D-4A1C-BFAB-CEA0FC0EE545}" type="slidenum">
              <a:rPr lang="en-US" altLang="zh-CN"/>
              <a:pPr>
                <a:spcBef>
                  <a:spcPct val="0"/>
                </a:spcBef>
              </a:pPr>
              <a:t>29</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4741D833-3D48-40EF-89A9-0A150C26A9EE}"/>
              </a:ext>
            </a:extLst>
          </p:cNvPr>
          <p:cNvSpPr>
            <a:spLocks noGrp="1" noRot="1" noChangeAspect="1" noTextEdit="1"/>
          </p:cNvSpPr>
          <p:nvPr>
            <p:ph type="sldImg"/>
          </p:nvPr>
        </p:nvSpPr>
        <p:spPr>
          <a:ln/>
        </p:spPr>
      </p:sp>
      <p:sp>
        <p:nvSpPr>
          <p:cNvPr id="17411" name="备注占位符 2">
            <a:extLst>
              <a:ext uri="{FF2B5EF4-FFF2-40B4-BE49-F238E27FC236}">
                <a16:creationId xmlns:a16="http://schemas.microsoft.com/office/drawing/2014/main" id="{589CE487-2B97-42E7-855B-52D5078779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412" name="灯片编号占位符 3">
            <a:extLst>
              <a:ext uri="{FF2B5EF4-FFF2-40B4-BE49-F238E27FC236}">
                <a16:creationId xmlns:a16="http://schemas.microsoft.com/office/drawing/2014/main" id="{3DCBAF87-6FB9-4403-BCCE-02583FEB26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53BF6E2-3364-41AC-842F-E68854895F59}" type="slidenum">
              <a:rPr lang="en-US" altLang="zh-CN"/>
              <a:pPr>
                <a:spcBef>
                  <a:spcPct val="0"/>
                </a:spcBef>
              </a:pPr>
              <a:t>30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684708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2FAFEC3-FCF9-4793-BD53-13ACF2C4D1E4}" type="slidenum">
              <a:rPr lang="en-US" altLang="zh-CN"/>
              <a:pPr>
                <a:defRPr/>
              </a:pPr>
              <a:t>‹#›</a:t>
            </a:fld>
            <a:endParaRPr lang="en-US" altLang="zh-CN" dirty="0"/>
          </a:p>
        </p:txBody>
      </p:sp>
    </p:spTree>
    <p:extLst>
      <p:ext uri="{BB962C8B-B14F-4D97-AF65-F5344CB8AC3E}">
        <p14:creationId xmlns:p14="http://schemas.microsoft.com/office/powerpoint/2010/main" val="33478729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1874B12-3BD3-4C39-BF0E-BF8A9539BB9C}" type="slidenum">
              <a:rPr lang="en-US" altLang="zh-CN"/>
              <a:pPr>
                <a:defRPr/>
              </a:pPr>
              <a:t>‹#›</a:t>
            </a:fld>
            <a:endParaRPr lang="en-US" altLang="zh-CN"/>
          </a:p>
        </p:txBody>
      </p:sp>
    </p:spTree>
    <p:extLst>
      <p:ext uri="{BB962C8B-B14F-4D97-AF65-F5344CB8AC3E}">
        <p14:creationId xmlns:p14="http://schemas.microsoft.com/office/powerpoint/2010/main" val="22008105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4FD21B5-0BC5-4C4A-925A-9CA4DDE9DFCF}" type="slidenum">
              <a:rPr lang="en-US" altLang="zh-CN"/>
              <a:pPr>
                <a:defRPr/>
              </a:pPr>
              <a:t>‹#›</a:t>
            </a:fld>
            <a:endParaRPr lang="en-US" altLang="zh-CN"/>
          </a:p>
        </p:txBody>
      </p:sp>
    </p:spTree>
    <p:extLst>
      <p:ext uri="{BB962C8B-B14F-4D97-AF65-F5344CB8AC3E}">
        <p14:creationId xmlns:p14="http://schemas.microsoft.com/office/powerpoint/2010/main" val="152885660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D738D31-8EED-425A-B617-D3D8B1C55F32}" type="slidenum">
              <a:rPr lang="en-US" altLang="zh-CN"/>
              <a:pPr>
                <a:defRPr/>
              </a:pPr>
              <a:t>‹#›</a:t>
            </a:fld>
            <a:endParaRPr lang="en-US" altLang="zh-CN"/>
          </a:p>
        </p:txBody>
      </p:sp>
    </p:spTree>
    <p:extLst>
      <p:ext uri="{BB962C8B-B14F-4D97-AF65-F5344CB8AC3E}">
        <p14:creationId xmlns:p14="http://schemas.microsoft.com/office/powerpoint/2010/main" val="331168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C5CA553-975E-450D-81D4-CB823086BDE2}" type="slidenum">
              <a:rPr lang="en-US" altLang="zh-CN"/>
              <a:pPr>
                <a:defRPr/>
              </a:pPr>
              <a:t>‹#›</a:t>
            </a:fld>
            <a:endParaRPr lang="en-US" altLang="zh-CN" dirty="0"/>
          </a:p>
        </p:txBody>
      </p:sp>
    </p:spTree>
    <p:extLst>
      <p:ext uri="{BB962C8B-B14F-4D97-AF65-F5344CB8AC3E}">
        <p14:creationId xmlns:p14="http://schemas.microsoft.com/office/powerpoint/2010/main" val="3204809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21DDC60-5961-4053-83B8-C0116183DEFD}" type="slidenum">
              <a:rPr lang="en-US" altLang="zh-CN"/>
              <a:pPr>
                <a:defRPr/>
              </a:pPr>
              <a:t>‹#›</a:t>
            </a:fld>
            <a:endParaRPr lang="en-US" altLang="zh-CN"/>
          </a:p>
        </p:txBody>
      </p:sp>
    </p:spTree>
    <p:extLst>
      <p:ext uri="{BB962C8B-B14F-4D97-AF65-F5344CB8AC3E}">
        <p14:creationId xmlns:p14="http://schemas.microsoft.com/office/powerpoint/2010/main" val="2896607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71C95EA6-4527-48FB-83CD-F4BD91AE8F02}" type="slidenum">
              <a:rPr lang="en-US" altLang="zh-CN"/>
              <a:pPr>
                <a:defRPr/>
              </a:pPr>
              <a:t>‹#›</a:t>
            </a:fld>
            <a:endParaRPr lang="en-US" altLang="zh-CN"/>
          </a:p>
        </p:txBody>
      </p:sp>
    </p:spTree>
    <p:extLst>
      <p:ext uri="{BB962C8B-B14F-4D97-AF65-F5344CB8AC3E}">
        <p14:creationId xmlns:p14="http://schemas.microsoft.com/office/powerpoint/2010/main" val="395229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828800" y="184482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5" name="Rectangle 6"/>
          <p:cNvSpPr>
            <a:spLocks noGrp="1" noChangeArrowheads="1"/>
          </p:cNvSpPr>
          <p:nvPr>
            <p:ph type="sldNum" sz="quarter" idx="10"/>
          </p:nvPr>
        </p:nvSpPr>
        <p:spPr>
          <a:ln/>
        </p:spPr>
        <p:txBody>
          <a:bodyPr/>
          <a:lstStyle>
            <a:lvl1pPr>
              <a:defRPr/>
            </a:lvl1pPr>
          </a:lstStyle>
          <a:p>
            <a:pPr>
              <a:defRPr/>
            </a:pPr>
            <a:fld id="{3610D5DC-5696-4A07-8349-2A517564EAB6}" type="slidenum">
              <a:rPr lang="en-US" altLang="zh-CN"/>
              <a:pPr>
                <a:defRPr/>
              </a:pPr>
              <a:t>‹#›</a:t>
            </a:fld>
            <a:endParaRPr lang="en-US" altLang="zh-CN"/>
          </a:p>
        </p:txBody>
      </p:sp>
    </p:spTree>
    <p:extLst>
      <p:ext uri="{BB962C8B-B14F-4D97-AF65-F5344CB8AC3E}">
        <p14:creationId xmlns:p14="http://schemas.microsoft.com/office/powerpoint/2010/main" val="35263464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E5E8FD3-EDE5-4EC3-94E3-1C754301C081}" type="slidenum">
              <a:rPr lang="en-US" altLang="zh-CN"/>
              <a:pPr>
                <a:defRPr/>
              </a:pPr>
              <a:t>‹#›</a:t>
            </a:fld>
            <a:endParaRPr lang="en-US" altLang="zh-CN"/>
          </a:p>
        </p:txBody>
      </p:sp>
    </p:spTree>
    <p:extLst>
      <p:ext uri="{BB962C8B-B14F-4D97-AF65-F5344CB8AC3E}">
        <p14:creationId xmlns:p14="http://schemas.microsoft.com/office/powerpoint/2010/main" val="9468136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4C1ECC8-739C-4170-B0ED-4174C943E5E6}" type="slidenum">
              <a:rPr lang="en-US" altLang="zh-CN"/>
              <a:pPr>
                <a:defRPr/>
              </a:pPr>
              <a:t>‹#›</a:t>
            </a:fld>
            <a:endParaRPr lang="en-US" altLang="zh-CN"/>
          </a:p>
        </p:txBody>
      </p:sp>
    </p:spTree>
    <p:extLst>
      <p:ext uri="{BB962C8B-B14F-4D97-AF65-F5344CB8AC3E}">
        <p14:creationId xmlns:p14="http://schemas.microsoft.com/office/powerpoint/2010/main" val="368152386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C4490AA-E879-42CB-B964-307DC817647D}" type="slidenum">
              <a:rPr lang="en-US" altLang="zh-CN"/>
              <a:pPr>
                <a:defRPr/>
              </a:pPr>
              <a:t>‹#›</a:t>
            </a:fld>
            <a:endParaRPr lang="en-US" altLang="zh-CN"/>
          </a:p>
        </p:txBody>
      </p:sp>
    </p:spTree>
    <p:extLst>
      <p:ext uri="{BB962C8B-B14F-4D97-AF65-F5344CB8AC3E}">
        <p14:creationId xmlns:p14="http://schemas.microsoft.com/office/powerpoint/2010/main" val="7976836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p:txBody>
          <a:bodyPr/>
          <a:lstStyle>
            <a:lvl1pPr>
              <a:defRPr/>
            </a:lvl1pPr>
          </a:lstStyle>
          <a:p>
            <a:pPr>
              <a:defRPr/>
            </a:pPr>
            <a:fld id="{C02672C6-A66C-4A23-877B-AF8E4660A64F}" type="slidenum">
              <a:rPr lang="en-US" altLang="zh-CN"/>
              <a:pPr>
                <a:defRPr/>
              </a:pPr>
              <a:t>‹#›</a:t>
            </a:fld>
            <a:endParaRPr lang="en-US" altLang="zh-CN"/>
          </a:p>
        </p:txBody>
      </p:sp>
    </p:spTree>
    <p:extLst>
      <p:ext uri="{BB962C8B-B14F-4D97-AF65-F5344CB8AC3E}">
        <p14:creationId xmlns:p14="http://schemas.microsoft.com/office/powerpoint/2010/main" val="362260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sldNum" sz="quarter" idx="12"/>
          </p:nvPr>
        </p:nvSpPr>
        <p:spPr/>
        <p:txBody>
          <a:bodyPr/>
          <a:lstStyle>
            <a:lvl1pPr>
              <a:defRPr/>
            </a:lvl1pPr>
          </a:lstStyle>
          <a:p>
            <a:pPr>
              <a:defRPr/>
            </a:pPr>
            <a:fld id="{6B528C79-012F-4666-B6B9-2F1EF291DD5A}" type="slidenum">
              <a:rPr lang="en-US" altLang="zh-CN"/>
              <a:pPr>
                <a:defRPr/>
              </a:pPr>
              <a:t>‹#›</a:t>
            </a:fld>
            <a:endParaRPr lang="en-US" altLang="zh-CN"/>
          </a:p>
        </p:txBody>
      </p:sp>
    </p:spTree>
    <p:extLst>
      <p:ext uri="{BB962C8B-B14F-4D97-AF65-F5344CB8AC3E}">
        <p14:creationId xmlns:p14="http://schemas.microsoft.com/office/powerpoint/2010/main" val="330914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76F7B25D-5EBC-4A23-B073-187DA5FB4EA0}"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6"/>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41"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2" r:id="rId13"/>
    <p:sldLayoutId id="2147483943" r:id="rId14"/>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w3.org/TR/2007/REC-soap12-part1-20070427/#concept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L9527"/><Relationship Id="rId4" Type="http://schemas.openxmlformats.org/officeDocument/2006/relationships/hyperlink" Target="http://www.baidu.com/"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www.w3.org/TR/2007/REC-soap12-part2-20070427/#bindprops" TargetMode="External"/><Relationship Id="rId3" Type="http://schemas.openxmlformats.org/officeDocument/2006/relationships/hyperlink" Target="http://www.w3.org/TR/2007/REC-soap12-part1-20070427/#concepts" TargetMode="External"/><Relationship Id="rId7" Type="http://schemas.openxmlformats.org/officeDocument/2006/relationships/hyperlink" Target="#L9527"/><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www.w3.org/TR/2005/REC-soap12-mtom-20050125/#feature" TargetMode="External"/><Relationship Id="rId5" Type="http://schemas.openxmlformats.org/officeDocument/2006/relationships/hyperlink" Target="http://www.w3.org/TR/2007/REC-soap12-part1-20070427/#soapmep" TargetMode="External"/><Relationship Id="rId4" Type="http://schemas.openxmlformats.org/officeDocument/2006/relationships/hyperlink" Target="1" TargetMode="External"/><Relationship Id="rId9" Type="http://schemas.openxmlformats.org/officeDocument/2006/relationships/hyperlink" Target="123"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www.w3.org/TR/2007/REC-soap12-part1-20070427/#soapmodul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w3.org/TR/2007/REC-soap12-part2-20070427/#singlereqrespmep"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w3.org/TR/2007/REC-soap12-part2-20070427/#soapresmep"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www.w3.org/TR/2007/REC-soap12-part2-20070427/#WebMethodFeatu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123" TargetMode="External"/><Relationship Id="rId4" Type="http://schemas.openxmlformats.org/officeDocument/2006/relationships/hyperlink" Target="#L3133"/></Relationships>
</file>

<file path=ppt/slides/_rels/slide8.xml.rels><?xml version="1.0" encoding="UTF-8" standalone="yes"?>
<Relationships xmlns="http://schemas.openxmlformats.org/package/2006/relationships"><Relationship Id="rId3" Type="http://schemas.openxmlformats.org/officeDocument/2006/relationships/hyperlink" Target="http://www.w3.org/TR/2007/REC-soap12-part2-20070427/#WebMethodFeatur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www.w3.org/Protocols/rfc2616/rfc2616-sec9.html#sec9.1" TargetMode="External"/><Relationship Id="rId5" Type="http://schemas.openxmlformats.org/officeDocument/2006/relationships/hyperlink" Target="http://www.w3.org/TR/2007/REC-soap12-part2-20070427/#soapresmep" TargetMode="External"/><Relationship Id="rId4" Type="http://schemas.openxmlformats.org/officeDocument/2006/relationships/hyperlink" Target="http://www.w3.org/TR/2007/REC-soap12-part2-20070427/#singlereqrespmep"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w3.org/TR/2007/REC-soap12-part2-20070427/#soapresme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w3.org/TR/2007/REC-soap12-part1-20070427/#soapencattr"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travelcompany.example.org/reservations?code=FT35ZBQ"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hyperlink" Target="http://www.w3.org/TR/2007/REC-soap12-part2-20070427/#singlereqrespmep"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w3.org/Protocols/rfc2616/rfc2616-sec9.html#sec9.1"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w3.org/TR/2007/REC-soap12-part2-20070427/#soapresmep"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w3.org/TR/2007/REC-soap12-part2-20070427/#singlereqrespmep"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L3215"/><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R9"/><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subTitle" idx="1"/>
          </p:nvPr>
        </p:nvSpPr>
        <p:spPr/>
        <p:txBody>
          <a:bodyPr/>
          <a:lstStyle/>
          <a:p>
            <a:r>
              <a:rPr lang="en-US" altLang="zh-CN" sz="2000">
                <a:solidFill>
                  <a:srgbClr val="595959"/>
                </a:solidFill>
                <a:ea typeface="宋体" pitchFamily="2" charset="-122"/>
              </a:rPr>
              <a:t>Software Institute</a:t>
            </a:r>
          </a:p>
          <a:p>
            <a:r>
              <a:rPr lang="en-US" altLang="zh-CN" sz="2000">
                <a:solidFill>
                  <a:srgbClr val="595959"/>
                </a:solidFill>
                <a:ea typeface="宋体" pitchFamily="2" charset="-122"/>
              </a:rPr>
              <a:t>Nanjing University</a:t>
            </a:r>
          </a:p>
          <a:p>
            <a:r>
              <a:rPr lang="en-US" altLang="zh-CN" sz="2000">
                <a:solidFill>
                  <a:srgbClr val="595959"/>
                </a:solidFill>
                <a:ea typeface="宋体" pitchFamily="2" charset="-122"/>
              </a:rPr>
              <a:t>Bei Jia</a:t>
            </a:r>
          </a:p>
        </p:txBody>
      </p:sp>
      <p:sp>
        <p:nvSpPr>
          <p:cNvPr id="5123" name="Rectangle 2"/>
          <p:cNvSpPr>
            <a:spLocks noGrp="1" noChangeArrowheads="1"/>
          </p:cNvSpPr>
          <p:nvPr>
            <p:ph type="ctrTitle" sz="quarter"/>
          </p:nvPr>
        </p:nvSpPr>
        <p:spPr>
          <a:gradFill rotWithShape="0"/>
        </p:spPr>
        <p:txBody>
          <a:bodyPr>
            <a:normAutofit/>
          </a:bodyPr>
          <a:lstStyle/>
          <a:p>
            <a:r>
              <a:rPr lang="en-US" altLang="zh-CN" sz="2800" dirty="0"/>
              <a:t>SOAP Binding</a:t>
            </a:r>
            <a:br>
              <a:rPr lang="en-US" altLang="zh-CN" sz="2800" dirty="0"/>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38A0B968-F075-48F5-AE8D-CDB30857AF0E}"/>
              </a:ext>
            </a:extLst>
          </p:cNvPr>
          <p:cNvSpPr>
            <a:spLocks noGrp="1"/>
          </p:cNvSpPr>
          <p:nvPr>
            <p:ph type="title"/>
          </p:nvPr>
        </p:nvSpPr>
        <p:spPr/>
        <p:txBody>
          <a:bodyPr>
            <a:noAutofit/>
          </a:bodyPr>
          <a:lstStyle/>
          <a:p>
            <a:r>
              <a:rPr lang="en-US" altLang="zh-CN" sz="2800" dirty="0"/>
              <a:t>SOAP Binding Task</a:t>
            </a:r>
            <a:endParaRPr lang="zh-CN" altLang="en-US" sz="2400" dirty="0"/>
          </a:p>
        </p:txBody>
      </p:sp>
      <p:sp>
        <p:nvSpPr>
          <p:cNvPr id="3" name="内容占位符 2">
            <a:extLst>
              <a:ext uri="{FF2B5EF4-FFF2-40B4-BE49-F238E27FC236}">
                <a16:creationId xmlns:a16="http://schemas.microsoft.com/office/drawing/2014/main" id="{A32E189E-317F-4C3C-A26E-89DD7068DC81}"/>
              </a:ext>
            </a:extLst>
          </p:cNvPr>
          <p:cNvSpPr>
            <a:spLocks noGrp="1"/>
          </p:cNvSpPr>
          <p:nvPr>
            <p:ph idx="1"/>
          </p:nvPr>
        </p:nvSpPr>
        <p:spPr/>
        <p:txBody>
          <a:bodyPr>
            <a:normAutofit/>
          </a:bodyPr>
          <a:lstStyle/>
          <a:p>
            <a:pPr>
              <a:defRPr/>
            </a:pPr>
            <a:r>
              <a:rPr lang="en-US" altLang="zh-CN" sz="2000" dirty="0"/>
              <a:t>SOAP messages may be exchanged using a variety of "underlying" protocols, including other application layer protocols. The specification of how SOAP messages may be passed from one SOAP node to another using an underlying protocol is called a </a:t>
            </a:r>
            <a:r>
              <a:rPr lang="en-US" altLang="zh-CN" sz="2000" dirty="0">
                <a:hlinkClick r:id="rId3"/>
              </a:rPr>
              <a:t>SOAP binding</a:t>
            </a:r>
            <a:endParaRPr lang="en-US" altLang="zh-CN" sz="2000" dirty="0"/>
          </a:p>
          <a:p>
            <a:pPr>
              <a:defRPr/>
            </a:pPr>
            <a:r>
              <a:rPr lang="en-US" altLang="zh-CN" sz="2000" dirty="0"/>
              <a:t>Any SOAP </a:t>
            </a:r>
            <a:r>
              <a:rPr lang="en-US" altLang="zh-CN" sz="2000" dirty="0" err="1">
                <a:hlinkClick r:id="rId4"/>
              </a:rPr>
              <a:t>env:Envelope</a:t>
            </a:r>
            <a:r>
              <a:rPr lang="en-US" altLang="zh-CN" sz="2000" dirty="0"/>
              <a:t> </a:t>
            </a:r>
            <a:r>
              <a:rPr lang="en-US" altLang="zh-CN" sz="2000" dirty="0" err="1"/>
              <a:t>infoset</a:t>
            </a:r>
            <a:r>
              <a:rPr lang="en-US" altLang="zh-CN" sz="2000" dirty="0"/>
              <a:t> representation will be made concrete through a protocol binding, whose task, among other things, it is to provide a serialized representation of the </a:t>
            </a:r>
            <a:r>
              <a:rPr lang="en-US" altLang="zh-CN" sz="2000" dirty="0" err="1"/>
              <a:t>infoset</a:t>
            </a:r>
            <a:r>
              <a:rPr lang="en-US" altLang="zh-CN" sz="2000" dirty="0"/>
              <a:t> that can be conveyed to the next SOAP node in the message path in a manner such that the original </a:t>
            </a:r>
            <a:r>
              <a:rPr lang="en-US" altLang="zh-CN" sz="2000" dirty="0" err="1"/>
              <a:t>infoset</a:t>
            </a:r>
            <a:r>
              <a:rPr lang="en-US" altLang="zh-CN" sz="2000" dirty="0"/>
              <a:t> can be reconstructed without loss of information</a:t>
            </a:r>
          </a:p>
          <a:p>
            <a:pPr>
              <a:defRPr/>
            </a:pPr>
            <a:r>
              <a:rPr lang="en-US" altLang="zh-CN" sz="2000" dirty="0"/>
              <a:t>Beside the serialization, there may be other things:</a:t>
            </a:r>
          </a:p>
          <a:p>
            <a:pPr lvl="1">
              <a:defRPr/>
            </a:pPr>
            <a:r>
              <a:rPr lang="en-US" altLang="zh-CN" sz="1600" dirty="0"/>
              <a:t>Compressed serialization may be chosen between two SOAP nodes over a limited bandwidth interface</a:t>
            </a:r>
          </a:p>
          <a:p>
            <a:pPr lvl="1">
              <a:defRPr/>
            </a:pPr>
            <a:r>
              <a:rPr lang="en-US" altLang="zh-CN" sz="1600" dirty="0"/>
              <a:t>Serialization that support encryption</a:t>
            </a:r>
          </a:p>
          <a:p>
            <a:pPr lvl="1">
              <a:defRPr/>
            </a:pPr>
            <a:r>
              <a:rPr lang="en-US" altLang="zh-CN" sz="1600" dirty="0"/>
              <a:t>The </a:t>
            </a:r>
            <a:r>
              <a:rPr lang="en-US" altLang="zh-CN" sz="1600" dirty="0">
                <a:hlinkClick r:id="rId5" action="ppaction://hlinkfile"/>
              </a:rPr>
              <a:t>[MTOM]</a:t>
            </a:r>
            <a:r>
              <a:rPr lang="en-US" altLang="zh-CN" sz="1600" dirty="0"/>
              <a:t> specification provides a SOAP binding to HTTP that allows for an optimized serialization of the SOAP message </a:t>
            </a:r>
            <a:r>
              <a:rPr lang="en-US" altLang="zh-CN" sz="1600" dirty="0" err="1"/>
              <a:t>infoset</a:t>
            </a:r>
            <a:r>
              <a:rPr lang="en-US" altLang="zh-CN" sz="1600" dirty="0"/>
              <a:t> under certain circumstances </a:t>
            </a:r>
          </a:p>
        </p:txBody>
      </p:sp>
      <p:sp>
        <p:nvSpPr>
          <p:cNvPr id="6148" name="灯片编号占位符 3">
            <a:extLst>
              <a:ext uri="{FF2B5EF4-FFF2-40B4-BE49-F238E27FC236}">
                <a16:creationId xmlns:a16="http://schemas.microsoft.com/office/drawing/2014/main" id="{6AD834B2-1895-4894-904D-07EB5E30734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2BF27C9-85AC-488B-8AEC-23AAA3CBD98C}" type="slidenum">
              <a:rPr lang="en-US" altLang="zh-CN" smtClean="0"/>
              <a:pPr/>
              <a:t>2</a:t>
            </a:fld>
            <a:endParaRPr lang="en-US" altLang="zh-CN" sz="10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B0F101DD-701A-4DC4-B4B8-5D3AA3DAB86F}"/>
              </a:ext>
            </a:extLst>
          </p:cNvPr>
          <p:cNvSpPr>
            <a:spLocks noGrp="1"/>
          </p:cNvSpPr>
          <p:nvPr>
            <p:ph type="title"/>
          </p:nvPr>
        </p:nvSpPr>
        <p:spPr/>
        <p:txBody>
          <a:bodyPr>
            <a:normAutofit fontScale="90000"/>
          </a:bodyPr>
          <a:lstStyle/>
          <a:p>
            <a:r>
              <a:rPr lang="en-US" altLang="zh-CN" dirty="0"/>
              <a:t>Feature</a:t>
            </a:r>
            <a:endParaRPr lang="zh-CN" altLang="en-US" dirty="0"/>
          </a:p>
        </p:txBody>
      </p:sp>
      <p:sp>
        <p:nvSpPr>
          <p:cNvPr id="66563" name="内容占位符 2">
            <a:extLst>
              <a:ext uri="{FF2B5EF4-FFF2-40B4-BE49-F238E27FC236}">
                <a16:creationId xmlns:a16="http://schemas.microsoft.com/office/drawing/2014/main" id="{EDE39917-1DB3-4D7C-B888-581B8DFEFCCE}"/>
              </a:ext>
            </a:extLst>
          </p:cNvPr>
          <p:cNvSpPr>
            <a:spLocks noGrp="1"/>
          </p:cNvSpPr>
          <p:nvPr>
            <p:ph idx="1"/>
          </p:nvPr>
        </p:nvSpPr>
        <p:spPr/>
        <p:txBody>
          <a:bodyPr>
            <a:normAutofit fontScale="62500" lnSpcReduction="20000"/>
          </a:bodyPr>
          <a:lstStyle/>
          <a:p>
            <a:pPr>
              <a:lnSpc>
                <a:spcPct val="120000"/>
              </a:lnSpc>
              <a:defRPr/>
            </a:pPr>
            <a:r>
              <a:rPr lang="en-US" altLang="zh-CN" dirty="0"/>
              <a:t>SOAP applications may need some </a:t>
            </a:r>
            <a:r>
              <a:rPr lang="en-US" altLang="zh-CN" dirty="0">
                <a:hlinkClick r:id="rId3"/>
              </a:rPr>
              <a:t>features</a:t>
            </a:r>
            <a:endParaRPr lang="en-US" altLang="zh-CN" dirty="0"/>
          </a:p>
          <a:p>
            <a:pPr>
              <a:lnSpc>
                <a:spcPct val="120000"/>
              </a:lnSpc>
              <a:defRPr/>
            </a:pPr>
            <a:r>
              <a:rPr lang="en-US" altLang="zh-CN" dirty="0"/>
              <a:t>A </a:t>
            </a:r>
            <a:r>
              <a:rPr lang="en-US" altLang="zh-CN" dirty="0">
                <a:hlinkClick r:id="rId4" action="ppaction://hlinkfile"/>
              </a:rPr>
              <a:t>feature</a:t>
            </a:r>
            <a:r>
              <a:rPr lang="en-US" altLang="zh-CN" dirty="0"/>
              <a:t> is a specification of a certain functionality required in the interactions between two SOAP nodes. For example:</a:t>
            </a:r>
          </a:p>
          <a:p>
            <a:pPr lvl="1">
              <a:lnSpc>
                <a:spcPct val="120000"/>
              </a:lnSpc>
              <a:defRPr/>
            </a:pPr>
            <a:r>
              <a:rPr lang="en-US" altLang="zh-CN" sz="2900" dirty="0"/>
              <a:t>An “encrypted channel” feature</a:t>
            </a:r>
          </a:p>
          <a:p>
            <a:pPr lvl="1">
              <a:lnSpc>
                <a:spcPct val="120000"/>
              </a:lnSpc>
              <a:defRPr/>
            </a:pPr>
            <a:r>
              <a:rPr lang="en-US" altLang="zh-CN" sz="2900" dirty="0"/>
              <a:t>A particular </a:t>
            </a:r>
            <a:r>
              <a:rPr lang="en-US" altLang="zh-CN" sz="2900" dirty="0">
                <a:hlinkClick r:id="rId5"/>
              </a:rPr>
              <a:t>SOAP message exchange pattern </a:t>
            </a:r>
            <a:r>
              <a:rPr lang="en-US" altLang="zh-CN" sz="2900" dirty="0"/>
              <a:t>feature</a:t>
            </a:r>
          </a:p>
          <a:p>
            <a:pPr lvl="1">
              <a:lnSpc>
                <a:spcPct val="120000"/>
              </a:lnSpc>
              <a:defRPr/>
            </a:pPr>
            <a:r>
              <a:rPr lang="en-US" altLang="zh-CN" sz="2900" dirty="0"/>
              <a:t>A "reliable delivery channel" feature</a:t>
            </a:r>
          </a:p>
          <a:p>
            <a:pPr lvl="1">
              <a:lnSpc>
                <a:spcPct val="120000"/>
              </a:lnSpc>
              <a:defRPr/>
            </a:pPr>
            <a:r>
              <a:rPr lang="en-US" altLang="zh-CN" sz="2900" dirty="0"/>
              <a:t>An </a:t>
            </a:r>
            <a:r>
              <a:rPr lang="en-US" altLang="zh-CN" sz="2900" dirty="0">
                <a:hlinkClick r:id="rId6"/>
              </a:rPr>
              <a:t>Abstract SOAP Transmission Optimization</a:t>
            </a:r>
            <a:r>
              <a:rPr lang="en-US" altLang="zh-CN" sz="2900" dirty="0"/>
              <a:t> feature defined by </a:t>
            </a:r>
            <a:r>
              <a:rPr lang="en-US" altLang="zh-CN" sz="2900" dirty="0">
                <a:hlinkClick r:id="rId7" action="ppaction://hlinkfile"/>
              </a:rPr>
              <a:t>[MTOM]</a:t>
            </a:r>
            <a:r>
              <a:rPr lang="en-US" altLang="zh-CN" sz="2900" dirty="0"/>
              <a:t> specification, which  may be used to optimize the serialization of selected element information items of a SOAP message </a:t>
            </a:r>
            <a:r>
              <a:rPr lang="en-US" altLang="zh-CN" sz="2900" dirty="0" err="1"/>
              <a:t>infoset</a:t>
            </a:r>
            <a:endParaRPr lang="en-US" altLang="zh-CN" sz="2900" dirty="0"/>
          </a:p>
          <a:p>
            <a:pPr>
              <a:lnSpc>
                <a:spcPct val="120000"/>
              </a:lnSpc>
              <a:defRPr/>
            </a:pPr>
            <a:r>
              <a:rPr lang="en-US" altLang="zh-CN" dirty="0"/>
              <a:t>A feature description is identified by a URI, so that all applications referencing it are assured of the same semantics</a:t>
            </a:r>
          </a:p>
          <a:p>
            <a:pPr>
              <a:lnSpc>
                <a:spcPct val="120000"/>
              </a:lnSpc>
              <a:defRPr/>
            </a:pPr>
            <a:r>
              <a:rPr lang="en-US" altLang="zh-CN" dirty="0"/>
              <a:t>Features are qualified by </a:t>
            </a:r>
            <a:r>
              <a:rPr lang="en-US" altLang="zh-CN" dirty="0">
                <a:hlinkClick r:id="rId8"/>
              </a:rPr>
              <a:t>properties</a:t>
            </a:r>
            <a:r>
              <a:rPr lang="en-US" altLang="zh-CN" dirty="0"/>
              <a:t>, which provide additional information</a:t>
            </a:r>
          </a:p>
          <a:p>
            <a:pPr lvl="1">
              <a:lnSpc>
                <a:spcPct val="120000"/>
              </a:lnSpc>
              <a:defRPr/>
            </a:pPr>
            <a:r>
              <a:rPr lang="en-US" altLang="zh-CN" sz="2900" dirty="0"/>
              <a:t>For example, when the feature is required to correlate a request with a response between adjacent SOAP nodes. The abstract </a:t>
            </a:r>
            <a:r>
              <a:rPr lang="en-US" altLang="zh-CN" sz="2900" dirty="0">
                <a:hlinkClick r:id="rId9" action="ppaction://hlinkfile"/>
              </a:rPr>
              <a:t>property</a:t>
            </a:r>
            <a:r>
              <a:rPr lang="en-US" altLang="zh-CN" sz="2900" dirty="0"/>
              <a:t> associated with this feature is a "correlation ID"</a:t>
            </a:r>
          </a:p>
        </p:txBody>
      </p:sp>
      <p:sp>
        <p:nvSpPr>
          <p:cNvPr id="8196" name="灯片编号占位符 3">
            <a:extLst>
              <a:ext uri="{FF2B5EF4-FFF2-40B4-BE49-F238E27FC236}">
                <a16:creationId xmlns:a16="http://schemas.microsoft.com/office/drawing/2014/main" id="{71681EBC-8E43-4DE7-A77D-6114A58E0BA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2BF27C9-85AC-488B-8AEC-23AAA3CBD98C}" type="slidenum">
              <a:rPr lang="en-US" altLang="zh-CN" smtClean="0"/>
              <a:pPr/>
              <a:t>3</a:t>
            </a:fld>
            <a:endParaRPr lang="en-US" altLang="zh-CN" sz="10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A1084037-2811-45F6-BF49-DE8EFFA6201D}"/>
              </a:ext>
            </a:extLst>
          </p:cNvPr>
          <p:cNvSpPr>
            <a:spLocks noGrp="1"/>
          </p:cNvSpPr>
          <p:nvPr>
            <p:ph type="title"/>
          </p:nvPr>
        </p:nvSpPr>
        <p:spPr/>
        <p:txBody>
          <a:bodyPr>
            <a:normAutofit fontScale="90000"/>
          </a:bodyPr>
          <a:lstStyle/>
          <a:p>
            <a:r>
              <a:rPr lang="en-US" altLang="zh-CN" dirty="0"/>
              <a:t>Support Features (1/2)</a:t>
            </a:r>
            <a:endParaRPr lang="zh-CN" altLang="en-US" dirty="0"/>
          </a:p>
        </p:txBody>
      </p:sp>
      <p:sp>
        <p:nvSpPr>
          <p:cNvPr id="3" name="内容占位符 2">
            <a:extLst>
              <a:ext uri="{FF2B5EF4-FFF2-40B4-BE49-F238E27FC236}">
                <a16:creationId xmlns:a16="http://schemas.microsoft.com/office/drawing/2014/main" id="{203F81C0-1D2F-41CF-9613-51E70D973BED}"/>
              </a:ext>
            </a:extLst>
          </p:cNvPr>
          <p:cNvSpPr>
            <a:spLocks noGrp="1"/>
          </p:cNvSpPr>
          <p:nvPr>
            <p:ph idx="1"/>
          </p:nvPr>
        </p:nvSpPr>
        <p:spPr/>
        <p:txBody>
          <a:bodyPr>
            <a:normAutofit fontScale="85000" lnSpcReduction="10000"/>
          </a:bodyPr>
          <a:lstStyle/>
          <a:p>
            <a:pPr>
              <a:lnSpc>
                <a:spcPct val="120000"/>
              </a:lnSpc>
              <a:defRPr/>
            </a:pPr>
            <a:r>
              <a:rPr lang="en-US" altLang="zh-CN" sz="2400" dirty="0"/>
              <a:t>A SOAP binding specification describes, among other things, which (if any) features it provides</a:t>
            </a:r>
          </a:p>
          <a:p>
            <a:pPr lvl="1">
              <a:lnSpc>
                <a:spcPct val="120000"/>
              </a:lnSpc>
              <a:defRPr/>
            </a:pPr>
            <a:r>
              <a:rPr lang="en-US" altLang="zh-CN" sz="2000" dirty="0"/>
              <a:t>Some features may be provided natively by the underlying protocol</a:t>
            </a:r>
          </a:p>
          <a:p>
            <a:pPr lvl="2">
              <a:lnSpc>
                <a:spcPct val="120000"/>
              </a:lnSpc>
              <a:defRPr/>
            </a:pPr>
            <a:r>
              <a:rPr lang="en-US" altLang="zh-CN" sz="1800" dirty="0"/>
              <a:t>For example, if the SOAP </a:t>
            </a:r>
            <a:r>
              <a:rPr lang="en-US" altLang="zh-CN" sz="1800" dirty="0" err="1"/>
              <a:t>infosets</a:t>
            </a:r>
            <a:r>
              <a:rPr lang="en-US" altLang="zh-CN" sz="1800" dirty="0"/>
              <a:t> were being exchanged using an underlying protocol that was itself request/response, the application could implicitly "inherit" the message correlation feature provided by the binding, and no further support need be provided at the application or the SOAP level</a:t>
            </a:r>
          </a:p>
          <a:p>
            <a:pPr lvl="1">
              <a:lnSpc>
                <a:spcPct val="120000"/>
              </a:lnSpc>
              <a:defRPr/>
            </a:pPr>
            <a:r>
              <a:rPr lang="en-US" altLang="zh-CN" sz="2000" dirty="0"/>
              <a:t>If the feature is not available through the binding, it may be implemented within the SOAP envelope, using SOAP header blocks. The specification of a feature implemented using SOAP header blocks is called a </a:t>
            </a:r>
            <a:r>
              <a:rPr lang="en-US" altLang="zh-CN" sz="2000" dirty="0">
                <a:hlinkClick r:id="rId3"/>
              </a:rPr>
              <a:t>SOAP module</a:t>
            </a:r>
            <a:endParaRPr lang="en-US" altLang="zh-CN" sz="2000" dirty="0"/>
          </a:p>
          <a:p>
            <a:pPr lvl="2">
              <a:lnSpc>
                <a:spcPct val="120000"/>
              </a:lnSpc>
              <a:defRPr/>
            </a:pPr>
            <a:r>
              <a:rPr lang="en-US" altLang="zh-CN" sz="1800" dirty="0"/>
              <a:t>For example, If SOAP message exchanges were being transported directly over a datagram protocol like UDP, the message correlation feature has a binding-specific expression within the SOAP envelope, i.e., as a SOAP header block, defined in a "Request-Response Correlation" module identified by a URI</a:t>
            </a:r>
          </a:p>
          <a:p>
            <a:pPr lvl="1">
              <a:lnSpc>
                <a:spcPct val="120000"/>
              </a:lnSpc>
              <a:defRPr/>
            </a:pPr>
            <a:r>
              <a:rPr lang="en-US" altLang="zh-CN" sz="2000" dirty="0"/>
              <a:t>Besides SOAP binding or SOAP module, features can also be provided by application directly  </a:t>
            </a:r>
          </a:p>
        </p:txBody>
      </p:sp>
      <p:sp>
        <p:nvSpPr>
          <p:cNvPr id="10244" name="灯片编号占位符 3">
            <a:extLst>
              <a:ext uri="{FF2B5EF4-FFF2-40B4-BE49-F238E27FC236}">
                <a16:creationId xmlns:a16="http://schemas.microsoft.com/office/drawing/2014/main" id="{CBB501F7-FFFA-4497-BE3B-042279605B6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2BF27C9-85AC-488B-8AEC-23AAA3CBD98C}" type="slidenum">
              <a:rPr lang="en-US" altLang="zh-CN" smtClean="0"/>
              <a:pPr/>
              <a:t>4</a:t>
            </a:fld>
            <a:endParaRPr lang="en-US" altLang="zh-CN" sz="100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016F9038-00FD-4ED0-83E4-6178CA95C0BA}"/>
              </a:ext>
            </a:extLst>
          </p:cNvPr>
          <p:cNvSpPr>
            <a:spLocks noGrp="1"/>
          </p:cNvSpPr>
          <p:nvPr>
            <p:ph type="title"/>
          </p:nvPr>
        </p:nvSpPr>
        <p:spPr/>
        <p:txBody>
          <a:bodyPr>
            <a:normAutofit fontScale="90000"/>
          </a:bodyPr>
          <a:lstStyle/>
          <a:p>
            <a:r>
              <a:rPr lang="en-US" altLang="zh-CN" dirty="0"/>
              <a:t>Support Features (2/2)</a:t>
            </a:r>
            <a:endParaRPr lang="zh-CN" altLang="en-US" dirty="0"/>
          </a:p>
        </p:txBody>
      </p:sp>
      <p:sp>
        <p:nvSpPr>
          <p:cNvPr id="3" name="内容占位符 2">
            <a:extLst>
              <a:ext uri="{FF2B5EF4-FFF2-40B4-BE49-F238E27FC236}">
                <a16:creationId xmlns:a16="http://schemas.microsoft.com/office/drawing/2014/main" id="{7E1FEED0-1239-4060-9575-8724C027EB3C}"/>
              </a:ext>
            </a:extLst>
          </p:cNvPr>
          <p:cNvSpPr>
            <a:spLocks noGrp="1"/>
          </p:cNvSpPr>
          <p:nvPr>
            <p:ph idx="1"/>
          </p:nvPr>
        </p:nvSpPr>
        <p:spPr/>
        <p:txBody>
          <a:bodyPr>
            <a:normAutofit/>
          </a:bodyPr>
          <a:lstStyle/>
          <a:p>
            <a:pPr>
              <a:lnSpc>
                <a:spcPct val="110000"/>
              </a:lnSpc>
              <a:defRPr/>
            </a:pPr>
            <a:r>
              <a:rPr lang="en-US" altLang="zh-CN" sz="2400" dirty="0"/>
              <a:t>A SOAP message may travel over several hops between a sender and the ultimate receiver, where each hop may be a different protocol binding</a:t>
            </a:r>
          </a:p>
          <a:p>
            <a:pPr>
              <a:lnSpc>
                <a:spcPct val="110000"/>
              </a:lnSpc>
              <a:defRPr/>
            </a:pPr>
            <a:r>
              <a:rPr lang="en-US" altLang="zh-CN" sz="2400" dirty="0"/>
              <a:t>In other words, a feature (e.g., message correlation, reliability etc.) that is supported by the protocol binding in one hop may not be supported by another along the message path</a:t>
            </a:r>
          </a:p>
          <a:p>
            <a:pPr lvl="1">
              <a:lnSpc>
                <a:spcPct val="110000"/>
              </a:lnSpc>
              <a:defRPr/>
            </a:pPr>
            <a:r>
              <a:rPr lang="en-US" altLang="zh-CN" sz="1800" dirty="0"/>
              <a:t>SOAP itself does not provide any mechanism for hiding the differences in features provided by different underlying protocols</a:t>
            </a:r>
          </a:p>
          <a:p>
            <a:pPr lvl="1">
              <a:lnSpc>
                <a:spcPct val="110000"/>
              </a:lnSpc>
              <a:defRPr/>
            </a:pPr>
            <a:r>
              <a:rPr lang="en-US" altLang="zh-CN" sz="1800" dirty="0"/>
              <a:t>However, any end-to-end or multi-hop feature that is required by a particular application, but which may not be available in the underlying infrastructure along the anticipated message path, can be compensated for by being carried as a part of the SOAP message </a:t>
            </a:r>
            <a:r>
              <a:rPr lang="en-US" altLang="zh-CN" sz="1800" dirty="0" err="1"/>
              <a:t>infoset</a:t>
            </a:r>
            <a:r>
              <a:rPr lang="en-US" altLang="zh-CN" sz="1800" dirty="0"/>
              <a:t>, i.e., as a SOAP header block specified in some module</a:t>
            </a:r>
          </a:p>
        </p:txBody>
      </p:sp>
      <p:sp>
        <p:nvSpPr>
          <p:cNvPr id="12292" name="灯片编号占位符 3">
            <a:extLst>
              <a:ext uri="{FF2B5EF4-FFF2-40B4-BE49-F238E27FC236}">
                <a16:creationId xmlns:a16="http://schemas.microsoft.com/office/drawing/2014/main" id="{F30A6BDA-054A-4168-B42A-E8CC4E5C52C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2BF27C9-85AC-488B-8AEC-23AAA3CBD98C}" type="slidenum">
              <a:rPr lang="en-US" altLang="zh-CN" smtClean="0"/>
              <a:pPr/>
              <a:t>5</a:t>
            </a:fld>
            <a:endParaRPr lang="en-US" altLang="zh-CN" sz="10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EE4FF5E9-1E14-4EBA-9C31-8C856C9B35DD}"/>
              </a:ext>
            </a:extLst>
          </p:cNvPr>
          <p:cNvSpPr>
            <a:spLocks noGrp="1"/>
          </p:cNvSpPr>
          <p:nvPr>
            <p:ph type="title"/>
          </p:nvPr>
        </p:nvSpPr>
        <p:spPr/>
        <p:txBody>
          <a:bodyPr>
            <a:normAutofit fontScale="90000"/>
          </a:bodyPr>
          <a:lstStyle/>
          <a:p>
            <a:r>
              <a:rPr lang="en-US" altLang="zh-CN" dirty="0"/>
              <a:t>Message Exchange Pattern</a:t>
            </a:r>
            <a:endParaRPr lang="zh-CN" altLang="en-US" dirty="0"/>
          </a:p>
        </p:txBody>
      </p:sp>
      <p:sp>
        <p:nvSpPr>
          <p:cNvPr id="3" name="内容占位符 2">
            <a:extLst>
              <a:ext uri="{FF2B5EF4-FFF2-40B4-BE49-F238E27FC236}">
                <a16:creationId xmlns:a16="http://schemas.microsoft.com/office/drawing/2014/main" id="{48E139C5-2F2E-4A99-9445-0BE7451620B2}"/>
              </a:ext>
            </a:extLst>
          </p:cNvPr>
          <p:cNvSpPr>
            <a:spLocks noGrp="1"/>
          </p:cNvSpPr>
          <p:nvPr>
            <p:ph idx="1"/>
          </p:nvPr>
        </p:nvSpPr>
        <p:spPr/>
        <p:txBody>
          <a:bodyPr>
            <a:normAutofit fontScale="85000" lnSpcReduction="10000"/>
          </a:bodyPr>
          <a:lstStyle/>
          <a:p>
            <a:pPr>
              <a:lnSpc>
                <a:spcPct val="120000"/>
              </a:lnSpc>
              <a:defRPr/>
            </a:pPr>
            <a:r>
              <a:rPr lang="en-US" altLang="zh-CN" dirty="0"/>
              <a:t>Among other things, a binding specification must define one particular feature, namely the </a:t>
            </a:r>
            <a:r>
              <a:rPr lang="en-US" altLang="zh-CN" dirty="0">
                <a:solidFill>
                  <a:srgbClr val="FF0000"/>
                </a:solidFill>
              </a:rPr>
              <a:t>message exchange pattern(s) </a:t>
            </a:r>
            <a:r>
              <a:rPr lang="en-US" altLang="zh-CN" dirty="0"/>
              <a:t>(MEP) that it supports </a:t>
            </a:r>
          </a:p>
          <a:p>
            <a:pPr>
              <a:lnSpc>
                <a:spcPct val="120000"/>
              </a:lnSpc>
              <a:defRPr/>
            </a:pPr>
            <a:r>
              <a:rPr lang="en-US" altLang="zh-CN" dirty="0"/>
              <a:t>Two such message exchange patterns are defined:</a:t>
            </a:r>
          </a:p>
          <a:p>
            <a:pPr lvl="1">
              <a:lnSpc>
                <a:spcPct val="120000"/>
              </a:lnSpc>
              <a:defRPr/>
            </a:pPr>
            <a:r>
              <a:rPr lang="en-US" altLang="zh-CN" dirty="0"/>
              <a:t>A </a:t>
            </a:r>
            <a:r>
              <a:rPr lang="en-US" altLang="zh-CN" dirty="0">
                <a:hlinkClick r:id="rId3"/>
              </a:rPr>
              <a:t>SOAP Request-Response message exchange pattern</a:t>
            </a:r>
            <a:r>
              <a:rPr lang="en-US" altLang="zh-CN" dirty="0"/>
              <a:t> where one SOAP message is exchanged in each direction between two adjacent SOAP nodes</a:t>
            </a:r>
          </a:p>
          <a:p>
            <a:pPr lvl="1">
              <a:lnSpc>
                <a:spcPct val="120000"/>
              </a:lnSpc>
              <a:defRPr/>
            </a:pPr>
            <a:r>
              <a:rPr lang="en-US" altLang="zh-CN" dirty="0"/>
              <a:t>A </a:t>
            </a:r>
            <a:r>
              <a:rPr lang="en-US" altLang="zh-CN" dirty="0">
                <a:hlinkClick r:id="rId4"/>
              </a:rPr>
              <a:t>SOAP Response message exchange pattern</a:t>
            </a:r>
            <a:r>
              <a:rPr lang="en-US" altLang="zh-CN" dirty="0"/>
              <a:t> which consists of a non-SOAP message acting as a request followed by a SOAP message included as a part of the response</a:t>
            </a:r>
          </a:p>
        </p:txBody>
      </p:sp>
      <p:sp>
        <p:nvSpPr>
          <p:cNvPr id="14340" name="灯片编号占位符 3">
            <a:extLst>
              <a:ext uri="{FF2B5EF4-FFF2-40B4-BE49-F238E27FC236}">
                <a16:creationId xmlns:a16="http://schemas.microsoft.com/office/drawing/2014/main" id="{0A38CA82-5468-45D0-9902-46DFC1CD90E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2BF27C9-85AC-488B-8AEC-23AAA3CBD98C}" type="slidenum">
              <a:rPr lang="en-US" altLang="zh-CN" smtClean="0"/>
              <a:pPr/>
              <a:t>6</a:t>
            </a:fld>
            <a:endParaRPr lang="en-US" altLang="zh-CN" sz="100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346614F1-B590-47DB-B061-05E46CA8E931}"/>
              </a:ext>
            </a:extLst>
          </p:cNvPr>
          <p:cNvSpPr>
            <a:spLocks noGrp="1"/>
          </p:cNvSpPr>
          <p:nvPr>
            <p:ph type="title"/>
          </p:nvPr>
        </p:nvSpPr>
        <p:spPr/>
        <p:txBody>
          <a:bodyPr>
            <a:normAutofit fontScale="90000"/>
          </a:bodyPr>
          <a:lstStyle/>
          <a:p>
            <a:r>
              <a:rPr lang="en-US" altLang="zh-CN" dirty="0"/>
              <a:t>SOAP Web Method feature</a:t>
            </a:r>
            <a:endParaRPr lang="zh-CN" altLang="en-US" dirty="0"/>
          </a:p>
        </p:txBody>
      </p:sp>
      <p:sp>
        <p:nvSpPr>
          <p:cNvPr id="3" name="内容占位符 2">
            <a:extLst>
              <a:ext uri="{FF2B5EF4-FFF2-40B4-BE49-F238E27FC236}">
                <a16:creationId xmlns:a16="http://schemas.microsoft.com/office/drawing/2014/main" id="{2A1C86C1-47E5-4EB7-93F8-08304FD3BE29}"/>
              </a:ext>
            </a:extLst>
          </p:cNvPr>
          <p:cNvSpPr>
            <a:spLocks noGrp="1"/>
          </p:cNvSpPr>
          <p:nvPr>
            <p:ph idx="1"/>
          </p:nvPr>
        </p:nvSpPr>
        <p:spPr/>
        <p:txBody>
          <a:bodyPr>
            <a:normAutofit fontScale="92500" lnSpcReduction="10000"/>
          </a:bodyPr>
          <a:lstStyle/>
          <a:p>
            <a:pPr>
              <a:defRPr/>
            </a:pPr>
            <a:r>
              <a:rPr lang="en-US" altLang="zh-CN" sz="2400" dirty="0"/>
              <a:t>SOAP definition also offers a general feature called the </a:t>
            </a:r>
            <a:r>
              <a:rPr lang="en-US" altLang="zh-CN" sz="2400" dirty="0">
                <a:hlinkClick r:id="rId3"/>
              </a:rPr>
              <a:t>SOAP Web Method feature</a:t>
            </a:r>
            <a:r>
              <a:rPr lang="en-US" altLang="zh-CN" sz="2400" dirty="0"/>
              <a:t> that allows applications full control over the choice of "Web method" that may be used over the binding</a:t>
            </a:r>
          </a:p>
          <a:p>
            <a:pPr lvl="1">
              <a:defRPr/>
            </a:pPr>
            <a:r>
              <a:rPr lang="en-US" altLang="zh-CN" sz="2000" dirty="0"/>
              <a:t>Web method are GET, POST, PUT, DELETE whose semantics are as defined in the [</a:t>
            </a:r>
            <a:r>
              <a:rPr lang="en-US" altLang="zh-CN" sz="2000" dirty="0">
                <a:hlinkClick r:id="rId4" action="ppaction://hlinkfile"/>
              </a:rPr>
              <a:t>HTTP 1.1</a:t>
            </a:r>
            <a:r>
              <a:rPr lang="en-US" altLang="zh-CN" sz="2000" dirty="0"/>
              <a:t>] specifications</a:t>
            </a:r>
            <a:endParaRPr lang="en-US" altLang="zh-CN" sz="1900" dirty="0"/>
          </a:p>
          <a:p>
            <a:pPr>
              <a:defRPr/>
            </a:pPr>
            <a:r>
              <a:rPr lang="en-US" altLang="zh-CN" sz="2400" dirty="0"/>
              <a:t>It is defined to ensure that applications using SOAP can do so in a manner which is compatible with </a:t>
            </a:r>
            <a:r>
              <a:rPr lang="en-US" altLang="zh-CN" sz="2400" dirty="0">
                <a:solidFill>
                  <a:srgbClr val="FF0000"/>
                </a:solidFill>
              </a:rPr>
              <a:t>the architectural principles of the World Wide Web</a:t>
            </a:r>
          </a:p>
          <a:p>
            <a:pPr>
              <a:defRPr/>
            </a:pPr>
            <a:r>
              <a:rPr lang="en-US" altLang="zh-CN" sz="2400" dirty="0"/>
              <a:t>The </a:t>
            </a:r>
            <a:r>
              <a:rPr lang="en-US" altLang="zh-CN" sz="2400" dirty="0">
                <a:hlinkClick r:id="rId3"/>
              </a:rPr>
              <a:t>SOAP Web Method feature</a:t>
            </a:r>
            <a:r>
              <a:rPr lang="en-US" altLang="zh-CN" sz="2400" dirty="0"/>
              <a:t> is supported by the SOAP HTTP binding, although, in principle, it is available to all SOAP underlying protocol bindings</a:t>
            </a:r>
          </a:p>
          <a:p>
            <a:pPr lvl="1">
              <a:defRPr/>
            </a:pPr>
            <a:r>
              <a:rPr lang="en-US" altLang="zh-CN" sz="1800" dirty="0"/>
              <a:t>SOAP Version 1.2 restricts itself to the definition of a HTTP binding allowing only the use of the POST method in conjunction with the </a:t>
            </a:r>
            <a:r>
              <a:rPr lang="en-US" altLang="zh-CN" sz="1800" dirty="0">
                <a:hlinkClick r:id="rId5" action="ppaction://hlinkfile"/>
              </a:rPr>
              <a:t>Request-Response message </a:t>
            </a:r>
            <a:r>
              <a:rPr lang="en-US" altLang="zh-CN" sz="1800">
                <a:hlinkClick r:id="rId5" action="ppaction://hlinkfile"/>
              </a:rPr>
              <a:t>exchange pattern</a:t>
            </a:r>
            <a:r>
              <a:rPr lang="en-US" altLang="zh-CN" sz="1800"/>
              <a:t> </a:t>
            </a:r>
            <a:r>
              <a:rPr lang="en-US" altLang="zh-CN" sz="1800" dirty="0"/>
              <a:t>and the GET method with the SOAP </a:t>
            </a:r>
            <a:r>
              <a:rPr lang="en-US" altLang="zh-CN" sz="1800" dirty="0">
                <a:hlinkClick r:id="rId5" action="ppaction://hlinkfile"/>
              </a:rPr>
              <a:t>Response message exchange pattern</a:t>
            </a:r>
            <a:endParaRPr lang="en-US" altLang="zh-CN" sz="1800" dirty="0"/>
          </a:p>
          <a:p>
            <a:pPr lvl="1">
              <a:defRPr/>
            </a:pPr>
            <a:r>
              <a:rPr lang="en-US" altLang="zh-CN" sz="1800" dirty="0"/>
              <a:t>Other specifications in future could define SOAP bindings to HTTP or other transports that make use of the other Web methods (i.e., PUT, DELETE)</a:t>
            </a:r>
          </a:p>
        </p:txBody>
      </p:sp>
      <p:sp>
        <p:nvSpPr>
          <p:cNvPr id="16388" name="灯片编号占位符 3">
            <a:extLst>
              <a:ext uri="{FF2B5EF4-FFF2-40B4-BE49-F238E27FC236}">
                <a16:creationId xmlns:a16="http://schemas.microsoft.com/office/drawing/2014/main" id="{8FC408EF-71A6-4EF3-98CA-69E5D7CB96C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2BF27C9-85AC-488B-8AEC-23AAA3CBD98C}" type="slidenum">
              <a:rPr lang="en-US" altLang="zh-CN" smtClean="0"/>
              <a:pPr/>
              <a:t>7</a:t>
            </a:fld>
            <a:endParaRPr lang="en-US" altLang="zh-CN" sz="10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A5AACAF0-A6D9-4991-B53A-928243622CC2}"/>
              </a:ext>
            </a:extLst>
          </p:cNvPr>
          <p:cNvSpPr>
            <a:spLocks noGrp="1"/>
          </p:cNvSpPr>
          <p:nvPr>
            <p:ph type="title"/>
          </p:nvPr>
        </p:nvSpPr>
        <p:spPr/>
        <p:txBody>
          <a:bodyPr>
            <a:normAutofit fontScale="90000"/>
          </a:bodyPr>
          <a:lstStyle/>
          <a:p>
            <a:r>
              <a:rPr lang="en-US" altLang="zh-CN" dirty="0"/>
              <a:t>The SOAP HTTP Binding</a:t>
            </a:r>
            <a:endParaRPr lang="zh-CN" altLang="en-US" dirty="0"/>
          </a:p>
        </p:txBody>
      </p:sp>
      <p:sp>
        <p:nvSpPr>
          <p:cNvPr id="3" name="内容占位符 2">
            <a:extLst>
              <a:ext uri="{FF2B5EF4-FFF2-40B4-BE49-F238E27FC236}">
                <a16:creationId xmlns:a16="http://schemas.microsoft.com/office/drawing/2014/main" id="{F59B17AB-408B-4E78-A1C3-627A73A8FB56}"/>
              </a:ext>
            </a:extLst>
          </p:cNvPr>
          <p:cNvSpPr>
            <a:spLocks noGrp="1"/>
          </p:cNvSpPr>
          <p:nvPr>
            <p:ph idx="1"/>
          </p:nvPr>
        </p:nvSpPr>
        <p:spPr/>
        <p:txBody>
          <a:bodyPr>
            <a:normAutofit fontScale="92500"/>
          </a:bodyPr>
          <a:lstStyle/>
          <a:p>
            <a:pPr>
              <a:lnSpc>
                <a:spcPct val="120000"/>
              </a:lnSpc>
              <a:defRPr/>
            </a:pPr>
            <a:r>
              <a:rPr lang="en-US" altLang="zh-CN" sz="2400" dirty="0"/>
              <a:t>The HTTP binding in SOAP makes use of the </a:t>
            </a:r>
            <a:r>
              <a:rPr lang="en-US" altLang="zh-CN" sz="2400" dirty="0">
                <a:hlinkClick r:id="rId3"/>
              </a:rPr>
              <a:t>SOAP Web Method feature</a:t>
            </a:r>
            <a:r>
              <a:rPr lang="en-US" altLang="zh-CN" sz="2400" dirty="0"/>
              <a:t> to allow applications to choose the Web method - restricting it to one of GET or POST - to use over the HTTP message exchange. </a:t>
            </a:r>
          </a:p>
          <a:p>
            <a:pPr>
              <a:lnSpc>
                <a:spcPct val="120000"/>
              </a:lnSpc>
              <a:defRPr/>
            </a:pPr>
            <a:r>
              <a:rPr lang="en-US" altLang="zh-CN" sz="2400" dirty="0"/>
              <a:t>In addition, it makes use of two </a:t>
            </a:r>
            <a:r>
              <a:rPr lang="en-US" altLang="zh-CN" sz="2400" dirty="0">
                <a:solidFill>
                  <a:srgbClr val="FF0000"/>
                </a:solidFill>
              </a:rPr>
              <a:t>MEPs </a:t>
            </a:r>
            <a:r>
              <a:rPr lang="en-US" altLang="zh-CN" sz="2400" dirty="0"/>
              <a:t>that offer applications two ways of exchanging SOAP messages via HTTP: </a:t>
            </a:r>
          </a:p>
          <a:p>
            <a:pPr marL="971550" lvl="1" indent="-514350">
              <a:lnSpc>
                <a:spcPct val="120000"/>
              </a:lnSpc>
              <a:buFont typeface="+mj-lt"/>
              <a:buAutoNum type="arabicPeriod"/>
              <a:defRPr/>
            </a:pPr>
            <a:r>
              <a:rPr lang="en-US" altLang="zh-CN" sz="1800" dirty="0">
                <a:solidFill>
                  <a:srgbClr val="000000"/>
                </a:solidFill>
                <a:hlinkClick r:id="rId4"/>
              </a:rPr>
              <a:t>SOAP request-response message exchange pattern</a:t>
            </a:r>
            <a:r>
              <a:rPr lang="en-US" altLang="zh-CN" sz="1800" dirty="0">
                <a:solidFill>
                  <a:srgbClr val="000000"/>
                </a:solidFill>
              </a:rPr>
              <a:t>, uses </a:t>
            </a:r>
            <a:r>
              <a:rPr lang="en-US" altLang="zh-CN" sz="1800" dirty="0"/>
              <a:t>the HTTP POST method for conveying SOAP messages in the bodies of HTTP request and response messages. It is mainly used to create or modify the state of a resource identified by URI</a:t>
            </a:r>
          </a:p>
          <a:p>
            <a:pPr marL="971550" lvl="1" indent="-514350">
              <a:lnSpc>
                <a:spcPct val="120000"/>
              </a:lnSpc>
              <a:buFont typeface="+mj-lt"/>
              <a:buAutoNum type="arabicPeriod"/>
              <a:defRPr/>
            </a:pPr>
            <a:r>
              <a:rPr lang="en-US" altLang="zh-CN" sz="1800" dirty="0">
                <a:hlinkClick r:id="rId5"/>
              </a:rPr>
              <a:t>SOAP response message exchange pattern</a:t>
            </a:r>
            <a:r>
              <a:rPr lang="en-US" altLang="zh-CN" sz="1800" dirty="0"/>
              <a:t>, uses of the HTTP GET method in a HTTP request to return a SOAP message in the body of a HTTP response. It is mainly used to obtain a representation of a resource without altering its state in any way. It is called</a:t>
            </a:r>
            <a:r>
              <a:rPr lang="en-US" altLang="zh-CN" sz="1800" dirty="0">
                <a:hlinkClick r:id="rId6"/>
              </a:rPr>
              <a:t> safe and idempotent</a:t>
            </a:r>
            <a:r>
              <a:rPr lang="en-US" altLang="zh-CN" sz="1800" dirty="0"/>
              <a:t> </a:t>
            </a:r>
          </a:p>
        </p:txBody>
      </p:sp>
      <p:sp>
        <p:nvSpPr>
          <p:cNvPr id="6148" name="灯片编号占位符 3">
            <a:extLst>
              <a:ext uri="{FF2B5EF4-FFF2-40B4-BE49-F238E27FC236}">
                <a16:creationId xmlns:a16="http://schemas.microsoft.com/office/drawing/2014/main" id="{213C4B45-9DE1-40BF-B2F6-11BF29385A7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t>8</a:t>
            </a:fld>
            <a:endParaRPr lang="en-US" altLang="zh-CN" sz="10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D8744C03-0060-411E-8F3F-7A7FEDEA1B0A}"/>
              </a:ext>
            </a:extLst>
          </p:cNvPr>
          <p:cNvSpPr>
            <a:spLocks noGrp="1"/>
          </p:cNvSpPr>
          <p:nvPr>
            <p:ph type="title"/>
          </p:nvPr>
        </p:nvSpPr>
        <p:spPr/>
        <p:txBody>
          <a:bodyPr>
            <a:normAutofit fontScale="90000"/>
          </a:bodyPr>
          <a:lstStyle/>
          <a:p>
            <a:r>
              <a:rPr lang="en-US" altLang="zh-CN" dirty="0"/>
              <a:t>SOAP HTTP GET Request</a:t>
            </a:r>
            <a:endParaRPr lang="zh-CN" altLang="en-US" dirty="0"/>
          </a:p>
        </p:txBody>
      </p:sp>
      <p:sp>
        <p:nvSpPr>
          <p:cNvPr id="10243" name="内容占位符 2">
            <a:extLst>
              <a:ext uri="{FF2B5EF4-FFF2-40B4-BE49-F238E27FC236}">
                <a16:creationId xmlns:a16="http://schemas.microsoft.com/office/drawing/2014/main" id="{B803ECC3-610B-455B-BFCE-05786A6C2013}"/>
              </a:ext>
            </a:extLst>
          </p:cNvPr>
          <p:cNvSpPr>
            <a:spLocks noGrp="1"/>
          </p:cNvSpPr>
          <p:nvPr>
            <p:ph idx="1"/>
          </p:nvPr>
        </p:nvSpPr>
        <p:spPr>
          <a:xfrm>
            <a:off x="457200" y="4292600"/>
            <a:ext cx="8229600" cy="2439988"/>
          </a:xfrm>
        </p:spPr>
        <p:txBody>
          <a:bodyPr>
            <a:normAutofit fontScale="92500"/>
          </a:bodyPr>
          <a:lstStyle/>
          <a:p>
            <a:pPr>
              <a:defRPr/>
            </a:pPr>
            <a:r>
              <a:rPr lang="en-US" altLang="zh-CN" sz="2400" dirty="0"/>
              <a:t>As the SOAP HTTP GET request does not allow for a SOAP message, applications that need features in the outbound interaction that can only be supported by a binding-specific expression within the SOAP </a:t>
            </a:r>
            <a:r>
              <a:rPr lang="en-US" altLang="zh-CN" sz="2400" dirty="0" err="1"/>
              <a:t>infoset</a:t>
            </a:r>
            <a:r>
              <a:rPr lang="en-US" altLang="zh-CN" sz="2400" dirty="0"/>
              <a:t> (i.e., as SOAP header blocks) obviously cannot make use of this MEP</a:t>
            </a:r>
          </a:p>
          <a:p>
            <a:pPr marL="342900" lvl="1" indent="-342900">
              <a:buFont typeface="Wingdings" panose="05000000000000000000" pitchFamily="2" charset="2"/>
              <a:buChar char="l"/>
              <a:defRPr/>
            </a:pPr>
            <a:r>
              <a:rPr lang="en-US" altLang="zh-CN" sz="2400" dirty="0"/>
              <a:t>HTTP POST binding is available for use in all cases</a:t>
            </a:r>
          </a:p>
        </p:txBody>
      </p:sp>
      <p:sp>
        <p:nvSpPr>
          <p:cNvPr id="13" name="Text Box 4">
            <a:extLst>
              <a:ext uri="{FF2B5EF4-FFF2-40B4-BE49-F238E27FC236}">
                <a16:creationId xmlns:a16="http://schemas.microsoft.com/office/drawing/2014/main" id="{AECD1DC4-B269-4A19-AF52-DB436AA5BDD7}"/>
              </a:ext>
            </a:extLst>
          </p:cNvPr>
          <p:cNvSpPr txBox="1">
            <a:spLocks noChangeArrowheads="1"/>
          </p:cNvSpPr>
          <p:nvPr/>
        </p:nvSpPr>
        <p:spPr bwMode="auto">
          <a:xfrm>
            <a:off x="726231" y="1522377"/>
            <a:ext cx="7704856" cy="1175706"/>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Courier New" pitchFamily="49" charset="0"/>
                <a:cs typeface="Courier New" pitchFamily="49" charset="0"/>
              </a:rPr>
              <a:t>GET /travelcompany.example.org/</a:t>
            </a:r>
            <a:r>
              <a:rPr lang="en-US" altLang="zh-CN" sz="1600" dirty="0" err="1">
                <a:solidFill>
                  <a:srgbClr val="000000"/>
                </a:solidFill>
                <a:highlight>
                  <a:srgbClr val="FFFFFF"/>
                </a:highlight>
                <a:latin typeface="Courier New" pitchFamily="49" charset="0"/>
                <a:cs typeface="Courier New" pitchFamily="49" charset="0"/>
              </a:rPr>
              <a:t>reservations?code</a:t>
            </a:r>
            <a:r>
              <a:rPr lang="en-US" altLang="zh-CN" sz="1600" dirty="0">
                <a:solidFill>
                  <a:srgbClr val="000000"/>
                </a:solidFill>
                <a:highlight>
                  <a:srgbClr val="FFFFFF"/>
                </a:highlight>
                <a:latin typeface="Courier New" pitchFamily="49" charset="0"/>
                <a:cs typeface="Courier New" pitchFamily="49" charset="0"/>
              </a:rPr>
              <a:t>=FT35ZBQ  HTTP/1.1</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Courier New" pitchFamily="49" charset="0"/>
                <a:cs typeface="Courier New" pitchFamily="49" charset="0"/>
              </a:rPr>
              <a:t>Host: travelcompany.example.org</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Courier New" pitchFamily="49" charset="0"/>
                <a:cs typeface="Courier New" pitchFamily="49" charset="0"/>
              </a:rPr>
              <a:t>Accept: text/</a:t>
            </a:r>
            <a:r>
              <a:rPr lang="en-US" altLang="zh-CN" sz="1600" dirty="0" err="1">
                <a:solidFill>
                  <a:srgbClr val="000000"/>
                </a:solidFill>
                <a:highlight>
                  <a:srgbClr val="FFFFFF"/>
                </a:highlight>
                <a:latin typeface="Courier New" pitchFamily="49" charset="0"/>
                <a:cs typeface="Courier New" pitchFamily="49" charset="0"/>
              </a:rPr>
              <a:t>html;q</a:t>
            </a:r>
            <a:r>
              <a:rPr lang="en-US" altLang="zh-CN" sz="1600" dirty="0">
                <a:solidFill>
                  <a:srgbClr val="000000"/>
                </a:solidFill>
                <a:highlight>
                  <a:srgbClr val="FFFFFF"/>
                </a:highlight>
                <a:latin typeface="Courier New" pitchFamily="49" charset="0"/>
                <a:cs typeface="Courier New" pitchFamily="49" charset="0"/>
              </a:rPr>
              <a:t>=0.5, application/</a:t>
            </a:r>
            <a:r>
              <a:rPr lang="en-US" altLang="zh-CN" sz="1600" dirty="0" err="1">
                <a:solidFill>
                  <a:srgbClr val="000000"/>
                </a:solidFill>
                <a:highlight>
                  <a:srgbClr val="FFFFFF"/>
                </a:highlight>
                <a:latin typeface="Courier New" pitchFamily="49" charset="0"/>
                <a:cs typeface="Courier New" pitchFamily="49" charset="0"/>
              </a:rPr>
              <a:t>soap+xml</a:t>
            </a:r>
            <a:endParaRPr lang="en-US" altLang="zh-CN" sz="1600" dirty="0">
              <a:solidFill>
                <a:srgbClr val="000000"/>
              </a:solidFill>
              <a:highlight>
                <a:srgbClr val="FFFFFF"/>
              </a:highlight>
              <a:latin typeface="Courier New" pitchFamily="49" charset="0"/>
              <a:cs typeface="Courier New" pitchFamily="49" charset="0"/>
            </a:endParaRPr>
          </a:p>
        </p:txBody>
      </p:sp>
      <p:sp>
        <p:nvSpPr>
          <p:cNvPr id="14" name="Line 6">
            <a:extLst>
              <a:ext uri="{FF2B5EF4-FFF2-40B4-BE49-F238E27FC236}">
                <a16:creationId xmlns:a16="http://schemas.microsoft.com/office/drawing/2014/main" id="{CDD5DCF5-8668-45FA-A861-093A71CABF88}"/>
              </a:ext>
            </a:extLst>
          </p:cNvPr>
          <p:cNvSpPr>
            <a:spLocks noChangeShapeType="1"/>
          </p:cNvSpPr>
          <p:nvPr/>
        </p:nvSpPr>
        <p:spPr bwMode="auto">
          <a:xfrm flipV="1">
            <a:off x="7013575" y="1804988"/>
            <a:ext cx="0" cy="10588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Text Box 7">
            <a:extLst>
              <a:ext uri="{FF2B5EF4-FFF2-40B4-BE49-F238E27FC236}">
                <a16:creationId xmlns:a16="http://schemas.microsoft.com/office/drawing/2014/main" id="{C913ED53-1B9D-4435-B55D-DE8912FB2146}"/>
              </a:ext>
            </a:extLst>
          </p:cNvPr>
          <p:cNvSpPr txBox="1">
            <a:spLocks noChangeArrowheads="1"/>
          </p:cNvSpPr>
          <p:nvPr/>
        </p:nvSpPr>
        <p:spPr bwMode="auto">
          <a:xfrm>
            <a:off x="5686425" y="2863850"/>
            <a:ext cx="3463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URI to view the traveler's itinerary </a:t>
            </a:r>
          </a:p>
        </p:txBody>
      </p:sp>
      <p:sp>
        <p:nvSpPr>
          <p:cNvPr id="16" name="Line 6">
            <a:extLst>
              <a:ext uri="{FF2B5EF4-FFF2-40B4-BE49-F238E27FC236}">
                <a16:creationId xmlns:a16="http://schemas.microsoft.com/office/drawing/2014/main" id="{6588B6AD-FF75-4CD1-B619-89C6CFBDE612}"/>
              </a:ext>
            </a:extLst>
          </p:cNvPr>
          <p:cNvSpPr>
            <a:spLocks noChangeShapeType="1"/>
          </p:cNvSpPr>
          <p:nvPr/>
        </p:nvSpPr>
        <p:spPr bwMode="auto">
          <a:xfrm flipH="1" flipV="1">
            <a:off x="2454275" y="2698750"/>
            <a:ext cx="0" cy="81121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Text Box 7">
            <a:extLst>
              <a:ext uri="{FF2B5EF4-FFF2-40B4-BE49-F238E27FC236}">
                <a16:creationId xmlns:a16="http://schemas.microsoft.com/office/drawing/2014/main" id="{35410E37-A216-482E-A412-C7D803683F15}"/>
              </a:ext>
            </a:extLst>
          </p:cNvPr>
          <p:cNvSpPr txBox="1">
            <a:spLocks noChangeArrowheads="1"/>
          </p:cNvSpPr>
          <p:nvPr/>
        </p:nvSpPr>
        <p:spPr bwMode="auto">
          <a:xfrm>
            <a:off x="317500" y="3611563"/>
            <a:ext cx="66960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preferred representation of the resource being requested.</a:t>
            </a:r>
          </a:p>
          <a:p>
            <a:pPr eaLnBrk="1" hangingPunct="1">
              <a:buFont typeface="Wingdings" panose="05000000000000000000" pitchFamily="2" charset="2"/>
              <a:buNone/>
            </a:pPr>
            <a:r>
              <a:rPr lang="en-US" altLang="zh-CN" sz="1800"/>
              <a:t>If SOAP is unavailable, (X)Html can also be returned</a:t>
            </a:r>
          </a:p>
        </p:txBody>
      </p:sp>
      <p:sp>
        <p:nvSpPr>
          <p:cNvPr id="8201" name="灯片编号占位符 3">
            <a:extLst>
              <a:ext uri="{FF2B5EF4-FFF2-40B4-BE49-F238E27FC236}">
                <a16:creationId xmlns:a16="http://schemas.microsoft.com/office/drawing/2014/main" id="{8CCF84E8-17E1-438A-B864-8DE96A93EDC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t>9</a:t>
            </a:fld>
            <a:endParaRPr lang="en-US" altLang="zh-CN" sz="1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E6F411E6-6CE2-4B19-9BAE-89E18966B0BE}"/>
              </a:ext>
            </a:extLst>
          </p:cNvPr>
          <p:cNvSpPr>
            <a:spLocks noGrp="1"/>
          </p:cNvSpPr>
          <p:nvPr>
            <p:ph type="title"/>
          </p:nvPr>
        </p:nvSpPr>
        <p:spPr/>
        <p:txBody>
          <a:bodyPr>
            <a:normAutofit fontScale="90000"/>
          </a:bodyPr>
          <a:lstStyle/>
          <a:p>
            <a:r>
              <a:rPr lang="en-US" altLang="zh-CN" dirty="0"/>
              <a:t>SOAP HTTP GET Response (1/2)</a:t>
            </a:r>
            <a:endParaRPr lang="zh-CN" altLang="en-US" dirty="0"/>
          </a:p>
        </p:txBody>
      </p:sp>
      <p:sp>
        <p:nvSpPr>
          <p:cNvPr id="10243" name="灯片编号占位符 3">
            <a:extLst>
              <a:ext uri="{FF2B5EF4-FFF2-40B4-BE49-F238E27FC236}">
                <a16:creationId xmlns:a16="http://schemas.microsoft.com/office/drawing/2014/main" id="{EDECC54C-7188-4D6E-8DD7-695AE198DCB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t>10</a:t>
            </a:fld>
            <a:endParaRPr lang="en-US" altLang="zh-CN" sz="1000"/>
          </a:p>
        </p:txBody>
      </p:sp>
      <p:sp>
        <p:nvSpPr>
          <p:cNvPr id="6" name="Text Box 4">
            <a:extLst>
              <a:ext uri="{FF2B5EF4-FFF2-40B4-BE49-F238E27FC236}">
                <a16:creationId xmlns:a16="http://schemas.microsoft.com/office/drawing/2014/main" id="{50CAD653-8888-4E63-9337-68FA1B29783F}"/>
              </a:ext>
            </a:extLst>
          </p:cNvPr>
          <p:cNvSpPr txBox="1">
            <a:spLocks noChangeArrowheads="1"/>
          </p:cNvSpPr>
          <p:nvPr/>
        </p:nvSpPr>
        <p:spPr bwMode="auto">
          <a:xfrm>
            <a:off x="719572" y="3109924"/>
            <a:ext cx="7704856" cy="3367076"/>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latin typeface="Arial" charset="0"/>
              </a:rPr>
              <a:t>HTTP/1.1 200 OK</a:t>
            </a:r>
          </a:p>
          <a:p>
            <a:pPr eaLnBrk="1" hangingPunct="1">
              <a:spcBef>
                <a:spcPct val="20000"/>
              </a:spcBef>
              <a:buClr>
                <a:schemeClr val="accent1"/>
              </a:buClr>
              <a:buFont typeface="Wingdings" panose="05000000000000000000" pitchFamily="2" charset="2"/>
              <a:buNone/>
              <a:defRPr/>
            </a:pPr>
            <a:r>
              <a:rPr lang="en-US" altLang="zh-CN" sz="1400" dirty="0">
                <a:latin typeface="Arial" charset="0"/>
              </a:rPr>
              <a:t>Content-Type: application/</a:t>
            </a:r>
            <a:r>
              <a:rPr lang="en-US" altLang="zh-CN" sz="1400" dirty="0" err="1">
                <a:latin typeface="Arial" charset="0"/>
              </a:rPr>
              <a:t>soap+xml</a:t>
            </a:r>
            <a:r>
              <a:rPr lang="en-US" altLang="zh-CN" sz="1400" dirty="0">
                <a:latin typeface="Arial" charset="0"/>
              </a:rPr>
              <a:t>; </a:t>
            </a:r>
            <a:r>
              <a:rPr lang="en-US" altLang="zh-CN" sz="1400" dirty="0" err="1">
                <a:latin typeface="Arial" charset="0"/>
              </a:rPr>
              <a:t>charset</a:t>
            </a:r>
            <a:r>
              <a:rPr lang="en-US" altLang="zh-CN" sz="1400" dirty="0">
                <a:latin typeface="Arial" charset="0"/>
              </a:rPr>
              <a:t>="utf-8"</a:t>
            </a:r>
          </a:p>
          <a:p>
            <a:pPr eaLnBrk="1" hangingPunct="1">
              <a:spcBef>
                <a:spcPct val="20000"/>
              </a:spcBef>
              <a:buClr>
                <a:schemeClr val="accent1"/>
              </a:buClr>
              <a:buFont typeface="Wingdings" panose="05000000000000000000" pitchFamily="2" charset="2"/>
              <a:buNone/>
              <a:defRPr/>
            </a:pPr>
            <a:r>
              <a:rPr lang="en-US" altLang="zh-CN" sz="1400" dirty="0">
                <a:latin typeface="Arial" charset="0"/>
              </a:rPr>
              <a:t>Content-Length: </a:t>
            </a:r>
            <a:r>
              <a:rPr lang="en-US" altLang="zh-CN" sz="1400" i="1" dirty="0" err="1">
                <a:latin typeface="Arial" charset="0"/>
              </a:rPr>
              <a:t>nnnn</a:t>
            </a:r>
            <a:endParaRPr lang="en-US" altLang="zh-CN" sz="1400" i="1" dirty="0">
              <a:latin typeface="Arial" charset="0"/>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m:reservation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xmlns:m</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http://travelcompany.example.org/reservation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env:role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http://www.w3.org/2003/05/soap-envelope/role/next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env:mustUnderstand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true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m:reference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uuid:093a2da1-q345-739r-ba5d-pqff98fe8j7d</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m:reference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m:dateAndTime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2001-11-30T16:25:00.000-05:00</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m:dateAndTime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p:txBody>
      </p:sp>
      <p:sp>
        <p:nvSpPr>
          <p:cNvPr id="5" name="内容占位符 2">
            <a:extLst>
              <a:ext uri="{FF2B5EF4-FFF2-40B4-BE49-F238E27FC236}">
                <a16:creationId xmlns:a16="http://schemas.microsoft.com/office/drawing/2014/main" id="{A65F9291-203E-44C0-BB6D-E11659ADDF51}"/>
              </a:ext>
            </a:extLst>
          </p:cNvPr>
          <p:cNvSpPr>
            <a:spLocks noGrp="1"/>
          </p:cNvSpPr>
          <p:nvPr>
            <p:ph idx="1"/>
          </p:nvPr>
        </p:nvSpPr>
        <p:spPr>
          <a:xfrm>
            <a:off x="457200" y="1703388"/>
            <a:ext cx="8229600" cy="1223962"/>
          </a:xfrm>
        </p:spPr>
        <p:txBody>
          <a:bodyPr>
            <a:normAutofit fontScale="85000" lnSpcReduction="10000"/>
          </a:bodyPr>
          <a:lstStyle/>
          <a:p>
            <a:pPr>
              <a:defRPr/>
            </a:pPr>
            <a:r>
              <a:rPr lang="en-US" altLang="zh-CN" sz="2400" dirty="0"/>
              <a:t>Using the HTTP binding with the </a:t>
            </a:r>
            <a:r>
              <a:rPr lang="en-US" altLang="zh-CN" sz="2400" dirty="0">
                <a:hlinkClick r:id="rId3"/>
              </a:rPr>
              <a:t>SOAP Response message exchange pattern</a:t>
            </a:r>
            <a:r>
              <a:rPr lang="en-US" altLang="zh-CN" sz="2400" dirty="0"/>
              <a:t> is restricted to the HTTP GET method. This means that the response to a HTTP GET request from a requesting SOAP node is a SOAP message in the HTTP response</a:t>
            </a:r>
            <a:endParaRPr lang="en-US" altLang="zh-CN" sz="20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F6C72052-B18B-4F9E-A910-D0F0943FCE04}"/>
              </a:ext>
            </a:extLst>
          </p:cNvPr>
          <p:cNvSpPr>
            <a:spLocks noGrp="1"/>
          </p:cNvSpPr>
          <p:nvPr>
            <p:ph type="title"/>
          </p:nvPr>
        </p:nvSpPr>
        <p:spPr/>
        <p:txBody>
          <a:bodyPr>
            <a:normAutofit fontScale="90000"/>
          </a:bodyPr>
          <a:lstStyle/>
          <a:p>
            <a:r>
              <a:rPr lang="en-US" altLang="zh-CN" dirty="0"/>
              <a:t>SOAP HTTP GET Response (2/2)</a:t>
            </a:r>
            <a:endParaRPr lang="zh-CN" altLang="en-US" dirty="0"/>
          </a:p>
        </p:txBody>
      </p:sp>
      <p:sp>
        <p:nvSpPr>
          <p:cNvPr id="12291" name="灯片编号占位符 3">
            <a:extLst>
              <a:ext uri="{FF2B5EF4-FFF2-40B4-BE49-F238E27FC236}">
                <a16:creationId xmlns:a16="http://schemas.microsoft.com/office/drawing/2014/main" id="{355C802B-D055-4E3F-B347-CA4F7E11055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t>11</a:t>
            </a:fld>
            <a:endParaRPr lang="en-US" altLang="zh-CN" sz="1000"/>
          </a:p>
        </p:txBody>
      </p:sp>
      <p:sp>
        <p:nvSpPr>
          <p:cNvPr id="6" name="Text Box 4">
            <a:extLst>
              <a:ext uri="{FF2B5EF4-FFF2-40B4-BE49-F238E27FC236}">
                <a16:creationId xmlns:a16="http://schemas.microsoft.com/office/drawing/2014/main" id="{42D461C9-14D3-4F70-B771-81DD796AB202}"/>
              </a:ext>
            </a:extLst>
          </p:cNvPr>
          <p:cNvSpPr txBox="1">
            <a:spLocks noChangeArrowheads="1"/>
          </p:cNvSpPr>
          <p:nvPr/>
        </p:nvSpPr>
        <p:spPr bwMode="auto">
          <a:xfrm>
            <a:off x="457200" y="1412776"/>
            <a:ext cx="8363272" cy="529991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env:Body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da-DK" altLang="zh-CN" sz="1200" dirty="0">
                <a:solidFill>
                  <a:srgbClr val="000000"/>
                </a:solidFill>
                <a:highlight>
                  <a:srgbClr val="FFFFFF"/>
                </a:highlight>
                <a:latin typeface="Arial"/>
              </a:rPr>
              <a:t>        </a:t>
            </a:r>
            <a:r>
              <a:rPr lang="da-DK" altLang="zh-CN" sz="1200" dirty="0">
                <a:solidFill>
                  <a:srgbClr val="0000FF"/>
                </a:solidFill>
                <a:highlight>
                  <a:srgbClr val="FFFFFF"/>
                </a:highlight>
                <a:latin typeface="Arial"/>
              </a:rPr>
              <a:t>&lt;</a:t>
            </a:r>
            <a:r>
              <a:rPr lang="da-DK" altLang="zh-CN" sz="1200" dirty="0">
                <a:solidFill>
                  <a:srgbClr val="800000"/>
                </a:solidFill>
                <a:highlight>
                  <a:srgbClr val="FFFFFF"/>
                </a:highlight>
                <a:latin typeface="Arial"/>
              </a:rPr>
              <a:t>rdf:RDF</a:t>
            </a:r>
            <a:r>
              <a:rPr lang="da-DK" altLang="zh-CN" sz="1200" dirty="0">
                <a:solidFill>
                  <a:srgbClr val="FF0000"/>
                </a:solidFill>
                <a:highlight>
                  <a:srgbClr val="FFFFFF"/>
                </a:highlight>
                <a:latin typeface="Arial"/>
              </a:rPr>
              <a:t> xmlns:rdf</a:t>
            </a:r>
            <a:r>
              <a:rPr lang="da-DK" altLang="zh-CN" sz="1200" dirty="0">
                <a:solidFill>
                  <a:srgbClr val="0000FF"/>
                </a:solidFill>
                <a:highlight>
                  <a:srgbClr val="FFFFFF"/>
                </a:highlight>
                <a:latin typeface="Arial"/>
              </a:rPr>
              <a:t>="</a:t>
            </a:r>
            <a:r>
              <a:rPr lang="da-DK" altLang="zh-CN" sz="1200" dirty="0">
                <a:solidFill>
                  <a:srgbClr val="000000"/>
                </a:solidFill>
                <a:highlight>
                  <a:srgbClr val="FFFFFF"/>
                </a:highlight>
                <a:latin typeface="Arial"/>
              </a:rPr>
              <a:t>http://www.w3.org/1999/02/22-rdf-syntax-ns#</a:t>
            </a:r>
            <a:r>
              <a:rPr lang="da-DK" altLang="zh-CN" sz="1200" dirty="0">
                <a:solidFill>
                  <a:srgbClr val="0000FF"/>
                </a:solidFill>
                <a:highlight>
                  <a:srgbClr val="FFFFFF"/>
                </a:highlight>
                <a:latin typeface="Arial"/>
              </a:rPr>
              <a:t>"</a:t>
            </a:r>
            <a:r>
              <a:rPr lang="da-DK" altLang="zh-CN" sz="1200" dirty="0">
                <a:solidFill>
                  <a:srgbClr val="FF0000"/>
                </a:solidFill>
                <a:highlight>
                  <a:srgbClr val="FFFFFF"/>
                </a:highlight>
                <a:latin typeface="Arial"/>
              </a:rPr>
              <a:t> xmlns:x</a:t>
            </a:r>
            <a:r>
              <a:rPr lang="da-DK" altLang="zh-CN" sz="1200" dirty="0">
                <a:solidFill>
                  <a:srgbClr val="0000FF"/>
                </a:solidFill>
                <a:highlight>
                  <a:srgbClr val="FFFFFF"/>
                </a:highlight>
                <a:latin typeface="Arial"/>
              </a:rPr>
              <a:t>="</a:t>
            </a:r>
            <a:r>
              <a:rPr lang="da-DK" altLang="zh-CN" sz="1200" dirty="0">
                <a:solidFill>
                  <a:srgbClr val="000000"/>
                </a:solidFill>
                <a:highlight>
                  <a:srgbClr val="FFFFFF"/>
                </a:highlight>
                <a:latin typeface="Arial"/>
              </a:rPr>
              <a:t>http://travelcompany.example.org/vocab#</a:t>
            </a:r>
            <a:r>
              <a:rPr lang="da-DK" altLang="zh-CN" sz="1200" dirty="0">
                <a:solidFill>
                  <a:srgbClr val="0000FF"/>
                </a:solidFill>
                <a:highlight>
                  <a:srgbClr val="FFFFFF"/>
                </a:highlight>
                <a:latin typeface="Arial"/>
              </a:rPr>
              <a:t>"</a:t>
            </a:r>
            <a:r>
              <a:rPr lang="da-DK" altLang="zh-CN" sz="1200" dirty="0">
                <a:solidFill>
                  <a:srgbClr val="FF0000"/>
                </a:solidFill>
                <a:highlight>
                  <a:srgbClr val="FFFFFF"/>
                </a:highlight>
                <a:latin typeface="Arial"/>
              </a:rPr>
              <a:t> env:encodingStyle</a:t>
            </a:r>
            <a:r>
              <a:rPr lang="da-DK" altLang="zh-CN" sz="1200" dirty="0">
                <a:solidFill>
                  <a:srgbClr val="0000FF"/>
                </a:solidFill>
                <a:highlight>
                  <a:srgbClr val="FFFFFF"/>
                </a:highlight>
                <a:latin typeface="Arial"/>
              </a:rPr>
              <a:t>="</a:t>
            </a:r>
            <a:r>
              <a:rPr lang="da-DK" altLang="zh-CN" sz="1200" dirty="0">
                <a:solidFill>
                  <a:srgbClr val="000000"/>
                </a:solidFill>
                <a:highlight>
                  <a:srgbClr val="FFFFFF"/>
                </a:highlight>
                <a:latin typeface="Arial"/>
              </a:rPr>
              <a:t>http://www.w3.org/1999/02/22-rdf-syntax-ns#</a:t>
            </a:r>
            <a:r>
              <a:rPr lang="da-DK" altLang="zh-CN" sz="1200" dirty="0">
                <a:solidFill>
                  <a:srgbClr val="0000FF"/>
                </a:solidFill>
                <a:highlight>
                  <a:srgbClr val="FFFFFF"/>
                </a:highlight>
                <a:latin typeface="Arial"/>
              </a:rPr>
              <a:t>"&gt;</a:t>
            </a:r>
            <a:endParaRPr lang="da-DK"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x:ReservationRequest</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rdf:about</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http://travelcompany.example.org/reservations?code=FT35ZBQ</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x:passenger</a:t>
            </a:r>
            <a:r>
              <a:rPr lang="en-US" altLang="zh-CN" sz="1200" dirty="0">
                <a:solidFill>
                  <a:srgbClr val="0000FF"/>
                </a:solidFill>
                <a:highlight>
                  <a:srgbClr val="FFFFFF"/>
                </a:highlight>
                <a:latin typeface="Arial"/>
              </a:rPr>
              <a:t>&gt;</a:t>
            </a:r>
            <a:r>
              <a:rPr lang="en-US" altLang="zh-CN" sz="1200" dirty="0" err="1">
                <a:solidFill>
                  <a:srgbClr val="000000"/>
                </a:solidFill>
                <a:highlight>
                  <a:srgbClr val="FFFFFF"/>
                </a:highlight>
                <a:latin typeface="Arial"/>
              </a:rPr>
              <a:t>Åke</a:t>
            </a:r>
            <a:r>
              <a:rPr lang="en-US" altLang="zh-CN" sz="1200" dirty="0">
                <a:solidFill>
                  <a:srgbClr val="000000"/>
                </a:solidFill>
                <a:highlight>
                  <a:srgbClr val="FFFFFF"/>
                </a:highlight>
                <a:latin typeface="Arial"/>
              </a:rPr>
              <a:t> </a:t>
            </a:r>
            <a:r>
              <a:rPr lang="en-US" altLang="zh-CN" sz="1200" dirty="0" err="1">
                <a:solidFill>
                  <a:srgbClr val="000000"/>
                </a:solidFill>
                <a:highlight>
                  <a:srgbClr val="FFFFFF"/>
                </a:highlight>
                <a:latin typeface="Arial"/>
              </a:rPr>
              <a:t>Jógvan</a:t>
            </a:r>
            <a:r>
              <a:rPr lang="en-US" altLang="zh-CN" sz="1200" dirty="0">
                <a:solidFill>
                  <a:srgbClr val="000000"/>
                </a:solidFill>
                <a:highlight>
                  <a:srgbClr val="FFFFFF"/>
                </a:highlight>
                <a:latin typeface="Arial"/>
              </a:rPr>
              <a:t> </a:t>
            </a:r>
            <a:r>
              <a:rPr lang="en-US" altLang="zh-CN" sz="1200" dirty="0" err="1">
                <a:solidFill>
                  <a:srgbClr val="000000"/>
                </a:solidFill>
                <a:highlight>
                  <a:srgbClr val="FFFFFF"/>
                </a:highlight>
                <a:latin typeface="Arial"/>
              </a:rPr>
              <a:t>Øyvind</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x:passenger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x:outbound</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x:TravelRequest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x:to</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LAX</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x:to</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x:from</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LGA</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x:from</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x:date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2001-12-14</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x:TravelRequest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x:outbound</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x:return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x:TravelRequest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x:to</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JFK</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x:to</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x:from</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LAX</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x:from</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x:date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2001-12-20</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x:date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x:TravelRequest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x:return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x:ReservationRequest</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rdf:RDF</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env:Body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env:Envelope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5" name="Line 6">
            <a:extLst>
              <a:ext uri="{FF2B5EF4-FFF2-40B4-BE49-F238E27FC236}">
                <a16:creationId xmlns:a16="http://schemas.microsoft.com/office/drawing/2014/main" id="{4BD8D71E-B351-491D-98DE-113E2271541D}"/>
              </a:ext>
            </a:extLst>
          </p:cNvPr>
          <p:cNvSpPr>
            <a:spLocks noChangeShapeType="1"/>
          </p:cNvSpPr>
          <p:nvPr/>
        </p:nvSpPr>
        <p:spPr bwMode="auto">
          <a:xfrm flipH="1" flipV="1">
            <a:off x="5940425" y="2276475"/>
            <a:ext cx="431800" cy="11525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8F45376A-0EF4-41A3-8AE9-236E66AC7927}"/>
              </a:ext>
            </a:extLst>
          </p:cNvPr>
          <p:cNvSpPr txBox="1">
            <a:spLocks noChangeArrowheads="1"/>
          </p:cNvSpPr>
          <p:nvPr/>
        </p:nvSpPr>
        <p:spPr bwMode="auto">
          <a:xfrm>
            <a:off x="4860032" y="3463925"/>
            <a:ext cx="3826767"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dirty="0"/>
              <a:t>Follows RDF standard</a:t>
            </a:r>
          </a:p>
          <a:p>
            <a:pPr>
              <a:buNone/>
            </a:pPr>
            <a:r>
              <a:rPr lang="en-US" altLang="zh-CN" sz="1800" dirty="0"/>
              <a:t>Serialization according to RDF</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C2C9B197-B1DF-4EB0-B195-B3D541F93069}"/>
              </a:ext>
            </a:extLst>
          </p:cNvPr>
          <p:cNvSpPr>
            <a:spLocks noGrp="1"/>
          </p:cNvSpPr>
          <p:nvPr>
            <p:ph type="title"/>
          </p:nvPr>
        </p:nvSpPr>
        <p:spPr/>
        <p:txBody>
          <a:bodyPr>
            <a:normAutofit/>
          </a:bodyPr>
          <a:lstStyle/>
          <a:p>
            <a:r>
              <a:rPr lang="en-US" altLang="zh-CN" sz="2800" dirty="0"/>
              <a:t>Encoding Schemes (1/2)*</a:t>
            </a:r>
            <a:endParaRPr lang="zh-CN" altLang="en-US" sz="2800" dirty="0"/>
          </a:p>
        </p:txBody>
      </p:sp>
      <p:sp>
        <p:nvSpPr>
          <p:cNvPr id="3" name="内容占位符 2">
            <a:extLst>
              <a:ext uri="{FF2B5EF4-FFF2-40B4-BE49-F238E27FC236}">
                <a16:creationId xmlns:a16="http://schemas.microsoft.com/office/drawing/2014/main" id="{5CCE5CC0-F03C-471D-B2E2-F690D312E8BF}"/>
              </a:ext>
            </a:extLst>
          </p:cNvPr>
          <p:cNvSpPr>
            <a:spLocks noGrp="1"/>
          </p:cNvSpPr>
          <p:nvPr>
            <p:ph idx="1"/>
          </p:nvPr>
        </p:nvSpPr>
        <p:spPr/>
        <p:txBody>
          <a:bodyPr>
            <a:normAutofit lnSpcReduction="10000"/>
          </a:bodyPr>
          <a:lstStyle/>
          <a:p>
            <a:pPr>
              <a:lnSpc>
                <a:spcPct val="120000"/>
              </a:lnSpc>
              <a:defRPr/>
            </a:pPr>
            <a:r>
              <a:rPr lang="en-US" altLang="zh-CN" sz="1800" dirty="0"/>
              <a:t>Even though SOAP Version 1.2 defines a particular encoding scheme, its use is optional and the specification makes clear that other encoding schemes may be used for application-specific data within a SOAP message</a:t>
            </a:r>
          </a:p>
          <a:p>
            <a:pPr>
              <a:lnSpc>
                <a:spcPct val="120000"/>
              </a:lnSpc>
              <a:defRPr/>
            </a:pPr>
            <a:r>
              <a:rPr lang="en-US" altLang="zh-CN" sz="1800" dirty="0"/>
              <a:t>Attribute</a:t>
            </a:r>
            <a:r>
              <a:rPr lang="en-US" altLang="zh-CN" sz="1800" dirty="0">
                <a:hlinkClick r:id="rId3"/>
              </a:rPr>
              <a:t> </a:t>
            </a:r>
            <a:r>
              <a:rPr lang="en-US" altLang="zh-CN" sz="1800" dirty="0" err="1">
                <a:hlinkClick r:id="rId3"/>
              </a:rPr>
              <a:t>env:encodingStyle</a:t>
            </a:r>
            <a:r>
              <a:rPr lang="en-US" altLang="zh-CN" sz="1800" dirty="0"/>
              <a:t> (of type </a:t>
            </a:r>
            <a:r>
              <a:rPr lang="en-US" altLang="zh-CN" sz="1800" dirty="0" err="1">
                <a:hlinkClick r:id="rId3"/>
              </a:rPr>
              <a:t>xs:anyURI</a:t>
            </a:r>
            <a:r>
              <a:rPr lang="en-US" altLang="zh-CN" sz="1800" dirty="0"/>
              <a:t>) is provided to qualify:</a:t>
            </a:r>
          </a:p>
          <a:p>
            <a:pPr lvl="1">
              <a:lnSpc>
                <a:spcPct val="120000"/>
              </a:lnSpc>
              <a:defRPr/>
            </a:pPr>
            <a:r>
              <a:rPr lang="en-US" altLang="zh-CN" sz="1600" dirty="0"/>
              <a:t>Header blocks</a:t>
            </a:r>
          </a:p>
          <a:p>
            <a:pPr lvl="1">
              <a:lnSpc>
                <a:spcPct val="120000"/>
              </a:lnSpc>
              <a:defRPr/>
            </a:pPr>
            <a:r>
              <a:rPr lang="en-US" altLang="zh-CN" sz="1600" dirty="0"/>
              <a:t>Any child elements of the SOAP </a:t>
            </a:r>
            <a:r>
              <a:rPr lang="en-US" altLang="zh-CN" sz="1600" dirty="0" err="1">
                <a:hlinkClick r:id="rId3"/>
              </a:rPr>
              <a:t>env:Body</a:t>
            </a:r>
            <a:endParaRPr lang="en-US" altLang="zh-CN" sz="1600" dirty="0"/>
          </a:p>
          <a:p>
            <a:pPr lvl="1">
              <a:lnSpc>
                <a:spcPct val="120000"/>
              </a:lnSpc>
              <a:defRPr/>
            </a:pPr>
            <a:r>
              <a:rPr lang="en-US" altLang="zh-CN" sz="1600" dirty="0"/>
              <a:t>Any child elements of the </a:t>
            </a:r>
            <a:r>
              <a:rPr lang="en-US" altLang="zh-CN" sz="1600" dirty="0" err="1">
                <a:hlinkClick r:id="rId3"/>
              </a:rPr>
              <a:t>env:Detail</a:t>
            </a:r>
            <a:r>
              <a:rPr lang="en-US" altLang="zh-CN" sz="1600" dirty="0"/>
              <a:t> element (in error message) and their descendants</a:t>
            </a:r>
          </a:p>
          <a:p>
            <a:pPr>
              <a:lnSpc>
                <a:spcPct val="120000"/>
              </a:lnSpc>
              <a:defRPr/>
            </a:pPr>
            <a:r>
              <a:rPr lang="en-US" altLang="zh-CN" sz="1800" dirty="0" err="1">
                <a:hlinkClick r:id="rId3"/>
              </a:rPr>
              <a:t>env:encodingStyle</a:t>
            </a:r>
            <a:r>
              <a:rPr lang="en-US" altLang="zh-CN" sz="1800" dirty="0"/>
              <a:t> signals a serialization scheme for the nested contents, or at least the one in place until another element is encountered which indicates another encoding style for its nested contents</a:t>
            </a:r>
          </a:p>
          <a:p>
            <a:pPr>
              <a:lnSpc>
                <a:spcPct val="120000"/>
              </a:lnSpc>
              <a:defRPr/>
            </a:pPr>
            <a:r>
              <a:rPr lang="en-US" altLang="zh-CN" sz="1800" dirty="0"/>
              <a:t>The choice of the value for the </a:t>
            </a:r>
            <a:r>
              <a:rPr lang="en-US" altLang="zh-CN" sz="1800" dirty="0" err="1">
                <a:hlinkClick r:id="rId3"/>
              </a:rPr>
              <a:t>env:encodingStyle</a:t>
            </a:r>
            <a:r>
              <a:rPr lang="en-US" altLang="zh-CN" sz="1800" dirty="0"/>
              <a:t> attribute is an application-specific decision and the ability to interoperate is assumed to have been settled "out-of-band"</a:t>
            </a:r>
          </a:p>
          <a:p>
            <a:pPr>
              <a:lnSpc>
                <a:spcPct val="120000"/>
              </a:lnSpc>
              <a:defRPr/>
            </a:pPr>
            <a:r>
              <a:rPr lang="en-US" altLang="zh-CN" sz="1800" dirty="0"/>
              <a:t>If this attribute is not present, then no claims are being made about the encoding being used</a:t>
            </a:r>
            <a:endParaRPr lang="en-US" altLang="zh-CN" sz="1400" dirty="0"/>
          </a:p>
        </p:txBody>
      </p:sp>
      <p:sp>
        <p:nvSpPr>
          <p:cNvPr id="6148" name="灯片编号占位符 3">
            <a:extLst>
              <a:ext uri="{FF2B5EF4-FFF2-40B4-BE49-F238E27FC236}">
                <a16:creationId xmlns:a16="http://schemas.microsoft.com/office/drawing/2014/main" id="{36A3DC73-40B8-4E89-B4AE-A99D1042254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473BE366-1B84-48FC-9A3A-A66DA7786FC0}" type="slidenum">
              <a:rPr lang="en-US" altLang="zh-CN" smtClean="0"/>
              <a:pPr>
                <a:spcBef>
                  <a:spcPct val="0"/>
                </a:spcBef>
                <a:buClrTx/>
                <a:buFontTx/>
                <a:buNone/>
              </a:pPr>
              <a:t>12</a:t>
            </a:fld>
            <a:endParaRPr lang="en-US" altLang="zh-CN" sz="100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B33612FF-5583-44D9-B872-401BD634B1EA}"/>
              </a:ext>
            </a:extLst>
          </p:cNvPr>
          <p:cNvSpPr>
            <a:spLocks noGrp="1"/>
          </p:cNvSpPr>
          <p:nvPr>
            <p:ph type="title"/>
          </p:nvPr>
        </p:nvSpPr>
        <p:spPr/>
        <p:txBody>
          <a:bodyPr/>
          <a:lstStyle/>
          <a:p>
            <a:r>
              <a:rPr lang="en-US" altLang="zh-CN" sz="3200"/>
              <a:t>Encoding Schemes (2/2)</a:t>
            </a:r>
            <a:endParaRPr lang="zh-CN" altLang="en-US" dirty="0"/>
          </a:p>
        </p:txBody>
      </p:sp>
      <p:sp>
        <p:nvSpPr>
          <p:cNvPr id="12291" name="内容占位符 2">
            <a:extLst>
              <a:ext uri="{FF2B5EF4-FFF2-40B4-BE49-F238E27FC236}">
                <a16:creationId xmlns:a16="http://schemas.microsoft.com/office/drawing/2014/main" id="{C15593B0-743D-4416-9A65-3003619FA09D}"/>
              </a:ext>
            </a:extLst>
          </p:cNvPr>
          <p:cNvSpPr>
            <a:spLocks noGrp="1"/>
          </p:cNvSpPr>
          <p:nvPr>
            <p:ph idx="1"/>
          </p:nvPr>
        </p:nvSpPr>
        <p:spPr>
          <a:xfrm>
            <a:off x="457200" y="1340768"/>
            <a:ext cx="8229600" cy="2620888"/>
          </a:xfrm>
        </p:spPr>
        <p:txBody>
          <a:bodyPr/>
          <a:lstStyle/>
          <a:p>
            <a:r>
              <a:rPr lang="en-US" altLang="zh-CN" sz="1600" dirty="0"/>
              <a:t>In this example, the body of the SOAP message contains a description of the itinerary using the encoding of a graph of resources and their properties using the syntax of the </a:t>
            </a:r>
            <a:r>
              <a:rPr lang="en-US" altLang="zh-CN" sz="1600" dirty="0">
                <a:solidFill>
                  <a:srgbClr val="FF0000"/>
                </a:solidFill>
              </a:rPr>
              <a:t>Resource Description Framework </a:t>
            </a:r>
            <a:r>
              <a:rPr lang="en-US" altLang="zh-CN" sz="1600" dirty="0"/>
              <a:t>(RDF)</a:t>
            </a:r>
          </a:p>
          <a:p>
            <a:r>
              <a:rPr lang="en-US" altLang="zh-CN" sz="1600" dirty="0"/>
              <a:t>An RDF graph relates resources - such as the travel reservation resource available at </a:t>
            </a:r>
            <a:r>
              <a:rPr lang="en-US" altLang="zh-CN" sz="1600" dirty="0">
                <a:hlinkClick r:id="rId3"/>
              </a:rPr>
              <a:t>http://travelcompany.example.org/reservations?code=FT35ZBQ</a:t>
            </a:r>
            <a:r>
              <a:rPr lang="en-US" altLang="zh-CN" sz="1600" dirty="0"/>
              <a:t> - to other resources (or values) via properties, such as the </a:t>
            </a:r>
            <a:r>
              <a:rPr lang="en-US" altLang="zh-CN" sz="1600" i="1" dirty="0">
                <a:solidFill>
                  <a:srgbClr val="FF0000"/>
                </a:solidFill>
              </a:rPr>
              <a:t>passenger</a:t>
            </a:r>
            <a:r>
              <a:rPr lang="en-US" altLang="zh-CN" sz="1600" dirty="0"/>
              <a:t>, the </a:t>
            </a:r>
            <a:r>
              <a:rPr lang="en-US" altLang="zh-CN" sz="1600" i="1" dirty="0">
                <a:solidFill>
                  <a:srgbClr val="FF0000"/>
                </a:solidFill>
              </a:rPr>
              <a:t>outbound</a:t>
            </a:r>
            <a:r>
              <a:rPr lang="en-US" altLang="zh-CN" sz="1600" dirty="0"/>
              <a:t> and </a:t>
            </a:r>
            <a:r>
              <a:rPr lang="en-US" altLang="zh-CN" sz="1600" i="1" dirty="0">
                <a:solidFill>
                  <a:srgbClr val="FF0000"/>
                </a:solidFill>
              </a:rPr>
              <a:t>return</a:t>
            </a:r>
            <a:r>
              <a:rPr lang="en-US" altLang="zh-CN" sz="1600" dirty="0">
                <a:solidFill>
                  <a:srgbClr val="FF0000"/>
                </a:solidFill>
              </a:rPr>
              <a:t> </a:t>
            </a:r>
            <a:r>
              <a:rPr lang="en-US" altLang="zh-CN" sz="1600" dirty="0"/>
              <a:t>dates of travel</a:t>
            </a:r>
          </a:p>
          <a:p>
            <a:r>
              <a:rPr lang="en-US" altLang="zh-CN" sz="1600" dirty="0"/>
              <a:t>The RDF encoding for the itinerary might have been chosen, for example, to allow the passenger's travel application to store it in an RDF-capable calendar application, which could then be queried in complex ways</a:t>
            </a:r>
          </a:p>
        </p:txBody>
      </p:sp>
      <p:sp>
        <p:nvSpPr>
          <p:cNvPr id="12292" name="灯片编号占位符 3">
            <a:extLst>
              <a:ext uri="{FF2B5EF4-FFF2-40B4-BE49-F238E27FC236}">
                <a16:creationId xmlns:a16="http://schemas.microsoft.com/office/drawing/2014/main" id="{B0B4FF89-5B78-446A-A338-3F623B27E75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473BE366-1B84-48FC-9A3A-A66DA7786FC0}" type="slidenum">
              <a:rPr lang="en-US" altLang="zh-CN" smtClean="0"/>
              <a:pPr>
                <a:spcBef>
                  <a:spcPct val="0"/>
                </a:spcBef>
                <a:buClrTx/>
                <a:buFontTx/>
                <a:buNone/>
              </a:pPr>
              <a:t>13</a:t>
            </a:fld>
            <a:endParaRPr lang="en-US" altLang="zh-CN" sz="1000"/>
          </a:p>
        </p:txBody>
      </p:sp>
      <p:pic>
        <p:nvPicPr>
          <p:cNvPr id="12293" name="图片 1">
            <a:extLst>
              <a:ext uri="{FF2B5EF4-FFF2-40B4-BE49-F238E27FC236}">
                <a16:creationId xmlns:a16="http://schemas.microsoft.com/office/drawing/2014/main" id="{EDCE5242-7486-4966-A3C2-807C2FC00A1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4077072"/>
            <a:ext cx="9144000" cy="2479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6E312F26-E722-4C86-BDEA-146C75241AE5}"/>
              </a:ext>
            </a:extLst>
          </p:cNvPr>
          <p:cNvSpPr>
            <a:spLocks noGrp="1"/>
          </p:cNvSpPr>
          <p:nvPr>
            <p:ph type="title"/>
          </p:nvPr>
        </p:nvSpPr>
        <p:spPr/>
        <p:txBody>
          <a:bodyPr>
            <a:normAutofit fontScale="90000"/>
          </a:bodyPr>
          <a:lstStyle/>
          <a:p>
            <a:r>
              <a:rPr lang="en-US" altLang="zh-CN" dirty="0"/>
              <a:t>SOAP HTTP POST Request (1/2)</a:t>
            </a:r>
            <a:endParaRPr lang="zh-CN" altLang="en-US" dirty="0"/>
          </a:p>
        </p:txBody>
      </p:sp>
      <p:sp>
        <p:nvSpPr>
          <p:cNvPr id="3" name="内容占位符 2">
            <a:extLst>
              <a:ext uri="{FF2B5EF4-FFF2-40B4-BE49-F238E27FC236}">
                <a16:creationId xmlns:a16="http://schemas.microsoft.com/office/drawing/2014/main" id="{102C3338-C248-46B5-8972-9BFFBC201252}"/>
              </a:ext>
            </a:extLst>
          </p:cNvPr>
          <p:cNvSpPr>
            <a:spLocks noGrp="1"/>
          </p:cNvSpPr>
          <p:nvPr>
            <p:ph idx="1"/>
          </p:nvPr>
        </p:nvSpPr>
        <p:spPr>
          <a:xfrm>
            <a:off x="474193" y="1343026"/>
            <a:ext cx="8229600" cy="1479550"/>
          </a:xfrm>
        </p:spPr>
        <p:txBody>
          <a:bodyPr>
            <a:normAutofit fontScale="55000" lnSpcReduction="20000"/>
          </a:bodyPr>
          <a:lstStyle/>
          <a:p>
            <a:pPr>
              <a:defRPr/>
            </a:pPr>
            <a:r>
              <a:rPr lang="en-US" altLang="zh-CN" dirty="0"/>
              <a:t>Using the HTTP binding with the</a:t>
            </a:r>
            <a:r>
              <a:rPr lang="en-US" altLang="zh-CN" dirty="0">
                <a:hlinkClick r:id="rId3"/>
              </a:rPr>
              <a:t> SOAP Request-Response message exchange pattern</a:t>
            </a:r>
            <a:r>
              <a:rPr lang="en-US" altLang="zh-CN" dirty="0"/>
              <a:t> is restricted to the HTTP POST method</a:t>
            </a:r>
          </a:p>
          <a:p>
            <a:pPr>
              <a:defRPr/>
            </a:pPr>
            <a:r>
              <a:rPr lang="en-US" altLang="zh-CN" dirty="0"/>
              <a:t>Note that the use of this message exchange pattern in the SOAP HTTP binding is available to all applications, whether they involve the exchange of general XML data or RPCs encapsulated in SOAP messages</a:t>
            </a:r>
          </a:p>
        </p:txBody>
      </p:sp>
      <p:sp>
        <p:nvSpPr>
          <p:cNvPr id="14340" name="灯片编号占位符 3">
            <a:extLst>
              <a:ext uri="{FF2B5EF4-FFF2-40B4-BE49-F238E27FC236}">
                <a16:creationId xmlns:a16="http://schemas.microsoft.com/office/drawing/2014/main" id="{6A561759-B54C-410B-8AA7-AFC7B277AEF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14</a:t>
            </a:fld>
            <a:endParaRPr lang="en-US" altLang="zh-CN" sz="1000"/>
          </a:p>
        </p:txBody>
      </p:sp>
      <p:sp>
        <p:nvSpPr>
          <p:cNvPr id="5" name="Text Box 4">
            <a:extLst>
              <a:ext uri="{FF2B5EF4-FFF2-40B4-BE49-F238E27FC236}">
                <a16:creationId xmlns:a16="http://schemas.microsoft.com/office/drawing/2014/main" id="{3B4C137A-4D37-43AD-A913-9429C4A03F23}"/>
              </a:ext>
            </a:extLst>
          </p:cNvPr>
          <p:cNvSpPr txBox="1">
            <a:spLocks noChangeArrowheads="1"/>
          </p:cNvSpPr>
          <p:nvPr/>
        </p:nvSpPr>
        <p:spPr bwMode="auto">
          <a:xfrm>
            <a:off x="688841" y="3079055"/>
            <a:ext cx="8012756" cy="366869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latin typeface="Courier New" pitchFamily="49" charset="0"/>
                <a:cs typeface="Courier New" pitchFamily="49" charset="0"/>
              </a:rPr>
              <a:t>POST /Reservations </a:t>
            </a:r>
          </a:p>
          <a:p>
            <a:pPr eaLnBrk="1" hangingPunct="1">
              <a:spcBef>
                <a:spcPct val="20000"/>
              </a:spcBef>
              <a:buClr>
                <a:schemeClr val="accent1"/>
              </a:buClr>
              <a:buFont typeface="Wingdings" panose="05000000000000000000" pitchFamily="2" charset="2"/>
              <a:buNone/>
              <a:defRPr/>
            </a:pPr>
            <a:r>
              <a:rPr lang="en-US" altLang="zh-CN" sz="1400" dirty="0">
                <a:latin typeface="Courier New" pitchFamily="49" charset="0"/>
                <a:cs typeface="Courier New" pitchFamily="49" charset="0"/>
              </a:rPr>
              <a:t>HTTP/1.1 </a:t>
            </a:r>
          </a:p>
          <a:p>
            <a:pPr eaLnBrk="1" hangingPunct="1">
              <a:spcBef>
                <a:spcPct val="20000"/>
              </a:spcBef>
              <a:buClr>
                <a:schemeClr val="accent1"/>
              </a:buClr>
              <a:buFont typeface="Wingdings" panose="05000000000000000000" pitchFamily="2" charset="2"/>
              <a:buNone/>
              <a:defRPr/>
            </a:pPr>
            <a:r>
              <a:rPr lang="en-US" altLang="zh-CN" sz="1400" dirty="0">
                <a:latin typeface="Courier New" pitchFamily="49" charset="0"/>
                <a:cs typeface="Courier New" pitchFamily="49" charset="0"/>
              </a:rPr>
              <a:t>Host: travelcompany.example.org </a:t>
            </a:r>
          </a:p>
          <a:p>
            <a:pPr eaLnBrk="1" hangingPunct="1">
              <a:spcBef>
                <a:spcPct val="20000"/>
              </a:spcBef>
              <a:buClr>
                <a:schemeClr val="accent1"/>
              </a:buClr>
              <a:buFont typeface="Wingdings" panose="05000000000000000000" pitchFamily="2" charset="2"/>
              <a:buNone/>
              <a:defRPr/>
            </a:pPr>
            <a:r>
              <a:rPr lang="en-US" altLang="zh-CN" sz="1400" dirty="0">
                <a:latin typeface="Courier New" pitchFamily="49" charset="0"/>
                <a:cs typeface="Courier New" pitchFamily="49" charset="0"/>
              </a:rPr>
              <a:t>Content-Type: application/</a:t>
            </a:r>
            <a:r>
              <a:rPr lang="en-US" altLang="zh-CN" sz="1400" dirty="0" err="1">
                <a:latin typeface="Courier New" pitchFamily="49" charset="0"/>
                <a:cs typeface="Courier New" pitchFamily="49" charset="0"/>
              </a:rPr>
              <a:t>soap+xml</a:t>
            </a:r>
            <a:r>
              <a:rPr lang="en-US" altLang="zh-CN" sz="1400" dirty="0">
                <a:latin typeface="Courier New" pitchFamily="49" charset="0"/>
                <a:cs typeface="Courier New" pitchFamily="49" charset="0"/>
              </a:rPr>
              <a:t>; </a:t>
            </a:r>
            <a:r>
              <a:rPr lang="en-US" altLang="zh-CN" sz="1400" dirty="0" err="1">
                <a:latin typeface="Courier New" pitchFamily="49" charset="0"/>
                <a:cs typeface="Courier New" pitchFamily="49" charset="0"/>
              </a:rPr>
              <a:t>charset</a:t>
            </a:r>
            <a:r>
              <a:rPr lang="en-US" altLang="zh-CN" sz="1400" dirty="0">
                <a:latin typeface="Courier New" pitchFamily="49" charset="0"/>
                <a:cs typeface="Courier New" pitchFamily="49" charset="0"/>
              </a:rPr>
              <a:t>="utf-8" </a:t>
            </a:r>
          </a:p>
          <a:p>
            <a:pPr eaLnBrk="1" hangingPunct="1">
              <a:spcBef>
                <a:spcPct val="20000"/>
              </a:spcBef>
              <a:buClr>
                <a:schemeClr val="accent1"/>
              </a:buClr>
              <a:buFont typeface="Wingdings" panose="05000000000000000000" pitchFamily="2" charset="2"/>
              <a:buNone/>
              <a:defRPr/>
            </a:pPr>
            <a:r>
              <a:rPr lang="en-US" altLang="zh-CN" sz="1400" dirty="0">
                <a:latin typeface="Courier New" pitchFamily="49" charset="0"/>
                <a:cs typeface="Courier New" pitchFamily="49" charset="0"/>
              </a:rPr>
              <a:t>Content-Length: </a:t>
            </a:r>
            <a:r>
              <a:rPr lang="en-US" altLang="zh-CN" sz="1400" i="1" dirty="0" err="1">
                <a:latin typeface="Courier New" pitchFamily="49" charset="0"/>
                <a:cs typeface="Courier New" pitchFamily="49" charset="0"/>
              </a:rPr>
              <a:t>nnnn</a:t>
            </a:r>
            <a:r>
              <a:rPr lang="en-US" altLang="zh-CN" sz="1400" i="1" dirty="0">
                <a:latin typeface="Courier New" pitchFamily="49" charset="0"/>
                <a:cs typeface="Courier New" pitchFamily="49" charset="0"/>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t:transaction</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http://thirdparty.example.org/transaction</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env:encodingStyle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http://example.com/encoding</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env:mustUnderstand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true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5</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t:transaction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t>
            </a:r>
          </a:p>
        </p:txBody>
      </p:sp>
      <p:sp>
        <p:nvSpPr>
          <p:cNvPr id="6" name="Line 6">
            <a:extLst>
              <a:ext uri="{FF2B5EF4-FFF2-40B4-BE49-F238E27FC236}">
                <a16:creationId xmlns:a16="http://schemas.microsoft.com/office/drawing/2014/main" id="{08CF1D23-C3C2-456A-BBCA-728E5A1821A7}"/>
              </a:ext>
            </a:extLst>
          </p:cNvPr>
          <p:cNvSpPr>
            <a:spLocks noChangeShapeType="1"/>
          </p:cNvSpPr>
          <p:nvPr/>
        </p:nvSpPr>
        <p:spPr bwMode="auto">
          <a:xfrm flipH="1">
            <a:off x="2909888" y="3251200"/>
            <a:ext cx="2300287" cy="15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B755C102-D119-441F-BEDF-E2B8081D8BCF}"/>
              </a:ext>
            </a:extLst>
          </p:cNvPr>
          <p:cNvSpPr txBox="1">
            <a:spLocks noChangeArrowheads="1"/>
          </p:cNvSpPr>
          <p:nvPr/>
        </p:nvSpPr>
        <p:spPr bwMode="auto">
          <a:xfrm>
            <a:off x="5219700" y="3079750"/>
            <a:ext cx="38496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Relative URI</a:t>
            </a:r>
          </a:p>
        </p:txBody>
      </p:sp>
      <p:sp>
        <p:nvSpPr>
          <p:cNvPr id="8" name="Line 6">
            <a:extLst>
              <a:ext uri="{FF2B5EF4-FFF2-40B4-BE49-F238E27FC236}">
                <a16:creationId xmlns:a16="http://schemas.microsoft.com/office/drawing/2014/main" id="{45DF4B46-E496-4429-8C3D-2D6A0E279282}"/>
              </a:ext>
            </a:extLst>
          </p:cNvPr>
          <p:cNvSpPr>
            <a:spLocks noChangeShapeType="1"/>
          </p:cNvSpPr>
          <p:nvPr/>
        </p:nvSpPr>
        <p:spPr bwMode="auto">
          <a:xfrm flipH="1" flipV="1">
            <a:off x="4294188" y="3721100"/>
            <a:ext cx="2252662" cy="63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7">
            <a:extLst>
              <a:ext uri="{FF2B5EF4-FFF2-40B4-BE49-F238E27FC236}">
                <a16:creationId xmlns:a16="http://schemas.microsoft.com/office/drawing/2014/main" id="{CBAAFAD8-C396-48D2-9751-A8CAEB5F2EF6}"/>
              </a:ext>
            </a:extLst>
          </p:cNvPr>
          <p:cNvSpPr txBox="1">
            <a:spLocks noChangeArrowheads="1"/>
          </p:cNvSpPr>
          <p:nvPr/>
        </p:nvSpPr>
        <p:spPr bwMode="auto">
          <a:xfrm>
            <a:off x="6546850" y="3535363"/>
            <a:ext cx="1690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Host</a:t>
            </a:r>
          </a:p>
        </p:txBody>
      </p:sp>
      <p:sp>
        <p:nvSpPr>
          <p:cNvPr id="10" name="Line 6">
            <a:extLst>
              <a:ext uri="{FF2B5EF4-FFF2-40B4-BE49-F238E27FC236}">
                <a16:creationId xmlns:a16="http://schemas.microsoft.com/office/drawing/2014/main" id="{19290FA3-B681-4147-806C-7E1093060F95}"/>
              </a:ext>
            </a:extLst>
          </p:cNvPr>
          <p:cNvSpPr>
            <a:spLocks noChangeShapeType="1"/>
          </p:cNvSpPr>
          <p:nvPr/>
        </p:nvSpPr>
        <p:spPr bwMode="auto">
          <a:xfrm flipH="1" flipV="1">
            <a:off x="4349750" y="4090988"/>
            <a:ext cx="2205038" cy="2508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7">
            <a:extLst>
              <a:ext uri="{FF2B5EF4-FFF2-40B4-BE49-F238E27FC236}">
                <a16:creationId xmlns:a16="http://schemas.microsoft.com/office/drawing/2014/main" id="{54B4079F-F805-4564-B1D6-5CBD2C0D2067}"/>
              </a:ext>
            </a:extLst>
          </p:cNvPr>
          <p:cNvSpPr txBox="1">
            <a:spLocks noChangeArrowheads="1"/>
          </p:cNvSpPr>
          <p:nvPr/>
        </p:nvSpPr>
        <p:spPr bwMode="auto">
          <a:xfrm>
            <a:off x="6554788" y="4149725"/>
            <a:ext cx="18272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Fixed for SOAP message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3C49E3D9-F0B5-4D3A-960B-264FA7FBF06C}"/>
              </a:ext>
            </a:extLst>
          </p:cNvPr>
          <p:cNvSpPr>
            <a:spLocks noGrp="1"/>
          </p:cNvSpPr>
          <p:nvPr>
            <p:ph type="title"/>
          </p:nvPr>
        </p:nvSpPr>
        <p:spPr/>
        <p:txBody>
          <a:bodyPr>
            <a:normAutofit fontScale="90000"/>
          </a:bodyPr>
          <a:lstStyle/>
          <a:p>
            <a:r>
              <a:rPr lang="en-US" altLang="zh-CN" dirty="0"/>
              <a:t>SOAP HTTP POST Request (2/2)</a:t>
            </a:r>
            <a:endParaRPr lang="zh-CN" altLang="en-US" dirty="0"/>
          </a:p>
        </p:txBody>
      </p:sp>
      <p:sp>
        <p:nvSpPr>
          <p:cNvPr id="16387" name="灯片编号占位符 3">
            <a:extLst>
              <a:ext uri="{FF2B5EF4-FFF2-40B4-BE49-F238E27FC236}">
                <a16:creationId xmlns:a16="http://schemas.microsoft.com/office/drawing/2014/main" id="{B8FAD248-4EEC-4FF5-A5FC-C5B9ADB002F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15</a:t>
            </a:fld>
            <a:endParaRPr lang="en-US" altLang="zh-CN" sz="1000"/>
          </a:p>
        </p:txBody>
      </p:sp>
      <p:sp>
        <p:nvSpPr>
          <p:cNvPr id="5" name="Text Box 4">
            <a:extLst>
              <a:ext uri="{FF2B5EF4-FFF2-40B4-BE49-F238E27FC236}">
                <a16:creationId xmlns:a16="http://schemas.microsoft.com/office/drawing/2014/main" id="{62E0C84D-8664-4B23-B6AD-418CFC000A81}"/>
              </a:ext>
            </a:extLst>
          </p:cNvPr>
          <p:cNvSpPr txBox="1">
            <a:spLocks noChangeArrowheads="1"/>
          </p:cNvSpPr>
          <p:nvPr/>
        </p:nvSpPr>
        <p:spPr bwMode="auto">
          <a:xfrm>
            <a:off x="719572" y="1774174"/>
            <a:ext cx="7704856" cy="4702826"/>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m:chargeReservation</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env:encodingStyle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http://www.w3.org/2003/05/soap-encoding</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xmlns:m</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m:reservation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xmlns:m</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m:code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FT35ZBQ</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m:code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o:creditCard</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xmlns:o</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http://mycompany.example.com/financial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n:name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http://mycompany.example.com/employees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Åke</a:t>
            </a: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Jógvan</a:t>
            </a: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Øyvind</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n:name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o:number</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123456789099999</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o:number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o:expiration</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2005-02</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o:expiration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o:creditCard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m:chargeReservation</a:t>
            </a:r>
          </a:p>
          <a:p>
            <a:pPr eaLnBrk="1" hangingPunct="1">
              <a:spcBef>
                <a:spcPct val="20000"/>
              </a:spcBef>
              <a:buClr>
                <a:schemeClr val="accent1"/>
              </a:buClr>
              <a:buFont typeface="Wingdings" panose="05000000000000000000" pitchFamily="2" charset="2"/>
              <a:buNone/>
              <a:defRPr/>
            </a:pPr>
            <a:r>
              <a:rPr lang="en-US" altLang="zh-CN" sz="1400" dirty="0">
                <a:solidFill>
                  <a:srgbClr val="8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0000FF"/>
                </a:solidFill>
                <a:highlight>
                  <a:srgbClr val="FFFFFF"/>
                </a:highlight>
                <a:latin typeface="Arial"/>
              </a:rPr>
              <a:t>&gt;</a:t>
            </a:r>
            <a:endParaRPr lang="zh-CN" altLang="zh-CN" sz="1400" kern="100" dirty="0">
              <a:latin typeface="Calibri"/>
              <a:ea typeface="宋体"/>
              <a:cs typeface="Times New Roman"/>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C9C6C934-E455-4CE3-AA67-D5A4A6A9CC03}"/>
              </a:ext>
            </a:extLst>
          </p:cNvPr>
          <p:cNvSpPr>
            <a:spLocks noGrp="1"/>
          </p:cNvSpPr>
          <p:nvPr>
            <p:ph type="title"/>
          </p:nvPr>
        </p:nvSpPr>
        <p:spPr/>
        <p:txBody>
          <a:bodyPr>
            <a:normAutofit fontScale="90000"/>
          </a:bodyPr>
          <a:lstStyle/>
          <a:p>
            <a:r>
              <a:rPr lang="en-US" altLang="zh-CN" dirty="0"/>
              <a:t>SOAP HTTP POST </a:t>
            </a:r>
            <a:r>
              <a:rPr lang="en-US" altLang="zh-CN" i="1" dirty="0"/>
              <a:t>OK</a:t>
            </a:r>
            <a:r>
              <a:rPr lang="en-US" altLang="zh-CN" dirty="0"/>
              <a:t> Response</a:t>
            </a:r>
            <a:endParaRPr lang="zh-CN" altLang="en-US" dirty="0"/>
          </a:p>
        </p:txBody>
      </p:sp>
      <p:sp>
        <p:nvSpPr>
          <p:cNvPr id="4" name="内容占位符 3">
            <a:extLst>
              <a:ext uri="{FF2B5EF4-FFF2-40B4-BE49-F238E27FC236}">
                <a16:creationId xmlns:a16="http://schemas.microsoft.com/office/drawing/2014/main" id="{D12F4AF0-0BA7-4EFC-8DC6-C82118BEDD7E}"/>
              </a:ext>
            </a:extLst>
          </p:cNvPr>
          <p:cNvSpPr>
            <a:spLocks noGrp="1"/>
          </p:cNvSpPr>
          <p:nvPr>
            <p:ph idx="1"/>
          </p:nvPr>
        </p:nvSpPr>
        <p:spPr>
          <a:xfrm>
            <a:off x="457200" y="1600200"/>
            <a:ext cx="8229600" cy="979488"/>
          </a:xfrm>
        </p:spPr>
        <p:txBody>
          <a:bodyPr>
            <a:normAutofit fontScale="77500" lnSpcReduction="20000"/>
          </a:bodyPr>
          <a:lstStyle/>
          <a:p>
            <a:pPr>
              <a:defRPr/>
            </a:pPr>
            <a:r>
              <a:rPr lang="en-US" altLang="zh-CN" sz="2900" dirty="0"/>
              <a:t>SOAP, using HTTP transport, follows the semantics of the HTTP status codes for communicating status information</a:t>
            </a:r>
            <a:endParaRPr lang="zh-CN" altLang="en-US" dirty="0"/>
          </a:p>
        </p:txBody>
      </p:sp>
      <p:sp>
        <p:nvSpPr>
          <p:cNvPr id="5" name="Text Box 4">
            <a:extLst>
              <a:ext uri="{FF2B5EF4-FFF2-40B4-BE49-F238E27FC236}">
                <a16:creationId xmlns:a16="http://schemas.microsoft.com/office/drawing/2014/main" id="{B05567F7-56AE-44FF-9B96-C62ACE4C36E3}"/>
              </a:ext>
            </a:extLst>
          </p:cNvPr>
          <p:cNvSpPr txBox="1">
            <a:spLocks noChangeArrowheads="1"/>
          </p:cNvSpPr>
          <p:nvPr/>
        </p:nvSpPr>
        <p:spPr bwMode="auto">
          <a:xfrm>
            <a:off x="827584" y="2579703"/>
            <a:ext cx="7704856" cy="366869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latin typeface="Courier New" pitchFamily="49" charset="0"/>
                <a:cs typeface="Courier New" pitchFamily="49" charset="0"/>
              </a:rPr>
              <a:t>HTTP/1.1 200 OK</a:t>
            </a:r>
          </a:p>
          <a:p>
            <a:pPr eaLnBrk="1" hangingPunct="1">
              <a:spcBef>
                <a:spcPct val="20000"/>
              </a:spcBef>
              <a:buClr>
                <a:schemeClr val="accent1"/>
              </a:buClr>
              <a:buFont typeface="Wingdings" panose="05000000000000000000" pitchFamily="2" charset="2"/>
              <a:buNone/>
              <a:defRPr/>
            </a:pPr>
            <a:r>
              <a:rPr lang="en-US" altLang="zh-CN" sz="1400" dirty="0">
                <a:latin typeface="Courier New" pitchFamily="49" charset="0"/>
                <a:cs typeface="Courier New" pitchFamily="49" charset="0"/>
              </a:rPr>
              <a:t>Content-Type: application/</a:t>
            </a:r>
            <a:r>
              <a:rPr lang="en-US" altLang="zh-CN" sz="1400" dirty="0" err="1">
                <a:latin typeface="Courier New" pitchFamily="49" charset="0"/>
                <a:cs typeface="Courier New" pitchFamily="49" charset="0"/>
              </a:rPr>
              <a:t>soap+xml</a:t>
            </a:r>
            <a:r>
              <a:rPr lang="en-US" altLang="zh-CN" sz="1400" dirty="0">
                <a:latin typeface="Courier New" pitchFamily="49" charset="0"/>
                <a:cs typeface="Courier New" pitchFamily="49" charset="0"/>
              </a:rPr>
              <a:t>; </a:t>
            </a:r>
            <a:r>
              <a:rPr lang="en-US" altLang="zh-CN" sz="1400" dirty="0" err="1">
                <a:latin typeface="Courier New" pitchFamily="49" charset="0"/>
                <a:cs typeface="Courier New" pitchFamily="49" charset="0"/>
              </a:rPr>
              <a:t>charset</a:t>
            </a:r>
            <a:r>
              <a:rPr lang="en-US" altLang="zh-CN" sz="1400" dirty="0">
                <a:latin typeface="Courier New" pitchFamily="49" charset="0"/>
                <a:cs typeface="Courier New" pitchFamily="49" charset="0"/>
              </a:rPr>
              <a:t>="utf-8" </a:t>
            </a:r>
          </a:p>
          <a:p>
            <a:pPr eaLnBrk="1" hangingPunct="1">
              <a:spcBef>
                <a:spcPct val="20000"/>
              </a:spcBef>
              <a:buClr>
                <a:schemeClr val="accent1"/>
              </a:buClr>
              <a:buFont typeface="Wingdings" panose="05000000000000000000" pitchFamily="2" charset="2"/>
              <a:buNone/>
              <a:defRPr/>
            </a:pPr>
            <a:r>
              <a:rPr lang="en-US" altLang="zh-CN" sz="1400" dirty="0">
                <a:latin typeface="Courier New" pitchFamily="49" charset="0"/>
                <a:cs typeface="Courier New" pitchFamily="49" charset="0"/>
              </a:rPr>
              <a:t>Content-Length: </a:t>
            </a:r>
            <a:r>
              <a:rPr lang="en-US" altLang="zh-CN" sz="1400" i="1" dirty="0" err="1">
                <a:latin typeface="Courier New" pitchFamily="49" charset="0"/>
                <a:cs typeface="Courier New" pitchFamily="49" charset="0"/>
              </a:rPr>
              <a:t>nnnn</a:t>
            </a:r>
            <a:r>
              <a:rPr lang="en-US" altLang="zh-CN" sz="1400" i="1" dirty="0">
                <a:latin typeface="Courier New" pitchFamily="49" charset="0"/>
                <a:cs typeface="Courier New" pitchFamily="49" charset="0"/>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0000FF"/>
                </a:solidFill>
                <a:highlight>
                  <a:srgbClr val="FFFFFF"/>
                </a:highlight>
                <a:latin typeface="Arial"/>
              </a:rPr>
              <a:t>&gt;</a:t>
            </a:r>
            <a:endParaRPr lang="zh-CN" altLang="zh-CN" sz="1400" kern="100" dirty="0">
              <a:latin typeface="Calibri"/>
              <a:ea typeface="宋体"/>
              <a:cs typeface="Times New Roman"/>
            </a:endParaRPr>
          </a:p>
        </p:txBody>
      </p:sp>
      <p:sp>
        <p:nvSpPr>
          <p:cNvPr id="18437" name="灯片编号占位符 3">
            <a:extLst>
              <a:ext uri="{FF2B5EF4-FFF2-40B4-BE49-F238E27FC236}">
                <a16:creationId xmlns:a16="http://schemas.microsoft.com/office/drawing/2014/main" id="{B6928251-ED33-47EF-8264-6AD7931F741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16</a:t>
            </a:fld>
            <a:endParaRPr lang="en-US" altLang="zh-CN" sz="1000"/>
          </a:p>
        </p:txBody>
      </p:sp>
      <p:sp>
        <p:nvSpPr>
          <p:cNvPr id="9" name="Line 6">
            <a:extLst>
              <a:ext uri="{FF2B5EF4-FFF2-40B4-BE49-F238E27FC236}">
                <a16:creationId xmlns:a16="http://schemas.microsoft.com/office/drawing/2014/main" id="{934295F4-2327-4CB8-96BC-DDA3D3907BA1}"/>
              </a:ext>
            </a:extLst>
          </p:cNvPr>
          <p:cNvSpPr>
            <a:spLocks noChangeShapeType="1"/>
          </p:cNvSpPr>
          <p:nvPr/>
        </p:nvSpPr>
        <p:spPr bwMode="auto">
          <a:xfrm flipH="1" flipV="1">
            <a:off x="2232025" y="2852738"/>
            <a:ext cx="1908175" cy="172878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a:extLst>
              <a:ext uri="{FF2B5EF4-FFF2-40B4-BE49-F238E27FC236}">
                <a16:creationId xmlns:a16="http://schemas.microsoft.com/office/drawing/2014/main" id="{22A1BACD-B218-4B59-88FA-54E2A3DCE1C4}"/>
              </a:ext>
            </a:extLst>
          </p:cNvPr>
          <p:cNvSpPr txBox="1">
            <a:spLocks noChangeArrowheads="1"/>
          </p:cNvSpPr>
          <p:nvPr/>
        </p:nvSpPr>
        <p:spPr bwMode="auto">
          <a:xfrm>
            <a:off x="3060700" y="4581525"/>
            <a:ext cx="2484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2xx indicate success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B9DAB40A-D8F2-43FB-9F49-737DB7762A2E}"/>
              </a:ext>
            </a:extLst>
          </p:cNvPr>
          <p:cNvSpPr>
            <a:spLocks noGrp="1"/>
          </p:cNvSpPr>
          <p:nvPr>
            <p:ph type="title"/>
          </p:nvPr>
        </p:nvSpPr>
        <p:spPr/>
        <p:txBody>
          <a:bodyPr>
            <a:normAutofit fontScale="90000"/>
          </a:bodyPr>
          <a:lstStyle/>
          <a:p>
            <a:r>
              <a:rPr lang="en-US" altLang="zh-CN" dirty="0"/>
              <a:t>SOAP HTTP POST </a:t>
            </a:r>
            <a:r>
              <a:rPr lang="en-US" altLang="zh-CN" i="1" dirty="0"/>
              <a:t>Error</a:t>
            </a:r>
            <a:r>
              <a:rPr lang="en-US" altLang="zh-CN" dirty="0"/>
              <a:t> Response</a:t>
            </a:r>
            <a:endParaRPr lang="zh-CN" altLang="en-US" dirty="0"/>
          </a:p>
        </p:txBody>
      </p:sp>
      <p:sp>
        <p:nvSpPr>
          <p:cNvPr id="20483" name="灯片编号占位符 3">
            <a:extLst>
              <a:ext uri="{FF2B5EF4-FFF2-40B4-BE49-F238E27FC236}">
                <a16:creationId xmlns:a16="http://schemas.microsoft.com/office/drawing/2014/main" id="{F67ECE39-D5BE-48FD-9365-22C3C8E8E36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17</a:t>
            </a:fld>
            <a:endParaRPr lang="en-US" altLang="zh-CN" sz="1000"/>
          </a:p>
        </p:txBody>
      </p:sp>
      <p:sp>
        <p:nvSpPr>
          <p:cNvPr id="5" name="Text Box 4">
            <a:extLst>
              <a:ext uri="{FF2B5EF4-FFF2-40B4-BE49-F238E27FC236}">
                <a16:creationId xmlns:a16="http://schemas.microsoft.com/office/drawing/2014/main" id="{B63C7F35-141A-44CB-AD8E-9B156DEED2EA}"/>
              </a:ext>
            </a:extLst>
          </p:cNvPr>
          <p:cNvSpPr txBox="1">
            <a:spLocks noChangeArrowheads="1"/>
          </p:cNvSpPr>
          <p:nvPr/>
        </p:nvSpPr>
        <p:spPr bwMode="auto">
          <a:xfrm>
            <a:off x="107504" y="1962469"/>
            <a:ext cx="3816424" cy="4271939"/>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sv-SE" altLang="zh-CN" sz="1400" dirty="0">
                <a:latin typeface="Courier New" panose="02070309020205020404" pitchFamily="49" charset="0"/>
                <a:cs typeface="Courier New" panose="02070309020205020404" pitchFamily="49" charset="0"/>
              </a:rPr>
              <a:t>HTTP/1.1 500 Internal Server Error </a:t>
            </a:r>
          </a:p>
          <a:p>
            <a:pPr eaLnBrk="1" hangingPunct="1">
              <a:spcBef>
                <a:spcPct val="20000"/>
              </a:spcBef>
              <a:buClr>
                <a:schemeClr val="accent1"/>
              </a:buClr>
              <a:buFont typeface="Wingdings" panose="05000000000000000000" pitchFamily="2" charset="2"/>
              <a:buNone/>
              <a:defRPr/>
            </a:pPr>
            <a:r>
              <a:rPr lang="en-US" altLang="zh-CN" sz="1400" dirty="0">
                <a:latin typeface="Courier New" panose="02070309020205020404" pitchFamily="49" charset="0"/>
                <a:cs typeface="Courier New" panose="02070309020205020404" pitchFamily="49" charset="0"/>
              </a:rPr>
              <a:t>Content-Type: application/</a:t>
            </a:r>
            <a:r>
              <a:rPr lang="en-US" altLang="zh-CN" sz="1400" dirty="0" err="1">
                <a:latin typeface="Courier New" panose="02070309020205020404" pitchFamily="49" charset="0"/>
                <a:cs typeface="Courier New" panose="02070309020205020404" pitchFamily="49" charset="0"/>
              </a:rPr>
              <a:t>soap+xml</a:t>
            </a:r>
            <a:r>
              <a:rPr lang="en-US" altLang="zh-CN" sz="1400" dirty="0">
                <a:latin typeface="Courier New" panose="02070309020205020404" pitchFamily="49" charset="0"/>
                <a:cs typeface="Courier New" panose="02070309020205020404" pitchFamily="49" charset="0"/>
              </a:rPr>
              <a:t>; </a:t>
            </a:r>
            <a:r>
              <a:rPr lang="en-US" altLang="zh-CN" sz="1400" dirty="0" err="1">
                <a:latin typeface="Courier New" panose="02070309020205020404" pitchFamily="49" charset="0"/>
                <a:cs typeface="Courier New" panose="02070309020205020404" pitchFamily="49" charset="0"/>
              </a:rPr>
              <a:t>charset</a:t>
            </a:r>
            <a:r>
              <a:rPr lang="en-US" altLang="zh-CN" sz="1400" dirty="0">
                <a:latin typeface="Courier New" panose="02070309020205020404" pitchFamily="49" charset="0"/>
                <a:cs typeface="Courier New" panose="02070309020205020404" pitchFamily="49" charset="0"/>
              </a:rPr>
              <a:t>="utf-8" </a:t>
            </a:r>
          </a:p>
          <a:p>
            <a:pPr eaLnBrk="1" hangingPunct="1">
              <a:spcBef>
                <a:spcPct val="20000"/>
              </a:spcBef>
              <a:buClr>
                <a:schemeClr val="accent1"/>
              </a:buClr>
              <a:buFont typeface="Wingdings" panose="05000000000000000000" pitchFamily="2" charset="2"/>
              <a:buNone/>
              <a:defRPr/>
            </a:pPr>
            <a:r>
              <a:rPr lang="en-US" altLang="zh-CN" sz="1400" dirty="0">
                <a:latin typeface="Courier New" panose="02070309020205020404" pitchFamily="49" charset="0"/>
                <a:cs typeface="Courier New" panose="02070309020205020404" pitchFamily="49" charset="0"/>
              </a:rPr>
              <a:t>Content-Length: </a:t>
            </a:r>
            <a:r>
              <a:rPr lang="en-US" altLang="zh-CN" sz="1400" i="1" dirty="0" err="1">
                <a:latin typeface="Courier New" panose="02070309020205020404" pitchFamily="49" charset="0"/>
                <a:cs typeface="Courier New" panose="02070309020205020404" pitchFamily="49" charset="0"/>
              </a:rPr>
              <a:t>nnnn</a:t>
            </a:r>
            <a:r>
              <a:rPr lang="en-US" altLang="zh-CN" sz="1400" i="1" dirty="0">
                <a:latin typeface="Courier New" panose="02070309020205020404" pitchFamily="49" charset="0"/>
                <a:cs typeface="Courier New" panose="02070309020205020404" pitchFamily="49" charset="0"/>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env:Fault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env:Code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env:Value</a:t>
            </a:r>
            <a:r>
              <a:rPr lang="en-US" altLang="zh-CN" sz="1400" dirty="0">
                <a:solidFill>
                  <a:srgbClr val="0000FF"/>
                </a:solidFill>
                <a:highlight>
                  <a:srgbClr val="FFFFFF"/>
                </a:highlight>
                <a:latin typeface="Arial"/>
              </a:rPr>
              <a:t>&gt;</a:t>
            </a:r>
            <a:r>
              <a:rPr lang="en-US" altLang="zh-CN" sz="1400" dirty="0" err="1">
                <a:solidFill>
                  <a:srgbClr val="000000"/>
                </a:solidFill>
                <a:highlight>
                  <a:srgbClr val="FFFFFF"/>
                </a:highlight>
                <a:latin typeface="Arial"/>
              </a:rPr>
              <a:t>env:Sender</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env:Value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env:Subcode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env:Value</a:t>
            </a:r>
            <a:r>
              <a:rPr lang="en-US" altLang="zh-CN" sz="1400" dirty="0">
                <a:solidFill>
                  <a:srgbClr val="0000FF"/>
                </a:solidFill>
                <a:highlight>
                  <a:srgbClr val="FFFFFF"/>
                </a:highlight>
                <a:latin typeface="Arial"/>
              </a:rPr>
              <a:t>&gt;</a:t>
            </a:r>
            <a:r>
              <a:rPr lang="en-US" altLang="zh-CN" sz="1400" dirty="0" err="1">
                <a:solidFill>
                  <a:srgbClr val="000000"/>
                </a:solidFill>
                <a:highlight>
                  <a:srgbClr val="FFFFFF"/>
                </a:highlight>
                <a:latin typeface="Arial"/>
              </a:rPr>
              <a:t>rpc:BadArguments</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env:Value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env:Subcode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env:Code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Line 6">
            <a:extLst>
              <a:ext uri="{FF2B5EF4-FFF2-40B4-BE49-F238E27FC236}">
                <a16:creationId xmlns:a16="http://schemas.microsoft.com/office/drawing/2014/main" id="{D6F7A9B5-FB99-4277-918C-583DCAF3C7B6}"/>
              </a:ext>
            </a:extLst>
          </p:cNvPr>
          <p:cNvSpPr>
            <a:spLocks noChangeShapeType="1"/>
          </p:cNvSpPr>
          <p:nvPr/>
        </p:nvSpPr>
        <p:spPr bwMode="auto">
          <a:xfrm flipH="1">
            <a:off x="1476375" y="1557338"/>
            <a:ext cx="1800225" cy="4318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E223209C-2893-4A4A-B9D6-256FE9DB8CD2}"/>
              </a:ext>
            </a:extLst>
          </p:cNvPr>
          <p:cNvSpPr txBox="1">
            <a:spLocks noChangeArrowheads="1"/>
          </p:cNvSpPr>
          <p:nvPr/>
        </p:nvSpPr>
        <p:spPr bwMode="auto">
          <a:xfrm>
            <a:off x="3276600" y="1330325"/>
            <a:ext cx="3602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500 indicate </a:t>
            </a:r>
            <a:r>
              <a:rPr lang="en-US" altLang="zh-CN" sz="1800" i="1">
                <a:solidFill>
                  <a:srgbClr val="FF0000"/>
                </a:solidFill>
              </a:rPr>
              <a:t>Internal Server Error</a:t>
            </a:r>
            <a:endParaRPr lang="en-US" altLang="zh-CN" sz="1800"/>
          </a:p>
        </p:txBody>
      </p:sp>
      <p:sp>
        <p:nvSpPr>
          <p:cNvPr id="8" name="Text Box 4">
            <a:extLst>
              <a:ext uri="{FF2B5EF4-FFF2-40B4-BE49-F238E27FC236}">
                <a16:creationId xmlns:a16="http://schemas.microsoft.com/office/drawing/2014/main" id="{2E9D2A31-AF3C-4A21-9B69-48240C815817}"/>
              </a:ext>
            </a:extLst>
          </p:cNvPr>
          <p:cNvSpPr txBox="1">
            <a:spLocks noChangeArrowheads="1"/>
          </p:cNvSpPr>
          <p:nvPr/>
        </p:nvSpPr>
        <p:spPr bwMode="auto">
          <a:xfrm>
            <a:off x="4104438" y="2027916"/>
            <a:ext cx="4897524" cy="4142673"/>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env:Reason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env:Text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xml:lang</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en</a:t>
            </a:r>
            <a:r>
              <a:rPr lang="en-US" altLang="zh-CN" sz="1400" dirty="0">
                <a:solidFill>
                  <a:srgbClr val="000000"/>
                </a:solidFill>
                <a:highlight>
                  <a:srgbClr val="FFFFFF"/>
                </a:highlight>
                <a:latin typeface="Arial"/>
              </a:rPr>
              <a:t>-US</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Processing error</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env:Text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env:Text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xml:lang</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cs</a:t>
            </a:r>
            <a:r>
              <a:rPr lang="en-US" altLang="zh-CN" sz="1400" dirty="0">
                <a:solidFill>
                  <a:srgbClr val="0000FF"/>
                </a:solidFill>
                <a:highlight>
                  <a:srgbClr val="FFFFFF"/>
                </a:highlight>
                <a:latin typeface="Arial"/>
              </a:rPr>
              <a:t>"&gt;</a:t>
            </a:r>
            <a:r>
              <a:rPr lang="en-US" altLang="zh-CN" sz="1400" dirty="0" err="1">
                <a:solidFill>
                  <a:srgbClr val="000000"/>
                </a:solidFill>
                <a:highlight>
                  <a:srgbClr val="FFFFFF"/>
                </a:highlight>
                <a:latin typeface="Arial"/>
              </a:rPr>
              <a:t>Chyba</a:t>
            </a: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zpracování</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env:Text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env:Reason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env:Detail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e:myFaultDetails</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http://travelcompany.example.org/faults</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e:message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Name does not match card number</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e:message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e:errorcode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999</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e:errorcode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e:myFaultDetails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env:Detail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env:Fault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0000FF"/>
                </a:solidFill>
                <a:highlight>
                  <a:srgbClr val="FFFFFF"/>
                </a:highlight>
                <a:latin typeface="Arial"/>
              </a:rPr>
              <a:t>&gt;</a:t>
            </a:r>
            <a:endParaRPr lang="zh-CN" altLang="zh-CN" sz="1400" kern="100" dirty="0">
              <a:latin typeface="Calibri"/>
              <a:ea typeface="宋体"/>
              <a:cs typeface="Times New Roman"/>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B38242-C3EB-4C52-8953-98AB313A01CD}"/>
              </a:ext>
            </a:extLst>
          </p:cNvPr>
          <p:cNvSpPr>
            <a:spLocks noGrp="1"/>
          </p:cNvSpPr>
          <p:nvPr>
            <p:ph type="title"/>
          </p:nvPr>
        </p:nvSpPr>
        <p:spPr/>
        <p:txBody>
          <a:bodyPr>
            <a:noAutofit/>
          </a:bodyPr>
          <a:lstStyle/>
          <a:p>
            <a:pPr>
              <a:defRPr/>
            </a:pPr>
            <a:r>
              <a:rPr lang="en-US" altLang="zh-CN" sz="2800" dirty="0"/>
              <a:t>Web Architecture Compatible</a:t>
            </a:r>
            <a:br>
              <a:rPr lang="en-US" altLang="zh-CN" sz="2800" dirty="0"/>
            </a:br>
            <a:r>
              <a:rPr lang="en-US" altLang="zh-CN" sz="2800" dirty="0"/>
              <a:t> SOAP Usage (1/7)</a:t>
            </a:r>
            <a:endParaRPr lang="zh-CN" altLang="en-US" sz="2800" dirty="0"/>
          </a:p>
        </p:txBody>
      </p:sp>
      <p:sp>
        <p:nvSpPr>
          <p:cNvPr id="22531" name="内容占位符 2">
            <a:extLst>
              <a:ext uri="{FF2B5EF4-FFF2-40B4-BE49-F238E27FC236}">
                <a16:creationId xmlns:a16="http://schemas.microsoft.com/office/drawing/2014/main" id="{CBC16BA4-A4EE-4D5D-A894-D6C350B09C13}"/>
              </a:ext>
            </a:extLst>
          </p:cNvPr>
          <p:cNvSpPr>
            <a:spLocks noGrp="1"/>
          </p:cNvSpPr>
          <p:nvPr>
            <p:ph idx="1"/>
          </p:nvPr>
        </p:nvSpPr>
        <p:spPr/>
        <p:txBody>
          <a:bodyPr/>
          <a:lstStyle/>
          <a:p>
            <a:r>
              <a:rPr lang="en-US" altLang="zh-CN" sz="1800"/>
              <a:t>When SOAP messages are designed for pure information retrieval, such as when the state of some resource (or object, in programming terms) is requested, the representation of an available resource</a:t>
            </a:r>
            <a:r>
              <a:rPr lang="zh-CN" altLang="en-US" sz="1800"/>
              <a:t> </a:t>
            </a:r>
            <a:r>
              <a:rPr lang="en-US" altLang="zh-CN" sz="1800"/>
              <a:t>(identified by a URI), is fetched using a HTTP GET request without affecting the resource in any way</a:t>
            </a:r>
          </a:p>
          <a:p>
            <a:pPr lvl="1"/>
            <a:r>
              <a:rPr lang="en-US" altLang="zh-CN" sz="1800"/>
              <a:t>This is called a </a:t>
            </a:r>
            <a:r>
              <a:rPr lang="en-US" altLang="zh-CN" sz="1800">
                <a:hlinkClick r:id="rId3"/>
              </a:rPr>
              <a:t>safe and idempotent method</a:t>
            </a:r>
            <a:r>
              <a:rPr lang="en-US" altLang="zh-CN" sz="1800"/>
              <a:t> in HTTP terminology</a:t>
            </a:r>
          </a:p>
          <a:p>
            <a:pPr lvl="1"/>
            <a:r>
              <a:rPr lang="en-US" altLang="zh-CN" sz="1800"/>
              <a:t>The key point is that the publisher of a resource makes available its URI, which consumers may "GET"</a:t>
            </a:r>
          </a:p>
          <a:p>
            <a:r>
              <a:rPr lang="en-US" altLang="zh-CN" sz="1800"/>
              <a:t>However, if we use SOAP body to carry the request for the state, with an element of the body representing the object in question, is seen as </a:t>
            </a:r>
            <a:r>
              <a:rPr lang="en-US" altLang="zh-CN" sz="1800">
                <a:solidFill>
                  <a:srgbClr val="FF0000"/>
                </a:solidFill>
              </a:rPr>
              <a:t>counter</a:t>
            </a:r>
            <a:r>
              <a:rPr lang="en-US" altLang="zh-CN" sz="1800"/>
              <a:t> to the spirit of the Web because the resource is not identified by the Request-URI of the HTTP GET</a:t>
            </a:r>
          </a:p>
          <a:p>
            <a:pPr lvl="1"/>
            <a:r>
              <a:rPr lang="en-US" altLang="zh-CN" sz="1800"/>
              <a:t>In some SOAP/RPC implementations, the HTTP Request-URI is often not the identifier of the resource itself but some intermediate entity which has to evaluate the SOAP message to identify the resource</a:t>
            </a:r>
          </a:p>
        </p:txBody>
      </p:sp>
      <p:sp>
        <p:nvSpPr>
          <p:cNvPr id="22532" name="灯片编号占位符 3">
            <a:extLst>
              <a:ext uri="{FF2B5EF4-FFF2-40B4-BE49-F238E27FC236}">
                <a16:creationId xmlns:a16="http://schemas.microsoft.com/office/drawing/2014/main" id="{B78CB7CA-E59D-43B3-BD26-9589342216F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18</a:t>
            </a:fld>
            <a:endParaRPr lang="en-US" altLang="zh-CN" sz="100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0E546-8A82-4447-98BD-44401547D651}"/>
              </a:ext>
            </a:extLst>
          </p:cNvPr>
          <p:cNvSpPr>
            <a:spLocks noGrp="1"/>
          </p:cNvSpPr>
          <p:nvPr>
            <p:ph type="title"/>
          </p:nvPr>
        </p:nvSpPr>
        <p:spPr/>
        <p:txBody>
          <a:bodyPr>
            <a:noAutofit/>
          </a:bodyPr>
          <a:lstStyle/>
          <a:p>
            <a:pPr>
              <a:defRPr/>
            </a:pPr>
            <a:r>
              <a:rPr lang="en-US" altLang="zh-CN" sz="2800" dirty="0"/>
              <a:t>Web Architecture Compatible </a:t>
            </a:r>
            <a:br>
              <a:rPr lang="en-US" altLang="zh-CN" sz="2800" dirty="0"/>
            </a:br>
            <a:r>
              <a:rPr lang="en-US" altLang="zh-CN" sz="2800" dirty="0"/>
              <a:t>SOAP Usage (2/7)</a:t>
            </a:r>
            <a:endParaRPr lang="zh-CN" altLang="en-US" sz="2800" dirty="0"/>
          </a:p>
        </p:txBody>
      </p:sp>
      <p:sp>
        <p:nvSpPr>
          <p:cNvPr id="24579" name="灯片编号占位符 3">
            <a:extLst>
              <a:ext uri="{FF2B5EF4-FFF2-40B4-BE49-F238E27FC236}">
                <a16:creationId xmlns:a16="http://schemas.microsoft.com/office/drawing/2014/main" id="{5A11BEFC-7C97-4F84-922A-08DB6F86C4D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19</a:t>
            </a:fld>
            <a:endParaRPr lang="en-US" altLang="zh-CN" sz="1000"/>
          </a:p>
        </p:txBody>
      </p:sp>
      <p:sp>
        <p:nvSpPr>
          <p:cNvPr id="5" name="Text Box 4">
            <a:extLst>
              <a:ext uri="{FF2B5EF4-FFF2-40B4-BE49-F238E27FC236}">
                <a16:creationId xmlns:a16="http://schemas.microsoft.com/office/drawing/2014/main" id="{634CD6A1-3E71-4EB6-98B2-D8DB30CC2338}"/>
              </a:ext>
            </a:extLst>
          </p:cNvPr>
          <p:cNvSpPr txBox="1">
            <a:spLocks noGrp="1" noChangeArrowheads="1"/>
          </p:cNvSpPr>
          <p:nvPr>
            <p:ph idx="1"/>
          </p:nvPr>
        </p:nvSpPr>
        <p:spPr>
          <a:xfrm>
            <a:off x="467544" y="1988840"/>
            <a:ext cx="8229600" cy="3927229"/>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400" dirty="0">
                <a:latin typeface="Courier New" pitchFamily="49" charset="0"/>
                <a:cs typeface="Courier New" pitchFamily="49" charset="0"/>
              </a:rPr>
              <a:t>POST /Reservations HTTP/1.1</a:t>
            </a:r>
          </a:p>
          <a:p>
            <a:pPr>
              <a:buFont typeface="Wingdings" panose="05000000000000000000" pitchFamily="2" charset="2"/>
              <a:buNone/>
              <a:defRPr/>
            </a:pPr>
            <a:r>
              <a:rPr lang="en-US" altLang="zh-CN" sz="1400" dirty="0">
                <a:latin typeface="Courier New" pitchFamily="49" charset="0"/>
                <a:cs typeface="Courier New" pitchFamily="49" charset="0"/>
              </a:rPr>
              <a:t>Host: travelcompany.example.org</a:t>
            </a:r>
          </a:p>
          <a:p>
            <a:pPr>
              <a:buFont typeface="Wingdings" panose="05000000000000000000" pitchFamily="2" charset="2"/>
              <a:buNone/>
              <a:defRPr/>
            </a:pPr>
            <a:r>
              <a:rPr lang="en-US" altLang="zh-CN" sz="1400" dirty="0">
                <a:latin typeface="Courier New" pitchFamily="49" charset="0"/>
                <a:cs typeface="Courier New" pitchFamily="49" charset="0"/>
              </a:rPr>
              <a:t>Content-Type: application/</a:t>
            </a:r>
            <a:r>
              <a:rPr lang="en-US" altLang="zh-CN" sz="1400" dirty="0" err="1">
                <a:latin typeface="Courier New" pitchFamily="49" charset="0"/>
                <a:cs typeface="Courier New" pitchFamily="49" charset="0"/>
              </a:rPr>
              <a:t>soap+xml</a:t>
            </a:r>
            <a:r>
              <a:rPr lang="en-US" altLang="zh-CN" sz="1400" dirty="0">
                <a:latin typeface="Courier New" pitchFamily="49" charset="0"/>
                <a:cs typeface="Courier New" pitchFamily="49" charset="0"/>
              </a:rPr>
              <a:t>; </a:t>
            </a:r>
            <a:r>
              <a:rPr lang="en-US" altLang="zh-CN" sz="1400" dirty="0" err="1">
                <a:latin typeface="Courier New" pitchFamily="49" charset="0"/>
                <a:cs typeface="Courier New" pitchFamily="49" charset="0"/>
              </a:rPr>
              <a:t>charset</a:t>
            </a:r>
            <a:r>
              <a:rPr lang="en-US" altLang="zh-CN" sz="1400" dirty="0">
                <a:latin typeface="Courier New" pitchFamily="49" charset="0"/>
                <a:cs typeface="Courier New" pitchFamily="49" charset="0"/>
              </a:rPr>
              <a:t>="utf-8"</a:t>
            </a:r>
          </a:p>
          <a:p>
            <a:pPr>
              <a:buFont typeface="Wingdings" panose="05000000000000000000" pitchFamily="2" charset="2"/>
              <a:buNone/>
              <a:defRPr/>
            </a:pPr>
            <a:r>
              <a:rPr lang="en-US" altLang="zh-CN" sz="1400" dirty="0">
                <a:latin typeface="Courier New" pitchFamily="49" charset="0"/>
                <a:cs typeface="Courier New" pitchFamily="49" charset="0"/>
              </a:rPr>
              <a:t>Content-Length: </a:t>
            </a:r>
            <a:r>
              <a:rPr lang="en-US" altLang="zh-CN" sz="1400" i="1" dirty="0" err="1">
                <a:latin typeface="Courier New" pitchFamily="49" charset="0"/>
                <a:cs typeface="Courier New" pitchFamily="49" charset="0"/>
              </a:rPr>
              <a:t>nnnn</a:t>
            </a:r>
            <a:endParaRPr lang="en-US" altLang="zh-CN" sz="1400" i="1" dirty="0">
              <a:latin typeface="Courier New" pitchFamily="49" charset="0"/>
              <a:cs typeface="Courier New" pitchFamily="49" charset="0"/>
            </a:endParaRPr>
          </a:p>
          <a:p>
            <a:pPr>
              <a:defRPr/>
            </a:pPr>
            <a:endParaRPr lang="zh-CN" altLang="en-US" sz="1400" dirty="0"/>
          </a:p>
          <a:p>
            <a:pPr>
              <a:buFont typeface="Wingdings" panose="05000000000000000000" pitchFamily="2" charset="2"/>
              <a:buNone/>
              <a:defRPr/>
            </a:pPr>
            <a:r>
              <a:rPr lang="en-US" altLang="zh-CN" sz="1400" dirty="0">
                <a:solidFill>
                  <a:srgbClr val="008080"/>
                </a:solidFill>
                <a:highlight>
                  <a:srgbClr val="FFFFFF"/>
                </a:highlight>
              </a:rPr>
              <a:t>&lt;?xml version='1.0' ?&gt;</a:t>
            </a:r>
            <a:endParaRPr lang="en-US" altLang="zh-CN"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FF"/>
                </a:solidFill>
                <a:highlight>
                  <a:srgbClr val="FFFFFF"/>
                </a:highlight>
              </a:rPr>
              <a:t>&lt;</a:t>
            </a:r>
            <a:r>
              <a:rPr lang="en-US" altLang="zh-CN" sz="1400" dirty="0" err="1">
                <a:solidFill>
                  <a:srgbClr val="800000"/>
                </a:solidFill>
                <a:highlight>
                  <a:srgbClr val="FFFFFF"/>
                </a:highlight>
              </a:rPr>
              <a:t>env:Envelope</a:t>
            </a:r>
            <a:r>
              <a:rPr lang="en-US" altLang="zh-CN" sz="1400" dirty="0">
                <a:solidFill>
                  <a:srgbClr val="FF0000"/>
                </a:solidFill>
                <a:highlight>
                  <a:srgbClr val="FFFFFF"/>
                </a:highlight>
              </a:rPr>
              <a:t> </a:t>
            </a:r>
            <a:r>
              <a:rPr lang="en-US" altLang="zh-CN" sz="1400" dirty="0" err="1">
                <a:solidFill>
                  <a:srgbClr val="FF0000"/>
                </a:solidFill>
                <a:highlight>
                  <a:srgbClr val="FFFFFF"/>
                </a:highlight>
              </a:rPr>
              <a:t>xmlns:env</a:t>
            </a:r>
            <a:r>
              <a:rPr lang="en-US" altLang="zh-CN" sz="1400" dirty="0">
                <a:solidFill>
                  <a:srgbClr val="0000FF"/>
                </a:solidFill>
                <a:highlight>
                  <a:srgbClr val="FFFFFF"/>
                </a:highlight>
              </a:rPr>
              <a:t>="</a:t>
            </a:r>
            <a:r>
              <a:rPr lang="en-US" altLang="zh-CN" sz="1400" dirty="0">
                <a:solidFill>
                  <a:srgbClr val="000000"/>
                </a:solidFill>
                <a:highlight>
                  <a:srgbClr val="FFFFFF"/>
                </a:highlight>
              </a:rPr>
              <a:t>http://www.w3.org/2003/05/soap-envelope</a:t>
            </a:r>
            <a:r>
              <a:rPr lang="en-US" altLang="zh-CN" sz="1400" dirty="0">
                <a:solidFill>
                  <a:srgbClr val="0000FF"/>
                </a:solidFill>
                <a:highlight>
                  <a:srgbClr val="FFFFFF"/>
                </a:highlight>
              </a:rPr>
              <a:t>"</a:t>
            </a:r>
            <a:r>
              <a:rPr lang="en-US" altLang="zh-CN" sz="1400" dirty="0">
                <a:solidFill>
                  <a:srgbClr val="FF0000"/>
                </a:solidFill>
                <a:highlight>
                  <a:srgbClr val="FFFFFF"/>
                </a:highlight>
              </a:rPr>
              <a:t> </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00"/>
                </a:solidFill>
                <a:highlight>
                  <a:srgbClr val="FFFFFF"/>
                </a:highlight>
              </a:rPr>
              <a:t>  </a:t>
            </a:r>
            <a:r>
              <a:rPr lang="en-US" altLang="zh-CN" sz="1400" dirty="0">
                <a:solidFill>
                  <a:srgbClr val="0000FF"/>
                </a:solidFill>
                <a:highlight>
                  <a:srgbClr val="FFFFFF"/>
                </a:highlight>
              </a:rPr>
              <a:t>&lt;</a:t>
            </a:r>
            <a:r>
              <a:rPr lang="en-US" altLang="zh-CN" sz="1400" dirty="0" err="1">
                <a:solidFill>
                  <a:srgbClr val="800000"/>
                </a:solidFill>
                <a:highlight>
                  <a:srgbClr val="FFFFFF"/>
                </a:highlight>
              </a:rPr>
              <a:t>env:Body</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00"/>
                </a:solidFill>
                <a:highlight>
                  <a:srgbClr val="FFFFFF"/>
                </a:highlight>
              </a:rPr>
              <a:t>    </a:t>
            </a:r>
            <a:r>
              <a:rPr lang="en-US" altLang="zh-CN" sz="1400" dirty="0">
                <a:solidFill>
                  <a:srgbClr val="0000FF"/>
                </a:solidFill>
                <a:highlight>
                  <a:srgbClr val="FFFFFF"/>
                </a:highlight>
              </a:rPr>
              <a:t>&lt;</a:t>
            </a:r>
            <a:r>
              <a:rPr lang="en-US" altLang="zh-CN" sz="1400" dirty="0">
                <a:solidFill>
                  <a:srgbClr val="800000"/>
                </a:solidFill>
                <a:highlight>
                  <a:srgbClr val="FFFFFF"/>
                </a:highlight>
              </a:rPr>
              <a:t>m:retrieveItinerary</a:t>
            </a:r>
            <a:r>
              <a:rPr lang="en-US" altLang="zh-CN" sz="1400" dirty="0">
                <a:solidFill>
                  <a:srgbClr val="FF0000"/>
                </a:solidFill>
                <a:highlight>
                  <a:srgbClr val="FFFFFF"/>
                </a:highlight>
              </a:rPr>
              <a:t> </a:t>
            </a:r>
          </a:p>
          <a:p>
            <a:pPr>
              <a:buFont typeface="Wingdings" panose="05000000000000000000" pitchFamily="2" charset="2"/>
              <a:buNone/>
              <a:defRPr/>
            </a:pPr>
            <a:r>
              <a:rPr lang="en-US" altLang="zh-CN" sz="1400" dirty="0">
                <a:solidFill>
                  <a:srgbClr val="FF0000"/>
                </a:solidFill>
                <a:highlight>
                  <a:srgbClr val="FFFFFF"/>
                </a:highlight>
              </a:rPr>
              <a:t>        </a:t>
            </a:r>
            <a:r>
              <a:rPr lang="en-US" altLang="zh-CN" sz="1400" dirty="0" err="1">
                <a:solidFill>
                  <a:srgbClr val="FF0000"/>
                </a:solidFill>
                <a:highlight>
                  <a:srgbClr val="FFFFFF"/>
                </a:highlight>
              </a:rPr>
              <a:t>env:encodingStyle</a:t>
            </a:r>
            <a:r>
              <a:rPr lang="en-US" altLang="zh-CN" sz="1400" dirty="0">
                <a:solidFill>
                  <a:srgbClr val="0000FF"/>
                </a:solidFill>
                <a:highlight>
                  <a:srgbClr val="FFFFFF"/>
                </a:highlight>
              </a:rPr>
              <a:t>="</a:t>
            </a:r>
            <a:r>
              <a:rPr lang="en-US" altLang="zh-CN" sz="1400" dirty="0">
                <a:solidFill>
                  <a:srgbClr val="000000"/>
                </a:solidFill>
                <a:highlight>
                  <a:srgbClr val="FFFFFF"/>
                </a:highlight>
              </a:rPr>
              <a:t>http://www.w3.org/2003/05/soap-encoding</a:t>
            </a:r>
            <a:r>
              <a:rPr lang="en-US" altLang="zh-CN" sz="1400" dirty="0">
                <a:solidFill>
                  <a:srgbClr val="0000FF"/>
                </a:solidFill>
                <a:highlight>
                  <a:srgbClr val="FFFFFF"/>
                </a:highlight>
              </a:rPr>
              <a:t>"</a:t>
            </a:r>
            <a:endParaRPr lang="en-US" altLang="zh-CN" sz="1400" dirty="0">
              <a:solidFill>
                <a:srgbClr val="FF0000"/>
              </a:solidFill>
              <a:highlight>
                <a:srgbClr val="FFFFFF"/>
              </a:highlight>
            </a:endParaRPr>
          </a:p>
          <a:p>
            <a:pPr>
              <a:buFont typeface="Wingdings" panose="05000000000000000000" pitchFamily="2" charset="2"/>
              <a:buNone/>
              <a:defRPr/>
            </a:pPr>
            <a:r>
              <a:rPr lang="en-US" altLang="zh-CN" sz="1400" dirty="0">
                <a:solidFill>
                  <a:srgbClr val="FF0000"/>
                </a:solidFill>
                <a:highlight>
                  <a:srgbClr val="FFFFFF"/>
                </a:highlight>
              </a:rPr>
              <a:t>             </a:t>
            </a:r>
            <a:r>
              <a:rPr lang="en-US" altLang="zh-CN" sz="1400" dirty="0" err="1">
                <a:solidFill>
                  <a:srgbClr val="FF0000"/>
                </a:solidFill>
                <a:highlight>
                  <a:srgbClr val="FFFFFF"/>
                </a:highlight>
              </a:rPr>
              <a:t>xmlns:m</a:t>
            </a:r>
            <a:r>
              <a:rPr lang="en-US" altLang="zh-CN" sz="1400" dirty="0">
                <a:solidFill>
                  <a:srgbClr val="0000FF"/>
                </a:solidFill>
                <a:highlight>
                  <a:srgbClr val="FFFFFF"/>
                </a:highlight>
              </a:rPr>
              <a:t>="</a:t>
            </a:r>
            <a:r>
              <a:rPr lang="en-US" altLang="zh-CN" sz="1400" dirty="0">
                <a:solidFill>
                  <a:srgbClr val="000000"/>
                </a:solidFill>
                <a:highlight>
                  <a:srgbClr val="FFFFFF"/>
                </a:highlight>
              </a:rPr>
              <a:t>http://travelcompany.example.org/</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00"/>
                </a:solidFill>
                <a:highlight>
                  <a:srgbClr val="FFFFFF"/>
                </a:highlight>
              </a:rPr>
              <a:t>      </a:t>
            </a:r>
            <a:r>
              <a:rPr lang="en-US" altLang="zh-CN" sz="1400" dirty="0">
                <a:solidFill>
                  <a:srgbClr val="0000FF"/>
                </a:solidFill>
                <a:highlight>
                  <a:srgbClr val="FFFFFF"/>
                </a:highlight>
              </a:rPr>
              <a:t>&lt;</a:t>
            </a:r>
            <a:r>
              <a:rPr lang="en-US" altLang="zh-CN" sz="1400" dirty="0">
                <a:solidFill>
                  <a:srgbClr val="800000"/>
                </a:solidFill>
                <a:highlight>
                  <a:srgbClr val="FFFFFF"/>
                </a:highlight>
              </a:rPr>
              <a:t>m:reservationCode</a:t>
            </a:r>
            <a:r>
              <a:rPr lang="en-US" altLang="zh-CN" sz="1400" dirty="0">
                <a:solidFill>
                  <a:srgbClr val="0000FF"/>
                </a:solidFill>
                <a:highlight>
                  <a:srgbClr val="FFFFFF"/>
                </a:highlight>
              </a:rPr>
              <a:t>&gt;</a:t>
            </a:r>
            <a:r>
              <a:rPr lang="en-US" altLang="zh-CN" sz="1400" dirty="0">
                <a:solidFill>
                  <a:srgbClr val="000000"/>
                </a:solidFill>
                <a:highlight>
                  <a:srgbClr val="FFFFFF"/>
                </a:highlight>
              </a:rPr>
              <a:t>FT35ZBQ</a:t>
            </a:r>
            <a:r>
              <a:rPr lang="en-US" altLang="zh-CN" sz="1400" dirty="0">
                <a:solidFill>
                  <a:srgbClr val="0000FF"/>
                </a:solidFill>
                <a:highlight>
                  <a:srgbClr val="FFFFFF"/>
                </a:highlight>
              </a:rPr>
              <a:t>&lt;/</a:t>
            </a:r>
            <a:r>
              <a:rPr lang="en-US" altLang="zh-CN" sz="1400" dirty="0">
                <a:solidFill>
                  <a:srgbClr val="800000"/>
                </a:solidFill>
                <a:highlight>
                  <a:srgbClr val="FFFFFF"/>
                </a:highlight>
              </a:rPr>
              <a:t>m:reservationCode</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00"/>
                </a:solidFill>
                <a:highlight>
                  <a:srgbClr val="FFFFFF"/>
                </a:highlight>
              </a:rPr>
              <a:t>    </a:t>
            </a:r>
            <a:r>
              <a:rPr lang="en-US" altLang="zh-CN" sz="1400" dirty="0">
                <a:solidFill>
                  <a:srgbClr val="0000FF"/>
                </a:solidFill>
                <a:highlight>
                  <a:srgbClr val="FFFFFF"/>
                </a:highlight>
              </a:rPr>
              <a:t>&lt;/</a:t>
            </a:r>
            <a:r>
              <a:rPr lang="en-US" altLang="zh-CN" sz="1400" dirty="0">
                <a:solidFill>
                  <a:srgbClr val="800000"/>
                </a:solidFill>
                <a:highlight>
                  <a:srgbClr val="FFFFFF"/>
                </a:highlight>
              </a:rPr>
              <a:t>m:retrieveItinerary</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00"/>
                </a:solidFill>
                <a:highlight>
                  <a:srgbClr val="FFFFFF"/>
                </a:highlight>
              </a:rPr>
              <a:t>  </a:t>
            </a:r>
            <a:r>
              <a:rPr lang="en-US" altLang="zh-CN" sz="1400" dirty="0">
                <a:solidFill>
                  <a:srgbClr val="0000FF"/>
                </a:solidFill>
                <a:highlight>
                  <a:srgbClr val="FFFFFF"/>
                </a:highlight>
              </a:rPr>
              <a:t>&lt;/</a:t>
            </a:r>
            <a:r>
              <a:rPr lang="en-US" altLang="zh-CN" sz="1400" dirty="0" err="1">
                <a:solidFill>
                  <a:srgbClr val="800000"/>
                </a:solidFill>
                <a:highlight>
                  <a:srgbClr val="FFFFFF"/>
                </a:highlight>
              </a:rPr>
              <a:t>env:Body</a:t>
            </a:r>
            <a:r>
              <a:rPr lang="en-US" altLang="zh-CN" sz="1400" dirty="0">
                <a:solidFill>
                  <a:srgbClr val="0000FF"/>
                </a:solidFill>
                <a:highlight>
                  <a:srgbClr val="FFFFFF"/>
                </a:highlight>
              </a:rPr>
              <a:t>&gt;</a:t>
            </a:r>
            <a:endParaRPr lang="en-US" altLang="zh-CN" sz="1400" dirty="0">
              <a:solidFill>
                <a:srgbClr val="000000"/>
              </a:solidFill>
              <a:highlight>
                <a:srgbClr val="FFFFFF"/>
              </a:highlight>
            </a:endParaRPr>
          </a:p>
          <a:p>
            <a:pPr>
              <a:buFont typeface="Wingdings" panose="05000000000000000000" pitchFamily="2" charset="2"/>
              <a:buNone/>
              <a:defRPr/>
            </a:pPr>
            <a:r>
              <a:rPr lang="en-US" altLang="zh-CN" sz="1400" dirty="0">
                <a:solidFill>
                  <a:srgbClr val="0000FF"/>
                </a:solidFill>
                <a:highlight>
                  <a:srgbClr val="FFFFFF"/>
                </a:highlight>
              </a:rPr>
              <a:t>&lt;/</a:t>
            </a:r>
            <a:r>
              <a:rPr lang="en-US" altLang="zh-CN" sz="1400" dirty="0" err="1">
                <a:solidFill>
                  <a:srgbClr val="800000"/>
                </a:solidFill>
                <a:highlight>
                  <a:srgbClr val="FFFFFF"/>
                </a:highlight>
              </a:rPr>
              <a:t>env:Envelope</a:t>
            </a:r>
            <a:r>
              <a:rPr lang="en-US" altLang="zh-CN" sz="1400" dirty="0">
                <a:solidFill>
                  <a:srgbClr val="0000FF"/>
                </a:solidFill>
                <a:highlight>
                  <a:srgbClr val="FFFFFF"/>
                </a:highlight>
              </a:rPr>
              <a:t>&gt;</a:t>
            </a:r>
            <a:endParaRPr lang="zh-CN" altLang="zh-CN" sz="1400" kern="100" dirty="0">
              <a:latin typeface="Calibri"/>
              <a:cs typeface="Times New Roman"/>
            </a:endParaRPr>
          </a:p>
        </p:txBody>
      </p:sp>
      <p:sp>
        <p:nvSpPr>
          <p:cNvPr id="6" name="Line 6">
            <a:extLst>
              <a:ext uri="{FF2B5EF4-FFF2-40B4-BE49-F238E27FC236}">
                <a16:creationId xmlns:a16="http://schemas.microsoft.com/office/drawing/2014/main" id="{D574CF1F-279D-46F8-AFFC-6EA862AA9BEB}"/>
              </a:ext>
            </a:extLst>
          </p:cNvPr>
          <p:cNvSpPr>
            <a:spLocks noChangeShapeType="1"/>
          </p:cNvSpPr>
          <p:nvPr/>
        </p:nvSpPr>
        <p:spPr bwMode="auto">
          <a:xfrm flipH="1">
            <a:off x="1042988" y="1557338"/>
            <a:ext cx="3457575" cy="5032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4852D05D-D9C7-4AFC-B478-54475F9B0356}"/>
              </a:ext>
            </a:extLst>
          </p:cNvPr>
          <p:cNvSpPr txBox="1">
            <a:spLocks noChangeArrowheads="1"/>
          </p:cNvSpPr>
          <p:nvPr/>
        </p:nvSpPr>
        <p:spPr bwMode="auto">
          <a:xfrm>
            <a:off x="4500563" y="1176338"/>
            <a:ext cx="38496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i="1">
                <a:solidFill>
                  <a:srgbClr val="FF0000"/>
                </a:solidFill>
              </a:rPr>
              <a:t>not</a:t>
            </a:r>
            <a:r>
              <a:rPr lang="en-US" altLang="zh-CN" sz="1800">
                <a:solidFill>
                  <a:srgbClr val="FF0000"/>
                </a:solidFill>
              </a:rPr>
              <a:t> </a:t>
            </a:r>
            <a:r>
              <a:rPr lang="en-US" altLang="zh-CN" sz="1800"/>
              <a:t>recommended for doing safe information retrieval on the Web</a:t>
            </a:r>
          </a:p>
        </p:txBody>
      </p:sp>
      <p:sp>
        <p:nvSpPr>
          <p:cNvPr id="8" name="Line 6">
            <a:extLst>
              <a:ext uri="{FF2B5EF4-FFF2-40B4-BE49-F238E27FC236}">
                <a16:creationId xmlns:a16="http://schemas.microsoft.com/office/drawing/2014/main" id="{CC5DD734-243A-4009-B6DA-5989C629471B}"/>
              </a:ext>
            </a:extLst>
          </p:cNvPr>
          <p:cNvSpPr>
            <a:spLocks noChangeShapeType="1"/>
          </p:cNvSpPr>
          <p:nvPr/>
        </p:nvSpPr>
        <p:spPr bwMode="auto">
          <a:xfrm flipH="1">
            <a:off x="2627313" y="4194175"/>
            <a:ext cx="3240087"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7">
            <a:extLst>
              <a:ext uri="{FF2B5EF4-FFF2-40B4-BE49-F238E27FC236}">
                <a16:creationId xmlns:a16="http://schemas.microsoft.com/office/drawing/2014/main" id="{AF057DE3-9528-4728-8AB1-9F6CF20AF9BE}"/>
              </a:ext>
            </a:extLst>
          </p:cNvPr>
          <p:cNvSpPr txBox="1">
            <a:spLocks noChangeArrowheads="1"/>
          </p:cNvSpPr>
          <p:nvPr/>
        </p:nvSpPr>
        <p:spPr bwMode="auto">
          <a:xfrm>
            <a:off x="5888038" y="4010025"/>
            <a:ext cx="2736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RPC Call without header</a:t>
            </a:r>
          </a:p>
        </p:txBody>
      </p:sp>
      <p:sp>
        <p:nvSpPr>
          <p:cNvPr id="10" name="Line 6">
            <a:extLst>
              <a:ext uri="{FF2B5EF4-FFF2-40B4-BE49-F238E27FC236}">
                <a16:creationId xmlns:a16="http://schemas.microsoft.com/office/drawing/2014/main" id="{2C3945CF-82B8-4ED2-A354-C70C989F5579}"/>
              </a:ext>
            </a:extLst>
          </p:cNvPr>
          <p:cNvSpPr>
            <a:spLocks noChangeShapeType="1"/>
          </p:cNvSpPr>
          <p:nvPr/>
        </p:nvSpPr>
        <p:spPr bwMode="auto">
          <a:xfrm flipH="1">
            <a:off x="2411413" y="2200275"/>
            <a:ext cx="2952750" cy="269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7">
            <a:extLst>
              <a:ext uri="{FF2B5EF4-FFF2-40B4-BE49-F238E27FC236}">
                <a16:creationId xmlns:a16="http://schemas.microsoft.com/office/drawing/2014/main" id="{0BA07F02-6627-413D-8290-C066A7324C9F}"/>
              </a:ext>
            </a:extLst>
          </p:cNvPr>
          <p:cNvSpPr txBox="1">
            <a:spLocks noChangeArrowheads="1"/>
          </p:cNvSpPr>
          <p:nvPr/>
        </p:nvSpPr>
        <p:spPr bwMode="auto">
          <a:xfrm>
            <a:off x="5330825" y="1981200"/>
            <a:ext cx="36337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i="1">
                <a:solidFill>
                  <a:srgbClr val="FF0000"/>
                </a:solidFill>
              </a:rPr>
              <a:t>not</a:t>
            </a:r>
            <a:r>
              <a:rPr lang="en-US" altLang="zh-CN" sz="1800"/>
              <a:t> identified by the URI, we must look into the envelope</a:t>
            </a:r>
          </a:p>
        </p:txBody>
      </p:sp>
      <p:sp>
        <p:nvSpPr>
          <p:cNvPr id="12" name="Line 6">
            <a:extLst>
              <a:ext uri="{FF2B5EF4-FFF2-40B4-BE49-F238E27FC236}">
                <a16:creationId xmlns:a16="http://schemas.microsoft.com/office/drawing/2014/main" id="{56A1ED3C-49BC-4098-9304-1160F1DCE366}"/>
              </a:ext>
            </a:extLst>
          </p:cNvPr>
          <p:cNvSpPr>
            <a:spLocks noChangeShapeType="1"/>
          </p:cNvSpPr>
          <p:nvPr/>
        </p:nvSpPr>
        <p:spPr bwMode="auto">
          <a:xfrm flipH="1">
            <a:off x="3419475" y="2559050"/>
            <a:ext cx="3384550" cy="230981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a:extLst>
              <a:ext uri="{FF2B5EF4-FFF2-40B4-BE49-F238E27FC236}">
                <a16:creationId xmlns:a16="http://schemas.microsoft.com/office/drawing/2014/main" id="{A2514F0F-55B5-4A7D-873E-0B9F945FDFFC}"/>
              </a:ext>
            </a:extLst>
          </p:cNvPr>
          <p:cNvSpPr>
            <a:spLocks noGrp="1"/>
          </p:cNvSpPr>
          <p:nvPr>
            <p:ph type="title"/>
          </p:nvPr>
        </p:nvSpPr>
        <p:spPr/>
        <p:txBody>
          <a:bodyPr>
            <a:noAutofit/>
          </a:bodyPr>
          <a:lstStyle/>
          <a:p>
            <a:pPr>
              <a:defRPr/>
            </a:pPr>
            <a:r>
              <a:rPr lang="en-US" altLang="zh-CN" sz="2800" dirty="0"/>
              <a:t>Web Architecture Compatible </a:t>
            </a:r>
            <a:br>
              <a:rPr lang="en-US" altLang="zh-CN" sz="2800" dirty="0"/>
            </a:br>
            <a:r>
              <a:rPr lang="en-US" altLang="zh-CN" sz="2800" dirty="0"/>
              <a:t>SOAP Usage (3/7)</a:t>
            </a:r>
            <a:endParaRPr lang="zh-CN" altLang="en-US" sz="2800" dirty="0"/>
          </a:p>
        </p:txBody>
      </p:sp>
      <p:sp>
        <p:nvSpPr>
          <p:cNvPr id="3" name="内容占位符 2">
            <a:extLst>
              <a:ext uri="{FF2B5EF4-FFF2-40B4-BE49-F238E27FC236}">
                <a16:creationId xmlns:a16="http://schemas.microsoft.com/office/drawing/2014/main" id="{26597715-2C3B-43DA-B6E5-2418A1A48A65}"/>
              </a:ext>
            </a:extLst>
          </p:cNvPr>
          <p:cNvSpPr>
            <a:spLocks noGrp="1"/>
          </p:cNvSpPr>
          <p:nvPr>
            <p:ph idx="1"/>
          </p:nvPr>
        </p:nvSpPr>
        <p:spPr/>
        <p:txBody>
          <a:bodyPr>
            <a:normAutofit fontScale="92500" lnSpcReduction="10000"/>
          </a:bodyPr>
          <a:lstStyle/>
          <a:p>
            <a:pPr>
              <a:lnSpc>
                <a:spcPct val="110000"/>
              </a:lnSpc>
              <a:defRPr/>
            </a:pPr>
            <a:r>
              <a:rPr lang="en-US" altLang="zh-CN" sz="2400" dirty="0"/>
              <a:t>SOAP offers recommendations on how RPCs that constitute safe and idempotent information retrievals may be defined in a Web-friendly manner, by distinguishing aspects of the method and specific parameters in an RPC definition that serve to identify resources from those that serve other purposes</a:t>
            </a:r>
          </a:p>
          <a:p>
            <a:pPr>
              <a:lnSpc>
                <a:spcPct val="110000"/>
              </a:lnSpc>
              <a:defRPr/>
            </a:pPr>
            <a:r>
              <a:rPr lang="en-US" altLang="zh-CN" sz="2400" dirty="0"/>
              <a:t>In RPC, the resource to be retrieved is identified by two things: </a:t>
            </a:r>
          </a:p>
          <a:p>
            <a:pPr lvl="1">
              <a:lnSpc>
                <a:spcPct val="110000"/>
              </a:lnSpc>
              <a:defRPr/>
            </a:pPr>
            <a:r>
              <a:rPr lang="en-US" altLang="zh-CN" sz="2100" dirty="0"/>
              <a:t>Method name or part of the method name</a:t>
            </a:r>
          </a:p>
          <a:p>
            <a:pPr lvl="1">
              <a:lnSpc>
                <a:spcPct val="110000"/>
              </a:lnSpc>
              <a:defRPr/>
            </a:pPr>
            <a:r>
              <a:rPr lang="en-US" altLang="zh-CN" sz="2100" dirty="0"/>
              <a:t>Parameter(s) to the method</a:t>
            </a:r>
          </a:p>
          <a:p>
            <a:pPr>
              <a:lnSpc>
                <a:spcPct val="110000"/>
              </a:lnSpc>
              <a:defRPr/>
            </a:pPr>
            <a:r>
              <a:rPr lang="en-US" altLang="zh-CN" sz="2400" dirty="0"/>
              <a:t>It is recommended that these resource-identifying parts be made available in the HTTP Request-URI identifying the resource</a:t>
            </a:r>
          </a:p>
          <a:p>
            <a:pPr lvl="1">
              <a:lnSpc>
                <a:spcPct val="110000"/>
              </a:lnSpc>
              <a:defRPr/>
            </a:pPr>
            <a:r>
              <a:rPr lang="en-US" altLang="zh-CN" sz="2100" dirty="0"/>
              <a:t>SOAP Version 1.2 does not specify any algorithm on how to compute a URI from the definition of an RPC which has been determined to represent pure information retrieval</a:t>
            </a:r>
          </a:p>
        </p:txBody>
      </p:sp>
      <p:sp>
        <p:nvSpPr>
          <p:cNvPr id="26628" name="灯片编号占位符 3">
            <a:extLst>
              <a:ext uri="{FF2B5EF4-FFF2-40B4-BE49-F238E27FC236}">
                <a16:creationId xmlns:a16="http://schemas.microsoft.com/office/drawing/2014/main" id="{2D31A961-CDD8-41BA-AFF3-8CB323B2B584}"/>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20</a:t>
            </a:fld>
            <a:endParaRPr lang="en-US" altLang="zh-CN" sz="10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0E73A-938F-41BA-85E2-5C6FB57CE997}"/>
              </a:ext>
            </a:extLst>
          </p:cNvPr>
          <p:cNvSpPr>
            <a:spLocks noGrp="1"/>
          </p:cNvSpPr>
          <p:nvPr>
            <p:ph type="title"/>
          </p:nvPr>
        </p:nvSpPr>
        <p:spPr/>
        <p:txBody>
          <a:bodyPr>
            <a:noAutofit/>
          </a:bodyPr>
          <a:lstStyle/>
          <a:p>
            <a:pPr>
              <a:defRPr/>
            </a:pPr>
            <a:r>
              <a:rPr lang="en-US" altLang="zh-CN" sz="2800" dirty="0"/>
              <a:t>Web Architecture Compatible </a:t>
            </a:r>
            <a:br>
              <a:rPr lang="en-US" altLang="zh-CN" sz="2800" dirty="0"/>
            </a:br>
            <a:r>
              <a:rPr lang="en-US" altLang="zh-CN" sz="2800" dirty="0"/>
              <a:t>SOAP Usage (4/7)</a:t>
            </a:r>
            <a:endParaRPr lang="zh-CN" altLang="en-US" sz="2800" dirty="0"/>
          </a:p>
        </p:txBody>
      </p:sp>
      <p:sp>
        <p:nvSpPr>
          <p:cNvPr id="28675" name="灯片编号占位符 3">
            <a:extLst>
              <a:ext uri="{FF2B5EF4-FFF2-40B4-BE49-F238E27FC236}">
                <a16:creationId xmlns:a16="http://schemas.microsoft.com/office/drawing/2014/main" id="{C2B15FA7-55C4-4F38-838A-8E5B99E18C8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21</a:t>
            </a:fld>
            <a:endParaRPr lang="en-US" altLang="zh-CN" sz="1000"/>
          </a:p>
        </p:txBody>
      </p:sp>
      <p:sp>
        <p:nvSpPr>
          <p:cNvPr id="28676" name="Text Box 4">
            <a:extLst>
              <a:ext uri="{FF2B5EF4-FFF2-40B4-BE49-F238E27FC236}">
                <a16:creationId xmlns:a16="http://schemas.microsoft.com/office/drawing/2014/main" id="{863E85C1-C928-465A-8807-C1DEACB7E61F}"/>
              </a:ext>
            </a:extLst>
          </p:cNvPr>
          <p:cNvSpPr>
            <a:spLocks noGrp="1" noChangeArrowheads="1"/>
          </p:cNvSpPr>
          <p:nvPr>
            <p:ph idx="1"/>
          </p:nvPr>
        </p:nvSpPr>
        <p:spPr>
          <a:xfrm>
            <a:off x="466725" y="4810125"/>
            <a:ext cx="8229600" cy="1225550"/>
          </a:xfrm>
          <a:ln w="19050">
            <a:solidFill>
              <a:schemeClr val="tx1"/>
            </a:solidFill>
            <a:miter lim="800000"/>
            <a:headEnd/>
            <a:tailEnd/>
          </a:ln>
        </p:spPr>
        <p:txBody>
          <a:bodyPr>
            <a:spAutoFit/>
          </a:bodyPr>
          <a:lstStyle/>
          <a:p>
            <a:pPr>
              <a:buFont typeface="Wingdings" panose="05000000000000000000" pitchFamily="2" charset="2"/>
              <a:buNone/>
            </a:pPr>
            <a:r>
              <a:rPr lang="en-US" altLang="zh-CN" sz="1600"/>
              <a:t>GET /Reservations/itinerary?reservationCode=FT35ZBQ  </a:t>
            </a:r>
          </a:p>
          <a:p>
            <a:pPr>
              <a:buFont typeface="Wingdings" panose="05000000000000000000" pitchFamily="2" charset="2"/>
              <a:buNone/>
            </a:pPr>
            <a:r>
              <a:rPr lang="en-US" altLang="zh-CN" sz="1600"/>
              <a:t>HTTP/1.1</a:t>
            </a:r>
          </a:p>
          <a:p>
            <a:pPr>
              <a:buFont typeface="Wingdings" panose="05000000000000000000" pitchFamily="2" charset="2"/>
              <a:buNone/>
            </a:pPr>
            <a:r>
              <a:rPr lang="en-US" altLang="zh-CN" sz="1600"/>
              <a:t>Host: travelcompany.example.org</a:t>
            </a:r>
          </a:p>
          <a:p>
            <a:pPr>
              <a:buFont typeface="Wingdings" panose="05000000000000000000" pitchFamily="2" charset="2"/>
              <a:buNone/>
            </a:pPr>
            <a:r>
              <a:rPr lang="en-US" altLang="zh-CN" sz="1600"/>
              <a:t>Accept: application/soap+xml</a:t>
            </a:r>
          </a:p>
        </p:txBody>
      </p:sp>
      <p:sp>
        <p:nvSpPr>
          <p:cNvPr id="7" name="内容占位符 2">
            <a:extLst>
              <a:ext uri="{FF2B5EF4-FFF2-40B4-BE49-F238E27FC236}">
                <a16:creationId xmlns:a16="http://schemas.microsoft.com/office/drawing/2014/main" id="{2DF3E770-8476-4A11-A304-BEBF82ABB425}"/>
              </a:ext>
            </a:extLst>
          </p:cNvPr>
          <p:cNvSpPr txBox="1">
            <a:spLocks/>
          </p:cNvSpPr>
          <p:nvPr/>
        </p:nvSpPr>
        <p:spPr bwMode="auto">
          <a:xfrm>
            <a:off x="457200" y="1600200"/>
            <a:ext cx="8229600" cy="3822700"/>
          </a:xfrm>
          <a:prstGeom prst="rect">
            <a:avLst/>
          </a:prstGeom>
          <a:noFill/>
          <a:ln w="9525">
            <a:noFill/>
            <a:miter lim="800000"/>
            <a:headEnd/>
            <a:tailEnd/>
          </a:ln>
        </p:spPr>
        <p:txBody>
          <a:bodyPr/>
          <a:lstStyle/>
          <a:p>
            <a:pPr marL="342900" indent="-342900">
              <a:spcBef>
                <a:spcPct val="20000"/>
              </a:spcBef>
              <a:buClr>
                <a:schemeClr val="accent1"/>
              </a:buClr>
              <a:buFont typeface="Wingdings" panose="05000000000000000000" pitchFamily="2" charset="2"/>
              <a:buChar char="l"/>
              <a:defRPr/>
            </a:pPr>
            <a:r>
              <a:rPr lang="en-US" altLang="zh-CN" sz="2000" kern="0" dirty="0">
                <a:latin typeface="+mn-lt"/>
                <a:ea typeface="+mn-ea"/>
              </a:rPr>
              <a:t>Furthermore, when an RPC definition is such that all parts of its method description can be described as resource-identifying, the entire target of the RPC may be identified by a URI</a:t>
            </a:r>
          </a:p>
          <a:p>
            <a:pPr marL="342900" indent="-342900">
              <a:spcBef>
                <a:spcPct val="20000"/>
              </a:spcBef>
              <a:buClr>
                <a:schemeClr val="accent1"/>
              </a:buClr>
              <a:buFont typeface="Wingdings" panose="05000000000000000000" pitchFamily="2" charset="2"/>
              <a:buChar char="l"/>
              <a:defRPr/>
            </a:pPr>
            <a:r>
              <a:rPr lang="en-US" altLang="zh-CN" sz="2000" kern="0" dirty="0">
                <a:latin typeface="+mn-lt"/>
                <a:ea typeface="+mn-ea"/>
              </a:rPr>
              <a:t>In this case, if the supplier of the resource can also assure that a retrieval request is safe, then SOAP Version 1.2 recommends that the choice of the Web method property of GET and the use of the </a:t>
            </a:r>
            <a:r>
              <a:rPr lang="en-US" altLang="zh-CN" sz="2000" kern="0" dirty="0">
                <a:latin typeface="+mn-lt"/>
                <a:ea typeface="+mn-ea"/>
                <a:hlinkClick r:id="rId3"/>
              </a:rPr>
              <a:t>SOAP Response message exchange pattern</a:t>
            </a:r>
            <a:r>
              <a:rPr lang="en-US" altLang="zh-CN" sz="2000" kern="0" dirty="0">
                <a:latin typeface="+mn-lt"/>
                <a:ea typeface="+mn-ea"/>
              </a:rPr>
              <a:t> be used. </a:t>
            </a:r>
          </a:p>
          <a:p>
            <a:pPr marL="342900" indent="-342900">
              <a:spcBef>
                <a:spcPct val="20000"/>
              </a:spcBef>
              <a:buClr>
                <a:schemeClr val="accent1"/>
              </a:buClr>
              <a:buFont typeface="Wingdings" panose="05000000000000000000" pitchFamily="2" charset="2"/>
              <a:buChar char="l"/>
              <a:defRPr/>
            </a:pPr>
            <a:r>
              <a:rPr lang="en-US" altLang="zh-CN" sz="2000" kern="0" dirty="0">
                <a:latin typeface="+mn-lt"/>
                <a:ea typeface="+mn-ea"/>
              </a:rPr>
              <a:t>This will ensure that the SOAP RPC is performed in a Web architecture compatible manner</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F0609422-4285-4354-B7F9-DA34D81540A2}"/>
              </a:ext>
            </a:extLst>
          </p:cNvPr>
          <p:cNvSpPr>
            <a:spLocks noGrp="1"/>
          </p:cNvSpPr>
          <p:nvPr>
            <p:ph type="title"/>
          </p:nvPr>
        </p:nvSpPr>
        <p:spPr/>
        <p:txBody>
          <a:bodyPr>
            <a:noAutofit/>
          </a:bodyPr>
          <a:lstStyle/>
          <a:p>
            <a:pPr>
              <a:defRPr/>
            </a:pPr>
            <a:r>
              <a:rPr lang="en-US" altLang="zh-CN" sz="2800" dirty="0"/>
              <a:t>Web Architecture Compatible </a:t>
            </a:r>
            <a:br>
              <a:rPr lang="en-US" altLang="zh-CN" sz="2800" dirty="0"/>
            </a:br>
            <a:r>
              <a:rPr lang="en-US" altLang="zh-CN" sz="2800" dirty="0"/>
              <a:t>SOAP Usage (5/7)</a:t>
            </a:r>
            <a:endParaRPr lang="zh-CN" altLang="en-US" sz="2800" dirty="0"/>
          </a:p>
        </p:txBody>
      </p:sp>
      <p:sp>
        <p:nvSpPr>
          <p:cNvPr id="3" name="内容占位符 2">
            <a:extLst>
              <a:ext uri="{FF2B5EF4-FFF2-40B4-BE49-F238E27FC236}">
                <a16:creationId xmlns:a16="http://schemas.microsoft.com/office/drawing/2014/main" id="{AE11B7A8-4C56-4F4C-BAD4-E8BC3260CEB4}"/>
              </a:ext>
            </a:extLst>
          </p:cNvPr>
          <p:cNvSpPr>
            <a:spLocks noGrp="1"/>
          </p:cNvSpPr>
          <p:nvPr>
            <p:ph idx="1"/>
          </p:nvPr>
        </p:nvSpPr>
        <p:spPr/>
        <p:txBody>
          <a:bodyPr>
            <a:normAutofit/>
          </a:bodyPr>
          <a:lstStyle/>
          <a:p>
            <a:pPr>
              <a:defRPr/>
            </a:pPr>
            <a:r>
              <a:rPr lang="en-US" altLang="zh-CN" sz="2400" dirty="0">
                <a:hlinkClick r:id="rId3"/>
              </a:rPr>
              <a:t>SOAP Request-Response message exchange pattern</a:t>
            </a:r>
            <a:r>
              <a:rPr lang="en-US" altLang="zh-CN" sz="2400" dirty="0"/>
              <a:t> implemented via a HTTP POST is required when:</a:t>
            </a:r>
          </a:p>
          <a:p>
            <a:pPr lvl="1">
              <a:defRPr/>
            </a:pPr>
            <a:r>
              <a:rPr lang="en-US" altLang="zh-CN" sz="1800" dirty="0"/>
              <a:t>The application requires the use of features that can only have a binding-specific expression within the SOAP </a:t>
            </a:r>
            <a:r>
              <a:rPr lang="en-US" altLang="zh-CN" sz="1800" dirty="0" err="1"/>
              <a:t>infoset</a:t>
            </a:r>
            <a:r>
              <a:rPr lang="en-US" altLang="zh-CN" sz="1800" dirty="0"/>
              <a:t>, (i.e. SOAP header blocks)</a:t>
            </a:r>
          </a:p>
          <a:p>
            <a:pPr lvl="1">
              <a:defRPr/>
            </a:pPr>
            <a:r>
              <a:rPr lang="en-US" altLang="zh-CN" sz="1800" dirty="0"/>
              <a:t>The RPC description includes data (parameters) which are not resource-identifying</a:t>
            </a:r>
          </a:p>
          <a:p>
            <a:pPr>
              <a:defRPr/>
            </a:pPr>
            <a:r>
              <a:rPr lang="en-US" altLang="zh-CN" sz="2400" dirty="0"/>
              <a:t>Even using </a:t>
            </a:r>
            <a:r>
              <a:rPr lang="en-US" altLang="zh-CN" sz="2400" dirty="0">
                <a:hlinkClick r:id="rId3"/>
              </a:rPr>
              <a:t>SOAP Request-Response message exchange pattern</a:t>
            </a:r>
            <a:r>
              <a:rPr lang="en-US" altLang="zh-CN" sz="2400" dirty="0"/>
              <a:t>, the HTTP POST with a SOAP message can be represented in a Web-friendly manner</a:t>
            </a:r>
          </a:p>
          <a:p>
            <a:pPr lvl="1">
              <a:lnSpc>
                <a:spcPct val="110000"/>
              </a:lnSpc>
              <a:defRPr/>
            </a:pPr>
            <a:r>
              <a:rPr lang="en-US" altLang="zh-CN" sz="1800" dirty="0"/>
              <a:t>As with the use of the GET, SOAP recommends for the general case that any part of the SOAP message that serves to identify the resource to which the request is </a:t>
            </a:r>
            <a:r>
              <a:rPr lang="en-US" altLang="zh-CN" sz="1800" dirty="0" err="1"/>
              <a:t>POSTed</a:t>
            </a:r>
            <a:r>
              <a:rPr lang="en-US" altLang="zh-CN" sz="1800" dirty="0"/>
              <a:t> be identified in the HTTP Request-URI</a:t>
            </a:r>
          </a:p>
          <a:p>
            <a:pPr lvl="1">
              <a:defRPr/>
            </a:pPr>
            <a:r>
              <a:rPr lang="en-US" altLang="zh-CN" sz="1800" dirty="0"/>
              <a:t>Because they are related to the procedure/method description expected by the receiving application, the same parameters may be retained in the SOAP </a:t>
            </a:r>
            <a:r>
              <a:rPr lang="en-US" altLang="zh-CN" sz="1800" dirty="0" err="1">
                <a:hlinkClick r:id="rId3"/>
              </a:rPr>
              <a:t>env:Body</a:t>
            </a:r>
            <a:r>
              <a:rPr lang="en-US" altLang="zh-CN" sz="1800" dirty="0"/>
              <a:t> element</a:t>
            </a:r>
          </a:p>
        </p:txBody>
      </p:sp>
      <p:sp>
        <p:nvSpPr>
          <p:cNvPr id="30724" name="灯片编号占位符 3">
            <a:extLst>
              <a:ext uri="{FF2B5EF4-FFF2-40B4-BE49-F238E27FC236}">
                <a16:creationId xmlns:a16="http://schemas.microsoft.com/office/drawing/2014/main" id="{23F716E7-1645-429A-A593-A512D56819A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22</a:t>
            </a:fld>
            <a:endParaRPr lang="en-US" altLang="zh-CN" sz="10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7556F-D8E1-4B0C-BE20-300075B06469}"/>
              </a:ext>
            </a:extLst>
          </p:cNvPr>
          <p:cNvSpPr>
            <a:spLocks noGrp="1"/>
          </p:cNvSpPr>
          <p:nvPr>
            <p:ph type="title"/>
          </p:nvPr>
        </p:nvSpPr>
        <p:spPr/>
        <p:txBody>
          <a:bodyPr>
            <a:noAutofit/>
          </a:bodyPr>
          <a:lstStyle/>
          <a:p>
            <a:pPr>
              <a:defRPr/>
            </a:pPr>
            <a:r>
              <a:rPr lang="en-US" altLang="zh-CN" sz="2800" dirty="0"/>
              <a:t>Web Architecture Compatible </a:t>
            </a:r>
            <a:br>
              <a:rPr lang="en-US" altLang="zh-CN" sz="2800" dirty="0"/>
            </a:br>
            <a:r>
              <a:rPr lang="en-US" altLang="zh-CN" sz="2800" dirty="0"/>
              <a:t>SOAP Usage (6/7)</a:t>
            </a:r>
            <a:endParaRPr lang="zh-CN" altLang="en-US" sz="2800" dirty="0"/>
          </a:p>
        </p:txBody>
      </p:sp>
      <p:sp>
        <p:nvSpPr>
          <p:cNvPr id="32771" name="灯片编号占位符 3">
            <a:extLst>
              <a:ext uri="{FF2B5EF4-FFF2-40B4-BE49-F238E27FC236}">
                <a16:creationId xmlns:a16="http://schemas.microsoft.com/office/drawing/2014/main" id="{AD148DF6-5DC6-44C0-B0AE-D6A1DDF8FE7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23</a:t>
            </a:fld>
            <a:endParaRPr lang="en-US" altLang="zh-CN" sz="1000"/>
          </a:p>
        </p:txBody>
      </p:sp>
      <p:sp>
        <p:nvSpPr>
          <p:cNvPr id="5" name="Text Box 4">
            <a:extLst>
              <a:ext uri="{FF2B5EF4-FFF2-40B4-BE49-F238E27FC236}">
                <a16:creationId xmlns:a16="http://schemas.microsoft.com/office/drawing/2014/main" id="{AE169F3F-F1D2-4117-A308-94FC8B4CBCA4}"/>
              </a:ext>
            </a:extLst>
          </p:cNvPr>
          <p:cNvSpPr txBox="1">
            <a:spLocks noChangeArrowheads="1"/>
          </p:cNvSpPr>
          <p:nvPr/>
        </p:nvSpPr>
        <p:spPr bwMode="auto">
          <a:xfrm>
            <a:off x="539552" y="2204864"/>
            <a:ext cx="8229600" cy="366869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latin typeface="Arial" charset="0"/>
              </a:rPr>
              <a:t>POST /</a:t>
            </a:r>
            <a:r>
              <a:rPr lang="en-US" altLang="zh-CN" sz="1400" dirty="0" err="1">
                <a:latin typeface="Arial" charset="0"/>
              </a:rPr>
              <a:t>Reservations?code</a:t>
            </a:r>
            <a:r>
              <a:rPr lang="en-US" altLang="zh-CN" sz="1400" dirty="0">
                <a:latin typeface="Arial" charset="0"/>
              </a:rPr>
              <a:t>=FT35ZBQ HTTP/1.1</a:t>
            </a:r>
          </a:p>
          <a:p>
            <a:pPr eaLnBrk="1" hangingPunct="1">
              <a:spcBef>
                <a:spcPct val="20000"/>
              </a:spcBef>
              <a:buClr>
                <a:schemeClr val="accent1"/>
              </a:buClr>
              <a:buFont typeface="Wingdings" panose="05000000000000000000" pitchFamily="2" charset="2"/>
              <a:buNone/>
              <a:defRPr/>
            </a:pPr>
            <a:r>
              <a:rPr lang="en-US" altLang="zh-CN" sz="1400" dirty="0">
                <a:latin typeface="Arial" charset="0"/>
              </a:rPr>
              <a:t>Host: travelcompany.example.org</a:t>
            </a:r>
          </a:p>
          <a:p>
            <a:pPr eaLnBrk="1" hangingPunct="1">
              <a:spcBef>
                <a:spcPct val="20000"/>
              </a:spcBef>
              <a:buClr>
                <a:schemeClr val="accent1"/>
              </a:buClr>
              <a:buFont typeface="Wingdings" panose="05000000000000000000" pitchFamily="2" charset="2"/>
              <a:buNone/>
              <a:defRPr/>
            </a:pPr>
            <a:r>
              <a:rPr lang="en-US" altLang="zh-CN" sz="1400" dirty="0">
                <a:latin typeface="Arial" charset="0"/>
              </a:rPr>
              <a:t>Content-Type: application/</a:t>
            </a:r>
            <a:r>
              <a:rPr lang="en-US" altLang="zh-CN" sz="1400" dirty="0" err="1">
                <a:latin typeface="Arial" charset="0"/>
              </a:rPr>
              <a:t>soap+xml</a:t>
            </a:r>
            <a:r>
              <a:rPr lang="en-US" altLang="zh-CN" sz="1400" dirty="0">
                <a:latin typeface="Arial" charset="0"/>
              </a:rPr>
              <a:t>; </a:t>
            </a:r>
            <a:r>
              <a:rPr lang="en-US" altLang="zh-CN" sz="1400" dirty="0" err="1">
                <a:latin typeface="Arial" charset="0"/>
              </a:rPr>
              <a:t>charset</a:t>
            </a:r>
            <a:r>
              <a:rPr lang="en-US" altLang="zh-CN" sz="1400" dirty="0">
                <a:latin typeface="Arial" charset="0"/>
              </a:rPr>
              <a:t>="utf-8"</a:t>
            </a:r>
          </a:p>
          <a:p>
            <a:pPr eaLnBrk="1" hangingPunct="1">
              <a:spcBef>
                <a:spcPct val="20000"/>
              </a:spcBef>
              <a:buClr>
                <a:schemeClr val="accent1"/>
              </a:buClr>
              <a:buFont typeface="Wingdings" panose="05000000000000000000" pitchFamily="2" charset="2"/>
              <a:buNone/>
              <a:defRPr/>
            </a:pPr>
            <a:r>
              <a:rPr lang="en-US" altLang="zh-CN" sz="1400" dirty="0">
                <a:latin typeface="Arial" charset="0"/>
              </a:rPr>
              <a:t>Content-Length: </a:t>
            </a:r>
            <a:r>
              <a:rPr lang="en-US" altLang="zh-CN" sz="1400" dirty="0" err="1">
                <a:latin typeface="Arial" charset="0"/>
              </a:rPr>
              <a:t>nnnn</a:t>
            </a:r>
            <a:endParaRPr lang="en-US" altLang="zh-CN" sz="1400" dirty="0">
              <a:latin typeface="Arial" charset="0"/>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t:transaction</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http://thirdparty.example.org/transaction</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env:encodingStyle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http://example.com/encoding</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env:mustUnderstand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true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5</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t:transaction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p:txBody>
      </p:sp>
      <p:sp>
        <p:nvSpPr>
          <p:cNvPr id="6" name="Line 6">
            <a:extLst>
              <a:ext uri="{FF2B5EF4-FFF2-40B4-BE49-F238E27FC236}">
                <a16:creationId xmlns:a16="http://schemas.microsoft.com/office/drawing/2014/main" id="{C7028246-546B-4526-AF0F-E3AE4623E3C8}"/>
              </a:ext>
            </a:extLst>
          </p:cNvPr>
          <p:cNvSpPr>
            <a:spLocks noChangeShapeType="1"/>
          </p:cNvSpPr>
          <p:nvPr/>
        </p:nvSpPr>
        <p:spPr bwMode="auto">
          <a:xfrm flipH="1">
            <a:off x="4067175" y="1700213"/>
            <a:ext cx="1152525" cy="5381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803C1912-4AC8-482B-BBF0-621BEF35D208}"/>
              </a:ext>
            </a:extLst>
          </p:cNvPr>
          <p:cNvSpPr txBox="1">
            <a:spLocks noChangeArrowheads="1"/>
          </p:cNvSpPr>
          <p:nvPr/>
        </p:nvSpPr>
        <p:spPr bwMode="auto">
          <a:xfrm>
            <a:off x="5105400" y="1371600"/>
            <a:ext cx="38496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Contains parameter to identify resource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E1E50E-C3D6-4175-9426-D67C53EE156F}"/>
              </a:ext>
            </a:extLst>
          </p:cNvPr>
          <p:cNvSpPr>
            <a:spLocks noGrp="1"/>
          </p:cNvSpPr>
          <p:nvPr>
            <p:ph type="title"/>
          </p:nvPr>
        </p:nvSpPr>
        <p:spPr/>
        <p:txBody>
          <a:bodyPr>
            <a:noAutofit/>
          </a:bodyPr>
          <a:lstStyle/>
          <a:p>
            <a:pPr>
              <a:defRPr/>
            </a:pPr>
            <a:r>
              <a:rPr lang="en-US" altLang="zh-CN" sz="2800" dirty="0"/>
              <a:t>Web Architecture Compatible </a:t>
            </a:r>
            <a:br>
              <a:rPr lang="en-US" altLang="zh-CN" sz="2800" dirty="0"/>
            </a:br>
            <a:r>
              <a:rPr lang="en-US" altLang="zh-CN" sz="2800" dirty="0"/>
              <a:t>SOAP Usage (7/7)</a:t>
            </a:r>
            <a:endParaRPr lang="zh-CN" altLang="en-US" sz="2800" dirty="0"/>
          </a:p>
        </p:txBody>
      </p:sp>
      <p:sp>
        <p:nvSpPr>
          <p:cNvPr id="34819" name="灯片编号占位符 3">
            <a:extLst>
              <a:ext uri="{FF2B5EF4-FFF2-40B4-BE49-F238E27FC236}">
                <a16:creationId xmlns:a16="http://schemas.microsoft.com/office/drawing/2014/main" id="{2248A06F-BCBC-4E0C-A630-AA5F116CF2F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24</a:t>
            </a:fld>
            <a:endParaRPr lang="en-US" altLang="zh-CN" sz="1000"/>
          </a:p>
        </p:txBody>
      </p:sp>
      <p:sp>
        <p:nvSpPr>
          <p:cNvPr id="5" name="Text Box 4">
            <a:extLst>
              <a:ext uri="{FF2B5EF4-FFF2-40B4-BE49-F238E27FC236}">
                <a16:creationId xmlns:a16="http://schemas.microsoft.com/office/drawing/2014/main" id="{7D95D88B-EA12-4B0B-A90A-6AD5CB1D669A}"/>
              </a:ext>
            </a:extLst>
          </p:cNvPr>
          <p:cNvSpPr txBox="1">
            <a:spLocks noChangeArrowheads="1"/>
          </p:cNvSpPr>
          <p:nvPr/>
        </p:nvSpPr>
        <p:spPr bwMode="auto">
          <a:xfrm>
            <a:off x="467544" y="1576994"/>
            <a:ext cx="8229600" cy="4444294"/>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m:chargeReservation</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env:encodingStyle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http://www.w3.org/2003/05/soap-encoding</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xmlns:m</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m:reservation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xmlns:m</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m:code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FT35ZBQ</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m:code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o:creditCard</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xmlns:o</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http://mycompany.example.com/financial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n:name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http://mycompany.example.com/employees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Åke</a:t>
            </a: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Jógvan</a:t>
            </a:r>
            <a:r>
              <a:rPr lang="en-US" altLang="zh-CN" sz="1400" dirty="0">
                <a:solidFill>
                  <a:srgbClr val="000000"/>
                </a:solidFill>
                <a:highlight>
                  <a:srgbClr val="FFFFFF"/>
                </a:highlight>
                <a:latin typeface="Arial"/>
              </a:rPr>
              <a:t> </a:t>
            </a:r>
            <a:r>
              <a:rPr lang="en-US" altLang="zh-CN" sz="1400" dirty="0" err="1">
                <a:solidFill>
                  <a:srgbClr val="000000"/>
                </a:solidFill>
                <a:highlight>
                  <a:srgbClr val="FFFFFF"/>
                </a:highlight>
                <a:latin typeface="Arial"/>
              </a:rPr>
              <a:t>Øyvind</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n:name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o:number</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123456789099999</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o:number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o:expiration</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2005-02</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o:expiration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o:creditCard</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m:chargeReservation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0000FF"/>
                </a:solidFill>
                <a:highlight>
                  <a:srgbClr val="FFFFFF"/>
                </a:highlight>
                <a:latin typeface="Arial"/>
              </a:rPr>
              <a:t>&gt;</a:t>
            </a:r>
            <a:endParaRPr lang="zh-CN" altLang="zh-CN" sz="1400" kern="100" dirty="0">
              <a:latin typeface="Calibri"/>
              <a:ea typeface="宋体"/>
              <a:cs typeface="Times New Roman"/>
            </a:endParaRPr>
          </a:p>
        </p:txBody>
      </p:sp>
      <p:sp>
        <p:nvSpPr>
          <p:cNvPr id="6" name="Line 6">
            <a:extLst>
              <a:ext uri="{FF2B5EF4-FFF2-40B4-BE49-F238E27FC236}">
                <a16:creationId xmlns:a16="http://schemas.microsoft.com/office/drawing/2014/main" id="{FEA0A6E4-42ED-4C79-ACB3-3411D931B178}"/>
              </a:ext>
            </a:extLst>
          </p:cNvPr>
          <p:cNvSpPr>
            <a:spLocks noChangeShapeType="1"/>
          </p:cNvSpPr>
          <p:nvPr/>
        </p:nvSpPr>
        <p:spPr bwMode="auto">
          <a:xfrm flipH="1">
            <a:off x="3492500" y="1916113"/>
            <a:ext cx="1052513" cy="720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16F246D3-2FE9-41D0-928E-4016980C96EB}"/>
              </a:ext>
            </a:extLst>
          </p:cNvPr>
          <p:cNvSpPr txBox="1">
            <a:spLocks noChangeArrowheads="1"/>
          </p:cNvSpPr>
          <p:nvPr/>
        </p:nvSpPr>
        <p:spPr bwMode="auto">
          <a:xfrm>
            <a:off x="4545013" y="1576388"/>
            <a:ext cx="38496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Still keeps the resource parameter</a:t>
            </a:r>
          </a:p>
        </p:txBody>
      </p:sp>
      <p:sp>
        <p:nvSpPr>
          <p:cNvPr id="8" name="Line 6">
            <a:extLst>
              <a:ext uri="{FF2B5EF4-FFF2-40B4-BE49-F238E27FC236}">
                <a16:creationId xmlns:a16="http://schemas.microsoft.com/office/drawing/2014/main" id="{D718A6FE-C0BB-4AA5-87CF-3749759AC9CB}"/>
              </a:ext>
            </a:extLst>
          </p:cNvPr>
          <p:cNvSpPr>
            <a:spLocks noChangeShapeType="1"/>
          </p:cNvSpPr>
          <p:nvPr/>
        </p:nvSpPr>
        <p:spPr bwMode="auto">
          <a:xfrm flipH="1">
            <a:off x="3492500" y="3079750"/>
            <a:ext cx="1489075" cy="36671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7">
            <a:extLst>
              <a:ext uri="{FF2B5EF4-FFF2-40B4-BE49-F238E27FC236}">
                <a16:creationId xmlns:a16="http://schemas.microsoft.com/office/drawing/2014/main" id="{2CDCF9BC-68AF-4916-867E-2D0B7923924A}"/>
              </a:ext>
            </a:extLst>
          </p:cNvPr>
          <p:cNvSpPr txBox="1">
            <a:spLocks noChangeArrowheads="1"/>
          </p:cNvSpPr>
          <p:nvPr/>
        </p:nvSpPr>
        <p:spPr bwMode="auto">
          <a:xfrm>
            <a:off x="4981575" y="2800350"/>
            <a:ext cx="38496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Not the resource, but ancillary data to be processed by the resource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2E603452-4BD6-4341-A404-865715F8EC2D}"/>
              </a:ext>
            </a:extLst>
          </p:cNvPr>
          <p:cNvSpPr>
            <a:spLocks noGrp="1"/>
          </p:cNvSpPr>
          <p:nvPr>
            <p:ph type="title"/>
          </p:nvPr>
        </p:nvSpPr>
        <p:spPr/>
        <p:txBody>
          <a:bodyPr>
            <a:normAutofit fontScale="90000"/>
          </a:bodyPr>
          <a:lstStyle/>
          <a:p>
            <a:r>
              <a:rPr lang="en-US" altLang="zh-CN" dirty="0"/>
              <a:t>SOAP Over Email</a:t>
            </a:r>
            <a:endParaRPr lang="zh-CN" altLang="en-US" dirty="0"/>
          </a:p>
        </p:txBody>
      </p:sp>
      <p:sp>
        <p:nvSpPr>
          <p:cNvPr id="3" name="内容占位符 2">
            <a:extLst>
              <a:ext uri="{FF2B5EF4-FFF2-40B4-BE49-F238E27FC236}">
                <a16:creationId xmlns:a16="http://schemas.microsoft.com/office/drawing/2014/main" id="{8D8C5BBA-2A6F-4E2E-BB28-81385B80BE7F}"/>
              </a:ext>
            </a:extLst>
          </p:cNvPr>
          <p:cNvSpPr>
            <a:spLocks noGrp="1"/>
          </p:cNvSpPr>
          <p:nvPr>
            <p:ph idx="1"/>
          </p:nvPr>
        </p:nvSpPr>
        <p:spPr/>
        <p:txBody>
          <a:bodyPr>
            <a:normAutofit lnSpcReduction="10000"/>
          </a:bodyPr>
          <a:lstStyle/>
          <a:p>
            <a:pPr>
              <a:lnSpc>
                <a:spcPct val="110000"/>
              </a:lnSpc>
              <a:defRPr/>
            </a:pPr>
            <a:r>
              <a:rPr lang="en-US" altLang="zh-CN" sz="2400" dirty="0"/>
              <a:t>Application developers can use the Internet email infrastructure to move SOAP messages as either email text or attachments</a:t>
            </a:r>
          </a:p>
          <a:p>
            <a:pPr>
              <a:lnSpc>
                <a:spcPct val="110000"/>
              </a:lnSpc>
              <a:defRPr/>
            </a:pPr>
            <a:r>
              <a:rPr lang="en-US" altLang="zh-CN" sz="2400" dirty="0"/>
              <a:t>The SOAP Version 1.2 specifications do </a:t>
            </a:r>
            <a:r>
              <a:rPr lang="en-US" altLang="zh-CN" sz="2400" dirty="0">
                <a:solidFill>
                  <a:srgbClr val="FF0000"/>
                </a:solidFill>
              </a:rPr>
              <a:t>not</a:t>
            </a:r>
            <a:r>
              <a:rPr lang="en-US" altLang="zh-CN" sz="2400" dirty="0"/>
              <a:t> specify such a binding</a:t>
            </a:r>
          </a:p>
          <a:p>
            <a:pPr>
              <a:lnSpc>
                <a:spcPct val="110000"/>
              </a:lnSpc>
              <a:defRPr/>
            </a:pPr>
            <a:r>
              <a:rPr lang="en-US" altLang="zh-CN" sz="2400" dirty="0"/>
              <a:t>However, there is a </a:t>
            </a:r>
            <a:r>
              <a:rPr lang="en-US" altLang="zh-CN" sz="2400" i="1" dirty="0">
                <a:solidFill>
                  <a:srgbClr val="FF0000"/>
                </a:solidFill>
              </a:rPr>
              <a:t>non-normative</a:t>
            </a:r>
            <a:r>
              <a:rPr lang="en-US" altLang="zh-CN" sz="2400" dirty="0"/>
              <a:t> W3C Note [</a:t>
            </a:r>
            <a:r>
              <a:rPr lang="en-US" altLang="zh-CN" sz="2400" dirty="0">
                <a:hlinkClick r:id="rId3" action="ppaction://hlinkfile"/>
              </a:rPr>
              <a:t>SOAP Email Binding</a:t>
            </a:r>
            <a:r>
              <a:rPr lang="en-US" altLang="zh-CN" sz="2400" dirty="0"/>
              <a:t>] describing an email binding for SOAP, its main purpose being to demonstrate the application of the general SOAP Protocol Binding Framework described in SOAP</a:t>
            </a:r>
          </a:p>
          <a:p>
            <a:pPr>
              <a:lnSpc>
                <a:spcPct val="110000"/>
              </a:lnSpc>
              <a:defRPr/>
            </a:pPr>
            <a:r>
              <a:rPr lang="en-US" altLang="zh-CN" sz="2400" dirty="0"/>
              <a:t>The next example shows the travel reservation request message carried as an email message between a sending and receiving mail user agent</a:t>
            </a:r>
          </a:p>
        </p:txBody>
      </p:sp>
      <p:sp>
        <p:nvSpPr>
          <p:cNvPr id="6148" name="灯片编号占位符 3">
            <a:extLst>
              <a:ext uri="{FF2B5EF4-FFF2-40B4-BE49-F238E27FC236}">
                <a16:creationId xmlns:a16="http://schemas.microsoft.com/office/drawing/2014/main" id="{357496B0-95D9-4803-963E-048556965D1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25</a:t>
            </a:fld>
            <a:endParaRPr lang="en-US" altLang="zh-CN" sz="100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98E42B54-0941-4CD5-8819-A1F683BF50B6}"/>
              </a:ext>
            </a:extLst>
          </p:cNvPr>
          <p:cNvSpPr>
            <a:spLocks noGrp="1"/>
          </p:cNvSpPr>
          <p:nvPr>
            <p:ph type="title"/>
          </p:nvPr>
        </p:nvSpPr>
        <p:spPr/>
        <p:txBody>
          <a:bodyPr>
            <a:normAutofit fontScale="90000"/>
          </a:bodyPr>
          <a:lstStyle/>
          <a:p>
            <a:r>
              <a:rPr lang="en-US" altLang="zh-CN" dirty="0"/>
              <a:t>SOAP Over Email Request (1/2)</a:t>
            </a:r>
            <a:endParaRPr lang="zh-CN" altLang="en-US" dirty="0"/>
          </a:p>
        </p:txBody>
      </p:sp>
      <p:sp>
        <p:nvSpPr>
          <p:cNvPr id="8195" name="灯片编号占位符 3">
            <a:extLst>
              <a:ext uri="{FF2B5EF4-FFF2-40B4-BE49-F238E27FC236}">
                <a16:creationId xmlns:a16="http://schemas.microsoft.com/office/drawing/2014/main" id="{47E5B8E4-09E3-4583-BCFD-39B9FAE99A3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26</a:t>
            </a:fld>
            <a:endParaRPr lang="en-US" altLang="zh-CN" sz="1000"/>
          </a:p>
        </p:txBody>
      </p:sp>
      <p:sp>
        <p:nvSpPr>
          <p:cNvPr id="5" name="Text Box 4">
            <a:extLst>
              <a:ext uri="{FF2B5EF4-FFF2-40B4-BE49-F238E27FC236}">
                <a16:creationId xmlns:a16="http://schemas.microsoft.com/office/drawing/2014/main" id="{131379FF-5759-477B-9183-027316127430}"/>
              </a:ext>
            </a:extLst>
          </p:cNvPr>
          <p:cNvSpPr txBox="1">
            <a:spLocks noGrp="1" noChangeArrowheads="1"/>
          </p:cNvSpPr>
          <p:nvPr>
            <p:ph idx="1"/>
          </p:nvPr>
        </p:nvSpPr>
        <p:spPr>
          <a:xfrm>
            <a:off x="457200" y="1301156"/>
            <a:ext cx="8229600" cy="5152180"/>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200" dirty="0"/>
              <a:t>From: a.oyvind@mycompany.example.com</a:t>
            </a:r>
          </a:p>
          <a:p>
            <a:pPr>
              <a:buFont typeface="Wingdings" panose="05000000000000000000" pitchFamily="2" charset="2"/>
              <a:buNone/>
              <a:defRPr/>
            </a:pPr>
            <a:r>
              <a:rPr lang="en-US" altLang="zh-CN" sz="1200" dirty="0"/>
              <a:t>To: reservations@travelcompany.example.org</a:t>
            </a:r>
          </a:p>
          <a:p>
            <a:pPr>
              <a:buFont typeface="Wingdings" panose="05000000000000000000" pitchFamily="2" charset="2"/>
              <a:buNone/>
              <a:defRPr/>
            </a:pPr>
            <a:r>
              <a:rPr lang="en-US" altLang="zh-CN" sz="1200" dirty="0"/>
              <a:t>Subject: Travel to LA</a:t>
            </a:r>
          </a:p>
          <a:p>
            <a:pPr>
              <a:buFont typeface="Wingdings" panose="05000000000000000000" pitchFamily="2" charset="2"/>
              <a:buNone/>
              <a:defRPr/>
            </a:pPr>
            <a:r>
              <a:rPr lang="fr-FR" altLang="zh-CN" sz="1200" dirty="0"/>
              <a:t>Date: Thu, 29 Nov 2001 13:20:00 EST</a:t>
            </a:r>
          </a:p>
          <a:p>
            <a:pPr>
              <a:buFont typeface="Wingdings" panose="05000000000000000000" pitchFamily="2" charset="2"/>
              <a:buNone/>
              <a:defRPr/>
            </a:pPr>
            <a:r>
              <a:rPr lang="en-US" altLang="zh-CN" sz="1200" dirty="0"/>
              <a:t>Message-Id: &lt;EE492E16A090090276D208424960C0C@mycompany.example.com&gt;</a:t>
            </a:r>
          </a:p>
          <a:p>
            <a:pPr>
              <a:buFont typeface="Wingdings" panose="05000000000000000000" pitchFamily="2" charset="2"/>
              <a:buNone/>
              <a:defRPr/>
            </a:pPr>
            <a:r>
              <a:rPr lang="en-US" altLang="zh-CN" sz="1200" dirty="0"/>
              <a:t>Content-Type: application/</a:t>
            </a:r>
            <a:r>
              <a:rPr lang="en-US" altLang="zh-CN" sz="1200" dirty="0" err="1"/>
              <a:t>soap+xml</a:t>
            </a:r>
            <a:r>
              <a:rPr lang="en-US" altLang="zh-CN" sz="1200" dirty="0"/>
              <a:t> </a:t>
            </a:r>
          </a:p>
          <a:p>
            <a:pPr>
              <a:buFont typeface="Wingdings" panose="05000000000000000000" pitchFamily="2" charset="2"/>
              <a:buNone/>
              <a:defRPr/>
            </a:pPr>
            <a:endParaRPr lang="en-US" altLang="zh-CN" sz="1200" dirty="0"/>
          </a:p>
          <a:p>
            <a:pPr>
              <a:buFont typeface="Wingdings" panose="05000000000000000000" pitchFamily="2" charset="2"/>
              <a:buNone/>
              <a:defRPr/>
            </a:pPr>
            <a:r>
              <a:rPr lang="en-US" altLang="zh-CN" sz="1200" dirty="0">
                <a:solidFill>
                  <a:srgbClr val="008080"/>
                </a:solidFill>
                <a:highlight>
                  <a:srgbClr val="FFFFFF"/>
                </a:highlight>
              </a:rPr>
              <a:t>&lt;?xml version='1.0' ?&gt;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env:Envelope</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xmlns:env</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http://www.w3.org/2003/05/soap-envelope</a:t>
            </a:r>
            <a:r>
              <a:rPr lang="en-US" altLang="zh-CN" sz="1200" dirty="0">
                <a:solidFill>
                  <a:srgbClr val="0000FF"/>
                </a:solidFill>
                <a:highlight>
                  <a:srgbClr val="FFFFFF"/>
                </a:highlight>
              </a:rPr>
              <a:t>"&gt;</a:t>
            </a:r>
            <a:r>
              <a:rPr lang="en-US" altLang="zh-CN" sz="1200" dirty="0">
                <a:solidFill>
                  <a:srgbClr val="000000"/>
                </a:solidFill>
                <a:highlight>
                  <a:srgbClr val="FFFFFF"/>
                </a:highlight>
              </a:rPr>
              <a:t> </a:t>
            </a: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env:Header</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m:reservation</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xmlns:m</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http://travelcompany.example.org/reservation</a:t>
            </a:r>
            <a:r>
              <a:rPr lang="en-US" altLang="zh-CN" sz="1200" dirty="0">
                <a:solidFill>
                  <a:srgbClr val="0000FF"/>
                </a:solidFill>
                <a:highlight>
                  <a:srgbClr val="FFFFFF"/>
                </a:highlight>
              </a:rPr>
              <a:t>"</a:t>
            </a:r>
            <a:r>
              <a:rPr lang="en-US" altLang="zh-CN" sz="1200" dirty="0">
                <a:solidFill>
                  <a:srgbClr val="FF0000"/>
                </a:solidFill>
                <a:highlight>
                  <a:srgbClr val="FFFFFF"/>
                </a:highlight>
              </a:rPr>
              <a:t> </a:t>
            </a: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env:role</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http://www.w3.org/2003/05/soap-envelope/role/next</a:t>
            </a:r>
            <a:r>
              <a:rPr lang="en-US" altLang="zh-CN" sz="1200" dirty="0">
                <a:solidFill>
                  <a:srgbClr val="0000FF"/>
                </a:solidFill>
                <a:highlight>
                  <a:srgbClr val="FFFFFF"/>
                </a:highlight>
              </a:rPr>
              <a:t>"</a:t>
            </a:r>
            <a:endParaRPr lang="en-US" altLang="zh-CN" sz="1200" dirty="0">
              <a:solidFill>
                <a:srgbClr val="FF0000"/>
              </a:solidFill>
              <a:highlight>
                <a:srgbClr val="FFFFFF"/>
              </a:highlight>
            </a:endParaRP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env:mustUnderstand</a:t>
            </a:r>
            <a:r>
              <a:rPr lang="en-US" altLang="zh-CN" sz="1200" dirty="0">
                <a:solidFill>
                  <a:srgbClr val="0000FF"/>
                </a:solidFill>
                <a:highlight>
                  <a:srgbClr val="FFFFFF"/>
                </a:highlight>
              </a:rPr>
              <a:t>="</a:t>
            </a:r>
            <a:r>
              <a:rPr lang="en-US" altLang="zh-CN" sz="1200" dirty="0">
                <a:solidFill>
                  <a:srgbClr val="000000"/>
                </a:solidFill>
                <a:highlight>
                  <a:srgbClr val="FFFFFF"/>
                </a:highlight>
              </a:rPr>
              <a:t>true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m:reference</a:t>
            </a:r>
            <a:r>
              <a:rPr lang="en-US" altLang="zh-CN" sz="1200" dirty="0">
                <a:solidFill>
                  <a:srgbClr val="0000FF"/>
                </a:solidFill>
                <a:highlight>
                  <a:srgbClr val="FFFFFF"/>
                </a:highlight>
              </a:rPr>
              <a:t>&gt;</a:t>
            </a:r>
            <a:r>
              <a:rPr lang="en-US" altLang="zh-CN" sz="1200" dirty="0">
                <a:solidFill>
                  <a:srgbClr val="000000"/>
                </a:solidFill>
                <a:highlight>
                  <a:srgbClr val="FFFFFF"/>
                </a:highlight>
              </a:rPr>
              <a:t>uuid:093a2da1-q345-739r-ba5d-pqff98fe8j7d</a:t>
            </a:r>
            <a:r>
              <a:rPr lang="en-US" altLang="zh-CN" sz="1200" dirty="0">
                <a:solidFill>
                  <a:srgbClr val="0000FF"/>
                </a:solidFill>
                <a:highlight>
                  <a:srgbClr val="FFFFFF"/>
                </a:highlight>
              </a:rPr>
              <a:t>&lt;/</a:t>
            </a:r>
            <a:r>
              <a:rPr lang="en-US" altLang="zh-CN" sz="1200" dirty="0">
                <a:solidFill>
                  <a:srgbClr val="800000"/>
                </a:solidFill>
                <a:highlight>
                  <a:srgbClr val="FFFFFF"/>
                </a:highlight>
              </a:rPr>
              <a:t>m:reference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m:dateAndTime</a:t>
            </a:r>
            <a:r>
              <a:rPr lang="en-US" altLang="zh-CN" sz="1200" dirty="0">
                <a:solidFill>
                  <a:srgbClr val="0000FF"/>
                </a:solidFill>
                <a:highlight>
                  <a:srgbClr val="FFFFFF"/>
                </a:highlight>
              </a:rPr>
              <a:t>&gt;</a:t>
            </a:r>
            <a:r>
              <a:rPr lang="en-US" altLang="zh-CN" sz="1200" dirty="0">
                <a:solidFill>
                  <a:srgbClr val="000000"/>
                </a:solidFill>
                <a:highlight>
                  <a:srgbClr val="FFFFFF"/>
                </a:highlight>
              </a:rPr>
              <a:t>2001-11-29T13:20:00.000-05:00</a:t>
            </a:r>
            <a:r>
              <a:rPr lang="en-US" altLang="zh-CN" sz="1200" dirty="0">
                <a:solidFill>
                  <a:srgbClr val="0000FF"/>
                </a:solidFill>
                <a:highlight>
                  <a:srgbClr val="FFFFFF"/>
                </a:highlight>
              </a:rPr>
              <a:t>&lt;/</a:t>
            </a:r>
            <a:r>
              <a:rPr lang="en-US" altLang="zh-CN" sz="1200" dirty="0">
                <a:solidFill>
                  <a:srgbClr val="800000"/>
                </a:solidFill>
                <a:highlight>
                  <a:srgbClr val="FFFFFF"/>
                </a:highlight>
              </a:rPr>
              <a:t>m:dateAndTime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m:reservation</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n:passenger</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xmlns:n</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http://mycompany.example.com/employees</a:t>
            </a:r>
            <a:r>
              <a:rPr lang="en-US" altLang="zh-CN" sz="1200" dirty="0">
                <a:solidFill>
                  <a:srgbClr val="0000FF"/>
                </a:solidFill>
                <a:highlight>
                  <a:srgbClr val="FFFFFF"/>
                </a:highlight>
              </a:rPr>
              <a:t>"</a:t>
            </a:r>
            <a:endParaRPr lang="en-US" altLang="zh-CN" sz="1200" dirty="0">
              <a:solidFill>
                <a:srgbClr val="FF0000"/>
              </a:solidFill>
              <a:highlight>
                <a:srgbClr val="FFFFFF"/>
              </a:highlight>
            </a:endParaRP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env:role</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http://www.w3.org/2003/05/soap-envelope/role/next</a:t>
            </a:r>
            <a:r>
              <a:rPr lang="en-US" altLang="zh-CN" sz="1200" dirty="0">
                <a:solidFill>
                  <a:srgbClr val="0000FF"/>
                </a:solidFill>
                <a:highlight>
                  <a:srgbClr val="FFFFFF"/>
                </a:highlight>
              </a:rPr>
              <a:t>"</a:t>
            </a:r>
            <a:endParaRPr lang="en-US" altLang="zh-CN" sz="1200" dirty="0">
              <a:solidFill>
                <a:srgbClr val="FF0000"/>
              </a:solidFill>
              <a:highlight>
                <a:srgbClr val="FFFFFF"/>
              </a:highlight>
            </a:endParaRP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env:mustUnderstand</a:t>
            </a:r>
            <a:r>
              <a:rPr lang="en-US" altLang="zh-CN" sz="1200" dirty="0">
                <a:solidFill>
                  <a:srgbClr val="0000FF"/>
                </a:solidFill>
                <a:highlight>
                  <a:srgbClr val="FFFFFF"/>
                </a:highlight>
              </a:rPr>
              <a:t>="</a:t>
            </a:r>
            <a:r>
              <a:rPr lang="en-US" altLang="zh-CN" sz="1200" dirty="0">
                <a:solidFill>
                  <a:srgbClr val="000000"/>
                </a:solidFill>
                <a:highlight>
                  <a:srgbClr val="FFFFFF"/>
                </a:highlight>
              </a:rPr>
              <a:t>true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n:name</a:t>
            </a:r>
            <a:r>
              <a:rPr lang="en-US" altLang="zh-CN" sz="1200" dirty="0">
                <a:solidFill>
                  <a:srgbClr val="0000FF"/>
                </a:solidFill>
                <a:highlight>
                  <a:srgbClr val="FFFFFF"/>
                </a:highlight>
              </a:rPr>
              <a:t>&gt;</a:t>
            </a:r>
            <a:r>
              <a:rPr lang="en-US" altLang="zh-CN" sz="1200" dirty="0" err="1">
                <a:solidFill>
                  <a:srgbClr val="000000"/>
                </a:solidFill>
                <a:highlight>
                  <a:srgbClr val="FFFFFF"/>
                </a:highlight>
              </a:rPr>
              <a:t>Åke</a:t>
            </a:r>
            <a:r>
              <a:rPr lang="en-US" altLang="zh-CN" sz="1200" dirty="0">
                <a:solidFill>
                  <a:srgbClr val="000000"/>
                </a:solidFill>
                <a:highlight>
                  <a:srgbClr val="FFFFFF"/>
                </a:highlight>
              </a:rPr>
              <a:t> </a:t>
            </a:r>
            <a:r>
              <a:rPr lang="en-US" altLang="zh-CN" sz="1200" dirty="0" err="1">
                <a:solidFill>
                  <a:srgbClr val="000000"/>
                </a:solidFill>
                <a:highlight>
                  <a:srgbClr val="FFFFFF"/>
                </a:highlight>
              </a:rPr>
              <a:t>Jógvan</a:t>
            </a:r>
            <a:r>
              <a:rPr lang="en-US" altLang="zh-CN" sz="1200" dirty="0">
                <a:solidFill>
                  <a:srgbClr val="000000"/>
                </a:solidFill>
                <a:highlight>
                  <a:srgbClr val="FFFFFF"/>
                </a:highlight>
              </a:rPr>
              <a:t> </a:t>
            </a:r>
            <a:r>
              <a:rPr lang="en-US" altLang="zh-CN" sz="1200" dirty="0" err="1">
                <a:solidFill>
                  <a:srgbClr val="000000"/>
                </a:solidFill>
                <a:highlight>
                  <a:srgbClr val="FFFFFF"/>
                </a:highlight>
              </a:rPr>
              <a:t>Øyvind</a:t>
            </a:r>
            <a:r>
              <a:rPr lang="en-US" altLang="zh-CN" sz="1200" dirty="0">
                <a:solidFill>
                  <a:srgbClr val="0000FF"/>
                </a:solidFill>
                <a:highlight>
                  <a:srgbClr val="FFFFFF"/>
                </a:highlight>
              </a:rPr>
              <a:t>&lt;/</a:t>
            </a:r>
            <a:r>
              <a:rPr lang="en-US" altLang="zh-CN" sz="1200" dirty="0">
                <a:solidFill>
                  <a:srgbClr val="800000"/>
                </a:solidFill>
                <a:highlight>
                  <a:srgbClr val="FFFFFF"/>
                </a:highlight>
              </a:rPr>
              <a:t>n:name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n:passenger</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env:Header</a:t>
            </a:r>
            <a:r>
              <a:rPr lang="en-US" altLang="zh-CN" sz="1200" dirty="0">
                <a:solidFill>
                  <a:srgbClr val="0000FF"/>
                </a:solidFill>
                <a:highlight>
                  <a:srgbClr val="FFFFFF"/>
                </a:highlight>
              </a:rPr>
              <a:t>&gt;</a:t>
            </a:r>
          </a:p>
          <a:p>
            <a:pPr>
              <a:buFont typeface="Wingdings" panose="05000000000000000000" pitchFamily="2" charset="2"/>
              <a:buNone/>
              <a:defRPr/>
            </a:pPr>
            <a:r>
              <a:rPr lang="en-US" altLang="zh-CN" sz="1200" dirty="0">
                <a:solidFill>
                  <a:srgbClr val="0000FF"/>
                </a:solidFill>
                <a:highlight>
                  <a:srgbClr val="FFFFFF"/>
                </a:highlight>
              </a:rPr>
              <a:t>……</a:t>
            </a:r>
            <a:endParaRPr lang="en-US" altLang="zh-CN" sz="1200" dirty="0">
              <a:solidFill>
                <a:srgbClr val="000000"/>
              </a:solidFill>
              <a:highlight>
                <a:srgbClr val="FFFFFF"/>
              </a:highlight>
            </a:endParaRPr>
          </a:p>
        </p:txBody>
      </p:sp>
      <p:sp>
        <p:nvSpPr>
          <p:cNvPr id="6" name="Line 6">
            <a:extLst>
              <a:ext uri="{FF2B5EF4-FFF2-40B4-BE49-F238E27FC236}">
                <a16:creationId xmlns:a16="http://schemas.microsoft.com/office/drawing/2014/main" id="{38971F18-6B1D-468B-BD50-4CFF4DD2F2F3}"/>
              </a:ext>
            </a:extLst>
          </p:cNvPr>
          <p:cNvSpPr>
            <a:spLocks noChangeShapeType="1"/>
          </p:cNvSpPr>
          <p:nvPr/>
        </p:nvSpPr>
        <p:spPr bwMode="auto">
          <a:xfrm flipH="1">
            <a:off x="3635375" y="1798638"/>
            <a:ext cx="1296988" cy="1174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14311F75-ACAB-4F04-B238-73CD2967807B}"/>
              </a:ext>
            </a:extLst>
          </p:cNvPr>
          <p:cNvSpPr txBox="1">
            <a:spLocks noChangeArrowheads="1"/>
          </p:cNvSpPr>
          <p:nvPr/>
        </p:nvSpPr>
        <p:spPr bwMode="auto">
          <a:xfrm>
            <a:off x="4932363" y="1417638"/>
            <a:ext cx="38496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In the standard form [</a:t>
            </a:r>
            <a:r>
              <a:rPr lang="en-US" altLang="zh-CN" sz="1800">
                <a:hlinkClick r:id="rId3" action="ppaction://hlinkfile"/>
              </a:rPr>
              <a:t>RFC 2822</a:t>
            </a:r>
            <a:r>
              <a:rPr lang="en-US" altLang="zh-CN" sz="1800"/>
              <a:t>] for email messages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89469521-4502-4632-82DF-96B04D3963E5}"/>
              </a:ext>
            </a:extLst>
          </p:cNvPr>
          <p:cNvSpPr>
            <a:spLocks noGrp="1"/>
          </p:cNvSpPr>
          <p:nvPr>
            <p:ph type="title"/>
          </p:nvPr>
        </p:nvSpPr>
        <p:spPr/>
        <p:txBody>
          <a:bodyPr>
            <a:normAutofit fontScale="90000"/>
          </a:bodyPr>
          <a:lstStyle/>
          <a:p>
            <a:r>
              <a:rPr lang="en-US" altLang="zh-CN" dirty="0"/>
              <a:t>SOAP Over Email Request (2/2)</a:t>
            </a:r>
            <a:endParaRPr lang="zh-CN" altLang="en-US" dirty="0"/>
          </a:p>
        </p:txBody>
      </p:sp>
      <p:sp>
        <p:nvSpPr>
          <p:cNvPr id="10243" name="灯片编号占位符 3">
            <a:extLst>
              <a:ext uri="{FF2B5EF4-FFF2-40B4-BE49-F238E27FC236}">
                <a16:creationId xmlns:a16="http://schemas.microsoft.com/office/drawing/2014/main" id="{EEC80FD7-78C2-4C95-94AC-A00A82C298E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27</a:t>
            </a:fld>
            <a:endParaRPr lang="en-US" altLang="zh-CN" sz="1000"/>
          </a:p>
        </p:txBody>
      </p:sp>
      <p:sp>
        <p:nvSpPr>
          <p:cNvPr id="5" name="Text Box 4">
            <a:extLst>
              <a:ext uri="{FF2B5EF4-FFF2-40B4-BE49-F238E27FC236}">
                <a16:creationId xmlns:a16="http://schemas.microsoft.com/office/drawing/2014/main" id="{4EFC5794-E1BE-4D0B-ABCB-365512D2CB8B}"/>
              </a:ext>
            </a:extLst>
          </p:cNvPr>
          <p:cNvSpPr txBox="1">
            <a:spLocks noGrp="1" noChangeArrowheads="1"/>
          </p:cNvSpPr>
          <p:nvPr>
            <p:ph idx="1"/>
          </p:nvPr>
        </p:nvSpPr>
        <p:spPr>
          <a:xfrm>
            <a:off x="457200" y="1124744"/>
            <a:ext cx="8229600" cy="5595378"/>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200" dirty="0">
                <a:solidFill>
                  <a:srgbClr val="0000FF"/>
                </a:solidFill>
                <a:highlight>
                  <a:srgbClr val="FFFFFF"/>
                </a:highlight>
              </a:rPr>
              <a: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env:Body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p:itinerary</a:t>
            </a:r>
            <a:r>
              <a:rPr lang="en-US" altLang="zh-CN" sz="1200" dirty="0">
                <a:solidFill>
                  <a:srgbClr val="FF0000"/>
                </a:solidFill>
                <a:highlight>
                  <a:srgbClr val="FFFFFF"/>
                </a:highlight>
              </a:rPr>
              <a:t> </a:t>
            </a: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xmlns:p</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http://travelcompany.example.org/reservation/travel</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p:departing</a:t>
            </a:r>
            <a:r>
              <a:rPr lang="en-US" altLang="zh-CN" sz="1200" dirty="0">
                <a:solidFill>
                  <a:srgbClr val="0000FF"/>
                </a:solidFill>
                <a:highlight>
                  <a:srgbClr val="FFFFFF"/>
                </a:highlight>
              </a:rPr>
              <a:t>&gt;</a:t>
            </a:r>
            <a:r>
              <a:rPr lang="en-US" altLang="zh-CN" sz="1200" dirty="0">
                <a:solidFill>
                  <a:srgbClr val="000000"/>
                </a:solidFill>
                <a:highlight>
                  <a:srgbClr val="FFFFFF"/>
                </a:highlight>
              </a:rPr>
              <a:t>New York</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p:arriving</a:t>
            </a:r>
            <a:r>
              <a:rPr lang="en-US" altLang="zh-CN" sz="1200" dirty="0">
                <a:solidFill>
                  <a:srgbClr val="0000FF"/>
                </a:solidFill>
                <a:highlight>
                  <a:srgbClr val="FFFFFF"/>
                </a:highlight>
              </a:rPr>
              <a:t>&gt;</a:t>
            </a:r>
            <a:r>
              <a:rPr lang="en-US" altLang="zh-CN" sz="1200" dirty="0">
                <a:solidFill>
                  <a:srgbClr val="000000"/>
                </a:solidFill>
                <a:highlight>
                  <a:srgbClr val="FFFFFF"/>
                </a:highlight>
              </a:rPr>
              <a:t>Los Angeles</a:t>
            </a:r>
            <a:r>
              <a:rPr lang="en-US" altLang="zh-CN" sz="1200" dirty="0">
                <a:solidFill>
                  <a:srgbClr val="0000FF"/>
                </a:solidFill>
                <a:highlight>
                  <a:srgbClr val="FFFFFF"/>
                </a:highlight>
              </a:rPr>
              <a:t>&lt;/</a:t>
            </a:r>
            <a:r>
              <a:rPr lang="en-US" altLang="zh-CN" sz="1200" dirty="0">
                <a:solidFill>
                  <a:srgbClr val="800000"/>
                </a:solidFill>
                <a:highlight>
                  <a:srgbClr val="FFFFFF"/>
                </a:highlight>
              </a:rPr>
              <a:t>p:arriving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p:departureDate</a:t>
            </a:r>
            <a:r>
              <a:rPr lang="en-US" altLang="zh-CN" sz="1200" dirty="0">
                <a:solidFill>
                  <a:srgbClr val="0000FF"/>
                </a:solidFill>
                <a:highlight>
                  <a:srgbClr val="FFFFFF"/>
                </a:highlight>
              </a:rPr>
              <a:t>&gt;</a:t>
            </a:r>
            <a:r>
              <a:rPr lang="en-US" altLang="zh-CN" sz="1200" dirty="0">
                <a:solidFill>
                  <a:srgbClr val="000000"/>
                </a:solidFill>
                <a:highlight>
                  <a:srgbClr val="FFFFFF"/>
                </a:highlight>
              </a:rPr>
              <a:t>2001-12-14</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p:departureDate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p:departureTime</a:t>
            </a:r>
            <a:r>
              <a:rPr lang="en-US" altLang="zh-CN" sz="1200" dirty="0">
                <a:solidFill>
                  <a:srgbClr val="0000FF"/>
                </a:solidFill>
                <a:highlight>
                  <a:srgbClr val="FFFFFF"/>
                </a:highlight>
              </a:rPr>
              <a:t>&gt;</a:t>
            </a:r>
            <a:r>
              <a:rPr lang="en-US" altLang="zh-CN" sz="1200" dirty="0">
                <a:solidFill>
                  <a:srgbClr val="000000"/>
                </a:solidFill>
                <a:highlight>
                  <a:srgbClr val="FFFFFF"/>
                </a:highlight>
              </a:rPr>
              <a:t>late afternoon</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p:departureTime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p:seatPreference</a:t>
            </a:r>
            <a:r>
              <a:rPr lang="en-US" altLang="zh-CN" sz="1200" dirty="0">
                <a:solidFill>
                  <a:srgbClr val="0000FF"/>
                </a:solidFill>
                <a:highlight>
                  <a:srgbClr val="FFFFFF"/>
                </a:highlight>
              </a:rPr>
              <a:t>&gt;</a:t>
            </a:r>
            <a:r>
              <a:rPr lang="en-US" altLang="zh-CN" sz="1200" dirty="0">
                <a:solidFill>
                  <a:srgbClr val="000000"/>
                </a:solidFill>
                <a:highlight>
                  <a:srgbClr val="FFFFFF"/>
                </a:highlight>
              </a:rPr>
              <a:t>aisle</a:t>
            </a:r>
            <a:r>
              <a:rPr lang="en-US" altLang="zh-CN" sz="1200" dirty="0">
                <a:solidFill>
                  <a:srgbClr val="0000FF"/>
                </a:solidFill>
                <a:highlight>
                  <a:srgbClr val="FFFFFF"/>
                </a:highlight>
              </a:rPr>
              <a:t>&lt;/</a:t>
            </a:r>
            <a:r>
              <a:rPr lang="en-US" altLang="zh-CN" sz="1200" dirty="0">
                <a:solidFill>
                  <a:srgbClr val="800000"/>
                </a:solidFill>
                <a:highlight>
                  <a:srgbClr val="FFFFFF"/>
                </a:highlight>
              </a:rPr>
              <a:t>p:seatPreference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p:return</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p:departing</a:t>
            </a:r>
            <a:r>
              <a:rPr lang="en-US" altLang="zh-CN" sz="1200" dirty="0">
                <a:solidFill>
                  <a:srgbClr val="0000FF"/>
                </a:solidFill>
                <a:highlight>
                  <a:srgbClr val="FFFFFF"/>
                </a:highlight>
              </a:rPr>
              <a:t>&gt;</a:t>
            </a:r>
            <a:r>
              <a:rPr lang="en-US" altLang="zh-CN" sz="1200" dirty="0">
                <a:solidFill>
                  <a:srgbClr val="000000"/>
                </a:solidFill>
                <a:highlight>
                  <a:srgbClr val="FFFFFF"/>
                </a:highlight>
              </a:rPr>
              <a:t>Los Angeles</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p:arriving</a:t>
            </a:r>
            <a:r>
              <a:rPr lang="en-US" altLang="zh-CN" sz="1200" dirty="0">
                <a:solidFill>
                  <a:srgbClr val="0000FF"/>
                </a:solidFill>
                <a:highlight>
                  <a:srgbClr val="FFFFFF"/>
                </a:highlight>
              </a:rPr>
              <a:t>&gt;</a:t>
            </a:r>
            <a:r>
              <a:rPr lang="en-US" altLang="zh-CN" sz="1200" dirty="0">
                <a:solidFill>
                  <a:srgbClr val="000000"/>
                </a:solidFill>
                <a:highlight>
                  <a:srgbClr val="FFFFFF"/>
                </a:highlight>
              </a:rPr>
              <a:t>New York</a:t>
            </a:r>
            <a:r>
              <a:rPr lang="en-US" altLang="zh-CN" sz="1200" dirty="0">
                <a:solidFill>
                  <a:srgbClr val="0000FF"/>
                </a:solidFill>
                <a:highlight>
                  <a:srgbClr val="FFFFFF"/>
                </a:highlight>
              </a:rPr>
              <a:t>&lt;/</a:t>
            </a:r>
            <a:r>
              <a:rPr lang="en-US" altLang="zh-CN" sz="1200" dirty="0">
                <a:solidFill>
                  <a:srgbClr val="800000"/>
                </a:solidFill>
                <a:highlight>
                  <a:srgbClr val="FFFFFF"/>
                </a:highlight>
              </a:rPr>
              <a:t>p:arriving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p:departureDate</a:t>
            </a:r>
            <a:r>
              <a:rPr lang="en-US" altLang="zh-CN" sz="1200" dirty="0">
                <a:solidFill>
                  <a:srgbClr val="0000FF"/>
                </a:solidFill>
                <a:highlight>
                  <a:srgbClr val="FFFFFF"/>
                </a:highlight>
              </a:rPr>
              <a:t>&gt;</a:t>
            </a:r>
            <a:r>
              <a:rPr lang="en-US" altLang="zh-CN" sz="1200" dirty="0">
                <a:solidFill>
                  <a:srgbClr val="000000"/>
                </a:solidFill>
                <a:highlight>
                  <a:srgbClr val="FFFFFF"/>
                </a:highlight>
              </a:rPr>
              <a:t>2001-12-20</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p:departureDate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p:departureTime</a:t>
            </a:r>
            <a:r>
              <a:rPr lang="en-US" altLang="zh-CN" sz="1200" dirty="0">
                <a:solidFill>
                  <a:srgbClr val="0000FF"/>
                </a:solidFill>
                <a:highlight>
                  <a:srgbClr val="FFFFFF"/>
                </a:highlight>
              </a:rPr>
              <a:t>&gt;</a:t>
            </a:r>
            <a:r>
              <a:rPr lang="en-US" altLang="zh-CN" sz="1200" dirty="0">
                <a:solidFill>
                  <a:srgbClr val="000000"/>
                </a:solidFill>
                <a:highlight>
                  <a:srgbClr val="FFFFFF"/>
                </a:highlight>
              </a:rPr>
              <a:t>mid morning</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p:departureTime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p:seatPreference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p:return</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p:itinerary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q:lodging</a:t>
            </a:r>
            <a:r>
              <a:rPr lang="en-US" altLang="zh-CN" sz="1200" dirty="0">
                <a:solidFill>
                  <a:srgbClr val="FF0000"/>
                </a:solidFill>
                <a:highlight>
                  <a:srgbClr val="FFFFFF"/>
                </a:highlight>
              </a:rPr>
              <a:t> </a:t>
            </a: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xmlns:q</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http://travelcompany.example.org/reservation/hotels</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q:preference</a:t>
            </a:r>
            <a:r>
              <a:rPr lang="en-US" altLang="zh-CN" sz="1200" dirty="0">
                <a:solidFill>
                  <a:srgbClr val="0000FF"/>
                </a:solidFill>
                <a:highlight>
                  <a:srgbClr val="FFFFFF"/>
                </a:highlight>
              </a:rPr>
              <a:t>&gt;</a:t>
            </a:r>
            <a:r>
              <a:rPr lang="en-US" altLang="zh-CN" sz="1200" dirty="0">
                <a:solidFill>
                  <a:srgbClr val="000000"/>
                </a:solidFill>
                <a:highlight>
                  <a:srgbClr val="FFFFFF"/>
                </a:highlight>
              </a:rPr>
              <a:t>none</a:t>
            </a:r>
            <a:r>
              <a:rPr lang="en-US" altLang="zh-CN" sz="1200" dirty="0">
                <a:solidFill>
                  <a:srgbClr val="0000FF"/>
                </a:solidFill>
                <a:highlight>
                  <a:srgbClr val="FFFFFF"/>
                </a:highlight>
              </a:rPr>
              <a:t>&lt;/</a:t>
            </a:r>
            <a:r>
              <a:rPr lang="en-US" altLang="zh-CN" sz="1200" dirty="0">
                <a:solidFill>
                  <a:srgbClr val="800000"/>
                </a:solidFill>
                <a:highlight>
                  <a:srgbClr val="FFFFFF"/>
                </a:highlight>
              </a:rPr>
              <a:t>q:preference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q:lodging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env:Body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env:Envelope</a:t>
            </a:r>
            <a:r>
              <a:rPr lang="en-US" altLang="zh-CN" sz="1200" dirty="0">
                <a:solidFill>
                  <a:srgbClr val="0000FF"/>
                </a:solidFill>
                <a:highlight>
                  <a:srgbClr val="FFFFFF"/>
                </a:highlight>
              </a:rPr>
              <a:t>&gt;</a:t>
            </a:r>
            <a:endParaRPr lang="zh-CN" altLang="zh-CN" sz="1200" kern="100" dirty="0">
              <a:latin typeface="Calibri"/>
              <a:cs typeface="Times New Roman"/>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07C2CB79-FAD8-4AC1-AF1A-85AC65E6A19F}"/>
              </a:ext>
            </a:extLst>
          </p:cNvPr>
          <p:cNvSpPr>
            <a:spLocks noGrp="1"/>
          </p:cNvSpPr>
          <p:nvPr>
            <p:ph type="title"/>
          </p:nvPr>
        </p:nvSpPr>
        <p:spPr/>
        <p:txBody>
          <a:bodyPr>
            <a:normAutofit fontScale="90000"/>
          </a:bodyPr>
          <a:lstStyle/>
          <a:p>
            <a:r>
              <a:rPr lang="en-US" altLang="zh-CN" dirty="0"/>
              <a:t>SOAP Using SMTP</a:t>
            </a:r>
            <a:endParaRPr lang="zh-CN" altLang="en-US" dirty="0"/>
          </a:p>
        </p:txBody>
      </p:sp>
      <p:sp>
        <p:nvSpPr>
          <p:cNvPr id="141315" name="内容占位符 2">
            <a:extLst>
              <a:ext uri="{FF2B5EF4-FFF2-40B4-BE49-F238E27FC236}">
                <a16:creationId xmlns:a16="http://schemas.microsoft.com/office/drawing/2014/main" id="{C470B868-2195-4C5E-B3D1-B74939020E19}"/>
              </a:ext>
            </a:extLst>
          </p:cNvPr>
          <p:cNvSpPr>
            <a:spLocks noGrp="1"/>
          </p:cNvSpPr>
          <p:nvPr>
            <p:ph idx="1"/>
          </p:nvPr>
        </p:nvSpPr>
        <p:spPr/>
        <p:txBody>
          <a:bodyPr>
            <a:normAutofit fontScale="70000" lnSpcReduction="20000"/>
          </a:bodyPr>
          <a:lstStyle/>
          <a:p>
            <a:pPr>
              <a:lnSpc>
                <a:spcPct val="120000"/>
              </a:lnSpc>
              <a:defRPr/>
            </a:pPr>
            <a:r>
              <a:rPr lang="en-US" altLang="zh-CN" dirty="0"/>
              <a:t>Although an email is a one-way message exchange, and no guarantee of delivery is provided, email infrastructures like the </a:t>
            </a:r>
            <a:r>
              <a:rPr lang="en-US" altLang="zh-CN" dirty="0">
                <a:solidFill>
                  <a:srgbClr val="FF0000"/>
                </a:solidFill>
              </a:rPr>
              <a:t>Simple Mail Transport Protocol </a:t>
            </a:r>
            <a:r>
              <a:rPr lang="en-US" altLang="zh-CN" dirty="0"/>
              <a:t>(SMTP) specification offer a delivery notification mechanism which are called </a:t>
            </a:r>
            <a:r>
              <a:rPr lang="en-US" altLang="zh-CN" dirty="0">
                <a:solidFill>
                  <a:srgbClr val="FF0000"/>
                </a:solidFill>
              </a:rPr>
              <a:t>Delivery Status Notification</a:t>
            </a:r>
            <a:r>
              <a:rPr lang="en-US" altLang="zh-CN" dirty="0"/>
              <a:t> (DSN) and </a:t>
            </a:r>
            <a:r>
              <a:rPr lang="en-US" altLang="zh-CN" dirty="0">
                <a:solidFill>
                  <a:srgbClr val="FF0000"/>
                </a:solidFill>
              </a:rPr>
              <a:t>Message Disposition Notification</a:t>
            </a:r>
            <a:r>
              <a:rPr lang="en-US" altLang="zh-CN" dirty="0"/>
              <a:t> (MDN)</a:t>
            </a:r>
          </a:p>
          <a:p>
            <a:pPr>
              <a:lnSpc>
                <a:spcPct val="120000"/>
              </a:lnSpc>
              <a:defRPr/>
            </a:pPr>
            <a:r>
              <a:rPr lang="en-US" altLang="zh-CN" dirty="0"/>
              <a:t>SMTP delivery status messages are separate from message processing at the SOAP layer. Resulting SOAP responses to the contained SOAP data will be returned through a new email message which may or may not have a link to the original requesting email at the SMTP level</a:t>
            </a:r>
          </a:p>
          <a:p>
            <a:pPr>
              <a:lnSpc>
                <a:spcPct val="120000"/>
              </a:lnSpc>
              <a:defRPr/>
            </a:pPr>
            <a:r>
              <a:rPr lang="en-US" altLang="zh-CN" dirty="0"/>
              <a:t>The use of the </a:t>
            </a:r>
            <a:r>
              <a:rPr lang="en-US" altLang="zh-CN" i="1" dirty="0">
                <a:solidFill>
                  <a:srgbClr val="FF0000"/>
                </a:solidFill>
              </a:rPr>
              <a:t>In-reply-to</a:t>
            </a:r>
            <a:r>
              <a:rPr lang="en-US" altLang="zh-CN" dirty="0">
                <a:solidFill>
                  <a:srgbClr val="FF0000"/>
                </a:solidFill>
              </a:rPr>
              <a:t>:</a:t>
            </a:r>
            <a:r>
              <a:rPr lang="en-US" altLang="zh-CN" dirty="0"/>
              <a:t> header can achieve a correlation at the SMTP level, but does not necessarily offer a correlation at the SOAP level. How such correlation is achieved is application-specific, and is not within the scope of SOAP</a:t>
            </a:r>
          </a:p>
        </p:txBody>
      </p:sp>
      <p:sp>
        <p:nvSpPr>
          <p:cNvPr id="12292" name="灯片编号占位符 3">
            <a:extLst>
              <a:ext uri="{FF2B5EF4-FFF2-40B4-BE49-F238E27FC236}">
                <a16:creationId xmlns:a16="http://schemas.microsoft.com/office/drawing/2014/main" id="{4FE753FF-1DB7-4B0E-A848-C4F964B9487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28</a:t>
            </a:fld>
            <a:endParaRPr lang="en-US" altLang="zh-CN" sz="100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E9EE4D67-3CF4-4D61-993C-94361EDA9BE5}"/>
              </a:ext>
            </a:extLst>
          </p:cNvPr>
          <p:cNvSpPr>
            <a:spLocks noGrp="1"/>
          </p:cNvSpPr>
          <p:nvPr>
            <p:ph type="title"/>
          </p:nvPr>
        </p:nvSpPr>
        <p:spPr/>
        <p:txBody>
          <a:bodyPr>
            <a:normAutofit fontScale="90000"/>
          </a:bodyPr>
          <a:lstStyle/>
          <a:p>
            <a:r>
              <a:rPr lang="en-US" altLang="zh-CN" dirty="0"/>
              <a:t>SOAP Over Email Response (1/2)</a:t>
            </a:r>
            <a:endParaRPr lang="zh-CN" altLang="en-US" dirty="0"/>
          </a:p>
        </p:txBody>
      </p:sp>
      <p:sp>
        <p:nvSpPr>
          <p:cNvPr id="14339" name="灯片编号占位符 3">
            <a:extLst>
              <a:ext uri="{FF2B5EF4-FFF2-40B4-BE49-F238E27FC236}">
                <a16:creationId xmlns:a16="http://schemas.microsoft.com/office/drawing/2014/main" id="{27D8A93F-5E3A-47AB-90AC-569C4CEA711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29</a:t>
            </a:fld>
            <a:endParaRPr lang="en-US" altLang="zh-CN" sz="1000"/>
          </a:p>
        </p:txBody>
      </p:sp>
      <p:sp>
        <p:nvSpPr>
          <p:cNvPr id="5" name="Text Box 4">
            <a:extLst>
              <a:ext uri="{FF2B5EF4-FFF2-40B4-BE49-F238E27FC236}">
                <a16:creationId xmlns:a16="http://schemas.microsoft.com/office/drawing/2014/main" id="{0D66A21D-9834-4028-87F0-059C365177B2}"/>
              </a:ext>
            </a:extLst>
          </p:cNvPr>
          <p:cNvSpPr txBox="1">
            <a:spLocks noChangeArrowheads="1"/>
          </p:cNvSpPr>
          <p:nvPr/>
        </p:nvSpPr>
        <p:spPr bwMode="auto">
          <a:xfrm>
            <a:off x="539552" y="1196752"/>
            <a:ext cx="8229600" cy="559537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latin typeface="Arial" charset="0"/>
              </a:rPr>
              <a:t>From: reservations@travelcompany.example.org</a:t>
            </a:r>
          </a:p>
          <a:p>
            <a:pPr eaLnBrk="1" hangingPunct="1">
              <a:spcBef>
                <a:spcPct val="20000"/>
              </a:spcBef>
              <a:buClr>
                <a:schemeClr val="accent1"/>
              </a:buClr>
              <a:buFont typeface="Wingdings" panose="05000000000000000000" pitchFamily="2" charset="2"/>
              <a:buNone/>
              <a:defRPr/>
            </a:pPr>
            <a:r>
              <a:rPr lang="en-US" altLang="zh-CN" sz="1200" dirty="0">
                <a:latin typeface="Arial" charset="0"/>
              </a:rPr>
              <a:t>To: a.oyvind@mycompany.example.com</a:t>
            </a:r>
          </a:p>
          <a:p>
            <a:pPr eaLnBrk="1" hangingPunct="1">
              <a:spcBef>
                <a:spcPct val="20000"/>
              </a:spcBef>
              <a:buClr>
                <a:schemeClr val="accent1"/>
              </a:buClr>
              <a:buFont typeface="Wingdings" panose="05000000000000000000" pitchFamily="2" charset="2"/>
              <a:buNone/>
              <a:defRPr/>
            </a:pPr>
            <a:r>
              <a:rPr lang="en-US" altLang="zh-CN" sz="1200" dirty="0">
                <a:latin typeface="Arial" charset="0"/>
              </a:rPr>
              <a:t>Subject: Which NY airport?</a:t>
            </a:r>
          </a:p>
          <a:p>
            <a:pPr eaLnBrk="1" hangingPunct="1">
              <a:spcBef>
                <a:spcPct val="20000"/>
              </a:spcBef>
              <a:buClr>
                <a:schemeClr val="accent1"/>
              </a:buClr>
              <a:buFont typeface="Wingdings" panose="05000000000000000000" pitchFamily="2" charset="2"/>
              <a:buNone/>
              <a:defRPr/>
            </a:pPr>
            <a:r>
              <a:rPr lang="fr-FR" altLang="zh-CN" sz="1200" dirty="0">
                <a:latin typeface="Arial" charset="0"/>
              </a:rPr>
              <a:t>Date: Thu, 29 Nov 2001 13:35:11 EST</a:t>
            </a:r>
          </a:p>
          <a:p>
            <a:pPr eaLnBrk="1" hangingPunct="1">
              <a:spcBef>
                <a:spcPct val="20000"/>
              </a:spcBef>
              <a:buClr>
                <a:schemeClr val="accent1"/>
              </a:buClr>
              <a:buFont typeface="Wingdings" panose="05000000000000000000" pitchFamily="2" charset="2"/>
              <a:buNone/>
              <a:defRPr/>
            </a:pPr>
            <a:r>
              <a:rPr lang="en-US" altLang="zh-CN" sz="1200" dirty="0">
                <a:latin typeface="Arial" charset="0"/>
              </a:rPr>
              <a:t>Message-Id: &lt;200109251753.NAA10655@travelcompany.example.org&gt;</a:t>
            </a:r>
          </a:p>
          <a:p>
            <a:pPr eaLnBrk="1" hangingPunct="1">
              <a:spcBef>
                <a:spcPct val="20000"/>
              </a:spcBef>
              <a:buClr>
                <a:schemeClr val="accent1"/>
              </a:buClr>
              <a:buFont typeface="Wingdings" panose="05000000000000000000" pitchFamily="2" charset="2"/>
              <a:buNone/>
              <a:defRPr/>
            </a:pPr>
            <a:r>
              <a:rPr lang="en-US" altLang="zh-CN" sz="1200" dirty="0">
                <a:latin typeface="Arial" charset="0"/>
              </a:rPr>
              <a:t>In-reply-to:&lt;EE492E16A090090276D208424960C0C@mycompany.example.com&gt;</a:t>
            </a:r>
          </a:p>
          <a:p>
            <a:pPr eaLnBrk="1" hangingPunct="1">
              <a:spcBef>
                <a:spcPct val="20000"/>
              </a:spcBef>
              <a:buClr>
                <a:schemeClr val="accent1"/>
              </a:buClr>
              <a:buFont typeface="Wingdings" panose="05000000000000000000" pitchFamily="2" charset="2"/>
              <a:buNone/>
              <a:defRPr/>
            </a:pPr>
            <a:r>
              <a:rPr lang="en-US" altLang="zh-CN" sz="1200" dirty="0">
                <a:latin typeface="Arial" charset="0"/>
              </a:rPr>
              <a:t>Content-Type: application/</a:t>
            </a:r>
            <a:r>
              <a:rPr lang="en-US" altLang="zh-CN" sz="1200" dirty="0" err="1">
                <a:latin typeface="Arial" charset="0"/>
              </a:rPr>
              <a:t>soap+xml</a:t>
            </a:r>
            <a:endParaRPr lang="en-US" altLang="zh-CN" sz="1200" dirty="0">
              <a:latin typeface="Arial" charset="0"/>
            </a:endParaRPr>
          </a:p>
          <a:p>
            <a:pPr eaLnBrk="1" hangingPunct="1">
              <a:spcBef>
                <a:spcPct val="20000"/>
              </a:spcBef>
              <a:buClr>
                <a:schemeClr val="accent1"/>
              </a:buClr>
              <a:buFont typeface="Wingdings" panose="05000000000000000000" pitchFamily="2" charset="2"/>
              <a:buNone/>
              <a:defRPr/>
            </a:pPr>
            <a:endParaRPr lang="en-US" altLang="zh-CN" sz="1200" dirty="0">
              <a:solidFill>
                <a:srgbClr val="00808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env:Envelope</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xmlns:env</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http://www.w3.org/2003/05/soap-envelope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env:Header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m:reservation</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xmlns:m</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http://travelcompany.example.org/reservation</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env:role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http://www.w3.org/2003/05/soap-envelope/role/next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env:mustUnderstand</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true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m:reference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uuid:093a2da1-q345-739r-ba5d-pqff98fe8j7d</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m:reference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m:dateAndTime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2001-11-29T13:35:00.000-05:00</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m:dateAndTime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m:reservation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n:passenger</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xmlns:n</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http://mycompany.example.com/employees</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env:role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http://www.w3.org/2003/05/soap-envelope/role/next</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env:mustUnderstand</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true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n:name</a:t>
            </a:r>
            <a:r>
              <a:rPr lang="en-US" altLang="zh-CN" sz="1200" dirty="0">
                <a:solidFill>
                  <a:srgbClr val="0000FF"/>
                </a:solidFill>
                <a:highlight>
                  <a:srgbClr val="FFFFFF"/>
                </a:highlight>
                <a:latin typeface="Arial"/>
              </a:rPr>
              <a:t>&gt;</a:t>
            </a:r>
            <a:r>
              <a:rPr lang="en-US" altLang="zh-CN" sz="1200" dirty="0" err="1">
                <a:solidFill>
                  <a:srgbClr val="000000"/>
                </a:solidFill>
                <a:highlight>
                  <a:srgbClr val="FFFFFF"/>
                </a:highlight>
                <a:latin typeface="Arial"/>
              </a:rPr>
              <a:t>Åke</a:t>
            </a:r>
            <a:r>
              <a:rPr lang="en-US" altLang="zh-CN" sz="1200" dirty="0">
                <a:solidFill>
                  <a:srgbClr val="000000"/>
                </a:solidFill>
                <a:highlight>
                  <a:srgbClr val="FFFFFF"/>
                </a:highlight>
                <a:latin typeface="Arial"/>
              </a:rPr>
              <a:t> </a:t>
            </a:r>
            <a:r>
              <a:rPr lang="en-US" altLang="zh-CN" sz="1200" dirty="0" err="1">
                <a:solidFill>
                  <a:srgbClr val="000000"/>
                </a:solidFill>
                <a:highlight>
                  <a:srgbClr val="FFFFFF"/>
                </a:highlight>
                <a:latin typeface="Arial"/>
              </a:rPr>
              <a:t>Jógvan</a:t>
            </a:r>
            <a:r>
              <a:rPr lang="en-US" altLang="zh-CN" sz="1200" dirty="0">
                <a:solidFill>
                  <a:srgbClr val="000000"/>
                </a:solidFill>
                <a:highlight>
                  <a:srgbClr val="FFFFFF"/>
                </a:highlight>
                <a:latin typeface="Arial"/>
              </a:rPr>
              <a:t> </a:t>
            </a:r>
            <a:r>
              <a:rPr lang="en-US" altLang="zh-CN" sz="1200" dirty="0" err="1">
                <a:solidFill>
                  <a:srgbClr val="000000"/>
                </a:solidFill>
                <a:highlight>
                  <a:srgbClr val="FFFFFF"/>
                </a:highlight>
                <a:latin typeface="Arial"/>
              </a:rPr>
              <a:t>Øyvind</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n:name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n:passenger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env:Header</a:t>
            </a:r>
            <a:r>
              <a:rPr lang="en-US" altLang="zh-CN" sz="12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endParaRPr lang="zh-CN" altLang="zh-CN" sz="1200" kern="100" dirty="0">
              <a:latin typeface="Calibri"/>
              <a:ea typeface="宋体"/>
              <a:cs typeface="Times New Roman"/>
            </a:endParaRPr>
          </a:p>
        </p:txBody>
      </p:sp>
      <p:sp>
        <p:nvSpPr>
          <p:cNvPr id="6" name="Line 6">
            <a:extLst>
              <a:ext uri="{FF2B5EF4-FFF2-40B4-BE49-F238E27FC236}">
                <a16:creationId xmlns:a16="http://schemas.microsoft.com/office/drawing/2014/main" id="{30273AFB-93A9-4705-8CA0-01B9BA5A93BE}"/>
              </a:ext>
            </a:extLst>
          </p:cNvPr>
          <p:cNvSpPr>
            <a:spLocks noChangeShapeType="1"/>
          </p:cNvSpPr>
          <p:nvPr/>
        </p:nvSpPr>
        <p:spPr bwMode="auto">
          <a:xfrm flipH="1">
            <a:off x="6227763" y="2339975"/>
            <a:ext cx="1296987" cy="1174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B4A68AA4-E5B0-4836-95F9-BDEA3D4880B5}"/>
              </a:ext>
            </a:extLst>
          </p:cNvPr>
          <p:cNvSpPr>
            <a:spLocks noGrp="1"/>
          </p:cNvSpPr>
          <p:nvPr>
            <p:ph type="title"/>
          </p:nvPr>
        </p:nvSpPr>
        <p:spPr/>
        <p:txBody>
          <a:bodyPr>
            <a:normAutofit fontScale="90000"/>
          </a:bodyPr>
          <a:lstStyle/>
          <a:p>
            <a:r>
              <a:rPr lang="en-US" altLang="zh-CN" dirty="0"/>
              <a:t>SOAP Over Email Response (2/2)</a:t>
            </a:r>
            <a:endParaRPr lang="zh-CN" altLang="en-US" dirty="0"/>
          </a:p>
        </p:txBody>
      </p:sp>
      <p:sp>
        <p:nvSpPr>
          <p:cNvPr id="16387" name="灯片编号占位符 3">
            <a:extLst>
              <a:ext uri="{FF2B5EF4-FFF2-40B4-BE49-F238E27FC236}">
                <a16:creationId xmlns:a16="http://schemas.microsoft.com/office/drawing/2014/main" id="{DDA6F27C-CF72-470D-A421-C15CDDC74B54}"/>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F77C49E6-690F-4C63-96AA-25DC2EC13CFF}" type="slidenum">
              <a:rPr lang="en-US" altLang="zh-CN" smtClean="0"/>
              <a:pPr>
                <a:spcBef>
                  <a:spcPct val="0"/>
                </a:spcBef>
                <a:buClrTx/>
                <a:buFontTx/>
                <a:buNone/>
              </a:pPr>
              <a:t>30</a:t>
            </a:fld>
            <a:endParaRPr lang="en-US" altLang="zh-CN" sz="1000"/>
          </a:p>
        </p:txBody>
      </p:sp>
      <p:sp>
        <p:nvSpPr>
          <p:cNvPr id="5" name="Text Box 4">
            <a:extLst>
              <a:ext uri="{FF2B5EF4-FFF2-40B4-BE49-F238E27FC236}">
                <a16:creationId xmlns:a16="http://schemas.microsoft.com/office/drawing/2014/main" id="{AAE42EBC-BF28-4B74-9B8C-4ECF7B9EC16D}"/>
              </a:ext>
            </a:extLst>
          </p:cNvPr>
          <p:cNvSpPr txBox="1">
            <a:spLocks noChangeArrowheads="1"/>
          </p:cNvSpPr>
          <p:nvPr/>
        </p:nvSpPr>
        <p:spPr bwMode="auto">
          <a:xfrm>
            <a:off x="467544" y="2204864"/>
            <a:ext cx="8229600" cy="2492990"/>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env:Body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p:itinerary</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http://travelcompany.example.org/reservation/travel</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p:itineraryClarifications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p:itineraryClarifications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p:itinerary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env:Body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env:Envelope</a:t>
            </a:r>
            <a:r>
              <a:rPr lang="en-US" altLang="zh-CN" sz="1200" dirty="0">
                <a:solidFill>
                  <a:srgbClr val="0000FF"/>
                </a:solidFill>
                <a:highlight>
                  <a:srgbClr val="FFFFFF"/>
                </a:highlight>
                <a:latin typeface="Arial"/>
              </a:rPr>
              <a:t>&gt;</a:t>
            </a:r>
            <a:endParaRPr lang="zh-CN" altLang="zh-CN" sz="1200" kern="100" dirty="0">
              <a:latin typeface="Calibri"/>
              <a:ea typeface="宋体"/>
              <a:cs typeface="Times New Roman"/>
            </a:endParaRPr>
          </a:p>
        </p:txBody>
      </p:sp>
    </p:spTree>
  </p:cSld>
  <p:clrMapOvr>
    <a:masterClrMapping/>
  </p:clrMapOvr>
  <p:transition/>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17286</TotalTime>
  <Words>4871</Words>
  <Application>Microsoft Office PowerPoint</Application>
  <PresentationFormat>全屏显示(4:3)</PresentationFormat>
  <Paragraphs>438</Paragraphs>
  <Slides>30</Slides>
  <Notes>30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30</vt:i4>
      </vt:variant>
    </vt:vector>
  </HeadingPairs>
  <TitlesOfParts>
    <vt:vector size="36" baseType="lpstr">
      <vt:lpstr>Arial</vt:lpstr>
      <vt:lpstr>Calibri</vt:lpstr>
      <vt:lpstr>Courier New</vt:lpstr>
      <vt:lpstr>Verdana</vt:lpstr>
      <vt:lpstr>Wingdings</vt:lpstr>
      <vt:lpstr>software</vt:lpstr>
      <vt:lpstr>SOAP Binding Service-Oriented Software Engineering</vt:lpstr>
      <vt:lpstr>SOAP Binding Task</vt:lpstr>
      <vt:lpstr>Feature</vt:lpstr>
      <vt:lpstr>Support Features (1/2)</vt:lpstr>
      <vt:lpstr>Support Features (2/2)</vt:lpstr>
      <vt:lpstr>Message Exchange Pattern</vt:lpstr>
      <vt:lpstr>SOAP Web Method feature</vt:lpstr>
      <vt:lpstr>The SOAP HTTP Binding</vt:lpstr>
      <vt:lpstr>SOAP HTTP GET Request</vt:lpstr>
      <vt:lpstr>SOAP HTTP GET Response (1/2)</vt:lpstr>
      <vt:lpstr>SOAP HTTP GET Response (2/2)</vt:lpstr>
      <vt:lpstr>Encoding Schemes (1/2)*</vt:lpstr>
      <vt:lpstr>Encoding Schemes (2/2)</vt:lpstr>
      <vt:lpstr>SOAP HTTP POST Request (1/2)</vt:lpstr>
      <vt:lpstr>SOAP HTTP POST Request (2/2)</vt:lpstr>
      <vt:lpstr>SOAP HTTP POST OK Response</vt:lpstr>
      <vt:lpstr>SOAP HTTP POST Error Response</vt:lpstr>
      <vt:lpstr>Web Architecture Compatible  SOAP Usage (1/7)</vt:lpstr>
      <vt:lpstr>Web Architecture Compatible  SOAP Usage (2/7)</vt:lpstr>
      <vt:lpstr>Web Architecture Compatible  SOAP Usage (3/7)</vt:lpstr>
      <vt:lpstr>Web Architecture Compatible  SOAP Usage (4/7)</vt:lpstr>
      <vt:lpstr>Web Architecture Compatible  SOAP Usage (5/7)</vt:lpstr>
      <vt:lpstr>Web Architecture Compatible  SOAP Usage (6/7)</vt:lpstr>
      <vt:lpstr>Web Architecture Compatible  SOAP Usage (7/7)</vt:lpstr>
      <vt:lpstr>SOAP Over Email</vt:lpstr>
      <vt:lpstr>SOAP Over Email Request (1/2)</vt:lpstr>
      <vt:lpstr>SOAP Over Email Request (2/2)</vt:lpstr>
      <vt:lpstr>SOAP Using SMTP</vt:lpstr>
      <vt:lpstr>SOAP Over Email Response (1/2)</vt:lpstr>
      <vt:lpstr>SOAP Over Email Response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253</cp:revision>
  <dcterms:created xsi:type="dcterms:W3CDTF">2008-04-16T11:36:22Z</dcterms:created>
  <dcterms:modified xsi:type="dcterms:W3CDTF">2023-10-19T04:27:36Z</dcterms:modified>
</cp:coreProperties>
</file>