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52"/>
  </p:notesMasterIdLst>
  <p:sldIdLst>
    <p:sldId id="256" r:id="rId2"/>
    <p:sldId id="385" r:id="rId3"/>
    <p:sldId id="386" r:id="rId4"/>
    <p:sldId id="474" r:id="rId5"/>
    <p:sldId id="388" r:id="rId6"/>
    <p:sldId id="390" r:id="rId7"/>
    <p:sldId id="391" r:id="rId8"/>
    <p:sldId id="393" r:id="rId9"/>
    <p:sldId id="394" r:id="rId10"/>
    <p:sldId id="476" r:id="rId11"/>
    <p:sldId id="396" r:id="rId12"/>
    <p:sldId id="477" r:id="rId13"/>
    <p:sldId id="478" r:id="rId14"/>
    <p:sldId id="479" r:id="rId15"/>
    <p:sldId id="424" r:id="rId16"/>
    <p:sldId id="425" r:id="rId17"/>
    <p:sldId id="427" r:id="rId18"/>
    <p:sldId id="480" r:id="rId19"/>
    <p:sldId id="429" r:id="rId20"/>
    <p:sldId id="430" r:id="rId21"/>
    <p:sldId id="481" r:id="rId22"/>
    <p:sldId id="482" r:id="rId23"/>
    <p:sldId id="432" r:id="rId24"/>
    <p:sldId id="433" r:id="rId25"/>
    <p:sldId id="428" r:id="rId26"/>
    <p:sldId id="435" r:id="rId27"/>
    <p:sldId id="484" r:id="rId28"/>
    <p:sldId id="436" r:id="rId29"/>
    <p:sldId id="485" r:id="rId30"/>
    <p:sldId id="483" r:id="rId31"/>
    <p:sldId id="437" r:id="rId32"/>
    <p:sldId id="442" r:id="rId33"/>
    <p:sldId id="443" r:id="rId34"/>
    <p:sldId id="439" r:id="rId35"/>
    <p:sldId id="400" r:id="rId36"/>
    <p:sldId id="401" r:id="rId37"/>
    <p:sldId id="486" r:id="rId38"/>
    <p:sldId id="402" r:id="rId39"/>
    <p:sldId id="403" r:id="rId40"/>
    <p:sldId id="404" r:id="rId41"/>
    <p:sldId id="406" r:id="rId42"/>
    <p:sldId id="409" r:id="rId43"/>
    <p:sldId id="412" r:id="rId44"/>
    <p:sldId id="415" r:id="rId45"/>
    <p:sldId id="417" r:id="rId46"/>
    <p:sldId id="418" r:id="rId47"/>
    <p:sldId id="419" r:id="rId48"/>
    <p:sldId id="420" r:id="rId49"/>
    <p:sldId id="422" r:id="rId50"/>
    <p:sldId id="487" r:id="rId5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5E3B30BF-C23D-4A6F-B3EA-C4D5E02647E3}"/>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11348DEA-61C1-4E0F-93D4-6026DF78B6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D64C145F-AAA7-495E-B91B-D45B84F826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F2D040-98EB-42F3-85F8-BF2E06A1E970}"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57628963-9330-4BE3-8AE0-A55EDDA39B27}"/>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C19A99AB-554C-419E-804F-0385935396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817DAE37-96E8-4526-9E60-AA0BDB2F90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658604-A033-4E0C-88B6-308DE10AE61B}"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0FB07ACA-3D99-4CCF-B707-322AEBE3B1D3}"/>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5A120C21-0E69-4DA1-BFA0-5250033A5E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E24A00AA-4140-44BE-A78F-87C37F457E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7F4B87A-D4D3-47AC-8F4F-29A1C4E48876}" type="slidenum">
              <a:rPr lang="en-US" altLang="zh-CN"/>
              <a:pPr>
                <a:spcBef>
                  <a:spcPct val="0"/>
                </a:spcBef>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8D105894-D55A-4485-9180-CE706C562A48}"/>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AD5A2319-4E5C-4BE6-A75C-D9775A4309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04B07E2E-5B31-4DD5-A9B4-278C235925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74B3BE-591B-4765-A4FC-0CF0BB215D06}" type="slidenum">
              <a:rPr lang="en-US" altLang="zh-CN"/>
              <a:pPr>
                <a:spcBef>
                  <a:spcPct val="0"/>
                </a:spcBef>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2E431ACC-5186-4E39-BFCC-7764B4FEE8CC}"/>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90CCFC4A-E832-4415-A65B-4197C8C6B8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17DBF53A-5F22-4A24-8484-E893F5F5AA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4A044B-D601-4F42-8CF6-AF806883CD19}" type="slidenum">
              <a:rPr lang="en-US" altLang="zh-CN"/>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FBA34B67-1A73-4F3A-902B-DB79F9DA3F44}"/>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2E5A8A14-6811-4947-9DE1-4265D047C9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6410CC22-44A7-49D5-9EC3-66A60560DA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A3E0D9-5979-4C9C-B860-B14859AC761C}" type="slidenum">
              <a:rPr lang="en-US" altLang="zh-CN"/>
              <a:pPr>
                <a:spcBef>
                  <a:spcPct val="0"/>
                </a:spcBef>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C0EB95A2-4A52-4C45-A5DE-F796D76266DA}"/>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7A862BE1-AA6B-4346-9950-8EA6962D4B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35FACC19-9F16-45F0-8243-933FB75868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0D1AC4C-1E0D-474E-BC5C-1010CEDE26A1}" type="slidenum">
              <a:rPr lang="en-US" altLang="zh-CN"/>
              <a:pPr>
                <a:spcBef>
                  <a:spcPct val="0"/>
                </a:spcBef>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665BA4AE-A4B5-435A-AEBC-617F06C0B0DD}"/>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8848FEE8-F105-4C17-A205-F05962B50D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D064DD98-3E08-4B71-B460-74802D3F46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EB0CB95-7191-48E6-945B-171E76ABAC1B}" type="slidenum">
              <a:rPr lang="en-US" altLang="zh-CN"/>
              <a:pPr>
                <a:spcBef>
                  <a:spcPct val="0"/>
                </a:spcBef>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EB12F045-D491-4E27-BAB5-554C3F1A497C}"/>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1AC6A4AE-4EDC-46CE-8BB9-48D58448BF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2826F61E-5F74-42F6-89D5-D60D400E9E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BE47FA-F6AD-4B43-95A4-F92275691BA9}" type="slidenum">
              <a:rPr lang="en-US" altLang="zh-CN"/>
              <a:pPr>
                <a:spcBef>
                  <a:spcPct val="0"/>
                </a:spcBef>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A2E06C3C-20AC-49C9-A11E-A5CE54F8F660}"/>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18DB83E6-E74A-4216-AD9B-006572B98B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0A0364C6-6117-4EF8-A77A-D8D8850C2D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6E7A5F3-A1CE-4B39-851E-2AB0C8DD629C}" type="slidenum">
              <a:rPr lang="en-US" altLang="zh-CN"/>
              <a:pPr>
                <a:spcBef>
                  <a:spcPct val="0"/>
                </a:spcBef>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B053A950-38CC-4DF4-9FD6-BD94402C676E}"/>
              </a:ext>
            </a:extLst>
          </p:cNvPr>
          <p:cNvSpPr>
            <a:spLocks noGrp="1" noRot="1" noChangeAspect="1" noTextEdit="1"/>
          </p:cNvSpPr>
          <p:nvPr>
            <p:ph type="sldImg"/>
          </p:nvPr>
        </p:nvSpPr>
        <p:spPr>
          <a:ln/>
        </p:spPr>
      </p:sp>
      <p:sp>
        <p:nvSpPr>
          <p:cNvPr id="43011" name="备注占位符 2">
            <a:extLst>
              <a:ext uri="{FF2B5EF4-FFF2-40B4-BE49-F238E27FC236}">
                <a16:creationId xmlns:a16="http://schemas.microsoft.com/office/drawing/2014/main" id="{87BE3BB5-F7F3-4CC3-A75D-F282B2C04B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180F99E1-C752-4ED6-8C80-FD3CA2F6FC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AB3BD8-ED66-4DB6-B143-97F7ED54D813}" type="slidenum">
              <a:rPr lang="en-US" altLang="zh-CN"/>
              <a:pPr>
                <a:spcBef>
                  <a:spcPct val="0"/>
                </a:spcBef>
              </a:pPr>
              <a:t>12</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941C6BEF-2487-4B79-BDC0-6024B0F25B03}"/>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EB418DF2-7525-495F-A19D-0CE173AA7C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a:extLst>
              <a:ext uri="{FF2B5EF4-FFF2-40B4-BE49-F238E27FC236}">
                <a16:creationId xmlns:a16="http://schemas.microsoft.com/office/drawing/2014/main" id="{5A063A7F-16D3-4ADB-B7F6-E39DDBB8F6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E915F1C-78C7-469E-84BA-6F55885E3863}" type="slidenum">
              <a:rPr lang="en-US" altLang="zh-CN"/>
              <a:pPr>
                <a:spcBef>
                  <a:spcPct val="0"/>
                </a:spcBef>
              </a:pPr>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D4F9E6A7-6381-44FB-A7E9-3B3E0871B0DE}"/>
              </a:ext>
            </a:extLst>
          </p:cNvPr>
          <p:cNvSpPr>
            <a:spLocks noGrp="1" noRot="1" noChangeAspect="1" noTextEdit="1"/>
          </p:cNvSpPr>
          <p:nvPr>
            <p:ph type="sldImg"/>
          </p:nvPr>
        </p:nvSpPr>
        <p:spPr>
          <a:ln/>
        </p:spPr>
      </p:sp>
      <p:sp>
        <p:nvSpPr>
          <p:cNvPr id="47107" name="备注占位符 2">
            <a:extLst>
              <a:ext uri="{FF2B5EF4-FFF2-40B4-BE49-F238E27FC236}">
                <a16:creationId xmlns:a16="http://schemas.microsoft.com/office/drawing/2014/main" id="{FAD2A3E1-EC5C-4CD2-9FA2-5AB9AA962F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a:extLst>
              <a:ext uri="{FF2B5EF4-FFF2-40B4-BE49-F238E27FC236}">
                <a16:creationId xmlns:a16="http://schemas.microsoft.com/office/drawing/2014/main" id="{F4BA9532-E027-48E9-B1D3-1A51295781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091EF9-0F9D-4611-B8F6-BBDC4662FA33}" type="slidenum">
              <a:rPr lang="en-US" altLang="zh-CN"/>
              <a:pPr>
                <a:spcBef>
                  <a:spcPct val="0"/>
                </a:spcBef>
              </a:pPr>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67D919F5-C2A6-45CB-AE7F-71DB75BC9609}"/>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768A318D-B4E9-4B19-944E-48C5CF6F79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49D58D93-787F-4363-828C-2EC0C140550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8EE1C1-4FBB-44C6-A176-2676C43D05D3}" type="slidenum">
              <a:rPr lang="en-US" altLang="zh-CN"/>
              <a:pPr>
                <a:spcBef>
                  <a:spcPct val="0"/>
                </a:spcBef>
              </a:pPr>
              <a:t>15</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7DC347D3-0422-44B6-B5D7-16C530AC6CDE}"/>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B81E3B31-1E51-4829-8BD4-84E15EE0E1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DC955D29-F76F-4432-9DE2-5865DA132C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0318E42-B23B-4B75-8825-686BB080B081}" type="slidenum">
              <a:rPr lang="en-US" altLang="zh-CN"/>
              <a:pPr>
                <a:spcBef>
                  <a:spcPct val="0"/>
                </a:spcBef>
              </a:pPr>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D7FF6835-4ECD-4B91-B666-06803DB09385}"/>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8AF06E27-2D3C-467A-8150-FA899B6AD5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F759800C-91B2-4E6D-8C14-0DA3C8C86E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60A5F11-818A-481C-9252-D70EC0704A36}" type="slidenum">
              <a:rPr lang="en-US" altLang="zh-CN"/>
              <a:pPr>
                <a:spcBef>
                  <a:spcPct val="0"/>
                </a:spcBef>
              </a:pPr>
              <a:t>17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49068654-11D4-4F1B-81C5-21A0C2B36B50}"/>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7D0D5EF5-86FB-48A1-AEAE-CDF002E9C3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FFFE238A-CA3D-4375-94A6-FC4E23987D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4E463C-B04F-49EF-9ACB-E9B000A7FB1B}" type="slidenum">
              <a:rPr lang="en-US" altLang="zh-CN"/>
              <a:pPr>
                <a:spcBef>
                  <a:spcPct val="0"/>
                </a:spcBef>
              </a:pPr>
              <a:t>18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A607C05F-D6CE-4031-BFE8-7BAE8FBE7798}"/>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F9EBD12F-B97E-4170-9B88-43E51101F3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8E201B57-83D6-4E61-914E-0BA30860C8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A4FEFE-4CDA-46C2-A038-43E94713AC32}" type="slidenum">
              <a:rPr lang="en-US" altLang="zh-CN"/>
              <a:pPr>
                <a:spcBef>
                  <a:spcPct val="0"/>
                </a:spcBef>
              </a:pPr>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4846E660-1788-4813-9818-691ED769620C}"/>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82FB47A7-5C69-4219-A393-2224E5E4AA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3E1510C5-E0DF-41D5-9715-6B0D1F77DA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1E8C3BF-D3A7-454E-BBAD-83E12D39DFA6}" type="slidenum">
              <a:rPr lang="en-US" altLang="zh-CN"/>
              <a:pPr>
                <a:spcBef>
                  <a:spcPct val="0"/>
                </a:spcBef>
              </a:pPr>
              <a:t>20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D1D20892-CC04-4E56-9EF3-74545224938E}"/>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D564C510-B874-43A0-822B-41910E8D66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0AA378D3-834B-4E86-8619-5AB200A895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8DCB92-2D56-4BD9-A66E-497A023F47DC}" type="slidenum">
              <a:rPr lang="en-US" altLang="zh-CN"/>
              <a:pPr>
                <a:spcBef>
                  <a:spcPct val="0"/>
                </a:spcBef>
              </a:pPr>
              <a:t>21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B75120EA-92A1-4E43-83A9-1C981FB85F14}"/>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3476EF60-6D64-443F-BBAB-E3DCA4FAFE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964B729B-2027-494C-8CAD-C5CAEA3A85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067372-608D-4389-9699-97345B8529D7}" type="slidenum">
              <a:rPr lang="en-US" altLang="zh-CN"/>
              <a:pPr>
                <a:spcBef>
                  <a:spcPct val="0"/>
                </a:spcBef>
              </a:pPr>
              <a:t>22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6ACC9273-5C98-484E-B602-C133EC0C24E0}"/>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8CE05AB5-821F-4179-875D-8160BDEDFC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7F32EEEC-A7CA-4463-BDB9-A21F022998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DC8DEF4-BFE7-4D2D-8A0C-567E543CFF33}" type="slidenum">
              <a:rPr lang="en-US" altLang="zh-CN"/>
              <a:pPr>
                <a:spcBef>
                  <a:spcPct val="0"/>
                </a:spcBef>
              </a:pPr>
              <a:t>23</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18A01CAA-8BDC-46DA-B573-1EEB1B52C437}"/>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9D306E2A-4D75-4937-98BE-98E3277264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6BC70E34-3A06-4982-953B-170C4D6990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827CCF3-6323-4BEF-BB4D-7A4DC0678E5C}" type="slidenum">
              <a:rPr lang="en-US" altLang="zh-CN"/>
              <a:pPr>
                <a:spcBef>
                  <a:spcPct val="0"/>
                </a:spcBef>
              </a:pPr>
              <a:t>24</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673604C0-817F-4530-AB31-5F8BEE789A1F}"/>
              </a:ext>
            </a:extLst>
          </p:cNvPr>
          <p:cNvSpPr>
            <a:spLocks noGrp="1" noRot="1" noChangeAspect="1" noTextEdit="1"/>
          </p:cNvSpPr>
          <p:nvPr>
            <p:ph type="sldImg"/>
          </p:nvPr>
        </p:nvSpPr>
        <p:spPr>
          <a:ln/>
        </p:spPr>
      </p:sp>
      <p:sp>
        <p:nvSpPr>
          <p:cNvPr id="43011" name="备注占位符 2">
            <a:extLst>
              <a:ext uri="{FF2B5EF4-FFF2-40B4-BE49-F238E27FC236}">
                <a16:creationId xmlns:a16="http://schemas.microsoft.com/office/drawing/2014/main" id="{1088BBF3-E09E-4E13-924D-5E41E3693F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319D7931-1255-4FE1-A6A9-BC2763D736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F89AB58-1A59-4C8F-86F3-2E9C0783D0FB}" type="slidenum">
              <a:rPr lang="en-US" altLang="zh-CN"/>
              <a:pPr>
                <a:spcBef>
                  <a:spcPct val="0"/>
                </a:spcBef>
              </a:pPr>
              <a:t>25</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12C42685-F974-48B0-BD82-3F8FD34E8686}"/>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C1392312-4C30-41F2-8FE5-D2E14CE48A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a:extLst>
              <a:ext uri="{FF2B5EF4-FFF2-40B4-BE49-F238E27FC236}">
                <a16:creationId xmlns:a16="http://schemas.microsoft.com/office/drawing/2014/main" id="{4F9DE6EB-3F9A-48B8-B9DD-08006363F1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F6D79E8-AE10-4835-8D5B-9579195433B0}" type="slidenum">
              <a:rPr lang="en-US" altLang="zh-CN"/>
              <a:pPr>
                <a:spcBef>
                  <a:spcPct val="0"/>
                </a:spcBef>
              </a:pPr>
              <a:t>26</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CA7941C4-06AE-4AD6-93F7-9F7DFF615EC7}"/>
              </a:ext>
            </a:extLst>
          </p:cNvPr>
          <p:cNvSpPr>
            <a:spLocks noGrp="1" noRot="1" noChangeAspect="1" noTextEdit="1"/>
          </p:cNvSpPr>
          <p:nvPr>
            <p:ph type="sldImg"/>
          </p:nvPr>
        </p:nvSpPr>
        <p:spPr>
          <a:ln/>
        </p:spPr>
      </p:sp>
      <p:sp>
        <p:nvSpPr>
          <p:cNvPr id="47107" name="备注占位符 2">
            <a:extLst>
              <a:ext uri="{FF2B5EF4-FFF2-40B4-BE49-F238E27FC236}">
                <a16:creationId xmlns:a16="http://schemas.microsoft.com/office/drawing/2014/main" id="{E332DFA5-0F3C-4E79-B258-00ED5F8001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a:extLst>
              <a:ext uri="{FF2B5EF4-FFF2-40B4-BE49-F238E27FC236}">
                <a16:creationId xmlns:a16="http://schemas.microsoft.com/office/drawing/2014/main" id="{6F42B9D2-082C-4974-971D-33C8AF4B18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89ECC9F-B07F-4258-98C1-3740431F9F34}" type="slidenum">
              <a:rPr lang="en-US" altLang="zh-CN"/>
              <a:pPr>
                <a:spcBef>
                  <a:spcPct val="0"/>
                </a:spcBef>
              </a:pPr>
              <a:t>27</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30DD98EE-5778-4A18-B1CE-22C5C76FD61B}"/>
              </a:ext>
            </a:extLst>
          </p:cNvPr>
          <p:cNvSpPr>
            <a:spLocks noGrp="1" noRot="1" noChangeAspect="1" noTextEdit="1"/>
          </p:cNvSpPr>
          <p:nvPr>
            <p:ph type="sldImg"/>
          </p:nvPr>
        </p:nvSpPr>
        <p:spPr>
          <a:ln/>
        </p:spPr>
      </p:sp>
      <p:sp>
        <p:nvSpPr>
          <p:cNvPr id="49155" name="备注占位符 2">
            <a:extLst>
              <a:ext uri="{FF2B5EF4-FFF2-40B4-BE49-F238E27FC236}">
                <a16:creationId xmlns:a16="http://schemas.microsoft.com/office/drawing/2014/main" id="{FB79A333-83DB-4C07-B03D-B1FFDE0BA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9156" name="灯片编号占位符 3">
            <a:extLst>
              <a:ext uri="{FF2B5EF4-FFF2-40B4-BE49-F238E27FC236}">
                <a16:creationId xmlns:a16="http://schemas.microsoft.com/office/drawing/2014/main" id="{B473433A-9495-43EF-B4F0-147A84F7CF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F4C4E2-F10E-4888-8F4A-82404D234EAC}" type="slidenum">
              <a:rPr lang="en-US" altLang="zh-CN"/>
              <a:pPr>
                <a:spcBef>
                  <a:spcPct val="0"/>
                </a:spcBef>
              </a:pPr>
              <a:t>28</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CE3EA39A-2F17-47F1-9D53-3BC0262BDCE2}"/>
              </a:ext>
            </a:extLst>
          </p:cNvPr>
          <p:cNvSpPr>
            <a:spLocks noGrp="1" noRot="1" noChangeAspect="1" noTextEdit="1"/>
          </p:cNvSpPr>
          <p:nvPr>
            <p:ph type="sldImg"/>
          </p:nvPr>
        </p:nvSpPr>
        <p:spPr>
          <a:ln/>
        </p:spPr>
      </p:sp>
      <p:sp>
        <p:nvSpPr>
          <p:cNvPr id="51203" name="备注占位符 2">
            <a:extLst>
              <a:ext uri="{FF2B5EF4-FFF2-40B4-BE49-F238E27FC236}">
                <a16:creationId xmlns:a16="http://schemas.microsoft.com/office/drawing/2014/main" id="{D260F206-C3BB-4D31-8991-2B8973998A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1204" name="灯片编号占位符 3">
            <a:extLst>
              <a:ext uri="{FF2B5EF4-FFF2-40B4-BE49-F238E27FC236}">
                <a16:creationId xmlns:a16="http://schemas.microsoft.com/office/drawing/2014/main" id="{4CEFBD1A-162C-4F29-A7F7-AC812E1AB1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484D31F-C46C-4761-937D-E2B1BCC0F8B8}" type="slidenum">
              <a:rPr lang="en-US" altLang="zh-CN"/>
              <a:pPr>
                <a:spcBef>
                  <a:spcPct val="0"/>
                </a:spcBef>
              </a:pPr>
              <a:t>29</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9CD68DB7-F593-4D65-BE4D-C11F7C4CDC42}"/>
              </a:ext>
            </a:extLst>
          </p:cNvPr>
          <p:cNvSpPr>
            <a:spLocks noGrp="1" noRot="1" noChangeAspect="1" noTextEdit="1"/>
          </p:cNvSpPr>
          <p:nvPr>
            <p:ph type="sldImg"/>
          </p:nvPr>
        </p:nvSpPr>
        <p:spPr>
          <a:ln/>
        </p:spPr>
      </p:sp>
      <p:sp>
        <p:nvSpPr>
          <p:cNvPr id="53251" name="备注占位符 2">
            <a:extLst>
              <a:ext uri="{FF2B5EF4-FFF2-40B4-BE49-F238E27FC236}">
                <a16:creationId xmlns:a16="http://schemas.microsoft.com/office/drawing/2014/main" id="{7CD95C8E-1A2A-4EAA-BBBF-41D90BEC8E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3252" name="灯片编号占位符 3">
            <a:extLst>
              <a:ext uri="{FF2B5EF4-FFF2-40B4-BE49-F238E27FC236}">
                <a16:creationId xmlns:a16="http://schemas.microsoft.com/office/drawing/2014/main" id="{2224E61E-6D58-421A-B536-541AB9E089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03AC7E7-8000-4E22-90D9-B6DC467CB489}" type="slidenum">
              <a:rPr lang="en-US" altLang="zh-CN"/>
              <a:pPr>
                <a:spcBef>
                  <a:spcPct val="0"/>
                </a:spcBef>
              </a:pPr>
              <a:t>30</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6112B39E-350B-450F-8708-3EB9E2D3A381}"/>
              </a:ext>
            </a:extLst>
          </p:cNvPr>
          <p:cNvSpPr>
            <a:spLocks noGrp="1" noRot="1" noChangeAspect="1" noTextEdit="1"/>
          </p:cNvSpPr>
          <p:nvPr>
            <p:ph type="sldImg"/>
          </p:nvPr>
        </p:nvSpPr>
        <p:spPr>
          <a:ln/>
        </p:spPr>
      </p:sp>
      <p:sp>
        <p:nvSpPr>
          <p:cNvPr id="55299" name="备注占位符 2">
            <a:extLst>
              <a:ext uri="{FF2B5EF4-FFF2-40B4-BE49-F238E27FC236}">
                <a16:creationId xmlns:a16="http://schemas.microsoft.com/office/drawing/2014/main" id="{5915547B-7916-45F9-9F45-32073F1FA6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5300" name="灯片编号占位符 3">
            <a:extLst>
              <a:ext uri="{FF2B5EF4-FFF2-40B4-BE49-F238E27FC236}">
                <a16:creationId xmlns:a16="http://schemas.microsoft.com/office/drawing/2014/main" id="{83040501-76C4-4157-9514-AA28113DF7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488873-FC42-4554-A873-7EC6689D4D5D}" type="slidenum">
              <a:rPr lang="en-US" altLang="zh-CN"/>
              <a:pPr>
                <a:spcBef>
                  <a:spcPct val="0"/>
                </a:spcBef>
              </a:pPr>
              <a:t>31</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AC3EAB26-CA5C-41BA-B1F5-24C24B1A9B4A}"/>
              </a:ext>
            </a:extLst>
          </p:cNvPr>
          <p:cNvSpPr>
            <a:spLocks noGrp="1" noRot="1" noChangeAspect="1" noTextEdit="1"/>
          </p:cNvSpPr>
          <p:nvPr>
            <p:ph type="sldImg"/>
          </p:nvPr>
        </p:nvSpPr>
        <p:spPr>
          <a:ln/>
        </p:spPr>
      </p:sp>
      <p:sp>
        <p:nvSpPr>
          <p:cNvPr id="57347" name="备注占位符 2">
            <a:extLst>
              <a:ext uri="{FF2B5EF4-FFF2-40B4-BE49-F238E27FC236}">
                <a16:creationId xmlns:a16="http://schemas.microsoft.com/office/drawing/2014/main" id="{A372614C-A679-442D-B8C2-AB28F30617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7348" name="灯片编号占位符 3">
            <a:extLst>
              <a:ext uri="{FF2B5EF4-FFF2-40B4-BE49-F238E27FC236}">
                <a16:creationId xmlns:a16="http://schemas.microsoft.com/office/drawing/2014/main" id="{68874C8D-CE91-4BC1-9E49-21C19070D1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C260630-4B02-4C12-B402-BCB13CDA21D8}" type="slidenum">
              <a:rPr lang="en-US" altLang="zh-CN"/>
              <a:pPr>
                <a:spcBef>
                  <a:spcPct val="0"/>
                </a:spcBef>
              </a:pPr>
              <a:t>32</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73C0415B-616C-42B5-9823-46B0F0A48A4E}"/>
              </a:ext>
            </a:extLst>
          </p:cNvPr>
          <p:cNvSpPr>
            <a:spLocks noGrp="1" noRot="1" noChangeAspect="1" noTextEdit="1"/>
          </p:cNvSpPr>
          <p:nvPr>
            <p:ph type="sldImg"/>
          </p:nvPr>
        </p:nvSpPr>
        <p:spPr>
          <a:ln/>
        </p:spPr>
      </p:sp>
      <p:sp>
        <p:nvSpPr>
          <p:cNvPr id="59395" name="备注占位符 2">
            <a:extLst>
              <a:ext uri="{FF2B5EF4-FFF2-40B4-BE49-F238E27FC236}">
                <a16:creationId xmlns:a16="http://schemas.microsoft.com/office/drawing/2014/main" id="{DE9DC9F6-A357-4F3C-8D0E-300934C03B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9396" name="灯片编号占位符 3">
            <a:extLst>
              <a:ext uri="{FF2B5EF4-FFF2-40B4-BE49-F238E27FC236}">
                <a16:creationId xmlns:a16="http://schemas.microsoft.com/office/drawing/2014/main" id="{D52DD226-ACA8-43EE-ABB0-0CC66281AA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482AD9-B16D-44EB-BF5C-E1419D15D13A}" type="slidenum">
              <a:rPr lang="en-US" altLang="zh-CN"/>
              <a:pPr>
                <a:spcBef>
                  <a:spcPct val="0"/>
                </a:spcBef>
              </a:pPr>
              <a:t>33</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a:extLst>
              <a:ext uri="{FF2B5EF4-FFF2-40B4-BE49-F238E27FC236}">
                <a16:creationId xmlns:a16="http://schemas.microsoft.com/office/drawing/2014/main" id="{9DC8EECE-E092-413E-BC5C-722198F10238}"/>
              </a:ext>
            </a:extLst>
          </p:cNvPr>
          <p:cNvSpPr>
            <a:spLocks noGrp="1" noRot="1" noChangeAspect="1" noTextEdit="1"/>
          </p:cNvSpPr>
          <p:nvPr>
            <p:ph type="sldImg"/>
          </p:nvPr>
        </p:nvSpPr>
        <p:spPr>
          <a:ln/>
        </p:spPr>
      </p:sp>
      <p:sp>
        <p:nvSpPr>
          <p:cNvPr id="61443" name="备注占位符 2">
            <a:extLst>
              <a:ext uri="{FF2B5EF4-FFF2-40B4-BE49-F238E27FC236}">
                <a16:creationId xmlns:a16="http://schemas.microsoft.com/office/drawing/2014/main" id="{AAB8A01D-57B0-4755-B679-E108DC3972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1444" name="灯片编号占位符 3">
            <a:extLst>
              <a:ext uri="{FF2B5EF4-FFF2-40B4-BE49-F238E27FC236}">
                <a16:creationId xmlns:a16="http://schemas.microsoft.com/office/drawing/2014/main" id="{C92F3A16-97EC-4B9A-87AC-A8617B9E13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4BC93D9-5374-4199-95CE-009A89B4DA05}" type="slidenum">
              <a:rPr lang="en-US" altLang="zh-CN"/>
              <a:pPr>
                <a:spcBef>
                  <a:spcPct val="0"/>
                </a:spcBef>
              </a:pPr>
              <a:t>34</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5332E350-365F-402F-B7B3-3DEFC30B2248}"/>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BFCCF2C5-8C86-4C16-AD34-B7071CE496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E2CB40AA-7D7B-450E-9D41-3B8DC77CC3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2584B8-B57F-4826-93E5-CE7683D803D1}" type="slidenum">
              <a:rPr lang="en-US" altLang="zh-CN"/>
              <a:pPr>
                <a:spcBef>
                  <a:spcPct val="0"/>
                </a:spcBef>
              </a:pPr>
              <a:t>35</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112E37BC-A94D-4A2C-A3C9-EBAFC2EAFAD5}"/>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477D6D2A-EB83-4883-AB79-7B1FC1E0727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2D16ACD9-4A0F-4170-AB42-CD8DFA4248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39C5BBB-8268-4E0F-BF82-0C78BCA1CA1C}" type="slidenum">
              <a:rPr lang="en-US" altLang="zh-CN"/>
              <a:pPr>
                <a:spcBef>
                  <a:spcPct val="0"/>
                </a:spcBef>
              </a:pPr>
              <a:t>36</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70EB8AEE-24DC-4DA1-B216-AC768F654AAE}"/>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FA63B64B-2FEF-44B2-A650-B0BDF12514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198DF810-B6B4-4A42-B801-FA2AC79A28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3FD4E60-5287-4477-8AC8-E2C20C1EC35A}" type="slidenum">
              <a:rPr lang="en-US" altLang="zh-CN"/>
              <a:pPr>
                <a:spcBef>
                  <a:spcPct val="0"/>
                </a:spcBef>
              </a:pPr>
              <a:t>37</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65C59207-8367-45F5-A3E2-7FF22AC399FF}"/>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7FDBD5D8-132D-43A6-8D51-E3FE42DF18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54CB599F-15E1-47A7-BC09-87FC439C6F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62D420-E1DD-45EC-91F0-91F3E0C92256}" type="slidenum">
              <a:rPr lang="en-US" altLang="zh-CN"/>
              <a:pPr>
                <a:spcBef>
                  <a:spcPct val="0"/>
                </a:spcBef>
              </a:pPr>
              <a:t>38</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63B18CAE-A19C-455B-A195-34D742FBC297}"/>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B65A699F-BA8A-4B91-97E5-34861B5FD8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C43E6841-BDB4-4E89-B872-966D97382E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40638C-B9B9-4F1A-92B7-5FAE51168585}" type="slidenum">
              <a:rPr lang="en-US" altLang="zh-CN"/>
              <a:pPr>
                <a:spcBef>
                  <a:spcPct val="0"/>
                </a:spcBef>
              </a:pPr>
              <a:t>39</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8BFC65A4-4AD1-4611-8056-D069FD536B48}"/>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681D058D-8733-4DC9-B277-B94ACDDF79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9E2D8343-43A9-4AD2-8904-DE126A83BE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3BC336-99C0-4EC7-8DB1-259492C452EE}" type="slidenum">
              <a:rPr lang="en-US" altLang="zh-CN"/>
              <a:pPr>
                <a:spcBef>
                  <a:spcPct val="0"/>
                </a:spcBef>
              </a:pPr>
              <a:t>40</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2DBB537E-999D-452E-82D0-8B07EE1FBE6F}"/>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D1744BCD-CE2E-4836-A74B-E9624418C9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017ADCB8-0B8E-4E08-B67F-52D0382BB2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CC9902-2A28-46C8-877F-6435FD7959A3}" type="slidenum">
              <a:rPr lang="en-US" altLang="zh-CN"/>
              <a:pPr>
                <a:spcBef>
                  <a:spcPct val="0"/>
                </a:spcBef>
              </a:pPr>
              <a:t>41</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3F65DFC1-9883-4231-9B3F-64914371A100}"/>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2D9CB13F-5B87-4AE2-B600-834E9E1E8D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40C95EDE-26E2-4D25-8BB5-2093E7AC48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08EEE4-D9D1-4AB0-A627-B2A949B8175E}" type="slidenum">
              <a:rPr lang="en-US" altLang="zh-CN"/>
              <a:pPr>
                <a:spcBef>
                  <a:spcPct val="0"/>
                </a:spcBef>
              </a:pPr>
              <a:t>42</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53D0F8DB-1C8F-483B-86E6-9036051425E7}"/>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3F180ED5-FCC7-4410-A7BD-FFB7C0462F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4DCCD140-8BFD-488F-8A75-3F825D0D8F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C08B22-DA1C-4C17-BF6D-226D4C3BAAC0}" type="slidenum">
              <a:rPr lang="en-US" altLang="zh-CN"/>
              <a:pPr>
                <a:spcBef>
                  <a:spcPct val="0"/>
                </a:spcBef>
              </a:pPr>
              <a:t>43</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45A80DF3-3E92-4C03-A27A-44BA0F104750}"/>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6BB46E34-5973-4372-BF92-799EFD6BF3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1AB816A1-B655-4047-B3C8-E1111EB261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9EE6850-BC06-44C3-A6A2-2713A90BDB36}" type="slidenum">
              <a:rPr lang="en-US" altLang="zh-CN"/>
              <a:pPr>
                <a:spcBef>
                  <a:spcPct val="0"/>
                </a:spcBef>
              </a:pPr>
              <a:t>44</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C4CCEBD2-B72D-4774-8566-D0849A5D8919}"/>
              </a:ext>
            </a:extLst>
          </p:cNvPr>
          <p:cNvSpPr>
            <a:spLocks noGrp="1" noRot="1" noChangeAspect="1" noTextEdit="1"/>
          </p:cNvSpPr>
          <p:nvPr>
            <p:ph type="sldImg"/>
          </p:nvPr>
        </p:nvSpPr>
        <p:spPr>
          <a:ln/>
        </p:spPr>
      </p:sp>
      <p:sp>
        <p:nvSpPr>
          <p:cNvPr id="43011" name="备注占位符 2">
            <a:extLst>
              <a:ext uri="{FF2B5EF4-FFF2-40B4-BE49-F238E27FC236}">
                <a16:creationId xmlns:a16="http://schemas.microsoft.com/office/drawing/2014/main" id="{530A2CDC-B2BA-4D61-9D92-E89EDC4882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60986677-5189-48BD-901A-D4D352D9B0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FCA000-E5ED-40D5-8B0C-7BBF0A584CC6}" type="slidenum">
              <a:rPr lang="en-US" altLang="zh-CN"/>
              <a:pPr>
                <a:spcBef>
                  <a:spcPct val="0"/>
                </a:spcBef>
              </a:pPr>
              <a:t>45</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AD38CA8E-3C9E-43BB-A0A8-EB757F8ED485}"/>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AB8121FE-0633-4387-9F06-FF432E5ADC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a:extLst>
              <a:ext uri="{FF2B5EF4-FFF2-40B4-BE49-F238E27FC236}">
                <a16:creationId xmlns:a16="http://schemas.microsoft.com/office/drawing/2014/main" id="{7FE5D733-C3FD-4FA8-BA72-07487F2A7C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5E65F90-88EA-4707-A0A7-07D93DBC6EF0}" type="slidenum">
              <a:rPr lang="en-US" altLang="zh-CN"/>
              <a:pPr>
                <a:spcBef>
                  <a:spcPct val="0"/>
                </a:spcBef>
              </a:pPr>
              <a:t>46</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6DAB1880-FF2B-4A40-AEF0-CD3C0807D48A}"/>
              </a:ext>
            </a:extLst>
          </p:cNvPr>
          <p:cNvSpPr>
            <a:spLocks noGrp="1" noRot="1" noChangeAspect="1" noTextEdit="1"/>
          </p:cNvSpPr>
          <p:nvPr>
            <p:ph type="sldImg"/>
          </p:nvPr>
        </p:nvSpPr>
        <p:spPr>
          <a:ln/>
        </p:spPr>
      </p:sp>
      <p:sp>
        <p:nvSpPr>
          <p:cNvPr id="47107" name="备注占位符 2">
            <a:extLst>
              <a:ext uri="{FF2B5EF4-FFF2-40B4-BE49-F238E27FC236}">
                <a16:creationId xmlns:a16="http://schemas.microsoft.com/office/drawing/2014/main" id="{318B24D2-EF86-4511-A11E-5176186A0E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a:extLst>
              <a:ext uri="{FF2B5EF4-FFF2-40B4-BE49-F238E27FC236}">
                <a16:creationId xmlns:a16="http://schemas.microsoft.com/office/drawing/2014/main" id="{19877A01-5F95-45AD-BD6E-EF165CE603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78D59F9-A2B4-4231-A803-A8B18AFFE7A0}" type="slidenum">
              <a:rPr lang="en-US" altLang="zh-CN"/>
              <a:pPr>
                <a:spcBef>
                  <a:spcPct val="0"/>
                </a:spcBef>
              </a:pPr>
              <a:t>47</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7A7B37BC-68DE-47B2-8EB6-6AF7D7A9ABBD}"/>
              </a:ext>
            </a:extLst>
          </p:cNvPr>
          <p:cNvSpPr>
            <a:spLocks noGrp="1" noRot="1" noChangeAspect="1" noTextEdit="1"/>
          </p:cNvSpPr>
          <p:nvPr>
            <p:ph type="sldImg"/>
          </p:nvPr>
        </p:nvSpPr>
        <p:spPr>
          <a:ln/>
        </p:spPr>
      </p:sp>
      <p:sp>
        <p:nvSpPr>
          <p:cNvPr id="49155" name="备注占位符 2">
            <a:extLst>
              <a:ext uri="{FF2B5EF4-FFF2-40B4-BE49-F238E27FC236}">
                <a16:creationId xmlns:a16="http://schemas.microsoft.com/office/drawing/2014/main" id="{F1472ECD-9C04-43C4-972B-14A8745343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9156" name="灯片编号占位符 3">
            <a:extLst>
              <a:ext uri="{FF2B5EF4-FFF2-40B4-BE49-F238E27FC236}">
                <a16:creationId xmlns:a16="http://schemas.microsoft.com/office/drawing/2014/main" id="{6B5A24DA-78C4-419D-A678-9D30793415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998DDE6-10D8-447E-8592-959931B8A508}" type="slidenum">
              <a:rPr lang="en-US" altLang="zh-CN"/>
              <a:pPr>
                <a:spcBef>
                  <a:spcPct val="0"/>
                </a:spcBef>
              </a:pPr>
              <a:t>48</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E753ED45-A43A-4F01-A8DA-CDE4AAF8665C}"/>
              </a:ext>
            </a:extLst>
          </p:cNvPr>
          <p:cNvSpPr>
            <a:spLocks noGrp="1" noRot="1" noChangeAspect="1" noTextEdit="1"/>
          </p:cNvSpPr>
          <p:nvPr>
            <p:ph type="sldImg"/>
          </p:nvPr>
        </p:nvSpPr>
        <p:spPr>
          <a:ln/>
        </p:spPr>
      </p:sp>
      <p:sp>
        <p:nvSpPr>
          <p:cNvPr id="51203" name="备注占位符 2">
            <a:extLst>
              <a:ext uri="{FF2B5EF4-FFF2-40B4-BE49-F238E27FC236}">
                <a16:creationId xmlns:a16="http://schemas.microsoft.com/office/drawing/2014/main" id="{B252C72C-3A6C-4379-B109-E498BD2C7A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1204" name="灯片编号占位符 3">
            <a:extLst>
              <a:ext uri="{FF2B5EF4-FFF2-40B4-BE49-F238E27FC236}">
                <a16:creationId xmlns:a16="http://schemas.microsoft.com/office/drawing/2014/main" id="{B83FE59D-86C0-48CC-B302-9F4C828665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CF8204A-1A32-4624-A0EC-1A112A113DE0}" type="slidenum">
              <a:rPr lang="en-US" altLang="zh-CN"/>
              <a:pPr>
                <a:spcBef>
                  <a:spcPct val="0"/>
                </a:spcBef>
              </a:pPr>
              <a:t>49</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77E00FC4-38D3-4E66-8EFF-C6700D9B19B9}"/>
              </a:ext>
            </a:extLst>
          </p:cNvPr>
          <p:cNvSpPr>
            <a:spLocks noGrp="1" noRot="1" noChangeAspect="1" noTextEdit="1"/>
          </p:cNvSpPr>
          <p:nvPr>
            <p:ph type="sldImg"/>
          </p:nvPr>
        </p:nvSpPr>
        <p:spPr>
          <a:ln/>
        </p:spPr>
      </p:sp>
      <p:sp>
        <p:nvSpPr>
          <p:cNvPr id="53251" name="备注占位符 2">
            <a:extLst>
              <a:ext uri="{FF2B5EF4-FFF2-40B4-BE49-F238E27FC236}">
                <a16:creationId xmlns:a16="http://schemas.microsoft.com/office/drawing/2014/main" id="{43A94550-E49C-45B3-A5EF-387E73D49F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3252" name="灯片编号占位符 3">
            <a:extLst>
              <a:ext uri="{FF2B5EF4-FFF2-40B4-BE49-F238E27FC236}">
                <a16:creationId xmlns:a16="http://schemas.microsoft.com/office/drawing/2014/main" id="{1EC78301-833A-49A0-956A-58A7633DD4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6493FF2-7F1E-45B4-8171-89BB5F13B31D}" type="slidenum">
              <a:rPr lang="en-US" altLang="zh-CN"/>
              <a:pPr>
                <a:spcBef>
                  <a:spcPct val="0"/>
                </a:spcBef>
              </a:pPr>
              <a:t>50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w3.org/2001/ta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w3.org/2002/ws/desc/wsdl20-adjuncts#RPCStyl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www.w3.org/2002/ws/desc/wsdl20-adjuncts" TargetMode="External"/><Relationship Id="rId5" Type="http://schemas.openxmlformats.org/officeDocument/2006/relationships/hyperlink" Target="#WSDL-PART2"/><Relationship Id="rId4" Type="http://schemas.openxmlformats.org/officeDocument/2006/relationships/hyperlink" Target="a"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web-extensible"/><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jaxrpc"/><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WS-A"/><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1"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more-interfaces-inheritance"/></Relationships>
</file>

<file path=ppt/slides/_rels/slide16.xml.rels><?xml version="1.0" encoding="UTF-8" standalone="yes"?>
<Relationships xmlns="http://schemas.openxmlformats.org/package/2006/relationships"><Relationship Id="rId3" Type="http://schemas.openxmlformats.org/officeDocument/2006/relationships/hyperlink" Target="http://greath.example.com/2004/reservation/OMX736"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more-interfaces-inheritance"/></Relationships>
</file>

<file path=ppt/slides/_rels/slide21.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more-interfaces-inheritance"/></Relationships>
</file>

<file path=ppt/slides/_rels/slide22.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06%20WSDL%20advanced.ppt"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06%20WSDL%20advanced.ppt"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06%20WSDL%20advanced.ppt"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xsd-versioning"/><Relationship Id="rId3" Type="http://schemas.openxmlformats.org/officeDocument/2006/relationships/hyperlink" Target="http://www.w3.org/2001/tag/" TargetMode="External"/><Relationship Id="rId7" Type="http://schemas.openxmlformats.org/officeDocument/2006/relationships/hyperlink" Target="http://www.w3.org/XML/Schema" TargetMode="External"/><Relationship Id="rId12" Type="http://schemas.openxmlformats.org/officeDocument/2006/relationships/hyperlink" Target="#more-interfaces-inheritance"/><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web-extensible"/><Relationship Id="rId11" Type="http://schemas.openxmlformats.org/officeDocument/2006/relationships/hyperlink" Target="http://www.w3.org/2001/sw/BestPractices/" TargetMode="External"/><Relationship Id="rId5" Type="http://schemas.openxmlformats.org/officeDocument/2006/relationships/hyperlink" Target="#TAG-versioning"/><Relationship Id="rId10" Type="http://schemas.openxmlformats.org/officeDocument/2006/relationships/hyperlink" Target="#xsd11"/><Relationship Id="rId4" Type="http://schemas.openxmlformats.org/officeDocument/2006/relationships/hyperlink" Target="#webarch"/><Relationship Id="rId9" Type="http://schemas.openxmlformats.org/officeDocument/2006/relationships/hyperlink" Target="#xsd-versioning-guide"/></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relax-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more-interfaces-inheritance"/><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reservationDetails"/><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WSDL Extension</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06EAE5B6-38D8-4F5A-8E21-4481B22E1C52}"/>
              </a:ext>
            </a:extLst>
          </p:cNvPr>
          <p:cNvSpPr>
            <a:spLocks noGrp="1"/>
          </p:cNvSpPr>
          <p:nvPr>
            <p:ph type="title"/>
          </p:nvPr>
        </p:nvSpPr>
        <p:spPr/>
        <p:txBody>
          <a:bodyPr/>
          <a:lstStyle/>
          <a:p>
            <a:r>
              <a:rPr lang="en-US" altLang="zh-CN"/>
              <a:t>Extensibility</a:t>
            </a:r>
            <a:endParaRPr lang="zh-CN" altLang="en-US"/>
          </a:p>
        </p:txBody>
      </p:sp>
      <p:sp>
        <p:nvSpPr>
          <p:cNvPr id="3" name="内容占位符 2">
            <a:extLst>
              <a:ext uri="{FF2B5EF4-FFF2-40B4-BE49-F238E27FC236}">
                <a16:creationId xmlns:a16="http://schemas.microsoft.com/office/drawing/2014/main" id="{8966333F-918D-4B14-BD0A-AAD4A6D81E29}"/>
              </a:ext>
            </a:extLst>
          </p:cNvPr>
          <p:cNvSpPr>
            <a:spLocks noGrp="1"/>
          </p:cNvSpPr>
          <p:nvPr>
            <p:ph idx="1"/>
          </p:nvPr>
        </p:nvSpPr>
        <p:spPr/>
        <p:txBody>
          <a:bodyPr>
            <a:normAutofit/>
          </a:bodyPr>
          <a:lstStyle/>
          <a:p>
            <a:pPr>
              <a:defRPr/>
            </a:pPr>
            <a:r>
              <a:rPr lang="en-US" altLang="zh-CN" sz="2400" dirty="0"/>
              <a:t>WSDL 2.0 provides an open content model, which allows XML elements and attributes from other (non-WSDL 2.0) XML namespaces to be interspersed in a WSDL 2.0 document</a:t>
            </a:r>
          </a:p>
          <a:p>
            <a:pPr>
              <a:defRPr/>
            </a:pPr>
            <a:r>
              <a:rPr lang="en-US" altLang="zh-CN" sz="2400" dirty="0"/>
              <a:t>The qualified name (complete with namespace URI) of the extension element or attribute acts as an </a:t>
            </a:r>
            <a:r>
              <a:rPr lang="en-US" altLang="zh-CN" sz="2400" dirty="0">
                <a:solidFill>
                  <a:srgbClr val="FF0000"/>
                </a:solidFill>
              </a:rPr>
              <a:t>unambiguous</a:t>
            </a:r>
            <a:r>
              <a:rPr lang="en-US" altLang="zh-CN" sz="2400" dirty="0"/>
              <a:t> name for the semantics of that extension</a:t>
            </a:r>
          </a:p>
          <a:p>
            <a:pPr>
              <a:defRPr/>
            </a:pPr>
            <a:r>
              <a:rPr lang="en-US" altLang="zh-CN" sz="2400" dirty="0"/>
              <a:t>The namespace URI of the extension element should be </a:t>
            </a:r>
            <a:r>
              <a:rPr lang="en-US" altLang="zh-CN" sz="2400" dirty="0" err="1"/>
              <a:t>dereferenceable</a:t>
            </a:r>
            <a:r>
              <a:rPr lang="en-US" altLang="zh-CN" sz="2400" dirty="0"/>
              <a:t> to a document that describes the semantics of that extension</a:t>
            </a:r>
          </a:p>
          <a:p>
            <a:pPr lvl="1">
              <a:defRPr/>
            </a:pPr>
            <a:r>
              <a:rPr lang="en-US" altLang="zh-CN" sz="1800" dirty="0"/>
              <a:t>There is no generally accepted standard for what kind of document that should be</a:t>
            </a:r>
          </a:p>
          <a:p>
            <a:pPr lvl="1">
              <a:defRPr/>
            </a:pPr>
            <a:r>
              <a:rPr lang="en-US" altLang="zh-CN" sz="1800" dirty="0"/>
              <a:t>However, the </a:t>
            </a:r>
            <a:r>
              <a:rPr lang="en-US" altLang="zh-CN" sz="1800" dirty="0">
                <a:solidFill>
                  <a:srgbClr val="FF0000"/>
                </a:solidFill>
              </a:rPr>
              <a:t>W3C TAG </a:t>
            </a:r>
            <a:r>
              <a:rPr lang="en-US" altLang="zh-CN" sz="1800" dirty="0"/>
              <a:t>has been discussing the issue and is likely to provide guidance at some point</a:t>
            </a:r>
          </a:p>
        </p:txBody>
      </p:sp>
      <p:sp>
        <p:nvSpPr>
          <p:cNvPr id="21508" name="灯片编号占位符 3">
            <a:extLst>
              <a:ext uri="{FF2B5EF4-FFF2-40B4-BE49-F238E27FC236}">
                <a16:creationId xmlns:a16="http://schemas.microsoft.com/office/drawing/2014/main" id="{CA1F286A-2424-4976-8A1B-73E01FBC575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2</a:t>
            </a:fld>
            <a:endParaRPr lang="en-US" altLang="zh-CN" sz="1000">
              <a:solidFill>
                <a:srgbClr val="00000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A6AA668B-D1C6-45CE-9BC7-4C53EA5B8DB4}"/>
              </a:ext>
            </a:extLst>
          </p:cNvPr>
          <p:cNvSpPr>
            <a:spLocks noGrp="1"/>
          </p:cNvSpPr>
          <p:nvPr>
            <p:ph type="title"/>
          </p:nvPr>
        </p:nvSpPr>
        <p:spPr/>
        <p:txBody>
          <a:bodyPr>
            <a:normAutofit fontScale="90000"/>
          </a:bodyPr>
          <a:lstStyle/>
          <a:p>
            <a:r>
              <a:rPr lang="en-US" altLang="zh-CN" dirty="0"/>
              <a:t>Optional Versus Required Extensions</a:t>
            </a:r>
            <a:endParaRPr lang="zh-CN" altLang="en-US" dirty="0"/>
          </a:p>
        </p:txBody>
      </p:sp>
      <p:sp>
        <p:nvSpPr>
          <p:cNvPr id="3" name="内容占位符 2">
            <a:extLst>
              <a:ext uri="{FF2B5EF4-FFF2-40B4-BE49-F238E27FC236}">
                <a16:creationId xmlns:a16="http://schemas.microsoft.com/office/drawing/2014/main" id="{41CD8CC0-FB61-4B38-987F-421FB6EDF46C}"/>
              </a:ext>
            </a:extLst>
          </p:cNvPr>
          <p:cNvSpPr>
            <a:spLocks noGrp="1"/>
          </p:cNvSpPr>
          <p:nvPr>
            <p:ph idx="1"/>
          </p:nvPr>
        </p:nvSpPr>
        <p:spPr/>
        <p:txBody>
          <a:bodyPr>
            <a:normAutofit fontScale="70000" lnSpcReduction="20000"/>
          </a:bodyPr>
          <a:lstStyle/>
          <a:p>
            <a:pPr>
              <a:lnSpc>
                <a:spcPct val="120000"/>
              </a:lnSpc>
              <a:defRPr/>
            </a:pPr>
            <a:r>
              <a:rPr lang="en-US" altLang="zh-CN" dirty="0"/>
              <a:t>Extensions can either be required or optional</a:t>
            </a:r>
          </a:p>
          <a:p>
            <a:pPr lvl="1">
              <a:lnSpc>
                <a:spcPct val="120000"/>
              </a:lnSpc>
              <a:defRPr/>
            </a:pPr>
            <a:r>
              <a:rPr lang="en-US" altLang="zh-CN" dirty="0"/>
              <a:t>An </a:t>
            </a:r>
            <a:r>
              <a:rPr lang="en-US" altLang="zh-CN" i="1" dirty="0">
                <a:solidFill>
                  <a:srgbClr val="FF0000"/>
                </a:solidFill>
              </a:rPr>
              <a:t>optional</a:t>
            </a:r>
            <a:r>
              <a:rPr lang="en-US" altLang="zh-CN" dirty="0"/>
              <a:t> extension is one that the client may either engage or ignore, and is signaled by </a:t>
            </a:r>
            <a:r>
              <a:rPr lang="en-US" altLang="zh-CN" dirty="0" err="1">
                <a:hlinkClick r:id="rId3"/>
              </a:rPr>
              <a:t>wsdl:required</a:t>
            </a:r>
            <a:r>
              <a:rPr lang="en-US" altLang="zh-CN" dirty="0">
                <a:hlinkClick r:id="rId3"/>
              </a:rPr>
              <a:t>=“false”</a:t>
            </a:r>
            <a:r>
              <a:rPr lang="en-US" altLang="zh-CN" dirty="0"/>
              <a:t> or the absence of the </a:t>
            </a:r>
            <a:r>
              <a:rPr lang="en-US" altLang="zh-CN" dirty="0" err="1">
                <a:hlinkClick r:id="rId3"/>
              </a:rPr>
              <a:t>wsdl:required</a:t>
            </a:r>
            <a:r>
              <a:rPr lang="en-US" altLang="zh-CN" dirty="0"/>
              <a:t> attribute</a:t>
            </a:r>
          </a:p>
          <a:p>
            <a:pPr lvl="2">
              <a:lnSpc>
                <a:spcPct val="120000"/>
              </a:lnSpc>
              <a:defRPr/>
            </a:pPr>
            <a:r>
              <a:rPr lang="en-US" altLang="zh-CN" dirty="0"/>
              <a:t>Thus, a WSDL 2.0 processor, acting on behalf of the client, that encounters an unknown optional extension can safely ignore it and continue to process  the WSDL 2.0 document</a:t>
            </a:r>
          </a:p>
          <a:p>
            <a:pPr lvl="1">
              <a:lnSpc>
                <a:spcPct val="120000"/>
              </a:lnSpc>
              <a:defRPr/>
            </a:pPr>
            <a:r>
              <a:rPr lang="en-US" altLang="zh-CN" dirty="0"/>
              <a:t>A </a:t>
            </a:r>
            <a:r>
              <a:rPr lang="en-US" altLang="zh-CN" i="1" dirty="0">
                <a:solidFill>
                  <a:srgbClr val="FF0000"/>
                </a:solidFill>
              </a:rPr>
              <a:t>required</a:t>
            </a:r>
            <a:r>
              <a:rPr lang="en-US" altLang="zh-CN" dirty="0"/>
              <a:t> extension is one that must be supported and engaged by the client in order for the interaction to proceed properly, and is signaled by </a:t>
            </a:r>
            <a:r>
              <a:rPr lang="en-US" altLang="zh-CN" dirty="0" err="1">
                <a:hlinkClick r:id="rId3"/>
              </a:rPr>
              <a:t>wsdl:required</a:t>
            </a:r>
            <a:r>
              <a:rPr lang="en-US" altLang="zh-CN" dirty="0">
                <a:hlinkClick r:id="rId3"/>
              </a:rPr>
              <a:t>=“true”</a:t>
            </a:r>
            <a:endParaRPr lang="en-US" altLang="zh-CN" dirty="0"/>
          </a:p>
          <a:p>
            <a:pPr lvl="2">
              <a:lnSpc>
                <a:spcPct val="120000"/>
              </a:lnSpc>
              <a:defRPr/>
            </a:pPr>
            <a:r>
              <a:rPr lang="en-US" altLang="zh-CN" dirty="0"/>
              <a:t>If a WSDL 2.0 processor, acting on behalf of the client, encounters a required extension that it does not recognize or does not support, then it cannot safely continue to process the WSDL 2.0 document. In most practical cases, this is likely to mean that the processor will require manual intervention to deal with the extension</a:t>
            </a:r>
          </a:p>
          <a:p>
            <a:pPr>
              <a:lnSpc>
                <a:spcPct val="120000"/>
              </a:lnSpc>
              <a:defRPr/>
            </a:pPr>
            <a:r>
              <a:rPr lang="en-US" altLang="zh-CN" dirty="0"/>
              <a:t>A service must support all optional and required extensions that it advertises in its WSDL 2.0 document</a:t>
            </a:r>
          </a:p>
          <a:p>
            <a:pPr lvl="1">
              <a:defRPr/>
            </a:pPr>
            <a:endParaRPr lang="en-US" altLang="zh-CN" dirty="0"/>
          </a:p>
        </p:txBody>
      </p:sp>
      <p:sp>
        <p:nvSpPr>
          <p:cNvPr id="23556" name="灯片编号占位符 3">
            <a:extLst>
              <a:ext uri="{FF2B5EF4-FFF2-40B4-BE49-F238E27FC236}">
                <a16:creationId xmlns:a16="http://schemas.microsoft.com/office/drawing/2014/main" id="{A55A7668-3203-473C-AE00-CA106EFB8D4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3</a:t>
            </a:fld>
            <a:endParaRPr lang="en-US" altLang="zh-CN" sz="1000">
              <a:solidFill>
                <a:srgbClr val="00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标题 1">
            <a:extLst>
              <a:ext uri="{FF2B5EF4-FFF2-40B4-BE49-F238E27FC236}">
                <a16:creationId xmlns:a16="http://schemas.microsoft.com/office/drawing/2014/main" id="{F106F70B-1E8A-440C-AF45-A588F0CA005E}"/>
              </a:ext>
            </a:extLst>
          </p:cNvPr>
          <p:cNvSpPr>
            <a:spLocks noGrp="1"/>
          </p:cNvSpPr>
          <p:nvPr>
            <p:ph type="title"/>
          </p:nvPr>
        </p:nvSpPr>
        <p:spPr/>
        <p:txBody>
          <a:bodyPr>
            <a:normAutofit fontScale="90000"/>
          </a:bodyPr>
          <a:lstStyle/>
          <a:p>
            <a:pPr>
              <a:defRPr/>
            </a:pPr>
            <a:r>
              <a:rPr lang="en-US" altLang="zh-CN" dirty="0"/>
              <a:t>Weather Service with standard MEP (1/2)</a:t>
            </a:r>
            <a:endParaRPr lang="zh-CN" altLang="en-US" dirty="0"/>
          </a:p>
        </p:txBody>
      </p:sp>
      <p:sp>
        <p:nvSpPr>
          <p:cNvPr id="25603" name="灯片编号占位符 3">
            <a:extLst>
              <a:ext uri="{FF2B5EF4-FFF2-40B4-BE49-F238E27FC236}">
                <a16:creationId xmlns:a16="http://schemas.microsoft.com/office/drawing/2014/main" id="{DA974868-01BA-4A80-ACEB-BCDF8CDD015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4</a:t>
            </a:fld>
            <a:endParaRPr lang="en-US" altLang="zh-CN" sz="1000">
              <a:solidFill>
                <a:srgbClr val="000000"/>
              </a:solidFill>
            </a:endParaRPr>
          </a:p>
        </p:txBody>
      </p:sp>
      <p:sp>
        <p:nvSpPr>
          <p:cNvPr id="5" name="Text Box 4">
            <a:extLst>
              <a:ext uri="{FF2B5EF4-FFF2-40B4-BE49-F238E27FC236}">
                <a16:creationId xmlns:a16="http://schemas.microsoft.com/office/drawing/2014/main" id="{42299DF1-7BCB-40C4-8ED8-6AD549EC3011}"/>
              </a:ext>
            </a:extLst>
          </p:cNvPr>
          <p:cNvSpPr txBox="1">
            <a:spLocks noChangeArrowheads="1"/>
          </p:cNvSpPr>
          <p:nvPr/>
        </p:nvSpPr>
        <p:spPr bwMode="auto">
          <a:xfrm>
            <a:off x="457200" y="1208520"/>
            <a:ext cx="8229600" cy="547842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http://greath.example.com/2004/wsdl/weathSvc.wsdl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http://greath.example.com/2004/wsdl/weathSvc.wsdl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xmlns:wsoap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http://www.w3.org/ns/wsdl/soap</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xmlns:email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http://www.example.com/webservices/email</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weatherInterface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opSubscribeWeather</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http://www.w3.org/ns/wsdl/in-out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opUnsubscribeWeather</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http://www.w3.org/ns/wsdl/in-out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5A1C289F-B79A-498B-B97D-B17279977D85}"/>
              </a:ext>
            </a:extLst>
          </p:cNvPr>
          <p:cNvSpPr txBox="1">
            <a:spLocks noChangeArrowheads="1"/>
          </p:cNvSpPr>
          <p:nvPr/>
        </p:nvSpPr>
        <p:spPr bwMode="auto">
          <a:xfrm>
            <a:off x="6227763" y="4865688"/>
            <a:ext cx="19446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Label omitted</a:t>
            </a:r>
          </a:p>
        </p:txBody>
      </p:sp>
      <p:sp>
        <p:nvSpPr>
          <p:cNvPr id="7" name="Line 15">
            <a:extLst>
              <a:ext uri="{FF2B5EF4-FFF2-40B4-BE49-F238E27FC236}">
                <a16:creationId xmlns:a16="http://schemas.microsoft.com/office/drawing/2014/main" id="{BCAA4F5A-834B-4E99-AD68-36E7B6A1F2C8}"/>
              </a:ext>
            </a:extLst>
          </p:cNvPr>
          <p:cNvSpPr>
            <a:spLocks noChangeShapeType="1"/>
          </p:cNvSpPr>
          <p:nvPr/>
        </p:nvSpPr>
        <p:spPr bwMode="auto">
          <a:xfrm flipH="1" flipV="1">
            <a:off x="3059113" y="4437063"/>
            <a:ext cx="3168650" cy="630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5">
            <a:extLst>
              <a:ext uri="{FF2B5EF4-FFF2-40B4-BE49-F238E27FC236}">
                <a16:creationId xmlns:a16="http://schemas.microsoft.com/office/drawing/2014/main" id="{E0BE7389-15D0-466C-B115-E2EFAC493030}"/>
              </a:ext>
            </a:extLst>
          </p:cNvPr>
          <p:cNvSpPr>
            <a:spLocks noChangeShapeType="1"/>
          </p:cNvSpPr>
          <p:nvPr/>
        </p:nvSpPr>
        <p:spPr bwMode="auto">
          <a:xfrm flipH="1">
            <a:off x="3276600" y="5084763"/>
            <a:ext cx="2951163" cy="647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标题 1">
            <a:extLst>
              <a:ext uri="{FF2B5EF4-FFF2-40B4-BE49-F238E27FC236}">
                <a16:creationId xmlns:a16="http://schemas.microsoft.com/office/drawing/2014/main" id="{AA6ECD11-56AE-4B03-95CE-0993A75431D2}"/>
              </a:ext>
            </a:extLst>
          </p:cNvPr>
          <p:cNvSpPr>
            <a:spLocks noGrp="1"/>
          </p:cNvSpPr>
          <p:nvPr>
            <p:ph type="title"/>
          </p:nvPr>
        </p:nvSpPr>
        <p:spPr/>
        <p:txBody>
          <a:bodyPr>
            <a:normAutofit fontScale="90000"/>
          </a:bodyPr>
          <a:lstStyle/>
          <a:p>
            <a:pPr>
              <a:defRPr/>
            </a:pPr>
            <a:r>
              <a:rPr lang="en-US" altLang="zh-CN" dirty="0"/>
              <a:t>Weather Service with standard MEP (2/2)</a:t>
            </a:r>
            <a:endParaRPr lang="zh-CN" altLang="en-US" dirty="0"/>
          </a:p>
        </p:txBody>
      </p:sp>
      <p:sp>
        <p:nvSpPr>
          <p:cNvPr id="27651" name="灯片编号占位符 3">
            <a:extLst>
              <a:ext uri="{FF2B5EF4-FFF2-40B4-BE49-F238E27FC236}">
                <a16:creationId xmlns:a16="http://schemas.microsoft.com/office/drawing/2014/main" id="{B0FF637B-DE2E-4AE1-B69C-AE4B7C1D476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fld id="{2F9A3A8A-C504-425D-80F6-D69B20EC510F}" type="slidenum">
              <a:rPr lang="en-US" altLang="zh-CN" smtClean="0"/>
              <a:pPr/>
              <a:t>5</a:t>
            </a:fld>
            <a:endParaRPr lang="en-US" altLang="zh-CN" sz="1000">
              <a:solidFill>
                <a:srgbClr val="000000"/>
              </a:solidFill>
            </a:endParaRPr>
          </a:p>
        </p:txBody>
      </p:sp>
      <p:sp>
        <p:nvSpPr>
          <p:cNvPr id="5" name="Text Box 4">
            <a:extLst>
              <a:ext uri="{FF2B5EF4-FFF2-40B4-BE49-F238E27FC236}">
                <a16:creationId xmlns:a16="http://schemas.microsoft.com/office/drawing/2014/main" id="{EF5374B9-2F58-442C-8371-C44E4366968A}"/>
              </a:ext>
            </a:extLst>
          </p:cNvPr>
          <p:cNvSpPr txBox="1">
            <a:spLocks noChangeArrowheads="1"/>
          </p:cNvSpPr>
          <p:nvPr/>
        </p:nvSpPr>
        <p:spPr bwMode="auto">
          <a:xfrm>
            <a:off x="457200" y="1412776"/>
            <a:ext cx="8229600" cy="521989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opNotifyWeather</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pattern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http://www.w3.org/ns/wsdl/robust-out-only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binding</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weatherMailingListBinding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interface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tns:weatherInterface</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type=</a:t>
            </a:r>
            <a:r>
              <a:rPr lang="en-US" altLang="zh-CN" sz="1400" dirty="0">
                <a:solidFill>
                  <a:srgbClr val="0000FF"/>
                </a:solidFill>
                <a:highlight>
                  <a:srgbClr val="FFFFFF"/>
                </a:highlight>
                <a:latin typeface="Arial"/>
              </a:rPr>
              <a:t>"http://www.w3.org/ns/wsdl/soap"</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             </a:t>
            </a:r>
            <a:r>
              <a:rPr lang="en-US" altLang="zh-CN" sz="1400" dirty="0" err="1">
                <a:solidFill>
                  <a:srgbClr val="0000FF"/>
                </a:solidFill>
                <a:highlight>
                  <a:srgbClr val="FFFFFF"/>
                </a:highlight>
                <a:latin typeface="Arial"/>
              </a:rPr>
              <a:t>wsoap:protocol</a:t>
            </a:r>
            <a:r>
              <a:rPr lang="en-US" altLang="zh-CN" sz="1400" dirty="0">
                <a:solidFill>
                  <a:srgbClr val="0000FF"/>
                </a:solidFill>
                <a:highlight>
                  <a:srgbClr val="FFFFFF"/>
                </a:highlight>
                <a:latin typeface="Arial"/>
              </a:rPr>
              <a:t>="http://www.example.com/bindings/email"&gt;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binding</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service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weatherService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interface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tns:weatherInterface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endpoint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greatHWeatherList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binding</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tns:weatherMailingListBinding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address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mailto:weather-owner@greath.example.com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service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Text Box 16">
            <a:extLst>
              <a:ext uri="{FF2B5EF4-FFF2-40B4-BE49-F238E27FC236}">
                <a16:creationId xmlns:a16="http://schemas.microsoft.com/office/drawing/2014/main" id="{7E6D781B-0E3C-4C1A-B124-92BEEF6D8F5B}"/>
              </a:ext>
            </a:extLst>
          </p:cNvPr>
          <p:cNvSpPr txBox="1">
            <a:spLocks noChangeArrowheads="1"/>
          </p:cNvSpPr>
          <p:nvPr/>
        </p:nvSpPr>
        <p:spPr bwMode="auto">
          <a:xfrm>
            <a:off x="3851275" y="4600575"/>
            <a:ext cx="485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Customized binding from SOAP to email, that support pub./sub.</a:t>
            </a:r>
          </a:p>
        </p:txBody>
      </p:sp>
      <p:sp>
        <p:nvSpPr>
          <p:cNvPr id="7" name="Line 15">
            <a:extLst>
              <a:ext uri="{FF2B5EF4-FFF2-40B4-BE49-F238E27FC236}">
                <a16:creationId xmlns:a16="http://schemas.microsoft.com/office/drawing/2014/main" id="{9C9D551D-1B91-4BC4-9599-5E7EB2E03FA4}"/>
              </a:ext>
            </a:extLst>
          </p:cNvPr>
          <p:cNvSpPr>
            <a:spLocks noChangeShapeType="1"/>
          </p:cNvSpPr>
          <p:nvPr/>
        </p:nvSpPr>
        <p:spPr bwMode="auto">
          <a:xfrm flipH="1" flipV="1">
            <a:off x="4859338" y="4292600"/>
            <a:ext cx="0" cy="3603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FFD6FE6B-2129-4870-8CB1-FFAC56FEDA55}"/>
              </a:ext>
            </a:extLst>
          </p:cNvPr>
          <p:cNvSpPr>
            <a:spLocks noGrp="1"/>
          </p:cNvSpPr>
          <p:nvPr>
            <p:ph type="title"/>
          </p:nvPr>
        </p:nvSpPr>
        <p:spPr/>
        <p:txBody>
          <a:bodyPr>
            <a:normAutofit fontScale="90000"/>
          </a:bodyPr>
          <a:lstStyle/>
          <a:p>
            <a:r>
              <a:rPr lang="en-US" altLang="zh-CN" dirty="0"/>
              <a:t>Defining New MEPs (1/2)</a:t>
            </a:r>
            <a:endParaRPr lang="zh-CN" altLang="en-US" dirty="0"/>
          </a:p>
        </p:txBody>
      </p:sp>
      <p:sp>
        <p:nvSpPr>
          <p:cNvPr id="72707" name="内容占位符 2">
            <a:extLst>
              <a:ext uri="{FF2B5EF4-FFF2-40B4-BE49-F238E27FC236}">
                <a16:creationId xmlns:a16="http://schemas.microsoft.com/office/drawing/2014/main" id="{BE1C2EEE-A24E-4EEC-A9D3-368C284FB3E2}"/>
              </a:ext>
            </a:extLst>
          </p:cNvPr>
          <p:cNvSpPr>
            <a:spLocks noGrp="1"/>
          </p:cNvSpPr>
          <p:nvPr>
            <p:ph idx="1"/>
          </p:nvPr>
        </p:nvSpPr>
        <p:spPr/>
        <p:txBody>
          <a:bodyPr>
            <a:normAutofit/>
          </a:bodyPr>
          <a:lstStyle/>
          <a:p>
            <a:pPr>
              <a:defRPr/>
            </a:pPr>
            <a:r>
              <a:rPr lang="en-US" altLang="zh-CN" sz="2400" dirty="0"/>
              <a:t>New pattern denoted with URI </a:t>
            </a:r>
            <a:r>
              <a:rPr lang="en-US" altLang="zh-CN" sz="2400" dirty="0">
                <a:solidFill>
                  <a:srgbClr val="FF0000"/>
                </a:solidFill>
              </a:rPr>
              <a:t>http://www.example.com/webservices/meps/confirmed-challenge</a:t>
            </a:r>
            <a:r>
              <a:rPr lang="en-US" altLang="zh-CN" sz="2400" dirty="0"/>
              <a:t> consists of two or more messages in order as follows:</a:t>
            </a:r>
          </a:p>
          <a:p>
            <a:pPr lvl="1">
              <a:defRPr/>
            </a:pPr>
            <a:r>
              <a:rPr lang="en-US" altLang="zh-CN" sz="1800" dirty="0"/>
              <a:t>A message: Indicated by a Message Label “</a:t>
            </a:r>
            <a:r>
              <a:rPr lang="en-US" altLang="zh-CN" sz="1800" dirty="0">
                <a:solidFill>
                  <a:srgbClr val="FF0000"/>
                </a:solidFill>
              </a:rPr>
              <a:t>Request</a:t>
            </a:r>
            <a:r>
              <a:rPr lang="en-US" altLang="zh-CN" sz="1800" dirty="0"/>
              <a:t>” and direction is "</a:t>
            </a:r>
            <a:r>
              <a:rPr lang="en-US" altLang="zh-CN" sz="1800" dirty="0">
                <a:solidFill>
                  <a:srgbClr val="FF0000"/>
                </a:solidFill>
              </a:rPr>
              <a:t>in</a:t>
            </a:r>
            <a:r>
              <a:rPr lang="en-US" altLang="zh-CN" sz="1800" dirty="0"/>
              <a:t>". received from some node N1</a:t>
            </a:r>
          </a:p>
          <a:p>
            <a:pPr lvl="1">
              <a:defRPr/>
            </a:pPr>
            <a:r>
              <a:rPr lang="en-US" altLang="zh-CN" sz="1800" dirty="0"/>
              <a:t>A message: Indicated by a Message Label "</a:t>
            </a:r>
            <a:r>
              <a:rPr lang="en-US" altLang="zh-CN" sz="1800" dirty="0">
                <a:solidFill>
                  <a:srgbClr val="FF0000"/>
                </a:solidFill>
              </a:rPr>
              <a:t>Challenge</a:t>
            </a:r>
            <a:r>
              <a:rPr lang="en-US" altLang="zh-CN" sz="1800" dirty="0"/>
              <a:t>" and direction is "</a:t>
            </a:r>
            <a:r>
              <a:rPr lang="en-US" altLang="zh-CN" sz="1800" dirty="0">
                <a:solidFill>
                  <a:srgbClr val="FF0000"/>
                </a:solidFill>
              </a:rPr>
              <a:t>out</a:t>
            </a:r>
            <a:r>
              <a:rPr lang="en-US" altLang="zh-CN" sz="1800" dirty="0"/>
              <a:t>". Sent to some node N2 (which may be the same node as N1)</a:t>
            </a:r>
          </a:p>
          <a:p>
            <a:pPr lvl="1">
              <a:defRPr/>
            </a:pPr>
            <a:r>
              <a:rPr lang="en-US" altLang="zh-CN" sz="1800" dirty="0"/>
              <a:t>An optional message: Indicated by a Message Label "</a:t>
            </a:r>
            <a:r>
              <a:rPr lang="en-US" altLang="zh-CN" sz="1800" dirty="0">
                <a:solidFill>
                  <a:srgbClr val="FF0000"/>
                </a:solidFill>
              </a:rPr>
              <a:t>Confirmation</a:t>
            </a:r>
            <a:r>
              <a:rPr lang="en-US" altLang="zh-CN" sz="1800" dirty="0"/>
              <a:t>" and direction is "</a:t>
            </a:r>
            <a:r>
              <a:rPr lang="en-US" altLang="zh-CN" sz="1800" dirty="0">
                <a:solidFill>
                  <a:srgbClr val="FF0000"/>
                </a:solidFill>
              </a:rPr>
              <a:t>in</a:t>
            </a:r>
            <a:r>
              <a:rPr lang="en-US" altLang="zh-CN" sz="1800" dirty="0"/>
              <a:t>". Received from node N2</a:t>
            </a:r>
          </a:p>
          <a:p>
            <a:pPr lvl="1">
              <a:defRPr/>
            </a:pPr>
            <a:r>
              <a:rPr lang="en-US" altLang="zh-CN" sz="1800" dirty="0"/>
              <a:t>An optional message: Indicated by a Message Label "</a:t>
            </a:r>
            <a:r>
              <a:rPr lang="en-US" altLang="zh-CN" sz="1800" dirty="0">
                <a:solidFill>
                  <a:srgbClr val="FF0000"/>
                </a:solidFill>
              </a:rPr>
              <a:t>Response</a:t>
            </a:r>
            <a:r>
              <a:rPr lang="en-US" altLang="zh-CN" sz="1800" dirty="0"/>
              <a:t>" and direction is "</a:t>
            </a:r>
            <a:r>
              <a:rPr lang="en-US" altLang="zh-CN" sz="1800" dirty="0">
                <a:solidFill>
                  <a:srgbClr val="FF0000"/>
                </a:solidFill>
              </a:rPr>
              <a:t>out</a:t>
            </a:r>
            <a:r>
              <a:rPr lang="en-US" altLang="zh-CN" sz="1800" dirty="0"/>
              <a:t>". Sent to node N2</a:t>
            </a:r>
          </a:p>
          <a:p>
            <a:pPr>
              <a:defRPr/>
            </a:pPr>
            <a:r>
              <a:rPr lang="en-US" altLang="zh-CN" sz="2400" dirty="0"/>
              <a:t>This pattern uses the rule Message Triggers Fault</a:t>
            </a:r>
          </a:p>
          <a:p>
            <a:pPr>
              <a:defRPr/>
            </a:pPr>
            <a:r>
              <a:rPr lang="en-US" altLang="zh-CN" sz="2400" dirty="0"/>
              <a:t>Once the MEP had been defined, the service was redefined and redeployed</a:t>
            </a:r>
            <a:endParaRPr lang="zh-CN" altLang="en-US" sz="2400" dirty="0"/>
          </a:p>
        </p:txBody>
      </p:sp>
      <p:sp>
        <p:nvSpPr>
          <p:cNvPr id="29700" name="灯片编号占位符 3">
            <a:extLst>
              <a:ext uri="{FF2B5EF4-FFF2-40B4-BE49-F238E27FC236}">
                <a16:creationId xmlns:a16="http://schemas.microsoft.com/office/drawing/2014/main" id="{1DD21A65-FC75-4060-B34B-D0718655122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6</a:t>
            </a:fld>
            <a:endParaRPr lang="en-US" altLang="zh-CN" sz="1000">
              <a:solidFill>
                <a:srgbClr val="000000"/>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F10E70EA-5BC5-45E5-8EF2-5AEF7C0E6166}"/>
              </a:ext>
            </a:extLst>
          </p:cNvPr>
          <p:cNvSpPr>
            <a:spLocks noGrp="1"/>
          </p:cNvSpPr>
          <p:nvPr>
            <p:ph type="title"/>
          </p:nvPr>
        </p:nvSpPr>
        <p:spPr/>
        <p:txBody>
          <a:bodyPr>
            <a:normAutofit fontScale="90000"/>
          </a:bodyPr>
          <a:lstStyle/>
          <a:p>
            <a:r>
              <a:rPr lang="en-US" altLang="zh-CN" dirty="0"/>
              <a:t>Defining New MEPs (2/2)</a:t>
            </a:r>
            <a:endParaRPr lang="zh-CN" altLang="en-US" dirty="0"/>
          </a:p>
        </p:txBody>
      </p:sp>
      <p:sp>
        <p:nvSpPr>
          <p:cNvPr id="31747" name="灯片编号占位符 3">
            <a:extLst>
              <a:ext uri="{FF2B5EF4-FFF2-40B4-BE49-F238E27FC236}">
                <a16:creationId xmlns:a16="http://schemas.microsoft.com/office/drawing/2014/main" id="{786BF437-23F9-44F0-8E37-0629F91E666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7</a:t>
            </a:fld>
            <a:endParaRPr lang="en-US" altLang="zh-CN" sz="1000">
              <a:solidFill>
                <a:srgbClr val="000000"/>
              </a:solidFill>
            </a:endParaRPr>
          </a:p>
        </p:txBody>
      </p:sp>
      <p:sp>
        <p:nvSpPr>
          <p:cNvPr id="5" name="Text Box 4">
            <a:extLst>
              <a:ext uri="{FF2B5EF4-FFF2-40B4-BE49-F238E27FC236}">
                <a16:creationId xmlns:a16="http://schemas.microsoft.com/office/drawing/2014/main" id="{E2D62111-0D91-4E24-8461-941986F72E7B}"/>
              </a:ext>
            </a:extLst>
          </p:cNvPr>
          <p:cNvSpPr txBox="1">
            <a:spLocks noChangeArrowheads="1"/>
          </p:cNvSpPr>
          <p:nvPr/>
        </p:nvSpPr>
        <p:spPr bwMode="auto">
          <a:xfrm>
            <a:off x="457200" y="1553420"/>
            <a:ext cx="8229600" cy="515218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http://greath.example.com/2004/wsdl/weathSvc.wsdl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http://greath.example.com/2004/wsdl/weathSvc.wsdl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xmlns:wsoap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xmlns:email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http://www.example.com/webservices/email</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weatherInterface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opSubscribeWeather</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http://www.example.com/webservices/meps/confirmed-challenge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Request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Challenge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Confirmation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opUnsubscribeWeather</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http://www.example.com/webservices/meps/confirmed-challenge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Challenge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Confirmation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Request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 . .</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p>
        </p:txBody>
      </p:sp>
      <p:sp>
        <p:nvSpPr>
          <p:cNvPr id="6" name="Line 15">
            <a:extLst>
              <a:ext uri="{FF2B5EF4-FFF2-40B4-BE49-F238E27FC236}">
                <a16:creationId xmlns:a16="http://schemas.microsoft.com/office/drawing/2014/main" id="{BBEAAD77-40BC-4D6C-8B72-1AA85EE191EF}"/>
              </a:ext>
            </a:extLst>
          </p:cNvPr>
          <p:cNvSpPr>
            <a:spLocks noChangeShapeType="1"/>
          </p:cNvSpPr>
          <p:nvPr/>
        </p:nvSpPr>
        <p:spPr bwMode="auto">
          <a:xfrm flipH="1" flipV="1">
            <a:off x="4735513" y="3963988"/>
            <a:ext cx="1209675" cy="4730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28F86E1F-A3E6-4E65-BD1A-D41C5EC7EAEF}"/>
              </a:ext>
            </a:extLst>
          </p:cNvPr>
          <p:cNvSpPr txBox="1">
            <a:spLocks noChangeArrowheads="1"/>
          </p:cNvSpPr>
          <p:nvPr/>
        </p:nvSpPr>
        <p:spPr bwMode="auto">
          <a:xfrm>
            <a:off x="5945188" y="3963988"/>
            <a:ext cx="28178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The Sequence is </a:t>
            </a:r>
            <a:r>
              <a:rPr lang="en-US" altLang="zh-CN" sz="1800"/>
              <a:t>not significant, but </a:t>
            </a:r>
            <a:r>
              <a:rPr lang="en-US" altLang="zh-CN" sz="1800">
                <a:solidFill>
                  <a:srgbClr val="FF0000"/>
                </a:solidFill>
              </a:rPr>
              <a:t>messageLabel </a:t>
            </a:r>
            <a:r>
              <a:rPr lang="en-US" altLang="zh-CN" sz="1800"/>
              <a:t>is required  </a:t>
            </a:r>
            <a:endParaRPr lang="en-US" altLang="zh-CN" sz="1800">
              <a:solidFill>
                <a:srgbClr val="000000"/>
              </a:solidFill>
            </a:endParaRPr>
          </a:p>
        </p:txBody>
      </p:sp>
      <p:sp>
        <p:nvSpPr>
          <p:cNvPr id="8" name="Line 15">
            <a:extLst>
              <a:ext uri="{FF2B5EF4-FFF2-40B4-BE49-F238E27FC236}">
                <a16:creationId xmlns:a16="http://schemas.microsoft.com/office/drawing/2014/main" id="{358B6687-67A2-4110-B5B4-0BAFF6916A33}"/>
              </a:ext>
            </a:extLst>
          </p:cNvPr>
          <p:cNvSpPr>
            <a:spLocks noChangeShapeType="1"/>
          </p:cNvSpPr>
          <p:nvPr/>
        </p:nvSpPr>
        <p:spPr bwMode="auto">
          <a:xfrm flipH="1">
            <a:off x="4786313" y="4437063"/>
            <a:ext cx="1158875" cy="10795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1EF26D0A-3F19-43FE-95B1-25C08CF2E53F}"/>
              </a:ext>
            </a:extLst>
          </p:cNvPr>
          <p:cNvSpPr>
            <a:spLocks noGrp="1"/>
          </p:cNvSpPr>
          <p:nvPr>
            <p:ph type="title"/>
          </p:nvPr>
        </p:nvSpPr>
        <p:spPr/>
        <p:txBody>
          <a:bodyPr>
            <a:normAutofit fontScale="90000"/>
          </a:bodyPr>
          <a:lstStyle/>
          <a:p>
            <a:r>
              <a:rPr lang="en-US" altLang="zh-CN" dirty="0"/>
              <a:t>RPC Style (1/4)</a:t>
            </a:r>
            <a:endParaRPr lang="zh-CN" altLang="en-US" dirty="0"/>
          </a:p>
        </p:txBody>
      </p:sp>
      <p:sp>
        <p:nvSpPr>
          <p:cNvPr id="152579" name="内容占位符 2">
            <a:extLst>
              <a:ext uri="{FF2B5EF4-FFF2-40B4-BE49-F238E27FC236}">
                <a16:creationId xmlns:a16="http://schemas.microsoft.com/office/drawing/2014/main" id="{3A3DBD22-2493-4C14-92B3-0223E30EDBE4}"/>
              </a:ext>
            </a:extLst>
          </p:cNvPr>
          <p:cNvSpPr>
            <a:spLocks noGrp="1"/>
          </p:cNvSpPr>
          <p:nvPr>
            <p:ph idx="1"/>
          </p:nvPr>
        </p:nvSpPr>
        <p:spPr/>
        <p:txBody>
          <a:bodyPr>
            <a:normAutofit fontScale="92500" lnSpcReduction="10000"/>
          </a:bodyPr>
          <a:lstStyle/>
          <a:p>
            <a:pPr>
              <a:lnSpc>
                <a:spcPct val="120000"/>
              </a:lnSpc>
              <a:defRPr/>
            </a:pPr>
            <a:r>
              <a:rPr lang="en-US" altLang="zh-CN" sz="2100" dirty="0"/>
              <a:t>The (optional) </a:t>
            </a:r>
            <a:r>
              <a:rPr lang="en-US" altLang="zh-CN" sz="2100" dirty="0">
                <a:hlinkClick r:id="rId3"/>
              </a:rPr>
              <a:t>style</a:t>
            </a:r>
            <a:r>
              <a:rPr lang="en-US" altLang="zh-CN" sz="2100" dirty="0"/>
              <a:t> attribute of an interface operation is used to indicate that the operation conforms to a particular pre-defined operation style, or set of constraints </a:t>
            </a:r>
          </a:p>
          <a:p>
            <a:pPr lvl="1">
              <a:lnSpc>
                <a:spcPct val="120000"/>
              </a:lnSpc>
              <a:defRPr/>
            </a:pPr>
            <a:r>
              <a:rPr lang="en-US" altLang="zh-CN" sz="1600" dirty="0"/>
              <a:t>The </a:t>
            </a:r>
            <a:r>
              <a:rPr lang="en-US" altLang="zh-CN" sz="1600" dirty="0">
                <a:hlinkClick r:id="rId4" action="ppaction://hlinkfile"/>
              </a:rPr>
              <a:t>style</a:t>
            </a:r>
            <a:r>
              <a:rPr lang="en-US" altLang="zh-CN" sz="1600" dirty="0"/>
              <a:t> attribute can hold a </a:t>
            </a:r>
            <a:r>
              <a:rPr lang="en-US" altLang="zh-CN" sz="1600" i="1" dirty="0">
                <a:solidFill>
                  <a:srgbClr val="FF0000"/>
                </a:solidFill>
              </a:rPr>
              <a:t>list</a:t>
            </a:r>
            <a:r>
              <a:rPr lang="en-US" altLang="zh-CN" sz="1600" dirty="0">
                <a:solidFill>
                  <a:srgbClr val="FF0000"/>
                </a:solidFill>
              </a:rPr>
              <a:t> </a:t>
            </a:r>
            <a:r>
              <a:rPr lang="en-US" altLang="zh-CN" sz="1600" dirty="0"/>
              <a:t>of URIs, indicating that the operation simultaneously conforms to </a:t>
            </a:r>
            <a:r>
              <a:rPr lang="en-US" altLang="zh-CN" sz="1600" i="1" dirty="0">
                <a:solidFill>
                  <a:srgbClr val="FF0000"/>
                </a:solidFill>
              </a:rPr>
              <a:t>multiple</a:t>
            </a:r>
            <a:r>
              <a:rPr lang="en-US" altLang="zh-CN" sz="1600" dirty="0"/>
              <a:t> styles</a:t>
            </a:r>
          </a:p>
          <a:p>
            <a:pPr lvl="1">
              <a:lnSpc>
                <a:spcPct val="120000"/>
              </a:lnSpc>
              <a:defRPr/>
            </a:pPr>
            <a:r>
              <a:rPr lang="en-US" altLang="zh-CN" sz="1600" dirty="0"/>
              <a:t>Operation styles are named using URIs, in order to be unambiguous while still permitted new styles to be defined without requiring updates to the WSDL 2.0 language</a:t>
            </a:r>
          </a:p>
          <a:p>
            <a:pPr>
              <a:lnSpc>
                <a:spcPct val="120000"/>
              </a:lnSpc>
              <a:defRPr/>
            </a:pPr>
            <a:r>
              <a:rPr lang="en-US" altLang="zh-CN" sz="2100" dirty="0"/>
              <a:t>The </a:t>
            </a:r>
            <a:r>
              <a:rPr lang="en-US" altLang="zh-CN" sz="2100" i="1" dirty="0">
                <a:solidFill>
                  <a:srgbClr val="FF0000"/>
                </a:solidFill>
              </a:rPr>
              <a:t>RPC</a:t>
            </a:r>
            <a:r>
              <a:rPr lang="en-US" altLang="zh-CN" sz="2100" dirty="0">
                <a:solidFill>
                  <a:srgbClr val="FF0000"/>
                </a:solidFill>
              </a:rPr>
              <a:t> </a:t>
            </a:r>
            <a:r>
              <a:rPr lang="en-US" altLang="zh-CN" sz="2100" dirty="0"/>
              <a:t>Style is defined by WSDL 2.0 Part 2 [</a:t>
            </a:r>
            <a:r>
              <a:rPr lang="en-US" altLang="zh-CN" sz="2100" dirty="0">
                <a:hlinkClick r:id="rId5" action="ppaction://hlinkfile"/>
              </a:rPr>
              <a:t>WSDL 2.0 Adjuncts</a:t>
            </a:r>
            <a:r>
              <a:rPr lang="en-US" altLang="zh-CN" sz="2100" dirty="0"/>
              <a:t>] to facilitate programming language bindings to WSDL 2.0 constructs</a:t>
            </a:r>
          </a:p>
          <a:p>
            <a:pPr lvl="1">
              <a:lnSpc>
                <a:spcPct val="120000"/>
              </a:lnSpc>
              <a:defRPr/>
            </a:pPr>
            <a:r>
              <a:rPr lang="en-US" altLang="zh-CN" sz="1600" dirty="0"/>
              <a:t>RPC Style provides full details of the mapping rules and requirements. It allows a WSDL 2.0 interface operation to be easily mapped to a method or function signature (e.g. in Java or C#)</a:t>
            </a:r>
          </a:p>
          <a:p>
            <a:pPr lvl="1">
              <a:lnSpc>
                <a:spcPct val="120000"/>
              </a:lnSpc>
              <a:defRPr/>
            </a:pPr>
            <a:r>
              <a:rPr lang="en-US" altLang="zh-CN" sz="1600" dirty="0"/>
              <a:t>The RPC Style also permits the full signature of the intended mapping to be indicated explicitly, using the </a:t>
            </a:r>
            <a:r>
              <a:rPr lang="en-US" altLang="zh-CN" sz="1600" dirty="0" err="1">
                <a:hlinkClick r:id="rId6"/>
              </a:rPr>
              <a:t>wrpc:signature</a:t>
            </a:r>
            <a:r>
              <a:rPr lang="en-US" altLang="zh-CN" sz="1600" dirty="0"/>
              <a:t>, which designates how input and output message schema elements map to input and output parameters in the method signature</a:t>
            </a:r>
          </a:p>
          <a:p>
            <a:pPr lvl="1">
              <a:lnSpc>
                <a:spcPct val="120000"/>
              </a:lnSpc>
              <a:defRPr/>
            </a:pPr>
            <a:r>
              <a:rPr lang="en-US" altLang="zh-CN" sz="1600" dirty="0"/>
              <a:t>RPC Style is restricted to operations that use the </a:t>
            </a:r>
            <a:r>
              <a:rPr lang="en-US" altLang="zh-CN" sz="1600" dirty="0">
                <a:solidFill>
                  <a:srgbClr val="FF0000"/>
                </a:solidFill>
              </a:rPr>
              <a:t>In-Out </a:t>
            </a:r>
            <a:r>
              <a:rPr lang="en-US" altLang="zh-CN" sz="1600" dirty="0"/>
              <a:t>or </a:t>
            </a:r>
            <a:r>
              <a:rPr lang="en-US" altLang="zh-CN" sz="1600" dirty="0">
                <a:solidFill>
                  <a:srgbClr val="FF0000"/>
                </a:solidFill>
              </a:rPr>
              <a:t>In-Only</a:t>
            </a:r>
            <a:r>
              <a:rPr lang="en-US" altLang="zh-CN" sz="1600" dirty="0"/>
              <a:t> MEPs</a:t>
            </a:r>
          </a:p>
        </p:txBody>
      </p:sp>
      <p:sp>
        <p:nvSpPr>
          <p:cNvPr id="33796" name="灯片编号占位符 3">
            <a:extLst>
              <a:ext uri="{FF2B5EF4-FFF2-40B4-BE49-F238E27FC236}">
                <a16:creationId xmlns:a16="http://schemas.microsoft.com/office/drawing/2014/main" id="{AF2E297A-C4A6-49EC-B75B-8626B27098D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8</a:t>
            </a:fld>
            <a:endParaRPr lang="en-US" altLang="zh-CN" sz="1000">
              <a:solidFill>
                <a:srgbClr val="00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643E49B3-3AD3-4495-BE59-0427DE7DF15D}"/>
              </a:ext>
            </a:extLst>
          </p:cNvPr>
          <p:cNvSpPr>
            <a:spLocks noGrp="1"/>
          </p:cNvSpPr>
          <p:nvPr>
            <p:ph type="title"/>
          </p:nvPr>
        </p:nvSpPr>
        <p:spPr/>
        <p:txBody>
          <a:bodyPr>
            <a:normAutofit fontScale="90000"/>
          </a:bodyPr>
          <a:lstStyle/>
          <a:p>
            <a:r>
              <a:rPr lang="en-US" altLang="zh-CN" dirty="0"/>
              <a:t>RPC Style (2/4)</a:t>
            </a:r>
            <a:endParaRPr lang="zh-CN" altLang="en-US" dirty="0"/>
          </a:p>
        </p:txBody>
      </p:sp>
      <p:sp>
        <p:nvSpPr>
          <p:cNvPr id="35843" name="灯片编号占位符 3">
            <a:extLst>
              <a:ext uri="{FF2B5EF4-FFF2-40B4-BE49-F238E27FC236}">
                <a16:creationId xmlns:a16="http://schemas.microsoft.com/office/drawing/2014/main" id="{3CECE743-6A99-49D7-B67C-AEFE3CA788F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9</a:t>
            </a:fld>
            <a:endParaRPr lang="en-US" altLang="zh-CN" sz="1000">
              <a:solidFill>
                <a:srgbClr val="000000"/>
              </a:solidFill>
            </a:endParaRPr>
          </a:p>
        </p:txBody>
      </p:sp>
      <p:sp>
        <p:nvSpPr>
          <p:cNvPr id="5" name="Text Box 4">
            <a:extLst>
              <a:ext uri="{FF2B5EF4-FFF2-40B4-BE49-F238E27FC236}">
                <a16:creationId xmlns:a16="http://schemas.microsoft.com/office/drawing/2014/main" id="{48FA8B14-3DAE-408A-9899-CE91E2ABBD8B}"/>
              </a:ext>
            </a:extLst>
          </p:cNvPr>
          <p:cNvSpPr txBox="1">
            <a:spLocks noChangeArrowheads="1"/>
          </p:cNvSpPr>
          <p:nvPr/>
        </p:nvSpPr>
        <p:spPr bwMode="auto">
          <a:xfrm>
            <a:off x="480634" y="1417638"/>
            <a:ext cx="8229600" cy="515218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checkAvailability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roomType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xs:string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checkAvailabilityResponse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roomType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xs:string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rateType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xs:string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xs:double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BDCDF721-BEFF-434A-9D53-91F23D88FCB8}"/>
              </a:ext>
            </a:extLst>
          </p:cNvPr>
          <p:cNvSpPr>
            <a:spLocks noGrp="1"/>
          </p:cNvSpPr>
          <p:nvPr>
            <p:ph type="title"/>
          </p:nvPr>
        </p:nvSpPr>
        <p:spPr/>
        <p:txBody>
          <a:bodyPr>
            <a:normAutofit fontScale="90000"/>
          </a:bodyPr>
          <a:lstStyle/>
          <a:p>
            <a:r>
              <a:rPr lang="en-US" altLang="zh-CN" dirty="0"/>
              <a:t>RPC Style (3/4)</a:t>
            </a:r>
            <a:endParaRPr lang="zh-CN" altLang="en-US" dirty="0"/>
          </a:p>
        </p:txBody>
      </p:sp>
      <p:sp>
        <p:nvSpPr>
          <p:cNvPr id="37891" name="灯片编号占位符 3">
            <a:extLst>
              <a:ext uri="{FF2B5EF4-FFF2-40B4-BE49-F238E27FC236}">
                <a16:creationId xmlns:a16="http://schemas.microsoft.com/office/drawing/2014/main" id="{D12E6F90-C2C1-4DF2-806E-FE3108CD275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10</a:t>
            </a:fld>
            <a:endParaRPr lang="en-US" altLang="zh-CN" sz="1000">
              <a:solidFill>
                <a:srgbClr val="000000"/>
              </a:solidFill>
            </a:endParaRPr>
          </a:p>
        </p:txBody>
      </p:sp>
      <p:sp>
        <p:nvSpPr>
          <p:cNvPr id="5" name="Text Box 4">
            <a:extLst>
              <a:ext uri="{FF2B5EF4-FFF2-40B4-BE49-F238E27FC236}">
                <a16:creationId xmlns:a16="http://schemas.microsoft.com/office/drawing/2014/main" id="{5D7FDD8D-4249-418C-A254-E1AB63926658}"/>
              </a:ext>
            </a:extLst>
          </p:cNvPr>
          <p:cNvSpPr txBox="1">
            <a:spLocks noChangeArrowheads="1"/>
          </p:cNvSpPr>
          <p:nvPr/>
        </p:nvSpPr>
        <p:spPr bwMode="auto">
          <a:xfrm>
            <a:off x="457200" y="1916832"/>
            <a:ext cx="8229600" cy="404418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 </a:t>
            </a:r>
            <a:r>
              <a:rPr lang="en-US" altLang="zh-CN" sz="1200" dirty="0">
                <a:solidFill>
                  <a:srgbClr val="0000FF"/>
                </a:solidFill>
                <a:highlight>
                  <a:srgbClr val="FFFFFF"/>
                </a:highlight>
                <a:latin typeface="Arial"/>
              </a:rPr>
              <a:t>= "</a:t>
            </a:r>
            <a:r>
              <a:rPr lang="en-US" altLang="zh-CN" sz="1200" dirty="0" err="1">
                <a:solidFill>
                  <a:srgbClr val="000000"/>
                </a:solidFill>
                <a:highlight>
                  <a:srgbClr val="FFFFFF"/>
                </a:highlight>
                <a:latin typeface="Arial"/>
              </a:rPr>
              <a:t>reservationInterface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checkAvailability</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style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http://www.w3.org/ns/wsdl/rpc</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wrpc:signature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checkInDate</a:t>
            </a:r>
            <a:r>
              <a:rPr lang="en-US" altLang="zh-CN" sz="1200" dirty="0">
                <a:solidFill>
                  <a:srgbClr val="FF0000"/>
                </a:solidFill>
                <a:highlight>
                  <a:srgbClr val="FFFFFF"/>
                </a:highlight>
                <a:latin typeface="Arial"/>
              </a:rPr>
              <a:t> #in </a:t>
            </a:r>
            <a:r>
              <a:rPr lang="en-US" altLang="zh-CN" sz="1200" dirty="0" err="1">
                <a:solidFill>
                  <a:srgbClr val="FF0000"/>
                </a:solidFill>
                <a:highlight>
                  <a:srgbClr val="FFFFFF"/>
                </a:highlight>
                <a:latin typeface="Arial"/>
              </a:rPr>
              <a:t>checkOutDate</a:t>
            </a:r>
            <a:r>
              <a:rPr lang="en-US" altLang="zh-CN" sz="1200" dirty="0">
                <a:solidFill>
                  <a:srgbClr val="FF0000"/>
                </a:solidFill>
                <a:highlight>
                  <a:srgbClr val="FFFFFF"/>
                </a:highlight>
                <a:latin typeface="Arial"/>
              </a:rPr>
              <a:t> #in </a:t>
            </a:r>
            <a:r>
              <a:rPr lang="en-US" altLang="zh-CN" sz="1200" dirty="0" err="1">
                <a:solidFill>
                  <a:srgbClr val="FF0000"/>
                </a:solidFill>
                <a:highlight>
                  <a:srgbClr val="FFFFFF"/>
                </a:highlight>
                <a:latin typeface="Arial"/>
              </a:rPr>
              <a:t>roomType</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inout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rateType</a:t>
            </a:r>
            <a:r>
              <a:rPr lang="en-US" altLang="zh-CN" sz="1200" dirty="0">
                <a:solidFill>
                  <a:srgbClr val="FF0000"/>
                </a:solidFill>
                <a:highlight>
                  <a:srgbClr val="FFFFFF"/>
                </a:highlight>
                <a:latin typeface="Arial"/>
              </a:rPr>
              <a:t> #out rate #return"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tns:checkAvailability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tns:checkAvailabilityResponse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p:txBody>
      </p:sp>
      <p:sp>
        <p:nvSpPr>
          <p:cNvPr id="6" name="Line 15">
            <a:extLst>
              <a:ext uri="{FF2B5EF4-FFF2-40B4-BE49-F238E27FC236}">
                <a16:creationId xmlns:a16="http://schemas.microsoft.com/office/drawing/2014/main" id="{03C4E24C-DE15-47C5-8A4B-4B83C2AB44C8}"/>
              </a:ext>
            </a:extLst>
          </p:cNvPr>
          <p:cNvSpPr>
            <a:spLocks noChangeShapeType="1"/>
          </p:cNvSpPr>
          <p:nvPr/>
        </p:nvSpPr>
        <p:spPr bwMode="auto">
          <a:xfrm flipH="1">
            <a:off x="3132138" y="2605088"/>
            <a:ext cx="2284412" cy="3095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3FDB5B36-8391-4180-905F-1C89499253D4}"/>
              </a:ext>
            </a:extLst>
          </p:cNvPr>
          <p:cNvSpPr txBox="1">
            <a:spLocks noChangeArrowheads="1"/>
          </p:cNvSpPr>
          <p:nvPr/>
        </p:nvSpPr>
        <p:spPr bwMode="auto">
          <a:xfrm>
            <a:off x="5411788" y="2051050"/>
            <a:ext cx="31146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Defined by RPC style, operation name and the LocalPart of </a:t>
            </a:r>
            <a:r>
              <a:rPr lang="en-US" altLang="zh-CN" sz="1800"/>
              <a:t>input element is corresponding to the name of procedure</a:t>
            </a:r>
            <a:endParaRPr lang="en-US" altLang="zh-CN" sz="1800">
              <a:solidFill>
                <a:srgbClr val="000000"/>
              </a:solidFill>
            </a:endParaRPr>
          </a:p>
        </p:txBody>
      </p:sp>
      <p:sp>
        <p:nvSpPr>
          <p:cNvPr id="8" name="Line 15">
            <a:extLst>
              <a:ext uri="{FF2B5EF4-FFF2-40B4-BE49-F238E27FC236}">
                <a16:creationId xmlns:a16="http://schemas.microsoft.com/office/drawing/2014/main" id="{36C63816-863C-4C23-A12A-85FF44CA6C31}"/>
              </a:ext>
            </a:extLst>
          </p:cNvPr>
          <p:cNvSpPr>
            <a:spLocks noChangeShapeType="1"/>
          </p:cNvSpPr>
          <p:nvPr/>
        </p:nvSpPr>
        <p:spPr bwMode="auto">
          <a:xfrm flipH="1">
            <a:off x="3276600" y="2605088"/>
            <a:ext cx="2139950" cy="16049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5">
            <a:extLst>
              <a:ext uri="{FF2B5EF4-FFF2-40B4-BE49-F238E27FC236}">
                <a16:creationId xmlns:a16="http://schemas.microsoft.com/office/drawing/2014/main" id="{6DCA5EEC-EFBE-4E6B-A355-2742FA76480D}"/>
              </a:ext>
            </a:extLst>
          </p:cNvPr>
          <p:cNvSpPr>
            <a:spLocks noChangeShapeType="1"/>
          </p:cNvSpPr>
          <p:nvPr/>
        </p:nvSpPr>
        <p:spPr bwMode="auto">
          <a:xfrm flipH="1" flipV="1">
            <a:off x="4356100" y="3898900"/>
            <a:ext cx="989013" cy="847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16">
            <a:extLst>
              <a:ext uri="{FF2B5EF4-FFF2-40B4-BE49-F238E27FC236}">
                <a16:creationId xmlns:a16="http://schemas.microsoft.com/office/drawing/2014/main" id="{E0A79767-89CC-4BA1-8CB3-12A149129264}"/>
              </a:ext>
            </a:extLst>
          </p:cNvPr>
          <p:cNvSpPr txBox="1">
            <a:spLocks noChangeArrowheads="1"/>
          </p:cNvSpPr>
          <p:nvPr/>
        </p:nvSpPr>
        <p:spPr bwMode="auto">
          <a:xfrm>
            <a:off x="5338763" y="4191000"/>
            <a:ext cx="3116262"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Appears both as a local element child of both input and output elements</a:t>
            </a:r>
            <a:endParaRPr lang="en-US" altLang="zh-CN" sz="18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8" dur="500"/>
                                        <p:tgtEl>
                                          <p:spTgt spid="10"/>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C15E1B08-1997-434E-A69E-BBB5DF76C129}"/>
              </a:ext>
            </a:extLst>
          </p:cNvPr>
          <p:cNvSpPr>
            <a:spLocks noGrp="1"/>
          </p:cNvSpPr>
          <p:nvPr>
            <p:ph type="title"/>
          </p:nvPr>
        </p:nvSpPr>
        <p:spPr/>
        <p:txBody>
          <a:bodyPr>
            <a:normAutofit fontScale="90000"/>
          </a:bodyPr>
          <a:lstStyle/>
          <a:p>
            <a:r>
              <a:rPr lang="en-US" altLang="zh-CN" dirty="0"/>
              <a:t>RPC Style (4/4)</a:t>
            </a:r>
            <a:endParaRPr lang="zh-CN" altLang="en-US" dirty="0"/>
          </a:p>
        </p:txBody>
      </p:sp>
      <p:sp>
        <p:nvSpPr>
          <p:cNvPr id="4" name="内容占位符 3">
            <a:extLst>
              <a:ext uri="{FF2B5EF4-FFF2-40B4-BE49-F238E27FC236}">
                <a16:creationId xmlns:a16="http://schemas.microsoft.com/office/drawing/2014/main" id="{F33C173A-F99F-4580-A5C2-EC8EE4F56A9D}"/>
              </a:ext>
            </a:extLst>
          </p:cNvPr>
          <p:cNvSpPr>
            <a:spLocks noGrp="1"/>
          </p:cNvSpPr>
          <p:nvPr>
            <p:ph idx="1"/>
          </p:nvPr>
        </p:nvSpPr>
        <p:spPr>
          <a:xfrm>
            <a:off x="457200" y="1600200"/>
            <a:ext cx="8229600" cy="2132013"/>
          </a:xfrm>
        </p:spPr>
        <p:txBody>
          <a:bodyPr>
            <a:normAutofit fontScale="62500" lnSpcReduction="20000"/>
          </a:bodyPr>
          <a:lstStyle/>
          <a:p>
            <a:pPr>
              <a:lnSpc>
                <a:spcPct val="120000"/>
              </a:lnSpc>
              <a:defRPr/>
            </a:pPr>
            <a:r>
              <a:rPr lang="en-US" altLang="zh-CN" sz="3400" dirty="0"/>
              <a:t>Based on the value of the </a:t>
            </a:r>
            <a:r>
              <a:rPr lang="en-US" altLang="zh-CN" sz="3400" dirty="0" err="1">
                <a:hlinkClick r:id="rId3" action="ppaction://hlinkfile"/>
              </a:rPr>
              <a:t>wrpc:signature</a:t>
            </a:r>
            <a:r>
              <a:rPr lang="en-US" altLang="zh-CN" sz="3400" dirty="0"/>
              <a:t> attribute, the method signature would be obtained following the order of the parameters</a:t>
            </a:r>
          </a:p>
          <a:p>
            <a:pPr>
              <a:lnSpc>
                <a:spcPct val="120000"/>
              </a:lnSpc>
              <a:defRPr/>
            </a:pPr>
            <a:r>
              <a:rPr lang="en-US" altLang="zh-CN" sz="3400" dirty="0"/>
              <a:t>Programming languages may further specify how faults are mapped to language constructs and their scopes, such as Exceptions, but they are not specific to RPC style</a:t>
            </a:r>
          </a:p>
          <a:p>
            <a:pPr>
              <a:defRPr/>
            </a:pPr>
            <a:endParaRPr lang="zh-CN" altLang="en-US" dirty="0"/>
          </a:p>
        </p:txBody>
      </p:sp>
      <p:sp>
        <p:nvSpPr>
          <p:cNvPr id="39940" name="灯片编号占位符 3">
            <a:extLst>
              <a:ext uri="{FF2B5EF4-FFF2-40B4-BE49-F238E27FC236}">
                <a16:creationId xmlns:a16="http://schemas.microsoft.com/office/drawing/2014/main" id="{4DB1F495-21FB-4F98-89C4-31FFBA8716A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11</a:t>
            </a:fld>
            <a:endParaRPr lang="en-US" altLang="zh-CN" sz="1000">
              <a:solidFill>
                <a:srgbClr val="000000"/>
              </a:solidFill>
            </a:endParaRPr>
          </a:p>
        </p:txBody>
      </p:sp>
      <p:sp>
        <p:nvSpPr>
          <p:cNvPr id="39941" name="Text Box 4">
            <a:extLst>
              <a:ext uri="{FF2B5EF4-FFF2-40B4-BE49-F238E27FC236}">
                <a16:creationId xmlns:a16="http://schemas.microsoft.com/office/drawing/2014/main" id="{6A522FAC-4C9F-4982-8968-081045D84245}"/>
              </a:ext>
            </a:extLst>
          </p:cNvPr>
          <p:cNvSpPr txBox="1">
            <a:spLocks noChangeArrowheads="1"/>
          </p:cNvSpPr>
          <p:nvPr/>
        </p:nvSpPr>
        <p:spPr bwMode="auto">
          <a:xfrm>
            <a:off x="539750" y="3775075"/>
            <a:ext cx="8229600" cy="2701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b="1">
                <a:solidFill>
                  <a:srgbClr val="7F0055"/>
                </a:solidFill>
                <a:latin typeface="Courier New" panose="02070309020205020404" pitchFamily="49" charset="0"/>
              </a:rPr>
              <a:t>public</a:t>
            </a:r>
            <a:r>
              <a:rPr lang="en-US" altLang="zh-CN" sz="1600" b="1">
                <a:solidFill>
                  <a:srgbClr val="000000"/>
                </a:solidFill>
                <a:latin typeface="Courier New" panose="02070309020205020404" pitchFamily="49" charset="0"/>
              </a:rPr>
              <a:t> </a:t>
            </a:r>
            <a:r>
              <a:rPr lang="en-US" altLang="zh-CN" sz="1600" b="1">
                <a:solidFill>
                  <a:srgbClr val="7F0055"/>
                </a:solidFill>
                <a:latin typeface="Courier New" panose="02070309020205020404" pitchFamily="49" charset="0"/>
              </a:rPr>
              <a:t>interface</a:t>
            </a:r>
            <a:r>
              <a:rPr lang="en-US" altLang="zh-CN" sz="1600" b="1">
                <a:solidFill>
                  <a:srgbClr val="000000"/>
                </a:solidFill>
                <a:latin typeface="Courier New" panose="02070309020205020404" pitchFamily="49" charset="0"/>
              </a:rPr>
              <a:t> </a:t>
            </a:r>
            <a:r>
              <a:rPr lang="en-US" altLang="zh-CN" sz="1600" b="1" u="sng">
                <a:solidFill>
                  <a:srgbClr val="000000"/>
                </a:solidFill>
                <a:latin typeface="Courier New" panose="02070309020205020404" pitchFamily="49" charset="0"/>
              </a:rPr>
              <a:t>reservationInterface </a:t>
            </a:r>
            <a:r>
              <a:rPr lang="en-US" altLang="zh-CN" sz="1600" b="1" u="sng">
                <a:solidFill>
                  <a:srgbClr val="7F0055"/>
                </a:solidFill>
                <a:latin typeface="Courier New" panose="02070309020205020404" pitchFamily="49" charset="0"/>
              </a:rPr>
              <a:t>extends</a:t>
            </a:r>
            <a:r>
              <a:rPr lang="en-US" altLang="zh-CN" sz="1600" b="1" u="sng">
                <a:solidFill>
                  <a:srgbClr val="000000"/>
                </a:solidFill>
                <a:latin typeface="Courier New" panose="02070309020205020404" pitchFamily="49" charset="0"/>
              </a:rPr>
              <a:t> Remote{</a:t>
            </a:r>
          </a:p>
          <a:p>
            <a:pPr eaLnBrk="1" hangingPunct="1">
              <a:buFont typeface="Wingdings" panose="05000000000000000000" pitchFamily="2" charset="2"/>
              <a:buNone/>
            </a:pPr>
            <a:endParaRPr lang="zh-CN" altLang="en-US" sz="1600">
              <a:latin typeface="Courier New" panose="02070309020205020404" pitchFamily="49" charset="0"/>
            </a:endParaRP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   </a:t>
            </a:r>
            <a:r>
              <a:rPr lang="en-US" altLang="zh-CN" sz="1600" b="1">
                <a:solidFill>
                  <a:srgbClr val="7F0055"/>
                </a:solidFill>
                <a:latin typeface="Courier New" panose="02070309020205020404" pitchFamily="49" charset="0"/>
              </a:rPr>
              <a:t>double</a:t>
            </a:r>
            <a:r>
              <a:rPr lang="en-US" altLang="zh-CN" sz="1600" b="1">
                <a:solidFill>
                  <a:srgbClr val="000000"/>
                </a:solidFill>
                <a:latin typeface="Courier New" panose="02070309020205020404" pitchFamily="49" charset="0"/>
              </a:rPr>
              <a:t> checkAvailability(</a:t>
            </a: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              java.util.calendar checkInDate,</a:t>
            </a: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              </a:t>
            </a:r>
            <a:r>
              <a:rPr lang="en-US" altLang="zh-CN" sz="1600" u="sng">
                <a:solidFill>
                  <a:srgbClr val="000000"/>
                </a:solidFill>
                <a:latin typeface="Courier New" panose="02070309020205020404" pitchFamily="49" charset="0"/>
              </a:rPr>
              <a:t>java.util.calendar checkOutDate,</a:t>
            </a: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              </a:t>
            </a:r>
            <a:r>
              <a:rPr lang="en-US" altLang="zh-CN" sz="1600" u="sng">
                <a:solidFill>
                  <a:srgbClr val="000000"/>
                </a:solidFill>
                <a:latin typeface="Courier New" panose="02070309020205020404" pitchFamily="49" charset="0"/>
              </a:rPr>
              <a:t>StringHolder roomType, </a:t>
            </a: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              </a:t>
            </a:r>
            <a:r>
              <a:rPr lang="en-US" altLang="zh-CN" sz="1600" u="sng">
                <a:solidFill>
                  <a:srgbClr val="000000"/>
                </a:solidFill>
                <a:latin typeface="Courier New" panose="02070309020205020404" pitchFamily="49" charset="0"/>
              </a:rPr>
              <a:t>StringHolder rateType) </a:t>
            </a:r>
            <a:r>
              <a:rPr lang="en-US" altLang="zh-CN" sz="1600" b="1" u="sng">
                <a:solidFill>
                  <a:srgbClr val="7F0055"/>
                </a:solidFill>
                <a:latin typeface="Courier New" panose="02070309020205020404" pitchFamily="49" charset="0"/>
              </a:rPr>
              <a:t>throws</a:t>
            </a:r>
            <a:r>
              <a:rPr lang="en-US" altLang="zh-CN" sz="1600" b="1" u="sng">
                <a:solidFill>
                  <a:srgbClr val="000000"/>
                </a:solidFill>
                <a:latin typeface="Courier New" panose="02070309020205020404" pitchFamily="49" charset="0"/>
              </a:rPr>
              <a:t> RemoteException; </a:t>
            </a:r>
          </a:p>
          <a:p>
            <a:pPr eaLnBrk="1" hangingPunct="1">
              <a:buFont typeface="Wingdings" panose="05000000000000000000" pitchFamily="2" charset="2"/>
              <a:buNone/>
            </a:pPr>
            <a:r>
              <a:rPr lang="zh-CN" altLang="en-US" sz="1600">
                <a:solidFill>
                  <a:srgbClr val="000000"/>
                </a:solidFill>
                <a:latin typeface="Courier New" panose="02070309020205020404" pitchFamily="49" charset="0"/>
              </a:rPr>
              <a:t>    </a:t>
            </a:r>
            <a:r>
              <a:rPr lang="en-US" altLang="zh-CN" sz="1600">
                <a:solidFill>
                  <a:srgbClr val="000000"/>
                </a:solidFill>
                <a:latin typeface="Courier New" panose="02070309020205020404" pitchFamily="49" charset="0"/>
              </a:rPr>
              <a:t>. . .</a:t>
            </a:r>
          </a:p>
          <a:p>
            <a:pPr eaLnBrk="1" hangingPunct="1">
              <a:buFont typeface="Wingdings" panose="05000000000000000000" pitchFamily="2" charset="2"/>
              <a:buNone/>
            </a:pPr>
            <a:r>
              <a:rPr lang="en-US" altLang="zh-CN" sz="1600">
                <a:solidFill>
                  <a:srgbClr val="000000"/>
                </a:solidFill>
                <a:latin typeface="Courier New" panose="02070309020205020404" pitchFamily="49" charset="0"/>
              </a:rPr>
              <a:t>}</a:t>
            </a:r>
            <a:endParaRPr lang="en-US" altLang="zh-CN" sz="16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2F25CF0C-D547-47F9-83AB-8898F73BFF74}"/>
              </a:ext>
            </a:extLst>
          </p:cNvPr>
          <p:cNvSpPr>
            <a:spLocks noGrp="1"/>
          </p:cNvSpPr>
          <p:nvPr>
            <p:ph type="title"/>
          </p:nvPr>
        </p:nvSpPr>
        <p:spPr/>
        <p:txBody>
          <a:bodyPr>
            <a:normAutofit fontScale="90000"/>
          </a:bodyPr>
          <a:lstStyle/>
          <a:p>
            <a:r>
              <a:rPr lang="en-US" altLang="zh-CN" dirty="0"/>
              <a:t>Message Dispatch (1/3)</a:t>
            </a:r>
            <a:endParaRPr lang="zh-CN" altLang="en-US" dirty="0"/>
          </a:p>
        </p:txBody>
      </p:sp>
      <p:sp>
        <p:nvSpPr>
          <p:cNvPr id="3" name="内容占位符 2">
            <a:extLst>
              <a:ext uri="{FF2B5EF4-FFF2-40B4-BE49-F238E27FC236}">
                <a16:creationId xmlns:a16="http://schemas.microsoft.com/office/drawing/2014/main" id="{4D49C82D-3CC3-42AA-BDA2-30A437E6CD00}"/>
              </a:ext>
            </a:extLst>
          </p:cNvPr>
          <p:cNvSpPr>
            <a:spLocks noGrp="1"/>
          </p:cNvSpPr>
          <p:nvPr>
            <p:ph idx="1"/>
          </p:nvPr>
        </p:nvSpPr>
        <p:spPr/>
        <p:txBody>
          <a:bodyPr>
            <a:normAutofit lnSpcReduction="10000"/>
          </a:bodyPr>
          <a:lstStyle/>
          <a:p>
            <a:pPr>
              <a:lnSpc>
                <a:spcPct val="120000"/>
              </a:lnSpc>
              <a:defRPr/>
            </a:pPr>
            <a:r>
              <a:rPr lang="en-US" altLang="zh-CN" sz="2400" dirty="0"/>
              <a:t>After reception, a message should be dispatched to proper Web Service</a:t>
            </a:r>
          </a:p>
          <a:p>
            <a:pPr>
              <a:lnSpc>
                <a:spcPct val="120000"/>
              </a:lnSpc>
              <a:defRPr/>
            </a:pPr>
            <a:r>
              <a:rPr lang="en-US" altLang="zh-CN" sz="2400" dirty="0"/>
              <a:t>Therefore, WSDL authors are recommended to consider how to disambiguate message types when they develop their services</a:t>
            </a:r>
          </a:p>
          <a:p>
            <a:pPr lvl="1">
              <a:lnSpc>
                <a:spcPct val="120000"/>
              </a:lnSpc>
              <a:defRPr/>
            </a:pPr>
            <a:r>
              <a:rPr lang="en-US" altLang="zh-CN" sz="1800" dirty="0"/>
              <a:t>When an endpoint address hosts a single service that is described by a WSDL service element. If XSD is used, assigning unique qualified names of global element declarations as inputs within the interface that describes the service would be sufficient to disambiguate the types of the messages that are received</a:t>
            </a:r>
          </a:p>
          <a:p>
            <a:pPr lvl="1">
              <a:lnSpc>
                <a:spcPct val="120000"/>
              </a:lnSpc>
              <a:defRPr/>
            </a:pPr>
            <a:r>
              <a:rPr lang="en-US" altLang="zh-CN" sz="1800" dirty="0"/>
              <a:t>When endpoint address hosts multiple services, in essence supporting several WSDL descriptions, the desire to disambiguate message types should be considered within the context of all the deployed services, not only within a single interface</a:t>
            </a:r>
          </a:p>
        </p:txBody>
      </p:sp>
      <p:sp>
        <p:nvSpPr>
          <p:cNvPr id="41988" name="灯片编号占位符 3">
            <a:extLst>
              <a:ext uri="{FF2B5EF4-FFF2-40B4-BE49-F238E27FC236}">
                <a16:creationId xmlns:a16="http://schemas.microsoft.com/office/drawing/2014/main" id="{3884FAD3-B3DB-4A6F-9B9B-19326B014C3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12</a:t>
            </a:fld>
            <a:endParaRPr lang="en-US" altLang="zh-CN" sz="1000">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2EBD84EC-C225-4B36-8609-7CB9740C0A4A}"/>
              </a:ext>
            </a:extLst>
          </p:cNvPr>
          <p:cNvSpPr>
            <a:spLocks noGrp="1"/>
          </p:cNvSpPr>
          <p:nvPr>
            <p:ph type="title"/>
          </p:nvPr>
        </p:nvSpPr>
        <p:spPr/>
        <p:txBody>
          <a:bodyPr>
            <a:normAutofit fontScale="90000"/>
          </a:bodyPr>
          <a:lstStyle/>
          <a:p>
            <a:r>
              <a:rPr lang="en-US" altLang="zh-CN" dirty="0"/>
              <a:t>Message Dispatch (2/3)</a:t>
            </a:r>
            <a:endParaRPr lang="zh-CN" altLang="en-US" dirty="0"/>
          </a:p>
        </p:txBody>
      </p:sp>
      <p:sp>
        <p:nvSpPr>
          <p:cNvPr id="3" name="内容占位符 2">
            <a:extLst>
              <a:ext uri="{FF2B5EF4-FFF2-40B4-BE49-F238E27FC236}">
                <a16:creationId xmlns:a16="http://schemas.microsoft.com/office/drawing/2014/main" id="{DFF9F5D9-E3EF-4C3B-8A5B-079E68B686DA}"/>
              </a:ext>
            </a:extLst>
          </p:cNvPr>
          <p:cNvSpPr>
            <a:spLocks noGrp="1"/>
          </p:cNvSpPr>
          <p:nvPr>
            <p:ph idx="1"/>
          </p:nvPr>
        </p:nvSpPr>
        <p:spPr/>
        <p:txBody>
          <a:bodyPr>
            <a:normAutofit fontScale="92500"/>
          </a:bodyPr>
          <a:lstStyle/>
          <a:p>
            <a:pPr>
              <a:lnSpc>
                <a:spcPct val="120000"/>
              </a:lnSpc>
              <a:defRPr/>
            </a:pPr>
            <a:r>
              <a:rPr lang="en-US" altLang="zh-CN" sz="2400" dirty="0"/>
              <a:t>When XSD is used as the type system, uniquely identifying a message type may become very difficult when a few special tokens are used for the element attributes</a:t>
            </a:r>
          </a:p>
          <a:p>
            <a:pPr lvl="1">
              <a:lnSpc>
                <a:spcPct val="120000"/>
              </a:lnSpc>
              <a:defRPr/>
            </a:pPr>
            <a:r>
              <a:rPr lang="en-US" altLang="zh-CN" sz="1700" dirty="0"/>
              <a:t>Any of these input elements within an interface has a value of "</a:t>
            </a:r>
            <a:r>
              <a:rPr lang="en-US" altLang="zh-CN" sz="1700" dirty="0">
                <a:solidFill>
                  <a:srgbClr val="FF0000"/>
                </a:solidFill>
              </a:rPr>
              <a:t>#any</a:t>
            </a:r>
            <a:r>
              <a:rPr lang="en-US" altLang="zh-CN" sz="1700" dirty="0"/>
              <a:t>“</a:t>
            </a:r>
          </a:p>
          <a:p>
            <a:pPr lvl="1">
              <a:lnSpc>
                <a:spcPct val="120000"/>
              </a:lnSpc>
              <a:defRPr/>
            </a:pPr>
            <a:r>
              <a:rPr lang="en-US" altLang="zh-CN" sz="1700" dirty="0"/>
              <a:t>More than one of these input elements has a value of "</a:t>
            </a:r>
            <a:r>
              <a:rPr lang="en-US" altLang="zh-CN" sz="1700" dirty="0">
                <a:solidFill>
                  <a:srgbClr val="FF0000"/>
                </a:solidFill>
              </a:rPr>
              <a:t>#none</a:t>
            </a:r>
            <a:r>
              <a:rPr lang="en-US" altLang="zh-CN" sz="1700" dirty="0"/>
              <a:t>"</a:t>
            </a:r>
          </a:p>
          <a:p>
            <a:pPr lvl="1">
              <a:lnSpc>
                <a:spcPct val="120000"/>
              </a:lnSpc>
              <a:defRPr/>
            </a:pPr>
            <a:r>
              <a:rPr lang="en-US" altLang="zh-CN" sz="1700" dirty="0"/>
              <a:t>The qualified names of the global element declarations that are specified as input elements are </a:t>
            </a:r>
            <a:r>
              <a:rPr lang="en-US" altLang="zh-CN" sz="1700" dirty="0">
                <a:solidFill>
                  <a:srgbClr val="FF0000"/>
                </a:solidFill>
              </a:rPr>
              <a:t>NOT</a:t>
            </a:r>
            <a:r>
              <a:rPr lang="en-US" altLang="zh-CN" sz="1700" dirty="0"/>
              <a:t> unique when considered together</a:t>
            </a:r>
          </a:p>
          <a:p>
            <a:pPr>
              <a:lnSpc>
                <a:spcPct val="120000"/>
              </a:lnSpc>
              <a:defRPr/>
            </a:pPr>
            <a:r>
              <a:rPr lang="en-US" altLang="zh-CN" sz="2400" dirty="0"/>
              <a:t>If any of the three cases above arise, disambiguation mechanisms may be provided by means of an extension element, having a </a:t>
            </a:r>
            <a:r>
              <a:rPr lang="en-US" altLang="zh-CN" sz="2400" dirty="0" err="1">
                <a:hlinkClick r:id="rId3" action="ppaction://hlinkfile"/>
              </a:rPr>
              <a:t>wsdl:required</a:t>
            </a:r>
            <a:r>
              <a:rPr lang="en-US" altLang="zh-CN" sz="2400" dirty="0"/>
              <a:t> attribute with a value of "</a:t>
            </a:r>
            <a:r>
              <a:rPr lang="en-US" altLang="zh-CN" sz="2400" dirty="0">
                <a:solidFill>
                  <a:srgbClr val="FF0000"/>
                </a:solidFill>
              </a:rPr>
              <a:t>true</a:t>
            </a:r>
            <a:r>
              <a:rPr lang="en-US" altLang="zh-CN" sz="2400" dirty="0"/>
              <a:t>"</a:t>
            </a:r>
          </a:p>
          <a:p>
            <a:pPr lvl="1">
              <a:lnSpc>
                <a:spcPct val="120000"/>
              </a:lnSpc>
              <a:defRPr/>
            </a:pPr>
            <a:r>
              <a:rPr lang="en-US" altLang="zh-CN" sz="1700" dirty="0"/>
              <a:t>The semantics of such an extension element would indicate the mechanism for unambiguously identifying the mechanism that a message sender is required to support in order to enable the message recipient to unambiguously determine the message received</a:t>
            </a:r>
          </a:p>
        </p:txBody>
      </p:sp>
      <p:sp>
        <p:nvSpPr>
          <p:cNvPr id="44036" name="灯片编号占位符 3">
            <a:extLst>
              <a:ext uri="{FF2B5EF4-FFF2-40B4-BE49-F238E27FC236}">
                <a16:creationId xmlns:a16="http://schemas.microsoft.com/office/drawing/2014/main" id="{2695DFC8-15FC-4117-92D7-4282B65DB1F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13</a:t>
            </a:fld>
            <a:endParaRPr lang="en-US" altLang="zh-CN" sz="1000">
              <a:solidFill>
                <a:srgbClr val="00000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7CDF2BD0-87FC-4F5F-96E4-65F30906F654}"/>
              </a:ext>
            </a:extLst>
          </p:cNvPr>
          <p:cNvSpPr>
            <a:spLocks noGrp="1"/>
          </p:cNvSpPr>
          <p:nvPr>
            <p:ph type="title"/>
          </p:nvPr>
        </p:nvSpPr>
        <p:spPr/>
        <p:txBody>
          <a:bodyPr>
            <a:normAutofit fontScale="90000"/>
          </a:bodyPr>
          <a:lstStyle/>
          <a:p>
            <a:r>
              <a:rPr lang="en-US" altLang="zh-CN" dirty="0"/>
              <a:t>Message Dispatch (3/3)</a:t>
            </a:r>
            <a:endParaRPr lang="zh-CN" altLang="en-US" dirty="0"/>
          </a:p>
        </p:txBody>
      </p:sp>
      <p:sp>
        <p:nvSpPr>
          <p:cNvPr id="3" name="内容占位符 2">
            <a:extLst>
              <a:ext uri="{FF2B5EF4-FFF2-40B4-BE49-F238E27FC236}">
                <a16:creationId xmlns:a16="http://schemas.microsoft.com/office/drawing/2014/main" id="{B20C72BC-8EC5-4458-A3DE-E98DCAFAC88E}"/>
              </a:ext>
            </a:extLst>
          </p:cNvPr>
          <p:cNvSpPr>
            <a:spLocks noGrp="1"/>
          </p:cNvSpPr>
          <p:nvPr>
            <p:ph idx="1"/>
          </p:nvPr>
        </p:nvSpPr>
        <p:spPr/>
        <p:txBody>
          <a:bodyPr>
            <a:normAutofit fontScale="25000" lnSpcReduction="20000"/>
          </a:bodyPr>
          <a:lstStyle/>
          <a:p>
            <a:pPr>
              <a:defRPr/>
            </a:pPr>
            <a:r>
              <a:rPr lang="en-US" altLang="zh-CN" sz="8000" dirty="0"/>
              <a:t>The WS-Addressing [</a:t>
            </a:r>
            <a:r>
              <a:rPr lang="en-US" altLang="zh-CN" sz="8000" i="1" dirty="0">
                <a:hlinkClick r:id="rId3" action="ppaction://hlinkfile"/>
              </a:rPr>
              <a:t>WS-Addressing</a:t>
            </a:r>
            <a:r>
              <a:rPr lang="en-US" altLang="zh-CN" sz="8000" dirty="0"/>
              <a:t>] specification provides such a disambiguation mechanism</a:t>
            </a:r>
          </a:p>
          <a:p>
            <a:pPr lvl="1">
              <a:defRPr/>
            </a:pPr>
            <a:r>
              <a:rPr lang="en-US" altLang="zh-CN" sz="7200" dirty="0"/>
              <a:t>It consists of an extension element which may be marked as required, and defines a required [</a:t>
            </a:r>
            <a:r>
              <a:rPr lang="en-US" altLang="zh-CN" sz="7200" dirty="0">
                <a:solidFill>
                  <a:srgbClr val="FF0000"/>
                </a:solidFill>
                <a:hlinkClick r:id="rId4" action="ppaction://hlinkfile"/>
              </a:rPr>
              <a:t>action</a:t>
            </a:r>
            <a:r>
              <a:rPr lang="en-US" altLang="zh-CN" sz="7200" dirty="0"/>
              <a:t>] property whose value is always present in a conformant message delivery</a:t>
            </a:r>
          </a:p>
          <a:p>
            <a:pPr lvl="1">
              <a:defRPr/>
            </a:pPr>
            <a:r>
              <a:rPr lang="en-US" altLang="zh-CN" sz="7200" dirty="0"/>
              <a:t>The value of the </a:t>
            </a:r>
            <a:r>
              <a:rPr lang="en-US" altLang="zh-CN" sz="7200" dirty="0">
                <a:solidFill>
                  <a:srgbClr val="FF0000"/>
                </a:solidFill>
                <a:hlinkClick r:id="rId4" action="ppaction://hlinkfile"/>
              </a:rPr>
              <a:t>action</a:t>
            </a:r>
            <a:r>
              <a:rPr lang="en-US" altLang="zh-CN" sz="7200" dirty="0"/>
              <a:t> property can be used to disambiguate the message by the receiver and there is a well defined way to associate actions to messages in WS-Addressing specifications</a:t>
            </a:r>
          </a:p>
          <a:p>
            <a:pPr lvl="1">
              <a:defRPr/>
            </a:pPr>
            <a:r>
              <a:rPr lang="en-US" altLang="zh-CN" sz="7200" dirty="0"/>
              <a:t>Further, WS-Addressing also provides an appropriate default action value that identifies each message type uniquely</a:t>
            </a:r>
          </a:p>
          <a:p>
            <a:pPr>
              <a:defRPr/>
            </a:pPr>
            <a:r>
              <a:rPr lang="en-US" altLang="zh-CN" sz="7200" dirty="0"/>
              <a:t>When using the HTTP Binding, or when using the SOAP Binding with the SOAP Response MEP, there is no SOAP envelope in a request message, and thus this mechanisms don’t work </a:t>
            </a:r>
          </a:p>
          <a:p>
            <a:pPr lvl="1">
              <a:defRPr/>
            </a:pPr>
            <a:r>
              <a:rPr lang="en-US" altLang="zh-CN" sz="6700" dirty="0"/>
              <a:t>In these cases, the {</a:t>
            </a:r>
            <a:r>
              <a:rPr lang="en-US" altLang="zh-CN" sz="6700" dirty="0">
                <a:solidFill>
                  <a:srgbClr val="FF0000"/>
                </a:solidFill>
              </a:rPr>
              <a:t>address</a:t>
            </a:r>
            <a:r>
              <a:rPr lang="en-US" altLang="zh-CN" sz="6700" dirty="0"/>
              <a:t>} and {</a:t>
            </a:r>
            <a:r>
              <a:rPr lang="en-US" altLang="zh-CN" sz="6700" dirty="0">
                <a:solidFill>
                  <a:srgbClr val="FF0000"/>
                </a:solidFill>
              </a:rPr>
              <a:t>http location</a:t>
            </a:r>
            <a:r>
              <a:rPr lang="en-US" altLang="zh-CN" sz="6700" dirty="0"/>
              <a:t>} properties may be constructed so as to provide a location that can be correlated uniquely with an operation</a:t>
            </a:r>
          </a:p>
          <a:p>
            <a:pPr lvl="1">
              <a:defRPr/>
            </a:pPr>
            <a:r>
              <a:rPr lang="en-US" altLang="zh-CN" sz="6700" dirty="0"/>
              <a:t>For instance, one could prefix the {</a:t>
            </a:r>
            <a:r>
              <a:rPr lang="en-US" altLang="zh-CN" sz="6700" dirty="0">
                <a:solidFill>
                  <a:srgbClr val="FF0000"/>
                </a:solidFill>
              </a:rPr>
              <a:t>http location</a:t>
            </a:r>
            <a:r>
              <a:rPr lang="en-US" altLang="zh-CN" sz="6700" dirty="0"/>
              <a:t>} property with the operation name, or one could ensure that the portion of the {</a:t>
            </a:r>
            <a:r>
              <a:rPr lang="en-US" altLang="zh-CN" sz="6700" dirty="0">
                <a:solidFill>
                  <a:srgbClr val="FF0000"/>
                </a:solidFill>
              </a:rPr>
              <a:t>http location</a:t>
            </a:r>
            <a:r>
              <a:rPr lang="en-US" altLang="zh-CN" sz="6700" dirty="0"/>
              <a:t>} preceding the first </a:t>
            </a:r>
            <a:r>
              <a:rPr lang="en-US" altLang="zh-CN" sz="6700" dirty="0" err="1"/>
              <a:t>unescaped</a:t>
            </a:r>
            <a:r>
              <a:rPr lang="en-US" altLang="zh-CN" sz="6700" dirty="0"/>
              <a:t> "{" character be unique per operation</a:t>
            </a:r>
          </a:p>
          <a:p>
            <a:pPr>
              <a:defRPr/>
            </a:pPr>
            <a:endParaRPr lang="zh-CN" altLang="en-US" dirty="0"/>
          </a:p>
        </p:txBody>
      </p:sp>
      <p:sp>
        <p:nvSpPr>
          <p:cNvPr id="46084" name="灯片编号占位符 3">
            <a:extLst>
              <a:ext uri="{FF2B5EF4-FFF2-40B4-BE49-F238E27FC236}">
                <a16:creationId xmlns:a16="http://schemas.microsoft.com/office/drawing/2014/main" id="{44BFF274-7353-42AC-97E0-0EB964246D6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F9A3A8A-C504-425D-80F6-D69B20EC510F}" type="slidenum">
              <a:rPr lang="en-US" altLang="zh-CN" smtClean="0"/>
              <a:pPr/>
              <a:t>14</a:t>
            </a:fld>
            <a:endParaRPr lang="en-US" altLang="zh-CN" sz="1000">
              <a:solidFill>
                <a:srgbClr val="000000"/>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5EDA59B6-E334-4EA8-83DD-F0ADA0DFE9E2}"/>
              </a:ext>
            </a:extLst>
          </p:cNvPr>
          <p:cNvSpPr>
            <a:spLocks noGrp="1"/>
          </p:cNvSpPr>
          <p:nvPr>
            <p:ph type="title"/>
          </p:nvPr>
        </p:nvSpPr>
        <p:spPr/>
        <p:txBody>
          <a:bodyPr>
            <a:normAutofit fontScale="90000"/>
          </a:bodyPr>
          <a:lstStyle/>
          <a:p>
            <a:r>
              <a:rPr lang="en-US" altLang="zh-CN" dirty="0"/>
              <a:t>Dynamic Web Service</a:t>
            </a:r>
            <a:endParaRPr lang="zh-CN" altLang="en-US" dirty="0"/>
          </a:p>
        </p:txBody>
      </p:sp>
      <p:sp>
        <p:nvSpPr>
          <p:cNvPr id="3" name="内容占位符 2">
            <a:extLst>
              <a:ext uri="{FF2B5EF4-FFF2-40B4-BE49-F238E27FC236}">
                <a16:creationId xmlns:a16="http://schemas.microsoft.com/office/drawing/2014/main" id="{DA4CFE03-A02E-40C1-AEDC-DAC9711AC2E4}"/>
              </a:ext>
            </a:extLst>
          </p:cNvPr>
          <p:cNvSpPr>
            <a:spLocks noGrp="1"/>
          </p:cNvSpPr>
          <p:nvPr>
            <p:ph idx="1"/>
          </p:nvPr>
        </p:nvSpPr>
        <p:spPr/>
        <p:txBody>
          <a:bodyPr>
            <a:normAutofit fontScale="77500" lnSpcReduction="20000"/>
          </a:bodyPr>
          <a:lstStyle/>
          <a:p>
            <a:pPr>
              <a:lnSpc>
                <a:spcPct val="120000"/>
              </a:lnSpc>
              <a:defRPr/>
            </a:pPr>
            <a:r>
              <a:rPr lang="en-US" altLang="zh-CN" dirty="0"/>
              <a:t>In order to support Hyperlink of Web Services, references to endpoints and services can be used</a:t>
            </a:r>
          </a:p>
          <a:p>
            <a:pPr lvl="1">
              <a:lnSpc>
                <a:spcPct val="120000"/>
              </a:lnSpc>
              <a:defRPr/>
            </a:pPr>
            <a:r>
              <a:rPr lang="en-US" altLang="zh-CN" dirty="0"/>
              <a:t>A </a:t>
            </a:r>
            <a:r>
              <a:rPr lang="en-US" altLang="zh-CN" i="1" dirty="0">
                <a:solidFill>
                  <a:srgbClr val="FF0000"/>
                </a:solidFill>
              </a:rPr>
              <a:t>reference to an endpoint </a:t>
            </a:r>
            <a:r>
              <a:rPr lang="en-US" altLang="zh-CN" dirty="0"/>
              <a:t>is an element or attribute that contains the address of a Web service endpoint. </a:t>
            </a:r>
          </a:p>
          <a:p>
            <a:pPr lvl="1">
              <a:lnSpc>
                <a:spcPct val="120000"/>
              </a:lnSpc>
              <a:defRPr/>
            </a:pPr>
            <a:r>
              <a:rPr lang="en-US" altLang="zh-CN" dirty="0"/>
              <a:t>A </a:t>
            </a:r>
            <a:r>
              <a:rPr lang="en-US" altLang="zh-CN" i="1" dirty="0">
                <a:solidFill>
                  <a:srgbClr val="FF0000"/>
                </a:solidFill>
              </a:rPr>
              <a:t>reference to a service</a:t>
            </a:r>
            <a:r>
              <a:rPr lang="en-US" altLang="zh-CN" dirty="0"/>
              <a:t> is an element or attribute that contains one or more references to the endpoints of a service</a:t>
            </a:r>
          </a:p>
          <a:p>
            <a:pPr>
              <a:lnSpc>
                <a:spcPct val="120000"/>
              </a:lnSpc>
              <a:defRPr/>
            </a:pPr>
            <a:r>
              <a:rPr lang="en-US" altLang="zh-CN" dirty="0"/>
              <a:t>If the metadata of </a:t>
            </a:r>
            <a:r>
              <a:rPr lang="en-US" altLang="zh-CN" dirty="0">
                <a:hlinkClick r:id="rId3" action="ppaction://hlinkfile"/>
              </a:rPr>
              <a:t>interface </a:t>
            </a:r>
            <a:r>
              <a:rPr lang="en-US" altLang="zh-CN" dirty="0"/>
              <a:t>or </a:t>
            </a:r>
            <a:r>
              <a:rPr lang="en-US" altLang="zh-CN" dirty="0">
                <a:hlinkClick r:id="rId3" action="ppaction://hlinkfile"/>
              </a:rPr>
              <a:t>binding</a:t>
            </a:r>
            <a:r>
              <a:rPr lang="en-US" altLang="zh-CN" dirty="0"/>
              <a:t> that the </a:t>
            </a:r>
            <a:r>
              <a:rPr lang="en-US" altLang="zh-CN" dirty="0">
                <a:hlinkClick r:id="rId3" action="ppaction://hlinkfile"/>
              </a:rPr>
              <a:t>service</a:t>
            </a:r>
            <a:r>
              <a:rPr lang="en-US" altLang="zh-CN" dirty="0"/>
              <a:t> or </a:t>
            </a:r>
            <a:r>
              <a:rPr lang="en-US" altLang="zh-CN" dirty="0">
                <a:hlinkClick r:id="rId3" action="ppaction://hlinkfile"/>
              </a:rPr>
              <a:t>endpoint</a:t>
            </a:r>
            <a:r>
              <a:rPr lang="en-US" altLang="zh-CN" dirty="0"/>
              <a:t> implements is known at description time, it may be useful to add this information to the WSDL 2.0 document that describes the Web service</a:t>
            </a:r>
          </a:p>
          <a:p>
            <a:pPr lvl="1">
              <a:lnSpc>
                <a:spcPct val="120000"/>
              </a:lnSpc>
              <a:defRPr/>
            </a:pPr>
            <a:r>
              <a:rPr lang="en-US" altLang="zh-CN" dirty="0"/>
              <a:t>This is accomplished by using the </a:t>
            </a:r>
            <a:r>
              <a:rPr lang="en-US" altLang="zh-CN" dirty="0" err="1">
                <a:hlinkClick r:id="rId4" action="ppaction://hlinkfile"/>
              </a:rPr>
              <a:t>wsdlx:interface</a:t>
            </a:r>
            <a:r>
              <a:rPr lang="en-US" altLang="zh-CN" dirty="0">
                <a:hlinkClick r:id="rId4" action="ppaction://hlinkfile"/>
              </a:rPr>
              <a:t> </a:t>
            </a:r>
            <a:r>
              <a:rPr lang="en-US" altLang="zh-CN" dirty="0"/>
              <a:t>or </a:t>
            </a:r>
            <a:r>
              <a:rPr lang="en-US" altLang="zh-CN" dirty="0" err="1">
                <a:hlinkClick r:id="rId4" action="ppaction://hlinkfile"/>
              </a:rPr>
              <a:t>wsdlx:binding</a:t>
            </a:r>
            <a:r>
              <a:rPr lang="en-US" altLang="zh-CN" dirty="0"/>
              <a:t> attribute to annotate the XML Schema component that defines the message</a:t>
            </a:r>
          </a:p>
        </p:txBody>
      </p:sp>
      <p:sp>
        <p:nvSpPr>
          <p:cNvPr id="21508" name="灯片编号占位符 3">
            <a:extLst>
              <a:ext uri="{FF2B5EF4-FFF2-40B4-BE49-F238E27FC236}">
                <a16:creationId xmlns:a16="http://schemas.microsoft.com/office/drawing/2014/main" id="{87184840-CC49-44A2-B808-4F48CAADA96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15</a:t>
            </a:fld>
            <a:endParaRPr lang="en-US" altLang="zh-CN" sz="1000">
              <a:solidFill>
                <a:srgbClr val="000000"/>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
            <a:extLst>
              <a:ext uri="{FF2B5EF4-FFF2-40B4-BE49-F238E27FC236}">
                <a16:creationId xmlns:a16="http://schemas.microsoft.com/office/drawing/2014/main" id="{77450C97-10B1-4CFD-97FC-E3C7B19E63E0}"/>
              </a:ext>
            </a:extLst>
          </p:cNvPr>
          <p:cNvSpPr>
            <a:spLocks noGrp="1"/>
          </p:cNvSpPr>
          <p:nvPr>
            <p:ph type="title"/>
          </p:nvPr>
        </p:nvSpPr>
        <p:spPr/>
        <p:txBody>
          <a:bodyPr>
            <a:normAutofit fontScale="90000"/>
          </a:bodyPr>
          <a:lstStyle/>
          <a:p>
            <a:pPr>
              <a:defRPr/>
            </a:pPr>
            <a:r>
              <a:rPr lang="en-US" altLang="zh-CN" dirty="0"/>
              <a:t>The Reservation Details Web Service (1/4)</a:t>
            </a:r>
            <a:endParaRPr lang="zh-CN" altLang="en-US" dirty="0"/>
          </a:p>
        </p:txBody>
      </p:sp>
      <p:sp>
        <p:nvSpPr>
          <p:cNvPr id="23555" name="内容占位符 2">
            <a:extLst>
              <a:ext uri="{FF2B5EF4-FFF2-40B4-BE49-F238E27FC236}">
                <a16:creationId xmlns:a16="http://schemas.microsoft.com/office/drawing/2014/main" id="{8DEF1A08-530D-4A5D-814F-AF293217A4EE}"/>
              </a:ext>
            </a:extLst>
          </p:cNvPr>
          <p:cNvSpPr>
            <a:spLocks noGrp="1"/>
          </p:cNvSpPr>
          <p:nvPr>
            <p:ph idx="1"/>
          </p:nvPr>
        </p:nvSpPr>
        <p:spPr>
          <a:xfrm>
            <a:off x="457200" y="1628775"/>
            <a:ext cx="8229600" cy="2376488"/>
          </a:xfrm>
        </p:spPr>
        <p:txBody>
          <a:bodyPr/>
          <a:lstStyle/>
          <a:p>
            <a:r>
              <a:rPr lang="en-US" altLang="zh-CN" sz="2400"/>
              <a:t>When designing a Web application it is natural to give each important concept a URI</a:t>
            </a:r>
          </a:p>
          <a:p>
            <a:pPr lvl="1"/>
            <a:r>
              <a:rPr lang="en-US" altLang="zh-CN" sz="1600"/>
              <a:t>Since each reservation has a unique confirmation number, e.g </a:t>
            </a:r>
            <a:r>
              <a:rPr lang="en-US" altLang="zh-CN" sz="1600">
                <a:solidFill>
                  <a:srgbClr val="FF0000"/>
                </a:solidFill>
              </a:rPr>
              <a:t>OMX736</a:t>
            </a:r>
            <a:r>
              <a:rPr lang="en-US" altLang="zh-CN" sz="1600"/>
              <a:t>, we create a URI for each reservation by appending the confirmation number to a base URI, e.g. </a:t>
            </a:r>
            <a:r>
              <a:rPr lang="en-US" altLang="zh-CN" sz="1600">
                <a:hlinkClick r:id="rId3"/>
              </a:rPr>
              <a:t>http://greath.example.com/2004/reservation/OMX736</a:t>
            </a:r>
            <a:endParaRPr lang="en-US" altLang="zh-CN" sz="1600"/>
          </a:p>
          <a:p>
            <a:pPr lvl="1"/>
            <a:r>
              <a:rPr lang="en-US" altLang="zh-CN" sz="1600"/>
              <a:t>This URI will be the endpoint address for a Reservation Details Web service that can retrieve and update the state of a reservation</a:t>
            </a:r>
            <a:endParaRPr lang="zh-CN" altLang="en-US" sz="1600"/>
          </a:p>
        </p:txBody>
      </p:sp>
      <p:sp>
        <p:nvSpPr>
          <p:cNvPr id="23556" name="灯片编号占位符 3">
            <a:extLst>
              <a:ext uri="{FF2B5EF4-FFF2-40B4-BE49-F238E27FC236}">
                <a16:creationId xmlns:a16="http://schemas.microsoft.com/office/drawing/2014/main" id="{C102330D-C568-4D05-B52A-D87168B9930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16</a:t>
            </a:fld>
            <a:endParaRPr lang="en-US" altLang="zh-CN" sz="1000">
              <a:solidFill>
                <a:srgbClr val="000000"/>
              </a:solidFill>
            </a:endParaRPr>
          </a:p>
        </p:txBody>
      </p:sp>
      <p:sp>
        <p:nvSpPr>
          <p:cNvPr id="5" name="Text Box 4">
            <a:extLst>
              <a:ext uri="{FF2B5EF4-FFF2-40B4-BE49-F238E27FC236}">
                <a16:creationId xmlns:a16="http://schemas.microsoft.com/office/drawing/2014/main" id="{0D4D31B0-4DB9-48F5-802E-C54BB3C05B95}"/>
              </a:ext>
            </a:extLst>
          </p:cNvPr>
          <p:cNvSpPr txBox="1">
            <a:spLocks noChangeArrowheads="1"/>
          </p:cNvSpPr>
          <p:nvPr/>
        </p:nvSpPr>
        <p:spPr bwMode="auto">
          <a:xfrm>
            <a:off x="539552" y="4005263"/>
            <a:ext cx="8229600" cy="237603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reservationDetails</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a:t>
            </a:r>
            <a:r>
              <a:rPr lang="en-US" altLang="zh-CN" sz="1400" dirty="0" err="1">
                <a:solidFill>
                  <a:srgbClr val="000000"/>
                </a:solidFill>
                <a:highlight>
                  <a:srgbClr val="FFFFFF"/>
                </a:highlight>
                <a:latin typeface="Arial"/>
              </a:rPr>
              <a:t>reservationDetails</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confirmationNumber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OMX736</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confirmationNumber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checkInDate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2005-06-01</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checkInDate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checkOutDate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2005-06-03</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checkOutDate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roomType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single</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roomType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smoking</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false</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smoking</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reservationDetails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12E38C82-C579-4CD3-BF51-323DAE869A12}"/>
              </a:ext>
            </a:extLst>
          </p:cNvPr>
          <p:cNvSpPr>
            <a:spLocks noChangeShapeType="1"/>
          </p:cNvSpPr>
          <p:nvPr/>
        </p:nvSpPr>
        <p:spPr bwMode="auto">
          <a:xfrm flipH="1" flipV="1">
            <a:off x="5508625" y="5013325"/>
            <a:ext cx="1798638" cy="8016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26BBC453-DBBF-47D9-B797-8A8EB3150D1F}"/>
              </a:ext>
            </a:extLst>
          </p:cNvPr>
          <p:cNvSpPr txBox="1">
            <a:spLocks noChangeArrowheads="1"/>
          </p:cNvSpPr>
          <p:nvPr/>
        </p:nvSpPr>
        <p:spPr bwMode="auto">
          <a:xfrm>
            <a:off x="6264275" y="5775325"/>
            <a:ext cx="23764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XML Document of </a:t>
            </a:r>
            <a:r>
              <a:rPr lang="en-US" altLang="zh-CN" sz="1800"/>
              <a:t>reservation OMX736 </a:t>
            </a:r>
            <a:r>
              <a:rPr lang="en-US" altLang="zh-CN" sz="1800">
                <a:solidFill>
                  <a:srgbClr val="000000"/>
                </a:solidFill>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
            <a:extLst>
              <a:ext uri="{FF2B5EF4-FFF2-40B4-BE49-F238E27FC236}">
                <a16:creationId xmlns:a16="http://schemas.microsoft.com/office/drawing/2014/main" id="{7EE23E68-27E4-4E99-906B-FC0BFE55C2E5}"/>
              </a:ext>
            </a:extLst>
          </p:cNvPr>
          <p:cNvSpPr>
            <a:spLocks noGrp="1"/>
          </p:cNvSpPr>
          <p:nvPr>
            <p:ph type="title"/>
          </p:nvPr>
        </p:nvSpPr>
        <p:spPr/>
        <p:txBody>
          <a:bodyPr>
            <a:normAutofit fontScale="90000"/>
          </a:bodyPr>
          <a:lstStyle/>
          <a:p>
            <a:pPr>
              <a:defRPr/>
            </a:pPr>
            <a:r>
              <a:rPr lang="en-US" altLang="zh-CN" dirty="0"/>
              <a:t>The Reservation Details Web Service (2/4)</a:t>
            </a:r>
            <a:endParaRPr lang="zh-CN" altLang="en-US" dirty="0"/>
          </a:p>
        </p:txBody>
      </p:sp>
      <p:sp>
        <p:nvSpPr>
          <p:cNvPr id="3" name="内容占位符 2">
            <a:extLst>
              <a:ext uri="{FF2B5EF4-FFF2-40B4-BE49-F238E27FC236}">
                <a16:creationId xmlns:a16="http://schemas.microsoft.com/office/drawing/2014/main" id="{C5212642-6619-4CD8-BDC0-95CCC8A5A2BA}"/>
              </a:ext>
            </a:extLst>
          </p:cNvPr>
          <p:cNvSpPr>
            <a:spLocks noGrp="1"/>
          </p:cNvSpPr>
          <p:nvPr>
            <p:ph idx="1"/>
          </p:nvPr>
        </p:nvSpPr>
        <p:spPr>
          <a:xfrm>
            <a:off x="457200" y="1600200"/>
            <a:ext cx="8229600" cy="1108075"/>
          </a:xfrm>
        </p:spPr>
        <p:txBody>
          <a:bodyPr>
            <a:normAutofit fontScale="92500" lnSpcReduction="20000"/>
          </a:bodyPr>
          <a:lstStyle/>
          <a:p>
            <a:pPr>
              <a:defRPr/>
            </a:pPr>
            <a:r>
              <a:rPr lang="en-US" altLang="zh-CN" sz="2000" dirty="0"/>
              <a:t>Note that there is no service element in this description since the set of reservations is dynamic</a:t>
            </a:r>
          </a:p>
          <a:p>
            <a:pPr>
              <a:defRPr/>
            </a:pPr>
            <a:r>
              <a:rPr lang="en-US" altLang="zh-CN" sz="2000" dirty="0"/>
              <a:t>Instead, the endpoints for the reservations will be returned by querying the Reservation List Web service</a:t>
            </a:r>
          </a:p>
        </p:txBody>
      </p:sp>
      <p:sp>
        <p:nvSpPr>
          <p:cNvPr id="25604" name="灯片编号占位符 3">
            <a:extLst>
              <a:ext uri="{FF2B5EF4-FFF2-40B4-BE49-F238E27FC236}">
                <a16:creationId xmlns:a16="http://schemas.microsoft.com/office/drawing/2014/main" id="{146F83AA-9117-404C-B34C-3DACC09A42D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17</a:t>
            </a:fld>
            <a:endParaRPr lang="en-US" altLang="zh-CN" sz="1000">
              <a:solidFill>
                <a:srgbClr val="000000"/>
              </a:solidFill>
            </a:endParaRPr>
          </a:p>
        </p:txBody>
      </p:sp>
      <p:sp>
        <p:nvSpPr>
          <p:cNvPr id="5" name="Text Box 4">
            <a:extLst>
              <a:ext uri="{FF2B5EF4-FFF2-40B4-BE49-F238E27FC236}">
                <a16:creationId xmlns:a16="http://schemas.microsoft.com/office/drawing/2014/main" id="{02730067-13B1-4394-980D-B73F394C4A75}"/>
              </a:ext>
            </a:extLst>
          </p:cNvPr>
          <p:cNvSpPr txBox="1">
            <a:spLocks noChangeArrowheads="1"/>
          </p:cNvSpPr>
          <p:nvPr/>
        </p:nvSpPr>
        <p:spPr bwMode="auto">
          <a:xfrm>
            <a:off x="478365" y="2708920"/>
            <a:ext cx="8229600" cy="404418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xmlns:wdetails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xmlns:wsoap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xmlns:xs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http://www.w3.org/2001/XMLSchema</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This document describes the </a:t>
            </a:r>
            <a:r>
              <a:rPr lang="en-US" altLang="zh-CN" sz="1200" dirty="0" err="1">
                <a:solidFill>
                  <a:srgbClr val="000000"/>
                </a:solidFill>
                <a:highlight>
                  <a:srgbClr val="FFFFFF"/>
                </a:highlight>
                <a:latin typeface="Arial"/>
              </a:rPr>
              <a:t>GreatH</a:t>
            </a:r>
            <a:r>
              <a:rPr lang="en-US" altLang="zh-CN" sz="1200" dirty="0">
                <a:solidFill>
                  <a:srgbClr val="000000"/>
                </a:solidFill>
                <a:highlight>
                  <a:srgbClr val="FFFFFF"/>
                </a:highlight>
                <a:latin typeface="Arial"/>
              </a:rPr>
              <a:t> Reservation Details Web</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services. Use these services to retrieve or update reservation</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details. Each reservation has its own service and endpoint. To</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obtain the reference for a reservation service, make a request to</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the </a:t>
            </a:r>
            <a:r>
              <a:rPr lang="en-US" altLang="zh-CN" sz="1200" dirty="0" err="1">
                <a:solidFill>
                  <a:srgbClr val="000000"/>
                </a:solidFill>
                <a:highlight>
                  <a:srgbClr val="FFFFFF"/>
                </a:highlight>
                <a:latin typeface="Arial"/>
              </a:rPr>
              <a:t>GreatH</a:t>
            </a:r>
            <a:r>
              <a:rPr lang="en-US" altLang="zh-CN" sz="1200" dirty="0">
                <a:solidFill>
                  <a:srgbClr val="000000"/>
                </a:solidFill>
                <a:highlight>
                  <a:srgbClr val="FFFFFF"/>
                </a:highlight>
                <a:latin typeface="Arial"/>
              </a:rPr>
              <a:t> Reservation List Web service. See</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reservationList.wsdl</a:t>
            </a:r>
            <a:r>
              <a:rPr lang="en-US" altLang="zh-CN" sz="1200" dirty="0">
                <a:solidFill>
                  <a:srgbClr val="000000"/>
                </a:solidFill>
                <a:highlight>
                  <a:srgbClr val="FFFFFF"/>
                </a:highlight>
                <a:latin typeface="Arial"/>
              </a:rPr>
              <a:t> for a description of the Reservation List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Web service.</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a:extLst>
              <a:ext uri="{FF2B5EF4-FFF2-40B4-BE49-F238E27FC236}">
                <a16:creationId xmlns:a16="http://schemas.microsoft.com/office/drawing/2014/main" id="{6A7DE166-FDCB-4837-AC15-2D9CFCA2A8BD}"/>
              </a:ext>
            </a:extLst>
          </p:cNvPr>
          <p:cNvSpPr>
            <a:spLocks noGrp="1"/>
          </p:cNvSpPr>
          <p:nvPr>
            <p:ph type="title"/>
          </p:nvPr>
        </p:nvSpPr>
        <p:spPr/>
        <p:txBody>
          <a:bodyPr>
            <a:normAutofit fontScale="90000"/>
          </a:bodyPr>
          <a:lstStyle/>
          <a:p>
            <a:pPr>
              <a:defRPr/>
            </a:pPr>
            <a:r>
              <a:rPr lang="en-US" altLang="zh-CN" dirty="0"/>
              <a:t>The Reservation Details Web Service (3/4)</a:t>
            </a:r>
            <a:endParaRPr lang="zh-CN" altLang="en-US" dirty="0"/>
          </a:p>
        </p:txBody>
      </p:sp>
      <p:sp>
        <p:nvSpPr>
          <p:cNvPr id="27651" name="灯片编号占位符 3">
            <a:extLst>
              <a:ext uri="{FF2B5EF4-FFF2-40B4-BE49-F238E27FC236}">
                <a16:creationId xmlns:a16="http://schemas.microsoft.com/office/drawing/2014/main" id="{09A424E8-4B17-4585-ADCC-13CCE398CEF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18</a:t>
            </a:fld>
            <a:endParaRPr lang="en-US" altLang="zh-CN" sz="1000">
              <a:solidFill>
                <a:srgbClr val="000000"/>
              </a:solidFill>
            </a:endParaRPr>
          </a:p>
        </p:txBody>
      </p:sp>
      <p:sp>
        <p:nvSpPr>
          <p:cNvPr id="5" name="Text Box 4">
            <a:extLst>
              <a:ext uri="{FF2B5EF4-FFF2-40B4-BE49-F238E27FC236}">
                <a16:creationId xmlns:a16="http://schemas.microsoft.com/office/drawing/2014/main" id="{46872D78-FC3C-4358-AA46-730444C3A9F1}"/>
              </a:ext>
            </a:extLst>
          </p:cNvPr>
          <p:cNvSpPr txBox="1">
            <a:spLocks noChangeArrowheads="1"/>
          </p:cNvSpPr>
          <p:nvPr/>
        </p:nvSpPr>
        <p:spPr bwMode="auto">
          <a:xfrm>
            <a:off x="457200" y="1581401"/>
            <a:ext cx="8229600" cy="49305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schemaLocation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reservationDetails.xsd</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retrieve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#none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update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a:extLst>
              <a:ext uri="{FF2B5EF4-FFF2-40B4-BE49-F238E27FC236}">
                <a16:creationId xmlns:a16="http://schemas.microsoft.com/office/drawing/2014/main" id="{583ECE0D-35EF-42D4-81F3-763B0435557A}"/>
              </a:ext>
            </a:extLst>
          </p:cNvPr>
          <p:cNvSpPr>
            <a:spLocks noGrp="1"/>
          </p:cNvSpPr>
          <p:nvPr>
            <p:ph type="title"/>
          </p:nvPr>
        </p:nvSpPr>
        <p:spPr/>
        <p:txBody>
          <a:bodyPr>
            <a:normAutofit fontScale="90000"/>
          </a:bodyPr>
          <a:lstStyle/>
          <a:p>
            <a:pPr>
              <a:defRPr/>
            </a:pPr>
            <a:r>
              <a:rPr lang="en-US" altLang="zh-CN" dirty="0"/>
              <a:t>The Reservation Details Web Service (4/4)</a:t>
            </a:r>
            <a:endParaRPr lang="zh-CN" altLang="en-US" dirty="0"/>
          </a:p>
        </p:txBody>
      </p:sp>
      <p:sp>
        <p:nvSpPr>
          <p:cNvPr id="29699" name="灯片编号占位符 3">
            <a:extLst>
              <a:ext uri="{FF2B5EF4-FFF2-40B4-BE49-F238E27FC236}">
                <a16:creationId xmlns:a16="http://schemas.microsoft.com/office/drawing/2014/main" id="{890AEC96-3F4A-404E-8679-C463515718B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19</a:t>
            </a:fld>
            <a:endParaRPr lang="en-US" altLang="zh-CN" sz="1000">
              <a:solidFill>
                <a:srgbClr val="000000"/>
              </a:solidFill>
            </a:endParaRPr>
          </a:p>
        </p:txBody>
      </p:sp>
      <p:sp>
        <p:nvSpPr>
          <p:cNvPr id="5" name="Text Box 4">
            <a:extLst>
              <a:ext uri="{FF2B5EF4-FFF2-40B4-BE49-F238E27FC236}">
                <a16:creationId xmlns:a16="http://schemas.microsoft.com/office/drawing/2014/main" id="{BC11BD13-59DE-4D9D-B9A6-D37A5F24AEE0}"/>
              </a:ext>
            </a:extLst>
          </p:cNvPr>
          <p:cNvSpPr txBox="1">
            <a:spLocks noChangeArrowheads="1"/>
          </p:cNvSpPr>
          <p:nvPr/>
        </p:nvSpPr>
        <p:spPr bwMode="auto">
          <a:xfrm>
            <a:off x="479079" y="1988840"/>
            <a:ext cx="8229600" cy="337938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reservationDetailsSOAPBinding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tns:reservationDetailsInterface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wsoap:protocol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http://www.w3.org/2003/05/soap/bindings/HTTP/</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tns:update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3FEBF54C-8919-4254-B972-9B43E44DBAD4}"/>
              </a:ext>
            </a:extLst>
          </p:cNvPr>
          <p:cNvSpPr>
            <a:spLocks noChangeShapeType="1"/>
          </p:cNvSpPr>
          <p:nvPr/>
        </p:nvSpPr>
        <p:spPr bwMode="auto">
          <a:xfrm flipH="1" flipV="1">
            <a:off x="3276600" y="4508500"/>
            <a:ext cx="287338" cy="9985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68F097C9-C417-4166-A264-297576D2975F}"/>
              </a:ext>
            </a:extLst>
          </p:cNvPr>
          <p:cNvSpPr txBox="1">
            <a:spLocks noChangeArrowheads="1"/>
          </p:cNvSpPr>
          <p:nvPr/>
        </p:nvSpPr>
        <p:spPr bwMode="auto">
          <a:xfrm>
            <a:off x="1908175" y="5507038"/>
            <a:ext cx="3562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Service element unavailable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FD203305-514D-4C8C-A766-73BA201BA0E2}"/>
              </a:ext>
            </a:extLst>
          </p:cNvPr>
          <p:cNvSpPr>
            <a:spLocks noGrp="1"/>
          </p:cNvSpPr>
          <p:nvPr>
            <p:ph type="title"/>
          </p:nvPr>
        </p:nvSpPr>
        <p:spPr/>
        <p:txBody>
          <a:bodyPr>
            <a:noAutofit/>
          </a:bodyPr>
          <a:lstStyle/>
          <a:p>
            <a:pPr>
              <a:defRPr/>
            </a:pPr>
            <a:r>
              <a:rPr lang="en-US" altLang="zh-CN" sz="2800" dirty="0"/>
              <a:t>Schema that Defines </a:t>
            </a:r>
            <a:r>
              <a:rPr lang="en-US" altLang="zh-CN" sz="2800" dirty="0">
                <a:solidFill>
                  <a:srgbClr val="000000"/>
                </a:solidFill>
                <a:hlinkClick r:id="rId3" action="ppaction://hlinkfile"/>
              </a:rPr>
              <a:t>wdetails:reservationDetails</a:t>
            </a:r>
            <a:r>
              <a:rPr lang="en-US" altLang="zh-CN" sz="2800" dirty="0">
                <a:solidFill>
                  <a:srgbClr val="000000"/>
                </a:solidFill>
              </a:rPr>
              <a:t> </a:t>
            </a:r>
            <a:r>
              <a:rPr lang="en-US" altLang="zh-CN" sz="2800" dirty="0"/>
              <a:t>(1/3)</a:t>
            </a:r>
            <a:endParaRPr lang="zh-CN" altLang="en-US" sz="2800" dirty="0"/>
          </a:p>
        </p:txBody>
      </p:sp>
      <p:sp>
        <p:nvSpPr>
          <p:cNvPr id="31747" name="灯片编号占位符 3">
            <a:extLst>
              <a:ext uri="{FF2B5EF4-FFF2-40B4-BE49-F238E27FC236}">
                <a16:creationId xmlns:a16="http://schemas.microsoft.com/office/drawing/2014/main" id="{9C38835A-95F9-4804-9942-D820DF7666C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20</a:t>
            </a:fld>
            <a:endParaRPr lang="en-US" altLang="zh-CN" sz="1000">
              <a:solidFill>
                <a:srgbClr val="000000"/>
              </a:solidFill>
            </a:endParaRPr>
          </a:p>
        </p:txBody>
      </p:sp>
      <p:sp>
        <p:nvSpPr>
          <p:cNvPr id="5" name="Text Box 4">
            <a:extLst>
              <a:ext uri="{FF2B5EF4-FFF2-40B4-BE49-F238E27FC236}">
                <a16:creationId xmlns:a16="http://schemas.microsoft.com/office/drawing/2014/main" id="{4280FC60-C6C8-4EB0-AD8D-E379C7C5391B}"/>
              </a:ext>
            </a:extLst>
          </p:cNvPr>
          <p:cNvSpPr txBox="1">
            <a:spLocks noChangeArrowheads="1"/>
          </p:cNvSpPr>
          <p:nvPr/>
        </p:nvSpPr>
        <p:spPr bwMode="auto">
          <a:xfrm>
            <a:off x="485596" y="2060848"/>
            <a:ext cx="8229600" cy="315778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schema</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http://www.w3.org/2001/XMLSchema</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elementFormDefault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qualified</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xmlns:wdetails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xmlns:wsdli</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http://www.w3.org/ns/wsdl-instance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xmlns:wsdlx</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http://www.w3.org/ns/wsdl-extensions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wsdli:wsdlLocation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a:t>
            </a:r>
            <a:r>
              <a:rPr lang="en-US" altLang="zh-CN" sz="1200" dirty="0" err="1">
                <a:solidFill>
                  <a:srgbClr val="000000"/>
                </a:solidFill>
                <a:highlight>
                  <a:srgbClr val="FFFFFF"/>
                </a:highlight>
                <a:latin typeface="Arial"/>
              </a:rPr>
              <a:t>reservationDetails</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reservationDetails.wsdl</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string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p>
        </p:txBody>
      </p:sp>
      <p:sp>
        <p:nvSpPr>
          <p:cNvPr id="6" name="Line 15">
            <a:extLst>
              <a:ext uri="{FF2B5EF4-FFF2-40B4-BE49-F238E27FC236}">
                <a16:creationId xmlns:a16="http://schemas.microsoft.com/office/drawing/2014/main" id="{3D8EB3AE-B7AC-4B50-84D9-A3C8093F28B3}"/>
              </a:ext>
            </a:extLst>
          </p:cNvPr>
          <p:cNvSpPr>
            <a:spLocks noChangeShapeType="1"/>
          </p:cNvSpPr>
          <p:nvPr/>
        </p:nvSpPr>
        <p:spPr bwMode="auto">
          <a:xfrm flipH="1" flipV="1">
            <a:off x="5940425" y="4076700"/>
            <a:ext cx="0" cy="15843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8FEDAC7F-7233-480E-BD20-91D60E1D2CC0}"/>
              </a:ext>
            </a:extLst>
          </p:cNvPr>
          <p:cNvSpPr txBox="1">
            <a:spLocks noChangeArrowheads="1"/>
          </p:cNvSpPr>
          <p:nvPr/>
        </p:nvSpPr>
        <p:spPr bwMode="auto">
          <a:xfrm>
            <a:off x="3125788" y="5661025"/>
            <a:ext cx="56276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Gives the location of WSDL document (given upon) that defines </a:t>
            </a:r>
            <a:r>
              <a:rPr lang="en-US" altLang="zh-CN" sz="1800">
                <a:hlinkClick r:id="rId4" action="ppaction://hlinkfile"/>
              </a:rPr>
              <a:t>wdetails:reservationDetailsSOAPBinding</a:t>
            </a:r>
            <a:endParaRPr lang="en-US" altLang="zh-CN" sz="18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19450F97-164F-4313-A070-1A8108D6F6EF}"/>
              </a:ext>
            </a:extLst>
          </p:cNvPr>
          <p:cNvSpPr>
            <a:spLocks noGrp="1"/>
          </p:cNvSpPr>
          <p:nvPr>
            <p:ph type="title"/>
          </p:nvPr>
        </p:nvSpPr>
        <p:spPr/>
        <p:txBody>
          <a:bodyPr>
            <a:noAutofit/>
          </a:bodyPr>
          <a:lstStyle/>
          <a:p>
            <a:pPr>
              <a:defRPr/>
            </a:pPr>
            <a:r>
              <a:rPr lang="en-US" altLang="zh-CN" sz="2800" dirty="0"/>
              <a:t>Schema that Defines </a:t>
            </a:r>
            <a:r>
              <a:rPr lang="en-US" altLang="zh-CN" sz="2800" dirty="0" err="1">
                <a:solidFill>
                  <a:srgbClr val="000000"/>
                </a:solidFill>
                <a:hlinkClick r:id="rId3" action="ppaction://hlinkfile"/>
              </a:rPr>
              <a:t>wdetails:reservationDetails</a:t>
            </a:r>
            <a:r>
              <a:rPr lang="en-US" altLang="zh-CN" sz="2800" dirty="0">
                <a:solidFill>
                  <a:srgbClr val="000000"/>
                </a:solidFill>
              </a:rPr>
              <a:t> </a:t>
            </a:r>
            <a:r>
              <a:rPr lang="en-US" altLang="zh-CN" sz="2800" dirty="0"/>
              <a:t>(2/3)</a:t>
            </a:r>
            <a:endParaRPr lang="zh-CN" altLang="en-US" sz="2800" dirty="0"/>
          </a:p>
        </p:txBody>
      </p:sp>
      <p:sp>
        <p:nvSpPr>
          <p:cNvPr id="33795" name="灯片编号占位符 3">
            <a:extLst>
              <a:ext uri="{FF2B5EF4-FFF2-40B4-BE49-F238E27FC236}">
                <a16:creationId xmlns:a16="http://schemas.microsoft.com/office/drawing/2014/main" id="{94780746-35A2-458C-958C-FE46E55F434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21</a:t>
            </a:fld>
            <a:endParaRPr lang="en-US" altLang="zh-CN" sz="1000">
              <a:solidFill>
                <a:srgbClr val="000000"/>
              </a:solidFill>
            </a:endParaRPr>
          </a:p>
        </p:txBody>
      </p:sp>
      <p:sp>
        <p:nvSpPr>
          <p:cNvPr id="5" name="Text Box 4">
            <a:extLst>
              <a:ext uri="{FF2B5EF4-FFF2-40B4-BE49-F238E27FC236}">
                <a16:creationId xmlns:a16="http://schemas.microsoft.com/office/drawing/2014/main" id="{09FDC8C7-0BB6-4416-8400-667C2943EFC9}"/>
              </a:ext>
            </a:extLst>
          </p:cNvPr>
          <p:cNvSpPr txBox="1">
            <a:spLocks noChangeArrowheads="1"/>
          </p:cNvSpPr>
          <p:nvPr/>
        </p:nvSpPr>
        <p:spPr bwMode="auto">
          <a:xfrm>
            <a:off x="467544" y="1700808"/>
            <a:ext cx="8229600" cy="400725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roomType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string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smoking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boolean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simpleType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reservationDetailsSOAPEndpointType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wsdlx:binding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wdetails:reservationDetailsSOAPBinding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restriction</a:t>
            </a:r>
            <a:r>
              <a:rPr lang="en-US" altLang="zh-CN" sz="1200" dirty="0">
                <a:solidFill>
                  <a:srgbClr val="FF0000"/>
                </a:solidFill>
                <a:highlight>
                  <a:srgbClr val="FFFFFF"/>
                </a:highlight>
                <a:latin typeface="Arial"/>
              </a:rPr>
              <a:t> base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anyURI</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simpleType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reservationDetailsSOAPEndpoint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tns:reservationDetailsSOAPEndpointType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E126770E-D5E0-4469-92C4-54B8DDE329EC}"/>
              </a:ext>
            </a:extLst>
          </p:cNvPr>
          <p:cNvSpPr>
            <a:spLocks noChangeShapeType="1"/>
          </p:cNvSpPr>
          <p:nvPr/>
        </p:nvSpPr>
        <p:spPr bwMode="auto">
          <a:xfrm flipH="1" flipV="1">
            <a:off x="4500563" y="4645025"/>
            <a:ext cx="792162" cy="79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ECAEDBCD-344E-4459-B320-355D8C5DFB8C}"/>
              </a:ext>
            </a:extLst>
          </p:cNvPr>
          <p:cNvSpPr txBox="1">
            <a:spLocks noChangeArrowheads="1"/>
          </p:cNvSpPr>
          <p:nvPr/>
        </p:nvSpPr>
        <p:spPr bwMode="auto">
          <a:xfrm>
            <a:off x="5213350" y="3705225"/>
            <a:ext cx="36068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The URI type of address of a Reservation Details Web service endpoint that implements the </a:t>
            </a:r>
            <a:r>
              <a:rPr lang="en-US" altLang="zh-CN" sz="1800">
                <a:hlinkClick r:id="rId4" action="ppaction://hlinkfile"/>
              </a:rPr>
              <a:t>wdetails:reservationDetailsSOAPBinding</a:t>
            </a:r>
            <a:endParaRPr lang="en-US" altLang="zh-CN" sz="18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3C1C7AA9-82C6-4E70-99D1-4DEA9B4D8673}"/>
              </a:ext>
            </a:extLst>
          </p:cNvPr>
          <p:cNvSpPr>
            <a:spLocks noGrp="1"/>
          </p:cNvSpPr>
          <p:nvPr>
            <p:ph type="title"/>
          </p:nvPr>
        </p:nvSpPr>
        <p:spPr/>
        <p:txBody>
          <a:bodyPr/>
          <a:lstStyle/>
          <a:p>
            <a:pPr>
              <a:defRPr/>
            </a:pPr>
            <a:r>
              <a:rPr lang="en-US" altLang="zh-CN" sz="2800" dirty="0"/>
              <a:t>Schema that Defines </a:t>
            </a:r>
            <a:r>
              <a:rPr lang="en-US" altLang="zh-CN" sz="2800" dirty="0" err="1">
                <a:solidFill>
                  <a:srgbClr val="000000"/>
                </a:solidFill>
                <a:hlinkClick r:id="rId3" action="ppaction://hlinkfile"/>
              </a:rPr>
              <a:t>wdetails:reservationDetails</a:t>
            </a:r>
            <a:r>
              <a:rPr lang="en-US" altLang="zh-CN" sz="2800" dirty="0">
                <a:solidFill>
                  <a:srgbClr val="000000"/>
                </a:solidFill>
              </a:rPr>
              <a:t> </a:t>
            </a:r>
            <a:r>
              <a:rPr lang="en-US" altLang="zh-CN" sz="2800" dirty="0"/>
              <a:t>(3/3)</a:t>
            </a:r>
            <a:endParaRPr lang="zh-CN" altLang="en-US" sz="2800" dirty="0"/>
          </a:p>
        </p:txBody>
      </p:sp>
      <p:sp>
        <p:nvSpPr>
          <p:cNvPr id="35843" name="灯片编号占位符 3">
            <a:extLst>
              <a:ext uri="{FF2B5EF4-FFF2-40B4-BE49-F238E27FC236}">
                <a16:creationId xmlns:a16="http://schemas.microsoft.com/office/drawing/2014/main" id="{402BE8EA-FFE1-48BB-9310-8CC6F34654E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22</a:t>
            </a:fld>
            <a:endParaRPr lang="en-US" altLang="zh-CN" sz="1000">
              <a:solidFill>
                <a:srgbClr val="000000"/>
              </a:solidFill>
            </a:endParaRPr>
          </a:p>
        </p:txBody>
      </p:sp>
      <p:sp>
        <p:nvSpPr>
          <p:cNvPr id="5" name="Text Box 4">
            <a:extLst>
              <a:ext uri="{FF2B5EF4-FFF2-40B4-BE49-F238E27FC236}">
                <a16:creationId xmlns:a16="http://schemas.microsoft.com/office/drawing/2014/main" id="{C51CB00F-9D44-4D24-AE21-8FFAE48A93EE}"/>
              </a:ext>
            </a:extLst>
          </p:cNvPr>
          <p:cNvSpPr txBox="1">
            <a:spLocks noChangeArrowheads="1"/>
          </p:cNvSpPr>
          <p:nvPr/>
        </p:nvSpPr>
        <p:spPr bwMode="auto">
          <a:xfrm>
            <a:off x="467544" y="1700808"/>
            <a:ext cx="8229600" cy="382258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reservationDetailsService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This element contains references to the Reservation</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Details Web Service endpoints for this reservation.</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soap</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tns:reservationDetailsSOAPEndpointType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secure-soap</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tns:reservationDetailsSOAPEndpointType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schema</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DA248B94-63CB-42C6-95EE-2AF3B8CC0168}"/>
              </a:ext>
            </a:extLst>
          </p:cNvPr>
          <p:cNvSpPr>
            <a:spLocks noGrp="1"/>
          </p:cNvSpPr>
          <p:nvPr>
            <p:ph type="title"/>
          </p:nvPr>
        </p:nvSpPr>
        <p:spPr/>
        <p:txBody>
          <a:bodyPr/>
          <a:lstStyle/>
          <a:p>
            <a:r>
              <a:rPr lang="en-US" altLang="zh-CN" sz="2800" dirty="0"/>
              <a:t>The Reservation Endpoint List (1/2)</a:t>
            </a:r>
            <a:endParaRPr lang="zh-CN" altLang="en-US" sz="2800" dirty="0"/>
          </a:p>
        </p:txBody>
      </p:sp>
      <p:sp>
        <p:nvSpPr>
          <p:cNvPr id="3" name="内容占位符 2">
            <a:extLst>
              <a:ext uri="{FF2B5EF4-FFF2-40B4-BE49-F238E27FC236}">
                <a16:creationId xmlns:a16="http://schemas.microsoft.com/office/drawing/2014/main" id="{F4EFFA47-49F0-4BE5-A582-CBF1D134A340}"/>
              </a:ext>
            </a:extLst>
          </p:cNvPr>
          <p:cNvSpPr>
            <a:spLocks noGrp="1"/>
          </p:cNvSpPr>
          <p:nvPr>
            <p:ph idx="1"/>
          </p:nvPr>
        </p:nvSpPr>
        <p:spPr>
          <a:xfrm>
            <a:off x="395536" y="1223963"/>
            <a:ext cx="8229600" cy="1947863"/>
          </a:xfrm>
        </p:spPr>
        <p:txBody>
          <a:bodyPr>
            <a:normAutofit lnSpcReduction="10000"/>
          </a:bodyPr>
          <a:lstStyle/>
          <a:p>
            <a:pPr>
              <a:defRPr/>
            </a:pPr>
            <a:r>
              <a:rPr lang="en-US" altLang="zh-CN" sz="2000" dirty="0"/>
              <a:t>The Reservation Detail endpoints are returned as references to endpoints in response to requests made on a Reservation List Web service</a:t>
            </a:r>
          </a:p>
          <a:p>
            <a:pPr>
              <a:defRPr/>
            </a:pPr>
            <a:r>
              <a:rPr lang="en-US" altLang="zh-CN" sz="2000" dirty="0"/>
              <a:t>Here, the &lt;</a:t>
            </a:r>
            <a:r>
              <a:rPr lang="en-US" altLang="zh-CN" sz="2000" dirty="0">
                <a:solidFill>
                  <a:srgbClr val="FF0000"/>
                </a:solidFill>
                <a:hlinkClick r:id="rId3" action="ppaction://hlinkpres?slideindex=1&amp;slidetitle="/>
              </a:rPr>
              <a:t>details:reservationDetailsSOAPEndpoint</a:t>
            </a:r>
            <a:r>
              <a:rPr lang="en-US" altLang="zh-CN" sz="2000" dirty="0"/>
              <a:t>&gt; elements contain references to the Reservation Details Web service endpoints for the reservations HSG635, OMX736, and WUH663</a:t>
            </a:r>
          </a:p>
        </p:txBody>
      </p:sp>
      <p:sp>
        <p:nvSpPr>
          <p:cNvPr id="37892" name="灯片编号占位符 3">
            <a:extLst>
              <a:ext uri="{FF2B5EF4-FFF2-40B4-BE49-F238E27FC236}">
                <a16:creationId xmlns:a16="http://schemas.microsoft.com/office/drawing/2014/main" id="{A1FD1F6C-9BE7-441B-AEE7-BD72829F430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23</a:t>
            </a:fld>
            <a:endParaRPr lang="en-US" altLang="zh-CN" sz="1000">
              <a:solidFill>
                <a:srgbClr val="000000"/>
              </a:solidFill>
            </a:endParaRPr>
          </a:p>
        </p:txBody>
      </p:sp>
      <p:sp>
        <p:nvSpPr>
          <p:cNvPr id="5" name="Text Box 4">
            <a:extLst>
              <a:ext uri="{FF2B5EF4-FFF2-40B4-BE49-F238E27FC236}">
                <a16:creationId xmlns:a16="http://schemas.microsoft.com/office/drawing/2014/main" id="{F608C72D-C660-4D0A-93AB-294F98DD2E25}"/>
              </a:ext>
            </a:extLst>
          </p:cNvPr>
          <p:cNvSpPr txBox="1">
            <a:spLocks noChangeArrowheads="1"/>
          </p:cNvSpPr>
          <p:nvPr/>
        </p:nvSpPr>
        <p:spPr bwMode="auto">
          <a:xfrm>
            <a:off x="457200" y="3548063"/>
            <a:ext cx="8229600" cy="315778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reservationList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xmlns:details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HSG635</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2005-06-27</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2005-06-28</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http://greath.example.com/2004/reservation/HSG635</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zh-CN" altLang="en-US" sz="1200" dirty="0">
              <a:solidFill>
                <a:srgbClr val="000000"/>
              </a:solidFill>
              <a:highlight>
                <a:srgbClr val="FFFFFF"/>
              </a:highlight>
              <a:latin typeface="Aria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9AC3FA49-ADB7-4E93-824F-1604FA22023E}"/>
              </a:ext>
            </a:extLst>
          </p:cNvPr>
          <p:cNvSpPr>
            <a:spLocks noGrp="1"/>
          </p:cNvSpPr>
          <p:nvPr>
            <p:ph type="title"/>
          </p:nvPr>
        </p:nvSpPr>
        <p:spPr/>
        <p:txBody>
          <a:bodyPr/>
          <a:lstStyle/>
          <a:p>
            <a:r>
              <a:rPr lang="en-US" altLang="zh-CN" sz="2800" dirty="0"/>
              <a:t>The Reservation Endpoint List (2/2)</a:t>
            </a:r>
            <a:endParaRPr lang="zh-CN" altLang="en-US" sz="2800" dirty="0"/>
          </a:p>
        </p:txBody>
      </p:sp>
      <p:sp>
        <p:nvSpPr>
          <p:cNvPr id="39939" name="灯片编号占位符 3">
            <a:extLst>
              <a:ext uri="{FF2B5EF4-FFF2-40B4-BE49-F238E27FC236}">
                <a16:creationId xmlns:a16="http://schemas.microsoft.com/office/drawing/2014/main" id="{4608C6B2-4D50-478B-8D2C-E8F21509C28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24</a:t>
            </a:fld>
            <a:endParaRPr lang="en-US" altLang="zh-CN" sz="1000">
              <a:solidFill>
                <a:srgbClr val="000000"/>
              </a:solidFill>
            </a:endParaRPr>
          </a:p>
        </p:txBody>
      </p:sp>
      <p:sp>
        <p:nvSpPr>
          <p:cNvPr id="5" name="Text Box 4">
            <a:extLst>
              <a:ext uri="{FF2B5EF4-FFF2-40B4-BE49-F238E27FC236}">
                <a16:creationId xmlns:a16="http://schemas.microsoft.com/office/drawing/2014/main" id="{0A1601AB-FAC1-437E-B827-0D3D6FEDCFA4}"/>
              </a:ext>
            </a:extLst>
          </p:cNvPr>
          <p:cNvSpPr txBox="1">
            <a:spLocks noChangeArrowheads="1"/>
          </p:cNvSpPr>
          <p:nvPr/>
        </p:nvSpPr>
        <p:spPr bwMode="auto">
          <a:xfrm>
            <a:off x="457200" y="1761018"/>
            <a:ext cx="8229600" cy="448738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OMX736</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2005-06-01</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2005-06-03</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http://greath.example.com/2004/reservation/OMX736</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WUH663</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details:confirmationNumber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2005-06-11</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details:checkInDate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2005-06-15</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details:checkOutDate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http://greath.example.com/2004/reservation/WUH663</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reservationList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
            <a:extLst>
              <a:ext uri="{FF2B5EF4-FFF2-40B4-BE49-F238E27FC236}">
                <a16:creationId xmlns:a16="http://schemas.microsoft.com/office/drawing/2014/main" id="{F842FDB2-5B9E-4CB8-8464-2A50B8FABB4A}"/>
              </a:ext>
            </a:extLst>
          </p:cNvPr>
          <p:cNvSpPr>
            <a:spLocks noGrp="1"/>
          </p:cNvSpPr>
          <p:nvPr>
            <p:ph type="title"/>
          </p:nvPr>
        </p:nvSpPr>
        <p:spPr/>
        <p:txBody>
          <a:bodyPr>
            <a:normAutofit fontScale="90000"/>
          </a:bodyPr>
          <a:lstStyle/>
          <a:p>
            <a:pPr>
              <a:defRPr/>
            </a:pPr>
            <a:r>
              <a:rPr lang="en-US" altLang="zh-CN" dirty="0"/>
              <a:t>The Reservation List Web Service (1/3)</a:t>
            </a:r>
            <a:endParaRPr lang="zh-CN" altLang="en-US" dirty="0"/>
          </a:p>
        </p:txBody>
      </p:sp>
      <p:sp>
        <p:nvSpPr>
          <p:cNvPr id="41987" name="灯片编号占位符 3">
            <a:extLst>
              <a:ext uri="{FF2B5EF4-FFF2-40B4-BE49-F238E27FC236}">
                <a16:creationId xmlns:a16="http://schemas.microsoft.com/office/drawing/2014/main" id="{BFE63883-9F75-4F0F-A7C5-C599644C4D5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25</a:t>
            </a:fld>
            <a:endParaRPr lang="en-US" altLang="zh-CN" sz="1000">
              <a:solidFill>
                <a:srgbClr val="000000"/>
              </a:solidFill>
            </a:endParaRPr>
          </a:p>
        </p:txBody>
      </p:sp>
      <p:sp>
        <p:nvSpPr>
          <p:cNvPr id="5" name="Text Box 4">
            <a:extLst>
              <a:ext uri="{FF2B5EF4-FFF2-40B4-BE49-F238E27FC236}">
                <a16:creationId xmlns:a16="http://schemas.microsoft.com/office/drawing/2014/main" id="{EAF614B0-DD38-4982-9D1F-87B5FC99CAC8}"/>
              </a:ext>
            </a:extLst>
          </p:cNvPr>
          <p:cNvSpPr txBox="1">
            <a:spLocks noChangeArrowheads="1"/>
          </p:cNvSpPr>
          <p:nvPr/>
        </p:nvSpPr>
        <p:spPr bwMode="auto">
          <a:xfrm>
            <a:off x="457200" y="1424672"/>
            <a:ext cx="8229600" cy="537377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http://greath.example.com/2004/services/reservationList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xmlns:details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xmlns:list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xmlns:wsoap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xmlns:xs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http://www.w3.org/2001/XMLSchema</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This document describes the </a:t>
            </a:r>
            <a:r>
              <a:rPr lang="en-US" altLang="zh-CN" sz="1200" dirty="0" err="1">
                <a:solidFill>
                  <a:srgbClr val="000000"/>
                </a:solidFill>
                <a:highlight>
                  <a:srgbClr val="FFFFFF"/>
                </a:highlight>
                <a:latin typeface="Arial"/>
              </a:rPr>
              <a:t>GreatH</a:t>
            </a:r>
            <a:r>
              <a:rPr lang="en-US" altLang="zh-CN" sz="1200" dirty="0">
                <a:solidFill>
                  <a:srgbClr val="000000"/>
                </a:solidFill>
                <a:highlight>
                  <a:srgbClr val="FFFFFF"/>
                </a:highlight>
                <a:latin typeface="Arial"/>
              </a:rPr>
              <a:t> Reservation List Web</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services. Use this service to retrieve lists of reservations</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based on a variety of search criteria.</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        &lt;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a:t>
            </a:r>
            <a:r>
              <a:rPr lang="en-US" altLang="zh-CN" sz="1200" dirty="0" err="1">
                <a:solidFill>
                  <a:srgbClr val="000000"/>
                </a:solidFill>
                <a:highlight>
                  <a:srgbClr val="FFFFFF"/>
                </a:highlight>
                <a:latin typeface="Arial"/>
              </a:rPr>
              <a:t>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schemaLocation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reservationDetails.xsd</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a:t>
            </a:r>
            <a:r>
              <a:rPr lang="en-US" altLang="zh-CN" sz="1200" dirty="0" err="1">
                <a:solidFill>
                  <a:srgbClr val="000000"/>
                </a:solidFill>
                <a:highlight>
                  <a:srgbClr val="FFFFFF"/>
                </a:highlight>
                <a:latin typeface="Arial"/>
              </a:rPr>
              <a:t>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schemaLocation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reservationList.xsd</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types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a:extLst>
              <a:ext uri="{FF2B5EF4-FFF2-40B4-BE49-F238E27FC236}">
                <a16:creationId xmlns:a16="http://schemas.microsoft.com/office/drawing/2014/main" id="{EA6FC1B9-1BE6-474D-9D86-302764D3DA57}"/>
              </a:ext>
            </a:extLst>
          </p:cNvPr>
          <p:cNvSpPr>
            <a:spLocks noGrp="1"/>
          </p:cNvSpPr>
          <p:nvPr>
            <p:ph type="title"/>
          </p:nvPr>
        </p:nvSpPr>
        <p:spPr/>
        <p:txBody>
          <a:bodyPr>
            <a:normAutofit fontScale="90000"/>
          </a:bodyPr>
          <a:lstStyle/>
          <a:p>
            <a:pPr>
              <a:defRPr/>
            </a:pPr>
            <a:r>
              <a:rPr lang="en-US" altLang="zh-CN" dirty="0"/>
              <a:t>The Reservation List Web Service (2/3)</a:t>
            </a:r>
            <a:endParaRPr lang="zh-CN" altLang="en-US" dirty="0"/>
          </a:p>
        </p:txBody>
      </p:sp>
      <p:sp>
        <p:nvSpPr>
          <p:cNvPr id="44035" name="灯片编号占位符 3">
            <a:extLst>
              <a:ext uri="{FF2B5EF4-FFF2-40B4-BE49-F238E27FC236}">
                <a16:creationId xmlns:a16="http://schemas.microsoft.com/office/drawing/2014/main" id="{E1926D46-1781-4138-8F50-811BFEF7716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26</a:t>
            </a:fld>
            <a:endParaRPr lang="en-US" altLang="zh-CN" sz="1000">
              <a:solidFill>
                <a:srgbClr val="000000"/>
              </a:solidFill>
            </a:endParaRPr>
          </a:p>
        </p:txBody>
      </p:sp>
      <p:sp>
        <p:nvSpPr>
          <p:cNvPr id="5" name="Text Box 4">
            <a:extLst>
              <a:ext uri="{FF2B5EF4-FFF2-40B4-BE49-F238E27FC236}">
                <a16:creationId xmlns:a16="http://schemas.microsoft.com/office/drawing/2014/main" id="{95AFE476-AF56-4E52-8DDB-0B41B48C258C}"/>
              </a:ext>
            </a:extLst>
          </p:cNvPr>
          <p:cNvSpPr txBox="1">
            <a:spLocks noChangeArrowheads="1"/>
          </p:cNvSpPr>
          <p:nvPr/>
        </p:nvSpPr>
        <p:spPr bwMode="auto">
          <a:xfrm>
            <a:off x="457200" y="1760070"/>
            <a:ext cx="8229600" cy="47089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retrieve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#none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list:reservationList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retrieveByConfirmationNumber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list:reservationList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retrieveByCheckInDate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list:reservationList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retrieveByCheckOutDate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list:reservationList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DEEB848A-0BC4-4D02-AD39-71201EAA54D5}"/>
              </a:ext>
            </a:extLst>
          </p:cNvPr>
          <p:cNvSpPr>
            <a:spLocks noChangeShapeType="1"/>
          </p:cNvSpPr>
          <p:nvPr/>
        </p:nvSpPr>
        <p:spPr bwMode="auto">
          <a:xfrm flipH="1">
            <a:off x="6084888" y="2100263"/>
            <a:ext cx="1008062" cy="249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CB4F3A3B-FC82-42A8-8A18-B416C7825E43}"/>
              </a:ext>
            </a:extLst>
          </p:cNvPr>
          <p:cNvSpPr txBox="1">
            <a:spLocks noChangeArrowheads="1"/>
          </p:cNvSpPr>
          <p:nvPr/>
        </p:nvSpPr>
        <p:spPr bwMode="auto">
          <a:xfrm>
            <a:off x="5795963" y="1797050"/>
            <a:ext cx="2520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Retrieve the entire list</a:t>
            </a:r>
            <a:endParaRPr lang="en-US" altLang="zh-CN" sz="1800">
              <a:solidFill>
                <a:srgbClr val="000000"/>
              </a:solidFill>
            </a:endParaRPr>
          </a:p>
        </p:txBody>
      </p:sp>
      <p:sp>
        <p:nvSpPr>
          <p:cNvPr id="8" name="Line 15">
            <a:extLst>
              <a:ext uri="{FF2B5EF4-FFF2-40B4-BE49-F238E27FC236}">
                <a16:creationId xmlns:a16="http://schemas.microsoft.com/office/drawing/2014/main" id="{9121D89C-81FC-47E0-9CD2-3CC155EF5478}"/>
              </a:ext>
            </a:extLst>
          </p:cNvPr>
          <p:cNvSpPr>
            <a:spLocks noChangeShapeType="1"/>
          </p:cNvSpPr>
          <p:nvPr/>
        </p:nvSpPr>
        <p:spPr bwMode="auto">
          <a:xfrm flipH="1">
            <a:off x="6084888" y="2811463"/>
            <a:ext cx="1008062" cy="330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AAEA5506-A30B-4533-8943-DA9DA6548844}"/>
              </a:ext>
            </a:extLst>
          </p:cNvPr>
          <p:cNvSpPr txBox="1">
            <a:spLocks noChangeArrowheads="1"/>
          </p:cNvSpPr>
          <p:nvPr/>
        </p:nvSpPr>
        <p:spPr bwMode="auto">
          <a:xfrm>
            <a:off x="5969000" y="2443163"/>
            <a:ext cx="287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By Confirmation Number</a:t>
            </a:r>
            <a:endParaRPr lang="en-US" altLang="zh-CN" sz="1800">
              <a:solidFill>
                <a:srgbClr val="000000"/>
              </a:solidFill>
            </a:endParaRPr>
          </a:p>
        </p:txBody>
      </p:sp>
      <p:sp>
        <p:nvSpPr>
          <p:cNvPr id="10" name="Line 15">
            <a:extLst>
              <a:ext uri="{FF2B5EF4-FFF2-40B4-BE49-F238E27FC236}">
                <a16:creationId xmlns:a16="http://schemas.microsoft.com/office/drawing/2014/main" id="{8D7B0129-5F0D-4BC8-9FC4-4732AD65F3A3}"/>
              </a:ext>
            </a:extLst>
          </p:cNvPr>
          <p:cNvSpPr>
            <a:spLocks noChangeShapeType="1"/>
          </p:cNvSpPr>
          <p:nvPr/>
        </p:nvSpPr>
        <p:spPr bwMode="auto">
          <a:xfrm flipH="1">
            <a:off x="6092825" y="3908425"/>
            <a:ext cx="1008063"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23E3552F-0B2F-4CCC-B837-E563020400E9}"/>
              </a:ext>
            </a:extLst>
          </p:cNvPr>
          <p:cNvSpPr txBox="1">
            <a:spLocks noChangeArrowheads="1"/>
          </p:cNvSpPr>
          <p:nvPr/>
        </p:nvSpPr>
        <p:spPr bwMode="auto">
          <a:xfrm>
            <a:off x="6235700" y="3522663"/>
            <a:ext cx="2089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By check in date</a:t>
            </a:r>
            <a:endParaRPr lang="en-US" altLang="zh-CN" sz="1800">
              <a:solidFill>
                <a:srgbClr val="000000"/>
              </a:solidFill>
            </a:endParaRPr>
          </a:p>
        </p:txBody>
      </p:sp>
      <p:sp>
        <p:nvSpPr>
          <p:cNvPr id="12" name="Line 15">
            <a:extLst>
              <a:ext uri="{FF2B5EF4-FFF2-40B4-BE49-F238E27FC236}">
                <a16:creationId xmlns:a16="http://schemas.microsoft.com/office/drawing/2014/main" id="{8E3077C7-02AA-4C25-96FA-D440586009C0}"/>
              </a:ext>
            </a:extLst>
          </p:cNvPr>
          <p:cNvSpPr>
            <a:spLocks noChangeShapeType="1"/>
          </p:cNvSpPr>
          <p:nvPr/>
        </p:nvSpPr>
        <p:spPr bwMode="auto">
          <a:xfrm flipH="1">
            <a:off x="6084888" y="4808538"/>
            <a:ext cx="1008062"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59BA9AA6-4614-4319-9723-9154A4813CB7}"/>
              </a:ext>
            </a:extLst>
          </p:cNvPr>
          <p:cNvSpPr txBox="1">
            <a:spLocks noChangeArrowheads="1"/>
          </p:cNvSpPr>
          <p:nvPr/>
        </p:nvSpPr>
        <p:spPr bwMode="auto">
          <a:xfrm>
            <a:off x="6372225" y="4422775"/>
            <a:ext cx="2106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t>By check out date</a:t>
            </a:r>
            <a:endParaRPr lang="en-US" altLang="zh-CN" sz="18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par>
                                <p:cTn id="32" presetID="22" presetClass="entr" presetSubtype="4"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a:extLst>
              <a:ext uri="{FF2B5EF4-FFF2-40B4-BE49-F238E27FC236}">
                <a16:creationId xmlns:a16="http://schemas.microsoft.com/office/drawing/2014/main" id="{E2DA2AD4-393E-4431-907A-7E85AA96081C}"/>
              </a:ext>
            </a:extLst>
          </p:cNvPr>
          <p:cNvSpPr>
            <a:spLocks noGrp="1"/>
          </p:cNvSpPr>
          <p:nvPr>
            <p:ph type="title"/>
          </p:nvPr>
        </p:nvSpPr>
        <p:spPr/>
        <p:txBody>
          <a:bodyPr>
            <a:normAutofit fontScale="90000"/>
          </a:bodyPr>
          <a:lstStyle/>
          <a:p>
            <a:pPr>
              <a:defRPr/>
            </a:pPr>
            <a:r>
              <a:rPr lang="en-US" altLang="zh-CN" dirty="0"/>
              <a:t>The Reservation List Web Service (3/3)</a:t>
            </a:r>
            <a:endParaRPr lang="zh-CN" altLang="en-US" dirty="0"/>
          </a:p>
        </p:txBody>
      </p:sp>
      <p:sp>
        <p:nvSpPr>
          <p:cNvPr id="46083" name="灯片编号占位符 3">
            <a:extLst>
              <a:ext uri="{FF2B5EF4-FFF2-40B4-BE49-F238E27FC236}">
                <a16:creationId xmlns:a16="http://schemas.microsoft.com/office/drawing/2014/main" id="{186E9ADF-5F0F-431B-9438-FB3E5AB63C3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27</a:t>
            </a:fld>
            <a:endParaRPr lang="en-US" altLang="zh-CN" sz="1000">
              <a:solidFill>
                <a:srgbClr val="000000"/>
              </a:solidFill>
            </a:endParaRPr>
          </a:p>
        </p:txBody>
      </p:sp>
      <p:sp>
        <p:nvSpPr>
          <p:cNvPr id="5" name="Text Box 4">
            <a:extLst>
              <a:ext uri="{FF2B5EF4-FFF2-40B4-BE49-F238E27FC236}">
                <a16:creationId xmlns:a16="http://schemas.microsoft.com/office/drawing/2014/main" id="{288E0313-20DC-4705-8AFA-1039CD95C2D6}"/>
              </a:ext>
            </a:extLst>
          </p:cNvPr>
          <p:cNvSpPr txBox="1">
            <a:spLocks noChangeArrowheads="1"/>
          </p:cNvSpPr>
          <p:nvPr/>
        </p:nvSpPr>
        <p:spPr bwMode="auto">
          <a:xfrm>
            <a:off x="457200" y="1628800"/>
            <a:ext cx="8229600" cy="49305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reservationListSOAPBinding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wsoap:protocol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http://www.w3.org/2003/05/soap/bindings/HTTP/</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tns:retrieveByConfirmationNumber</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tns:retrieveByCheckInDate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tns:retrieveByCheckOutDate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reservationListService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reservationListEndpoint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tns:reservationListSOAPBinding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50DDD91A-F6E0-48B6-A79E-5A485D5A03A0}"/>
              </a:ext>
            </a:extLst>
          </p:cNvPr>
          <p:cNvSpPr>
            <a:spLocks noChangeShapeType="1"/>
          </p:cNvSpPr>
          <p:nvPr/>
        </p:nvSpPr>
        <p:spPr bwMode="auto">
          <a:xfrm flipH="1">
            <a:off x="5364163" y="5373688"/>
            <a:ext cx="503237" cy="503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4D38BA5C-E93D-435D-9430-2133AA61BD69}"/>
              </a:ext>
            </a:extLst>
          </p:cNvPr>
          <p:cNvSpPr txBox="1">
            <a:spLocks noChangeArrowheads="1"/>
          </p:cNvSpPr>
          <p:nvPr/>
        </p:nvSpPr>
        <p:spPr bwMode="auto">
          <a:xfrm>
            <a:off x="5080000" y="5084763"/>
            <a:ext cx="219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Endpoint address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标题 1">
            <a:extLst>
              <a:ext uri="{FF2B5EF4-FFF2-40B4-BE49-F238E27FC236}">
                <a16:creationId xmlns:a16="http://schemas.microsoft.com/office/drawing/2014/main" id="{6DD7E960-2A55-410D-9503-C32935BB4A68}"/>
              </a:ext>
            </a:extLst>
          </p:cNvPr>
          <p:cNvSpPr>
            <a:spLocks noGrp="1"/>
          </p:cNvSpPr>
          <p:nvPr>
            <p:ph type="title"/>
          </p:nvPr>
        </p:nvSpPr>
        <p:spPr/>
        <p:txBody>
          <a:bodyPr>
            <a:noAutofit/>
          </a:bodyPr>
          <a:lstStyle/>
          <a:p>
            <a:pPr>
              <a:defRPr/>
            </a:pPr>
            <a:r>
              <a:rPr lang="en-US" altLang="zh-CN" sz="2800" dirty="0"/>
              <a:t>Schema that Defines </a:t>
            </a:r>
            <a:r>
              <a:rPr lang="en-US" altLang="zh-CN" sz="2800" dirty="0">
                <a:solidFill>
                  <a:srgbClr val="000000"/>
                </a:solidFill>
                <a:hlinkClick r:id="rId3" action="ppaction://hlinkfile"/>
              </a:rPr>
              <a:t>list:reservationList</a:t>
            </a:r>
            <a:r>
              <a:rPr lang="en-US" altLang="zh-CN" sz="2800" dirty="0">
                <a:solidFill>
                  <a:srgbClr val="000000"/>
                </a:solidFill>
              </a:rPr>
              <a:t> </a:t>
            </a:r>
            <a:r>
              <a:rPr lang="en-US" altLang="zh-CN" sz="2800" dirty="0"/>
              <a:t>(1/2)</a:t>
            </a:r>
            <a:endParaRPr lang="zh-CN" altLang="en-US" sz="2800" dirty="0"/>
          </a:p>
        </p:txBody>
      </p:sp>
      <p:sp>
        <p:nvSpPr>
          <p:cNvPr id="48131" name="灯片编号占位符 3">
            <a:extLst>
              <a:ext uri="{FF2B5EF4-FFF2-40B4-BE49-F238E27FC236}">
                <a16:creationId xmlns:a16="http://schemas.microsoft.com/office/drawing/2014/main" id="{2422C926-64A3-4643-A5DC-A7677299717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28</a:t>
            </a:fld>
            <a:endParaRPr lang="en-US" altLang="zh-CN" sz="1000">
              <a:solidFill>
                <a:srgbClr val="000000"/>
              </a:solidFill>
            </a:endParaRPr>
          </a:p>
        </p:txBody>
      </p:sp>
      <p:sp>
        <p:nvSpPr>
          <p:cNvPr id="5" name="Text Box 4">
            <a:extLst>
              <a:ext uri="{FF2B5EF4-FFF2-40B4-BE49-F238E27FC236}">
                <a16:creationId xmlns:a16="http://schemas.microsoft.com/office/drawing/2014/main" id="{342CDEE9-A7CB-415A-B453-B7EDCEF4EEEF}"/>
              </a:ext>
            </a:extLst>
          </p:cNvPr>
          <p:cNvSpPr txBox="1">
            <a:spLocks noChangeArrowheads="1"/>
          </p:cNvSpPr>
          <p:nvPr/>
        </p:nvSpPr>
        <p:spPr bwMode="auto">
          <a:xfrm>
            <a:off x="539552" y="1641118"/>
            <a:ext cx="8229600" cy="448738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schema</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http://www.w3.org/2001/XMLSchema</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elementFormDefault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qualified</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http://greath.example.com/2004/schemas/reservationList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xmlns:details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xmlns:wsdli</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http://www.w3.org/ns/wsdl-instance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http://www.w3.org/ns/wsdl-instance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import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http://greath.example.com/2004/schemas/reservationDetails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schemaLocation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reservationDetails.xsd</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 reservation contains the confirmation number, check-in</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and check-out dates, and a reference to a Reservation Details Web service.</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标题 1">
            <a:extLst>
              <a:ext uri="{FF2B5EF4-FFF2-40B4-BE49-F238E27FC236}">
                <a16:creationId xmlns:a16="http://schemas.microsoft.com/office/drawing/2014/main" id="{476AB8CA-33BC-47CE-8B83-41E2A544C55B}"/>
              </a:ext>
            </a:extLst>
          </p:cNvPr>
          <p:cNvSpPr>
            <a:spLocks noGrp="1"/>
          </p:cNvSpPr>
          <p:nvPr>
            <p:ph type="title"/>
          </p:nvPr>
        </p:nvSpPr>
        <p:spPr/>
        <p:txBody>
          <a:bodyPr>
            <a:noAutofit/>
          </a:bodyPr>
          <a:lstStyle/>
          <a:p>
            <a:pPr>
              <a:defRPr/>
            </a:pPr>
            <a:r>
              <a:rPr lang="en-US" altLang="zh-CN" sz="2800" dirty="0"/>
              <a:t>Schema that Defines </a:t>
            </a:r>
            <a:r>
              <a:rPr lang="en-US" altLang="zh-CN" sz="2800" dirty="0" err="1">
                <a:solidFill>
                  <a:srgbClr val="000000"/>
                </a:solidFill>
                <a:hlinkClick r:id="rId3" action="ppaction://hlinkfile"/>
              </a:rPr>
              <a:t>list:reservationList</a:t>
            </a:r>
            <a:r>
              <a:rPr lang="en-US" altLang="zh-CN" sz="2800" dirty="0">
                <a:solidFill>
                  <a:srgbClr val="000000"/>
                </a:solidFill>
              </a:rPr>
              <a:t> </a:t>
            </a:r>
            <a:r>
              <a:rPr lang="en-US" altLang="zh-CN" sz="2800" dirty="0"/>
              <a:t>(2/2)</a:t>
            </a:r>
            <a:endParaRPr lang="zh-CN" altLang="en-US" sz="2800" dirty="0"/>
          </a:p>
        </p:txBody>
      </p:sp>
      <p:sp>
        <p:nvSpPr>
          <p:cNvPr id="50179" name="灯片编号占位符 3">
            <a:extLst>
              <a:ext uri="{FF2B5EF4-FFF2-40B4-BE49-F238E27FC236}">
                <a16:creationId xmlns:a16="http://schemas.microsoft.com/office/drawing/2014/main" id="{4FA83886-2C92-4E55-9D39-F8420FD62A1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29</a:t>
            </a:fld>
            <a:endParaRPr lang="en-US" altLang="zh-CN" sz="1000">
              <a:solidFill>
                <a:srgbClr val="000000"/>
              </a:solidFill>
            </a:endParaRPr>
          </a:p>
        </p:txBody>
      </p:sp>
      <p:sp>
        <p:nvSpPr>
          <p:cNvPr id="5" name="Text Box 4">
            <a:extLst>
              <a:ext uri="{FF2B5EF4-FFF2-40B4-BE49-F238E27FC236}">
                <a16:creationId xmlns:a16="http://schemas.microsoft.com/office/drawing/2014/main" id="{CE490AA7-8D45-4BDA-8200-7A3344FDD3BA}"/>
              </a:ext>
            </a:extLst>
          </p:cNvPr>
          <p:cNvSpPr txBox="1">
            <a:spLocks noChangeArrowheads="1"/>
          </p:cNvSpPr>
          <p:nvPr/>
        </p:nvSpPr>
        <p:spPr bwMode="auto">
          <a:xfrm>
            <a:off x="539552" y="1401062"/>
            <a:ext cx="8229600" cy="537377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details:confirmationNumber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details:checkInDate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details:checkOutDate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details:reservationDetailsSOAPEndpoint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 reservation list contains a sequence of zero or more reservations.</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documentation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annotation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fr-FR" altLang="zh-CN" sz="1200" dirty="0">
                <a:solidFill>
                  <a:srgbClr val="000000"/>
                </a:solidFill>
                <a:highlight>
                  <a:srgbClr val="FFFFFF"/>
                </a:highlight>
                <a:latin typeface="Arial"/>
              </a:rPr>
              <a:t>                                </a:t>
            </a:r>
            <a:r>
              <a:rPr lang="fr-FR" altLang="zh-CN" sz="1200" dirty="0">
                <a:solidFill>
                  <a:srgbClr val="0000FF"/>
                </a:solidFill>
                <a:highlight>
                  <a:srgbClr val="FFFFFF"/>
                </a:highlight>
                <a:latin typeface="Arial"/>
              </a:rPr>
              <a:t>&lt;</a:t>
            </a:r>
            <a:r>
              <a:rPr lang="fr-FR" altLang="zh-CN" sz="1200" dirty="0">
                <a:solidFill>
                  <a:srgbClr val="800000"/>
                </a:solidFill>
                <a:highlight>
                  <a:srgbClr val="FFFFFF"/>
                </a:highlight>
                <a:latin typeface="Arial"/>
              </a:rPr>
              <a:t>element</a:t>
            </a:r>
            <a:r>
              <a:rPr lang="fr-FR" altLang="zh-CN" sz="1200" dirty="0">
                <a:solidFill>
                  <a:srgbClr val="FF0000"/>
                </a:solidFill>
                <a:highlight>
                  <a:srgbClr val="FFFFFF"/>
                </a:highlight>
                <a:latin typeface="Arial"/>
              </a:rPr>
              <a:t> ref</a:t>
            </a:r>
            <a:r>
              <a:rPr lang="fr-FR" altLang="zh-CN" sz="1200" dirty="0">
                <a:solidFill>
                  <a:srgbClr val="0000FF"/>
                </a:solidFill>
                <a:highlight>
                  <a:srgbClr val="FFFFFF"/>
                </a:highlight>
                <a:latin typeface="Arial"/>
              </a:rPr>
              <a:t>="</a:t>
            </a:r>
            <a:r>
              <a:rPr lang="fr-FR" altLang="zh-CN" sz="1200" dirty="0">
                <a:solidFill>
                  <a:srgbClr val="000000"/>
                </a:solidFill>
                <a:highlight>
                  <a:srgbClr val="FFFFFF"/>
                </a:highlight>
                <a:latin typeface="Arial"/>
              </a:rPr>
              <a:t>tns:reservation</a:t>
            </a:r>
            <a:r>
              <a:rPr lang="fr-FR" altLang="zh-CN" sz="1200" dirty="0">
                <a:solidFill>
                  <a:srgbClr val="0000FF"/>
                </a:solidFill>
                <a:highlight>
                  <a:srgbClr val="FFFFFF"/>
                </a:highlight>
                <a:latin typeface="Arial"/>
              </a:rPr>
              <a:t>"</a:t>
            </a:r>
            <a:r>
              <a:rPr lang="fr-FR" altLang="zh-CN" sz="1200" dirty="0">
                <a:solidFill>
                  <a:srgbClr val="FF0000"/>
                </a:solidFill>
                <a:highlight>
                  <a:srgbClr val="FFFFFF"/>
                </a:highlight>
                <a:latin typeface="Arial"/>
              </a:rPr>
              <a:t> minOccurs</a:t>
            </a:r>
            <a:r>
              <a:rPr lang="fr-FR" altLang="zh-CN" sz="1200" dirty="0">
                <a:solidFill>
                  <a:srgbClr val="0000FF"/>
                </a:solidFill>
                <a:highlight>
                  <a:srgbClr val="FFFFFF"/>
                </a:highlight>
                <a:latin typeface="Arial"/>
              </a:rPr>
              <a:t>="</a:t>
            </a:r>
            <a:r>
              <a:rPr lang="fr-FR" altLang="zh-CN" sz="1200" dirty="0">
                <a:solidFill>
                  <a:srgbClr val="000000"/>
                </a:solidFill>
                <a:highlight>
                  <a:srgbClr val="FFFFFF"/>
                </a:highlight>
                <a:latin typeface="Arial"/>
              </a:rPr>
              <a:t>0</a:t>
            </a:r>
            <a:r>
              <a:rPr lang="fr-FR" altLang="zh-CN" sz="1200" dirty="0">
                <a:solidFill>
                  <a:srgbClr val="0000FF"/>
                </a:solidFill>
                <a:highlight>
                  <a:srgbClr val="FFFFFF"/>
                </a:highlight>
                <a:latin typeface="Arial"/>
              </a:rPr>
              <a:t>"</a:t>
            </a:r>
            <a:endParaRPr lang="fr-FR"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maxOccurs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unbounded</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attribute</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wsdli:wsdlLocation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complexType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element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schema</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35912BDF-683F-4A8A-977D-63164BC24BFB}"/>
              </a:ext>
            </a:extLst>
          </p:cNvPr>
          <p:cNvSpPr>
            <a:spLocks noGrp="1"/>
          </p:cNvSpPr>
          <p:nvPr>
            <p:ph type="title"/>
          </p:nvPr>
        </p:nvSpPr>
        <p:spPr/>
        <p:txBody>
          <a:bodyPr/>
          <a:lstStyle/>
          <a:p>
            <a:r>
              <a:rPr lang="en-US" altLang="zh-CN" sz="2800" dirty="0"/>
              <a:t>The Reservation Details Service</a:t>
            </a:r>
            <a:endParaRPr lang="zh-CN" altLang="en-US" sz="2800" dirty="0"/>
          </a:p>
        </p:txBody>
      </p:sp>
      <p:sp>
        <p:nvSpPr>
          <p:cNvPr id="190467" name="内容占位符 2">
            <a:extLst>
              <a:ext uri="{FF2B5EF4-FFF2-40B4-BE49-F238E27FC236}">
                <a16:creationId xmlns:a16="http://schemas.microsoft.com/office/drawing/2014/main" id="{3B1F8CFD-D967-4B2C-8F88-F36F20B43AC1}"/>
              </a:ext>
            </a:extLst>
          </p:cNvPr>
          <p:cNvSpPr>
            <a:spLocks noGrp="1"/>
          </p:cNvSpPr>
          <p:nvPr>
            <p:ph idx="1"/>
          </p:nvPr>
        </p:nvSpPr>
        <p:spPr>
          <a:xfrm>
            <a:off x="457200" y="1413091"/>
            <a:ext cx="8229600" cy="1973263"/>
          </a:xfrm>
        </p:spPr>
        <p:txBody>
          <a:bodyPr>
            <a:normAutofit fontScale="70000" lnSpcReduction="20000"/>
          </a:bodyPr>
          <a:lstStyle/>
          <a:p>
            <a:pPr>
              <a:defRPr/>
            </a:pPr>
            <a:r>
              <a:rPr lang="en-US" altLang="zh-CN" dirty="0"/>
              <a:t>The </a:t>
            </a:r>
            <a:r>
              <a:rPr lang="en-US" altLang="zh-CN" dirty="0">
                <a:solidFill>
                  <a:srgbClr val="FF0000"/>
                </a:solidFill>
              </a:rPr>
              <a:t>reservationDetails.xsd</a:t>
            </a:r>
            <a:r>
              <a:rPr lang="en-US" altLang="zh-CN" dirty="0"/>
              <a:t> schema defines the </a:t>
            </a:r>
            <a:r>
              <a:rPr lang="en-US" altLang="zh-CN" dirty="0" err="1">
                <a:solidFill>
                  <a:srgbClr val="FF0000"/>
                </a:solidFill>
              </a:rPr>
              <a:t>reservationDetailsService</a:t>
            </a:r>
            <a:endParaRPr lang="en-US" altLang="zh-CN" dirty="0"/>
          </a:p>
          <a:p>
            <a:pPr>
              <a:defRPr/>
            </a:pPr>
            <a:r>
              <a:rPr lang="en-US" altLang="zh-CN" dirty="0"/>
              <a:t>It contains the nested elements </a:t>
            </a:r>
            <a:r>
              <a:rPr lang="en-US" altLang="zh-CN" dirty="0">
                <a:hlinkClick r:id="rId3" action="ppaction://hlinkfile"/>
              </a:rPr>
              <a:t>soap </a:t>
            </a:r>
            <a:r>
              <a:rPr lang="en-US" altLang="zh-CN" dirty="0"/>
              <a:t>and </a:t>
            </a:r>
            <a:r>
              <a:rPr lang="en-US" altLang="zh-CN" dirty="0">
                <a:hlinkClick r:id="rId3" action="ppaction://hlinkfile"/>
              </a:rPr>
              <a:t>secure-soap </a:t>
            </a:r>
            <a:r>
              <a:rPr lang="en-US" altLang="zh-CN" dirty="0"/>
              <a:t>which are each of type </a:t>
            </a:r>
            <a:r>
              <a:rPr lang="en-US" altLang="zh-CN" dirty="0" err="1">
                <a:solidFill>
                  <a:srgbClr val="FF0000"/>
                </a:solidFill>
              </a:rPr>
              <a:t>reservationDetailsSOAPEndpointType</a:t>
            </a:r>
            <a:r>
              <a:rPr lang="en-US" altLang="zh-CN" dirty="0"/>
              <a:t> and therefore contain the address of an endpoint that implements the </a:t>
            </a:r>
            <a:r>
              <a:rPr lang="en-US" altLang="zh-CN" dirty="0">
                <a:solidFill>
                  <a:srgbClr val="FF0000"/>
                </a:solidFill>
                <a:hlinkClick r:id="rId3" action="ppaction://hlinkfile"/>
              </a:rPr>
              <a:t>wdetails:reservationDetailsSOAPBinding</a:t>
            </a:r>
            <a:r>
              <a:rPr lang="en-US" altLang="zh-CN" dirty="0"/>
              <a:t> binding</a:t>
            </a:r>
          </a:p>
        </p:txBody>
      </p:sp>
      <p:sp>
        <p:nvSpPr>
          <p:cNvPr id="52228" name="灯片编号占位符 3">
            <a:extLst>
              <a:ext uri="{FF2B5EF4-FFF2-40B4-BE49-F238E27FC236}">
                <a16:creationId xmlns:a16="http://schemas.microsoft.com/office/drawing/2014/main" id="{D7775F84-C502-4926-AF1C-F4C1F10893B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30</a:t>
            </a:fld>
            <a:endParaRPr lang="en-US" altLang="zh-CN" sz="1000">
              <a:solidFill>
                <a:srgbClr val="000000"/>
              </a:solidFill>
            </a:endParaRPr>
          </a:p>
        </p:txBody>
      </p:sp>
      <p:sp>
        <p:nvSpPr>
          <p:cNvPr id="6" name="Text Box 4">
            <a:extLst>
              <a:ext uri="{FF2B5EF4-FFF2-40B4-BE49-F238E27FC236}">
                <a16:creationId xmlns:a16="http://schemas.microsoft.com/office/drawing/2014/main" id="{958104B1-9937-4CD7-9282-CBFCBC024A5D}"/>
              </a:ext>
            </a:extLst>
          </p:cNvPr>
          <p:cNvSpPr txBox="1">
            <a:spLocks noChangeArrowheads="1"/>
          </p:cNvSpPr>
          <p:nvPr/>
        </p:nvSpPr>
        <p:spPr bwMode="auto">
          <a:xfrm>
            <a:off x="457200" y="3737819"/>
            <a:ext cx="8229600" cy="263456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details:reservationDetailsService</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xmlns:details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http://greath.example.com/2004/schemas/reservationDetails</a:t>
            </a:r>
            <a:r>
              <a:rPr lang="en-US" altLang="zh-CN" sz="1400" dirty="0">
                <a:solidFill>
                  <a:srgbClr val="0000FF"/>
                </a:solidFill>
                <a:highlight>
                  <a:srgbClr val="FFFFFF"/>
                </a:highlight>
                <a:latin typeface="Arial"/>
              </a:rPr>
              <a:t>"</a:t>
            </a:r>
            <a:endParaRPr lang="zh-CN" altLang="en-US"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details:soap</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http://greath.example.com/2004/reservation/HSG635</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details:soap</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details:secure</a:t>
            </a:r>
            <a:r>
              <a:rPr lang="en-US" altLang="zh-CN" sz="1400" dirty="0">
                <a:solidFill>
                  <a:srgbClr val="800000"/>
                </a:solidFill>
                <a:highlight>
                  <a:srgbClr val="FFFFFF"/>
                </a:highlight>
                <a:latin typeface="Arial"/>
              </a:rPr>
              <a:t>-soap</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https://greath.example.com/2004/reservation/HSG635</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details:secure</a:t>
            </a:r>
            <a:r>
              <a:rPr lang="en-US" altLang="zh-CN" sz="1400" dirty="0">
                <a:solidFill>
                  <a:srgbClr val="800000"/>
                </a:solidFill>
                <a:highlight>
                  <a:srgbClr val="FFFFFF"/>
                </a:highlight>
                <a:latin typeface="Arial"/>
              </a:rPr>
              <a:t>-soap</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details:reservationDetailsService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a:extLst>
              <a:ext uri="{FF2B5EF4-FFF2-40B4-BE49-F238E27FC236}">
                <a16:creationId xmlns:a16="http://schemas.microsoft.com/office/drawing/2014/main" id="{FA1D1245-8C2C-4B95-B60A-02D740765667}"/>
              </a:ext>
            </a:extLst>
          </p:cNvPr>
          <p:cNvSpPr>
            <a:spLocks noGrp="1"/>
          </p:cNvSpPr>
          <p:nvPr>
            <p:ph type="title"/>
          </p:nvPr>
        </p:nvSpPr>
        <p:spPr/>
        <p:txBody>
          <a:bodyPr>
            <a:noAutofit/>
          </a:bodyPr>
          <a:lstStyle/>
          <a:p>
            <a:pPr>
              <a:defRPr/>
            </a:pPr>
            <a:r>
              <a:rPr lang="en-US" altLang="zh-CN" sz="2800" dirty="0"/>
              <a:t>Reservation Details Web Service Using HTTP Transfer</a:t>
            </a:r>
            <a:endParaRPr lang="zh-CN" altLang="en-US" sz="2800" dirty="0"/>
          </a:p>
        </p:txBody>
      </p:sp>
      <p:sp>
        <p:nvSpPr>
          <p:cNvPr id="54275" name="内容占位符 2">
            <a:extLst>
              <a:ext uri="{FF2B5EF4-FFF2-40B4-BE49-F238E27FC236}">
                <a16:creationId xmlns:a16="http://schemas.microsoft.com/office/drawing/2014/main" id="{B9011472-9B94-4E05-8BAA-AD997B1B1B43}"/>
              </a:ext>
            </a:extLst>
          </p:cNvPr>
          <p:cNvSpPr>
            <a:spLocks noGrp="1"/>
          </p:cNvSpPr>
          <p:nvPr>
            <p:ph idx="1"/>
          </p:nvPr>
        </p:nvSpPr>
        <p:spPr>
          <a:xfrm>
            <a:off x="457200" y="1600200"/>
            <a:ext cx="8229600" cy="2044700"/>
          </a:xfrm>
        </p:spPr>
        <p:txBody>
          <a:bodyPr/>
          <a:lstStyle/>
          <a:p>
            <a:r>
              <a:rPr lang="en-US" altLang="zh-CN" sz="1800" dirty="0"/>
              <a:t>It illustrates the use of HTTP transfer operations, GET and PUT, to retrieve and update reservation details </a:t>
            </a:r>
          </a:p>
          <a:p>
            <a:r>
              <a:rPr lang="en-US" altLang="zh-CN" sz="1800" dirty="0"/>
              <a:t>Since each reservation will have a distinct URI, the Reservation Details Web service can be offered using HTTP GET and HTTP PUT</a:t>
            </a:r>
          </a:p>
          <a:p>
            <a:r>
              <a:rPr lang="en-US" altLang="zh-CN" sz="1800" dirty="0"/>
              <a:t>And service and endpoint elements are not provided because the Reservation List Web service provides the endpoints</a:t>
            </a:r>
          </a:p>
        </p:txBody>
      </p:sp>
      <p:sp>
        <p:nvSpPr>
          <p:cNvPr id="54276" name="灯片编号占位符 3">
            <a:extLst>
              <a:ext uri="{FF2B5EF4-FFF2-40B4-BE49-F238E27FC236}">
                <a16:creationId xmlns:a16="http://schemas.microsoft.com/office/drawing/2014/main" id="{0A76B558-DFA9-409B-90F8-6C6E8C274D1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31</a:t>
            </a:fld>
            <a:endParaRPr lang="en-US" altLang="zh-CN" sz="1000">
              <a:solidFill>
                <a:srgbClr val="000000"/>
              </a:solidFill>
            </a:endParaRPr>
          </a:p>
        </p:txBody>
      </p:sp>
      <p:sp>
        <p:nvSpPr>
          <p:cNvPr id="5" name="Text Box 4">
            <a:extLst>
              <a:ext uri="{FF2B5EF4-FFF2-40B4-BE49-F238E27FC236}">
                <a16:creationId xmlns:a16="http://schemas.microsoft.com/office/drawing/2014/main" id="{DCF2E375-08AF-4E9F-BCA6-29F06A43AA79}"/>
              </a:ext>
            </a:extLst>
          </p:cNvPr>
          <p:cNvSpPr txBox="1">
            <a:spLocks noChangeArrowheads="1"/>
          </p:cNvSpPr>
          <p:nvPr/>
        </p:nvSpPr>
        <p:spPr bwMode="auto">
          <a:xfrm>
            <a:off x="539552" y="3812500"/>
            <a:ext cx="8229600" cy="2893100"/>
          </a:xfrm>
          <a:prstGeom prst="rect">
            <a:avLst/>
          </a:prstGeom>
          <a:noFill/>
          <a:ln w="19050">
            <a:solidFill>
              <a:schemeClr val="tx1"/>
            </a:solidFill>
            <a:miter lim="800000"/>
            <a:headEnd/>
            <a:tailEnd/>
          </a:ln>
        </p:spPr>
        <p:txBody>
          <a:bodyPr>
            <a:spAutoFit/>
          </a:bodyPr>
          <a:lstStyle/>
          <a:p>
            <a:pPr eaLnBrk="1" hangingPunct="1">
              <a:spcBef>
                <a:spcPts val="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a:p>
            <a:pPr eaLnBrk="1" hangingPunct="1">
              <a:spcBef>
                <a:spcPts val="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binding</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reservationDetailsHTTPBinding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http://www.w3.org/ns/wsdl/http</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interface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tns:reservationDetailsInterface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tns:retrieve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whttp:method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GET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tns:update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whttp:method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PUT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endParaRPr lang="zh-CN" altLang="en-US"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binding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ts val="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标题 1">
            <a:extLst>
              <a:ext uri="{FF2B5EF4-FFF2-40B4-BE49-F238E27FC236}">
                <a16:creationId xmlns:a16="http://schemas.microsoft.com/office/drawing/2014/main" id="{9182E2FF-5CAC-4BC9-A319-BC244816ED61}"/>
              </a:ext>
            </a:extLst>
          </p:cNvPr>
          <p:cNvSpPr>
            <a:spLocks noGrp="1"/>
          </p:cNvSpPr>
          <p:nvPr>
            <p:ph type="title"/>
          </p:nvPr>
        </p:nvSpPr>
        <p:spPr/>
        <p:txBody>
          <a:bodyPr>
            <a:normAutofit fontScale="90000"/>
          </a:bodyPr>
          <a:lstStyle/>
          <a:p>
            <a:pPr>
              <a:defRPr/>
            </a:pPr>
            <a:r>
              <a:rPr lang="en-US" altLang="zh-CN" dirty="0"/>
              <a:t>Reservation List Web Service Using HTTP GET</a:t>
            </a:r>
            <a:endParaRPr lang="zh-CN" altLang="en-US" dirty="0"/>
          </a:p>
        </p:txBody>
      </p:sp>
      <p:sp>
        <p:nvSpPr>
          <p:cNvPr id="56323" name="灯片编号占位符 3">
            <a:extLst>
              <a:ext uri="{FF2B5EF4-FFF2-40B4-BE49-F238E27FC236}">
                <a16:creationId xmlns:a16="http://schemas.microsoft.com/office/drawing/2014/main" id="{0EA6C98E-2AB1-454C-A92E-6980B264490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32</a:t>
            </a:fld>
            <a:endParaRPr lang="en-US" altLang="zh-CN" sz="1000">
              <a:solidFill>
                <a:srgbClr val="000000"/>
              </a:solidFill>
            </a:endParaRPr>
          </a:p>
        </p:txBody>
      </p:sp>
      <p:sp>
        <p:nvSpPr>
          <p:cNvPr id="5" name="Text Box 4">
            <a:extLst>
              <a:ext uri="{FF2B5EF4-FFF2-40B4-BE49-F238E27FC236}">
                <a16:creationId xmlns:a16="http://schemas.microsoft.com/office/drawing/2014/main" id="{B1F2D5DE-5ED7-497C-906D-5C02B404192A}"/>
              </a:ext>
            </a:extLst>
          </p:cNvPr>
          <p:cNvSpPr txBox="1">
            <a:spLocks noChangeArrowheads="1"/>
          </p:cNvSpPr>
          <p:nvPr/>
        </p:nvSpPr>
        <p:spPr bwMode="auto">
          <a:xfrm>
            <a:off x="469826" y="1768019"/>
            <a:ext cx="8216974" cy="47089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reservationListHTTPBinding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http://www.w3.org/ns/wsdl/http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whttp:methodDefault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GET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tns:retrieveByConfirmationNumber</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ConfirmationNumber</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confirmationNumber</a:t>
            </a:r>
            <a:r>
              <a:rPr lang="en-US" altLang="zh-CN" sz="1200" dirty="0">
                <a:solidFill>
                  <a:srgbClr val="000000"/>
                </a:solidFill>
                <a:highlight>
                  <a:srgbClr val="FFFFFF"/>
                </a:highlight>
                <a:latin typeface="Arial"/>
              </a:rPr>
              <a: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tns:retrieveByCheckInDate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CheckInDate</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checkInDate</a:t>
            </a:r>
            <a:r>
              <a:rPr lang="en-US" altLang="zh-CN" sz="1200" dirty="0">
                <a:solidFill>
                  <a:srgbClr val="000000"/>
                </a:solidFill>
                <a:highlight>
                  <a:srgbClr val="FFFFFF"/>
                </a:highlight>
                <a:latin typeface="Arial"/>
              </a:rPr>
              <a: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tns:retrieveByCheckOutDate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CheckOutDate</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checkOutDate</a:t>
            </a:r>
            <a:r>
              <a:rPr lang="en-US" altLang="zh-CN" sz="1200" dirty="0">
                <a:solidFill>
                  <a:srgbClr val="000000"/>
                </a:solidFill>
                <a:highlight>
                  <a:srgbClr val="FFFFFF"/>
                </a:highlight>
                <a:latin typeface="Arial"/>
              </a:rPr>
              <a: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FF0000"/>
                </a:solidFill>
                <a:highlight>
                  <a:srgbClr val="FFFFFF"/>
                </a:highlight>
                <a:latin typeface="Arial"/>
              </a:rPr>
              <a:t> . . .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reservationListEndpoint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tns:reservationListHTTPBinding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p:txBody>
      </p:sp>
      <p:sp>
        <p:nvSpPr>
          <p:cNvPr id="7" name="Line 15">
            <a:extLst>
              <a:ext uri="{FF2B5EF4-FFF2-40B4-BE49-F238E27FC236}">
                <a16:creationId xmlns:a16="http://schemas.microsoft.com/office/drawing/2014/main" id="{9730AAC3-AE4C-4E13-875A-1A6F2635B30F}"/>
              </a:ext>
            </a:extLst>
          </p:cNvPr>
          <p:cNvSpPr>
            <a:spLocks noChangeShapeType="1"/>
          </p:cNvSpPr>
          <p:nvPr/>
        </p:nvSpPr>
        <p:spPr bwMode="auto">
          <a:xfrm flipH="1" flipV="1">
            <a:off x="5651500" y="3573463"/>
            <a:ext cx="901700" cy="8429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6">
            <a:extLst>
              <a:ext uri="{FF2B5EF4-FFF2-40B4-BE49-F238E27FC236}">
                <a16:creationId xmlns:a16="http://schemas.microsoft.com/office/drawing/2014/main" id="{D53A328B-646C-4B4F-9F0F-28691F5A275D}"/>
              </a:ext>
            </a:extLst>
          </p:cNvPr>
          <p:cNvSpPr txBox="1">
            <a:spLocks noChangeArrowheads="1"/>
          </p:cNvSpPr>
          <p:nvPr/>
        </p:nvSpPr>
        <p:spPr bwMode="auto">
          <a:xfrm>
            <a:off x="5508625" y="4467225"/>
            <a:ext cx="2855913"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1800"/>
              <a:t>A retrieval by Confirmation Number URI would look like: </a:t>
            </a:r>
            <a:r>
              <a:rPr lang="en-US" altLang="zh-CN" sz="1800">
                <a:hlinkClick r:id="rId3" action="ppaction://hlinkpres?slideindex=1&amp;slidetitle="/>
              </a:rPr>
              <a:t>http://greath.example.com/2004/reservationList/ConfirmationNumber/HSG635 </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标题 1">
            <a:extLst>
              <a:ext uri="{FF2B5EF4-FFF2-40B4-BE49-F238E27FC236}">
                <a16:creationId xmlns:a16="http://schemas.microsoft.com/office/drawing/2014/main" id="{BBB048E0-86E3-4C52-B242-7B15099A8F51}"/>
              </a:ext>
            </a:extLst>
          </p:cNvPr>
          <p:cNvSpPr>
            <a:spLocks noGrp="1"/>
          </p:cNvSpPr>
          <p:nvPr>
            <p:ph type="title"/>
          </p:nvPr>
        </p:nvSpPr>
        <p:spPr/>
        <p:txBody>
          <a:bodyPr>
            <a:noAutofit/>
          </a:bodyPr>
          <a:lstStyle/>
          <a:p>
            <a:pPr>
              <a:defRPr/>
            </a:pPr>
            <a:r>
              <a:rPr lang="en-US" altLang="zh-CN" sz="2800" dirty="0"/>
              <a:t>Schema that Defines </a:t>
            </a:r>
            <a:r>
              <a:rPr lang="en-US" altLang="zh-CN" sz="2800" dirty="0">
                <a:hlinkClick r:id="rId3" action="ppaction://hlinkfile"/>
              </a:rPr>
              <a:t>details:ReservationQuery</a:t>
            </a:r>
            <a:endParaRPr lang="zh-CN" altLang="en-US" sz="2800" dirty="0"/>
          </a:p>
        </p:txBody>
      </p:sp>
      <p:sp>
        <p:nvSpPr>
          <p:cNvPr id="58371" name="灯片编号占位符 3">
            <a:extLst>
              <a:ext uri="{FF2B5EF4-FFF2-40B4-BE49-F238E27FC236}">
                <a16:creationId xmlns:a16="http://schemas.microsoft.com/office/drawing/2014/main" id="{5A632BD8-9BC5-4458-A22D-8A2E554C912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33</a:t>
            </a:fld>
            <a:endParaRPr lang="en-US" altLang="zh-CN" sz="1000">
              <a:solidFill>
                <a:srgbClr val="000000"/>
              </a:solidFill>
            </a:endParaRPr>
          </a:p>
        </p:txBody>
      </p:sp>
      <p:sp>
        <p:nvSpPr>
          <p:cNvPr id="5" name="Text Box 4">
            <a:extLst>
              <a:ext uri="{FF2B5EF4-FFF2-40B4-BE49-F238E27FC236}">
                <a16:creationId xmlns:a16="http://schemas.microsoft.com/office/drawing/2014/main" id="{0AE9D21A-76C0-4F7A-B0D6-0C6A6B43AFEA}"/>
              </a:ext>
            </a:extLst>
          </p:cNvPr>
          <p:cNvSpPr txBox="1">
            <a:spLocks noChangeArrowheads="1"/>
          </p:cNvSpPr>
          <p:nvPr/>
        </p:nvSpPr>
        <p:spPr bwMode="auto">
          <a:xfrm>
            <a:off x="463557" y="1988840"/>
            <a:ext cx="8229600" cy="388414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reservationQuery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annotation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 reservation contains the confirmation number, check-in and check-out dates, and a reference to a Reservation Details Web service.</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documentation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annotation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fr-FR" altLang="zh-CN" sz="1400" dirty="0">
                <a:solidFill>
                  <a:srgbClr val="000000"/>
                </a:solidFill>
                <a:highlight>
                  <a:srgbClr val="FFFFFF"/>
                </a:highlight>
                <a:latin typeface="Arial"/>
              </a:rPr>
              <a:t>      </a:t>
            </a:r>
            <a:r>
              <a:rPr lang="fr-FR" altLang="zh-CN" sz="1400" dirty="0">
                <a:solidFill>
                  <a:srgbClr val="0000FF"/>
                </a:solidFill>
                <a:highlight>
                  <a:srgbClr val="FFFFFF"/>
                </a:highlight>
                <a:latin typeface="Arial"/>
              </a:rPr>
              <a:t>&lt;</a:t>
            </a:r>
            <a:r>
              <a:rPr lang="fr-FR" altLang="zh-CN" sz="1400" dirty="0">
                <a:solidFill>
                  <a:srgbClr val="800000"/>
                </a:solidFill>
                <a:highlight>
                  <a:srgbClr val="FFFFFF"/>
                </a:highlight>
                <a:latin typeface="Arial"/>
              </a:rPr>
              <a:t>element</a:t>
            </a:r>
            <a:r>
              <a:rPr lang="fr-FR" altLang="zh-CN" sz="1400" dirty="0">
                <a:solidFill>
                  <a:srgbClr val="FF0000"/>
                </a:solidFill>
                <a:highlight>
                  <a:srgbClr val="FFFFFF"/>
                </a:highlight>
                <a:latin typeface="Arial"/>
              </a:rPr>
              <a:t> ref</a:t>
            </a:r>
            <a:r>
              <a:rPr lang="fr-FR" altLang="zh-CN" sz="1400" dirty="0">
                <a:solidFill>
                  <a:srgbClr val="0000FF"/>
                </a:solidFill>
                <a:highlight>
                  <a:srgbClr val="FFFFFF"/>
                </a:highlight>
                <a:latin typeface="Arial"/>
              </a:rPr>
              <a:t>="</a:t>
            </a:r>
            <a:r>
              <a:rPr lang="fr-FR" altLang="zh-CN" sz="1400" dirty="0">
                <a:solidFill>
                  <a:srgbClr val="000000"/>
                </a:solidFill>
                <a:highlight>
                  <a:srgbClr val="FFFFFF"/>
                </a:highlight>
                <a:latin typeface="Arial"/>
              </a:rPr>
              <a:t>details:confirmationNumber</a:t>
            </a:r>
            <a:r>
              <a:rPr lang="fr-FR" altLang="zh-CN" sz="1400" dirty="0">
                <a:solidFill>
                  <a:srgbClr val="0000FF"/>
                </a:solidFill>
                <a:highlight>
                  <a:srgbClr val="FFFFFF"/>
                </a:highlight>
                <a:latin typeface="Arial"/>
              </a:rPr>
              <a:t>"</a:t>
            </a:r>
            <a:r>
              <a:rPr lang="fr-FR" altLang="zh-CN" sz="1400" dirty="0">
                <a:solidFill>
                  <a:srgbClr val="FF0000"/>
                </a:solidFill>
                <a:highlight>
                  <a:srgbClr val="FFFFFF"/>
                </a:highlight>
                <a:latin typeface="Arial"/>
              </a:rPr>
              <a:t> minOccurs</a:t>
            </a:r>
            <a:r>
              <a:rPr lang="fr-FR" altLang="zh-CN" sz="1400" dirty="0">
                <a:solidFill>
                  <a:srgbClr val="0000FF"/>
                </a:solidFill>
                <a:highlight>
                  <a:srgbClr val="FFFFFF"/>
                </a:highlight>
                <a:latin typeface="Arial"/>
              </a:rPr>
              <a:t>="</a:t>
            </a:r>
            <a:r>
              <a:rPr lang="fr-FR" altLang="zh-CN" sz="1400" dirty="0">
                <a:solidFill>
                  <a:srgbClr val="000000"/>
                </a:solidFill>
                <a:highlight>
                  <a:srgbClr val="FFFFFF"/>
                </a:highlight>
                <a:latin typeface="Arial"/>
              </a:rPr>
              <a:t>0</a:t>
            </a:r>
            <a:r>
              <a:rPr lang="fr-FR" altLang="zh-CN" sz="1400" dirty="0">
                <a:solidFill>
                  <a:srgbClr val="0000FF"/>
                </a:solidFill>
                <a:highlight>
                  <a:srgbClr val="FFFFFF"/>
                </a:highlight>
                <a:latin typeface="Arial"/>
              </a:rPr>
              <a:t>"/&gt;</a:t>
            </a:r>
            <a:endParaRPr lang="fr-FR"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details:checkInDate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minOccurs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0</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element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details:checkOutDate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minOccurs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0</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complexType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element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标题 1">
            <a:extLst>
              <a:ext uri="{FF2B5EF4-FFF2-40B4-BE49-F238E27FC236}">
                <a16:creationId xmlns:a16="http://schemas.microsoft.com/office/drawing/2014/main" id="{BC4C43A7-E031-436F-880B-081EA3012775}"/>
              </a:ext>
            </a:extLst>
          </p:cNvPr>
          <p:cNvSpPr>
            <a:spLocks noGrp="1"/>
          </p:cNvSpPr>
          <p:nvPr>
            <p:ph type="title"/>
          </p:nvPr>
        </p:nvSpPr>
        <p:spPr/>
        <p:txBody>
          <a:bodyPr>
            <a:noAutofit/>
          </a:bodyPr>
          <a:lstStyle/>
          <a:p>
            <a:pPr>
              <a:defRPr/>
            </a:pPr>
            <a:r>
              <a:rPr lang="en-US" altLang="zh-CN" sz="2800" dirty="0"/>
              <a:t>Reservation List Web Service (with combined operation)</a:t>
            </a:r>
            <a:endParaRPr lang="zh-CN" altLang="en-US" sz="2800" dirty="0"/>
          </a:p>
        </p:txBody>
      </p:sp>
      <p:sp>
        <p:nvSpPr>
          <p:cNvPr id="200707" name="内容占位符 2">
            <a:extLst>
              <a:ext uri="{FF2B5EF4-FFF2-40B4-BE49-F238E27FC236}">
                <a16:creationId xmlns:a16="http://schemas.microsoft.com/office/drawing/2014/main" id="{8677080E-56D4-4FA6-9E54-A3AAF7BF7B80}"/>
              </a:ext>
            </a:extLst>
          </p:cNvPr>
          <p:cNvSpPr>
            <a:spLocks noGrp="1"/>
          </p:cNvSpPr>
          <p:nvPr>
            <p:ph idx="1"/>
          </p:nvPr>
        </p:nvSpPr>
        <p:spPr>
          <a:xfrm>
            <a:off x="457200" y="1600200"/>
            <a:ext cx="8229600" cy="749300"/>
          </a:xfrm>
        </p:spPr>
        <p:txBody>
          <a:bodyPr>
            <a:normAutofit fontScale="85000" lnSpcReduction="10000"/>
          </a:bodyPr>
          <a:lstStyle/>
          <a:p>
            <a:pPr>
              <a:defRPr/>
            </a:pPr>
            <a:r>
              <a:rPr lang="en-US" altLang="zh-CN" dirty="0"/>
              <a:t>Alternatively, a single query type may be provided</a:t>
            </a:r>
            <a:endParaRPr lang="zh-CN" altLang="en-US" dirty="0"/>
          </a:p>
        </p:txBody>
      </p:sp>
      <p:sp>
        <p:nvSpPr>
          <p:cNvPr id="60420" name="灯片编号占位符 3">
            <a:extLst>
              <a:ext uri="{FF2B5EF4-FFF2-40B4-BE49-F238E27FC236}">
                <a16:creationId xmlns:a16="http://schemas.microsoft.com/office/drawing/2014/main" id="{AAABCDCD-EB3A-4ED6-A52A-26F97B20A3C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5D99968B-169A-4EE2-95DD-14A8D54EE699}" type="slidenum">
              <a:rPr lang="en-US" altLang="zh-CN" smtClean="0"/>
              <a:pPr/>
              <a:t>34</a:t>
            </a:fld>
            <a:endParaRPr lang="en-US" altLang="zh-CN" sz="1000">
              <a:solidFill>
                <a:srgbClr val="000000"/>
              </a:solidFill>
            </a:endParaRPr>
          </a:p>
        </p:txBody>
      </p:sp>
      <p:sp>
        <p:nvSpPr>
          <p:cNvPr id="5" name="Text Box 4">
            <a:extLst>
              <a:ext uri="{FF2B5EF4-FFF2-40B4-BE49-F238E27FC236}">
                <a16:creationId xmlns:a16="http://schemas.microsoft.com/office/drawing/2014/main" id="{A051ADE7-0225-48AB-8089-79A5473664C9}"/>
              </a:ext>
            </a:extLst>
          </p:cNvPr>
          <p:cNvSpPr txBox="1">
            <a:spLocks noChangeArrowheads="1"/>
          </p:cNvSpPr>
          <p:nvPr/>
        </p:nvSpPr>
        <p:spPr bwMode="auto">
          <a:xfrm>
            <a:off x="487894" y="2197079"/>
            <a:ext cx="8229600" cy="426578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reservationListInterfaceWithQuery</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retrieveByReservationQuery</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details:ReservationQuery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list:reservationList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reservationListQueryHTTPBinding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http://www.w3.org/ns/wsdl/http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tns:reservationListInterfaceWithQuery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whttp:methodDefault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GET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tns:retrieveByReservationQuery</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ReservationQuery</a:t>
            </a:r>
            <a:r>
              <a:rPr lang="en-US" altLang="zh-CN" sz="1200" dirty="0">
                <a:solidFill>
                  <a:srgbClr val="000000"/>
                </a:solidFill>
                <a:highlight>
                  <a:srgbClr val="FFFFFF"/>
                </a:highlight>
                <a:latin typeface="Arial"/>
              </a:rPr>
              <a: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reservationListEndpoint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tns:reservationListHTTPBinding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http://greath.example.com/2004/reservationList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 .</a:t>
            </a:r>
          </a:p>
        </p:txBody>
      </p:sp>
      <p:sp>
        <p:nvSpPr>
          <p:cNvPr id="6" name="Line 15">
            <a:extLst>
              <a:ext uri="{FF2B5EF4-FFF2-40B4-BE49-F238E27FC236}">
                <a16:creationId xmlns:a16="http://schemas.microsoft.com/office/drawing/2014/main" id="{A4AFBBA7-5ED0-4722-9F34-F4B70AAB4F56}"/>
              </a:ext>
            </a:extLst>
          </p:cNvPr>
          <p:cNvSpPr>
            <a:spLocks noChangeShapeType="1"/>
          </p:cNvSpPr>
          <p:nvPr/>
        </p:nvSpPr>
        <p:spPr bwMode="auto">
          <a:xfrm flipH="1" flipV="1">
            <a:off x="3708400" y="3128963"/>
            <a:ext cx="358775" cy="5953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248D85EA-C67D-41CE-8CBE-4C294A273946}"/>
              </a:ext>
            </a:extLst>
          </p:cNvPr>
          <p:cNvSpPr txBox="1">
            <a:spLocks noChangeArrowheads="1"/>
          </p:cNvSpPr>
          <p:nvPr/>
        </p:nvSpPr>
        <p:spPr bwMode="auto">
          <a:xfrm>
            <a:off x="3132138" y="3724275"/>
            <a:ext cx="2016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1800"/>
              <a:t>All operations are combined to one</a:t>
            </a:r>
          </a:p>
        </p:txBody>
      </p:sp>
      <p:sp>
        <p:nvSpPr>
          <p:cNvPr id="8" name="Line 15">
            <a:extLst>
              <a:ext uri="{FF2B5EF4-FFF2-40B4-BE49-F238E27FC236}">
                <a16:creationId xmlns:a16="http://schemas.microsoft.com/office/drawing/2014/main" id="{7BD2C252-13F0-4CF4-9AD0-C0D34CAD21CD}"/>
              </a:ext>
            </a:extLst>
          </p:cNvPr>
          <p:cNvSpPr>
            <a:spLocks noChangeShapeType="1"/>
          </p:cNvSpPr>
          <p:nvPr/>
        </p:nvSpPr>
        <p:spPr bwMode="auto">
          <a:xfrm flipH="1">
            <a:off x="5148263" y="4370388"/>
            <a:ext cx="1295400" cy="16906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FF8337AE-E0B6-481F-B6A6-75B4E2884E20}"/>
              </a:ext>
            </a:extLst>
          </p:cNvPr>
          <p:cNvSpPr txBox="1">
            <a:spLocks noChangeArrowheads="1"/>
          </p:cNvSpPr>
          <p:nvPr/>
        </p:nvSpPr>
        <p:spPr bwMode="auto">
          <a:xfrm>
            <a:off x="5003800" y="2498725"/>
            <a:ext cx="360045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lvl="1" eaLnBrk="1" hangingPunct="1">
              <a:spcBef>
                <a:spcPct val="50000"/>
              </a:spcBef>
              <a:buClrTx/>
              <a:buFont typeface="Wingdings" panose="05000000000000000000" pitchFamily="2" charset="2"/>
              <a:buNone/>
            </a:pPr>
            <a:r>
              <a:rPr lang="en-US" altLang="zh-CN" sz="1800">
                <a:hlinkClick r:id="rId3" action="ppaction://hlinkpres?slideindex=1&amp;slidetitle="/>
              </a:rPr>
              <a:t>http://greath.example.com/2004/reservationList/ReservationQuery?confirmationNumber=HSG635 </a:t>
            </a:r>
            <a:endParaRPr lang="en-US" altLang="zh-CN" sz="1800"/>
          </a:p>
          <a:p>
            <a:pPr marL="0" lvl="1" eaLnBrk="1" hangingPunct="1">
              <a:spcBef>
                <a:spcPct val="50000"/>
              </a:spcBef>
              <a:buClrTx/>
              <a:buFont typeface="Wingdings" panose="05000000000000000000" pitchFamily="2" charset="2"/>
              <a:buNone/>
            </a:pPr>
            <a:r>
              <a:rPr lang="en-US" altLang="zh-CN" sz="1800">
                <a:hlinkClick r:id="rId3" action="ppaction://hlinkpres?slideindex=1&amp;slidetitle="/>
              </a:rPr>
              <a:t>http://greath.example.com/2004/reservationList/ReservationQuery?checkInDate=06-06-05</a:t>
            </a:r>
            <a:endParaRPr lang="en-US" altLang="zh-CN" sz="1800"/>
          </a:p>
          <a:p>
            <a:pPr marL="0" lvl="1" eaLnBrk="1" hangingPunct="1">
              <a:spcBef>
                <a:spcPct val="50000"/>
              </a:spcBef>
              <a:buClrTx/>
              <a:buFont typeface="Wingdings" panose="05000000000000000000" pitchFamily="2" charset="2"/>
              <a:buNone/>
            </a:pPr>
            <a:endParaRPr lang="en-US" altLang="zh-CN" sz="1800"/>
          </a:p>
          <a:p>
            <a:pPr eaLnBrk="1" hangingPunct="1">
              <a:spcBef>
                <a:spcPct val="50000"/>
              </a:spcBef>
              <a:buClrTx/>
              <a:buFont typeface="Wingdings" panose="05000000000000000000" pitchFamily="2" charset="2"/>
              <a:buNone/>
            </a:pP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4B278D9E-7DAD-4E39-8A39-6D3ABE392513}"/>
              </a:ext>
            </a:extLst>
          </p:cNvPr>
          <p:cNvSpPr>
            <a:spLocks noGrp="1"/>
          </p:cNvSpPr>
          <p:nvPr>
            <p:ph type="title"/>
          </p:nvPr>
        </p:nvSpPr>
        <p:spPr/>
        <p:txBody>
          <a:bodyPr/>
          <a:lstStyle/>
          <a:p>
            <a:r>
              <a:rPr lang="en-US" altLang="zh-CN" sz="2800" dirty="0"/>
              <a:t>Web Service Versioning</a:t>
            </a:r>
            <a:endParaRPr lang="zh-CN" altLang="en-US" sz="2800" dirty="0"/>
          </a:p>
        </p:txBody>
      </p:sp>
      <p:sp>
        <p:nvSpPr>
          <p:cNvPr id="3" name="内容占位符 2">
            <a:extLst>
              <a:ext uri="{FF2B5EF4-FFF2-40B4-BE49-F238E27FC236}">
                <a16:creationId xmlns:a16="http://schemas.microsoft.com/office/drawing/2014/main" id="{F54CD554-FC6C-4856-A9B9-2A0940D131BE}"/>
              </a:ext>
            </a:extLst>
          </p:cNvPr>
          <p:cNvSpPr>
            <a:spLocks noGrp="1"/>
          </p:cNvSpPr>
          <p:nvPr>
            <p:ph idx="1"/>
          </p:nvPr>
        </p:nvSpPr>
        <p:spPr/>
        <p:txBody>
          <a:bodyPr>
            <a:normAutofit/>
          </a:bodyPr>
          <a:lstStyle/>
          <a:p>
            <a:pPr>
              <a:defRPr/>
            </a:pPr>
            <a:r>
              <a:rPr lang="en-US" altLang="zh-CN" sz="1800" dirty="0"/>
              <a:t>There are activities within the W3C that are directly relevant to evolution (versioning) of Web services description:</a:t>
            </a:r>
          </a:p>
          <a:p>
            <a:pPr lvl="1">
              <a:defRPr/>
            </a:pPr>
            <a:r>
              <a:rPr lang="en-US" altLang="zh-CN" sz="1500" dirty="0"/>
              <a:t>The </a:t>
            </a:r>
            <a:r>
              <a:rPr lang="en-US" altLang="zh-CN" sz="1500" dirty="0">
                <a:hlinkClick r:id="rId3"/>
              </a:rPr>
              <a:t>Technical Architecture Group (TAG)</a:t>
            </a:r>
            <a:r>
              <a:rPr lang="en-US" altLang="zh-CN" sz="1500" dirty="0"/>
              <a:t> has published guidance on the extensibility and versioning of data formats in its Web Architecture document [</a:t>
            </a:r>
            <a:r>
              <a:rPr lang="en-US" altLang="zh-CN" sz="1500" i="1" dirty="0">
                <a:hlinkClick r:id="rId4" action="ppaction://hlinkfile"/>
              </a:rPr>
              <a:t>Web Architecture</a:t>
            </a:r>
            <a:r>
              <a:rPr lang="en-US" altLang="zh-CN" sz="1500" dirty="0"/>
              <a:t>]. There is also a more wide ranging draft finding on Versioning and Extensibility [</a:t>
            </a:r>
            <a:r>
              <a:rPr lang="en-US" altLang="zh-CN" sz="1500" i="1" dirty="0">
                <a:hlinkClick r:id="rId5" action="ppaction://hlinkfile"/>
              </a:rPr>
              <a:t>W3C TAG Finding: Extending and Versioning Languages Part 1</a:t>
            </a:r>
            <a:r>
              <a:rPr lang="en-US" altLang="zh-CN" sz="1500" dirty="0"/>
              <a:t>]. Both of these works build upon the technical note on Web Architecture: Extensible Languages [</a:t>
            </a:r>
            <a:r>
              <a:rPr lang="en-US" altLang="zh-CN" sz="1500" i="1" dirty="0" err="1">
                <a:hlinkClick r:id="rId6" action="ppaction://hlinkfile"/>
              </a:rPr>
              <a:t>WebArch</a:t>
            </a:r>
            <a:r>
              <a:rPr lang="en-US" altLang="zh-CN" sz="1500" i="1" dirty="0">
                <a:hlinkClick r:id="rId6" action="ppaction://hlinkfile"/>
              </a:rPr>
              <a:t>: Extensible Languages</a:t>
            </a:r>
            <a:r>
              <a:rPr lang="en-US" altLang="zh-CN" sz="1500" dirty="0"/>
              <a:t>].</a:t>
            </a:r>
          </a:p>
          <a:p>
            <a:pPr lvl="1">
              <a:defRPr/>
            </a:pPr>
            <a:r>
              <a:rPr lang="en-US" altLang="zh-CN" sz="1500" dirty="0"/>
              <a:t>The </a:t>
            </a:r>
            <a:r>
              <a:rPr lang="en-US" altLang="zh-CN" sz="1500" dirty="0">
                <a:hlinkClick r:id="rId7"/>
              </a:rPr>
              <a:t>XML Schema Working Group</a:t>
            </a:r>
            <a:r>
              <a:rPr lang="en-US" altLang="zh-CN" sz="1500" dirty="0"/>
              <a:t> is collecting a series of use cases for schema versioning as a part of the Schema 1.1 activity. See XML Schema Versioning Use Cases [</a:t>
            </a:r>
            <a:r>
              <a:rPr lang="en-US" altLang="zh-CN" sz="1500" i="1" dirty="0">
                <a:hlinkClick r:id="rId8" action="ppaction://hlinkfile"/>
              </a:rPr>
              <a:t>XML Schema: Versioning Use-Cases</a:t>
            </a:r>
            <a:r>
              <a:rPr lang="en-US" altLang="zh-CN" sz="1500" dirty="0"/>
              <a:t>].</a:t>
            </a:r>
          </a:p>
          <a:p>
            <a:pPr lvl="1">
              <a:defRPr/>
            </a:pPr>
            <a:r>
              <a:rPr lang="en-US" altLang="zh-CN" sz="1500" dirty="0"/>
              <a:t>The Guide to Versioning XML Languages using XML Schema 1.1 [</a:t>
            </a:r>
            <a:r>
              <a:rPr lang="en-US" altLang="zh-CN" sz="1500" i="1" dirty="0">
                <a:hlinkClick r:id="rId9" action="ppaction://hlinkfile"/>
              </a:rPr>
              <a:t>Guide to Versioning XML Languages using XML Schema 1.1</a:t>
            </a:r>
            <a:r>
              <a:rPr lang="en-US" altLang="zh-CN" sz="1500" dirty="0"/>
              <a:t>] illustrates some techniques for versioning XML languages enabled by features of XML Schema 1.1 [</a:t>
            </a:r>
            <a:r>
              <a:rPr lang="en-US" altLang="zh-CN" sz="1500" i="1" dirty="0">
                <a:hlinkClick r:id="rId10" action="ppaction://hlinkfile"/>
              </a:rPr>
              <a:t>XML Schema 1.1</a:t>
            </a:r>
            <a:r>
              <a:rPr lang="en-US" altLang="zh-CN" sz="1500" dirty="0"/>
              <a:t>]</a:t>
            </a:r>
          </a:p>
          <a:p>
            <a:pPr lvl="1">
              <a:defRPr/>
            </a:pPr>
            <a:r>
              <a:rPr lang="en-US" altLang="zh-CN" sz="1500" dirty="0"/>
              <a:t>The </a:t>
            </a:r>
            <a:r>
              <a:rPr lang="en-US" altLang="zh-CN" sz="1500" dirty="0">
                <a:hlinkClick r:id="rId11"/>
              </a:rPr>
              <a:t>Semantic Web Best Practices and Deployments Working Group</a:t>
            </a:r>
            <a:r>
              <a:rPr lang="en-US" altLang="zh-CN" sz="1500" dirty="0"/>
              <a:t> [</a:t>
            </a:r>
            <a:r>
              <a:rPr lang="en-US" altLang="zh-CN" sz="1500" i="1" dirty="0">
                <a:hlinkClick r:id="rId12" action="ppaction://hlinkfile"/>
              </a:rPr>
              <a:t>SW </a:t>
            </a:r>
            <a:r>
              <a:rPr lang="en-US" altLang="zh-CN" sz="1500" i="1" dirty="0" err="1">
                <a:hlinkClick r:id="rId12" action="ppaction://hlinkfile"/>
              </a:rPr>
              <a:t>VocabManagementNote</a:t>
            </a:r>
            <a:r>
              <a:rPr lang="en-US" altLang="zh-CN" sz="1500" dirty="0"/>
              <a:t>] is examining how vocabularies may evolve</a:t>
            </a:r>
          </a:p>
          <a:p>
            <a:pPr>
              <a:defRPr/>
            </a:pPr>
            <a:r>
              <a:rPr lang="en-US" altLang="zh-CN" sz="1900" dirty="0"/>
              <a:t>The draft finding on Versioning and Extensibility details two key approaches to versioning: </a:t>
            </a:r>
            <a:r>
              <a:rPr lang="en-US" altLang="zh-CN" sz="1900" dirty="0">
                <a:solidFill>
                  <a:srgbClr val="FF0000"/>
                </a:solidFill>
              </a:rPr>
              <a:t>compatible evolution</a:t>
            </a:r>
            <a:r>
              <a:rPr lang="en-US" altLang="zh-CN" sz="1900" dirty="0"/>
              <a:t>; and </a:t>
            </a:r>
            <a:r>
              <a:rPr lang="en-US" altLang="zh-CN" sz="1900" dirty="0">
                <a:solidFill>
                  <a:srgbClr val="FF0000"/>
                </a:solidFill>
              </a:rPr>
              <a:t>big bang</a:t>
            </a:r>
            <a:endParaRPr lang="en-US" altLang="zh-CN" sz="1900" dirty="0"/>
          </a:p>
          <a:p>
            <a:pPr lvl="1">
              <a:defRPr/>
            </a:pPr>
            <a:endParaRPr lang="en-US" altLang="zh-CN" sz="1500" dirty="0"/>
          </a:p>
        </p:txBody>
      </p:sp>
      <p:sp>
        <p:nvSpPr>
          <p:cNvPr id="21508" name="灯片编号占位符 3">
            <a:extLst>
              <a:ext uri="{FF2B5EF4-FFF2-40B4-BE49-F238E27FC236}">
                <a16:creationId xmlns:a16="http://schemas.microsoft.com/office/drawing/2014/main" id="{81CA317F-C9EC-4F2D-BD8D-571360CD83E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35</a:t>
            </a:fld>
            <a:endParaRPr lang="en-US" altLang="zh-CN" sz="1000">
              <a:solidFill>
                <a:srgbClr val="000000"/>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D8CF6AB4-1DD8-4B8E-88B4-EB2ACA599586}"/>
              </a:ext>
            </a:extLst>
          </p:cNvPr>
          <p:cNvSpPr>
            <a:spLocks noGrp="1"/>
          </p:cNvSpPr>
          <p:nvPr>
            <p:ph type="title"/>
          </p:nvPr>
        </p:nvSpPr>
        <p:spPr/>
        <p:txBody>
          <a:bodyPr/>
          <a:lstStyle/>
          <a:p>
            <a:r>
              <a:rPr lang="en-US" altLang="zh-CN" sz="2800" dirty="0"/>
              <a:t>Compatible Evolution</a:t>
            </a:r>
            <a:endParaRPr lang="zh-CN" altLang="en-US" sz="2800" dirty="0"/>
          </a:p>
        </p:txBody>
      </p:sp>
      <p:sp>
        <p:nvSpPr>
          <p:cNvPr id="3" name="内容占位符 2">
            <a:extLst>
              <a:ext uri="{FF2B5EF4-FFF2-40B4-BE49-F238E27FC236}">
                <a16:creationId xmlns:a16="http://schemas.microsoft.com/office/drawing/2014/main" id="{AC8C912A-3752-4D5E-90EE-6080688812D0}"/>
              </a:ext>
            </a:extLst>
          </p:cNvPr>
          <p:cNvSpPr>
            <a:spLocks noGrp="1"/>
          </p:cNvSpPr>
          <p:nvPr>
            <p:ph idx="1"/>
          </p:nvPr>
        </p:nvSpPr>
        <p:spPr/>
        <p:txBody>
          <a:bodyPr>
            <a:normAutofit lnSpcReduction="10000"/>
          </a:bodyPr>
          <a:lstStyle/>
          <a:p>
            <a:pPr>
              <a:lnSpc>
                <a:spcPct val="120000"/>
              </a:lnSpc>
              <a:defRPr/>
            </a:pPr>
            <a:r>
              <a:rPr lang="en-US" altLang="zh-CN" sz="2400" dirty="0"/>
              <a:t>In </a:t>
            </a:r>
            <a:r>
              <a:rPr lang="en-US" altLang="zh-CN" sz="2400" i="1" dirty="0">
                <a:solidFill>
                  <a:srgbClr val="FF0000"/>
                </a:solidFill>
              </a:rPr>
              <a:t>compatible evolution</a:t>
            </a:r>
            <a:r>
              <a:rPr lang="en-US" altLang="zh-CN" sz="2400" dirty="0"/>
              <a:t>, designers are expected to limit changes to those that are either backward or forward compatible, or both:</a:t>
            </a:r>
          </a:p>
          <a:p>
            <a:pPr lvl="1">
              <a:lnSpc>
                <a:spcPct val="120000"/>
              </a:lnSpc>
              <a:defRPr/>
            </a:pPr>
            <a:r>
              <a:rPr lang="en-US" altLang="zh-CN" sz="2000" dirty="0"/>
              <a:t>Backward compatible. The receiver behaves correctly if it receives a message in an </a:t>
            </a:r>
            <a:r>
              <a:rPr lang="en-US" altLang="zh-CN" sz="2000" i="1" dirty="0">
                <a:solidFill>
                  <a:srgbClr val="FF0000"/>
                </a:solidFill>
              </a:rPr>
              <a:t>older</a:t>
            </a:r>
            <a:r>
              <a:rPr lang="en-US" altLang="zh-CN" sz="2000" dirty="0">
                <a:solidFill>
                  <a:srgbClr val="FF0000"/>
                </a:solidFill>
              </a:rPr>
              <a:t> </a:t>
            </a:r>
            <a:r>
              <a:rPr lang="en-US" altLang="zh-CN" sz="2000" dirty="0"/>
              <a:t>version of the interaction language</a:t>
            </a:r>
          </a:p>
          <a:p>
            <a:pPr lvl="1">
              <a:lnSpc>
                <a:spcPct val="120000"/>
              </a:lnSpc>
              <a:defRPr/>
            </a:pPr>
            <a:r>
              <a:rPr lang="en-US" altLang="zh-CN" sz="2000" dirty="0"/>
              <a:t>Forward compatible. The receiver behaves correctly if it receives a message in a </a:t>
            </a:r>
            <a:r>
              <a:rPr lang="en-US" altLang="zh-CN" sz="2000" i="1" dirty="0">
                <a:solidFill>
                  <a:srgbClr val="FF0000"/>
                </a:solidFill>
              </a:rPr>
              <a:t>newer</a:t>
            </a:r>
            <a:r>
              <a:rPr lang="en-US" altLang="zh-CN" sz="2000" dirty="0">
                <a:solidFill>
                  <a:srgbClr val="FF0000"/>
                </a:solidFill>
              </a:rPr>
              <a:t> </a:t>
            </a:r>
            <a:r>
              <a:rPr lang="en-US" altLang="zh-CN" sz="2000" dirty="0"/>
              <a:t>version of the interaction language</a:t>
            </a:r>
          </a:p>
          <a:p>
            <a:pPr>
              <a:lnSpc>
                <a:spcPct val="120000"/>
              </a:lnSpc>
              <a:defRPr/>
            </a:pPr>
            <a:r>
              <a:rPr lang="en-US" altLang="zh-CN" sz="2400" dirty="0"/>
              <a:t>Since Web services and their clients both send and receive messages, these concepts can apply to both parties</a:t>
            </a:r>
          </a:p>
          <a:p>
            <a:pPr>
              <a:lnSpc>
                <a:spcPct val="120000"/>
              </a:lnSpc>
              <a:defRPr/>
            </a:pPr>
            <a:r>
              <a:rPr lang="en-US" altLang="zh-CN" sz="2400" dirty="0"/>
              <a:t>However, since WSDL 2.0 is service-centric, we will focus on the case of service evolution</a:t>
            </a:r>
          </a:p>
        </p:txBody>
      </p:sp>
      <p:sp>
        <p:nvSpPr>
          <p:cNvPr id="23556" name="灯片编号占位符 3">
            <a:extLst>
              <a:ext uri="{FF2B5EF4-FFF2-40B4-BE49-F238E27FC236}">
                <a16:creationId xmlns:a16="http://schemas.microsoft.com/office/drawing/2014/main" id="{718BB36F-84D8-490C-8618-E36A3DC78FB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36</a:t>
            </a:fld>
            <a:endParaRPr lang="en-US" altLang="zh-CN" sz="1000">
              <a:solidFill>
                <a:srgbClr val="00000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E536B9B-27B2-4357-AACE-9ADB3ACDD707}"/>
              </a:ext>
            </a:extLst>
          </p:cNvPr>
          <p:cNvSpPr>
            <a:spLocks noGrp="1"/>
          </p:cNvSpPr>
          <p:nvPr>
            <p:ph type="title"/>
          </p:nvPr>
        </p:nvSpPr>
        <p:spPr/>
        <p:txBody>
          <a:bodyPr/>
          <a:lstStyle/>
          <a:p>
            <a:r>
              <a:rPr lang="en-US" altLang="zh-CN" sz="2800" dirty="0"/>
              <a:t>Compatible Evolution happens when:</a:t>
            </a:r>
            <a:endParaRPr lang="zh-CN" altLang="en-US" sz="2800" dirty="0"/>
          </a:p>
        </p:txBody>
      </p:sp>
      <p:sp>
        <p:nvSpPr>
          <p:cNvPr id="31747" name="内容占位符 2">
            <a:extLst>
              <a:ext uri="{FF2B5EF4-FFF2-40B4-BE49-F238E27FC236}">
                <a16:creationId xmlns:a16="http://schemas.microsoft.com/office/drawing/2014/main" id="{B90F3109-32E5-4472-9CD2-51F5A520BC5A}"/>
              </a:ext>
            </a:extLst>
          </p:cNvPr>
          <p:cNvSpPr>
            <a:spLocks noGrp="1"/>
          </p:cNvSpPr>
          <p:nvPr>
            <p:ph idx="1"/>
          </p:nvPr>
        </p:nvSpPr>
        <p:spPr/>
        <p:txBody>
          <a:bodyPr>
            <a:normAutofit fontScale="92500" lnSpcReduction="20000"/>
          </a:bodyPr>
          <a:lstStyle/>
          <a:p>
            <a:pPr>
              <a:lnSpc>
                <a:spcPct val="120000"/>
              </a:lnSpc>
              <a:defRPr/>
            </a:pPr>
            <a:r>
              <a:rPr lang="en-US" altLang="zh-CN" sz="2800" dirty="0"/>
              <a:t>The service now also supports additional binding </a:t>
            </a:r>
          </a:p>
          <a:p>
            <a:pPr>
              <a:lnSpc>
                <a:spcPct val="120000"/>
              </a:lnSpc>
              <a:defRPr/>
            </a:pPr>
            <a:r>
              <a:rPr lang="en-US" altLang="zh-CN" sz="2800" dirty="0"/>
              <a:t>An interface supports new operations</a:t>
            </a:r>
          </a:p>
          <a:p>
            <a:pPr>
              <a:lnSpc>
                <a:spcPct val="120000"/>
              </a:lnSpc>
              <a:defRPr/>
            </a:pPr>
            <a:r>
              <a:rPr lang="en-US" altLang="zh-CN" sz="2800" dirty="0"/>
              <a:t>The message bodies may include additional data</a:t>
            </a:r>
          </a:p>
          <a:p>
            <a:pPr lvl="1">
              <a:lnSpc>
                <a:spcPct val="120000"/>
              </a:lnSpc>
              <a:defRPr/>
            </a:pPr>
            <a:r>
              <a:rPr lang="en-US" altLang="zh-CN" sz="2400" dirty="0"/>
              <a:t>How the message contents may change within a description depends to a large extent upon the type system being used to describe the message contents (e.g. </a:t>
            </a:r>
            <a:r>
              <a:rPr lang="en-US" altLang="zh-CN" sz="2400" dirty="0" err="1"/>
              <a:t>RelaxNG</a:t>
            </a:r>
            <a:r>
              <a:rPr lang="en-US" altLang="zh-CN" sz="2400" dirty="0"/>
              <a:t> [</a:t>
            </a:r>
            <a:r>
              <a:rPr lang="en-US" altLang="zh-CN" sz="2400" i="1" dirty="0">
                <a:hlinkClick r:id="rId3" action="ppaction://hlinkfile"/>
              </a:rPr>
              <a:t>RELAX NG</a:t>
            </a:r>
            <a:r>
              <a:rPr lang="en-US" altLang="zh-CN" sz="2400" dirty="0"/>
              <a:t>], OWL/RDF, Schema 1.0, Schema 1.1)</a:t>
            </a:r>
          </a:p>
          <a:p>
            <a:pPr>
              <a:lnSpc>
                <a:spcPct val="120000"/>
              </a:lnSpc>
              <a:defRPr/>
            </a:pPr>
            <a:r>
              <a:rPr lang="en-US" altLang="zh-CN" sz="2800" dirty="0"/>
              <a:t>The protocol used to exchange messages may provide mechanisms for exchanging data outside of the message body</a:t>
            </a:r>
          </a:p>
          <a:p>
            <a:pPr lvl="1">
              <a:lnSpc>
                <a:spcPct val="120000"/>
              </a:lnSpc>
              <a:defRPr/>
            </a:pPr>
            <a:r>
              <a:rPr lang="en-US" altLang="zh-CN" sz="2400" dirty="0"/>
              <a:t>E.g. optional head block(s) in SOAP marked with </a:t>
            </a:r>
            <a:r>
              <a:rPr lang="en-US" altLang="zh-CN" sz="2400" dirty="0" err="1">
                <a:hlinkClick r:id="rId3" action="ppaction://hlinkfile"/>
              </a:rPr>
              <a:t>mustUnderstand</a:t>
            </a:r>
            <a:r>
              <a:rPr lang="en-US" altLang="zh-CN" sz="2400" dirty="0"/>
              <a:t> = </a:t>
            </a:r>
            <a:r>
              <a:rPr lang="en-US" altLang="zh-CN" sz="2400" i="1" dirty="0">
                <a:solidFill>
                  <a:srgbClr val="FF0000"/>
                </a:solidFill>
              </a:rPr>
              <a:t>false</a:t>
            </a:r>
            <a:r>
              <a:rPr lang="en-US" altLang="zh-CN" sz="2400" dirty="0"/>
              <a:t> (or absence)</a:t>
            </a:r>
          </a:p>
          <a:p>
            <a:pPr lvl="1">
              <a:defRPr/>
            </a:pPr>
            <a:endParaRPr lang="en-US" altLang="zh-CN" sz="2300" dirty="0"/>
          </a:p>
        </p:txBody>
      </p:sp>
      <p:sp>
        <p:nvSpPr>
          <p:cNvPr id="25604" name="灯片编号占位符 3">
            <a:extLst>
              <a:ext uri="{FF2B5EF4-FFF2-40B4-BE49-F238E27FC236}">
                <a16:creationId xmlns:a16="http://schemas.microsoft.com/office/drawing/2014/main" id="{9E7660C3-5683-4E3B-B85B-5CB2CC7A149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37</a:t>
            </a:fld>
            <a:endParaRPr lang="en-US" altLang="zh-CN" sz="1000">
              <a:solidFill>
                <a:srgbClr val="000000"/>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69D69712-670D-4EE9-8BE6-9EC89458FB29}"/>
              </a:ext>
            </a:extLst>
          </p:cNvPr>
          <p:cNvSpPr>
            <a:spLocks noGrp="1"/>
          </p:cNvSpPr>
          <p:nvPr>
            <p:ph type="title"/>
          </p:nvPr>
        </p:nvSpPr>
        <p:spPr/>
        <p:txBody>
          <a:bodyPr/>
          <a:lstStyle/>
          <a:p>
            <a:r>
              <a:rPr lang="en-US" altLang="zh-CN" sz="2800" dirty="0"/>
              <a:t>Big Bang</a:t>
            </a:r>
            <a:endParaRPr lang="zh-CN" altLang="en-US" sz="2800" dirty="0"/>
          </a:p>
        </p:txBody>
      </p:sp>
      <p:sp>
        <p:nvSpPr>
          <p:cNvPr id="3" name="内容占位符 2">
            <a:extLst>
              <a:ext uri="{FF2B5EF4-FFF2-40B4-BE49-F238E27FC236}">
                <a16:creationId xmlns:a16="http://schemas.microsoft.com/office/drawing/2014/main" id="{D83067D6-8C17-4B33-AB81-C7D7EDA25FA6}"/>
              </a:ext>
            </a:extLst>
          </p:cNvPr>
          <p:cNvSpPr>
            <a:spLocks noGrp="1"/>
          </p:cNvSpPr>
          <p:nvPr>
            <p:ph idx="1"/>
          </p:nvPr>
        </p:nvSpPr>
        <p:spPr/>
        <p:txBody>
          <a:bodyPr>
            <a:normAutofit fontScale="85000" lnSpcReduction="10000"/>
          </a:bodyPr>
          <a:lstStyle/>
          <a:p>
            <a:pPr>
              <a:lnSpc>
                <a:spcPct val="120000"/>
              </a:lnSpc>
              <a:defRPr/>
            </a:pPr>
            <a:r>
              <a:rPr lang="en-US" altLang="zh-CN" dirty="0"/>
              <a:t>The </a:t>
            </a:r>
            <a:r>
              <a:rPr lang="en-US" altLang="zh-CN" i="1" dirty="0">
                <a:solidFill>
                  <a:srgbClr val="FF0000"/>
                </a:solidFill>
              </a:rPr>
              <a:t>big bang</a:t>
            </a:r>
            <a:r>
              <a:rPr lang="en-US" altLang="zh-CN" dirty="0">
                <a:solidFill>
                  <a:srgbClr val="FF0000"/>
                </a:solidFill>
              </a:rPr>
              <a:t> </a:t>
            </a:r>
            <a:r>
              <a:rPr lang="en-US" altLang="zh-CN" dirty="0"/>
              <a:t>approach to versioning is the simplest to currently represent in WSDL 2.0</a:t>
            </a:r>
          </a:p>
          <a:p>
            <a:pPr>
              <a:lnSpc>
                <a:spcPct val="120000"/>
              </a:lnSpc>
              <a:defRPr/>
            </a:pPr>
            <a:r>
              <a:rPr lang="en-US" altLang="zh-CN" dirty="0"/>
              <a:t>In this approach, any change to a WSDL 2.0 document implies a change to the document's namespace, a change to the interface implies a new interface namespace and a change to the message contents is communicated using a new message namespace</a:t>
            </a:r>
          </a:p>
          <a:p>
            <a:pPr>
              <a:lnSpc>
                <a:spcPct val="120000"/>
              </a:lnSpc>
              <a:defRPr/>
            </a:pPr>
            <a:r>
              <a:rPr lang="en-US" altLang="zh-CN" dirty="0"/>
              <a:t>This approach has particular benefits where an agent may quickly tell if a service has changed by simply comparing the namespace value</a:t>
            </a:r>
          </a:p>
        </p:txBody>
      </p:sp>
      <p:sp>
        <p:nvSpPr>
          <p:cNvPr id="27652" name="灯片编号占位符 3">
            <a:extLst>
              <a:ext uri="{FF2B5EF4-FFF2-40B4-BE49-F238E27FC236}">
                <a16:creationId xmlns:a16="http://schemas.microsoft.com/office/drawing/2014/main" id="{E4BE1107-F293-4836-AE05-B247DAE385B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38</a:t>
            </a:fld>
            <a:endParaRPr lang="en-US" altLang="zh-CN" sz="1000">
              <a:solidFill>
                <a:srgbClr val="000000"/>
              </a:solidFill>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D2D55472-BB7F-4B53-B429-FDEEF69AE31C}"/>
              </a:ext>
            </a:extLst>
          </p:cNvPr>
          <p:cNvSpPr>
            <a:spLocks noGrp="1"/>
          </p:cNvSpPr>
          <p:nvPr>
            <p:ph type="title"/>
          </p:nvPr>
        </p:nvSpPr>
        <p:spPr/>
        <p:txBody>
          <a:bodyPr/>
          <a:lstStyle/>
          <a:p>
            <a:r>
              <a:rPr lang="en-US" altLang="zh-CN" sz="2800" dirty="0"/>
              <a:t>Evolving a Service</a:t>
            </a:r>
            <a:endParaRPr lang="zh-CN" altLang="en-US" sz="2800" dirty="0"/>
          </a:p>
        </p:txBody>
      </p:sp>
      <p:sp>
        <p:nvSpPr>
          <p:cNvPr id="29699" name="内容占位符 2">
            <a:extLst>
              <a:ext uri="{FF2B5EF4-FFF2-40B4-BE49-F238E27FC236}">
                <a16:creationId xmlns:a16="http://schemas.microsoft.com/office/drawing/2014/main" id="{CC80E56A-771A-43E4-B8E4-AC9169913344}"/>
              </a:ext>
            </a:extLst>
          </p:cNvPr>
          <p:cNvSpPr>
            <a:spLocks noGrp="1"/>
          </p:cNvSpPr>
          <p:nvPr>
            <p:ph idx="1"/>
          </p:nvPr>
        </p:nvSpPr>
        <p:spPr/>
        <p:txBody>
          <a:bodyPr/>
          <a:lstStyle/>
          <a:p>
            <a:r>
              <a:rPr lang="en-US" altLang="zh-CN" sz="2400"/>
              <a:t>Compatible changes are far more easily managed than incompatible ones</a:t>
            </a:r>
          </a:p>
          <a:p>
            <a:pPr lvl="1"/>
            <a:r>
              <a:rPr lang="en-US" altLang="zh-CN" sz="1900"/>
              <a:t>With a compatible change the service need only support the latest version of a service. A client may continue to use a service adjusting to new version of the interface description at a time of its choosing</a:t>
            </a:r>
          </a:p>
          <a:p>
            <a:pPr lvl="1"/>
            <a:r>
              <a:rPr lang="en-US" altLang="zh-CN" sz="1900"/>
              <a:t>With an incompatible change, the client receives a new version of the interface description and is expected to adjust to the new interface before old interface is terminated. Either the service will need to continue to support both versions of the interface during the hand over period, or the service and the clients are coordinated to change at the same time. An alternative is for the client to continue until it encounters an error, at which point it uses the new version of the interface</a:t>
            </a:r>
          </a:p>
        </p:txBody>
      </p:sp>
      <p:sp>
        <p:nvSpPr>
          <p:cNvPr id="29700" name="灯片编号占位符 3">
            <a:extLst>
              <a:ext uri="{FF2B5EF4-FFF2-40B4-BE49-F238E27FC236}">
                <a16:creationId xmlns:a16="http://schemas.microsoft.com/office/drawing/2014/main" id="{9846771C-BCF5-4A72-B4CD-B3131945C65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39</a:t>
            </a:fld>
            <a:endParaRPr lang="en-US" altLang="zh-CN" sz="1000">
              <a:solidFill>
                <a:srgbClr val="000000"/>
              </a:solidFill>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D41E7B07-D31D-40F5-81C8-3959ED8F4E7C}"/>
              </a:ext>
            </a:extLst>
          </p:cNvPr>
          <p:cNvSpPr>
            <a:spLocks noGrp="1"/>
          </p:cNvSpPr>
          <p:nvPr>
            <p:ph type="title"/>
          </p:nvPr>
        </p:nvSpPr>
        <p:spPr/>
        <p:txBody>
          <a:bodyPr/>
          <a:lstStyle/>
          <a:p>
            <a:r>
              <a:rPr lang="en-US" altLang="zh-CN" sz="2800" dirty="0"/>
              <a:t>Combined Approaches</a:t>
            </a:r>
            <a:endParaRPr lang="zh-CN" altLang="en-US" sz="2800" dirty="0"/>
          </a:p>
        </p:txBody>
      </p:sp>
      <p:sp>
        <p:nvSpPr>
          <p:cNvPr id="3" name="内容占位符 2">
            <a:extLst>
              <a:ext uri="{FF2B5EF4-FFF2-40B4-BE49-F238E27FC236}">
                <a16:creationId xmlns:a16="http://schemas.microsoft.com/office/drawing/2014/main" id="{C99E80FF-B53C-4759-B1CB-AE0FFD375D01}"/>
              </a:ext>
            </a:extLst>
          </p:cNvPr>
          <p:cNvSpPr>
            <a:spLocks noGrp="1"/>
          </p:cNvSpPr>
          <p:nvPr>
            <p:ph idx="1"/>
          </p:nvPr>
        </p:nvSpPr>
        <p:spPr/>
        <p:txBody>
          <a:bodyPr>
            <a:normAutofit fontScale="85000" lnSpcReduction="20000"/>
          </a:bodyPr>
          <a:lstStyle/>
          <a:p>
            <a:pPr>
              <a:lnSpc>
                <a:spcPct val="110000"/>
              </a:lnSpc>
              <a:defRPr/>
            </a:pPr>
            <a:r>
              <a:rPr lang="en-US" altLang="zh-CN" dirty="0"/>
              <a:t>While the big bang approach is currently the easiest to implement in WSDL 2.0, it can lead to a large number of cloned interfaces that become difficult to manage, thus making the compatible approach preferable to many for widely distributed systems </a:t>
            </a:r>
          </a:p>
          <a:p>
            <a:pPr>
              <a:lnSpc>
                <a:spcPct val="110000"/>
              </a:lnSpc>
              <a:defRPr/>
            </a:pPr>
            <a:r>
              <a:rPr lang="en-US" altLang="zh-CN" dirty="0"/>
              <a:t>It is feasible to combine the "</a:t>
            </a:r>
            <a:r>
              <a:rPr lang="en-US" altLang="zh-CN" dirty="0">
                <a:solidFill>
                  <a:srgbClr val="FF0000"/>
                </a:solidFill>
              </a:rPr>
              <a:t>compatible evolution</a:t>
            </a:r>
            <a:r>
              <a:rPr lang="en-US" altLang="zh-CN" dirty="0"/>
              <a:t>" and "</a:t>
            </a:r>
            <a:r>
              <a:rPr lang="en-US" altLang="zh-CN" dirty="0">
                <a:solidFill>
                  <a:srgbClr val="FF0000"/>
                </a:solidFill>
              </a:rPr>
              <a:t>big bang</a:t>
            </a:r>
            <a:r>
              <a:rPr lang="en-US" altLang="zh-CN" dirty="0"/>
              <a:t>" approaches in a variety of different ways</a:t>
            </a:r>
          </a:p>
          <a:p>
            <a:pPr lvl="1">
              <a:lnSpc>
                <a:spcPct val="110000"/>
              </a:lnSpc>
              <a:defRPr/>
            </a:pPr>
            <a:r>
              <a:rPr lang="en-US" altLang="zh-CN" dirty="0"/>
              <a:t>For example, the namespace could be changed when message descriptions are changed, but the namespace could stay the same when new operations are added</a:t>
            </a:r>
          </a:p>
        </p:txBody>
      </p:sp>
      <p:sp>
        <p:nvSpPr>
          <p:cNvPr id="31748" name="灯片编号占位符 3">
            <a:extLst>
              <a:ext uri="{FF2B5EF4-FFF2-40B4-BE49-F238E27FC236}">
                <a16:creationId xmlns:a16="http://schemas.microsoft.com/office/drawing/2014/main" id="{8F2B304E-4DCC-4FDE-8C3A-6D8932A7491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40</a:t>
            </a:fld>
            <a:endParaRPr lang="en-US" altLang="zh-CN" sz="1000">
              <a:solidFill>
                <a:srgbClr val="000000"/>
              </a:solidFill>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标题 1">
            <a:extLst>
              <a:ext uri="{FF2B5EF4-FFF2-40B4-BE49-F238E27FC236}">
                <a16:creationId xmlns:a16="http://schemas.microsoft.com/office/drawing/2014/main" id="{4FADE59F-6641-4B5C-8F6D-AA31D76FCA32}"/>
              </a:ext>
            </a:extLst>
          </p:cNvPr>
          <p:cNvSpPr>
            <a:spLocks noGrp="1"/>
          </p:cNvSpPr>
          <p:nvPr>
            <p:ph type="title"/>
          </p:nvPr>
        </p:nvSpPr>
        <p:spPr/>
        <p:txBody>
          <a:bodyPr>
            <a:noAutofit/>
          </a:bodyPr>
          <a:lstStyle/>
          <a:p>
            <a:pPr>
              <a:defRPr/>
            </a:pPr>
            <a:r>
              <a:rPr lang="en-US" altLang="zh-CN" sz="2800" dirty="0"/>
              <a:t>Additional Optional Elements Added in Content</a:t>
            </a:r>
            <a:endParaRPr lang="zh-CN" altLang="en-US" sz="2800" dirty="0"/>
          </a:p>
        </p:txBody>
      </p:sp>
      <p:sp>
        <p:nvSpPr>
          <p:cNvPr id="3" name="内容占位符 2">
            <a:extLst>
              <a:ext uri="{FF2B5EF4-FFF2-40B4-BE49-F238E27FC236}">
                <a16:creationId xmlns:a16="http://schemas.microsoft.com/office/drawing/2014/main" id="{1F26FA69-E3C5-41A9-AD67-464441039DE3}"/>
              </a:ext>
            </a:extLst>
          </p:cNvPr>
          <p:cNvSpPr>
            <a:spLocks noGrp="1"/>
          </p:cNvSpPr>
          <p:nvPr>
            <p:ph idx="1"/>
          </p:nvPr>
        </p:nvSpPr>
        <p:spPr/>
        <p:txBody>
          <a:bodyPr>
            <a:normAutofit fontScale="92500" lnSpcReduction="10000"/>
          </a:bodyPr>
          <a:lstStyle/>
          <a:p>
            <a:pPr>
              <a:defRPr/>
            </a:pPr>
            <a:r>
              <a:rPr lang="en-US" altLang="zh-CN" sz="2000" dirty="0"/>
              <a:t>The reservation service is changed to a newer version that can accept an optional number of guests parameter. The service provider wants existing clients to continue to be able to use the service. </a:t>
            </a:r>
          </a:p>
          <a:p>
            <a:pPr>
              <a:defRPr/>
            </a:pPr>
            <a:r>
              <a:rPr lang="en-US" altLang="zh-CN" sz="2000" dirty="0"/>
              <a:t>The author adds the element into the schema as an optional element</a:t>
            </a:r>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endParaRPr lang="en-US" altLang="zh-CN" sz="2000" dirty="0"/>
          </a:p>
          <a:p>
            <a:pPr>
              <a:defRPr/>
            </a:pPr>
            <a:r>
              <a:rPr lang="en-US" altLang="zh-CN" sz="2000" dirty="0"/>
              <a:t>In this scenario, it is a compatible change and the author decides to keep the same namespace. This allows existing clients to interact with a new service, and it allows newer clients to interact with older services</a:t>
            </a:r>
          </a:p>
        </p:txBody>
      </p:sp>
      <p:sp>
        <p:nvSpPr>
          <p:cNvPr id="5" name="Text Box 4">
            <a:extLst>
              <a:ext uri="{FF2B5EF4-FFF2-40B4-BE49-F238E27FC236}">
                <a16:creationId xmlns:a16="http://schemas.microsoft.com/office/drawing/2014/main" id="{D9F6499F-6832-4327-B2B1-735BE6452D95}"/>
              </a:ext>
            </a:extLst>
          </p:cNvPr>
          <p:cNvSpPr txBox="1">
            <a:spLocks noChangeArrowheads="1"/>
          </p:cNvSpPr>
          <p:nvPr/>
        </p:nvSpPr>
        <p:spPr bwMode="auto">
          <a:xfrm>
            <a:off x="1254460" y="2780928"/>
            <a:ext cx="6635080" cy="237603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tCheckAvailability</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roomType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numberOfGuests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xs:integer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minOccurs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0</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xs:any</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##other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processContents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lax</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0000FF"/>
                </a:solidFill>
                <a:highlight>
                  <a:srgbClr val="FFFFFF"/>
                </a:highlight>
                <a:latin typeface="Arial"/>
              </a:rPr>
              <a:t>&gt;</a:t>
            </a:r>
            <a:endParaRPr lang="en-US" altLang="zh-CN" sz="1400" dirty="0">
              <a:latin typeface="Arial" charset="0"/>
            </a:endParaRPr>
          </a:p>
        </p:txBody>
      </p:sp>
      <p:sp>
        <p:nvSpPr>
          <p:cNvPr id="33797" name="灯片编号占位符 3">
            <a:extLst>
              <a:ext uri="{FF2B5EF4-FFF2-40B4-BE49-F238E27FC236}">
                <a16:creationId xmlns:a16="http://schemas.microsoft.com/office/drawing/2014/main" id="{6D351EF1-0BE2-42B7-9C87-7C966ED5F8C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41</a:t>
            </a:fld>
            <a:endParaRPr lang="en-US" altLang="zh-CN" sz="1000">
              <a:solidFill>
                <a:srgbClr val="000000"/>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a:extLst>
              <a:ext uri="{FF2B5EF4-FFF2-40B4-BE49-F238E27FC236}">
                <a16:creationId xmlns:a16="http://schemas.microsoft.com/office/drawing/2014/main" id="{C412BEDE-CE90-4FA2-8FE6-B347D768BF45}"/>
              </a:ext>
            </a:extLst>
          </p:cNvPr>
          <p:cNvSpPr>
            <a:spLocks noGrp="1"/>
          </p:cNvSpPr>
          <p:nvPr>
            <p:ph type="title"/>
          </p:nvPr>
        </p:nvSpPr>
        <p:spPr/>
        <p:txBody>
          <a:bodyPr>
            <a:noAutofit/>
          </a:bodyPr>
          <a:lstStyle/>
          <a:p>
            <a:pPr>
              <a:defRPr/>
            </a:pPr>
            <a:r>
              <a:rPr lang="en-US" altLang="zh-CN" sz="2800" dirty="0"/>
              <a:t>Additional Optional Elements Added to a Header</a:t>
            </a:r>
            <a:endParaRPr lang="zh-CN" altLang="en-US" sz="2800" dirty="0"/>
          </a:p>
        </p:txBody>
      </p:sp>
      <p:sp>
        <p:nvSpPr>
          <p:cNvPr id="163843" name="内容占位符 2">
            <a:extLst>
              <a:ext uri="{FF2B5EF4-FFF2-40B4-BE49-F238E27FC236}">
                <a16:creationId xmlns:a16="http://schemas.microsoft.com/office/drawing/2014/main" id="{940FB9A2-012D-4C98-A08B-75CAC2109509}"/>
              </a:ext>
            </a:extLst>
          </p:cNvPr>
          <p:cNvSpPr>
            <a:spLocks noGrp="1"/>
          </p:cNvSpPr>
          <p:nvPr>
            <p:ph idx="1"/>
          </p:nvPr>
        </p:nvSpPr>
        <p:spPr>
          <a:xfrm>
            <a:off x="457200" y="1600200"/>
            <a:ext cx="8229600" cy="1427163"/>
          </a:xfrm>
        </p:spPr>
        <p:txBody>
          <a:bodyPr>
            <a:normAutofit fontScale="92500" lnSpcReduction="20000"/>
          </a:bodyPr>
          <a:lstStyle/>
          <a:p>
            <a:pPr>
              <a:defRPr/>
            </a:pPr>
            <a:r>
              <a:rPr lang="en-US" altLang="zh-CN" sz="2000" dirty="0"/>
              <a:t>Another option is to add the extension as a header block in SOAP Binding</a:t>
            </a:r>
          </a:p>
          <a:p>
            <a:pPr>
              <a:defRPr/>
            </a:pPr>
            <a:r>
              <a:rPr lang="en-US" altLang="zh-CN" sz="2000" dirty="0"/>
              <a:t>This is accomplished by defining an element for the extension and adding a header element that references the element into the binding operation as child of the input</a:t>
            </a:r>
          </a:p>
        </p:txBody>
      </p:sp>
      <p:sp>
        <p:nvSpPr>
          <p:cNvPr id="35844" name="灯片编号占位符 3">
            <a:extLst>
              <a:ext uri="{FF2B5EF4-FFF2-40B4-BE49-F238E27FC236}">
                <a16:creationId xmlns:a16="http://schemas.microsoft.com/office/drawing/2014/main" id="{57A2AA3D-254C-4568-9E5C-05D5CAA407B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42</a:t>
            </a:fld>
            <a:endParaRPr lang="en-US" altLang="zh-CN" sz="1000">
              <a:solidFill>
                <a:srgbClr val="000000"/>
              </a:solidFill>
            </a:endParaRPr>
          </a:p>
        </p:txBody>
      </p:sp>
      <p:sp>
        <p:nvSpPr>
          <p:cNvPr id="5" name="Text Box 4">
            <a:extLst>
              <a:ext uri="{FF2B5EF4-FFF2-40B4-BE49-F238E27FC236}">
                <a16:creationId xmlns:a16="http://schemas.microsoft.com/office/drawing/2014/main" id="{D5445DBA-E29E-485C-9835-2CB372DCAB42}"/>
              </a:ext>
            </a:extLst>
          </p:cNvPr>
          <p:cNvSpPr txBox="1">
            <a:spLocks noChangeArrowheads="1"/>
          </p:cNvSpPr>
          <p:nvPr/>
        </p:nvSpPr>
        <p:spPr bwMode="auto">
          <a:xfrm>
            <a:off x="1529172" y="3035415"/>
            <a:ext cx="6085656" cy="382258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NumberOfGuests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tNumberOfGuests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tNumberOfGuests</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xs:element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numberOfGuests</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xs:integer</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minOccurs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0</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xs:sequence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xs:complexType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reservationSOAPBinding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wsoap:protocol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http://www.w3.org/2003/05/soap/bindings/HTTP/</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tns:opCheckAvailability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wsoap:header</a:t>
            </a: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tns:NumberOfGuests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A23B2238-72F2-49B6-802D-586E27C076B6}"/>
              </a:ext>
            </a:extLst>
          </p:cNvPr>
          <p:cNvSpPr>
            <a:spLocks noChangeShapeType="1"/>
          </p:cNvSpPr>
          <p:nvPr/>
        </p:nvSpPr>
        <p:spPr bwMode="auto">
          <a:xfrm flipH="1" flipV="1">
            <a:off x="4500563" y="4941888"/>
            <a:ext cx="1439862" cy="11176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F85ECCD1-F0DF-4A21-8F40-2A029A8CCD72}"/>
              </a:ext>
            </a:extLst>
          </p:cNvPr>
          <p:cNvSpPr txBox="1">
            <a:spLocks noChangeArrowheads="1"/>
          </p:cNvSpPr>
          <p:nvPr/>
        </p:nvSpPr>
        <p:spPr bwMode="auto">
          <a:xfrm>
            <a:off x="4564063" y="6059488"/>
            <a:ext cx="31845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1800">
                <a:solidFill>
                  <a:srgbClr val="000000"/>
                </a:solidFill>
              </a:rPr>
              <a:t>Other Binding such as HTTP Binging can also be used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
            <a:extLst>
              <a:ext uri="{FF2B5EF4-FFF2-40B4-BE49-F238E27FC236}">
                <a16:creationId xmlns:a16="http://schemas.microsoft.com/office/drawing/2014/main" id="{89EC3B2B-9934-475A-B3B2-7534BB82D3FB}"/>
              </a:ext>
            </a:extLst>
          </p:cNvPr>
          <p:cNvSpPr>
            <a:spLocks noGrp="1"/>
          </p:cNvSpPr>
          <p:nvPr>
            <p:ph type="title"/>
          </p:nvPr>
        </p:nvSpPr>
        <p:spPr/>
        <p:txBody>
          <a:bodyPr>
            <a:noAutofit/>
          </a:bodyPr>
          <a:lstStyle/>
          <a:p>
            <a:pPr>
              <a:defRPr/>
            </a:pPr>
            <a:r>
              <a:rPr lang="en-US" altLang="zh-CN" sz="2800" dirty="0"/>
              <a:t>Additional Mandatory Elements in Content</a:t>
            </a:r>
            <a:endParaRPr lang="zh-CN" altLang="en-US" sz="2800" dirty="0"/>
          </a:p>
        </p:txBody>
      </p:sp>
      <p:sp>
        <p:nvSpPr>
          <p:cNvPr id="166915" name="内容占位符 2">
            <a:extLst>
              <a:ext uri="{FF2B5EF4-FFF2-40B4-BE49-F238E27FC236}">
                <a16:creationId xmlns:a16="http://schemas.microsoft.com/office/drawing/2014/main" id="{46BA5396-9F2B-4832-96B5-83D08182E6BB}"/>
              </a:ext>
            </a:extLst>
          </p:cNvPr>
          <p:cNvSpPr>
            <a:spLocks noGrp="1"/>
          </p:cNvSpPr>
          <p:nvPr>
            <p:ph idx="1"/>
          </p:nvPr>
        </p:nvSpPr>
        <p:spPr>
          <a:xfrm>
            <a:off x="457200" y="1600200"/>
            <a:ext cx="8229600" cy="4781550"/>
          </a:xfrm>
        </p:spPr>
        <p:txBody>
          <a:bodyPr>
            <a:normAutofit fontScale="25000" lnSpcReduction="20000"/>
          </a:bodyPr>
          <a:lstStyle/>
          <a:p>
            <a:pPr>
              <a:defRPr/>
            </a:pPr>
            <a:r>
              <a:rPr lang="en-US" altLang="zh-CN" sz="8000" dirty="0"/>
              <a:t>The reservation service requires a number of guests parameter. The service provider wants existing clients to be unable to use the service. The author adds the element into the schema as a mandatory element</a:t>
            </a:r>
          </a:p>
          <a:p>
            <a:pPr>
              <a:defRPr/>
            </a:pPr>
            <a:endParaRPr lang="en-US" altLang="zh-CN" sz="8000" dirty="0"/>
          </a:p>
          <a:p>
            <a:pPr>
              <a:defRPr/>
            </a:pPr>
            <a:endParaRPr lang="en-US" altLang="zh-CN" sz="8000" dirty="0"/>
          </a:p>
          <a:p>
            <a:pPr>
              <a:defRPr/>
            </a:pPr>
            <a:endParaRPr lang="en-US" altLang="zh-CN" sz="8000" dirty="0"/>
          </a:p>
          <a:p>
            <a:pPr>
              <a:defRPr/>
            </a:pPr>
            <a:endParaRPr lang="en-US" altLang="zh-CN" sz="8000" dirty="0"/>
          </a:p>
          <a:p>
            <a:pPr>
              <a:defRPr/>
            </a:pPr>
            <a:endParaRPr lang="en-US" altLang="zh-CN" sz="8000" dirty="0"/>
          </a:p>
          <a:p>
            <a:pPr>
              <a:defRPr/>
            </a:pPr>
            <a:endParaRPr lang="en-US" altLang="zh-CN" sz="8000" dirty="0"/>
          </a:p>
          <a:p>
            <a:pPr marL="0" indent="0">
              <a:buFont typeface="Wingdings" panose="05000000000000000000" pitchFamily="2" charset="2"/>
              <a:buNone/>
              <a:defRPr/>
            </a:pPr>
            <a:endParaRPr lang="en-US" altLang="zh-CN" sz="8000" dirty="0"/>
          </a:p>
          <a:p>
            <a:pPr>
              <a:defRPr/>
            </a:pPr>
            <a:endParaRPr lang="en-US" altLang="zh-CN" sz="8000" dirty="0"/>
          </a:p>
          <a:p>
            <a:pPr>
              <a:defRPr/>
            </a:pPr>
            <a:endParaRPr lang="en-US" altLang="zh-CN" sz="8000" dirty="0"/>
          </a:p>
          <a:p>
            <a:pPr>
              <a:defRPr/>
            </a:pPr>
            <a:r>
              <a:rPr lang="en-US" altLang="zh-CN" sz="8000" dirty="0"/>
              <a:t>In this scenario, it is an incompatible change and the author decides to use a new name but the same namespace. This type is then used in the interface operation, and then binding and service endpoints</a:t>
            </a:r>
          </a:p>
          <a:p>
            <a:pPr>
              <a:defRPr/>
            </a:pPr>
            <a:endParaRPr lang="en-US" altLang="zh-CN" dirty="0"/>
          </a:p>
          <a:p>
            <a:pPr>
              <a:defRPr/>
            </a:pPr>
            <a:endParaRPr lang="zh-CN" altLang="en-US" dirty="0"/>
          </a:p>
        </p:txBody>
      </p:sp>
      <p:sp>
        <p:nvSpPr>
          <p:cNvPr id="37892" name="灯片编号占位符 3">
            <a:extLst>
              <a:ext uri="{FF2B5EF4-FFF2-40B4-BE49-F238E27FC236}">
                <a16:creationId xmlns:a16="http://schemas.microsoft.com/office/drawing/2014/main" id="{BE2D0C04-FFD5-44FA-80BD-86BAD908D64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43</a:t>
            </a:fld>
            <a:endParaRPr lang="en-US" altLang="zh-CN" sz="1000">
              <a:solidFill>
                <a:srgbClr val="000000"/>
              </a:solidFill>
            </a:endParaRPr>
          </a:p>
        </p:txBody>
      </p:sp>
      <p:sp>
        <p:nvSpPr>
          <p:cNvPr id="5" name="Text Box 4">
            <a:extLst>
              <a:ext uri="{FF2B5EF4-FFF2-40B4-BE49-F238E27FC236}">
                <a16:creationId xmlns:a16="http://schemas.microsoft.com/office/drawing/2014/main" id="{C3278248-E3FF-424D-8A67-D374C00D248A}"/>
              </a:ext>
            </a:extLst>
          </p:cNvPr>
          <p:cNvSpPr txBox="1">
            <a:spLocks noChangeArrowheads="1"/>
          </p:cNvSpPr>
          <p:nvPr/>
        </p:nvSpPr>
        <p:spPr bwMode="auto">
          <a:xfrm>
            <a:off x="1979712" y="2736283"/>
            <a:ext cx="5184576" cy="237603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tCheckAvailabilityV2</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checkInDate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checkOutDate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xs:date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roomType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xs:string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xs:element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numberOfGuests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type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xs:integer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xs:any</a:t>
            </a:r>
            <a:r>
              <a:rPr lang="en-US" altLang="zh-CN" sz="1400" dirty="0">
                <a:solidFill>
                  <a:srgbClr val="FF0000"/>
                </a:solidFill>
                <a:highlight>
                  <a:srgbClr val="FFFFFF"/>
                </a:highlight>
                <a:latin typeface="Arial"/>
              </a:rPr>
              <a:t> namespace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##other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processContents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lax</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xs:sequence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xs:complexType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a:extLst>
              <a:ext uri="{FF2B5EF4-FFF2-40B4-BE49-F238E27FC236}">
                <a16:creationId xmlns:a16="http://schemas.microsoft.com/office/drawing/2014/main" id="{6D501CBD-EAB7-4038-8620-5A8123A9E2BB}"/>
              </a:ext>
            </a:extLst>
          </p:cNvPr>
          <p:cNvSpPr>
            <a:spLocks noGrp="1"/>
          </p:cNvSpPr>
          <p:nvPr>
            <p:ph type="title"/>
          </p:nvPr>
        </p:nvSpPr>
        <p:spPr/>
        <p:txBody>
          <a:bodyPr>
            <a:noAutofit/>
          </a:bodyPr>
          <a:lstStyle/>
          <a:p>
            <a:pPr>
              <a:defRPr/>
            </a:pPr>
            <a:r>
              <a:rPr lang="en-US" altLang="zh-CN" sz="2800" dirty="0"/>
              <a:t>Additional Operation Added to Interface</a:t>
            </a:r>
            <a:endParaRPr lang="zh-CN" altLang="en-US" sz="2800" dirty="0"/>
          </a:p>
        </p:txBody>
      </p:sp>
      <p:sp>
        <p:nvSpPr>
          <p:cNvPr id="48131" name="内容占位符 2">
            <a:extLst>
              <a:ext uri="{FF2B5EF4-FFF2-40B4-BE49-F238E27FC236}">
                <a16:creationId xmlns:a16="http://schemas.microsoft.com/office/drawing/2014/main" id="{FE51F10B-B866-4D2E-81EB-2B51BF13CB2B}"/>
              </a:ext>
            </a:extLst>
          </p:cNvPr>
          <p:cNvSpPr>
            <a:spLocks noGrp="1"/>
          </p:cNvSpPr>
          <p:nvPr>
            <p:ph idx="1"/>
          </p:nvPr>
        </p:nvSpPr>
        <p:spPr/>
        <p:txBody>
          <a:bodyPr>
            <a:normAutofit lnSpcReduction="10000"/>
          </a:bodyPr>
          <a:lstStyle/>
          <a:p>
            <a:pPr>
              <a:lnSpc>
                <a:spcPct val="110000"/>
              </a:lnSpc>
              <a:defRPr/>
            </a:pPr>
            <a:r>
              <a:rPr lang="en-US" altLang="zh-CN" dirty="0">
                <a:hlinkClick r:id="rId3" action="ppaction://hlinkfile"/>
              </a:rPr>
              <a:t>Interface Inheritance</a:t>
            </a:r>
            <a:r>
              <a:rPr lang="en-US" altLang="zh-CN" dirty="0"/>
              <a:t> can be used to support additional </a:t>
            </a:r>
            <a:r>
              <a:rPr lang="en-US" altLang="zh-CN" dirty="0">
                <a:solidFill>
                  <a:srgbClr val="FF0000"/>
                </a:solidFill>
              </a:rPr>
              <a:t>optional</a:t>
            </a:r>
            <a:r>
              <a:rPr lang="en-US" altLang="zh-CN" dirty="0"/>
              <a:t> operation(s) to Interface</a:t>
            </a:r>
          </a:p>
          <a:p>
            <a:pPr>
              <a:lnSpc>
                <a:spcPct val="110000"/>
              </a:lnSpc>
              <a:defRPr/>
            </a:pPr>
            <a:r>
              <a:rPr lang="en-US" altLang="zh-CN" dirty="0"/>
              <a:t>If all clients are required to upgrade to the new interface with additional </a:t>
            </a:r>
            <a:r>
              <a:rPr lang="en-US" altLang="zh-CN" dirty="0">
                <a:solidFill>
                  <a:srgbClr val="FF0000"/>
                </a:solidFill>
              </a:rPr>
              <a:t>mandatory</a:t>
            </a:r>
            <a:r>
              <a:rPr lang="en-US" altLang="zh-CN" dirty="0"/>
              <a:t> operation(s),</a:t>
            </a:r>
          </a:p>
          <a:p>
            <a:pPr lvl="1">
              <a:lnSpc>
                <a:spcPct val="110000"/>
              </a:lnSpc>
              <a:defRPr/>
            </a:pPr>
            <a:r>
              <a:rPr lang="en-US" altLang="zh-CN" sz="2800" dirty="0"/>
              <a:t>It should be indicated that the old interface is deprecated</a:t>
            </a:r>
          </a:p>
          <a:p>
            <a:pPr lvl="1">
              <a:lnSpc>
                <a:spcPct val="110000"/>
              </a:lnSpc>
              <a:defRPr/>
            </a:pPr>
            <a:r>
              <a:rPr lang="en-US" altLang="zh-CN" sz="2800" dirty="0">
                <a:hlinkClick r:id="rId3" action="ppaction://hlinkfile"/>
              </a:rPr>
              <a:t>Interface Inheritance</a:t>
            </a:r>
            <a:r>
              <a:rPr lang="en-US" altLang="zh-CN" sz="2800" dirty="0"/>
              <a:t> cannot be used to define the extension</a:t>
            </a:r>
            <a:endParaRPr lang="en-US" altLang="zh-CN" sz="2300" dirty="0"/>
          </a:p>
          <a:p>
            <a:pPr lvl="1">
              <a:defRPr/>
            </a:pPr>
            <a:endParaRPr lang="en-US" altLang="zh-CN" sz="2300" dirty="0"/>
          </a:p>
        </p:txBody>
      </p:sp>
      <p:sp>
        <p:nvSpPr>
          <p:cNvPr id="39940" name="灯片编号占位符 3">
            <a:extLst>
              <a:ext uri="{FF2B5EF4-FFF2-40B4-BE49-F238E27FC236}">
                <a16:creationId xmlns:a16="http://schemas.microsoft.com/office/drawing/2014/main" id="{6115AC5C-D8E5-440B-9EA2-8911A6C87E2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44</a:t>
            </a:fld>
            <a:endParaRPr lang="en-US" altLang="zh-CN" sz="1000">
              <a:solidFill>
                <a:srgbClr val="000000"/>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1">
            <a:extLst>
              <a:ext uri="{FF2B5EF4-FFF2-40B4-BE49-F238E27FC236}">
                <a16:creationId xmlns:a16="http://schemas.microsoft.com/office/drawing/2014/main" id="{10B84136-F06A-453B-BD94-DBF8D83A6EA1}"/>
              </a:ext>
            </a:extLst>
          </p:cNvPr>
          <p:cNvSpPr>
            <a:spLocks noGrp="1"/>
          </p:cNvSpPr>
          <p:nvPr>
            <p:ph type="title"/>
          </p:nvPr>
        </p:nvSpPr>
        <p:spPr/>
        <p:txBody>
          <a:bodyPr>
            <a:noAutofit/>
          </a:bodyPr>
          <a:lstStyle/>
          <a:p>
            <a:pPr>
              <a:defRPr/>
            </a:pPr>
            <a:r>
              <a:rPr lang="en-US" altLang="zh-CN" sz="2800" dirty="0"/>
              <a:t>Bad sample for Additional Mandatory Operation Added to Interface (1/2)</a:t>
            </a:r>
            <a:endParaRPr lang="zh-CN" altLang="en-US" sz="2800" dirty="0"/>
          </a:p>
        </p:txBody>
      </p:sp>
      <p:sp>
        <p:nvSpPr>
          <p:cNvPr id="41987" name="灯片编号占位符 3">
            <a:extLst>
              <a:ext uri="{FF2B5EF4-FFF2-40B4-BE49-F238E27FC236}">
                <a16:creationId xmlns:a16="http://schemas.microsoft.com/office/drawing/2014/main" id="{A3C01CE1-C993-473E-A63E-5FAB7E8FC24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fld id="{29D8E8E3-EA84-4D2C-8D17-E9DDEE8B867B}" type="slidenum">
              <a:rPr lang="en-US" altLang="zh-CN" smtClean="0"/>
              <a:pPr/>
              <a:t>45</a:t>
            </a:fld>
            <a:endParaRPr lang="en-US" altLang="zh-CN" sz="1000">
              <a:solidFill>
                <a:srgbClr val="000000"/>
              </a:solidFill>
            </a:endParaRPr>
          </a:p>
        </p:txBody>
      </p:sp>
      <p:sp>
        <p:nvSpPr>
          <p:cNvPr id="5" name="Text Box 4">
            <a:extLst>
              <a:ext uri="{FF2B5EF4-FFF2-40B4-BE49-F238E27FC236}">
                <a16:creationId xmlns:a16="http://schemas.microsoft.com/office/drawing/2014/main" id="{3B92A6AC-87FB-4144-8603-7E83A7F9C126}"/>
              </a:ext>
            </a:extLst>
          </p:cNvPr>
          <p:cNvSpPr txBox="1">
            <a:spLocks noChangeArrowheads="1"/>
          </p:cNvSpPr>
          <p:nvPr/>
        </p:nvSpPr>
        <p:spPr bwMode="auto">
          <a:xfrm>
            <a:off x="457200" y="1600200"/>
            <a:ext cx="8229600" cy="470282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reservationWithConfirmation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extends</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cc:creditCardFaults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makeReservation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ghns:makeReservation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ghns:makeReservationResponse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invalidDataFault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cc:cancelledCreditCard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cc:expiredCreditCard</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cc:invalidCreditCardNumber</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cc:invalidExpirationDate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confirmReservation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In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ghns:makeReservationResponse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output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element</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ghns:confirmReservationResponse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outfault</a:t>
            </a:r>
            <a:r>
              <a:rPr lang="en-US" altLang="zh-CN" sz="1400" dirty="0">
                <a:solidFill>
                  <a:srgbClr val="FF0000"/>
                </a:solidFill>
                <a:highlight>
                  <a:srgbClr val="FFFFFF"/>
                </a:highlight>
                <a:latin typeface="Arial"/>
              </a:rPr>
              <a:t> ref</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expiredReservation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messageLabel</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Out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operation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标题 1">
            <a:extLst>
              <a:ext uri="{FF2B5EF4-FFF2-40B4-BE49-F238E27FC236}">
                <a16:creationId xmlns:a16="http://schemas.microsoft.com/office/drawing/2014/main" id="{D9F63915-E927-4B82-8EF5-FA68BD0DA641}"/>
              </a:ext>
            </a:extLst>
          </p:cNvPr>
          <p:cNvSpPr>
            <a:spLocks noGrp="1"/>
          </p:cNvSpPr>
          <p:nvPr>
            <p:ph type="title"/>
          </p:nvPr>
        </p:nvSpPr>
        <p:spPr/>
        <p:txBody>
          <a:bodyPr>
            <a:noAutofit/>
          </a:bodyPr>
          <a:lstStyle/>
          <a:p>
            <a:pPr>
              <a:defRPr/>
            </a:pPr>
            <a:r>
              <a:rPr lang="en-US" altLang="zh-CN" sz="2800" dirty="0"/>
              <a:t>Bad sample for Additional Mandatory Operation Added to Interface (2/2)</a:t>
            </a:r>
            <a:endParaRPr lang="zh-CN" altLang="en-US" sz="2800" dirty="0"/>
          </a:p>
        </p:txBody>
      </p:sp>
      <p:sp>
        <p:nvSpPr>
          <p:cNvPr id="3" name="内容占位符 2">
            <a:extLst>
              <a:ext uri="{FF2B5EF4-FFF2-40B4-BE49-F238E27FC236}">
                <a16:creationId xmlns:a16="http://schemas.microsoft.com/office/drawing/2014/main" id="{CB0C3DCD-E346-4E51-BFFB-DDD778531B7C}"/>
              </a:ext>
            </a:extLst>
          </p:cNvPr>
          <p:cNvSpPr>
            <a:spLocks noGrp="1"/>
          </p:cNvSpPr>
          <p:nvPr>
            <p:ph idx="1"/>
          </p:nvPr>
        </p:nvSpPr>
        <p:spPr/>
        <p:txBody>
          <a:bodyPr>
            <a:normAutofit fontScale="70000" lnSpcReduction="20000"/>
          </a:bodyPr>
          <a:lstStyle/>
          <a:p>
            <a:pPr>
              <a:lnSpc>
                <a:spcPct val="120000"/>
              </a:lnSpc>
              <a:defRPr/>
            </a:pPr>
            <a:r>
              <a:rPr lang="en-US" altLang="zh-CN" sz="4000" dirty="0"/>
              <a:t>This interface cannot be bound and deployed at the existing URI and indicate incompatibility, as the service will still accept the </a:t>
            </a:r>
            <a:r>
              <a:rPr lang="en-US" altLang="zh-CN" sz="4000" dirty="0" err="1">
                <a:solidFill>
                  <a:srgbClr val="FF0000"/>
                </a:solidFill>
              </a:rPr>
              <a:t>makeReservation</a:t>
            </a:r>
            <a:r>
              <a:rPr lang="en-US" altLang="zh-CN" sz="4000" dirty="0"/>
              <a:t> request </a:t>
            </a:r>
          </a:p>
          <a:p>
            <a:pPr>
              <a:lnSpc>
                <a:spcPct val="120000"/>
              </a:lnSpc>
              <a:defRPr/>
            </a:pPr>
            <a:r>
              <a:rPr lang="en-US" altLang="zh-CN" sz="4000" dirty="0"/>
              <a:t>Changing the name of the interface from reservation to </a:t>
            </a:r>
            <a:r>
              <a:rPr lang="en-US" altLang="zh-CN" sz="4000" dirty="0" err="1">
                <a:solidFill>
                  <a:srgbClr val="FF0000"/>
                </a:solidFill>
              </a:rPr>
              <a:t>reservationWithConfirmation</a:t>
            </a:r>
            <a:r>
              <a:rPr lang="en-US" altLang="zh-CN" sz="4000" dirty="0"/>
              <a:t> or changing the name of the operation from </a:t>
            </a:r>
            <a:r>
              <a:rPr lang="en-US" altLang="zh-CN" sz="4000" dirty="0" err="1">
                <a:solidFill>
                  <a:srgbClr val="FF0000"/>
                </a:solidFill>
              </a:rPr>
              <a:t>makeReservation</a:t>
            </a:r>
            <a:r>
              <a:rPr lang="en-US" altLang="zh-CN" sz="4000" dirty="0"/>
              <a:t> to </a:t>
            </a:r>
            <a:r>
              <a:rPr lang="en-US" altLang="zh-CN" sz="4000" dirty="0">
                <a:solidFill>
                  <a:srgbClr val="FF0000"/>
                </a:solidFill>
              </a:rPr>
              <a:t>makeReservationV2 </a:t>
            </a:r>
            <a:r>
              <a:rPr lang="en-US" altLang="zh-CN" sz="4000" dirty="0"/>
              <a:t>does not affect the messages that are exchanged</a:t>
            </a:r>
          </a:p>
          <a:p>
            <a:pPr>
              <a:lnSpc>
                <a:spcPct val="120000"/>
              </a:lnSpc>
              <a:defRPr/>
            </a:pPr>
            <a:r>
              <a:rPr lang="en-US" altLang="zh-CN" sz="4000" dirty="0"/>
              <a:t>Thus it can't be used as a mechanism for indicating incompatibility</a:t>
            </a:r>
          </a:p>
        </p:txBody>
      </p:sp>
      <p:sp>
        <p:nvSpPr>
          <p:cNvPr id="44036" name="灯片编号占位符 3">
            <a:extLst>
              <a:ext uri="{FF2B5EF4-FFF2-40B4-BE49-F238E27FC236}">
                <a16:creationId xmlns:a16="http://schemas.microsoft.com/office/drawing/2014/main" id="{221CDCE8-9981-4FE2-A081-9B77C5102EB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46</a:t>
            </a:fld>
            <a:endParaRPr lang="en-US" altLang="zh-CN" sz="1000">
              <a:solidFill>
                <a:srgbClr val="000000"/>
              </a:solidFill>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882F43BD-981D-4F46-A732-72ABC917E19B}"/>
              </a:ext>
            </a:extLst>
          </p:cNvPr>
          <p:cNvSpPr>
            <a:spLocks noGrp="1"/>
          </p:cNvSpPr>
          <p:nvPr>
            <p:ph type="title"/>
          </p:nvPr>
        </p:nvSpPr>
        <p:spPr/>
        <p:txBody>
          <a:bodyPr/>
          <a:lstStyle/>
          <a:p>
            <a:r>
              <a:rPr lang="en-US" altLang="zh-CN" sz="2800" dirty="0"/>
              <a:t>Indicating Incompatibility</a:t>
            </a:r>
            <a:endParaRPr lang="zh-CN" altLang="en-US" sz="2800" dirty="0"/>
          </a:p>
        </p:txBody>
      </p:sp>
      <p:sp>
        <p:nvSpPr>
          <p:cNvPr id="56323" name="内容占位符 2">
            <a:extLst>
              <a:ext uri="{FF2B5EF4-FFF2-40B4-BE49-F238E27FC236}">
                <a16:creationId xmlns:a16="http://schemas.microsoft.com/office/drawing/2014/main" id="{555E7ECC-3437-4029-A7A0-1081B232F0EF}"/>
              </a:ext>
            </a:extLst>
          </p:cNvPr>
          <p:cNvSpPr>
            <a:spLocks noGrp="1"/>
          </p:cNvSpPr>
          <p:nvPr>
            <p:ph idx="1"/>
          </p:nvPr>
        </p:nvSpPr>
        <p:spPr/>
        <p:txBody>
          <a:bodyPr>
            <a:normAutofit fontScale="85000" lnSpcReduction="20000"/>
          </a:bodyPr>
          <a:lstStyle/>
          <a:p>
            <a:pPr>
              <a:lnSpc>
                <a:spcPct val="120000"/>
              </a:lnSpc>
              <a:defRPr/>
            </a:pPr>
            <a:r>
              <a:rPr lang="en-US" altLang="zh-CN" sz="3600" dirty="0"/>
              <a:t>To indicate incompatibility, a change must be made to something that appears in the message</a:t>
            </a:r>
          </a:p>
          <a:p>
            <a:pPr>
              <a:lnSpc>
                <a:spcPct val="120000"/>
              </a:lnSpc>
              <a:defRPr/>
            </a:pPr>
            <a:r>
              <a:rPr lang="en-US" altLang="zh-CN" sz="3600" dirty="0"/>
              <a:t>For a SOAP over HTTP request, the list is roughly</a:t>
            </a:r>
          </a:p>
          <a:p>
            <a:pPr lvl="1">
              <a:lnSpc>
                <a:spcPct val="120000"/>
              </a:lnSpc>
              <a:defRPr/>
            </a:pPr>
            <a:r>
              <a:rPr lang="en-US" altLang="zh-CN" sz="3100" dirty="0"/>
              <a:t>The URI</a:t>
            </a:r>
          </a:p>
          <a:p>
            <a:pPr lvl="1">
              <a:lnSpc>
                <a:spcPct val="120000"/>
              </a:lnSpc>
              <a:defRPr/>
            </a:pPr>
            <a:r>
              <a:rPr lang="en-US" altLang="zh-CN" sz="3100" dirty="0"/>
              <a:t>The SOAP Action HTTP Header</a:t>
            </a:r>
          </a:p>
          <a:p>
            <a:pPr lvl="1">
              <a:lnSpc>
                <a:spcPct val="120000"/>
              </a:lnSpc>
              <a:defRPr/>
            </a:pPr>
            <a:r>
              <a:rPr lang="en-US" altLang="zh-CN" sz="3100" dirty="0"/>
              <a:t>The Message content</a:t>
            </a:r>
          </a:p>
          <a:p>
            <a:pPr>
              <a:lnSpc>
                <a:spcPct val="120000"/>
              </a:lnSpc>
              <a:defRPr/>
            </a:pPr>
            <a:r>
              <a:rPr lang="en-US" altLang="zh-CN" dirty="0"/>
              <a:t>In order to indicate incompatibility, the URI of Endpoint can be changed and messages send to the old Endpoint return a Fault</a:t>
            </a:r>
          </a:p>
        </p:txBody>
      </p:sp>
      <p:sp>
        <p:nvSpPr>
          <p:cNvPr id="46084" name="灯片编号占位符 3">
            <a:extLst>
              <a:ext uri="{FF2B5EF4-FFF2-40B4-BE49-F238E27FC236}">
                <a16:creationId xmlns:a16="http://schemas.microsoft.com/office/drawing/2014/main" id="{94D1745E-F577-4691-BE49-EEDABF0CC45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47</a:t>
            </a:fld>
            <a:endParaRPr lang="en-US" altLang="zh-CN" sz="1000">
              <a:solidFill>
                <a:srgbClr val="000000"/>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a:extLst>
              <a:ext uri="{FF2B5EF4-FFF2-40B4-BE49-F238E27FC236}">
                <a16:creationId xmlns:a16="http://schemas.microsoft.com/office/drawing/2014/main" id="{B180F22C-8907-40FB-B154-40EE244C2DFD}"/>
              </a:ext>
            </a:extLst>
          </p:cNvPr>
          <p:cNvSpPr>
            <a:spLocks noGrp="1"/>
          </p:cNvSpPr>
          <p:nvPr>
            <p:ph type="title"/>
          </p:nvPr>
        </p:nvSpPr>
        <p:spPr/>
        <p:txBody>
          <a:bodyPr>
            <a:noAutofit/>
          </a:bodyPr>
          <a:lstStyle/>
          <a:p>
            <a:pPr>
              <a:defRPr/>
            </a:pPr>
            <a:r>
              <a:rPr lang="en-US" altLang="zh-CN" sz="2800" dirty="0"/>
              <a:t>Indicating Incompatibility by Changing the SOAP Action</a:t>
            </a:r>
            <a:endParaRPr lang="zh-CN" altLang="en-US" sz="2800" dirty="0"/>
          </a:p>
        </p:txBody>
      </p:sp>
      <p:sp>
        <p:nvSpPr>
          <p:cNvPr id="175107" name="内容占位符 2">
            <a:extLst>
              <a:ext uri="{FF2B5EF4-FFF2-40B4-BE49-F238E27FC236}">
                <a16:creationId xmlns:a16="http://schemas.microsoft.com/office/drawing/2014/main" id="{471C7D71-464D-440E-9282-5275F432D469}"/>
              </a:ext>
            </a:extLst>
          </p:cNvPr>
          <p:cNvSpPr>
            <a:spLocks noGrp="1"/>
          </p:cNvSpPr>
          <p:nvPr>
            <p:ph idx="1"/>
          </p:nvPr>
        </p:nvSpPr>
        <p:spPr>
          <a:xfrm>
            <a:off x="457200" y="1600200"/>
            <a:ext cx="8229600" cy="4637088"/>
          </a:xfrm>
        </p:spPr>
        <p:txBody>
          <a:bodyPr>
            <a:normAutofit fontScale="62500" lnSpcReduction="20000"/>
          </a:bodyPr>
          <a:lstStyle/>
          <a:p>
            <a:pPr>
              <a:lnSpc>
                <a:spcPct val="120000"/>
              </a:lnSpc>
              <a:defRPr/>
            </a:pPr>
            <a:r>
              <a:rPr lang="en-US" altLang="zh-CN" dirty="0"/>
              <a:t>The SOAP Action can be set as the name of operation, and making it different than the earlier version should indicate incompatibility</a:t>
            </a:r>
          </a:p>
          <a:p>
            <a:pPr>
              <a:lnSpc>
                <a:spcPct val="120000"/>
              </a:lnSpc>
              <a:defRPr/>
            </a:pPr>
            <a:endParaRPr lang="en-US" altLang="zh-CN" dirty="0"/>
          </a:p>
          <a:p>
            <a:pPr>
              <a:lnSpc>
                <a:spcPct val="120000"/>
              </a:lnSpc>
              <a:defRPr/>
            </a:pPr>
            <a:endParaRPr lang="en-US" altLang="zh-CN" dirty="0"/>
          </a:p>
          <a:p>
            <a:pPr>
              <a:lnSpc>
                <a:spcPct val="120000"/>
              </a:lnSpc>
              <a:defRPr/>
            </a:pPr>
            <a:endParaRPr lang="en-US" altLang="zh-CN" dirty="0"/>
          </a:p>
          <a:p>
            <a:pPr>
              <a:lnSpc>
                <a:spcPct val="120000"/>
              </a:lnSpc>
              <a:defRPr/>
            </a:pPr>
            <a:endParaRPr lang="en-US" altLang="zh-CN" dirty="0"/>
          </a:p>
          <a:p>
            <a:pPr>
              <a:lnSpc>
                <a:spcPct val="120000"/>
              </a:lnSpc>
              <a:defRPr/>
            </a:pPr>
            <a:endParaRPr lang="en-US" altLang="zh-CN" dirty="0"/>
          </a:p>
          <a:p>
            <a:pPr>
              <a:lnSpc>
                <a:spcPct val="120000"/>
              </a:lnSpc>
              <a:defRPr/>
            </a:pPr>
            <a:endParaRPr lang="en-US" altLang="zh-CN" dirty="0"/>
          </a:p>
          <a:p>
            <a:pPr marL="0" indent="0">
              <a:lnSpc>
                <a:spcPct val="120000"/>
              </a:lnSpc>
              <a:buFont typeface="Wingdings" panose="05000000000000000000" pitchFamily="2" charset="2"/>
              <a:buNone/>
              <a:defRPr/>
            </a:pPr>
            <a:endParaRPr lang="en-US" altLang="zh-CN" dirty="0"/>
          </a:p>
          <a:p>
            <a:pPr>
              <a:lnSpc>
                <a:spcPct val="120000"/>
              </a:lnSpc>
              <a:defRPr/>
            </a:pPr>
            <a:r>
              <a:rPr lang="en-US" altLang="zh-CN" dirty="0"/>
              <a:t>Note that this mechanism is applicable on a per-binding basis. The SOAP HTTP Binding provides for setting Action, but other bindings may not provide such a facility</a:t>
            </a:r>
          </a:p>
        </p:txBody>
      </p:sp>
      <p:sp>
        <p:nvSpPr>
          <p:cNvPr id="48132" name="灯片编号占位符 3">
            <a:extLst>
              <a:ext uri="{FF2B5EF4-FFF2-40B4-BE49-F238E27FC236}">
                <a16:creationId xmlns:a16="http://schemas.microsoft.com/office/drawing/2014/main" id="{7CA03693-0DD0-4FF7-BCF2-A9F146FDF8F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48</a:t>
            </a:fld>
            <a:endParaRPr lang="en-US" altLang="zh-CN" sz="1000">
              <a:solidFill>
                <a:srgbClr val="000000"/>
              </a:solidFill>
            </a:endParaRPr>
          </a:p>
        </p:txBody>
      </p:sp>
      <p:sp>
        <p:nvSpPr>
          <p:cNvPr id="5" name="Text Box 4">
            <a:extLst>
              <a:ext uri="{FF2B5EF4-FFF2-40B4-BE49-F238E27FC236}">
                <a16:creationId xmlns:a16="http://schemas.microsoft.com/office/drawing/2014/main" id="{AA9A56A7-457C-4333-BF26-0D3E1E002445}"/>
              </a:ext>
            </a:extLst>
          </p:cNvPr>
          <p:cNvSpPr txBox="1">
            <a:spLocks noChangeArrowheads="1"/>
          </p:cNvSpPr>
          <p:nvPr/>
        </p:nvSpPr>
        <p:spPr bwMode="auto">
          <a:xfrm>
            <a:off x="719572" y="2420888"/>
            <a:ext cx="7704856" cy="236372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binding</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reservationSOAPBinding</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interface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tns:reservationInterface</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http://www.w3.org/ns/wsdl/soap</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wsoap:protocol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http://www.w3.org/2003/05/soap/bindings/HTTP/</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FF0000"/>
                </a:solidFill>
                <a:highlight>
                  <a:srgbClr val="FFFFFF"/>
                </a:highlight>
                <a:latin typeface="Arial"/>
              </a:rPr>
              <a:t> ref</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tns:makeReservation</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wsoap:action</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tns:makeReservationV2</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a:extLst>
              <a:ext uri="{FF2B5EF4-FFF2-40B4-BE49-F238E27FC236}">
                <a16:creationId xmlns:a16="http://schemas.microsoft.com/office/drawing/2014/main" id="{D2062D57-3756-4D01-A0D4-C7FA2271EAAB}"/>
              </a:ext>
            </a:extLst>
          </p:cNvPr>
          <p:cNvSpPr>
            <a:spLocks noGrp="1"/>
          </p:cNvSpPr>
          <p:nvPr>
            <p:ph type="title"/>
          </p:nvPr>
        </p:nvSpPr>
        <p:spPr/>
        <p:txBody>
          <a:bodyPr>
            <a:noAutofit/>
          </a:bodyPr>
          <a:lstStyle/>
          <a:p>
            <a:pPr>
              <a:defRPr/>
            </a:pPr>
            <a:r>
              <a:rPr lang="en-US" altLang="zh-CN" sz="2800" dirty="0"/>
              <a:t>Indicating Incompatibility by Changing the Element Content</a:t>
            </a:r>
            <a:endParaRPr lang="zh-CN" altLang="en-US" sz="2800" dirty="0"/>
          </a:p>
        </p:txBody>
      </p:sp>
      <p:sp>
        <p:nvSpPr>
          <p:cNvPr id="3" name="内容占位符 2">
            <a:extLst>
              <a:ext uri="{FF2B5EF4-FFF2-40B4-BE49-F238E27FC236}">
                <a16:creationId xmlns:a16="http://schemas.microsoft.com/office/drawing/2014/main" id="{B5DEB891-BA8A-4BF5-BCE4-C7EE4F1B88B4}"/>
              </a:ext>
            </a:extLst>
          </p:cNvPr>
          <p:cNvSpPr>
            <a:spLocks noGrp="1"/>
          </p:cNvSpPr>
          <p:nvPr>
            <p:ph idx="1"/>
          </p:nvPr>
        </p:nvSpPr>
        <p:spPr/>
        <p:txBody>
          <a:bodyPr>
            <a:normAutofit/>
          </a:bodyPr>
          <a:lstStyle/>
          <a:p>
            <a:pPr>
              <a:defRPr/>
            </a:pPr>
            <a:r>
              <a:rPr lang="en-US" altLang="zh-CN" sz="2000" dirty="0"/>
              <a:t>The namespace or name of the </a:t>
            </a:r>
            <a:r>
              <a:rPr lang="en-US" altLang="zh-CN" sz="2000" dirty="0" err="1">
                <a:solidFill>
                  <a:srgbClr val="FF0000"/>
                </a:solidFill>
              </a:rPr>
              <a:t>makeReservation</a:t>
            </a:r>
            <a:r>
              <a:rPr lang="en-US" altLang="zh-CN" sz="2000" dirty="0"/>
              <a:t> element can be changed, and then the interface and bindings changed</a:t>
            </a:r>
          </a:p>
          <a:p>
            <a:pPr>
              <a:defRPr/>
            </a:pPr>
            <a:r>
              <a:rPr lang="en-US" altLang="zh-CN" sz="2000" dirty="0"/>
              <a:t>The new interface, with a changed </a:t>
            </a:r>
            <a:r>
              <a:rPr lang="en-US" altLang="zh-CN" sz="2000" dirty="0" err="1">
                <a:solidFill>
                  <a:srgbClr val="FF0000"/>
                </a:solidFill>
              </a:rPr>
              <a:t>makeReservation</a:t>
            </a:r>
            <a:r>
              <a:rPr lang="en-US" altLang="zh-CN" sz="2000" dirty="0"/>
              <a:t>, is:</a:t>
            </a:r>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marL="0" indent="0">
              <a:buFont typeface="Wingdings" panose="05000000000000000000" pitchFamily="2" charset="2"/>
              <a:buNone/>
              <a:defRPr/>
            </a:pPr>
            <a:endParaRPr lang="en-US" altLang="zh-CN" sz="2000" dirty="0"/>
          </a:p>
          <a:p>
            <a:pPr>
              <a:defRPr/>
            </a:pPr>
            <a:r>
              <a:rPr lang="en-US" altLang="zh-CN" sz="2000" dirty="0"/>
              <a:t>The binding and service endpoints require no change</a:t>
            </a:r>
          </a:p>
          <a:p>
            <a:pPr>
              <a:defRPr/>
            </a:pPr>
            <a:r>
              <a:rPr lang="en-US" altLang="zh-CN" sz="2000" dirty="0"/>
              <a:t>To indicate incompatibility, the service could also provide an interface for </a:t>
            </a:r>
            <a:r>
              <a:rPr lang="en-US" altLang="zh-CN" sz="2000" dirty="0" err="1">
                <a:solidFill>
                  <a:srgbClr val="FF0000"/>
                </a:solidFill>
              </a:rPr>
              <a:t>ghns:makeReservation</a:t>
            </a:r>
            <a:r>
              <a:rPr lang="en-US" altLang="zh-CN" sz="2000" dirty="0"/>
              <a:t> that only returns a fault. So that requests using the old </a:t>
            </a:r>
            <a:r>
              <a:rPr lang="en-US" altLang="zh-CN" sz="2000" dirty="0" err="1">
                <a:solidFill>
                  <a:srgbClr val="FF0000"/>
                </a:solidFill>
              </a:rPr>
              <a:t>makeReservation</a:t>
            </a:r>
            <a:r>
              <a:rPr lang="en-US" altLang="zh-CN" sz="2000" dirty="0"/>
              <a:t> </a:t>
            </a:r>
            <a:r>
              <a:rPr lang="en-US" altLang="zh-CN" sz="2000" dirty="0" err="1">
                <a:solidFill>
                  <a:srgbClr val="FF0000"/>
                </a:solidFill>
              </a:rPr>
              <a:t>QName</a:t>
            </a:r>
            <a:r>
              <a:rPr lang="en-US" altLang="zh-CN" sz="2000" dirty="0">
                <a:solidFill>
                  <a:srgbClr val="FF0000"/>
                </a:solidFill>
              </a:rPr>
              <a:t> </a:t>
            </a:r>
            <a:r>
              <a:rPr lang="en-US" altLang="zh-CN" sz="2000" dirty="0"/>
              <a:t>should return a fault</a:t>
            </a:r>
          </a:p>
        </p:txBody>
      </p:sp>
      <p:sp>
        <p:nvSpPr>
          <p:cNvPr id="50180" name="灯片编号占位符 3">
            <a:extLst>
              <a:ext uri="{FF2B5EF4-FFF2-40B4-BE49-F238E27FC236}">
                <a16:creationId xmlns:a16="http://schemas.microsoft.com/office/drawing/2014/main" id="{B4F912C6-37A7-46FA-B34E-6A68A67332A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49</a:t>
            </a:fld>
            <a:endParaRPr lang="en-US" altLang="zh-CN" sz="1000">
              <a:solidFill>
                <a:srgbClr val="000000"/>
              </a:solidFill>
            </a:endParaRPr>
          </a:p>
        </p:txBody>
      </p:sp>
      <p:sp>
        <p:nvSpPr>
          <p:cNvPr id="5" name="Text Box 4">
            <a:extLst>
              <a:ext uri="{FF2B5EF4-FFF2-40B4-BE49-F238E27FC236}">
                <a16:creationId xmlns:a16="http://schemas.microsoft.com/office/drawing/2014/main" id="{83D075F6-54F1-4834-9F05-CD4CF4B4EB25}"/>
              </a:ext>
            </a:extLst>
          </p:cNvPr>
          <p:cNvSpPr txBox="1">
            <a:spLocks noChangeArrowheads="1"/>
          </p:cNvSpPr>
          <p:nvPr/>
        </p:nvSpPr>
        <p:spPr bwMode="auto">
          <a:xfrm>
            <a:off x="457200" y="2708920"/>
            <a:ext cx="8229600" cy="181588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xs:element</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ghns2:makeReservation</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type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ghns:tmakeReservation</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interface</a:t>
            </a:r>
            <a:r>
              <a:rPr lang="en-US" altLang="zh-CN" sz="1600" dirty="0">
                <a:solidFill>
                  <a:srgbClr val="FF0000"/>
                </a:solidFill>
                <a:highlight>
                  <a:srgbClr val="FFFFFF"/>
                </a:highlight>
                <a:latin typeface="Arial"/>
              </a:rPr>
              <a:t> . . .</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operation</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makeReservation</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input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messageLabel</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In</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element</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ghns2:makeReservation</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interface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F08334B2-9AC6-4622-8358-0F99E87A8AA3}"/>
              </a:ext>
            </a:extLst>
          </p:cNvPr>
          <p:cNvSpPr>
            <a:spLocks noGrp="1"/>
          </p:cNvSpPr>
          <p:nvPr>
            <p:ph type="title"/>
          </p:nvPr>
        </p:nvSpPr>
        <p:spPr/>
        <p:txBody>
          <a:bodyPr/>
          <a:lstStyle/>
          <a:p>
            <a:r>
              <a:rPr lang="en-US" altLang="zh-CN" sz="2800" dirty="0"/>
              <a:t>Relationship between Services</a:t>
            </a:r>
            <a:endParaRPr lang="zh-CN" altLang="en-US" sz="2800" dirty="0"/>
          </a:p>
        </p:txBody>
      </p:sp>
      <p:sp>
        <p:nvSpPr>
          <p:cNvPr id="3" name="内容占位符 2">
            <a:extLst>
              <a:ext uri="{FF2B5EF4-FFF2-40B4-BE49-F238E27FC236}">
                <a16:creationId xmlns:a16="http://schemas.microsoft.com/office/drawing/2014/main" id="{CA0E5316-B836-48EE-8A20-6A40B9511778}"/>
              </a:ext>
            </a:extLst>
          </p:cNvPr>
          <p:cNvSpPr>
            <a:spLocks noGrp="1"/>
          </p:cNvSpPr>
          <p:nvPr>
            <p:ph idx="1"/>
          </p:nvPr>
        </p:nvSpPr>
        <p:spPr/>
        <p:txBody>
          <a:bodyPr>
            <a:normAutofit fontScale="77500" lnSpcReduction="20000"/>
          </a:bodyPr>
          <a:lstStyle/>
          <a:p>
            <a:pPr>
              <a:lnSpc>
                <a:spcPct val="120000"/>
              </a:lnSpc>
              <a:defRPr/>
            </a:pPr>
            <a:r>
              <a:rPr lang="en-US" altLang="zh-CN" sz="2600" dirty="0"/>
              <a:t>Since a </a:t>
            </a:r>
            <a:r>
              <a:rPr lang="en-US" altLang="zh-CN" sz="2600" dirty="0" err="1">
                <a:hlinkClick r:id="rId3" action="ppaction://hlinkfile"/>
              </a:rPr>
              <a:t>wsdl:service</a:t>
            </a:r>
            <a:r>
              <a:rPr lang="en-US" altLang="zh-CN" sz="2600" dirty="0"/>
              <a:t> specifies only one </a:t>
            </a:r>
            <a:r>
              <a:rPr lang="en-US" altLang="zh-CN" sz="2600" dirty="0" err="1">
                <a:hlinkClick r:id="rId4" action="ppaction://hlinkfile"/>
              </a:rPr>
              <a:t>wsdl:interface</a:t>
            </a:r>
            <a:r>
              <a:rPr lang="en-US" altLang="zh-CN" sz="2600" dirty="0"/>
              <a:t>, in order to indicate a relationship between services, potential strategies include:</a:t>
            </a:r>
          </a:p>
          <a:p>
            <a:pPr lvl="1">
              <a:lnSpc>
                <a:spcPct val="120000"/>
              </a:lnSpc>
              <a:defRPr/>
            </a:pPr>
            <a:r>
              <a:rPr lang="en-US" altLang="zh-CN" sz="2300" dirty="0"/>
              <a:t>Declare both interfaces in the same </a:t>
            </a:r>
            <a:r>
              <a:rPr lang="en-US" altLang="zh-CN" sz="2300" dirty="0" err="1">
                <a:hlinkClick r:id="rId3" action="ppaction://hlinkfile"/>
              </a:rPr>
              <a:t>wsdl:description</a:t>
            </a:r>
            <a:r>
              <a:rPr lang="en-US" altLang="zh-CN" sz="2300" dirty="0"/>
              <a:t> element</a:t>
            </a:r>
          </a:p>
          <a:p>
            <a:pPr lvl="1">
              <a:lnSpc>
                <a:spcPct val="120000"/>
              </a:lnSpc>
              <a:defRPr/>
            </a:pPr>
            <a:r>
              <a:rPr lang="en-US" altLang="zh-CN" sz="2300" dirty="0"/>
              <a:t>Declare both interfaces in the same </a:t>
            </a:r>
            <a:r>
              <a:rPr lang="en-US" altLang="zh-CN" sz="2300" dirty="0" err="1">
                <a:hlinkClick r:id="rId3" action="ppaction://hlinkfile"/>
              </a:rPr>
              <a:t>wsdl:targetNamespace</a:t>
            </a:r>
            <a:endParaRPr lang="en-US" altLang="zh-CN" sz="2300" dirty="0"/>
          </a:p>
          <a:p>
            <a:pPr lvl="1">
              <a:lnSpc>
                <a:spcPct val="120000"/>
              </a:lnSpc>
              <a:defRPr/>
            </a:pPr>
            <a:r>
              <a:rPr lang="en-US" altLang="zh-CN" sz="2300" dirty="0"/>
              <a:t>Add an extension to WSDL 2.0 that links together all services that are related in this way</a:t>
            </a:r>
          </a:p>
          <a:p>
            <a:pPr lvl="1">
              <a:lnSpc>
                <a:spcPct val="120000"/>
              </a:lnSpc>
              <a:defRPr/>
            </a:pPr>
            <a:r>
              <a:rPr lang="en-US" altLang="zh-CN" sz="2300" dirty="0"/>
              <a:t>Declare them in completely separate WSDL 2.0 documents, but use the same endpoint address for both</a:t>
            </a:r>
          </a:p>
          <a:p>
            <a:pPr lvl="2">
              <a:lnSpc>
                <a:spcPct val="120000"/>
              </a:lnSpc>
              <a:defRPr/>
            </a:pPr>
            <a:r>
              <a:rPr lang="en-US" altLang="zh-CN" sz="1800" dirty="0"/>
              <a:t>Although this approach may work in some circumstances, it means that the same endpoint address would be used for two different purposes, which is apt to cause confusion or ambiguity</a:t>
            </a:r>
          </a:p>
          <a:p>
            <a:pPr lvl="2">
              <a:lnSpc>
                <a:spcPct val="120000"/>
              </a:lnSpc>
              <a:defRPr/>
            </a:pPr>
            <a:r>
              <a:rPr lang="en-US" altLang="zh-CN" sz="1800" dirty="0"/>
              <a:t>Furthermore, it is contrary to the Web architectural principle that different URIs should be used to identify different Web resources</a:t>
            </a:r>
          </a:p>
          <a:p>
            <a:pPr lvl="1">
              <a:lnSpc>
                <a:spcPct val="120000"/>
              </a:lnSpc>
              <a:defRPr/>
            </a:pPr>
            <a:r>
              <a:rPr lang="en-US" altLang="zh-CN" sz="2300" dirty="0"/>
              <a:t>Use inheritance to combine the first interface and the second interface into a single, larger </a:t>
            </a:r>
            <a:r>
              <a:rPr lang="en-US" altLang="zh-CN" sz="2300" dirty="0" err="1">
                <a:hlinkClick r:id="rId3" action="ppaction://hlinkfile"/>
              </a:rPr>
              <a:t>wsdl:interface</a:t>
            </a:r>
            <a:endParaRPr lang="en-US" altLang="zh-CN" sz="2300" dirty="0"/>
          </a:p>
          <a:p>
            <a:pPr lvl="2">
              <a:lnSpc>
                <a:spcPct val="120000"/>
              </a:lnSpc>
              <a:defRPr/>
            </a:pPr>
            <a:r>
              <a:rPr lang="en-US" altLang="zh-CN" sz="1800" dirty="0"/>
              <a:t>Of course, this reduces modularity and means that both interfaces becomes exposed to the customers, which is not good</a:t>
            </a:r>
          </a:p>
          <a:p>
            <a:pPr marL="914400" lvl="2" indent="0">
              <a:lnSpc>
                <a:spcPct val="120000"/>
              </a:lnSpc>
              <a:buFont typeface="Wingdings" panose="05000000000000000000" pitchFamily="2" charset="2"/>
              <a:buNone/>
              <a:defRPr/>
            </a:pPr>
            <a:endParaRPr lang="en-US" altLang="zh-CN" sz="1600" dirty="0"/>
          </a:p>
        </p:txBody>
      </p:sp>
      <p:sp>
        <p:nvSpPr>
          <p:cNvPr id="52228" name="灯片编号占位符 3">
            <a:extLst>
              <a:ext uri="{FF2B5EF4-FFF2-40B4-BE49-F238E27FC236}">
                <a16:creationId xmlns:a16="http://schemas.microsoft.com/office/drawing/2014/main" id="{57EE052F-2A36-42C8-B901-D340E08EA06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29D8E8E3-EA84-4D2C-8D17-E9DDEE8B867B}" type="slidenum">
              <a:rPr lang="en-US" altLang="zh-CN" smtClean="0"/>
              <a:pPr/>
              <a:t>50</a:t>
            </a:fld>
            <a:endParaRPr lang="en-US" altLang="zh-CN" sz="1000">
              <a:solidFill>
                <a:srgbClr val="000000"/>
              </a:solidFill>
            </a:endParaRPr>
          </a:p>
        </p:txBody>
      </p:sp>
    </p:spTree>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17283</TotalTime>
  <Words>8007</Words>
  <Application>Microsoft Office PowerPoint</Application>
  <PresentationFormat>全屏显示(4:3)</PresentationFormat>
  <Paragraphs>840</Paragraphs>
  <Slides>50</Slides>
  <Notes>50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50</vt:i4>
      </vt:variant>
    </vt:vector>
  </HeadingPairs>
  <TitlesOfParts>
    <vt:vector size="55" baseType="lpstr">
      <vt:lpstr>Arial</vt:lpstr>
      <vt:lpstr>Courier New</vt:lpstr>
      <vt:lpstr>Verdana</vt:lpstr>
      <vt:lpstr>Wingdings</vt:lpstr>
      <vt:lpstr>software</vt:lpstr>
      <vt:lpstr>WSDL Extension Service-Oriented Software Engineering</vt:lpstr>
      <vt:lpstr>Extensibility</vt:lpstr>
      <vt:lpstr>Optional Versus Required Extensions</vt:lpstr>
      <vt:lpstr>Weather Service with standard MEP (1/2)</vt:lpstr>
      <vt:lpstr>Weather Service with standard MEP (2/2)</vt:lpstr>
      <vt:lpstr>Defining New MEPs (1/2)</vt:lpstr>
      <vt:lpstr>Defining New MEPs (2/2)</vt:lpstr>
      <vt:lpstr>RPC Style (1/4)</vt:lpstr>
      <vt:lpstr>RPC Style (2/4)</vt:lpstr>
      <vt:lpstr>RPC Style (3/4)</vt:lpstr>
      <vt:lpstr>RPC Style (4/4)</vt:lpstr>
      <vt:lpstr>Message Dispatch (1/3)</vt:lpstr>
      <vt:lpstr>Message Dispatch (2/3)</vt:lpstr>
      <vt:lpstr>Message Dispatch (3/3)</vt:lpstr>
      <vt:lpstr>Dynamic Web Service</vt:lpstr>
      <vt:lpstr>The Reservation Details Web Service (1/4)</vt:lpstr>
      <vt:lpstr>The Reservation Details Web Service (2/4)</vt:lpstr>
      <vt:lpstr>The Reservation Details Web Service (3/4)</vt:lpstr>
      <vt:lpstr>The Reservation Details Web Service (4/4)</vt:lpstr>
      <vt:lpstr>Schema that Defines wdetails:reservationDetails (1/3)</vt:lpstr>
      <vt:lpstr>Schema that Defines wdetails:reservationDetails (2/3)</vt:lpstr>
      <vt:lpstr>Schema that Defines wdetails:reservationDetails (3/3)</vt:lpstr>
      <vt:lpstr>The Reservation Endpoint List (1/2)</vt:lpstr>
      <vt:lpstr>The Reservation Endpoint List (2/2)</vt:lpstr>
      <vt:lpstr>The Reservation List Web Service (1/3)</vt:lpstr>
      <vt:lpstr>The Reservation List Web Service (2/3)</vt:lpstr>
      <vt:lpstr>The Reservation List Web Service (3/3)</vt:lpstr>
      <vt:lpstr>Schema that Defines list:reservationList (1/2)</vt:lpstr>
      <vt:lpstr>Schema that Defines list:reservationList (2/2)</vt:lpstr>
      <vt:lpstr>The Reservation Details Service</vt:lpstr>
      <vt:lpstr>Reservation Details Web Service Using HTTP Transfer</vt:lpstr>
      <vt:lpstr>Reservation List Web Service Using HTTP GET</vt:lpstr>
      <vt:lpstr>Schema that Defines details:ReservationQuery</vt:lpstr>
      <vt:lpstr>Reservation List Web Service (with combined operation)</vt:lpstr>
      <vt:lpstr>Web Service Versioning</vt:lpstr>
      <vt:lpstr>Compatible Evolution</vt:lpstr>
      <vt:lpstr>Compatible Evolution happens when:</vt:lpstr>
      <vt:lpstr>Big Bang</vt:lpstr>
      <vt:lpstr>Evolving a Service</vt:lpstr>
      <vt:lpstr>Combined Approaches</vt:lpstr>
      <vt:lpstr>Additional Optional Elements Added in Content</vt:lpstr>
      <vt:lpstr>Additional Optional Elements Added to a Header</vt:lpstr>
      <vt:lpstr>Additional Mandatory Elements in Content</vt:lpstr>
      <vt:lpstr>Additional Operation Added to Interface</vt:lpstr>
      <vt:lpstr>Bad sample for Additional Mandatory Operation Added to Interface (1/2)</vt:lpstr>
      <vt:lpstr>Bad sample for Additional Mandatory Operation Added to Interface (2/2)</vt:lpstr>
      <vt:lpstr>Indicating Incompatibility</vt:lpstr>
      <vt:lpstr>Indicating Incompatibility by Changing the SOAP Action</vt:lpstr>
      <vt:lpstr>Indicating Incompatibility by Changing the Element Content</vt:lpstr>
      <vt:lpstr>Relationship between Services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252</cp:revision>
  <dcterms:created xsi:type="dcterms:W3CDTF">2008-04-16T11:36:22Z</dcterms:created>
  <dcterms:modified xsi:type="dcterms:W3CDTF">2023-10-19T05:10:00Z</dcterms:modified>
</cp:coreProperties>
</file>