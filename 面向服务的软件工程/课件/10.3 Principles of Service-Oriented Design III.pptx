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72" r:id="rId1"/>
  </p:sldMasterIdLst>
  <p:notesMasterIdLst>
    <p:notesMasterId r:id="rId69"/>
  </p:notesMasterIdLst>
  <p:sldIdLst>
    <p:sldId id="256" r:id="rId2"/>
    <p:sldId id="393" r:id="rId3"/>
    <p:sldId id="395" r:id="rId4"/>
    <p:sldId id="394" r:id="rId5"/>
    <p:sldId id="397" r:id="rId6"/>
    <p:sldId id="399" r:id="rId7"/>
    <p:sldId id="401" r:id="rId8"/>
    <p:sldId id="402" r:id="rId9"/>
    <p:sldId id="400" r:id="rId10"/>
    <p:sldId id="403" r:id="rId11"/>
    <p:sldId id="404" r:id="rId12"/>
    <p:sldId id="406" r:id="rId13"/>
    <p:sldId id="408" r:id="rId14"/>
    <p:sldId id="407" r:id="rId15"/>
    <p:sldId id="409" r:id="rId16"/>
    <p:sldId id="410" r:id="rId17"/>
    <p:sldId id="460" r:id="rId18"/>
    <p:sldId id="351" r:id="rId19"/>
    <p:sldId id="413" r:id="rId20"/>
    <p:sldId id="414" r:id="rId21"/>
    <p:sldId id="415" r:id="rId22"/>
    <p:sldId id="425" r:id="rId23"/>
    <p:sldId id="275" r:id="rId24"/>
    <p:sldId id="416" r:id="rId25"/>
    <p:sldId id="418" r:id="rId26"/>
    <p:sldId id="420" r:id="rId27"/>
    <p:sldId id="281" r:id="rId28"/>
    <p:sldId id="422" r:id="rId29"/>
    <p:sldId id="423" r:id="rId30"/>
    <p:sldId id="424" r:id="rId31"/>
    <p:sldId id="285" r:id="rId32"/>
    <p:sldId id="292" r:id="rId33"/>
    <p:sldId id="363" r:id="rId34"/>
    <p:sldId id="362" r:id="rId35"/>
    <p:sldId id="426" r:id="rId36"/>
    <p:sldId id="427" r:id="rId37"/>
    <p:sldId id="428" r:id="rId38"/>
    <p:sldId id="429" r:id="rId39"/>
    <p:sldId id="461" r:id="rId40"/>
    <p:sldId id="430" r:id="rId41"/>
    <p:sldId id="431" r:id="rId42"/>
    <p:sldId id="432" r:id="rId43"/>
    <p:sldId id="434" r:id="rId44"/>
    <p:sldId id="436" r:id="rId45"/>
    <p:sldId id="438" r:id="rId46"/>
    <p:sldId id="440" r:id="rId47"/>
    <p:sldId id="443" r:id="rId48"/>
    <p:sldId id="462" r:id="rId49"/>
    <p:sldId id="312" r:id="rId50"/>
    <p:sldId id="444" r:id="rId51"/>
    <p:sldId id="445" r:id="rId52"/>
    <p:sldId id="446" r:id="rId53"/>
    <p:sldId id="447" r:id="rId54"/>
    <p:sldId id="453" r:id="rId55"/>
    <p:sldId id="318" r:id="rId56"/>
    <p:sldId id="448" r:id="rId57"/>
    <p:sldId id="325" r:id="rId58"/>
    <p:sldId id="330" r:id="rId59"/>
    <p:sldId id="390" r:id="rId60"/>
    <p:sldId id="391" r:id="rId61"/>
    <p:sldId id="454" r:id="rId62"/>
    <p:sldId id="455" r:id="rId63"/>
    <p:sldId id="456" r:id="rId64"/>
    <p:sldId id="457" r:id="rId65"/>
    <p:sldId id="458" r:id="rId66"/>
    <p:sldId id="459" r:id="rId67"/>
    <p:sldId id="463" r:id="rId68"/>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7378" autoAdjust="0"/>
    <p:restoredTop sz="95773" autoAdjust="0"/>
  </p:normalViewPr>
  <p:slideViewPr>
    <p:cSldViewPr>
      <p:cViewPr varScale="1">
        <p:scale>
          <a:sx n="121" d="100"/>
          <a:sy n="121" d="100"/>
        </p:scale>
        <p:origin x="93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87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24CD3386-9776-42DA-B2D1-ABD5A870D64E}" type="slidenum">
              <a:rPr lang="en-US" altLang="zh-CN"/>
              <a:pPr>
                <a:defRPr/>
              </a:pPr>
              <a:t>‹#›</a:t>
            </a:fld>
            <a:endParaRPr lang="en-US" altLang="zh-CN" dirty="0"/>
          </a:p>
        </p:txBody>
      </p:sp>
    </p:spTree>
    <p:extLst>
      <p:ext uri="{BB962C8B-B14F-4D97-AF65-F5344CB8AC3E}">
        <p14:creationId xmlns:p14="http://schemas.microsoft.com/office/powerpoint/2010/main" val="16023301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a:ln/>
        </p:spPr>
      </p:sp>
      <p:sp>
        <p:nvSpPr>
          <p:cNvPr id="880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80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821A43B-727C-40F7-B4C3-7BC2ED5290E4}" type="slidenum">
              <a:rPr lang="en-US" altLang="zh-CN" smtClean="0"/>
              <a:pPr eaLnBrk="1" hangingPunct="1"/>
              <a:t>1</a:t>
            </a:fld>
            <a:endParaRPr lang="en-US" altLang="zh-CN" smtClean="0"/>
          </a:p>
        </p:txBody>
      </p:sp>
    </p:spTree>
    <p:extLst>
      <p:ext uri="{BB962C8B-B14F-4D97-AF65-F5344CB8AC3E}">
        <p14:creationId xmlns:p14="http://schemas.microsoft.com/office/powerpoint/2010/main" val="2801366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a:ln/>
        </p:spPr>
      </p:sp>
      <p:sp>
        <p:nvSpPr>
          <p:cNvPr id="890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90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845078D-9981-4C16-90B4-F5F95FF85329}" type="slidenum">
              <a:rPr lang="en-US" altLang="zh-CN" smtClean="0"/>
              <a:pPr eaLnBrk="1" hangingPunct="1"/>
              <a:t>2</a:t>
            </a:fld>
            <a:endParaRPr lang="en-US" altLang="zh-CN" smtClean="0"/>
          </a:p>
        </p:txBody>
      </p:sp>
    </p:spTree>
    <p:extLst>
      <p:ext uri="{BB962C8B-B14F-4D97-AF65-F5344CB8AC3E}">
        <p14:creationId xmlns:p14="http://schemas.microsoft.com/office/powerpoint/2010/main" val="1181471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a:ln/>
        </p:spPr>
      </p:sp>
      <p:sp>
        <p:nvSpPr>
          <p:cNvPr id="901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01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4B8DE2D-8FEE-45EA-9846-EDC88E9F213E}" type="slidenum">
              <a:rPr lang="en-US" altLang="zh-CN" smtClean="0"/>
              <a:pPr eaLnBrk="1" hangingPunct="1"/>
              <a:t>3</a:t>
            </a:fld>
            <a:endParaRPr lang="en-US" altLang="zh-CN" smtClean="0"/>
          </a:p>
        </p:txBody>
      </p:sp>
    </p:spTree>
    <p:extLst>
      <p:ext uri="{BB962C8B-B14F-4D97-AF65-F5344CB8AC3E}">
        <p14:creationId xmlns:p14="http://schemas.microsoft.com/office/powerpoint/2010/main" val="2461271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31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B082BEA-CBF3-4942-B580-B09E075F95A4}" type="slidenum">
              <a:rPr lang="en-US" altLang="zh-CN" smtClean="0"/>
              <a:pPr eaLnBrk="1" hangingPunct="1"/>
              <a:t>4</a:t>
            </a:fld>
            <a:endParaRPr lang="en-US" altLang="zh-CN" smtClean="0"/>
          </a:p>
        </p:txBody>
      </p:sp>
    </p:spTree>
    <p:extLst>
      <p:ext uri="{BB962C8B-B14F-4D97-AF65-F5344CB8AC3E}">
        <p14:creationId xmlns:p14="http://schemas.microsoft.com/office/powerpoint/2010/main" val="1843264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a:ln/>
        </p:spPr>
      </p:sp>
      <p:sp>
        <p:nvSpPr>
          <p:cNvPr id="942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42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5F234B2-B2EF-4B75-A563-1B55DE3C327E}" type="slidenum">
              <a:rPr lang="en-US" altLang="zh-CN" smtClean="0"/>
              <a:pPr eaLnBrk="1" hangingPunct="1"/>
              <a:t>5</a:t>
            </a:fld>
            <a:endParaRPr lang="en-US" altLang="zh-CN" smtClean="0"/>
          </a:p>
        </p:txBody>
      </p:sp>
    </p:spTree>
    <p:extLst>
      <p:ext uri="{BB962C8B-B14F-4D97-AF65-F5344CB8AC3E}">
        <p14:creationId xmlns:p14="http://schemas.microsoft.com/office/powerpoint/2010/main" val="2910271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ln/>
        </p:spPr>
      </p:sp>
      <p:sp>
        <p:nvSpPr>
          <p:cNvPr id="952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52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797EFAB-1CAC-45C9-97AB-2B2B178C12FA}" type="slidenum">
              <a:rPr lang="en-US" altLang="zh-CN" smtClean="0"/>
              <a:pPr eaLnBrk="1" hangingPunct="1"/>
              <a:t>6</a:t>
            </a:fld>
            <a:endParaRPr lang="en-US" altLang="zh-CN" smtClean="0"/>
          </a:p>
        </p:txBody>
      </p:sp>
    </p:spTree>
    <p:extLst>
      <p:ext uri="{BB962C8B-B14F-4D97-AF65-F5344CB8AC3E}">
        <p14:creationId xmlns:p14="http://schemas.microsoft.com/office/powerpoint/2010/main" val="42088959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72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3925C8C-ACAD-4B47-A056-C88D62C34C82}" type="slidenum">
              <a:rPr lang="en-US" altLang="zh-CN" smtClean="0"/>
              <a:pPr eaLnBrk="1" hangingPunct="1"/>
              <a:t>7</a:t>
            </a:fld>
            <a:endParaRPr lang="en-US" altLang="zh-CN" smtClean="0"/>
          </a:p>
        </p:txBody>
      </p:sp>
    </p:spTree>
    <p:extLst>
      <p:ext uri="{BB962C8B-B14F-4D97-AF65-F5344CB8AC3E}">
        <p14:creationId xmlns:p14="http://schemas.microsoft.com/office/powerpoint/2010/main" val="44963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a:ln/>
        </p:spPr>
      </p:sp>
      <p:sp>
        <p:nvSpPr>
          <p:cNvPr id="983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83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B961D53-DBE1-4DEE-92DD-421F3B9E3700}" type="slidenum">
              <a:rPr lang="en-US" altLang="zh-CN" smtClean="0"/>
              <a:pPr eaLnBrk="1" hangingPunct="1"/>
              <a:t>8</a:t>
            </a:fld>
            <a:endParaRPr lang="en-US" altLang="zh-CN" smtClean="0"/>
          </a:p>
        </p:txBody>
      </p:sp>
    </p:spTree>
    <p:extLst>
      <p:ext uri="{BB962C8B-B14F-4D97-AF65-F5344CB8AC3E}">
        <p14:creationId xmlns:p14="http://schemas.microsoft.com/office/powerpoint/2010/main" val="4281778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a:ln/>
        </p:spPr>
      </p:sp>
      <p:sp>
        <p:nvSpPr>
          <p:cNvPr id="993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93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3B481E4-44D6-4838-BB66-1309FFF140B3}" type="slidenum">
              <a:rPr lang="en-US" altLang="zh-CN" smtClean="0"/>
              <a:pPr eaLnBrk="1" hangingPunct="1"/>
              <a:t>9</a:t>
            </a:fld>
            <a:endParaRPr lang="en-US" altLang="zh-CN" smtClean="0"/>
          </a:p>
        </p:txBody>
      </p:sp>
    </p:spTree>
    <p:extLst>
      <p:ext uri="{BB962C8B-B14F-4D97-AF65-F5344CB8AC3E}">
        <p14:creationId xmlns:p14="http://schemas.microsoft.com/office/powerpoint/2010/main" val="10743385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a:ln/>
        </p:spPr>
      </p:sp>
      <p:sp>
        <p:nvSpPr>
          <p:cNvPr id="1003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03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FD7BBF1-3D8F-4C7B-B640-FA5D5FE1E83D}" type="slidenum">
              <a:rPr lang="en-US" altLang="zh-CN" smtClean="0"/>
              <a:pPr eaLnBrk="1" hangingPunct="1"/>
              <a:t>10</a:t>
            </a:fld>
            <a:endParaRPr lang="en-US" altLang="zh-CN" smtClean="0"/>
          </a:p>
        </p:txBody>
      </p:sp>
    </p:spTree>
    <p:extLst>
      <p:ext uri="{BB962C8B-B14F-4D97-AF65-F5344CB8AC3E}">
        <p14:creationId xmlns:p14="http://schemas.microsoft.com/office/powerpoint/2010/main" val="11231152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a:ln/>
        </p:spPr>
      </p:sp>
      <p:sp>
        <p:nvSpPr>
          <p:cNvPr id="1013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13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A8B15D2-9012-4C7C-AF74-431E5A8C09F6}" type="slidenum">
              <a:rPr lang="en-US" altLang="zh-CN" smtClean="0"/>
              <a:pPr eaLnBrk="1" hangingPunct="1"/>
              <a:t>11</a:t>
            </a:fld>
            <a:endParaRPr lang="en-US" altLang="zh-CN" smtClean="0"/>
          </a:p>
        </p:txBody>
      </p:sp>
    </p:spTree>
    <p:extLst>
      <p:ext uri="{BB962C8B-B14F-4D97-AF65-F5344CB8AC3E}">
        <p14:creationId xmlns:p14="http://schemas.microsoft.com/office/powerpoint/2010/main" val="40479326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a:ln/>
        </p:spPr>
      </p:sp>
      <p:sp>
        <p:nvSpPr>
          <p:cNvPr id="1024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24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838C5B3-9469-45F7-A496-D5A48E353733}" type="slidenum">
              <a:rPr lang="en-US" altLang="zh-CN" smtClean="0"/>
              <a:pPr eaLnBrk="1" hangingPunct="1"/>
              <a:t>12</a:t>
            </a:fld>
            <a:endParaRPr lang="en-US" altLang="zh-CN" smtClean="0"/>
          </a:p>
        </p:txBody>
      </p:sp>
    </p:spTree>
    <p:extLst>
      <p:ext uri="{BB962C8B-B14F-4D97-AF65-F5344CB8AC3E}">
        <p14:creationId xmlns:p14="http://schemas.microsoft.com/office/powerpoint/2010/main" val="6835810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a:ln/>
        </p:spPr>
      </p:sp>
      <p:sp>
        <p:nvSpPr>
          <p:cNvPr id="1034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34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A769DAD-A4AB-4613-98AE-DAF09C0BF962}" type="slidenum">
              <a:rPr lang="en-US" altLang="zh-CN" smtClean="0"/>
              <a:pPr eaLnBrk="1" hangingPunct="1"/>
              <a:t>13</a:t>
            </a:fld>
            <a:endParaRPr lang="en-US" altLang="zh-CN" smtClean="0"/>
          </a:p>
        </p:txBody>
      </p:sp>
    </p:spTree>
    <p:extLst>
      <p:ext uri="{BB962C8B-B14F-4D97-AF65-F5344CB8AC3E}">
        <p14:creationId xmlns:p14="http://schemas.microsoft.com/office/powerpoint/2010/main" val="3611823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a:ln/>
        </p:spPr>
      </p:sp>
      <p:sp>
        <p:nvSpPr>
          <p:cNvPr id="1044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44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4AD6AE2-348F-4F0F-8C00-F5EBBA329825}" type="slidenum">
              <a:rPr lang="en-US" altLang="zh-CN" smtClean="0"/>
              <a:pPr eaLnBrk="1" hangingPunct="1"/>
              <a:t>14</a:t>
            </a:fld>
            <a:endParaRPr lang="en-US" altLang="zh-CN" smtClean="0"/>
          </a:p>
        </p:txBody>
      </p:sp>
    </p:spTree>
    <p:extLst>
      <p:ext uri="{BB962C8B-B14F-4D97-AF65-F5344CB8AC3E}">
        <p14:creationId xmlns:p14="http://schemas.microsoft.com/office/powerpoint/2010/main" val="10711094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a:ln/>
        </p:spPr>
      </p:sp>
      <p:sp>
        <p:nvSpPr>
          <p:cNvPr id="1054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54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A86456E-B49D-49B4-B485-417C63F03ACE}" type="slidenum">
              <a:rPr lang="en-US" altLang="zh-CN" smtClean="0"/>
              <a:pPr eaLnBrk="1" hangingPunct="1"/>
              <a:t>15</a:t>
            </a:fld>
            <a:endParaRPr lang="en-US" altLang="zh-CN" smtClean="0"/>
          </a:p>
        </p:txBody>
      </p:sp>
    </p:spTree>
    <p:extLst>
      <p:ext uri="{BB962C8B-B14F-4D97-AF65-F5344CB8AC3E}">
        <p14:creationId xmlns:p14="http://schemas.microsoft.com/office/powerpoint/2010/main" val="6280040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a:ln/>
        </p:spPr>
      </p:sp>
      <p:sp>
        <p:nvSpPr>
          <p:cNvPr id="1064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65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556E955-93C3-4D54-A0DC-E63A5493B1A2}" type="slidenum">
              <a:rPr lang="en-US" altLang="zh-CN" smtClean="0"/>
              <a:pPr eaLnBrk="1" hangingPunct="1"/>
              <a:t>16</a:t>
            </a:fld>
            <a:endParaRPr lang="en-US" altLang="zh-CN" smtClean="0"/>
          </a:p>
        </p:txBody>
      </p:sp>
    </p:spTree>
    <p:extLst>
      <p:ext uri="{BB962C8B-B14F-4D97-AF65-F5344CB8AC3E}">
        <p14:creationId xmlns:p14="http://schemas.microsoft.com/office/powerpoint/2010/main" val="23714065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a:ln/>
        </p:spPr>
      </p:sp>
      <p:sp>
        <p:nvSpPr>
          <p:cNvPr id="1095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95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FDA3C91-7DCD-474A-B8AE-27985B965739}" type="slidenum">
              <a:rPr lang="en-US" altLang="zh-CN" smtClean="0"/>
              <a:pPr eaLnBrk="1" hangingPunct="1"/>
              <a:t>18</a:t>
            </a:fld>
            <a:endParaRPr lang="en-US" altLang="zh-CN" smtClean="0"/>
          </a:p>
        </p:txBody>
      </p:sp>
    </p:spTree>
    <p:extLst>
      <p:ext uri="{BB962C8B-B14F-4D97-AF65-F5344CB8AC3E}">
        <p14:creationId xmlns:p14="http://schemas.microsoft.com/office/powerpoint/2010/main" val="38214514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a:ln/>
        </p:spPr>
      </p:sp>
      <p:sp>
        <p:nvSpPr>
          <p:cNvPr id="1105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05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E30DC5C-88F3-4339-A60D-747D42DEAA28}" type="slidenum">
              <a:rPr lang="en-US" altLang="zh-CN" smtClean="0"/>
              <a:pPr eaLnBrk="1" hangingPunct="1"/>
              <a:t>19</a:t>
            </a:fld>
            <a:endParaRPr lang="en-US" altLang="zh-CN" smtClean="0"/>
          </a:p>
        </p:txBody>
      </p:sp>
    </p:spTree>
    <p:extLst>
      <p:ext uri="{BB962C8B-B14F-4D97-AF65-F5344CB8AC3E}">
        <p14:creationId xmlns:p14="http://schemas.microsoft.com/office/powerpoint/2010/main" val="16897876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16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6ABB710-EBB3-400E-984D-884C594B9ACD}" type="slidenum">
              <a:rPr lang="en-US" altLang="zh-CN" smtClean="0"/>
              <a:pPr eaLnBrk="1" hangingPunct="1"/>
              <a:t>20</a:t>
            </a:fld>
            <a:endParaRPr lang="en-US" altLang="zh-CN" smtClean="0"/>
          </a:p>
        </p:txBody>
      </p:sp>
    </p:spTree>
    <p:extLst>
      <p:ext uri="{BB962C8B-B14F-4D97-AF65-F5344CB8AC3E}">
        <p14:creationId xmlns:p14="http://schemas.microsoft.com/office/powerpoint/2010/main" val="25879194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a:ln/>
        </p:spPr>
      </p:sp>
      <p:sp>
        <p:nvSpPr>
          <p:cNvPr id="1126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26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C6BBBD4-030E-4C1B-BE79-777B9D5421FD}" type="slidenum">
              <a:rPr lang="en-US" altLang="zh-CN" smtClean="0"/>
              <a:pPr eaLnBrk="1" hangingPunct="1"/>
              <a:t>21</a:t>
            </a:fld>
            <a:endParaRPr lang="en-US" altLang="zh-CN" smtClean="0"/>
          </a:p>
        </p:txBody>
      </p:sp>
    </p:spTree>
    <p:extLst>
      <p:ext uri="{BB962C8B-B14F-4D97-AF65-F5344CB8AC3E}">
        <p14:creationId xmlns:p14="http://schemas.microsoft.com/office/powerpoint/2010/main" val="34421718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a:ln/>
        </p:spPr>
      </p:sp>
      <p:sp>
        <p:nvSpPr>
          <p:cNvPr id="1136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36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AD4E1FC-B969-4398-9D98-F1A97CF23E63}" type="slidenum">
              <a:rPr lang="en-US" altLang="zh-CN" smtClean="0"/>
              <a:pPr eaLnBrk="1" hangingPunct="1"/>
              <a:t>22</a:t>
            </a:fld>
            <a:endParaRPr lang="en-US" altLang="zh-CN" smtClean="0"/>
          </a:p>
        </p:txBody>
      </p:sp>
    </p:spTree>
    <p:extLst>
      <p:ext uri="{BB962C8B-B14F-4D97-AF65-F5344CB8AC3E}">
        <p14:creationId xmlns:p14="http://schemas.microsoft.com/office/powerpoint/2010/main" val="23096727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a:ln/>
        </p:spPr>
      </p:sp>
      <p:sp>
        <p:nvSpPr>
          <p:cNvPr id="1146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46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0564905-D59C-43D1-9573-092E4F023CD7}" type="slidenum">
              <a:rPr lang="en-US" altLang="zh-CN" smtClean="0"/>
              <a:pPr eaLnBrk="1" hangingPunct="1"/>
              <a:t>23</a:t>
            </a:fld>
            <a:endParaRPr lang="en-US" altLang="zh-CN" smtClean="0"/>
          </a:p>
        </p:txBody>
      </p:sp>
    </p:spTree>
    <p:extLst>
      <p:ext uri="{BB962C8B-B14F-4D97-AF65-F5344CB8AC3E}">
        <p14:creationId xmlns:p14="http://schemas.microsoft.com/office/powerpoint/2010/main" val="23637907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a:ln/>
        </p:spPr>
      </p:sp>
      <p:sp>
        <p:nvSpPr>
          <p:cNvPr id="1157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57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5A90921-7C26-4E96-B3ED-DF7D4A117AC9}" type="slidenum">
              <a:rPr lang="en-US" altLang="zh-CN" smtClean="0"/>
              <a:pPr eaLnBrk="1" hangingPunct="1"/>
              <a:t>24</a:t>
            </a:fld>
            <a:endParaRPr lang="en-US" altLang="zh-CN" smtClean="0"/>
          </a:p>
        </p:txBody>
      </p:sp>
    </p:spTree>
    <p:extLst>
      <p:ext uri="{BB962C8B-B14F-4D97-AF65-F5344CB8AC3E}">
        <p14:creationId xmlns:p14="http://schemas.microsoft.com/office/powerpoint/2010/main" val="17819255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a:ln/>
        </p:spPr>
      </p:sp>
      <p:sp>
        <p:nvSpPr>
          <p:cNvPr id="1177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77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5CEB621-4806-427E-8234-C16235AAF2C5}" type="slidenum">
              <a:rPr lang="en-US" altLang="zh-CN" smtClean="0"/>
              <a:pPr eaLnBrk="1" hangingPunct="1"/>
              <a:t>25</a:t>
            </a:fld>
            <a:endParaRPr lang="en-US" altLang="zh-CN" smtClean="0"/>
          </a:p>
        </p:txBody>
      </p:sp>
    </p:spTree>
    <p:extLst>
      <p:ext uri="{BB962C8B-B14F-4D97-AF65-F5344CB8AC3E}">
        <p14:creationId xmlns:p14="http://schemas.microsoft.com/office/powerpoint/2010/main" val="36430747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a:ln/>
        </p:spPr>
      </p:sp>
      <p:sp>
        <p:nvSpPr>
          <p:cNvPr id="1198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98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D04F216-8345-45D3-8154-571D291EB854}" type="slidenum">
              <a:rPr lang="en-US" altLang="zh-CN" smtClean="0"/>
              <a:pPr eaLnBrk="1" hangingPunct="1"/>
              <a:t>26</a:t>
            </a:fld>
            <a:endParaRPr lang="en-US" altLang="zh-CN" smtClean="0"/>
          </a:p>
        </p:txBody>
      </p:sp>
    </p:spTree>
    <p:extLst>
      <p:ext uri="{BB962C8B-B14F-4D97-AF65-F5344CB8AC3E}">
        <p14:creationId xmlns:p14="http://schemas.microsoft.com/office/powerpoint/2010/main" val="16087682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a:ln/>
        </p:spPr>
      </p:sp>
      <p:sp>
        <p:nvSpPr>
          <p:cNvPr id="1218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18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9DE1B2E-417F-41B8-839F-88D01ED81779}" type="slidenum">
              <a:rPr lang="en-US" altLang="zh-CN" smtClean="0"/>
              <a:pPr eaLnBrk="1" hangingPunct="1"/>
              <a:t>27</a:t>
            </a:fld>
            <a:endParaRPr lang="en-US" altLang="zh-CN" smtClean="0"/>
          </a:p>
        </p:txBody>
      </p:sp>
    </p:spTree>
    <p:extLst>
      <p:ext uri="{BB962C8B-B14F-4D97-AF65-F5344CB8AC3E}">
        <p14:creationId xmlns:p14="http://schemas.microsoft.com/office/powerpoint/2010/main" val="42122438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a:ln/>
        </p:spPr>
      </p:sp>
      <p:sp>
        <p:nvSpPr>
          <p:cNvPr id="1228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28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1BEBE4F-1B67-4659-89C7-52F055548E34}" type="slidenum">
              <a:rPr lang="en-US" altLang="zh-CN" smtClean="0"/>
              <a:pPr eaLnBrk="1" hangingPunct="1"/>
              <a:t>28</a:t>
            </a:fld>
            <a:endParaRPr lang="en-US" altLang="zh-CN" smtClean="0"/>
          </a:p>
        </p:txBody>
      </p:sp>
    </p:spTree>
    <p:extLst>
      <p:ext uri="{BB962C8B-B14F-4D97-AF65-F5344CB8AC3E}">
        <p14:creationId xmlns:p14="http://schemas.microsoft.com/office/powerpoint/2010/main" val="3675246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a:ln/>
        </p:spPr>
      </p:sp>
      <p:sp>
        <p:nvSpPr>
          <p:cNvPr id="1239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39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525DCEF-304C-4571-92E8-F91EE610113A}" type="slidenum">
              <a:rPr lang="en-US" altLang="zh-CN" smtClean="0"/>
              <a:pPr eaLnBrk="1" hangingPunct="1"/>
              <a:t>29</a:t>
            </a:fld>
            <a:endParaRPr lang="en-US" altLang="zh-CN" smtClean="0"/>
          </a:p>
        </p:txBody>
      </p:sp>
    </p:spTree>
    <p:extLst>
      <p:ext uri="{BB962C8B-B14F-4D97-AF65-F5344CB8AC3E}">
        <p14:creationId xmlns:p14="http://schemas.microsoft.com/office/powerpoint/2010/main" val="15950346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a:ln/>
        </p:spPr>
      </p:sp>
      <p:sp>
        <p:nvSpPr>
          <p:cNvPr id="124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4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97C2289-D1AE-4B9D-AAB5-E524924C73D9}" type="slidenum">
              <a:rPr lang="en-US" altLang="zh-CN" smtClean="0"/>
              <a:pPr eaLnBrk="1" hangingPunct="1"/>
              <a:t>30</a:t>
            </a:fld>
            <a:endParaRPr lang="en-US" altLang="zh-CN" smtClean="0"/>
          </a:p>
        </p:txBody>
      </p:sp>
    </p:spTree>
    <p:extLst>
      <p:ext uri="{BB962C8B-B14F-4D97-AF65-F5344CB8AC3E}">
        <p14:creationId xmlns:p14="http://schemas.microsoft.com/office/powerpoint/2010/main" val="21048186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a:ln/>
        </p:spPr>
      </p:sp>
      <p:sp>
        <p:nvSpPr>
          <p:cNvPr id="1259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59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BEBD15D-4CF0-4C65-8797-135C82D7814D}" type="slidenum">
              <a:rPr lang="en-US" altLang="zh-CN" smtClean="0"/>
              <a:pPr eaLnBrk="1" hangingPunct="1"/>
              <a:t>31</a:t>
            </a:fld>
            <a:endParaRPr lang="en-US" altLang="zh-CN" smtClean="0"/>
          </a:p>
        </p:txBody>
      </p:sp>
    </p:spTree>
    <p:extLst>
      <p:ext uri="{BB962C8B-B14F-4D97-AF65-F5344CB8AC3E}">
        <p14:creationId xmlns:p14="http://schemas.microsoft.com/office/powerpoint/2010/main" val="18255551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a:ln/>
        </p:spPr>
      </p:sp>
      <p:sp>
        <p:nvSpPr>
          <p:cNvPr id="1269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69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05EEE6E-3475-4B26-9FA3-8CA8CF37517F}" type="slidenum">
              <a:rPr lang="en-US" altLang="zh-CN" smtClean="0"/>
              <a:pPr eaLnBrk="1" hangingPunct="1"/>
              <a:t>32</a:t>
            </a:fld>
            <a:endParaRPr lang="en-US" altLang="zh-CN" smtClean="0"/>
          </a:p>
        </p:txBody>
      </p:sp>
    </p:spTree>
    <p:extLst>
      <p:ext uri="{BB962C8B-B14F-4D97-AF65-F5344CB8AC3E}">
        <p14:creationId xmlns:p14="http://schemas.microsoft.com/office/powerpoint/2010/main" val="5687184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a:ln/>
        </p:spPr>
      </p:sp>
      <p:sp>
        <p:nvSpPr>
          <p:cNvPr id="1280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80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564ED22-2E04-4E35-AE4A-0B5AB95295A8}" type="slidenum">
              <a:rPr lang="en-US" altLang="zh-CN" smtClean="0"/>
              <a:pPr eaLnBrk="1" hangingPunct="1"/>
              <a:t>33</a:t>
            </a:fld>
            <a:endParaRPr lang="en-US" altLang="zh-CN" smtClean="0"/>
          </a:p>
        </p:txBody>
      </p:sp>
    </p:spTree>
    <p:extLst>
      <p:ext uri="{BB962C8B-B14F-4D97-AF65-F5344CB8AC3E}">
        <p14:creationId xmlns:p14="http://schemas.microsoft.com/office/powerpoint/2010/main" val="12081323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a:ln/>
        </p:spPr>
      </p:sp>
      <p:sp>
        <p:nvSpPr>
          <p:cNvPr id="1290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90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AABA929-920B-44FE-80A2-D2083553E307}" type="slidenum">
              <a:rPr lang="en-US" altLang="zh-CN" smtClean="0"/>
              <a:pPr eaLnBrk="1" hangingPunct="1"/>
              <a:t>34</a:t>
            </a:fld>
            <a:endParaRPr lang="en-US" altLang="zh-CN" smtClean="0"/>
          </a:p>
        </p:txBody>
      </p:sp>
    </p:spTree>
    <p:extLst>
      <p:ext uri="{BB962C8B-B14F-4D97-AF65-F5344CB8AC3E}">
        <p14:creationId xmlns:p14="http://schemas.microsoft.com/office/powerpoint/2010/main" val="29091880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a:ln/>
        </p:spPr>
      </p:sp>
      <p:sp>
        <p:nvSpPr>
          <p:cNvPr id="1300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00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4403ADA-185D-4B29-A362-9B232DF42374}" type="slidenum">
              <a:rPr lang="en-US" altLang="zh-CN" smtClean="0"/>
              <a:pPr eaLnBrk="1" hangingPunct="1"/>
              <a:t>35</a:t>
            </a:fld>
            <a:endParaRPr lang="en-US" altLang="zh-CN" smtClean="0"/>
          </a:p>
        </p:txBody>
      </p:sp>
    </p:spTree>
    <p:extLst>
      <p:ext uri="{BB962C8B-B14F-4D97-AF65-F5344CB8AC3E}">
        <p14:creationId xmlns:p14="http://schemas.microsoft.com/office/powerpoint/2010/main" val="19529621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ln/>
        </p:spPr>
      </p:sp>
      <p:sp>
        <p:nvSpPr>
          <p:cNvPr id="1310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10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82D104B-E1EE-4FD9-9999-AE1E0AE2427A}" type="slidenum">
              <a:rPr lang="en-US" altLang="zh-CN" smtClean="0"/>
              <a:pPr eaLnBrk="1" hangingPunct="1"/>
              <a:t>36</a:t>
            </a:fld>
            <a:endParaRPr lang="en-US" altLang="zh-CN" smtClean="0"/>
          </a:p>
        </p:txBody>
      </p:sp>
    </p:spTree>
    <p:extLst>
      <p:ext uri="{BB962C8B-B14F-4D97-AF65-F5344CB8AC3E}">
        <p14:creationId xmlns:p14="http://schemas.microsoft.com/office/powerpoint/2010/main" val="5122080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a:ln/>
        </p:spPr>
      </p:sp>
      <p:sp>
        <p:nvSpPr>
          <p:cNvPr id="1320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21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E4FDCF1-4FD7-4DBE-A9E8-6BE13E30F1BB}" type="slidenum">
              <a:rPr lang="en-US" altLang="zh-CN" smtClean="0"/>
              <a:pPr eaLnBrk="1" hangingPunct="1"/>
              <a:t>37</a:t>
            </a:fld>
            <a:endParaRPr lang="en-US" altLang="zh-CN" smtClean="0"/>
          </a:p>
        </p:txBody>
      </p:sp>
    </p:spTree>
    <p:extLst>
      <p:ext uri="{BB962C8B-B14F-4D97-AF65-F5344CB8AC3E}">
        <p14:creationId xmlns:p14="http://schemas.microsoft.com/office/powerpoint/2010/main" val="33979057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a:ln/>
        </p:spPr>
      </p:sp>
      <p:sp>
        <p:nvSpPr>
          <p:cNvPr id="1331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31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B9F4515-ACB9-4411-9941-BFD80DF3AB38}" type="slidenum">
              <a:rPr lang="en-US" altLang="zh-CN" smtClean="0"/>
              <a:pPr eaLnBrk="1" hangingPunct="1"/>
              <a:t>38</a:t>
            </a:fld>
            <a:endParaRPr lang="en-US" altLang="zh-CN" smtClean="0"/>
          </a:p>
        </p:txBody>
      </p:sp>
    </p:spTree>
    <p:extLst>
      <p:ext uri="{BB962C8B-B14F-4D97-AF65-F5344CB8AC3E}">
        <p14:creationId xmlns:p14="http://schemas.microsoft.com/office/powerpoint/2010/main" val="3007508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a:ln/>
        </p:spPr>
      </p:sp>
      <p:sp>
        <p:nvSpPr>
          <p:cNvPr id="1331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31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B9F4515-ACB9-4411-9941-BFD80DF3AB38}" type="slidenum">
              <a:rPr lang="en-US" altLang="zh-CN" smtClean="0"/>
              <a:pPr eaLnBrk="1" hangingPunct="1"/>
              <a:t>39</a:t>
            </a:fld>
            <a:endParaRPr lang="en-US" altLang="zh-CN" smtClean="0"/>
          </a:p>
        </p:txBody>
      </p:sp>
    </p:spTree>
    <p:extLst>
      <p:ext uri="{BB962C8B-B14F-4D97-AF65-F5344CB8AC3E}">
        <p14:creationId xmlns:p14="http://schemas.microsoft.com/office/powerpoint/2010/main" val="39487147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a:ln/>
        </p:spPr>
      </p:sp>
      <p:sp>
        <p:nvSpPr>
          <p:cNvPr id="1341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41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0360C4D-CAEE-4E12-9B69-392D4004F1AA}" type="slidenum">
              <a:rPr lang="en-US" altLang="zh-CN" smtClean="0"/>
              <a:pPr eaLnBrk="1" hangingPunct="1"/>
              <a:t>40</a:t>
            </a:fld>
            <a:endParaRPr lang="en-US" altLang="zh-CN" smtClean="0"/>
          </a:p>
        </p:txBody>
      </p:sp>
    </p:spTree>
    <p:extLst>
      <p:ext uri="{BB962C8B-B14F-4D97-AF65-F5344CB8AC3E}">
        <p14:creationId xmlns:p14="http://schemas.microsoft.com/office/powerpoint/2010/main" val="14638712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a:ln/>
        </p:spPr>
      </p:sp>
      <p:sp>
        <p:nvSpPr>
          <p:cNvPr id="137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smtClean="0">
              <a:ea typeface="宋体" charset="-122"/>
            </a:endParaRPr>
          </a:p>
        </p:txBody>
      </p:sp>
      <p:sp>
        <p:nvSpPr>
          <p:cNvPr id="137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59E9A4D-8AAD-41A9-ADB3-B0476EC3A6E9}" type="slidenum">
              <a:rPr lang="en-US" altLang="zh-CN" smtClean="0"/>
              <a:pPr eaLnBrk="1" hangingPunct="1"/>
              <a:t>41</a:t>
            </a:fld>
            <a:endParaRPr lang="en-US" altLang="zh-CN" smtClean="0"/>
          </a:p>
        </p:txBody>
      </p:sp>
    </p:spTree>
    <p:extLst>
      <p:ext uri="{BB962C8B-B14F-4D97-AF65-F5344CB8AC3E}">
        <p14:creationId xmlns:p14="http://schemas.microsoft.com/office/powerpoint/2010/main" val="37639714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a:ln/>
        </p:spPr>
      </p:sp>
      <p:sp>
        <p:nvSpPr>
          <p:cNvPr id="1392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92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19537DF-C59E-427D-A254-6A6F512A3A8A}" type="slidenum">
              <a:rPr lang="en-US" altLang="zh-CN" smtClean="0"/>
              <a:pPr eaLnBrk="1" hangingPunct="1"/>
              <a:t>42</a:t>
            </a:fld>
            <a:endParaRPr lang="en-US" altLang="zh-CN" smtClean="0"/>
          </a:p>
        </p:txBody>
      </p:sp>
    </p:spTree>
    <p:extLst>
      <p:ext uri="{BB962C8B-B14F-4D97-AF65-F5344CB8AC3E}">
        <p14:creationId xmlns:p14="http://schemas.microsoft.com/office/powerpoint/2010/main" val="37916085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TextEdit="1"/>
          </p:cNvSpPr>
          <p:nvPr>
            <p:ph type="sldImg"/>
          </p:nvPr>
        </p:nvSpPr>
        <p:spPr>
          <a:ln/>
        </p:spPr>
      </p:sp>
      <p:sp>
        <p:nvSpPr>
          <p:cNvPr id="1402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402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44C1F66-07A2-45BC-8323-4C03DFD757FC}" type="slidenum">
              <a:rPr lang="en-US" altLang="zh-CN" smtClean="0"/>
              <a:pPr eaLnBrk="1" hangingPunct="1"/>
              <a:t>43</a:t>
            </a:fld>
            <a:endParaRPr lang="en-US" altLang="zh-CN" smtClean="0"/>
          </a:p>
        </p:txBody>
      </p:sp>
    </p:spTree>
    <p:extLst>
      <p:ext uri="{BB962C8B-B14F-4D97-AF65-F5344CB8AC3E}">
        <p14:creationId xmlns:p14="http://schemas.microsoft.com/office/powerpoint/2010/main" val="6493384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a:ln/>
        </p:spPr>
      </p:sp>
      <p:sp>
        <p:nvSpPr>
          <p:cNvPr id="1423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423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292B8FB-7B6E-4F2C-99AF-29D9950E49E6}" type="slidenum">
              <a:rPr lang="en-US" altLang="zh-CN" smtClean="0"/>
              <a:pPr eaLnBrk="1" hangingPunct="1"/>
              <a:t>44</a:t>
            </a:fld>
            <a:endParaRPr lang="en-US" altLang="zh-CN" smtClean="0"/>
          </a:p>
        </p:txBody>
      </p:sp>
    </p:spTree>
    <p:extLst>
      <p:ext uri="{BB962C8B-B14F-4D97-AF65-F5344CB8AC3E}">
        <p14:creationId xmlns:p14="http://schemas.microsoft.com/office/powerpoint/2010/main" val="35317331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TextEdit="1"/>
          </p:cNvSpPr>
          <p:nvPr>
            <p:ph type="sldImg"/>
          </p:nvPr>
        </p:nvSpPr>
        <p:spPr>
          <a:ln/>
        </p:spPr>
      </p:sp>
      <p:sp>
        <p:nvSpPr>
          <p:cNvPr id="1443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443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7B291A4-70E8-483A-878F-EACAB75E4460}" type="slidenum">
              <a:rPr lang="en-US" altLang="zh-CN" smtClean="0"/>
              <a:pPr eaLnBrk="1" hangingPunct="1"/>
              <a:t>45</a:t>
            </a:fld>
            <a:endParaRPr lang="en-US" altLang="zh-CN" smtClean="0"/>
          </a:p>
        </p:txBody>
      </p:sp>
    </p:spTree>
    <p:extLst>
      <p:ext uri="{BB962C8B-B14F-4D97-AF65-F5344CB8AC3E}">
        <p14:creationId xmlns:p14="http://schemas.microsoft.com/office/powerpoint/2010/main" val="38491097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p:cNvSpPr>
            <a:spLocks noGrp="1" noRot="1" noChangeAspect="1" noTextEdit="1"/>
          </p:cNvSpPr>
          <p:nvPr>
            <p:ph type="sldImg"/>
          </p:nvPr>
        </p:nvSpPr>
        <p:spPr>
          <a:ln/>
        </p:spPr>
      </p:sp>
      <p:sp>
        <p:nvSpPr>
          <p:cNvPr id="1464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464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95C9430-5AFD-451B-8B4A-553BC1BDF362}" type="slidenum">
              <a:rPr lang="en-US" altLang="zh-CN" smtClean="0"/>
              <a:pPr eaLnBrk="1" hangingPunct="1"/>
              <a:t>46</a:t>
            </a:fld>
            <a:endParaRPr lang="en-US" altLang="zh-CN" smtClean="0"/>
          </a:p>
        </p:txBody>
      </p:sp>
    </p:spTree>
    <p:extLst>
      <p:ext uri="{BB962C8B-B14F-4D97-AF65-F5344CB8AC3E}">
        <p14:creationId xmlns:p14="http://schemas.microsoft.com/office/powerpoint/2010/main" val="23501905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TextEdit="1"/>
          </p:cNvSpPr>
          <p:nvPr>
            <p:ph type="sldImg"/>
          </p:nvPr>
        </p:nvSpPr>
        <p:spPr>
          <a:ln/>
        </p:spPr>
      </p:sp>
      <p:sp>
        <p:nvSpPr>
          <p:cNvPr id="1484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484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59CDA2C-ACAD-470C-AA1F-2BC4192A2ACE}" type="slidenum">
              <a:rPr lang="en-US" altLang="zh-CN" smtClean="0"/>
              <a:pPr eaLnBrk="1" hangingPunct="1"/>
              <a:t>47</a:t>
            </a:fld>
            <a:endParaRPr lang="en-US" altLang="zh-CN" smtClean="0"/>
          </a:p>
        </p:txBody>
      </p:sp>
    </p:spTree>
    <p:extLst>
      <p:ext uri="{BB962C8B-B14F-4D97-AF65-F5344CB8AC3E}">
        <p14:creationId xmlns:p14="http://schemas.microsoft.com/office/powerpoint/2010/main" val="36547641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TextEdit="1"/>
          </p:cNvSpPr>
          <p:nvPr>
            <p:ph type="sldImg"/>
          </p:nvPr>
        </p:nvSpPr>
        <p:spPr>
          <a:ln/>
        </p:spPr>
      </p:sp>
      <p:sp>
        <p:nvSpPr>
          <p:cNvPr id="1495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495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AA13EC8-CD8B-4DEE-9411-4C1530A31917}" type="slidenum">
              <a:rPr lang="en-US" altLang="zh-CN" smtClean="0"/>
              <a:pPr eaLnBrk="1" hangingPunct="1"/>
              <a:t>49</a:t>
            </a:fld>
            <a:endParaRPr lang="en-US" altLang="zh-CN" smtClean="0"/>
          </a:p>
        </p:txBody>
      </p:sp>
    </p:spTree>
    <p:extLst>
      <p:ext uri="{BB962C8B-B14F-4D97-AF65-F5344CB8AC3E}">
        <p14:creationId xmlns:p14="http://schemas.microsoft.com/office/powerpoint/2010/main" val="1185141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幻灯片图像占位符 1"/>
          <p:cNvSpPr>
            <a:spLocks noGrp="1" noRot="1" noChangeAspect="1" noTextEdit="1"/>
          </p:cNvSpPr>
          <p:nvPr>
            <p:ph type="sldImg"/>
          </p:nvPr>
        </p:nvSpPr>
        <p:spPr>
          <a:ln/>
        </p:spPr>
      </p:sp>
      <p:sp>
        <p:nvSpPr>
          <p:cNvPr id="1505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505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6BEA697-3E1A-4441-872D-B80DB29C305A}" type="slidenum">
              <a:rPr lang="en-US" altLang="zh-CN" smtClean="0"/>
              <a:pPr eaLnBrk="1" hangingPunct="1"/>
              <a:t>50</a:t>
            </a:fld>
            <a:endParaRPr lang="en-US" altLang="zh-CN" smtClean="0"/>
          </a:p>
        </p:txBody>
      </p:sp>
    </p:spTree>
    <p:extLst>
      <p:ext uri="{BB962C8B-B14F-4D97-AF65-F5344CB8AC3E}">
        <p14:creationId xmlns:p14="http://schemas.microsoft.com/office/powerpoint/2010/main" val="18636806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p:cNvSpPr>
            <a:spLocks noGrp="1" noRot="1" noChangeAspect="1" noTextEdit="1"/>
          </p:cNvSpPr>
          <p:nvPr>
            <p:ph type="sldImg"/>
          </p:nvPr>
        </p:nvSpPr>
        <p:spPr>
          <a:ln/>
        </p:spPr>
      </p:sp>
      <p:sp>
        <p:nvSpPr>
          <p:cNvPr id="1515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515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0946D8D-D4E5-4B9D-84A5-E58F82C1C36B}" type="slidenum">
              <a:rPr lang="en-US" altLang="zh-CN" smtClean="0"/>
              <a:pPr eaLnBrk="1" hangingPunct="1"/>
              <a:t>51</a:t>
            </a:fld>
            <a:endParaRPr lang="en-US" altLang="zh-CN" smtClean="0"/>
          </a:p>
        </p:txBody>
      </p:sp>
    </p:spTree>
    <p:extLst>
      <p:ext uri="{BB962C8B-B14F-4D97-AF65-F5344CB8AC3E}">
        <p14:creationId xmlns:p14="http://schemas.microsoft.com/office/powerpoint/2010/main" val="14395734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幻灯片图像占位符 1"/>
          <p:cNvSpPr>
            <a:spLocks noGrp="1" noRot="1" noChangeAspect="1" noTextEdit="1"/>
          </p:cNvSpPr>
          <p:nvPr>
            <p:ph type="sldImg"/>
          </p:nvPr>
        </p:nvSpPr>
        <p:spPr>
          <a:ln/>
        </p:spPr>
      </p:sp>
      <p:sp>
        <p:nvSpPr>
          <p:cNvPr id="1525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525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B6F8B81-AF2C-400E-B7AF-6C08D5C52847}" type="slidenum">
              <a:rPr lang="en-US" altLang="zh-CN" smtClean="0"/>
              <a:pPr eaLnBrk="1" hangingPunct="1"/>
              <a:t>52</a:t>
            </a:fld>
            <a:endParaRPr lang="en-US" altLang="zh-CN" smtClean="0"/>
          </a:p>
        </p:txBody>
      </p:sp>
    </p:spTree>
    <p:extLst>
      <p:ext uri="{BB962C8B-B14F-4D97-AF65-F5344CB8AC3E}">
        <p14:creationId xmlns:p14="http://schemas.microsoft.com/office/powerpoint/2010/main" val="15084848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p:cNvSpPr>
            <a:spLocks noGrp="1" noRot="1" noChangeAspect="1" noTextEdit="1"/>
          </p:cNvSpPr>
          <p:nvPr>
            <p:ph type="sldImg"/>
          </p:nvPr>
        </p:nvSpPr>
        <p:spPr>
          <a:ln/>
        </p:spPr>
      </p:sp>
      <p:sp>
        <p:nvSpPr>
          <p:cNvPr id="1536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536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8D33F97-CCC0-4337-ADC6-861A8B2D2152}" type="slidenum">
              <a:rPr lang="en-US" altLang="zh-CN" smtClean="0"/>
              <a:pPr eaLnBrk="1" hangingPunct="1"/>
              <a:t>53</a:t>
            </a:fld>
            <a:endParaRPr lang="en-US" altLang="zh-CN" smtClean="0"/>
          </a:p>
        </p:txBody>
      </p:sp>
    </p:spTree>
    <p:extLst>
      <p:ext uri="{BB962C8B-B14F-4D97-AF65-F5344CB8AC3E}">
        <p14:creationId xmlns:p14="http://schemas.microsoft.com/office/powerpoint/2010/main" val="37597343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幻灯片图像占位符 1"/>
          <p:cNvSpPr>
            <a:spLocks noGrp="1" noRot="1" noChangeAspect="1" noTextEdit="1"/>
          </p:cNvSpPr>
          <p:nvPr>
            <p:ph type="sldImg"/>
          </p:nvPr>
        </p:nvSpPr>
        <p:spPr>
          <a:ln/>
        </p:spPr>
      </p:sp>
      <p:sp>
        <p:nvSpPr>
          <p:cNvPr id="1546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546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DA681E3-FB0C-44D8-8F48-BAC8FD341998}" type="slidenum">
              <a:rPr lang="en-US" altLang="zh-CN" smtClean="0"/>
              <a:pPr eaLnBrk="1" hangingPunct="1"/>
              <a:t>54</a:t>
            </a:fld>
            <a:endParaRPr lang="en-US" altLang="zh-CN" smtClean="0"/>
          </a:p>
        </p:txBody>
      </p:sp>
    </p:spTree>
    <p:extLst>
      <p:ext uri="{BB962C8B-B14F-4D97-AF65-F5344CB8AC3E}">
        <p14:creationId xmlns:p14="http://schemas.microsoft.com/office/powerpoint/2010/main" val="280945857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幻灯片图像占位符 1"/>
          <p:cNvSpPr>
            <a:spLocks noGrp="1" noRot="1" noChangeAspect="1" noTextEdit="1"/>
          </p:cNvSpPr>
          <p:nvPr>
            <p:ph type="sldImg"/>
          </p:nvPr>
        </p:nvSpPr>
        <p:spPr>
          <a:ln/>
        </p:spPr>
      </p:sp>
      <p:sp>
        <p:nvSpPr>
          <p:cNvPr id="1556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556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D3A34B9-6192-4B52-9EA3-34ED95E77639}" type="slidenum">
              <a:rPr lang="en-US" altLang="zh-CN" smtClean="0"/>
              <a:pPr eaLnBrk="1" hangingPunct="1"/>
              <a:t>55</a:t>
            </a:fld>
            <a:endParaRPr lang="en-US" altLang="zh-CN" smtClean="0"/>
          </a:p>
        </p:txBody>
      </p:sp>
    </p:spTree>
    <p:extLst>
      <p:ext uri="{BB962C8B-B14F-4D97-AF65-F5344CB8AC3E}">
        <p14:creationId xmlns:p14="http://schemas.microsoft.com/office/powerpoint/2010/main" val="34949355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p:cNvSpPr>
            <a:spLocks noGrp="1" noRot="1" noChangeAspect="1" noTextEdit="1"/>
          </p:cNvSpPr>
          <p:nvPr>
            <p:ph type="sldImg"/>
          </p:nvPr>
        </p:nvSpPr>
        <p:spPr>
          <a:ln/>
        </p:spPr>
      </p:sp>
      <p:sp>
        <p:nvSpPr>
          <p:cNvPr id="1566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566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9CF35E4-5A1D-4EA7-BF12-6B278EC9DC2B}" type="slidenum">
              <a:rPr lang="en-US" altLang="zh-CN" smtClean="0"/>
              <a:pPr eaLnBrk="1" hangingPunct="1"/>
              <a:t>56</a:t>
            </a:fld>
            <a:endParaRPr lang="en-US" altLang="zh-CN" smtClean="0"/>
          </a:p>
        </p:txBody>
      </p:sp>
    </p:spTree>
    <p:extLst>
      <p:ext uri="{BB962C8B-B14F-4D97-AF65-F5344CB8AC3E}">
        <p14:creationId xmlns:p14="http://schemas.microsoft.com/office/powerpoint/2010/main" val="34348784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幻灯片图像占位符 1"/>
          <p:cNvSpPr>
            <a:spLocks noGrp="1" noRot="1" noChangeAspect="1" noTextEdit="1"/>
          </p:cNvSpPr>
          <p:nvPr>
            <p:ph type="sldImg"/>
          </p:nvPr>
        </p:nvSpPr>
        <p:spPr>
          <a:ln/>
        </p:spPr>
      </p:sp>
      <p:sp>
        <p:nvSpPr>
          <p:cNvPr id="1587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587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F6665D2-437B-4D5F-A7B8-A88782724FA4}" type="slidenum">
              <a:rPr lang="en-US" altLang="zh-CN" smtClean="0"/>
              <a:pPr eaLnBrk="1" hangingPunct="1"/>
              <a:t>57</a:t>
            </a:fld>
            <a:endParaRPr lang="en-US" altLang="zh-CN" smtClean="0"/>
          </a:p>
        </p:txBody>
      </p:sp>
    </p:spTree>
    <p:extLst>
      <p:ext uri="{BB962C8B-B14F-4D97-AF65-F5344CB8AC3E}">
        <p14:creationId xmlns:p14="http://schemas.microsoft.com/office/powerpoint/2010/main" val="387438620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p:cNvSpPr>
            <a:spLocks noGrp="1" noRot="1" noChangeAspect="1" noTextEdit="1"/>
          </p:cNvSpPr>
          <p:nvPr>
            <p:ph type="sldImg"/>
          </p:nvPr>
        </p:nvSpPr>
        <p:spPr>
          <a:ln/>
        </p:spPr>
      </p:sp>
      <p:sp>
        <p:nvSpPr>
          <p:cNvPr id="1628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628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9E5B83F-41C5-4F61-B386-44421BE3581C}" type="slidenum">
              <a:rPr lang="en-US" altLang="zh-CN" smtClean="0"/>
              <a:pPr eaLnBrk="1" hangingPunct="1"/>
              <a:t>58</a:t>
            </a:fld>
            <a:endParaRPr lang="en-US" altLang="zh-CN" smtClean="0"/>
          </a:p>
        </p:txBody>
      </p:sp>
    </p:spTree>
    <p:extLst>
      <p:ext uri="{BB962C8B-B14F-4D97-AF65-F5344CB8AC3E}">
        <p14:creationId xmlns:p14="http://schemas.microsoft.com/office/powerpoint/2010/main" val="175530426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幻灯片图像占位符 1"/>
          <p:cNvSpPr>
            <a:spLocks noGrp="1" noRot="1" noChangeAspect="1" noTextEdit="1"/>
          </p:cNvSpPr>
          <p:nvPr>
            <p:ph type="sldImg"/>
          </p:nvPr>
        </p:nvSpPr>
        <p:spPr>
          <a:ln/>
        </p:spPr>
      </p:sp>
      <p:sp>
        <p:nvSpPr>
          <p:cNvPr id="1638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638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D684ED6-6878-448B-9A1E-AFEAAA784EB3}" type="slidenum">
              <a:rPr lang="en-US" altLang="zh-CN" smtClean="0"/>
              <a:pPr eaLnBrk="1" hangingPunct="1"/>
              <a:t>59</a:t>
            </a:fld>
            <a:endParaRPr lang="en-US" altLang="zh-CN" smtClean="0"/>
          </a:p>
        </p:txBody>
      </p:sp>
    </p:spTree>
    <p:extLst>
      <p:ext uri="{BB962C8B-B14F-4D97-AF65-F5344CB8AC3E}">
        <p14:creationId xmlns:p14="http://schemas.microsoft.com/office/powerpoint/2010/main" val="421537833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p:cNvSpPr>
            <a:spLocks noGrp="1" noRot="1" noChangeAspect="1" noTextEdit="1"/>
          </p:cNvSpPr>
          <p:nvPr>
            <p:ph type="sldImg"/>
          </p:nvPr>
        </p:nvSpPr>
        <p:spPr>
          <a:ln/>
        </p:spPr>
      </p:sp>
      <p:sp>
        <p:nvSpPr>
          <p:cNvPr id="1648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648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CE4642C-C5A9-4958-82BC-1994A90163D6}" type="slidenum">
              <a:rPr lang="en-US" altLang="zh-CN" smtClean="0"/>
              <a:pPr eaLnBrk="1" hangingPunct="1"/>
              <a:t>60</a:t>
            </a:fld>
            <a:endParaRPr lang="en-US" altLang="zh-CN" smtClean="0"/>
          </a:p>
        </p:txBody>
      </p:sp>
    </p:spTree>
    <p:extLst>
      <p:ext uri="{BB962C8B-B14F-4D97-AF65-F5344CB8AC3E}">
        <p14:creationId xmlns:p14="http://schemas.microsoft.com/office/powerpoint/2010/main" val="250155813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幻灯片图像占位符 1"/>
          <p:cNvSpPr>
            <a:spLocks noGrp="1" noRot="1" noChangeAspect="1" noTextEdit="1"/>
          </p:cNvSpPr>
          <p:nvPr>
            <p:ph type="sldImg"/>
          </p:nvPr>
        </p:nvSpPr>
        <p:spPr>
          <a:ln/>
        </p:spPr>
      </p:sp>
      <p:sp>
        <p:nvSpPr>
          <p:cNvPr id="1658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658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A25A6AA-297B-4D2B-9038-80B2A0010690}" type="slidenum">
              <a:rPr lang="en-US" altLang="zh-CN" smtClean="0"/>
              <a:pPr eaLnBrk="1" hangingPunct="1"/>
              <a:t>61</a:t>
            </a:fld>
            <a:endParaRPr lang="en-US" altLang="zh-CN" smtClean="0"/>
          </a:p>
        </p:txBody>
      </p:sp>
    </p:spTree>
    <p:extLst>
      <p:ext uri="{BB962C8B-B14F-4D97-AF65-F5344CB8AC3E}">
        <p14:creationId xmlns:p14="http://schemas.microsoft.com/office/powerpoint/2010/main" val="35500337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幻灯片图像占位符 1"/>
          <p:cNvSpPr>
            <a:spLocks noGrp="1" noRot="1" noChangeAspect="1" noTextEdit="1"/>
          </p:cNvSpPr>
          <p:nvPr>
            <p:ph type="sldImg"/>
          </p:nvPr>
        </p:nvSpPr>
        <p:spPr>
          <a:ln/>
        </p:spPr>
      </p:sp>
      <p:sp>
        <p:nvSpPr>
          <p:cNvPr id="1669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669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7F982DB-4ADA-40B5-ADF8-3A4132B53CFE}" type="slidenum">
              <a:rPr lang="en-US" altLang="zh-CN" smtClean="0"/>
              <a:pPr eaLnBrk="1" hangingPunct="1"/>
              <a:t>62</a:t>
            </a:fld>
            <a:endParaRPr lang="en-US" altLang="zh-CN" smtClean="0"/>
          </a:p>
        </p:txBody>
      </p:sp>
    </p:spTree>
    <p:extLst>
      <p:ext uri="{BB962C8B-B14F-4D97-AF65-F5344CB8AC3E}">
        <p14:creationId xmlns:p14="http://schemas.microsoft.com/office/powerpoint/2010/main" val="133532352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幻灯片图像占位符 1"/>
          <p:cNvSpPr>
            <a:spLocks noGrp="1" noRot="1" noChangeAspect="1" noTextEdit="1"/>
          </p:cNvSpPr>
          <p:nvPr>
            <p:ph type="sldImg"/>
          </p:nvPr>
        </p:nvSpPr>
        <p:spPr>
          <a:ln/>
        </p:spPr>
      </p:sp>
      <p:sp>
        <p:nvSpPr>
          <p:cNvPr id="1679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679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013CA15-95C4-4959-9069-04E2E95C3E81}" type="slidenum">
              <a:rPr lang="en-US" altLang="zh-CN" smtClean="0"/>
              <a:pPr eaLnBrk="1" hangingPunct="1"/>
              <a:t>63</a:t>
            </a:fld>
            <a:endParaRPr lang="en-US" altLang="zh-CN" smtClean="0"/>
          </a:p>
        </p:txBody>
      </p:sp>
    </p:spTree>
    <p:extLst>
      <p:ext uri="{BB962C8B-B14F-4D97-AF65-F5344CB8AC3E}">
        <p14:creationId xmlns:p14="http://schemas.microsoft.com/office/powerpoint/2010/main" val="10329029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幻灯片图像占位符 1"/>
          <p:cNvSpPr>
            <a:spLocks noGrp="1" noRot="1" noChangeAspect="1" noTextEdit="1"/>
          </p:cNvSpPr>
          <p:nvPr>
            <p:ph type="sldImg"/>
          </p:nvPr>
        </p:nvSpPr>
        <p:spPr>
          <a:ln/>
        </p:spPr>
      </p:sp>
      <p:sp>
        <p:nvSpPr>
          <p:cNvPr id="1689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689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2D15B44-2510-4B3C-9A3F-114EDB567F89}" type="slidenum">
              <a:rPr lang="en-US" altLang="zh-CN" smtClean="0"/>
              <a:pPr eaLnBrk="1" hangingPunct="1"/>
              <a:t>64</a:t>
            </a:fld>
            <a:endParaRPr lang="en-US" altLang="zh-CN" smtClean="0"/>
          </a:p>
        </p:txBody>
      </p:sp>
    </p:spTree>
    <p:extLst>
      <p:ext uri="{BB962C8B-B14F-4D97-AF65-F5344CB8AC3E}">
        <p14:creationId xmlns:p14="http://schemas.microsoft.com/office/powerpoint/2010/main" val="280201142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幻灯片图像占位符 1"/>
          <p:cNvSpPr>
            <a:spLocks noGrp="1" noRot="1" noChangeAspect="1" noTextEdit="1"/>
          </p:cNvSpPr>
          <p:nvPr>
            <p:ph type="sldImg"/>
          </p:nvPr>
        </p:nvSpPr>
        <p:spPr>
          <a:ln/>
        </p:spPr>
      </p:sp>
      <p:sp>
        <p:nvSpPr>
          <p:cNvPr id="1699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699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6DF8EE8-75E6-48E6-B998-26827C198E62}" type="slidenum">
              <a:rPr lang="en-US" altLang="zh-CN" smtClean="0"/>
              <a:pPr eaLnBrk="1" hangingPunct="1"/>
              <a:t>65</a:t>
            </a:fld>
            <a:endParaRPr lang="en-US" altLang="zh-CN" smtClean="0"/>
          </a:p>
        </p:txBody>
      </p:sp>
    </p:spTree>
    <p:extLst>
      <p:ext uri="{BB962C8B-B14F-4D97-AF65-F5344CB8AC3E}">
        <p14:creationId xmlns:p14="http://schemas.microsoft.com/office/powerpoint/2010/main" val="103930082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幻灯片图像占位符 1"/>
          <p:cNvSpPr>
            <a:spLocks noGrp="1" noRot="1" noChangeAspect="1" noTextEdit="1"/>
          </p:cNvSpPr>
          <p:nvPr>
            <p:ph type="sldImg"/>
          </p:nvPr>
        </p:nvSpPr>
        <p:spPr>
          <a:ln/>
        </p:spPr>
      </p:sp>
      <p:sp>
        <p:nvSpPr>
          <p:cNvPr id="1710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710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EDB2C19-DDCE-458E-AEDA-765995151872}" type="slidenum">
              <a:rPr lang="en-US" altLang="zh-CN" smtClean="0"/>
              <a:pPr eaLnBrk="1" hangingPunct="1"/>
              <a:t>66</a:t>
            </a:fld>
            <a:endParaRPr lang="en-US" altLang="zh-CN" smtClean="0"/>
          </a:p>
        </p:txBody>
      </p:sp>
    </p:spTree>
    <p:extLst>
      <p:ext uri="{BB962C8B-B14F-4D97-AF65-F5344CB8AC3E}">
        <p14:creationId xmlns:p14="http://schemas.microsoft.com/office/powerpoint/2010/main" val="17158464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8"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 y="-2853"/>
            <a:ext cx="9144000" cy="5373688"/>
          </a:xfrm>
          <a:prstGeom prst="rect">
            <a:avLst/>
          </a:prstGeom>
          <a:noFill/>
          <a:extLst>
            <a:ext uri="{909E8E84-426E-40DD-AFC4-6F175D3DCCD1}">
              <a14:hiddenFill xmlns:a14="http://schemas.microsoft.com/office/drawing/2010/main">
                <a:solidFill>
                  <a:srgbClr val="FFFFFF"/>
                </a:solidFill>
              </a14:hiddenFill>
            </a:ext>
          </a:ex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smtClean="0"/>
              <a:t>单击此处编辑母版副标题样式</a:t>
            </a:r>
            <a:endParaRPr lang="en-US" altLang="zh-CN" noProof="0" dirty="0" smtClean="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a:extLst/>
        </p:spPr>
        <p:txBody>
          <a:bodyPr/>
          <a:lstStyle>
            <a:lvl1pPr>
              <a:defRPr sz="4000"/>
            </a:lvl1pPr>
          </a:lstStyle>
          <a:p>
            <a:pPr lvl="0"/>
            <a:r>
              <a:rPr lang="zh-CN" altLang="en-US" noProof="0" smtClean="0"/>
              <a:t>单击此处编辑母版标题样式</a:t>
            </a:r>
            <a:endParaRPr lang="en-US" altLang="ko-KR" noProof="0" dirty="0" smtClean="0"/>
          </a:p>
        </p:txBody>
      </p:sp>
      <p:sp>
        <p:nvSpPr>
          <p:cNvPr id="7" name="Text Box 16"/>
          <p:cNvSpPr txBox="1">
            <a:spLocks noChangeArrowheads="1"/>
          </p:cNvSpPr>
          <p:nvPr/>
        </p:nvSpPr>
        <p:spPr bwMode="gray">
          <a:xfrm>
            <a:off x="0" y="5301209"/>
            <a:ext cx="9144000" cy="144000"/>
          </a:xfrm>
          <a:prstGeom prst="rect">
            <a:avLst/>
          </a:prstGeom>
          <a:solidFill>
            <a:srgbClr val="A9C6CC"/>
          </a:solidFill>
          <a:ln>
            <a:noFill/>
          </a:ln>
          <a:effectLst/>
          <a:ex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507" y="188640"/>
            <a:ext cx="3163002" cy="722219"/>
          </a:xfrm>
          <a:prstGeom prst="rect">
            <a:avLst/>
          </a:prstGeom>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nchor="ct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5" name="灯片编号占位符 4"/>
          <p:cNvSpPr>
            <a:spLocks noGrp="1"/>
          </p:cNvSpPr>
          <p:nvPr>
            <p:ph type="sldNum" sz="quarter" idx="11"/>
          </p:nvPr>
        </p:nvSpPr>
        <p:spPr/>
        <p:txBody>
          <a:bodyPr/>
          <a:lstStyle>
            <a:lvl1pPr>
              <a:defRPr/>
            </a:lvl1pPr>
          </a:lstStyle>
          <a:p>
            <a:pPr>
              <a:defRPr/>
            </a:pPr>
            <a:fld id="{BD23E241-4700-4AB1-8FCF-0EE2C9EC5137}" type="slidenum">
              <a:rPr lang="en-US" altLang="zh-CN" smtClean="0"/>
              <a:pPr>
                <a:defRPr/>
              </a:pPr>
              <a:t>‹#›</a:t>
            </a:fld>
            <a:endParaRPr lang="en-US" altLang="zh-CN" dirty="0"/>
          </a:p>
        </p:txBody>
      </p:sp>
    </p:spTree>
    <p:extLst>
      <p:ext uri="{BB962C8B-B14F-4D97-AF65-F5344CB8AC3E}">
        <p14:creationId xmlns:p14="http://schemas.microsoft.com/office/powerpoint/2010/main" val="38651517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灯片编号占位符 4"/>
          <p:cNvSpPr>
            <a:spLocks noGrp="1"/>
          </p:cNvSpPr>
          <p:nvPr>
            <p:ph type="sldNum" sz="quarter" idx="11"/>
          </p:nvPr>
        </p:nvSpPr>
        <p:spPr/>
        <p:txBody>
          <a:bodyPr/>
          <a:lstStyle>
            <a:lvl1pPr>
              <a:defRPr/>
            </a:lvl1pPr>
          </a:lstStyle>
          <a:p>
            <a:pPr>
              <a:defRPr/>
            </a:pPr>
            <a:fld id="{65220CCC-951D-42F6-8FB1-6B77372BE2FB}" type="slidenum">
              <a:rPr lang="en-US" altLang="zh-CN" smtClean="0"/>
              <a:pPr>
                <a:defRPr/>
              </a:pPr>
              <a:t>‹#›</a:t>
            </a:fld>
            <a:endParaRPr lang="en-US" altLang="zh-CN" dirty="0"/>
          </a:p>
        </p:txBody>
      </p:sp>
    </p:spTree>
    <p:extLst>
      <p:ext uri="{BB962C8B-B14F-4D97-AF65-F5344CB8AC3E}">
        <p14:creationId xmlns:p14="http://schemas.microsoft.com/office/powerpoint/2010/main" val="3529482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灯片编号占位符 5"/>
          <p:cNvSpPr>
            <a:spLocks noGrp="1"/>
          </p:cNvSpPr>
          <p:nvPr>
            <p:ph type="sldNum" sz="quarter" idx="11"/>
          </p:nvPr>
        </p:nvSpPr>
        <p:spPr/>
        <p:txBody>
          <a:bodyPr/>
          <a:lstStyle>
            <a:lvl1pPr>
              <a:defRPr/>
            </a:lvl1pPr>
          </a:lstStyle>
          <a:p>
            <a:pPr>
              <a:defRPr/>
            </a:pPr>
            <a:fld id="{C7B966ED-631F-4612-94B4-9DB7E259FA93}" type="slidenum">
              <a:rPr lang="en-US" altLang="zh-CN" smtClean="0"/>
              <a:pPr>
                <a:defRPr/>
              </a:pPr>
              <a:t>‹#›</a:t>
            </a:fld>
            <a:endParaRPr lang="en-US" altLang="zh-CN" dirty="0"/>
          </a:p>
        </p:txBody>
      </p:sp>
    </p:spTree>
    <p:extLst>
      <p:ext uri="{BB962C8B-B14F-4D97-AF65-F5344CB8AC3E}">
        <p14:creationId xmlns:p14="http://schemas.microsoft.com/office/powerpoint/2010/main" val="38828620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8" name="灯片编号占位符 7"/>
          <p:cNvSpPr>
            <a:spLocks noGrp="1"/>
          </p:cNvSpPr>
          <p:nvPr>
            <p:ph type="sldNum" sz="quarter" idx="11"/>
          </p:nvPr>
        </p:nvSpPr>
        <p:spPr/>
        <p:txBody>
          <a:bodyPr/>
          <a:lstStyle>
            <a:lvl1pPr>
              <a:defRPr/>
            </a:lvl1pPr>
          </a:lstStyle>
          <a:p>
            <a:pPr>
              <a:defRPr/>
            </a:pPr>
            <a:fld id="{79CF34D7-52F9-47AA-A0B1-B360A23D4BB5}" type="slidenum">
              <a:rPr lang="en-US" altLang="zh-CN" smtClean="0"/>
              <a:pPr>
                <a:defRPr/>
              </a:pPr>
              <a:t>‹#›</a:t>
            </a:fld>
            <a:endParaRPr lang="en-US" altLang="zh-CN" dirty="0"/>
          </a:p>
        </p:txBody>
      </p:sp>
      <p:sp>
        <p:nvSpPr>
          <p:cNvPr id="9" name="标题 1"/>
          <p:cNvSpPr>
            <a:spLocks noGrp="1"/>
          </p:cNvSpPr>
          <p:nvPr>
            <p:ph type="title"/>
          </p:nvPr>
        </p:nvSpPr>
        <p:spPr>
          <a:xfrm>
            <a:off x="304800" y="152400"/>
            <a:ext cx="8458200" cy="563563"/>
          </a:xfr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3981346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4" name="灯片编号占位符 3"/>
          <p:cNvSpPr>
            <a:spLocks noGrp="1"/>
          </p:cNvSpPr>
          <p:nvPr>
            <p:ph type="sldNum" sz="quarter" idx="11"/>
          </p:nvPr>
        </p:nvSpPr>
        <p:spPr/>
        <p:txBody>
          <a:bodyPr/>
          <a:lstStyle>
            <a:lvl1pPr>
              <a:defRPr/>
            </a:lvl1pPr>
          </a:lstStyle>
          <a:p>
            <a:pPr>
              <a:defRPr/>
            </a:pPr>
            <a:fld id="{979D9390-85FB-49E6-9543-BAE42E06B43E}" type="slidenum">
              <a:rPr lang="en-US" altLang="zh-CN" smtClean="0"/>
              <a:pPr>
                <a:defRPr/>
              </a:pPr>
              <a:t>‹#›</a:t>
            </a:fld>
            <a:endParaRPr lang="en-US" altLang="zh-CN" dirty="0"/>
          </a:p>
        </p:txBody>
      </p:sp>
    </p:spTree>
    <p:extLst>
      <p:ext uri="{BB962C8B-B14F-4D97-AF65-F5344CB8AC3E}">
        <p14:creationId xmlns:p14="http://schemas.microsoft.com/office/powerpoint/2010/main" val="23711712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lvl1pPr>
              <a:defRPr/>
            </a:lvl1pPr>
          </a:lstStyle>
          <a:p>
            <a:pPr>
              <a:defRPr/>
            </a:pPr>
            <a:fld id="{0E1D46E4-C5DB-4D40-A485-79B298A63CAF}" type="slidenum">
              <a:rPr lang="en-US" altLang="zh-CN" smtClean="0"/>
              <a:pPr>
                <a:defRPr/>
              </a:pPr>
              <a:t>‹#›</a:t>
            </a:fld>
            <a:endParaRPr lang="en-US" altLang="zh-CN" dirty="0"/>
          </a:p>
        </p:txBody>
      </p:sp>
    </p:spTree>
    <p:extLst>
      <p:ext uri="{BB962C8B-B14F-4D97-AF65-F5344CB8AC3E}">
        <p14:creationId xmlns:p14="http://schemas.microsoft.com/office/powerpoint/2010/main" val="17289188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灯片编号占位符 5"/>
          <p:cNvSpPr>
            <a:spLocks noGrp="1"/>
          </p:cNvSpPr>
          <p:nvPr>
            <p:ph type="sldNum" sz="quarter" idx="11"/>
          </p:nvPr>
        </p:nvSpPr>
        <p:spPr/>
        <p:txBody>
          <a:bodyPr/>
          <a:lstStyle>
            <a:lvl1pPr>
              <a:defRPr/>
            </a:lvl1pPr>
          </a:lstStyle>
          <a:p>
            <a:pPr>
              <a:defRPr/>
            </a:pPr>
            <a:fld id="{730CA8EA-5941-44FE-9EDB-219A0995C087}" type="slidenum">
              <a:rPr lang="en-US" altLang="zh-CN" smtClean="0"/>
              <a:pPr>
                <a:defRPr/>
              </a:pPr>
              <a:t>‹#›</a:t>
            </a:fld>
            <a:endParaRPr lang="en-US" altLang="zh-CN" dirty="0"/>
          </a:p>
        </p:txBody>
      </p:sp>
    </p:spTree>
    <p:extLst>
      <p:ext uri="{BB962C8B-B14F-4D97-AF65-F5344CB8AC3E}">
        <p14:creationId xmlns:p14="http://schemas.microsoft.com/office/powerpoint/2010/main" val="39243960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灯片编号占位符 5"/>
          <p:cNvSpPr>
            <a:spLocks noGrp="1"/>
          </p:cNvSpPr>
          <p:nvPr>
            <p:ph type="sldNum" sz="quarter" idx="11"/>
          </p:nvPr>
        </p:nvSpPr>
        <p:spPr/>
        <p:txBody>
          <a:bodyPr/>
          <a:lstStyle>
            <a:lvl1pPr>
              <a:defRPr/>
            </a:lvl1pPr>
          </a:lstStyle>
          <a:p>
            <a:pPr>
              <a:defRPr/>
            </a:pPr>
            <a:fld id="{8CB50D37-5FE5-458A-B471-7BF79E3B7689}" type="slidenum">
              <a:rPr lang="en-US" altLang="zh-CN" smtClean="0"/>
              <a:pPr>
                <a:defRPr/>
              </a:pPr>
              <a:t>‹#›</a:t>
            </a:fld>
            <a:endParaRPr lang="en-US" altLang="zh-CN" dirty="0"/>
          </a:p>
        </p:txBody>
      </p:sp>
    </p:spTree>
    <p:extLst>
      <p:ext uri="{BB962C8B-B14F-4D97-AF65-F5344CB8AC3E}">
        <p14:creationId xmlns:p14="http://schemas.microsoft.com/office/powerpoint/2010/main" val="13028304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灯片编号占位符 4"/>
          <p:cNvSpPr>
            <a:spLocks noGrp="1"/>
          </p:cNvSpPr>
          <p:nvPr>
            <p:ph type="sldNum" sz="quarter" idx="11"/>
          </p:nvPr>
        </p:nvSpPr>
        <p:spPr/>
        <p:txBody>
          <a:bodyPr/>
          <a:lstStyle>
            <a:lvl1pPr>
              <a:defRPr/>
            </a:lvl1pPr>
          </a:lstStyle>
          <a:p>
            <a:pPr>
              <a:defRPr/>
            </a:pPr>
            <a:fld id="{94928264-2745-48EE-8C3F-390164B22F89}" type="slidenum">
              <a:rPr lang="en-US" altLang="zh-CN" smtClean="0"/>
              <a:pPr>
                <a:defRPr/>
              </a:pPr>
              <a:t>‹#›</a:t>
            </a:fld>
            <a:endParaRPr lang="en-US" altLang="zh-CN" dirty="0"/>
          </a:p>
        </p:txBody>
      </p:sp>
    </p:spTree>
    <p:extLst>
      <p:ext uri="{BB962C8B-B14F-4D97-AF65-F5344CB8AC3E}">
        <p14:creationId xmlns:p14="http://schemas.microsoft.com/office/powerpoint/2010/main" val="11215300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灯片编号占位符 4"/>
          <p:cNvSpPr>
            <a:spLocks noGrp="1"/>
          </p:cNvSpPr>
          <p:nvPr>
            <p:ph type="sldNum" sz="quarter" idx="11"/>
          </p:nvPr>
        </p:nvSpPr>
        <p:spPr/>
        <p:txBody>
          <a:bodyPr/>
          <a:lstStyle>
            <a:lvl1pPr>
              <a:defRPr/>
            </a:lvl1pPr>
          </a:lstStyle>
          <a:p>
            <a:pPr>
              <a:defRPr/>
            </a:pPr>
            <a:fld id="{6E098467-BD66-41EB-A9D6-63C0EFED049D}" type="slidenum">
              <a:rPr lang="en-US" altLang="zh-CN" smtClean="0"/>
              <a:pPr>
                <a:defRPr/>
              </a:pPr>
              <a:t>‹#›</a:t>
            </a:fld>
            <a:endParaRPr lang="en-US" altLang="zh-CN" dirty="0"/>
          </a:p>
        </p:txBody>
      </p:sp>
    </p:spTree>
    <p:extLst>
      <p:ext uri="{BB962C8B-B14F-4D97-AF65-F5344CB8AC3E}">
        <p14:creationId xmlns:p14="http://schemas.microsoft.com/office/powerpoint/2010/main" val="2342739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152525"/>
            <a:ext cx="8229600" cy="5248275"/>
          </a:xfrm>
        </p:spPr>
        <p:txBody>
          <a:bodyPr/>
          <a:lstStyle/>
          <a:p>
            <a:r>
              <a:rPr lang="zh-CN" altLang="en-US" smtClean="0"/>
              <a:t>单击图标添加表格</a:t>
            </a:r>
            <a:endParaRPr lang="zh-CN" altLang="en-US"/>
          </a:p>
        </p:txBody>
      </p:sp>
      <p:sp>
        <p:nvSpPr>
          <p:cNvPr id="5" name="灯片编号占位符 4"/>
          <p:cNvSpPr>
            <a:spLocks noGrp="1"/>
          </p:cNvSpPr>
          <p:nvPr>
            <p:ph type="sldNum" sz="quarter" idx="11"/>
          </p:nvPr>
        </p:nvSpPr>
        <p:spPr>
          <a:xfrm>
            <a:off x="3505200" y="6461125"/>
            <a:ext cx="2133600" cy="320675"/>
          </a:xfrm>
        </p:spPr>
        <p:txBody>
          <a:bodyPr/>
          <a:lstStyle>
            <a:lvl1pPr>
              <a:defRPr/>
            </a:lvl1pPr>
          </a:lstStyle>
          <a:p>
            <a:pPr>
              <a:defRPr/>
            </a:pPr>
            <a:fld id="{C7B966ED-631F-4612-94B4-9DB7E259FA93}" type="slidenum">
              <a:rPr lang="en-US" altLang="zh-CN" smtClean="0"/>
              <a:pPr>
                <a:defRPr/>
              </a:pPr>
              <a:t>‹#›</a:t>
            </a:fld>
            <a:endParaRPr lang="en-US" altLang="zh-CN" dirty="0"/>
          </a:p>
        </p:txBody>
      </p:sp>
    </p:spTree>
    <p:extLst>
      <p:ext uri="{BB962C8B-B14F-4D97-AF65-F5344CB8AC3E}">
        <p14:creationId xmlns:p14="http://schemas.microsoft.com/office/powerpoint/2010/main" val="8585812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9"/>
          <p:cNvSpPr>
            <a:spLocks noGrp="1" noChangeArrowheads="1"/>
          </p:cNvSpPr>
          <p:nvPr>
            <p:ph type="dt" sz="half" idx="10"/>
          </p:nvPr>
        </p:nvSpPr>
        <p:spPr>
          <a:xfrm>
            <a:off x="457200" y="6248400"/>
            <a:ext cx="2133600" cy="457200"/>
          </a:xfrm>
          <a:prstGeom prst="rect">
            <a:avLst/>
          </a:prstGeom>
          <a:ln/>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a:ln/>
        </p:spPr>
        <p:txBody>
          <a:bodyPr/>
          <a:lstStyle>
            <a:lvl1pPr>
              <a:defRPr/>
            </a:lvl1pPr>
          </a:lstStyle>
          <a:p>
            <a:pPr>
              <a:defRPr/>
            </a:pPr>
            <a:fld id="{C7B966ED-631F-4612-94B4-9DB7E259FA93}" type="slidenum">
              <a:rPr lang="en-US" altLang="zh-CN" smtClean="0"/>
              <a:pPr>
                <a:defRPr/>
              </a:pPr>
              <a:t>‹#›</a:t>
            </a:fld>
            <a:endParaRPr lang="en-US" altLang="zh-CN" dirty="0"/>
          </a:p>
        </p:txBody>
      </p:sp>
    </p:spTree>
    <p:extLst>
      <p:ext uri="{BB962C8B-B14F-4D97-AF65-F5344CB8AC3E}">
        <p14:creationId xmlns:p14="http://schemas.microsoft.com/office/powerpoint/2010/main" val="130299465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0" y="0"/>
            <a:ext cx="9144000" cy="836613"/>
          </a:xfrm>
          <a:prstGeom prst="rect">
            <a:avLst/>
          </a:prstGeom>
          <a:solidFill>
            <a:srgbClr val="00607A"/>
          </a:solidFill>
          <a:ln>
            <a:noFill/>
          </a:ln>
          <a:effectLs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737"/>
            <a:ext cx="8229600" cy="5348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altLang="zh-CN" dirty="0" smtClean="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C7B966ED-631F-4612-94B4-9DB7E259FA93}" type="slidenum">
              <a:rPr lang="en-US" altLang="zh-CN" smtClean="0"/>
              <a:pPr>
                <a:defRPr/>
              </a:pPr>
              <a:t>‹#›</a:t>
            </a:fld>
            <a:endParaRPr lang="en-US" altLang="zh-CN" dirty="0"/>
          </a:p>
        </p:txBody>
      </p:sp>
      <p:sp>
        <p:nvSpPr>
          <p:cNvPr id="1026"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endParaRPr lang="en-US" altLang="zh-CN" smtClean="0"/>
          </a:p>
        </p:txBody>
      </p:sp>
      <p:sp>
        <p:nvSpPr>
          <p:cNvPr id="1040" name="Text Box 16"/>
          <p:cNvSpPr txBox="1">
            <a:spLocks noChangeArrowheads="1"/>
          </p:cNvSpPr>
          <p:nvPr/>
        </p:nvSpPr>
        <p:spPr bwMode="gray">
          <a:xfrm>
            <a:off x="0" y="838200"/>
            <a:ext cx="9144000" cy="144000"/>
          </a:xfrm>
          <a:prstGeom prst="rect">
            <a:avLst/>
          </a:prstGeom>
          <a:solidFill>
            <a:srgbClr val="A9C6CC"/>
          </a:solidFill>
          <a:ln>
            <a:noFill/>
          </a:ln>
          <a:effectLst/>
          <a:ex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80312" y="6453336"/>
            <a:ext cx="1578826" cy="360499"/>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4273" r:id="rId1"/>
    <p:sldLayoutId id="2147484274" r:id="rId2"/>
    <p:sldLayoutId id="2147484275" r:id="rId3"/>
    <p:sldLayoutId id="2147484276" r:id="rId4"/>
    <p:sldLayoutId id="2147484277" r:id="rId5"/>
    <p:sldLayoutId id="2147484278" r:id="rId6"/>
    <p:sldLayoutId id="2147484279" r:id="rId7"/>
    <p:sldLayoutId id="2147484280" r:id="rId8"/>
    <p:sldLayoutId id="2147484281" r:id="rId9"/>
    <p:sldLayoutId id="2147484282" r:id="rId10"/>
    <p:sldLayoutId id="2147484283" r:id="rId11"/>
    <p:sldLayoutId id="2147484284" r:id="rId12"/>
    <p:sldLayoutId id="2147484285" r:id="rId1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hf hdr="0" ftr="0" dt="0"/>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1" fontAlgn="base" hangingPunct="1">
        <a:spcBef>
          <a:spcPct val="20000"/>
        </a:spcBef>
        <a:spcAft>
          <a:spcPct val="0"/>
        </a:spcAft>
        <a:buChar char="–"/>
        <a:defRPr sz="20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hyperlink" Target="http://calis2.nju.edu.cn:8080/opac/item.php?marc_no=000346523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p:txBody>
          <a:bodyPr/>
          <a:lstStyle/>
          <a:p>
            <a:pPr lvl="0"/>
            <a:r>
              <a:rPr lang="en-US" altLang="zh-CN" sz="2000" dirty="0">
                <a:solidFill>
                  <a:srgbClr val="595959"/>
                </a:solidFill>
                <a:ea typeface="宋体" charset="-122"/>
              </a:rPr>
              <a:t>Software Institute</a:t>
            </a:r>
          </a:p>
          <a:p>
            <a:pPr lvl="0"/>
            <a:r>
              <a:rPr lang="en-US" altLang="zh-CN" sz="2000" dirty="0">
                <a:solidFill>
                  <a:srgbClr val="595959"/>
                </a:solidFill>
                <a:ea typeface="宋体" charset="-122"/>
              </a:rPr>
              <a:t>Nanjing University</a:t>
            </a:r>
          </a:p>
          <a:p>
            <a:pPr lvl="0"/>
            <a:r>
              <a:rPr lang="en-US" altLang="zh-CN" sz="2000" dirty="0" err="1">
                <a:solidFill>
                  <a:srgbClr val="595959"/>
                </a:solidFill>
                <a:ea typeface="宋体" charset="-122"/>
              </a:rPr>
              <a:t>Bei</a:t>
            </a:r>
            <a:r>
              <a:rPr lang="en-US" altLang="zh-CN" sz="2000" dirty="0">
                <a:solidFill>
                  <a:srgbClr val="595959"/>
                </a:solidFill>
                <a:ea typeface="宋体" charset="-122"/>
              </a:rPr>
              <a:t> Jia</a:t>
            </a:r>
          </a:p>
        </p:txBody>
      </p:sp>
      <p:sp>
        <p:nvSpPr>
          <p:cNvPr id="3074" name="Rectangle 2"/>
          <p:cNvSpPr>
            <a:spLocks noGrp="1" noChangeArrowheads="1"/>
          </p:cNvSpPr>
          <p:nvPr>
            <p:ph type="ctrTitle" sz="quarter"/>
          </p:nvPr>
        </p:nvSpPr>
        <p:spPr/>
        <p:txBody>
          <a:bodyPr/>
          <a:lstStyle/>
          <a:p>
            <a:r>
              <a:rPr lang="en-US" altLang="zh-CN" sz="2800" dirty="0">
                <a:solidFill>
                  <a:srgbClr val="FFFFFF"/>
                </a:solidFill>
                <a:ea typeface="宋体" charset="-122"/>
              </a:rPr>
              <a:t>Principles of Service-Oriented Design </a:t>
            </a:r>
            <a:r>
              <a:rPr lang="en-US" altLang="zh-CN" sz="2800" dirty="0" smtClean="0">
                <a:solidFill>
                  <a:srgbClr val="FFFFFF"/>
                </a:solidFill>
                <a:ea typeface="宋体" charset="-122"/>
              </a:rPr>
              <a:t>III</a:t>
            </a:r>
            <a:r>
              <a:rPr lang="en-US" altLang="zh-CN" dirty="0">
                <a:solidFill>
                  <a:srgbClr val="FFFFFF"/>
                </a:solidFill>
                <a:ea typeface="宋体" charset="-122"/>
              </a:rPr>
              <a:t/>
            </a:r>
            <a:br>
              <a:rPr lang="en-US" altLang="zh-CN" dirty="0">
                <a:solidFill>
                  <a:srgbClr val="FFFFFF"/>
                </a:solidFill>
                <a:ea typeface="宋体" charset="-122"/>
              </a:rPr>
            </a:br>
            <a:r>
              <a:rPr lang="en-US" altLang="zh-CN" sz="2000" dirty="0">
                <a:solidFill>
                  <a:srgbClr val="FFFFFF"/>
                </a:solidFill>
                <a:ea typeface="宋体" charset="-122"/>
              </a:rPr>
              <a:t>Service-Oriented Software Engineering</a:t>
            </a:r>
            <a:endParaRPr lang="en-US" altLang="zh-CN" sz="2000" dirty="0" smtClean="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r>
              <a:rPr lang="zh-CN" altLang="en-US" dirty="0" smtClean="0"/>
              <a:t>服务自治</a:t>
            </a:r>
            <a:r>
              <a:rPr lang="zh-CN" altLang="en-US" dirty="0"/>
              <a:t>（</a:t>
            </a:r>
            <a:r>
              <a:rPr lang="zh-CN" altLang="en-US" dirty="0" smtClean="0"/>
              <a:t>处理边界与控制</a:t>
            </a:r>
            <a:r>
              <a:rPr lang="zh-CN" altLang="en-US" dirty="0"/>
              <a:t>）</a:t>
            </a:r>
            <a:endParaRPr lang="zh-CN" altLang="en-US" dirty="0" smtClean="0"/>
          </a:p>
        </p:txBody>
      </p:sp>
      <p:sp>
        <p:nvSpPr>
          <p:cNvPr id="4099" name="内容占位符 2"/>
          <p:cNvSpPr>
            <a:spLocks noGrp="1"/>
          </p:cNvSpPr>
          <p:nvPr>
            <p:ph idx="1"/>
          </p:nvPr>
        </p:nvSpPr>
        <p:spPr>
          <a:xfrm>
            <a:off x="457200" y="1052737"/>
            <a:ext cx="8229600" cy="1224135"/>
          </a:xfrm>
        </p:spPr>
        <p:txBody>
          <a:bodyPr/>
          <a:lstStyle/>
          <a:p>
            <a:r>
              <a:rPr lang="zh-CN" altLang="en-US" dirty="0" smtClean="0"/>
              <a:t>如何将库存中的每一个服务配置为独立的构成单元</a:t>
            </a:r>
          </a:p>
        </p:txBody>
      </p:sp>
      <p:sp>
        <p:nvSpPr>
          <p:cNvPr id="4100"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CC3A2A3-CDF1-4AF7-BA82-8335A6FCCF6F}" type="slidenum">
              <a:rPr lang="en-US" altLang="zh-CN" smtClean="0"/>
              <a:pPr eaLnBrk="1" hangingPunct="1"/>
              <a:t>2</a:t>
            </a:fld>
            <a:endParaRPr lang="en-US" altLang="zh-CN" smtClean="0"/>
          </a:p>
        </p:txBody>
      </p:sp>
      <p:pic>
        <p:nvPicPr>
          <p:cNvPr id="2" name="图片 1"/>
          <p:cNvPicPr>
            <a:picLocks noChangeAspect="1"/>
          </p:cNvPicPr>
          <p:nvPr/>
        </p:nvPicPr>
        <p:blipFill>
          <a:blip r:embed="rId3"/>
          <a:stretch>
            <a:fillRect/>
          </a:stretch>
        </p:blipFill>
        <p:spPr>
          <a:xfrm>
            <a:off x="1400175" y="2204864"/>
            <a:ext cx="6343650" cy="3219450"/>
          </a:xfrm>
          <a:prstGeom prst="rect">
            <a:avLst/>
          </a:prstGeom>
        </p:spPr>
      </p:pic>
      <p:sp>
        <p:nvSpPr>
          <p:cNvPr id="4" name="矩形 3"/>
          <p:cNvSpPr/>
          <p:nvPr/>
        </p:nvSpPr>
        <p:spPr>
          <a:xfrm>
            <a:off x="2310780" y="5853684"/>
            <a:ext cx="4446240" cy="584775"/>
          </a:xfrm>
          <a:prstGeom prst="rect">
            <a:avLst/>
          </a:prstGeom>
        </p:spPr>
        <p:txBody>
          <a:bodyPr wrap="square">
            <a:spAutoFit/>
          </a:bodyPr>
          <a:lstStyle/>
          <a:p>
            <a:r>
              <a:rPr lang="en-US" altLang="zh-CN" sz="1600" dirty="0"/>
              <a:t>Autonomy represents the independence of a service implementation</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smtClean="0"/>
              <a:t>自治</a:t>
            </a:r>
          </a:p>
        </p:txBody>
      </p:sp>
      <p:sp>
        <p:nvSpPr>
          <p:cNvPr id="3" name="内容占位符 2"/>
          <p:cNvSpPr>
            <a:spLocks noGrp="1"/>
          </p:cNvSpPr>
          <p:nvPr>
            <p:ph idx="1"/>
          </p:nvPr>
        </p:nvSpPr>
        <p:spPr/>
        <p:txBody>
          <a:bodyPr>
            <a:normAutofit fontScale="92500"/>
          </a:bodyPr>
          <a:lstStyle/>
          <a:p>
            <a:pPr>
              <a:lnSpc>
                <a:spcPct val="110000"/>
              </a:lnSpc>
              <a:defRPr/>
            </a:pPr>
            <a:r>
              <a:rPr lang="zh-CN" altLang="en-US" dirty="0" smtClean="0"/>
              <a:t>自治</a:t>
            </a:r>
            <a:r>
              <a:rPr lang="en-US" altLang="zh-CN" dirty="0" smtClean="0"/>
              <a:t>,</a:t>
            </a:r>
            <a:r>
              <a:rPr lang="zh-CN" altLang="en-US" dirty="0" smtClean="0"/>
              <a:t> 表现了自我治理的能力</a:t>
            </a:r>
            <a:endParaRPr lang="en-US" altLang="zh-CN" dirty="0" smtClean="0"/>
          </a:p>
          <a:p>
            <a:pPr lvl="1">
              <a:lnSpc>
                <a:spcPct val="110000"/>
              </a:lnSpc>
              <a:defRPr/>
            </a:pPr>
            <a:r>
              <a:rPr lang="zh-CN" altLang="en-US" dirty="0" smtClean="0"/>
              <a:t>拥有自由和控制权</a:t>
            </a:r>
            <a:endParaRPr lang="en-US" altLang="zh-CN" dirty="0" smtClean="0"/>
          </a:p>
          <a:p>
            <a:pPr lvl="1">
              <a:lnSpc>
                <a:spcPct val="110000"/>
              </a:lnSpc>
              <a:defRPr/>
            </a:pPr>
            <a:r>
              <a:rPr lang="zh-CN" altLang="en-US" dirty="0" smtClean="0"/>
              <a:t>不需要外界的批准和干预就可以做出决定</a:t>
            </a:r>
            <a:endParaRPr lang="en-US" altLang="zh-CN" dirty="0" smtClean="0"/>
          </a:p>
          <a:p>
            <a:pPr>
              <a:lnSpc>
                <a:spcPct val="110000"/>
              </a:lnSpc>
              <a:defRPr/>
            </a:pPr>
            <a:r>
              <a:rPr lang="zh-CN" altLang="en-US" dirty="0" smtClean="0"/>
              <a:t>自治级别表现了其能够独立作为的程度</a:t>
            </a:r>
            <a:endParaRPr lang="en-US" altLang="zh-CN" dirty="0" smtClean="0"/>
          </a:p>
          <a:p>
            <a:pPr lvl="1">
              <a:lnSpc>
                <a:spcPct val="110000"/>
              </a:lnSpc>
              <a:defRPr/>
            </a:pPr>
            <a:r>
              <a:rPr lang="zh-CN" altLang="en-US" dirty="0" smtClean="0"/>
              <a:t>如果软件程序处于自治的运行时状态，它就能够不受外界的影响而完成自身的逻辑</a:t>
            </a:r>
            <a:endParaRPr lang="en-US" altLang="zh-CN" dirty="0" smtClean="0"/>
          </a:p>
          <a:p>
            <a:pPr lvl="1">
              <a:lnSpc>
                <a:spcPct val="110000"/>
              </a:lnSpc>
              <a:defRPr/>
            </a:pPr>
            <a:r>
              <a:rPr lang="zh-CN" altLang="en-US" dirty="0" smtClean="0"/>
              <a:t>拥有越高的控制权，就拥有越高的自治</a:t>
            </a:r>
            <a:endParaRPr lang="en-US" altLang="zh-CN" dirty="0" smtClean="0"/>
          </a:p>
          <a:p>
            <a:pPr lvl="1">
              <a:lnSpc>
                <a:spcPct val="110000"/>
              </a:lnSpc>
              <a:defRPr/>
            </a:pPr>
            <a:r>
              <a:rPr lang="zh-CN" altLang="en-US" dirty="0" smtClean="0"/>
              <a:t>拥有越</a:t>
            </a:r>
            <a:r>
              <a:rPr lang="zh-CN" altLang="en-US" dirty="0"/>
              <a:t>高</a:t>
            </a:r>
            <a:r>
              <a:rPr lang="zh-CN" altLang="en-US" dirty="0" smtClean="0"/>
              <a:t>的自治，就拥有越强的可靠性和可预测性</a:t>
            </a:r>
            <a:endParaRPr lang="en-US" altLang="zh-CN" dirty="0" smtClean="0"/>
          </a:p>
          <a:p>
            <a:pPr>
              <a:lnSpc>
                <a:spcPct val="110000"/>
              </a:lnSpc>
              <a:defRPr/>
            </a:pPr>
            <a:r>
              <a:rPr lang="zh-CN" altLang="en-US" dirty="0" smtClean="0"/>
              <a:t>服务的自治，表现了它可以独立执行自身核心服务逻辑的能力</a:t>
            </a:r>
            <a:endParaRPr lang="zh-CN" altLang="en-US" dirty="0"/>
          </a:p>
        </p:txBody>
      </p:sp>
      <p:sp>
        <p:nvSpPr>
          <p:cNvPr id="512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3C3DE92-D814-4BEB-8B91-2136097F94C4}" type="slidenum">
              <a:rPr lang="en-US" altLang="zh-CN" smtClean="0"/>
              <a:pPr eaLnBrk="1" hangingPunct="1"/>
              <a:t>3</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zh-CN" altLang="en-US" smtClean="0"/>
              <a:t>服务自治的类型</a:t>
            </a:r>
          </a:p>
        </p:txBody>
      </p:sp>
      <p:sp>
        <p:nvSpPr>
          <p:cNvPr id="3" name="内容占位符 2"/>
          <p:cNvSpPr>
            <a:spLocks noGrp="1"/>
          </p:cNvSpPr>
          <p:nvPr>
            <p:ph idx="1"/>
          </p:nvPr>
        </p:nvSpPr>
        <p:spPr/>
        <p:txBody>
          <a:bodyPr/>
          <a:lstStyle/>
          <a:p>
            <a:r>
              <a:rPr lang="zh-CN" altLang="en-US" dirty="0" smtClean="0"/>
              <a:t>运行时自治</a:t>
            </a:r>
            <a:endParaRPr lang="en-US" altLang="zh-CN" dirty="0" smtClean="0"/>
          </a:p>
          <a:p>
            <a:pPr lvl="1"/>
            <a:r>
              <a:rPr lang="zh-CN" altLang="en-US" dirty="0" smtClean="0"/>
              <a:t>服务对其运行时执行环境的控制权的大小</a:t>
            </a:r>
            <a:endParaRPr lang="en-US" altLang="zh-CN" dirty="0" smtClean="0"/>
          </a:p>
          <a:p>
            <a:r>
              <a:rPr lang="zh-CN" altLang="en-US" dirty="0" smtClean="0"/>
              <a:t>设计时自治</a:t>
            </a:r>
            <a:endParaRPr lang="en-US" altLang="zh-CN" dirty="0" smtClean="0"/>
          </a:p>
          <a:p>
            <a:pPr lvl="1"/>
            <a:r>
              <a:rPr lang="zh-CN" altLang="en-US" dirty="0" smtClean="0"/>
              <a:t>服务拥有者对于服务设计的管理权的大小</a:t>
            </a:r>
            <a:endParaRPr lang="en-US" altLang="zh-CN" dirty="0" smtClean="0"/>
          </a:p>
          <a:p>
            <a:r>
              <a:rPr lang="zh-CN" altLang="en-US" dirty="0" smtClean="0"/>
              <a:t>设计时自治和运行时自治的联系</a:t>
            </a:r>
            <a:endParaRPr lang="en-US" altLang="zh-CN" dirty="0" smtClean="0"/>
          </a:p>
          <a:p>
            <a:pPr lvl="1"/>
            <a:r>
              <a:rPr lang="zh-CN" altLang="en-US" dirty="0" smtClean="0"/>
              <a:t>在设计和实现服务时，拥有越多控制权，越容易实现运行时自治</a:t>
            </a:r>
            <a:endParaRPr lang="en-US" altLang="zh-CN" dirty="0" smtClean="0"/>
          </a:p>
          <a:p>
            <a:pPr lvl="1"/>
            <a:r>
              <a:rPr lang="zh-CN" altLang="en-US" dirty="0"/>
              <a:t>达成</a:t>
            </a:r>
            <a:r>
              <a:rPr lang="zh-CN" altLang="en-US" dirty="0" smtClean="0"/>
              <a:t>的运行时自治水平越高，用以实现服务的底层实现部分越专门化，服务进行治理和演化的能力越强，设计时自治的程度也就越高</a:t>
            </a:r>
            <a:endParaRPr lang="zh-CN" altLang="en-US" dirty="0"/>
          </a:p>
        </p:txBody>
      </p:sp>
      <p:sp>
        <p:nvSpPr>
          <p:cNvPr id="8196"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9ED5DFEF-0CDA-4401-AE69-BB8E4BD18B17}" type="slidenum">
              <a:rPr lang="en-US" altLang="zh-CN" smtClean="0"/>
              <a:pPr/>
              <a:t>4</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dirty="0" smtClean="0"/>
              <a:t>运行时自治（执行</a:t>
            </a:r>
            <a:r>
              <a:rPr lang="zh-CN" altLang="en-US" dirty="0"/>
              <a:t>）</a:t>
            </a:r>
            <a:endParaRPr lang="zh-CN" altLang="en-US" dirty="0" smtClean="0"/>
          </a:p>
        </p:txBody>
      </p:sp>
      <p:sp>
        <p:nvSpPr>
          <p:cNvPr id="3" name="内容占位符 2"/>
          <p:cNvSpPr>
            <a:spLocks noGrp="1"/>
          </p:cNvSpPr>
          <p:nvPr>
            <p:ph idx="1"/>
          </p:nvPr>
        </p:nvSpPr>
        <p:spPr/>
        <p:txBody>
          <a:bodyPr>
            <a:normAutofit fontScale="85000" lnSpcReduction="10000"/>
          </a:bodyPr>
          <a:lstStyle/>
          <a:p>
            <a:pPr>
              <a:lnSpc>
                <a:spcPct val="120000"/>
              </a:lnSpc>
            </a:pPr>
            <a:r>
              <a:rPr lang="zh-CN" altLang="en-US" dirty="0"/>
              <a:t>运行时</a:t>
            </a:r>
            <a:r>
              <a:rPr lang="zh-CN" altLang="en-US" dirty="0" smtClean="0"/>
              <a:t>自治，服务在被调用和执行时，对自身处理逻辑的控制级别</a:t>
            </a:r>
            <a:endParaRPr lang="en-US" altLang="zh-CN" dirty="0" smtClean="0"/>
          </a:p>
          <a:p>
            <a:pPr>
              <a:lnSpc>
                <a:spcPct val="120000"/>
              </a:lnSpc>
            </a:pPr>
            <a:r>
              <a:rPr lang="zh-CN" altLang="en-US" dirty="0" smtClean="0"/>
              <a:t>用以向服务的消费者提供：</a:t>
            </a:r>
            <a:endParaRPr lang="en-US" altLang="zh-CN" dirty="0" smtClean="0"/>
          </a:p>
          <a:p>
            <a:pPr lvl="1">
              <a:lnSpc>
                <a:spcPct val="120000"/>
              </a:lnSpc>
            </a:pPr>
            <a:r>
              <a:rPr lang="zh-CN" altLang="en-US" dirty="0" smtClean="0"/>
              <a:t>始终可接受的运行时执行性能</a:t>
            </a:r>
            <a:endParaRPr lang="en-US" altLang="zh-CN" dirty="0" smtClean="0"/>
          </a:p>
          <a:p>
            <a:pPr lvl="1">
              <a:lnSpc>
                <a:spcPct val="120000"/>
              </a:lnSpc>
            </a:pPr>
            <a:r>
              <a:rPr lang="zh-CN" altLang="en-US" dirty="0" smtClean="0"/>
              <a:t>更大程度上的性能可靠性</a:t>
            </a:r>
            <a:endParaRPr lang="en-US" altLang="zh-CN" dirty="0" smtClean="0"/>
          </a:p>
          <a:p>
            <a:pPr lvl="1">
              <a:lnSpc>
                <a:spcPct val="120000"/>
              </a:lnSpc>
            </a:pPr>
            <a:r>
              <a:rPr lang="zh-CN" altLang="en-US" dirty="0" smtClean="0"/>
              <a:t>以隔离的方式响应特定的安全、可靠性或性能需求</a:t>
            </a:r>
            <a:endParaRPr lang="en-US" altLang="zh-CN" dirty="0" smtClean="0"/>
          </a:p>
          <a:p>
            <a:pPr lvl="1">
              <a:lnSpc>
                <a:spcPct val="120000"/>
              </a:lnSpc>
            </a:pPr>
            <a:r>
              <a:rPr lang="zh-CN" altLang="en-US" dirty="0" smtClean="0"/>
              <a:t>更高级别的行为可预测性（特别是被并发访问时</a:t>
            </a:r>
            <a:r>
              <a:rPr lang="zh-CN" altLang="en-US" dirty="0"/>
              <a:t>）</a:t>
            </a:r>
            <a:endParaRPr lang="en-US" altLang="zh-CN" dirty="0" smtClean="0"/>
          </a:p>
          <a:p>
            <a:pPr>
              <a:lnSpc>
                <a:spcPct val="120000"/>
              </a:lnSpc>
            </a:pPr>
            <a:r>
              <a:rPr lang="zh-CN" altLang="en-US" dirty="0" smtClean="0"/>
              <a:t>在进行服务组合时，倾向于越来越小的自治性</a:t>
            </a:r>
            <a:endParaRPr lang="en-US" altLang="zh-CN" dirty="0" smtClean="0"/>
          </a:p>
          <a:p>
            <a:pPr lvl="1">
              <a:lnSpc>
                <a:spcPct val="120000"/>
              </a:lnSpc>
            </a:pPr>
            <a:r>
              <a:rPr lang="zh-CN" altLang="en-US" dirty="0" smtClean="0"/>
              <a:t>服务所包含的逻辑和资源共享度越大，自治性越小</a:t>
            </a:r>
            <a:endParaRPr lang="en-US" altLang="zh-CN" dirty="0" smtClean="0"/>
          </a:p>
          <a:p>
            <a:pPr lvl="1">
              <a:lnSpc>
                <a:spcPct val="120000"/>
              </a:lnSpc>
            </a:pPr>
            <a:r>
              <a:rPr lang="zh-CN" altLang="en-US" dirty="0" smtClean="0"/>
              <a:t>组合服务的自治性取决于参与到该组合体中所有服务的集体自治</a:t>
            </a:r>
            <a:endParaRPr lang="zh-CN" altLang="en-US" dirty="0"/>
          </a:p>
        </p:txBody>
      </p:sp>
      <p:sp>
        <p:nvSpPr>
          <p:cNvPr id="9220"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B688620F-17A6-46A4-B95D-8B4C354548A9}" type="slidenum">
              <a:rPr lang="en-US" altLang="zh-CN" smtClean="0"/>
              <a:pPr/>
              <a:t>5</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dirty="0" smtClean="0"/>
              <a:t>设计时自治（治理）</a:t>
            </a:r>
          </a:p>
        </p:txBody>
      </p:sp>
      <p:sp>
        <p:nvSpPr>
          <p:cNvPr id="3" name="内容占位符 2"/>
          <p:cNvSpPr>
            <a:spLocks noGrp="1"/>
          </p:cNvSpPr>
          <p:nvPr>
            <p:ph idx="1"/>
          </p:nvPr>
        </p:nvSpPr>
        <p:spPr/>
        <p:txBody>
          <a:bodyPr>
            <a:normAutofit fontScale="92500" lnSpcReduction="20000"/>
          </a:bodyPr>
          <a:lstStyle/>
          <a:p>
            <a:pPr>
              <a:lnSpc>
                <a:spcPct val="120000"/>
              </a:lnSpc>
              <a:defRPr/>
            </a:pPr>
            <a:r>
              <a:rPr lang="zh-CN" altLang="en-US" dirty="0" smtClean="0"/>
              <a:t>设计</a:t>
            </a:r>
            <a:r>
              <a:rPr lang="zh-CN" altLang="en-US" dirty="0"/>
              <a:t>时</a:t>
            </a:r>
            <a:r>
              <a:rPr lang="zh-CN" altLang="en-US" dirty="0" smtClean="0"/>
              <a:t>自治，在</a:t>
            </a:r>
            <a:r>
              <a:rPr lang="zh-CN" altLang="en-US" dirty="0"/>
              <a:t>服务生命周期</a:t>
            </a:r>
            <a:r>
              <a:rPr lang="zh-CN" altLang="en-US" dirty="0" smtClean="0"/>
              <a:t>中，服务</a:t>
            </a:r>
            <a:r>
              <a:rPr lang="zh-CN" altLang="en-US" dirty="0"/>
              <a:t>拥有者对</a:t>
            </a:r>
            <a:r>
              <a:rPr lang="zh-CN" altLang="en-US" dirty="0" smtClean="0"/>
              <a:t>服务作出修改的自由度。</a:t>
            </a:r>
            <a:endParaRPr lang="en-US" altLang="zh-CN" dirty="0" smtClean="0"/>
          </a:p>
          <a:p>
            <a:pPr>
              <a:lnSpc>
                <a:spcPct val="120000"/>
              </a:lnSpc>
              <a:defRPr/>
            </a:pPr>
            <a:r>
              <a:rPr lang="zh-CN" altLang="en-US" dirty="0" smtClean="0"/>
              <a:t>在</a:t>
            </a:r>
            <a:r>
              <a:rPr lang="en-US" altLang="zh-CN" dirty="0" smtClean="0"/>
              <a:t>…</a:t>
            </a:r>
            <a:r>
              <a:rPr lang="zh-CN" altLang="en-US" dirty="0" smtClean="0"/>
              <a:t>时，</a:t>
            </a:r>
            <a:r>
              <a:rPr lang="en-US" altLang="zh-CN" dirty="0" smtClean="0"/>
              <a:t>SOA</a:t>
            </a:r>
            <a:r>
              <a:rPr lang="zh-CN" altLang="en-US" dirty="0" smtClean="0"/>
              <a:t>需要高层次的设计时自治</a:t>
            </a:r>
            <a:endParaRPr lang="en-US" altLang="zh-CN" dirty="0" smtClean="0"/>
          </a:p>
          <a:p>
            <a:pPr lvl="1">
              <a:lnSpc>
                <a:spcPct val="120000"/>
              </a:lnSpc>
              <a:defRPr/>
            </a:pPr>
            <a:r>
              <a:rPr lang="zh-CN" altLang="en-US" dirty="0" smtClean="0"/>
              <a:t>为应对更高的用户需求，扩展服务</a:t>
            </a:r>
            <a:endParaRPr lang="en-US" altLang="zh-CN" dirty="0" smtClean="0"/>
          </a:p>
          <a:p>
            <a:pPr lvl="1">
              <a:lnSpc>
                <a:spcPct val="120000"/>
              </a:lnSpc>
              <a:defRPr/>
            </a:pPr>
            <a:r>
              <a:rPr lang="zh-CN" altLang="en-US" dirty="0" smtClean="0"/>
              <a:t>进一步地修改或改进服务的宿主环境</a:t>
            </a:r>
            <a:endParaRPr lang="en-US" altLang="zh-CN" dirty="0" smtClean="0"/>
          </a:p>
          <a:p>
            <a:pPr lvl="1">
              <a:lnSpc>
                <a:spcPct val="120000"/>
              </a:lnSpc>
              <a:defRPr/>
            </a:pPr>
            <a:r>
              <a:rPr lang="zh-CN" altLang="en-US" dirty="0"/>
              <a:t>为了</a:t>
            </a:r>
            <a:r>
              <a:rPr lang="zh-CN" altLang="en-US" dirty="0" smtClean="0"/>
              <a:t>适应</a:t>
            </a:r>
            <a:r>
              <a:rPr lang="zh-CN" altLang="en-US" dirty="0"/>
              <a:t>新的需求或使用新的</a:t>
            </a:r>
            <a:r>
              <a:rPr lang="zh-CN" altLang="en-US" dirty="0" smtClean="0"/>
              <a:t>技术，增强、升级或替代一个服务技术</a:t>
            </a:r>
            <a:endParaRPr lang="en-US" altLang="zh-CN" dirty="0" smtClean="0"/>
          </a:p>
          <a:p>
            <a:pPr>
              <a:lnSpc>
                <a:spcPct val="120000"/>
              </a:lnSpc>
              <a:defRPr/>
            </a:pPr>
            <a:r>
              <a:rPr lang="zh-CN" altLang="en-US" dirty="0"/>
              <a:t>出于复用的考虑，多个服务消费者会对服务形成设计时的依赖。这种依赖限制了服务按需演化的能力</a:t>
            </a:r>
            <a:endParaRPr lang="en-US" altLang="zh-CN" dirty="0" smtClean="0"/>
          </a:p>
          <a:p>
            <a:pPr lvl="1">
              <a:lnSpc>
                <a:spcPct val="120000"/>
              </a:lnSpc>
              <a:defRPr/>
            </a:pPr>
            <a:r>
              <a:rPr lang="zh-CN" altLang="en-US" dirty="0" smtClean="0"/>
              <a:t>可以通过松耦合达成</a:t>
            </a:r>
          </a:p>
        </p:txBody>
      </p:sp>
      <p:sp>
        <p:nvSpPr>
          <p:cNvPr id="1024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A9626BD-85CD-4C08-8029-3BF75D0FBFF0}" type="slidenum">
              <a:rPr lang="en-US" altLang="zh-CN" smtClean="0"/>
              <a:pPr eaLnBrk="1" hangingPunct="1"/>
              <a:t>6</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zh-CN" altLang="en-US" smtClean="0"/>
              <a:t>服务自治度量</a:t>
            </a:r>
          </a:p>
        </p:txBody>
      </p:sp>
      <p:sp>
        <p:nvSpPr>
          <p:cNvPr id="1229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8C752A5-D163-4AEF-922B-DB445910FF1E}" type="slidenum">
              <a:rPr lang="en-US" altLang="zh-CN" smtClean="0"/>
              <a:pPr eaLnBrk="1" hangingPunct="1"/>
              <a:t>7</a:t>
            </a:fld>
            <a:endParaRPr lang="en-US" altLang="zh-CN" smtClean="0"/>
          </a:p>
        </p:txBody>
      </p:sp>
      <p:pic>
        <p:nvPicPr>
          <p:cNvPr id="3" name="图片 2"/>
          <p:cNvPicPr>
            <a:picLocks noChangeAspect="1"/>
          </p:cNvPicPr>
          <p:nvPr/>
        </p:nvPicPr>
        <p:blipFill>
          <a:blip r:embed="rId3"/>
          <a:stretch>
            <a:fillRect/>
          </a:stretch>
        </p:blipFill>
        <p:spPr>
          <a:xfrm>
            <a:off x="1505731" y="1184297"/>
            <a:ext cx="6056337" cy="526599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zh-CN" altLang="en-US" dirty="0" smtClean="0"/>
              <a:t>服务合约自治（带有规范化合约的服务</a:t>
            </a:r>
            <a:r>
              <a:rPr lang="zh-CN" altLang="en-US" dirty="0"/>
              <a:t>）</a:t>
            </a:r>
            <a:endParaRPr lang="zh-CN" altLang="en-US" dirty="0" smtClean="0"/>
          </a:p>
        </p:txBody>
      </p:sp>
      <p:sp>
        <p:nvSpPr>
          <p:cNvPr id="13315" name="内容占位符 2"/>
          <p:cNvSpPr>
            <a:spLocks noGrp="1"/>
          </p:cNvSpPr>
          <p:nvPr>
            <p:ph idx="1"/>
          </p:nvPr>
        </p:nvSpPr>
        <p:spPr/>
        <p:txBody>
          <a:bodyPr/>
          <a:lstStyle/>
          <a:p>
            <a:r>
              <a:rPr lang="zh-CN" altLang="en-US" dirty="0" smtClean="0"/>
              <a:t>一个服务合约所表达的能力范围不应与另外一个服务的能力范围发生重叠</a:t>
            </a:r>
            <a:endParaRPr lang="en-US" altLang="zh-CN" dirty="0" smtClean="0"/>
          </a:p>
          <a:p>
            <a:r>
              <a:rPr lang="zh-CN" altLang="en-US" dirty="0" smtClean="0"/>
              <a:t>服务合约自治与实现无关，从而与运行时自治无关</a:t>
            </a:r>
            <a:endParaRPr lang="en-US" altLang="zh-CN" dirty="0" smtClean="0"/>
          </a:p>
          <a:p>
            <a:pPr lvl="1"/>
            <a:r>
              <a:rPr lang="zh-CN" altLang="en-US" dirty="0" smtClean="0"/>
              <a:t>即使合约所表达的功能没有发生重叠，底层的服务实现依然有可能是重叠的</a:t>
            </a:r>
            <a:endParaRPr lang="en-US" altLang="zh-CN" dirty="0" smtClean="0"/>
          </a:p>
          <a:p>
            <a:r>
              <a:rPr lang="zh-CN" altLang="en-US" dirty="0" smtClean="0"/>
              <a:t>当服务合约是标准化的，并与它的底层实现解耦时，倾向于服务合约自治</a:t>
            </a:r>
          </a:p>
        </p:txBody>
      </p:sp>
      <p:sp>
        <p:nvSpPr>
          <p:cNvPr id="13316"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0E620268-CBAD-4479-8E82-657D6FEBE3A9}" type="slidenum">
              <a:rPr lang="en-US" altLang="zh-CN" smtClean="0"/>
              <a:pPr/>
              <a:t>8</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dirty="0"/>
              <a:t>服务合约</a:t>
            </a:r>
            <a:r>
              <a:rPr lang="zh-CN" altLang="en-US" dirty="0" smtClean="0"/>
              <a:t>自治</a:t>
            </a:r>
            <a:r>
              <a:rPr lang="en-US" altLang="zh-CN" dirty="0"/>
              <a:t>——</a:t>
            </a:r>
            <a:r>
              <a:rPr lang="zh-CN" altLang="en-US" dirty="0" smtClean="0"/>
              <a:t>服务规范化</a:t>
            </a:r>
          </a:p>
        </p:txBody>
      </p:sp>
      <p:sp>
        <p:nvSpPr>
          <p:cNvPr id="3" name="内容占位符 2"/>
          <p:cNvSpPr>
            <a:spLocks noGrp="1"/>
          </p:cNvSpPr>
          <p:nvPr>
            <p:ph sz="half" idx="1"/>
          </p:nvPr>
        </p:nvSpPr>
        <p:spPr/>
        <p:txBody>
          <a:bodyPr anchor="ctr">
            <a:normAutofit fontScale="92500" lnSpcReduction="10000"/>
          </a:bodyPr>
          <a:lstStyle/>
          <a:p>
            <a:pPr>
              <a:lnSpc>
                <a:spcPct val="110000"/>
              </a:lnSpc>
              <a:defRPr/>
            </a:pPr>
            <a:r>
              <a:rPr lang="zh-CN" altLang="en-US" dirty="0" smtClean="0"/>
              <a:t>服务库存中功能冗余数量最小化</a:t>
            </a:r>
            <a:endParaRPr lang="en-US" altLang="zh-CN" dirty="0" smtClean="0"/>
          </a:p>
          <a:p>
            <a:pPr>
              <a:lnSpc>
                <a:spcPct val="110000"/>
              </a:lnSpc>
              <a:defRPr/>
            </a:pPr>
            <a:r>
              <a:rPr lang="zh-CN" altLang="en-US" smtClean="0"/>
              <a:t>从而更有效</a:t>
            </a:r>
            <a:r>
              <a:rPr lang="zh-CN" altLang="en-US" dirty="0"/>
              <a:t>地</a:t>
            </a:r>
            <a:r>
              <a:rPr lang="zh-CN" altLang="en-US" smtClean="0"/>
              <a:t>实现</a:t>
            </a:r>
            <a:r>
              <a:rPr lang="zh-CN" altLang="en-US" dirty="0" smtClean="0"/>
              <a:t>可组合性</a:t>
            </a:r>
            <a:endParaRPr lang="en-US" altLang="zh-CN" dirty="0" smtClean="0"/>
          </a:p>
          <a:p>
            <a:pPr>
              <a:lnSpc>
                <a:spcPct val="110000"/>
              </a:lnSpc>
              <a:defRPr/>
            </a:pPr>
            <a:r>
              <a:rPr lang="zh-CN" altLang="en-US" dirty="0" smtClean="0"/>
              <a:t>从功能性服务边界的角度来看，需要确认作为一个整体的服务彼此之间不存在重叠</a:t>
            </a:r>
            <a:r>
              <a:rPr lang="en-US" altLang="zh-CN" dirty="0" smtClean="0"/>
              <a:t>(</a:t>
            </a:r>
            <a:r>
              <a:rPr lang="zh-CN" altLang="en-US" dirty="0" smtClean="0"/>
              <a:t>根据服务规范化模式</a:t>
            </a:r>
            <a:r>
              <a:rPr lang="en-US" altLang="zh-CN" dirty="0" smtClean="0"/>
              <a:t>)</a:t>
            </a:r>
            <a:r>
              <a:rPr lang="zh-CN" altLang="en-US" dirty="0" smtClean="0"/>
              <a:t>，否则将威胁到运行时自治</a:t>
            </a:r>
            <a:endParaRPr lang="en-US" altLang="zh-CN" dirty="0" smtClean="0"/>
          </a:p>
        </p:txBody>
      </p:sp>
      <p:sp>
        <p:nvSpPr>
          <p:cNvPr id="1434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511305E-E21A-4D46-BF3B-C9B298ADD691}" type="slidenum">
              <a:rPr lang="en-US" altLang="zh-CN" smtClean="0"/>
              <a:pPr eaLnBrk="1" hangingPunct="1"/>
              <a:t>9</a:t>
            </a:fld>
            <a:endParaRPr lang="en-US" altLang="zh-CN" smtClean="0"/>
          </a:p>
        </p:txBody>
      </p:sp>
      <p:pic>
        <p:nvPicPr>
          <p:cNvPr id="4" name="图片 3"/>
          <p:cNvPicPr>
            <a:picLocks noChangeAspect="1"/>
          </p:cNvPicPr>
          <p:nvPr/>
        </p:nvPicPr>
        <p:blipFill>
          <a:blip r:embed="rId3"/>
          <a:stretch>
            <a:fillRect/>
          </a:stretch>
        </p:blipFill>
        <p:spPr>
          <a:xfrm>
            <a:off x="4600382" y="1268760"/>
            <a:ext cx="4392488" cy="4244842"/>
          </a:xfrm>
          <a:prstGeom prst="rect">
            <a:avLst/>
          </a:prstGeom>
        </p:spPr>
      </p:pic>
      <p:sp>
        <p:nvSpPr>
          <p:cNvPr id="5" name="矩形 4"/>
          <p:cNvSpPr/>
          <p:nvPr/>
        </p:nvSpPr>
        <p:spPr>
          <a:xfrm>
            <a:off x="3720643" y="5650900"/>
            <a:ext cx="5293096" cy="830997"/>
          </a:xfrm>
          <a:prstGeom prst="rect">
            <a:avLst/>
          </a:prstGeom>
        </p:spPr>
        <p:txBody>
          <a:bodyPr wrap="square">
            <a:spAutoFit/>
          </a:bodyPr>
          <a:lstStyle/>
          <a:p>
            <a:r>
              <a:rPr lang="zh-CN" altLang="en-US" sz="1600" dirty="0"/>
              <a:t>Because more redundant logic exists, the denormalized service inventory </a:t>
            </a:r>
            <a:r>
              <a:rPr lang="zh-CN" altLang="en-US" sz="1600" dirty="0" smtClean="0"/>
              <a:t>is required </a:t>
            </a:r>
            <a:r>
              <a:rPr lang="zh-CN" altLang="en-US" sz="1600" dirty="0"/>
              <a:t>to contain more services (or more service logic) than its </a:t>
            </a:r>
            <a:r>
              <a:rPr lang="zh-CN" altLang="en-US" sz="1600" dirty="0" smtClean="0"/>
              <a:t>normalized counterpart</a:t>
            </a:r>
            <a:endParaRPr lang="zh-CN" altLang="en-US" sz="16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dirty="0"/>
              <a:t>服务合约自治</a:t>
            </a:r>
            <a:r>
              <a:rPr lang="en-US" altLang="zh-CN" dirty="0"/>
              <a:t>——</a:t>
            </a:r>
            <a:r>
              <a:rPr lang="zh-CN" altLang="en-US" dirty="0" smtClean="0"/>
              <a:t>合约反规范化</a:t>
            </a:r>
          </a:p>
        </p:txBody>
      </p:sp>
      <p:sp>
        <p:nvSpPr>
          <p:cNvPr id="15363" name="内容占位符 2"/>
          <p:cNvSpPr>
            <a:spLocks noGrp="1"/>
          </p:cNvSpPr>
          <p:nvPr>
            <p:ph sz="half" idx="1"/>
          </p:nvPr>
        </p:nvSpPr>
        <p:spPr/>
        <p:txBody>
          <a:bodyPr anchor="ctr">
            <a:normAutofit fontScale="92500"/>
          </a:bodyPr>
          <a:lstStyle/>
          <a:p>
            <a:r>
              <a:rPr lang="zh-CN" altLang="en-US" sz="3200" dirty="0" smtClean="0"/>
              <a:t>多重粒度的考虑</a:t>
            </a:r>
            <a:endParaRPr lang="en-US" altLang="zh-CN" sz="3200" dirty="0" smtClean="0"/>
          </a:p>
          <a:p>
            <a:r>
              <a:rPr lang="zh-CN" altLang="en-US" sz="3200" dirty="0" smtClean="0"/>
              <a:t>从功能性能力边界的角度来看，对服务合约进行反规范化是可接受的（根据合约反规范化模式）</a:t>
            </a:r>
            <a:endParaRPr lang="en-US" altLang="zh-CN" sz="3200" dirty="0" smtClean="0"/>
          </a:p>
          <a:p>
            <a:pPr lvl="1"/>
            <a:r>
              <a:rPr lang="zh-CN" altLang="en-US" sz="2800" dirty="0" smtClean="0"/>
              <a:t>允许在不威胁服务自治的条件下，最大程度地满足客户的需求</a:t>
            </a:r>
          </a:p>
        </p:txBody>
      </p:sp>
      <p:sp>
        <p:nvSpPr>
          <p:cNvPr id="15364" name="灯片编号占位符 3"/>
          <p:cNvSpPr>
            <a:spLocks noGrp="1"/>
          </p:cNvSpPr>
          <p:nvPr>
            <p:ph type="sldNum" sz="quarter" idx="12"/>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B82B2CF2-645F-4876-A4A5-4C90225024CC}" type="slidenum">
              <a:rPr lang="en-US" altLang="zh-CN" smtClean="0"/>
              <a:pPr/>
              <a:t>10</a:t>
            </a:fld>
            <a:endParaRPr lang="en-US" altLang="zh-CN" smtClean="0"/>
          </a:p>
        </p:txBody>
      </p:sp>
      <p:pic>
        <p:nvPicPr>
          <p:cNvPr id="2" name="图片 1"/>
          <p:cNvPicPr>
            <a:picLocks noChangeAspect="1"/>
          </p:cNvPicPr>
          <p:nvPr/>
        </p:nvPicPr>
        <p:blipFill>
          <a:blip r:embed="rId3"/>
          <a:stretch>
            <a:fillRect/>
          </a:stretch>
        </p:blipFill>
        <p:spPr>
          <a:xfrm>
            <a:off x="4362771" y="2184956"/>
            <a:ext cx="4601717" cy="2828220"/>
          </a:xfrm>
          <a:prstGeom prst="rect">
            <a:avLst/>
          </a:prstGeom>
        </p:spPr>
      </p:pic>
      <p:sp>
        <p:nvSpPr>
          <p:cNvPr id="4" name="矩形 3"/>
          <p:cNvSpPr/>
          <p:nvPr/>
        </p:nvSpPr>
        <p:spPr>
          <a:xfrm>
            <a:off x="4610209" y="5133564"/>
            <a:ext cx="4250855" cy="584775"/>
          </a:xfrm>
          <a:prstGeom prst="rect">
            <a:avLst/>
          </a:prstGeom>
        </p:spPr>
        <p:txBody>
          <a:bodyPr wrap="square">
            <a:spAutoFit/>
          </a:bodyPr>
          <a:lstStyle/>
          <a:p>
            <a:r>
              <a:rPr lang="en-US" altLang="zh-CN" sz="1600" dirty="0"/>
              <a:t>A service with normalized </a:t>
            </a:r>
            <a:r>
              <a:rPr lang="en-US" altLang="zh-CN" sz="1600" dirty="0" smtClean="0"/>
              <a:t>capabilities versus </a:t>
            </a:r>
            <a:r>
              <a:rPr lang="en-US" altLang="zh-CN" sz="1600" dirty="0"/>
              <a:t>one with partially </a:t>
            </a:r>
            <a:r>
              <a:rPr lang="en-US" altLang="zh-CN" sz="1600" dirty="0" smtClean="0"/>
              <a:t>redundant capabilities</a:t>
            </a:r>
            <a:r>
              <a:rPr lang="en-US" altLang="zh-CN" sz="1600" dirty="0"/>
              <a:t>.</a:t>
            </a:r>
            <a:endParaRPr lang="zh-CN" altLang="en-US" sz="16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dirty="0"/>
              <a:t>服务合约自治</a:t>
            </a:r>
            <a:r>
              <a:rPr lang="en-US" altLang="zh-CN" dirty="0"/>
              <a:t>——</a:t>
            </a:r>
            <a:r>
              <a:rPr lang="zh-CN" altLang="en-US" dirty="0" smtClean="0"/>
              <a:t>共享自治</a:t>
            </a:r>
          </a:p>
        </p:txBody>
      </p:sp>
      <p:sp>
        <p:nvSpPr>
          <p:cNvPr id="3" name="内容占位符 2"/>
          <p:cNvSpPr>
            <a:spLocks noGrp="1"/>
          </p:cNvSpPr>
          <p:nvPr>
            <p:ph sz="half" idx="1"/>
          </p:nvPr>
        </p:nvSpPr>
        <p:spPr>
          <a:xfrm>
            <a:off x="457200" y="1600200"/>
            <a:ext cx="3251200" cy="4530725"/>
          </a:xfrm>
        </p:spPr>
        <p:txBody>
          <a:bodyPr anchor="ctr"/>
          <a:lstStyle/>
          <a:p>
            <a:pPr>
              <a:defRPr/>
            </a:pPr>
            <a:r>
              <a:rPr lang="zh-CN" altLang="en-US" dirty="0" smtClean="0"/>
              <a:t>面向服务环境中通常包括</a:t>
            </a:r>
            <a:endParaRPr lang="en-US" altLang="zh-CN" dirty="0" smtClean="0"/>
          </a:p>
          <a:p>
            <a:pPr lvl="1">
              <a:defRPr/>
            </a:pPr>
            <a:r>
              <a:rPr lang="zh-CN" altLang="en-US" dirty="0" smtClean="0"/>
              <a:t>定制编写的服务</a:t>
            </a:r>
            <a:endParaRPr lang="en-US" altLang="zh-CN" dirty="0" smtClean="0"/>
          </a:p>
          <a:p>
            <a:pPr lvl="1">
              <a:defRPr/>
            </a:pPr>
            <a:r>
              <a:rPr lang="zh-CN" altLang="en-US" dirty="0" smtClean="0"/>
              <a:t>封装遗留系统和技术的服务</a:t>
            </a:r>
            <a:endParaRPr lang="en-US" altLang="zh-CN" dirty="0" smtClean="0"/>
          </a:p>
          <a:p>
            <a:pPr marL="342900" lvl="1" indent="-342900">
              <a:buFont typeface="Wingdings" pitchFamily="2" charset="2"/>
              <a:buChar char="l"/>
              <a:defRPr/>
            </a:pPr>
            <a:r>
              <a:rPr lang="zh-CN" altLang="en-US" sz="2800" dirty="0" smtClean="0">
                <a:cs typeface="+mn-cs"/>
              </a:rPr>
              <a:t>通常封装遗留系统和技术的服务具备较低的自治性，应将其合理标注</a:t>
            </a:r>
            <a:endParaRPr lang="en-US" altLang="zh-CN" sz="2800" dirty="0" smtClean="0">
              <a:cs typeface="+mn-cs"/>
            </a:endParaRPr>
          </a:p>
        </p:txBody>
      </p:sp>
      <p:sp>
        <p:nvSpPr>
          <p:cNvPr id="16388"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F17D580-4087-4E5F-98C1-6203A4E346F4}" type="slidenum">
              <a:rPr lang="en-US" altLang="zh-CN" smtClean="0"/>
              <a:pPr eaLnBrk="1" hangingPunct="1"/>
              <a:t>11</a:t>
            </a:fld>
            <a:endParaRPr lang="en-US" altLang="zh-CN" smtClean="0"/>
          </a:p>
        </p:txBody>
      </p:sp>
      <p:pic>
        <p:nvPicPr>
          <p:cNvPr id="2" name="图片 1"/>
          <p:cNvPicPr>
            <a:picLocks noChangeAspect="1"/>
          </p:cNvPicPr>
          <p:nvPr/>
        </p:nvPicPr>
        <p:blipFill>
          <a:blip r:embed="rId3"/>
          <a:stretch>
            <a:fillRect/>
          </a:stretch>
        </p:blipFill>
        <p:spPr>
          <a:xfrm>
            <a:off x="3708400" y="1331716"/>
            <a:ext cx="5202726" cy="4186411"/>
          </a:xfrm>
          <a:prstGeom prst="rect">
            <a:avLst/>
          </a:prstGeom>
        </p:spPr>
      </p:pic>
      <p:sp>
        <p:nvSpPr>
          <p:cNvPr id="5" name="矩形 4"/>
          <p:cNvSpPr/>
          <p:nvPr/>
        </p:nvSpPr>
        <p:spPr>
          <a:xfrm>
            <a:off x="3887416" y="5574127"/>
            <a:ext cx="5256584" cy="830997"/>
          </a:xfrm>
          <a:prstGeom prst="rect">
            <a:avLst/>
          </a:prstGeom>
        </p:spPr>
        <p:txBody>
          <a:bodyPr wrap="square">
            <a:spAutoFit/>
          </a:bodyPr>
          <a:lstStyle/>
          <a:p>
            <a:r>
              <a:rPr lang="en-US" altLang="zh-CN" sz="1600" dirty="0"/>
              <a:t>An example of shared autonomy: Service </a:t>
            </a:r>
            <a:r>
              <a:rPr lang="en-US" altLang="zh-CN" sz="1600" dirty="0" smtClean="0"/>
              <a:t>A encapsulates </a:t>
            </a:r>
            <a:r>
              <a:rPr lang="en-US" altLang="zh-CN" sz="1600" dirty="0"/>
              <a:t>a legacy application with an </a:t>
            </a:r>
            <a:r>
              <a:rPr lang="en-US" altLang="zh-CN" sz="1600" dirty="0" smtClean="0"/>
              <a:t>existing user-base and </a:t>
            </a:r>
            <a:r>
              <a:rPr lang="en-US" altLang="zh-CN" sz="1600" dirty="0"/>
              <a:t>a point-to-point integration channel.</a:t>
            </a:r>
            <a:endParaRPr lang="zh-CN" altLang="en-US" sz="16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5"/>
          <p:cNvSpPr>
            <a:spLocks noGrp="1"/>
          </p:cNvSpPr>
          <p:nvPr>
            <p:ph type="title"/>
          </p:nvPr>
        </p:nvSpPr>
        <p:spPr/>
        <p:txBody>
          <a:bodyPr/>
          <a:lstStyle/>
          <a:p>
            <a:r>
              <a:rPr lang="zh-CN" altLang="en-US" dirty="0" smtClean="0"/>
              <a:t>服务逻辑自治（部分隔离服务</a:t>
            </a:r>
            <a:r>
              <a:rPr lang="zh-CN" altLang="en-US" dirty="0"/>
              <a:t>）</a:t>
            </a:r>
            <a:r>
              <a:rPr lang="en-US" altLang="zh-CN" dirty="0" smtClean="0"/>
              <a:t> I</a:t>
            </a:r>
            <a:endParaRPr lang="zh-CN" altLang="en-US" dirty="0" smtClean="0"/>
          </a:p>
        </p:txBody>
      </p:sp>
      <p:sp>
        <p:nvSpPr>
          <p:cNvPr id="17411" name="内容占位符 6"/>
          <p:cNvSpPr>
            <a:spLocks noGrp="1"/>
          </p:cNvSpPr>
          <p:nvPr>
            <p:ph sz="half" idx="1"/>
          </p:nvPr>
        </p:nvSpPr>
        <p:spPr/>
        <p:txBody>
          <a:bodyPr anchor="ctr"/>
          <a:lstStyle/>
          <a:p>
            <a:r>
              <a:rPr lang="zh-CN" altLang="en-US" dirty="0" smtClean="0"/>
              <a:t>大部分定制开发的新服务通常所能达到的最常见的级别</a:t>
            </a:r>
            <a:endParaRPr lang="en-US" altLang="zh-CN" dirty="0" smtClean="0"/>
          </a:p>
          <a:p>
            <a:r>
              <a:rPr lang="zh-CN" altLang="en-US" dirty="0" smtClean="0"/>
              <a:t>底层服务构件是专用的并可以被隔离</a:t>
            </a:r>
            <a:endParaRPr lang="en-US" altLang="zh-CN" dirty="0" smtClean="0"/>
          </a:p>
          <a:p>
            <a:r>
              <a:rPr lang="zh-CN" altLang="en-US" dirty="0" smtClean="0"/>
              <a:t>数据库、目录和其他资源仍然是可被服务与企业的其他部门共享的</a:t>
            </a:r>
          </a:p>
        </p:txBody>
      </p:sp>
      <p:sp>
        <p:nvSpPr>
          <p:cNvPr id="17412"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B344524-2A80-4AA8-A7EE-8AB84250FA1C}" type="slidenum">
              <a:rPr lang="en-US" altLang="zh-CN" smtClean="0"/>
              <a:pPr eaLnBrk="1" hangingPunct="1"/>
              <a:t>12</a:t>
            </a:fld>
            <a:endParaRPr lang="en-US" altLang="zh-CN" smtClean="0"/>
          </a:p>
        </p:txBody>
      </p:sp>
      <p:pic>
        <p:nvPicPr>
          <p:cNvPr id="2" name="图片 1"/>
          <p:cNvPicPr>
            <a:picLocks noChangeAspect="1"/>
          </p:cNvPicPr>
          <p:nvPr/>
        </p:nvPicPr>
        <p:blipFill>
          <a:blip r:embed="rId3"/>
          <a:stretch>
            <a:fillRect/>
          </a:stretch>
        </p:blipFill>
        <p:spPr>
          <a:xfrm>
            <a:off x="4374661" y="1484784"/>
            <a:ext cx="4769339" cy="3832274"/>
          </a:xfrm>
          <a:prstGeom prst="rect">
            <a:avLst/>
          </a:prstGeom>
        </p:spPr>
      </p:pic>
      <p:sp>
        <p:nvSpPr>
          <p:cNvPr id="3" name="矩形 2"/>
          <p:cNvSpPr/>
          <p:nvPr/>
        </p:nvSpPr>
        <p:spPr>
          <a:xfrm>
            <a:off x="4671204" y="5473593"/>
            <a:ext cx="4176251" cy="830997"/>
          </a:xfrm>
          <a:prstGeom prst="rect">
            <a:avLst/>
          </a:prstGeom>
        </p:spPr>
        <p:txBody>
          <a:bodyPr wrap="square">
            <a:spAutoFit/>
          </a:bodyPr>
          <a:lstStyle/>
          <a:p>
            <a:r>
              <a:rPr lang="zh-CN" altLang="en-US" sz="1600" dirty="0"/>
              <a:t>Services A, B, and C are each implemented </a:t>
            </a:r>
            <a:r>
              <a:rPr lang="zh-CN" altLang="en-US" sz="1600" dirty="0" smtClean="0"/>
              <a:t>with dedicated </a:t>
            </a:r>
            <a:r>
              <a:rPr lang="zh-CN" altLang="en-US" sz="1600" dirty="0"/>
              <a:t>components, but all three services </a:t>
            </a:r>
            <a:r>
              <a:rPr lang="zh-CN" altLang="en-US" sz="1600" dirty="0" smtClean="0"/>
              <a:t>share the </a:t>
            </a:r>
            <a:r>
              <a:rPr lang="zh-CN" altLang="en-US" sz="1600" dirty="0"/>
              <a:t>same database</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zh-CN" altLang="en-US" dirty="0" smtClean="0"/>
              <a:t>服务逻辑</a:t>
            </a:r>
            <a:r>
              <a:rPr lang="zh-CN" altLang="en-US" dirty="0"/>
              <a:t>自治（部分</a:t>
            </a:r>
            <a:r>
              <a:rPr lang="zh-CN" altLang="en-US" dirty="0" smtClean="0"/>
              <a:t>隔离</a:t>
            </a:r>
            <a:r>
              <a:rPr lang="zh-CN" altLang="en-US" dirty="0"/>
              <a:t>服务）</a:t>
            </a:r>
            <a:r>
              <a:rPr lang="en-US" altLang="zh-CN" dirty="0" smtClean="0"/>
              <a:t> II</a:t>
            </a:r>
            <a:endParaRPr lang="zh-CN" altLang="en-US" dirty="0" smtClean="0"/>
          </a:p>
        </p:txBody>
      </p:sp>
      <p:sp>
        <p:nvSpPr>
          <p:cNvPr id="6" name="内容占位符 5"/>
          <p:cNvSpPr>
            <a:spLocks noGrp="1"/>
          </p:cNvSpPr>
          <p:nvPr>
            <p:ph sz="half" idx="1"/>
          </p:nvPr>
        </p:nvSpPr>
        <p:spPr/>
        <p:txBody>
          <a:bodyPr/>
          <a:lstStyle/>
          <a:p>
            <a:r>
              <a:rPr lang="zh-CN" altLang="en-US" sz="3200" dirty="0" smtClean="0"/>
              <a:t>由于缺乏一个专用的数据访问层所导致的常见的运行时问题包括</a:t>
            </a:r>
            <a:r>
              <a:rPr lang="en-US" altLang="zh-CN" sz="3200" dirty="0" smtClean="0"/>
              <a:t>:</a:t>
            </a:r>
          </a:p>
          <a:p>
            <a:pPr lvl="1"/>
            <a:r>
              <a:rPr lang="zh-CN" altLang="en-US" sz="2800" dirty="0" smtClean="0"/>
              <a:t>不可预测的并发数据访问</a:t>
            </a:r>
            <a:endParaRPr lang="en-US" altLang="zh-CN" sz="2800" dirty="0" smtClean="0"/>
          </a:p>
          <a:p>
            <a:pPr lvl="1"/>
            <a:r>
              <a:rPr lang="zh-CN" altLang="en-US" sz="2800" dirty="0" smtClean="0"/>
              <a:t>记录或页面锁定</a:t>
            </a:r>
            <a:endParaRPr lang="en-US" altLang="zh-CN" sz="2800" dirty="0" smtClean="0"/>
          </a:p>
          <a:p>
            <a:pPr lvl="1"/>
            <a:r>
              <a:rPr lang="zh-CN" altLang="en-US" sz="2800" dirty="0" smtClean="0"/>
              <a:t>查询语句执行时间的延长</a:t>
            </a:r>
          </a:p>
        </p:txBody>
      </p:sp>
      <p:sp>
        <p:nvSpPr>
          <p:cNvPr id="18436" name="内容占位符 6"/>
          <p:cNvSpPr>
            <a:spLocks noGrp="1"/>
          </p:cNvSpPr>
          <p:nvPr>
            <p:ph sz="half" idx="2"/>
          </p:nvPr>
        </p:nvSpPr>
        <p:spPr/>
        <p:txBody>
          <a:bodyPr/>
          <a:lstStyle/>
          <a:p>
            <a:r>
              <a:rPr lang="zh-CN" altLang="en-US" sz="3200" dirty="0" smtClean="0"/>
              <a:t>导致</a:t>
            </a:r>
            <a:endParaRPr lang="en-US" altLang="zh-CN" sz="3200" dirty="0" smtClean="0"/>
          </a:p>
          <a:p>
            <a:pPr lvl="1"/>
            <a:r>
              <a:rPr lang="zh-CN" altLang="en-US" sz="2800" dirty="0" smtClean="0"/>
              <a:t>不一致的或者甚至是不可接受的响应时间</a:t>
            </a:r>
            <a:endParaRPr lang="en-US" altLang="zh-CN" sz="2800" dirty="0" smtClean="0"/>
          </a:p>
          <a:p>
            <a:pPr lvl="1"/>
            <a:r>
              <a:rPr lang="zh-CN" altLang="en-US" sz="2800" dirty="0" smtClean="0"/>
              <a:t>偶尔的不可预测的行为</a:t>
            </a:r>
            <a:endParaRPr lang="en-US" altLang="zh-CN" sz="2800" dirty="0" smtClean="0"/>
          </a:p>
          <a:p>
            <a:pPr lvl="1"/>
            <a:r>
              <a:rPr lang="zh-CN" altLang="en-US" sz="2800" dirty="0" smtClean="0"/>
              <a:t>无法达到最优的可扩展性</a:t>
            </a:r>
          </a:p>
        </p:txBody>
      </p:sp>
      <p:sp>
        <p:nvSpPr>
          <p:cNvPr id="18437" name="灯片编号占位符 4"/>
          <p:cNvSpPr>
            <a:spLocks noGrp="1"/>
          </p:cNvSpPr>
          <p:nvPr>
            <p:ph type="sldNum" sz="quarter" idx="12"/>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608FDA47-C995-4CDA-9215-36497337675C}" type="slidenum">
              <a:rPr lang="en-US" altLang="zh-CN" smtClean="0"/>
              <a:pPr/>
              <a:t>13</a:t>
            </a:fld>
            <a:endParaRPr lang="en-US" altLang="zh-CN"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r>
              <a:rPr lang="zh-CN" altLang="en-US" smtClean="0"/>
              <a:t>完全自治（隔离的服务）</a:t>
            </a:r>
            <a:endParaRPr lang="zh-CN" altLang="en-US" dirty="0" smtClean="0"/>
          </a:p>
        </p:txBody>
      </p:sp>
      <p:sp>
        <p:nvSpPr>
          <p:cNvPr id="19459" name="内容占位符 2"/>
          <p:cNvSpPr>
            <a:spLocks noGrp="1"/>
          </p:cNvSpPr>
          <p:nvPr>
            <p:ph idx="1"/>
          </p:nvPr>
        </p:nvSpPr>
        <p:spPr/>
        <p:txBody>
          <a:bodyPr/>
          <a:lstStyle/>
          <a:p>
            <a:pPr>
              <a:lnSpc>
                <a:spcPct val="150000"/>
              </a:lnSpc>
            </a:pPr>
            <a:r>
              <a:rPr lang="zh-CN" altLang="en-US" sz="2800" dirty="0" smtClean="0"/>
              <a:t>服务对自身的运行时环境拥有绝对的所有权</a:t>
            </a:r>
            <a:endParaRPr lang="en-US" altLang="zh-CN" sz="2800" dirty="0" smtClean="0"/>
          </a:p>
          <a:p>
            <a:pPr>
              <a:lnSpc>
                <a:spcPct val="150000"/>
              </a:lnSpc>
            </a:pPr>
            <a:r>
              <a:rPr lang="zh-CN" altLang="en-US" sz="2800" dirty="0" smtClean="0"/>
              <a:t>对服务的设计和架构可以自顶向下进行控制</a:t>
            </a:r>
            <a:endParaRPr lang="en-US" altLang="zh-CN" sz="2800" dirty="0" smtClean="0"/>
          </a:p>
          <a:p>
            <a:pPr>
              <a:lnSpc>
                <a:spcPct val="150000"/>
              </a:lnSpc>
            </a:pPr>
            <a:r>
              <a:rPr lang="zh-CN" altLang="en-US" sz="2800" dirty="0" smtClean="0"/>
              <a:t>包括</a:t>
            </a:r>
            <a:endParaRPr lang="en-US" altLang="zh-CN" sz="2800" dirty="0" smtClean="0"/>
          </a:p>
          <a:p>
            <a:pPr lvl="1">
              <a:lnSpc>
                <a:spcPct val="150000"/>
              </a:lnSpc>
            </a:pPr>
            <a:r>
              <a:rPr lang="zh-CN" altLang="en-US" sz="2400" dirty="0" smtClean="0"/>
              <a:t>功能隔离</a:t>
            </a:r>
            <a:endParaRPr lang="en-US" altLang="zh-CN" sz="2400" dirty="0" smtClean="0"/>
          </a:p>
          <a:p>
            <a:pPr lvl="1">
              <a:lnSpc>
                <a:spcPct val="150000"/>
              </a:lnSpc>
            </a:pPr>
            <a:r>
              <a:rPr lang="zh-CN" altLang="en-US" sz="2400" dirty="0" smtClean="0"/>
              <a:t>绝对隔离</a:t>
            </a:r>
            <a:endParaRPr lang="en-US" altLang="zh-CN" sz="2400" dirty="0" smtClean="0"/>
          </a:p>
          <a:p>
            <a:pPr lvl="1">
              <a:lnSpc>
                <a:spcPct val="150000"/>
              </a:lnSpc>
            </a:pPr>
            <a:r>
              <a:rPr lang="zh-CN" altLang="en-US" sz="2400" dirty="0" smtClean="0"/>
              <a:t>设计时隔离</a:t>
            </a:r>
          </a:p>
        </p:txBody>
      </p:sp>
      <p:sp>
        <p:nvSpPr>
          <p:cNvPr id="19460"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15C30628-0C5E-41E9-B61C-1A09261D27BA}" type="slidenum">
              <a:rPr lang="en-US" altLang="zh-CN" smtClean="0"/>
              <a:pPr/>
              <a:t>14</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zh-CN" altLang="en-US" smtClean="0"/>
              <a:t>功能隔离</a:t>
            </a:r>
          </a:p>
        </p:txBody>
      </p:sp>
      <p:sp>
        <p:nvSpPr>
          <p:cNvPr id="20483" name="内容占位符 2"/>
          <p:cNvSpPr>
            <a:spLocks noGrp="1"/>
          </p:cNvSpPr>
          <p:nvPr>
            <p:ph idx="1"/>
          </p:nvPr>
        </p:nvSpPr>
        <p:spPr>
          <a:xfrm>
            <a:off x="457200" y="1052737"/>
            <a:ext cx="8229600" cy="1296143"/>
          </a:xfrm>
        </p:spPr>
        <p:txBody>
          <a:bodyPr/>
          <a:lstStyle/>
          <a:p>
            <a:r>
              <a:rPr lang="zh-CN" altLang="en-US" sz="2800" dirty="0" smtClean="0"/>
              <a:t>服务构件和物理数据模型是专用的，但是服务位于一个与其他服务共享的服务器上</a:t>
            </a:r>
          </a:p>
        </p:txBody>
      </p:sp>
      <p:sp>
        <p:nvSpPr>
          <p:cNvPr id="2048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044FF11-C56E-4B11-A315-3CAE83064862}" type="slidenum">
              <a:rPr lang="en-US" altLang="zh-CN" smtClean="0"/>
              <a:pPr eaLnBrk="1" hangingPunct="1"/>
              <a:t>15</a:t>
            </a:fld>
            <a:endParaRPr lang="en-US" altLang="zh-CN" smtClean="0"/>
          </a:p>
        </p:txBody>
      </p:sp>
      <p:pic>
        <p:nvPicPr>
          <p:cNvPr id="2" name="图片 1"/>
          <p:cNvPicPr>
            <a:picLocks noChangeAspect="1"/>
          </p:cNvPicPr>
          <p:nvPr/>
        </p:nvPicPr>
        <p:blipFill>
          <a:blip r:embed="rId3"/>
          <a:stretch>
            <a:fillRect/>
          </a:stretch>
        </p:blipFill>
        <p:spPr>
          <a:xfrm>
            <a:off x="2121632" y="2221028"/>
            <a:ext cx="4824536" cy="3720841"/>
          </a:xfrm>
          <a:prstGeom prst="rect">
            <a:avLst/>
          </a:prstGeom>
        </p:spPr>
      </p:pic>
      <p:sp>
        <p:nvSpPr>
          <p:cNvPr id="4" name="矩形 3"/>
          <p:cNvSpPr/>
          <p:nvPr/>
        </p:nvSpPr>
        <p:spPr>
          <a:xfrm>
            <a:off x="1691680" y="5949103"/>
            <a:ext cx="5976664" cy="584775"/>
          </a:xfrm>
          <a:prstGeom prst="rect">
            <a:avLst/>
          </a:prstGeom>
        </p:spPr>
        <p:txBody>
          <a:bodyPr wrap="square">
            <a:spAutoFit/>
          </a:bodyPr>
          <a:lstStyle/>
          <a:p>
            <a:r>
              <a:rPr lang="en-US" altLang="zh-CN" sz="1600" dirty="0"/>
              <a:t>Services A, B, and C have separate dedicated databases but still share the system resources of </a:t>
            </a:r>
            <a:r>
              <a:rPr lang="en-US" altLang="zh-CN" sz="1600" dirty="0" smtClean="0"/>
              <a:t>a single </a:t>
            </a:r>
            <a:r>
              <a:rPr lang="en-US" altLang="zh-CN" sz="1600" dirty="0"/>
              <a:t>server and runtime</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r>
              <a:rPr lang="zh-CN" altLang="en-US" smtClean="0"/>
              <a:t>绝对隔离</a:t>
            </a:r>
          </a:p>
        </p:txBody>
      </p:sp>
      <p:sp>
        <p:nvSpPr>
          <p:cNvPr id="21507" name="内容占位符 2"/>
          <p:cNvSpPr>
            <a:spLocks noGrp="1"/>
          </p:cNvSpPr>
          <p:nvPr>
            <p:ph idx="1"/>
          </p:nvPr>
        </p:nvSpPr>
        <p:spPr>
          <a:xfrm>
            <a:off x="457200" y="1052737"/>
            <a:ext cx="8229600" cy="1296143"/>
          </a:xfrm>
        </p:spPr>
        <p:txBody>
          <a:bodyPr/>
          <a:lstStyle/>
          <a:p>
            <a:r>
              <a:rPr lang="zh-CN" altLang="en-US" sz="2800" dirty="0" smtClean="0"/>
              <a:t>服务构件和相关的数据模型都位于专用服务器上</a:t>
            </a:r>
          </a:p>
        </p:txBody>
      </p:sp>
      <p:sp>
        <p:nvSpPr>
          <p:cNvPr id="21508"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C9EBE81-A222-4990-8CC1-CED24C84F0CA}" type="slidenum">
              <a:rPr lang="en-US" altLang="zh-CN" smtClean="0"/>
              <a:pPr eaLnBrk="1" hangingPunct="1"/>
              <a:t>16</a:t>
            </a:fld>
            <a:endParaRPr lang="en-US" altLang="zh-CN" smtClean="0"/>
          </a:p>
        </p:txBody>
      </p:sp>
      <p:pic>
        <p:nvPicPr>
          <p:cNvPr id="2" name="图片 1"/>
          <p:cNvPicPr>
            <a:picLocks noChangeAspect="1"/>
          </p:cNvPicPr>
          <p:nvPr/>
        </p:nvPicPr>
        <p:blipFill>
          <a:blip r:embed="rId3"/>
          <a:stretch>
            <a:fillRect/>
          </a:stretch>
        </p:blipFill>
        <p:spPr>
          <a:xfrm>
            <a:off x="2344488" y="2279001"/>
            <a:ext cx="4455021" cy="3373763"/>
          </a:xfrm>
          <a:prstGeom prst="rect">
            <a:avLst/>
          </a:prstGeom>
        </p:spPr>
      </p:pic>
      <p:sp>
        <p:nvSpPr>
          <p:cNvPr id="4" name="矩形 3"/>
          <p:cNvSpPr/>
          <p:nvPr/>
        </p:nvSpPr>
        <p:spPr>
          <a:xfrm>
            <a:off x="1331639" y="5765927"/>
            <a:ext cx="6480720" cy="584775"/>
          </a:xfrm>
          <a:prstGeom prst="rect">
            <a:avLst/>
          </a:prstGeom>
        </p:spPr>
        <p:txBody>
          <a:bodyPr wrap="square">
            <a:spAutoFit/>
          </a:bodyPr>
          <a:lstStyle/>
          <a:p>
            <a:r>
              <a:rPr lang="en-US" altLang="zh-CN" sz="1600" dirty="0"/>
              <a:t>Services A, B, and C each have their own, physically isolated hosting environments, providing </a:t>
            </a:r>
            <a:r>
              <a:rPr lang="en-US" altLang="zh-CN" sz="1600" dirty="0" smtClean="0"/>
              <a:t>the ultimate </a:t>
            </a:r>
            <a:r>
              <a:rPr lang="en-US" altLang="zh-CN" sz="1600" dirty="0"/>
              <a:t>in autonomous computing</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其他</a:t>
            </a:r>
          </a:p>
        </p:txBody>
      </p:sp>
      <p:sp>
        <p:nvSpPr>
          <p:cNvPr id="3" name="内容占位符 2"/>
          <p:cNvSpPr>
            <a:spLocks noGrp="1"/>
          </p:cNvSpPr>
          <p:nvPr>
            <p:ph idx="1"/>
          </p:nvPr>
        </p:nvSpPr>
        <p:spPr/>
        <p:txBody>
          <a:bodyPr/>
          <a:lstStyle/>
          <a:p>
            <a:pPr>
              <a:lnSpc>
                <a:spcPct val="150000"/>
              </a:lnSpc>
            </a:pPr>
            <a:r>
              <a:rPr lang="zh-CN" altLang="en-US" dirty="0"/>
              <a:t>设计时</a:t>
            </a:r>
            <a:r>
              <a:rPr lang="zh-CN" altLang="en-US" dirty="0" smtClean="0"/>
              <a:t>隔离</a:t>
            </a:r>
            <a:endParaRPr lang="en-US" altLang="zh-CN" dirty="0" smtClean="0"/>
          </a:p>
          <a:p>
            <a:pPr lvl="1">
              <a:lnSpc>
                <a:spcPct val="150000"/>
              </a:lnSpc>
            </a:pPr>
            <a:r>
              <a:rPr lang="zh-CN" altLang="en-US" dirty="0" smtClean="0"/>
              <a:t>从设计开始，就对服务设计、数据模型和宿主环境等，拥有完全的管理权</a:t>
            </a:r>
            <a:endParaRPr lang="en-US" altLang="zh-CN" dirty="0" smtClean="0"/>
          </a:p>
          <a:p>
            <a:pPr>
              <a:lnSpc>
                <a:spcPct val="150000"/>
              </a:lnSpc>
            </a:pPr>
            <a:r>
              <a:rPr lang="zh-CN" altLang="en-US" dirty="0" smtClean="0"/>
              <a:t>具有</a:t>
            </a:r>
            <a:r>
              <a:rPr lang="zh-CN" altLang="en-US" dirty="0"/>
              <a:t>混合自治级别的</a:t>
            </a:r>
            <a:r>
              <a:rPr lang="zh-CN" altLang="en-US" dirty="0" smtClean="0"/>
              <a:t>服务</a:t>
            </a:r>
            <a:endParaRPr lang="en-US" altLang="zh-CN" dirty="0" smtClean="0"/>
          </a:p>
          <a:p>
            <a:pPr lvl="1">
              <a:lnSpc>
                <a:spcPct val="150000"/>
              </a:lnSpc>
            </a:pPr>
            <a:r>
              <a:rPr lang="zh-CN" altLang="en-US" dirty="0"/>
              <a:t>服务可能包含具有不同自治级别的能力，作为整体，该服务被称为具有混合自治级别的</a:t>
            </a:r>
            <a:r>
              <a:rPr lang="zh-CN" altLang="en-US" dirty="0" smtClean="0"/>
              <a:t>服务</a:t>
            </a:r>
            <a:endParaRPr lang="zh-CN" altLang="en-US" dirty="0"/>
          </a:p>
        </p:txBody>
      </p:sp>
      <p:sp>
        <p:nvSpPr>
          <p:cNvPr id="4" name="灯片编号占位符 3"/>
          <p:cNvSpPr>
            <a:spLocks noGrp="1"/>
          </p:cNvSpPr>
          <p:nvPr>
            <p:ph type="sldNum" sz="quarter" idx="11"/>
          </p:nvPr>
        </p:nvSpPr>
        <p:spPr/>
        <p:txBody>
          <a:bodyPr/>
          <a:lstStyle/>
          <a:p>
            <a:pPr>
              <a:defRPr/>
            </a:pPr>
            <a:fld id="{BD23E241-4700-4AB1-8FCF-0EE2C9EC5137}" type="slidenum">
              <a:rPr lang="en-US" altLang="zh-CN" smtClean="0"/>
              <a:pPr>
                <a:defRPr/>
              </a:pPr>
              <a:t>17</a:t>
            </a:fld>
            <a:endParaRPr lang="en-US" altLang="zh-CN" dirty="0"/>
          </a:p>
        </p:txBody>
      </p:sp>
    </p:spTree>
    <p:extLst>
      <p:ext uri="{BB962C8B-B14F-4D97-AF65-F5344CB8AC3E}">
        <p14:creationId xmlns:p14="http://schemas.microsoft.com/office/powerpoint/2010/main" val="19959142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smtClean="0"/>
              <a:t>自治与服务设计</a:t>
            </a:r>
          </a:p>
        </p:txBody>
      </p:sp>
      <p:sp>
        <p:nvSpPr>
          <p:cNvPr id="24579" name="内容占位符 5"/>
          <p:cNvSpPr>
            <a:spLocks noGrp="1"/>
          </p:cNvSpPr>
          <p:nvPr>
            <p:ph idx="1"/>
          </p:nvPr>
        </p:nvSpPr>
        <p:spPr/>
        <p:txBody>
          <a:bodyPr/>
          <a:lstStyle/>
          <a:p>
            <a:pPr>
              <a:lnSpc>
                <a:spcPct val="150000"/>
              </a:lnSpc>
            </a:pPr>
            <a:r>
              <a:rPr lang="zh-CN" altLang="en-US" dirty="0" smtClean="0"/>
              <a:t>服务自治与服务建模</a:t>
            </a:r>
            <a:endParaRPr lang="en-US" altLang="zh-CN" dirty="0" smtClean="0"/>
          </a:p>
          <a:p>
            <a:pPr lvl="1">
              <a:lnSpc>
                <a:spcPct val="150000"/>
              </a:lnSpc>
            </a:pPr>
            <a:r>
              <a:rPr lang="zh-CN" altLang="en-US" dirty="0" smtClean="0"/>
              <a:t>分析阶段引入自治的考虑</a:t>
            </a:r>
            <a:endParaRPr lang="en-US" altLang="zh-CN" dirty="0" smtClean="0"/>
          </a:p>
          <a:p>
            <a:pPr>
              <a:lnSpc>
                <a:spcPct val="150000"/>
              </a:lnSpc>
            </a:pPr>
            <a:r>
              <a:rPr lang="zh-CN" altLang="en-US" dirty="0" smtClean="0"/>
              <a:t>服务自治与粒度</a:t>
            </a:r>
            <a:endParaRPr lang="en-US" altLang="zh-CN" dirty="0" smtClean="0"/>
          </a:p>
          <a:p>
            <a:pPr lvl="1">
              <a:lnSpc>
                <a:spcPct val="150000"/>
              </a:lnSpc>
            </a:pPr>
            <a:r>
              <a:rPr lang="zh-CN" altLang="en-US" dirty="0" smtClean="0"/>
              <a:t>自治倾向于细粒度</a:t>
            </a:r>
            <a:endParaRPr lang="en-US" altLang="zh-CN" dirty="0" smtClean="0"/>
          </a:p>
          <a:p>
            <a:pPr>
              <a:lnSpc>
                <a:spcPct val="150000"/>
              </a:lnSpc>
            </a:pPr>
            <a:r>
              <a:rPr lang="zh-CN" altLang="en-US" dirty="0" smtClean="0"/>
              <a:t>服务自治与服务模型</a:t>
            </a:r>
            <a:endParaRPr lang="en-US" altLang="zh-CN" dirty="0" smtClean="0"/>
          </a:p>
        </p:txBody>
      </p:sp>
      <p:sp>
        <p:nvSpPr>
          <p:cNvPr id="24580"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E783242-F0B0-4C78-9374-85446F4510FF}" type="slidenum">
              <a:rPr lang="en-US" altLang="zh-CN" smtClean="0"/>
              <a:pPr eaLnBrk="1" hangingPunct="1"/>
              <a:t>18</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smtClean="0"/>
              <a:t>服务自治与服务建模</a:t>
            </a:r>
          </a:p>
        </p:txBody>
      </p:sp>
      <p:sp>
        <p:nvSpPr>
          <p:cNvPr id="25603" name="内容占位符 2"/>
          <p:cNvSpPr>
            <a:spLocks noGrp="1"/>
          </p:cNvSpPr>
          <p:nvPr>
            <p:ph idx="1"/>
          </p:nvPr>
        </p:nvSpPr>
        <p:spPr/>
        <p:txBody>
          <a:bodyPr/>
          <a:lstStyle/>
          <a:p>
            <a:pPr>
              <a:lnSpc>
                <a:spcPct val="150000"/>
              </a:lnSpc>
            </a:pPr>
            <a:r>
              <a:rPr lang="zh-CN" altLang="en-US" dirty="0" smtClean="0"/>
              <a:t>服务分析和服务建模中需要考虑服务自治</a:t>
            </a:r>
            <a:endParaRPr lang="en-US" altLang="zh-CN" dirty="0" smtClean="0"/>
          </a:p>
          <a:p>
            <a:pPr>
              <a:lnSpc>
                <a:spcPct val="150000"/>
              </a:lnSpc>
            </a:pPr>
            <a:r>
              <a:rPr lang="zh-CN" altLang="en-US" dirty="0" smtClean="0"/>
              <a:t>面向服务分析中，包含对已有自动化系统进行收集的步骤</a:t>
            </a:r>
            <a:endParaRPr lang="en-US" altLang="zh-CN" dirty="0" smtClean="0"/>
          </a:p>
          <a:p>
            <a:pPr>
              <a:lnSpc>
                <a:spcPct val="150000"/>
              </a:lnSpc>
            </a:pPr>
            <a:r>
              <a:rPr lang="zh-CN" altLang="en-US" dirty="0" smtClean="0"/>
              <a:t>已有自动化系统的信息影响到服务系统所能达到的自治级别</a:t>
            </a:r>
            <a:endParaRPr lang="en-US" altLang="zh-CN" dirty="0" smtClean="0"/>
          </a:p>
        </p:txBody>
      </p:sp>
      <p:sp>
        <p:nvSpPr>
          <p:cNvPr id="2560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8D06957-AE17-408F-B99A-4AE2CA5ACF60}" type="slidenum">
              <a:rPr lang="en-US" altLang="zh-CN" smtClean="0"/>
              <a:pPr eaLnBrk="1" hangingPunct="1"/>
              <a:t>19</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smtClean="0"/>
              <a:t>服务自治与粒度</a:t>
            </a:r>
          </a:p>
        </p:txBody>
      </p:sp>
      <p:sp>
        <p:nvSpPr>
          <p:cNvPr id="3" name="内容占位符 2"/>
          <p:cNvSpPr>
            <a:spLocks noGrp="1"/>
          </p:cNvSpPr>
          <p:nvPr>
            <p:ph idx="1"/>
          </p:nvPr>
        </p:nvSpPr>
        <p:spPr/>
        <p:txBody>
          <a:bodyPr>
            <a:normAutofit/>
          </a:bodyPr>
          <a:lstStyle/>
          <a:p>
            <a:pPr>
              <a:defRPr/>
            </a:pPr>
            <a:r>
              <a:rPr lang="zh-CN" altLang="en-US" dirty="0" smtClean="0"/>
              <a:t>相同的合约，不同的实现可能带来不同的自治级别</a:t>
            </a:r>
            <a:endParaRPr lang="en-US" altLang="zh-CN" dirty="0" smtClean="0"/>
          </a:p>
          <a:p>
            <a:pPr>
              <a:defRPr/>
            </a:pPr>
            <a:r>
              <a:rPr lang="zh-CN" altLang="en-US" dirty="0" smtClean="0"/>
              <a:t>服务中的不同能力重要程度不同，可能要求不同程度的自治性</a:t>
            </a:r>
            <a:endParaRPr lang="en-US" altLang="zh-CN" dirty="0" smtClean="0"/>
          </a:p>
          <a:p>
            <a:pPr>
              <a:defRPr/>
            </a:pPr>
            <a:r>
              <a:rPr lang="zh-CN" altLang="en-US" dirty="0" smtClean="0"/>
              <a:t>对可靠性、性能和安全需求，倾向于将能力分散到单独的服务中去，可能导致服务粒度降低</a:t>
            </a:r>
            <a:endParaRPr lang="en-US" altLang="zh-CN" dirty="0" smtClean="0"/>
          </a:p>
          <a:p>
            <a:pPr lvl="1">
              <a:defRPr/>
            </a:pPr>
            <a:r>
              <a:rPr lang="zh-CN" altLang="en-US" dirty="0" smtClean="0"/>
              <a:t>可以采用</a:t>
            </a:r>
            <a:r>
              <a:rPr lang="en-US" altLang="zh-CN" dirty="0" smtClean="0"/>
              <a:t>façade</a:t>
            </a:r>
            <a:r>
              <a:rPr lang="zh-CN" altLang="en-US" dirty="0" smtClean="0"/>
              <a:t>层解决</a:t>
            </a:r>
            <a:endParaRPr lang="en-US" altLang="zh-CN" dirty="0" smtClean="0"/>
          </a:p>
          <a:p>
            <a:pPr lvl="1">
              <a:buFont typeface="Wingdings" panose="05000000000000000000" pitchFamily="2" charset="2"/>
              <a:buChar char="p"/>
              <a:defRPr/>
            </a:pPr>
            <a:r>
              <a:rPr lang="zh-CN" altLang="en-US" dirty="0" smtClean="0"/>
              <a:t>“合约反规范化”产生多重粒度，也倾向于细粒度的服务能力</a:t>
            </a:r>
            <a:endParaRPr lang="en-US" altLang="zh-CN" dirty="0" smtClean="0"/>
          </a:p>
        </p:txBody>
      </p:sp>
      <p:sp>
        <p:nvSpPr>
          <p:cNvPr id="26628"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02EC3B0-4F39-47C9-9196-DE0B336B63BC}" type="slidenum">
              <a:rPr lang="en-US" altLang="zh-CN" smtClean="0"/>
              <a:pPr eaLnBrk="1" hangingPunct="1"/>
              <a:t>20</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smtClean="0"/>
              <a:t>服务自治与服务模型 </a:t>
            </a:r>
            <a:r>
              <a:rPr lang="en-US" altLang="zh-CN" smtClean="0"/>
              <a:t>I</a:t>
            </a:r>
            <a:endParaRPr lang="zh-CN" altLang="en-US" smtClean="0"/>
          </a:p>
        </p:txBody>
      </p:sp>
      <p:sp>
        <p:nvSpPr>
          <p:cNvPr id="3" name="内容占位符 2"/>
          <p:cNvSpPr>
            <a:spLocks noGrp="1"/>
          </p:cNvSpPr>
          <p:nvPr>
            <p:ph idx="1"/>
          </p:nvPr>
        </p:nvSpPr>
        <p:spPr/>
        <p:txBody>
          <a:bodyPr>
            <a:normAutofit lnSpcReduction="10000"/>
          </a:bodyPr>
          <a:lstStyle/>
          <a:p>
            <a:pPr>
              <a:lnSpc>
                <a:spcPct val="110000"/>
              </a:lnSpc>
              <a:defRPr/>
            </a:pPr>
            <a:r>
              <a:rPr lang="zh-CN" altLang="en-US" dirty="0" smtClean="0"/>
              <a:t>达到较高的自治级别需要额外的开销</a:t>
            </a:r>
            <a:endParaRPr lang="en-US" altLang="zh-CN" dirty="0" smtClean="0"/>
          </a:p>
          <a:p>
            <a:pPr>
              <a:lnSpc>
                <a:spcPct val="110000"/>
              </a:lnSpc>
              <a:defRPr/>
            </a:pPr>
            <a:r>
              <a:rPr lang="zh-CN" altLang="en-US" dirty="0" smtClean="0"/>
              <a:t>因此，需要对服务存蓝图进行考察，并根据回报，区分优先等级</a:t>
            </a:r>
            <a:endParaRPr lang="en-US" altLang="zh-CN" dirty="0" smtClean="0"/>
          </a:p>
          <a:p>
            <a:pPr lvl="1">
              <a:lnSpc>
                <a:spcPct val="110000"/>
              </a:lnSpc>
              <a:defRPr/>
            </a:pPr>
            <a:r>
              <a:rPr lang="zh-CN" altLang="en-US" dirty="0" smtClean="0"/>
              <a:t>实体服务，倾向于核心服务层，并最有可能得到组合。倾向于获得完全自治级别，甚至是达到绝对隔离程度</a:t>
            </a:r>
            <a:endParaRPr lang="en-US" altLang="zh-CN" dirty="0" smtClean="0"/>
          </a:p>
          <a:p>
            <a:pPr lvl="1">
              <a:lnSpc>
                <a:spcPct val="110000"/>
              </a:lnSpc>
              <a:defRPr/>
            </a:pPr>
            <a:r>
              <a:rPr lang="zh-CN" altLang="en-US" dirty="0"/>
              <a:t>应用</a:t>
            </a:r>
            <a:r>
              <a:rPr lang="zh-CN" altLang="en-US" dirty="0" smtClean="0"/>
              <a:t>服务，也倾向于较高的自治级别。但由于常常需要封装遗留逻辑，往往具有混合的自治级别</a:t>
            </a:r>
            <a:endParaRPr lang="en-US" altLang="zh-CN" dirty="0" smtClean="0"/>
          </a:p>
          <a:p>
            <a:pPr lvl="1">
              <a:lnSpc>
                <a:spcPct val="110000"/>
              </a:lnSpc>
              <a:defRPr/>
            </a:pPr>
            <a:r>
              <a:rPr lang="zh-CN" altLang="en-US" dirty="0" smtClean="0"/>
              <a:t>任务服务和编排服务，取决于所组合服务的自治级别</a:t>
            </a:r>
            <a:endParaRPr lang="en-US" altLang="zh-CN" dirty="0" smtClean="0"/>
          </a:p>
        </p:txBody>
      </p:sp>
      <p:sp>
        <p:nvSpPr>
          <p:cNvPr id="2765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133E28F-DDAF-4783-A160-B429FE141450}" type="slidenum">
              <a:rPr lang="en-US" altLang="zh-CN" smtClean="0"/>
              <a:pPr eaLnBrk="1" hangingPunct="1"/>
              <a:t>21</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zh-CN" altLang="en-US" smtClean="0"/>
              <a:t>服务自治与服务模型 </a:t>
            </a:r>
            <a:r>
              <a:rPr lang="en-US" altLang="zh-CN" smtClean="0"/>
              <a:t>II</a:t>
            </a:r>
            <a:endParaRPr lang="zh-CN" altLang="en-US" smtClean="0"/>
          </a:p>
        </p:txBody>
      </p:sp>
      <p:sp>
        <p:nvSpPr>
          <p:cNvPr id="28675"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447C67F-D52C-473E-8CED-5F6C85F6ABE2}" type="slidenum">
              <a:rPr lang="en-US" altLang="zh-CN" smtClean="0"/>
              <a:pPr eaLnBrk="1" hangingPunct="1"/>
              <a:t>22</a:t>
            </a:fld>
            <a:endParaRPr lang="en-US" altLang="zh-CN" smtClean="0"/>
          </a:p>
        </p:txBody>
      </p:sp>
      <p:pic>
        <p:nvPicPr>
          <p:cNvPr id="2" name="图片 1"/>
          <p:cNvPicPr>
            <a:picLocks noChangeAspect="1"/>
          </p:cNvPicPr>
          <p:nvPr/>
        </p:nvPicPr>
        <p:blipFill>
          <a:blip r:embed="rId3"/>
          <a:stretch>
            <a:fillRect/>
          </a:stretch>
        </p:blipFill>
        <p:spPr>
          <a:xfrm>
            <a:off x="123727" y="1033832"/>
            <a:ext cx="6731471" cy="5825008"/>
          </a:xfrm>
          <a:prstGeom prst="rect">
            <a:avLst/>
          </a:prstGeom>
        </p:spPr>
      </p:pic>
      <p:sp>
        <p:nvSpPr>
          <p:cNvPr id="4" name="矩形 3"/>
          <p:cNvSpPr/>
          <p:nvPr/>
        </p:nvSpPr>
        <p:spPr>
          <a:xfrm>
            <a:off x="6335688" y="4581128"/>
            <a:ext cx="2808312" cy="1815882"/>
          </a:xfrm>
          <a:prstGeom prst="rect">
            <a:avLst/>
          </a:prstGeom>
        </p:spPr>
        <p:txBody>
          <a:bodyPr wrap="square">
            <a:spAutoFit/>
          </a:bodyPr>
          <a:lstStyle/>
          <a:p>
            <a:r>
              <a:rPr lang="en-US" altLang="zh-CN" sz="1600" dirty="0"/>
              <a:t>As a rule of thumb, the higher up we go in a service composition hierarchy, the more the autonomy of a service </a:t>
            </a:r>
            <a:r>
              <a:rPr lang="en-US" altLang="zh-CN" sz="1600" dirty="0" smtClean="0"/>
              <a:t>will depend </a:t>
            </a:r>
            <a:r>
              <a:rPr lang="en-US" altLang="zh-CN" sz="1600" dirty="0"/>
              <a:t>on the collective autonomy of the </a:t>
            </a:r>
            <a:r>
              <a:rPr lang="en-US" altLang="zh-CN" sz="1600" dirty="0" smtClean="0"/>
              <a:t>underlying composition</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dirty="0" smtClean="0"/>
              <a:t>服务自治与其他原则 </a:t>
            </a:r>
            <a:r>
              <a:rPr lang="en-US" altLang="zh-CN" dirty="0" smtClean="0"/>
              <a:t>I</a:t>
            </a:r>
            <a:endParaRPr lang="zh-CN" altLang="en-US" dirty="0" smtClean="0"/>
          </a:p>
        </p:txBody>
      </p:sp>
      <p:sp>
        <p:nvSpPr>
          <p:cNvPr id="29699"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08D368C-5B21-45B8-8BD0-314802819070}" type="slidenum">
              <a:rPr lang="en-US" altLang="zh-CN" smtClean="0"/>
              <a:pPr eaLnBrk="1" hangingPunct="1"/>
              <a:t>23</a:t>
            </a:fld>
            <a:endParaRPr lang="en-US" altLang="zh-CN" smtClean="0"/>
          </a:p>
        </p:txBody>
      </p:sp>
      <p:pic>
        <p:nvPicPr>
          <p:cNvPr id="2" name="图片 1"/>
          <p:cNvPicPr>
            <a:picLocks noChangeAspect="1"/>
          </p:cNvPicPr>
          <p:nvPr/>
        </p:nvPicPr>
        <p:blipFill>
          <a:blip r:embed="rId3"/>
          <a:stretch>
            <a:fillRect/>
          </a:stretch>
        </p:blipFill>
        <p:spPr>
          <a:xfrm>
            <a:off x="908422" y="1196752"/>
            <a:ext cx="7327155" cy="511437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smtClean="0"/>
              <a:t>服务自治与其他原则 </a:t>
            </a:r>
            <a:r>
              <a:rPr lang="en-US" altLang="zh-CN" smtClean="0"/>
              <a:t>II</a:t>
            </a:r>
            <a:endParaRPr lang="zh-CN" altLang="en-US" dirty="0" smtClean="0"/>
          </a:p>
        </p:txBody>
      </p:sp>
      <p:sp>
        <p:nvSpPr>
          <p:cNvPr id="3" name="内容占位符 2"/>
          <p:cNvSpPr>
            <a:spLocks noGrp="1"/>
          </p:cNvSpPr>
          <p:nvPr>
            <p:ph idx="1"/>
          </p:nvPr>
        </p:nvSpPr>
        <p:spPr/>
        <p:txBody>
          <a:bodyPr>
            <a:normAutofit fontScale="85000" lnSpcReduction="10000"/>
          </a:bodyPr>
          <a:lstStyle/>
          <a:p>
            <a:pPr>
              <a:lnSpc>
                <a:spcPct val="120000"/>
              </a:lnSpc>
            </a:pPr>
            <a:r>
              <a:rPr lang="zh-CN" altLang="en-US" dirty="0" smtClean="0"/>
              <a:t>服务自治与标准化服务合约</a:t>
            </a:r>
            <a:endParaRPr lang="en-US" altLang="zh-CN" dirty="0" smtClean="0"/>
          </a:p>
          <a:p>
            <a:pPr lvl="1">
              <a:lnSpc>
                <a:spcPct val="120000"/>
              </a:lnSpc>
            </a:pPr>
            <a:r>
              <a:rPr lang="zh-CN" altLang="en-US" dirty="0" smtClean="0"/>
              <a:t>服务合约自治直接与服务合约紧密相连</a:t>
            </a:r>
            <a:endParaRPr lang="en-US" altLang="zh-CN" dirty="0" smtClean="0"/>
          </a:p>
          <a:p>
            <a:pPr lvl="1">
              <a:lnSpc>
                <a:spcPct val="120000"/>
              </a:lnSpc>
            </a:pPr>
            <a:r>
              <a:rPr lang="zh-CN" altLang="en-US" dirty="0" smtClean="0"/>
              <a:t>规范化的考虑会影响到合约如何形成，以及如何与其他服务协调</a:t>
            </a:r>
            <a:endParaRPr lang="en-US" altLang="zh-CN" dirty="0" smtClean="0"/>
          </a:p>
          <a:p>
            <a:pPr lvl="1">
              <a:lnSpc>
                <a:spcPct val="120000"/>
              </a:lnSpc>
            </a:pPr>
            <a:r>
              <a:rPr lang="zh-CN" altLang="en-US" dirty="0" smtClean="0"/>
              <a:t>在服务合约上有越大的控制权</a:t>
            </a:r>
            <a:r>
              <a:rPr lang="zh-CN" altLang="en-US" dirty="0"/>
              <a:t>，</a:t>
            </a:r>
            <a:r>
              <a:rPr lang="zh-CN" altLang="en-US" dirty="0" smtClean="0"/>
              <a:t>服务</a:t>
            </a:r>
            <a:r>
              <a:rPr lang="zh-CN" altLang="en-US" dirty="0"/>
              <a:t>合约能被更好地定制和</a:t>
            </a:r>
            <a:r>
              <a:rPr lang="zh-CN" altLang="en-US" dirty="0" smtClean="0"/>
              <a:t>标准化，越能够确保底层实现可以在遵循既定自治级别的前提下，被独立设计</a:t>
            </a:r>
            <a:endParaRPr lang="en-US" altLang="zh-CN" dirty="0" smtClean="0"/>
          </a:p>
          <a:p>
            <a:pPr>
              <a:lnSpc>
                <a:spcPct val="120000"/>
              </a:lnSpc>
            </a:pPr>
            <a:r>
              <a:rPr lang="zh-CN" altLang="en-US" dirty="0" smtClean="0"/>
              <a:t>服务自治与服务松散耦合</a:t>
            </a:r>
            <a:endParaRPr lang="en-US" altLang="zh-CN" dirty="0" smtClean="0"/>
          </a:p>
          <a:p>
            <a:pPr lvl="1">
              <a:lnSpc>
                <a:spcPct val="120000"/>
              </a:lnSpc>
            </a:pPr>
            <a:r>
              <a:rPr lang="zh-CN" altLang="en-US" dirty="0" smtClean="0"/>
              <a:t>由于同样期望将服务之间的依赖最小化，服务自治在很大程度上支持服务松散耦合原则</a:t>
            </a:r>
            <a:endParaRPr lang="en-US" altLang="zh-CN" dirty="0" smtClean="0"/>
          </a:p>
          <a:p>
            <a:pPr lvl="2">
              <a:lnSpc>
                <a:spcPct val="120000"/>
              </a:lnSpc>
            </a:pPr>
            <a:r>
              <a:rPr lang="zh-CN" altLang="en-US" dirty="0" smtClean="0"/>
              <a:t>积极耦合会直接导致设计时自治的增加</a:t>
            </a:r>
            <a:r>
              <a:rPr lang="zh-CN" altLang="en-US" dirty="0"/>
              <a:t>；</a:t>
            </a:r>
            <a:r>
              <a:rPr lang="zh-CN" altLang="en-US" dirty="0" smtClean="0"/>
              <a:t>设计时自治的增加，又能更好地增强和优化服务的实现，从而支持运行时的自治</a:t>
            </a:r>
            <a:endParaRPr lang="en-US" altLang="zh-CN" dirty="0"/>
          </a:p>
        </p:txBody>
      </p:sp>
      <p:sp>
        <p:nvSpPr>
          <p:cNvPr id="30724"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345FFF98-D2EF-43A0-A9E4-A1750831C48C}" type="slidenum">
              <a:rPr lang="en-US" altLang="zh-CN" smtClean="0"/>
              <a:pPr/>
              <a:t>24</a:t>
            </a:fld>
            <a:endParaRPr lang="en-US" altLang="zh-CN" dirty="0"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zh-CN" altLang="en-US" smtClean="0"/>
              <a:t>服务自治与其他原则 </a:t>
            </a:r>
            <a:r>
              <a:rPr lang="en-US" altLang="zh-CN" smtClean="0"/>
              <a:t>III</a:t>
            </a:r>
            <a:endParaRPr lang="zh-CN" altLang="en-US" dirty="0" smtClean="0"/>
          </a:p>
        </p:txBody>
      </p:sp>
      <p:sp>
        <p:nvSpPr>
          <p:cNvPr id="32771" name="内容占位符 2"/>
          <p:cNvSpPr>
            <a:spLocks noGrp="1"/>
          </p:cNvSpPr>
          <p:nvPr>
            <p:ph idx="1"/>
          </p:nvPr>
        </p:nvSpPr>
        <p:spPr/>
        <p:txBody>
          <a:bodyPr>
            <a:normAutofit fontScale="92500"/>
          </a:bodyPr>
          <a:lstStyle/>
          <a:p>
            <a:pPr>
              <a:lnSpc>
                <a:spcPct val="110000"/>
              </a:lnSpc>
            </a:pPr>
            <a:r>
              <a:rPr lang="zh-CN" altLang="en-US" dirty="0" smtClean="0"/>
              <a:t>服务自治与服务抽象</a:t>
            </a:r>
            <a:endParaRPr lang="en-US" altLang="zh-CN" dirty="0" smtClean="0"/>
          </a:p>
          <a:p>
            <a:pPr lvl="1">
              <a:lnSpc>
                <a:spcPct val="110000"/>
              </a:lnSpc>
            </a:pPr>
            <a:r>
              <a:rPr lang="zh-CN" altLang="en-US" dirty="0" smtClean="0"/>
              <a:t>将一个服务的自治级别作为整个服务合约的一部分来发布</a:t>
            </a:r>
            <a:endParaRPr lang="en-US" altLang="zh-CN" dirty="0" smtClean="0"/>
          </a:p>
          <a:p>
            <a:pPr lvl="1">
              <a:lnSpc>
                <a:spcPct val="110000"/>
              </a:lnSpc>
            </a:pPr>
            <a:r>
              <a:rPr lang="zh-CN" altLang="en-US" dirty="0" smtClean="0"/>
              <a:t>服务自治的信息是服务质量信息抽象的一个例子</a:t>
            </a:r>
            <a:endParaRPr lang="en-US" altLang="zh-CN" dirty="0" smtClean="0"/>
          </a:p>
          <a:p>
            <a:pPr>
              <a:lnSpc>
                <a:spcPct val="110000"/>
              </a:lnSpc>
            </a:pPr>
            <a:r>
              <a:rPr lang="zh-CN" altLang="en-US" dirty="0" smtClean="0"/>
              <a:t>服务自治与服务可复用性</a:t>
            </a:r>
            <a:endParaRPr lang="en-US" altLang="zh-CN" dirty="0" smtClean="0"/>
          </a:p>
          <a:p>
            <a:pPr lvl="1">
              <a:lnSpc>
                <a:spcPct val="110000"/>
              </a:lnSpc>
            </a:pPr>
            <a:r>
              <a:rPr lang="zh-CN" altLang="en-US" dirty="0" smtClean="0"/>
              <a:t>自治的增加提高了一个服务的复用潜力</a:t>
            </a:r>
            <a:endParaRPr lang="en-US" altLang="zh-CN" dirty="0" smtClean="0"/>
          </a:p>
          <a:p>
            <a:pPr lvl="1">
              <a:lnSpc>
                <a:spcPct val="110000"/>
              </a:lnSpc>
            </a:pPr>
            <a:r>
              <a:rPr lang="zh-CN" altLang="en-US" dirty="0" smtClean="0"/>
              <a:t>通过增强服务的可靠性和提高服务行为的可预测性，其逻辑可以更加容易地适应多个服务消费者的需求</a:t>
            </a:r>
            <a:endParaRPr lang="en-US" altLang="zh-CN" dirty="0" smtClean="0"/>
          </a:p>
          <a:p>
            <a:pPr lvl="1">
              <a:lnSpc>
                <a:spcPct val="110000"/>
              </a:lnSpc>
            </a:pPr>
            <a:r>
              <a:rPr lang="zh-CN" altLang="en-US" dirty="0"/>
              <a:t>更好地支持</a:t>
            </a:r>
            <a:r>
              <a:rPr lang="zh-CN" altLang="en-US" dirty="0" smtClean="0"/>
              <a:t>服务运行环境的演化，从而应对复用所带来的并发要求</a:t>
            </a:r>
            <a:endParaRPr lang="zh-CN" altLang="en-US" dirty="0"/>
          </a:p>
        </p:txBody>
      </p:sp>
      <p:sp>
        <p:nvSpPr>
          <p:cNvPr id="32772"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4F3CDE12-15E1-4D06-AB95-E795022728C0}" type="slidenum">
              <a:rPr lang="en-US" altLang="zh-CN" smtClean="0"/>
              <a:pPr/>
              <a:t>25</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zh-CN" altLang="en-US" smtClean="0"/>
              <a:t>服务自治与其他原则 </a:t>
            </a:r>
            <a:r>
              <a:rPr lang="en-US" altLang="zh-CN" smtClean="0"/>
              <a:t>IV</a:t>
            </a:r>
            <a:endParaRPr lang="zh-CN" altLang="en-US" dirty="0" smtClean="0"/>
          </a:p>
        </p:txBody>
      </p:sp>
      <p:sp>
        <p:nvSpPr>
          <p:cNvPr id="34819" name="内容占位符 2"/>
          <p:cNvSpPr>
            <a:spLocks noGrp="1"/>
          </p:cNvSpPr>
          <p:nvPr>
            <p:ph idx="1"/>
          </p:nvPr>
        </p:nvSpPr>
        <p:spPr/>
        <p:txBody>
          <a:bodyPr/>
          <a:lstStyle/>
          <a:p>
            <a:r>
              <a:rPr lang="zh-CN" altLang="en-US" dirty="0" smtClean="0"/>
              <a:t>服务自治与服务无状态性</a:t>
            </a:r>
            <a:endParaRPr lang="en-US" altLang="zh-CN" dirty="0" smtClean="0"/>
          </a:p>
          <a:p>
            <a:pPr lvl="1"/>
            <a:r>
              <a:rPr lang="zh-CN" altLang="en-US" dirty="0" smtClean="0"/>
              <a:t>实现高级别的服务自治可以直接支持服务无状态性程度的增加</a:t>
            </a:r>
            <a:endParaRPr lang="en-US" altLang="zh-CN" dirty="0" smtClean="0"/>
          </a:p>
          <a:p>
            <a:r>
              <a:rPr lang="zh-CN" altLang="en-US" dirty="0" smtClean="0"/>
              <a:t>服务自治与服务可组合性</a:t>
            </a:r>
            <a:endParaRPr lang="en-US" altLang="zh-CN" dirty="0" smtClean="0"/>
          </a:p>
          <a:p>
            <a:pPr lvl="1"/>
            <a:r>
              <a:rPr lang="zh-CN" altLang="en-US" dirty="0" smtClean="0"/>
              <a:t>服务组合的整体自治性取决于它的所有组成成员自身的自治性</a:t>
            </a:r>
            <a:endParaRPr lang="en-US" altLang="zh-CN" dirty="0" smtClean="0"/>
          </a:p>
          <a:p>
            <a:pPr lvl="1"/>
            <a:r>
              <a:rPr lang="zh-CN" altLang="en-US" dirty="0" smtClean="0"/>
              <a:t>服务有越好的可靠性和可预侧性就越能组成更高效的大型服务组合</a:t>
            </a:r>
            <a:endParaRPr lang="zh-CN" altLang="en-US" dirty="0"/>
          </a:p>
        </p:txBody>
      </p:sp>
      <p:sp>
        <p:nvSpPr>
          <p:cNvPr id="34820"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756E8563-7104-476E-9E17-BFF74039E45C}" type="slidenum">
              <a:rPr lang="en-US" altLang="zh-CN" smtClean="0"/>
              <a:pPr/>
              <a:t>26</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r>
              <a:rPr lang="zh-CN" altLang="en-US" smtClean="0"/>
              <a:t>服务自治的相关风险</a:t>
            </a:r>
          </a:p>
        </p:txBody>
      </p:sp>
      <p:sp>
        <p:nvSpPr>
          <p:cNvPr id="36867" name="内容占位符 2"/>
          <p:cNvSpPr>
            <a:spLocks noGrp="1"/>
          </p:cNvSpPr>
          <p:nvPr>
            <p:ph idx="1"/>
          </p:nvPr>
        </p:nvSpPr>
        <p:spPr/>
        <p:txBody>
          <a:bodyPr/>
          <a:lstStyle/>
          <a:p>
            <a:pPr>
              <a:lnSpc>
                <a:spcPct val="150000"/>
              </a:lnSpc>
            </a:pPr>
            <a:r>
              <a:rPr lang="zh-CN" altLang="en-US" dirty="0" smtClean="0"/>
              <a:t>错误地判断服务的范围</a:t>
            </a:r>
            <a:endParaRPr lang="en-US" altLang="zh-CN" dirty="0" smtClean="0"/>
          </a:p>
          <a:p>
            <a:pPr lvl="1">
              <a:lnSpc>
                <a:spcPct val="150000"/>
              </a:lnSpc>
            </a:pPr>
            <a:r>
              <a:rPr lang="zh-CN" altLang="en-US" dirty="0" smtClean="0"/>
              <a:t>反模式</a:t>
            </a:r>
            <a:endParaRPr lang="en-US" altLang="zh-CN" dirty="0" smtClean="0"/>
          </a:p>
          <a:p>
            <a:pPr>
              <a:lnSpc>
                <a:spcPct val="150000"/>
              </a:lnSpc>
            </a:pPr>
            <a:r>
              <a:rPr lang="zh-CN" altLang="en-US" dirty="0" smtClean="0"/>
              <a:t>包装服务和遗留逻辑封装</a:t>
            </a:r>
            <a:endParaRPr lang="en-US" altLang="zh-CN" dirty="0" smtClean="0"/>
          </a:p>
          <a:p>
            <a:pPr lvl="1">
              <a:lnSpc>
                <a:spcPct val="150000"/>
              </a:lnSpc>
            </a:pPr>
            <a:r>
              <a:rPr lang="zh-CN" altLang="en-US" dirty="0" smtClean="0"/>
              <a:t>无法改变的自动化系统无法回避自治问题</a:t>
            </a:r>
            <a:endParaRPr lang="en-US" altLang="zh-CN" dirty="0"/>
          </a:p>
          <a:p>
            <a:pPr>
              <a:lnSpc>
                <a:spcPct val="150000"/>
              </a:lnSpc>
            </a:pPr>
            <a:r>
              <a:rPr lang="zh-CN" altLang="en-US" dirty="0" smtClean="0"/>
              <a:t>对服务需求的过高估计</a:t>
            </a:r>
            <a:endParaRPr lang="en-US" altLang="zh-CN" dirty="0" smtClean="0"/>
          </a:p>
          <a:p>
            <a:pPr lvl="1">
              <a:lnSpc>
                <a:spcPct val="150000"/>
              </a:lnSpc>
            </a:pPr>
            <a:r>
              <a:rPr lang="zh-CN" altLang="en-US" dirty="0" smtClean="0"/>
              <a:t>过于追求高自治</a:t>
            </a:r>
          </a:p>
        </p:txBody>
      </p:sp>
      <p:sp>
        <p:nvSpPr>
          <p:cNvPr id="36868"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C64A051-BD9A-4EE7-AB12-9AB416A42077}" type="slidenum">
              <a:rPr lang="en-US" altLang="zh-CN" smtClean="0"/>
              <a:pPr eaLnBrk="1" hangingPunct="1"/>
              <a:t>27</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zh-CN" altLang="en-US" smtClean="0"/>
              <a:t>错误地判断服务的范围</a:t>
            </a:r>
          </a:p>
        </p:txBody>
      </p:sp>
      <p:sp>
        <p:nvSpPr>
          <p:cNvPr id="37891" name="内容占位符 2"/>
          <p:cNvSpPr>
            <a:spLocks noGrp="1"/>
          </p:cNvSpPr>
          <p:nvPr>
            <p:ph idx="1"/>
          </p:nvPr>
        </p:nvSpPr>
        <p:spPr/>
        <p:txBody>
          <a:bodyPr/>
          <a:lstStyle/>
          <a:p>
            <a:pPr>
              <a:lnSpc>
                <a:spcPct val="150000"/>
              </a:lnSpc>
            </a:pPr>
            <a:r>
              <a:rPr lang="zh-CN" altLang="en-US" dirty="0" smtClean="0"/>
              <a:t>服务自治倾向于产生隔离的服务</a:t>
            </a:r>
            <a:endParaRPr lang="en-US" altLang="zh-CN" dirty="0" smtClean="0"/>
          </a:p>
          <a:p>
            <a:pPr>
              <a:lnSpc>
                <a:spcPct val="150000"/>
              </a:lnSpc>
            </a:pPr>
            <a:r>
              <a:rPr lang="zh-CN" altLang="en-US" dirty="0" smtClean="0"/>
              <a:t>如果在服务建模过程中，错误计算或者错误判断了服务的范围定义，在被部署到一个隔离的环境之后，将很难再被改变</a:t>
            </a:r>
            <a:endParaRPr lang="en-US" altLang="zh-CN" dirty="0" smtClean="0"/>
          </a:p>
          <a:p>
            <a:pPr>
              <a:lnSpc>
                <a:spcPct val="150000"/>
              </a:lnSpc>
            </a:pPr>
            <a:r>
              <a:rPr lang="zh-CN" altLang="en-US" dirty="0" smtClean="0"/>
              <a:t>服务能力也有类似的问题</a:t>
            </a:r>
          </a:p>
        </p:txBody>
      </p:sp>
      <p:sp>
        <p:nvSpPr>
          <p:cNvPr id="3789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AF85F77-F747-49E8-BB94-CF0F27A94DD6}" type="slidenum">
              <a:rPr lang="en-US" altLang="zh-CN" smtClean="0"/>
              <a:pPr eaLnBrk="1" hangingPunct="1"/>
              <a:t>28</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en-US" smtClean="0"/>
              <a:t>包装服务和遗留逻辑封装</a:t>
            </a:r>
          </a:p>
        </p:txBody>
      </p:sp>
      <p:sp>
        <p:nvSpPr>
          <p:cNvPr id="3" name="内容占位符 2"/>
          <p:cNvSpPr>
            <a:spLocks noGrp="1"/>
          </p:cNvSpPr>
          <p:nvPr>
            <p:ph idx="1"/>
          </p:nvPr>
        </p:nvSpPr>
        <p:spPr/>
        <p:txBody>
          <a:bodyPr>
            <a:normAutofit fontScale="92500" lnSpcReduction="10000"/>
          </a:bodyPr>
          <a:lstStyle/>
          <a:p>
            <a:pPr>
              <a:lnSpc>
                <a:spcPct val="150000"/>
              </a:lnSpc>
            </a:pPr>
            <a:r>
              <a:rPr lang="zh-CN" altLang="en-US" dirty="0" smtClean="0"/>
              <a:t>与封装相关联的服务自治风险包括</a:t>
            </a:r>
            <a:r>
              <a:rPr lang="en-US" altLang="zh-CN" dirty="0" smtClean="0"/>
              <a:t>:</a:t>
            </a:r>
          </a:p>
          <a:p>
            <a:pPr lvl="1">
              <a:lnSpc>
                <a:spcPct val="150000"/>
              </a:lnSpc>
            </a:pPr>
            <a:r>
              <a:rPr lang="zh-CN" altLang="en-US" dirty="0" smtClean="0"/>
              <a:t>为了实现服务而使用的服务适配器不够灵活，并且无法被充分定制。这会威胁到标准化和可发现性这类设计特性</a:t>
            </a:r>
            <a:endParaRPr lang="en-US" altLang="zh-CN" dirty="0" smtClean="0"/>
          </a:p>
          <a:p>
            <a:pPr lvl="1">
              <a:lnSpc>
                <a:spcPct val="150000"/>
              </a:lnSpc>
            </a:pPr>
            <a:r>
              <a:rPr lang="zh-CN" altLang="en-US" dirty="0" smtClean="0"/>
              <a:t>底层遗留环境是无法被定制的，因而会危害到其他面向服务原则的应用</a:t>
            </a:r>
            <a:endParaRPr lang="en-US" altLang="zh-CN" dirty="0" smtClean="0"/>
          </a:p>
          <a:p>
            <a:pPr>
              <a:lnSpc>
                <a:spcPct val="150000"/>
              </a:lnSpc>
            </a:pPr>
            <a:r>
              <a:rPr lang="zh-CN" altLang="en-US" dirty="0" smtClean="0"/>
              <a:t>当服务的实现需要封装遗留逻辑时，它所能达到的自治级别几乎总是会明显降低</a:t>
            </a:r>
            <a:endParaRPr lang="zh-CN" altLang="en-US" dirty="0"/>
          </a:p>
        </p:txBody>
      </p:sp>
      <p:sp>
        <p:nvSpPr>
          <p:cNvPr id="38916"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2925D851-5BE6-42A0-8D66-81CF5C8CF4C9}" type="slidenum">
              <a:rPr lang="en-US" altLang="zh-CN" smtClean="0"/>
              <a:pPr/>
              <a:t>29</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zh-CN" altLang="en-US" smtClean="0"/>
              <a:t>对服务需求的过高估计</a:t>
            </a:r>
          </a:p>
        </p:txBody>
      </p:sp>
      <p:sp>
        <p:nvSpPr>
          <p:cNvPr id="39939" name="内容占位符 2"/>
          <p:cNvSpPr>
            <a:spLocks noGrp="1"/>
          </p:cNvSpPr>
          <p:nvPr>
            <p:ph idx="1"/>
          </p:nvPr>
        </p:nvSpPr>
        <p:spPr/>
        <p:txBody>
          <a:bodyPr/>
          <a:lstStyle/>
          <a:p>
            <a:pPr>
              <a:lnSpc>
                <a:spcPct val="150000"/>
              </a:lnSpc>
            </a:pPr>
            <a:r>
              <a:rPr lang="zh-CN" altLang="en-US" dirty="0" smtClean="0"/>
              <a:t>服务自治要求较高的资源，长期高估服务的使用需求，可能会在一定程度上破坏面向服务计算的减低</a:t>
            </a:r>
            <a:r>
              <a:rPr lang="en-US" altLang="zh-CN" dirty="0" smtClean="0"/>
              <a:t>IT</a:t>
            </a:r>
            <a:r>
              <a:rPr lang="zh-CN" altLang="en-US" dirty="0" smtClean="0"/>
              <a:t>负载的目标</a:t>
            </a:r>
            <a:endParaRPr lang="en-US" altLang="zh-CN" dirty="0" smtClean="0"/>
          </a:p>
          <a:p>
            <a:pPr>
              <a:lnSpc>
                <a:spcPct val="150000"/>
              </a:lnSpc>
            </a:pPr>
            <a:r>
              <a:rPr lang="zh-CN" altLang="en-US" dirty="0" smtClean="0"/>
              <a:t>因此，即使资源非常充裕，对需要达到较高自治级别的服务也需逐个进行代价评估</a:t>
            </a:r>
          </a:p>
        </p:txBody>
      </p:sp>
      <p:sp>
        <p:nvSpPr>
          <p:cNvPr id="39940"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4E2C3B4-E30C-4045-B38D-10F48A407144}" type="slidenum">
              <a:rPr lang="en-US" altLang="zh-CN" smtClean="0"/>
              <a:pPr eaLnBrk="1" hangingPunct="1"/>
              <a:t>30</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normAutofit fontScale="90000"/>
          </a:bodyPr>
          <a:lstStyle/>
          <a:p>
            <a:pPr>
              <a:defRPr/>
            </a:pPr>
            <a:r>
              <a:rPr lang="zh-CN" altLang="en-US" dirty="0" smtClean="0"/>
              <a:t>案例研究</a:t>
            </a:r>
            <a:r>
              <a:rPr lang="en-US" altLang="zh-CN" dirty="0" smtClean="0"/>
              <a:t>——</a:t>
            </a:r>
            <a:br>
              <a:rPr lang="en-US" altLang="zh-CN" dirty="0" smtClean="0"/>
            </a:br>
            <a:r>
              <a:rPr lang="en-US" altLang="zh-CN" dirty="0" err="1" smtClean="0"/>
              <a:t>Getltem</a:t>
            </a:r>
            <a:r>
              <a:rPr lang="en-US" altLang="zh-CN" dirty="0" smtClean="0"/>
              <a:t> </a:t>
            </a:r>
            <a:r>
              <a:rPr lang="zh-CN" altLang="en-US" dirty="0" smtClean="0"/>
              <a:t>操作现在所实现的共享自治</a:t>
            </a:r>
          </a:p>
        </p:txBody>
      </p:sp>
      <p:sp>
        <p:nvSpPr>
          <p:cNvPr id="40963"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1DA84B1-ACDA-4CB6-98F9-F5DF3422D50D}" type="slidenum">
              <a:rPr lang="en-US" altLang="zh-CN" smtClean="0"/>
              <a:pPr eaLnBrk="1" hangingPunct="1"/>
              <a:t>31</a:t>
            </a:fld>
            <a:endParaRPr lang="en-US" altLang="zh-CN" smtClean="0"/>
          </a:p>
        </p:txBody>
      </p:sp>
      <p:pic>
        <p:nvPicPr>
          <p:cNvPr id="2" name="图片 1"/>
          <p:cNvPicPr>
            <a:picLocks noChangeAspect="1"/>
          </p:cNvPicPr>
          <p:nvPr/>
        </p:nvPicPr>
        <p:blipFill>
          <a:blip r:embed="rId3"/>
          <a:stretch>
            <a:fillRect/>
          </a:stretch>
        </p:blipFill>
        <p:spPr>
          <a:xfrm>
            <a:off x="179512" y="1095074"/>
            <a:ext cx="6347366" cy="5659669"/>
          </a:xfrm>
          <a:prstGeom prst="rect">
            <a:avLst/>
          </a:prstGeom>
        </p:spPr>
      </p:pic>
      <p:sp>
        <p:nvSpPr>
          <p:cNvPr id="4" name="矩形 3"/>
          <p:cNvSpPr/>
          <p:nvPr/>
        </p:nvSpPr>
        <p:spPr>
          <a:xfrm>
            <a:off x="6619518" y="1970527"/>
            <a:ext cx="2512686" cy="3908762"/>
          </a:xfrm>
          <a:prstGeom prst="rect">
            <a:avLst/>
          </a:prstGeom>
        </p:spPr>
        <p:txBody>
          <a:bodyPr wrap="square">
            <a:spAutoFit/>
          </a:bodyPr>
          <a:lstStyle/>
          <a:p>
            <a:r>
              <a:rPr lang="en-US" altLang="zh-CN" sz="1600" dirty="0"/>
              <a:t>The current service operation-level architecture for the </a:t>
            </a:r>
            <a:r>
              <a:rPr lang="en-US" altLang="zh-CN" sz="1600" dirty="0" err="1"/>
              <a:t>GetItem</a:t>
            </a:r>
            <a:r>
              <a:rPr lang="en-US" altLang="zh-CN" sz="1600" dirty="0"/>
              <a:t> operation illustrates how busy the inventory control</a:t>
            </a:r>
          </a:p>
          <a:p>
            <a:r>
              <a:rPr lang="en-US" altLang="zh-CN" sz="1600" dirty="0"/>
              <a:t>environment can get. Desktop users, integrated applications, and even other operations from the same service are</a:t>
            </a:r>
          </a:p>
          <a:p>
            <a:r>
              <a:rPr lang="en-US" altLang="zh-CN" sz="1600" dirty="0"/>
              <a:t>all clients that will potentially compete for the same underlying resources at runtime.</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normAutofit fontScale="90000"/>
          </a:bodyPr>
          <a:lstStyle/>
          <a:p>
            <a:pPr>
              <a:defRPr/>
            </a:pPr>
            <a:r>
              <a:rPr lang="zh-CN" altLang="en-US" dirty="0" smtClean="0"/>
              <a:t>案例研究</a:t>
            </a:r>
            <a:r>
              <a:rPr lang="en-US" altLang="zh-CN" dirty="0" smtClean="0"/>
              <a:t>——</a:t>
            </a:r>
            <a:r>
              <a:rPr lang="zh-CN" altLang="en-US" dirty="0" smtClean="0"/>
              <a:t>更高自治的操作级别架构</a:t>
            </a:r>
          </a:p>
        </p:txBody>
      </p:sp>
      <p:sp>
        <p:nvSpPr>
          <p:cNvPr id="4198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8766E92-736D-45B2-BEEB-4FFC0A9FBF81}" type="slidenum">
              <a:rPr lang="en-US" altLang="zh-CN" smtClean="0"/>
              <a:pPr eaLnBrk="1" hangingPunct="1"/>
              <a:t>32</a:t>
            </a:fld>
            <a:endParaRPr lang="en-US" altLang="zh-CN" smtClean="0"/>
          </a:p>
        </p:txBody>
      </p:sp>
      <p:pic>
        <p:nvPicPr>
          <p:cNvPr id="2" name="图片 1"/>
          <p:cNvPicPr>
            <a:picLocks noChangeAspect="1"/>
          </p:cNvPicPr>
          <p:nvPr/>
        </p:nvPicPr>
        <p:blipFill>
          <a:blip r:embed="rId3"/>
          <a:stretch>
            <a:fillRect/>
          </a:stretch>
        </p:blipFill>
        <p:spPr>
          <a:xfrm>
            <a:off x="395536" y="1340768"/>
            <a:ext cx="4680520" cy="4966416"/>
          </a:xfrm>
          <a:prstGeom prst="rect">
            <a:avLst/>
          </a:prstGeom>
        </p:spPr>
      </p:pic>
      <p:sp>
        <p:nvSpPr>
          <p:cNvPr id="4" name="矩形 3"/>
          <p:cNvSpPr/>
          <p:nvPr/>
        </p:nvSpPr>
        <p:spPr>
          <a:xfrm>
            <a:off x="5220072" y="3823976"/>
            <a:ext cx="3816424" cy="1815882"/>
          </a:xfrm>
          <a:prstGeom prst="rect">
            <a:avLst/>
          </a:prstGeom>
        </p:spPr>
        <p:txBody>
          <a:bodyPr wrap="square">
            <a:spAutoFit/>
          </a:bodyPr>
          <a:lstStyle/>
          <a:p>
            <a:r>
              <a:rPr lang="en-US" altLang="zh-CN" sz="1600" dirty="0"/>
              <a:t>The revised service operation-level architecture for the </a:t>
            </a:r>
            <a:r>
              <a:rPr lang="en-US" altLang="zh-CN" sz="1600" dirty="0" err="1"/>
              <a:t>GetItem</a:t>
            </a:r>
            <a:r>
              <a:rPr lang="en-US" altLang="zh-CN" sz="1600" dirty="0"/>
              <a:t> operation. The </a:t>
            </a:r>
            <a:r>
              <a:rPr lang="en-US" altLang="zh-CN" sz="1600" dirty="0" smtClean="0"/>
              <a:t>new replicated </a:t>
            </a:r>
            <a:r>
              <a:rPr lang="en-US" altLang="zh-CN" sz="1600" dirty="0"/>
              <a:t>database establishes a partially isolated access environment for the </a:t>
            </a:r>
            <a:r>
              <a:rPr lang="en-US" altLang="zh-CN" sz="1600" dirty="0" smtClean="0"/>
              <a:t>operation, significantly </a:t>
            </a:r>
            <a:r>
              <a:rPr lang="en-US" altLang="zh-CN" sz="1600" dirty="0"/>
              <a:t>increasing autonomy and overall performance predictability</a:t>
            </a:r>
            <a:endParaRPr lang="zh-CN" altLang="en-US" sz="16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83931" y="1412776"/>
            <a:ext cx="5815394" cy="5148808"/>
          </a:xfrm>
          <a:prstGeom prst="rect">
            <a:avLst/>
          </a:prstGeom>
        </p:spPr>
      </p:pic>
      <p:sp>
        <p:nvSpPr>
          <p:cNvPr id="37890" name="标题 1"/>
          <p:cNvSpPr>
            <a:spLocks noGrp="1"/>
          </p:cNvSpPr>
          <p:nvPr>
            <p:ph type="title"/>
          </p:nvPr>
        </p:nvSpPr>
        <p:spPr/>
        <p:txBody>
          <a:bodyPr>
            <a:normAutofit fontScale="90000"/>
          </a:bodyPr>
          <a:lstStyle/>
          <a:p>
            <a:pPr>
              <a:defRPr/>
            </a:pPr>
            <a:r>
              <a:rPr lang="zh-CN" altLang="en-US" dirty="0" smtClean="0"/>
              <a:t>案例研究</a:t>
            </a:r>
            <a:r>
              <a:rPr lang="en-US" altLang="zh-CN" dirty="0" smtClean="0"/>
              <a:t>——</a:t>
            </a:r>
            <a:br>
              <a:rPr lang="en-US" altLang="zh-CN" dirty="0" smtClean="0"/>
            </a:br>
            <a:r>
              <a:rPr lang="zh-CN" altLang="en-US" dirty="0" smtClean="0"/>
              <a:t>对于</a:t>
            </a:r>
            <a:r>
              <a:rPr lang="en-US" altLang="zh-CN" dirty="0" smtClean="0"/>
              <a:t>Run Lab Project </a:t>
            </a:r>
            <a:r>
              <a:rPr lang="zh-CN" altLang="en-US" dirty="0" smtClean="0"/>
              <a:t>组合的影晌</a:t>
            </a:r>
          </a:p>
        </p:txBody>
      </p:sp>
      <p:sp>
        <p:nvSpPr>
          <p:cNvPr id="4301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CAC2D0E-2A77-4404-9F8F-CA0225A21F19}" type="slidenum">
              <a:rPr lang="en-US" altLang="zh-CN" smtClean="0"/>
              <a:pPr eaLnBrk="1" hangingPunct="1"/>
              <a:t>33</a:t>
            </a:fld>
            <a:endParaRPr lang="en-US" altLang="zh-CN" smtClean="0"/>
          </a:p>
        </p:txBody>
      </p:sp>
      <p:sp>
        <p:nvSpPr>
          <p:cNvPr id="4" name="矩形 3"/>
          <p:cNvSpPr/>
          <p:nvPr/>
        </p:nvSpPr>
        <p:spPr>
          <a:xfrm>
            <a:off x="4788024" y="2417520"/>
            <a:ext cx="4355976" cy="1569660"/>
          </a:xfrm>
          <a:prstGeom prst="rect">
            <a:avLst/>
          </a:prstGeom>
        </p:spPr>
        <p:txBody>
          <a:bodyPr wrap="square">
            <a:spAutoFit/>
          </a:bodyPr>
          <a:lstStyle/>
          <a:p>
            <a:r>
              <a:rPr lang="en-US" altLang="zh-CN" sz="1600" dirty="0"/>
              <a:t>Increasing the autonomy of the </a:t>
            </a:r>
            <a:r>
              <a:rPr lang="en-US" altLang="zh-CN" sz="1600" dirty="0" err="1"/>
              <a:t>GetItem</a:t>
            </a:r>
            <a:r>
              <a:rPr lang="en-US" altLang="zh-CN" sz="1600" dirty="0"/>
              <a:t> operation has a cascading effect in that it enhances autonomy in all </a:t>
            </a:r>
            <a:r>
              <a:rPr lang="en-US" altLang="zh-CN" sz="1600" dirty="0" smtClean="0"/>
              <a:t>levels of </a:t>
            </a:r>
            <a:r>
              <a:rPr lang="en-US" altLang="zh-CN" sz="1600" dirty="0"/>
              <a:t>parent composing services. As a result, the reliability and predictability of the overall automation of </a:t>
            </a:r>
            <a:r>
              <a:rPr lang="en-US" altLang="zh-CN" sz="1600" dirty="0" smtClean="0"/>
              <a:t>the Lab </a:t>
            </a:r>
            <a:r>
              <a:rPr lang="en-US" altLang="zh-CN" sz="1600" dirty="0"/>
              <a:t>Project process is improved</a:t>
            </a:r>
            <a:endParaRPr lang="zh-CN" altLang="en-US" sz="16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normAutofit fontScale="90000"/>
          </a:bodyPr>
          <a:lstStyle/>
          <a:p>
            <a:pPr>
              <a:defRPr/>
            </a:pPr>
            <a:r>
              <a:rPr lang="zh-CN" altLang="en-US" dirty="0" smtClean="0"/>
              <a:t>服务无状态性</a:t>
            </a:r>
            <a:r>
              <a:rPr lang="en-US" altLang="zh-CN" dirty="0" smtClean="0"/>
              <a:t/>
            </a:r>
            <a:br>
              <a:rPr lang="en-US" altLang="zh-CN" dirty="0" smtClean="0"/>
            </a:br>
            <a:r>
              <a:rPr lang="zh-CN" altLang="en-US" dirty="0" smtClean="0"/>
              <a:t>（状态管理延迟与无状态性设计</a:t>
            </a:r>
            <a:r>
              <a:rPr lang="zh-CN" altLang="en-US" dirty="0"/>
              <a:t>）</a:t>
            </a:r>
            <a:r>
              <a:rPr lang="en-US" altLang="zh-CN" dirty="0" smtClean="0"/>
              <a:t>I</a:t>
            </a:r>
            <a:endParaRPr lang="zh-CN" altLang="en-US" dirty="0" smtClean="0"/>
          </a:p>
        </p:txBody>
      </p:sp>
      <p:sp>
        <p:nvSpPr>
          <p:cNvPr id="5" name="内容占位符 4"/>
          <p:cNvSpPr>
            <a:spLocks noGrp="1"/>
          </p:cNvSpPr>
          <p:nvPr>
            <p:ph idx="1"/>
          </p:nvPr>
        </p:nvSpPr>
        <p:spPr/>
        <p:txBody>
          <a:bodyPr>
            <a:normAutofit fontScale="92500" lnSpcReduction="20000"/>
          </a:bodyPr>
          <a:lstStyle/>
          <a:p>
            <a:pPr>
              <a:lnSpc>
                <a:spcPct val="120000"/>
              </a:lnSpc>
              <a:defRPr/>
            </a:pPr>
            <a:r>
              <a:rPr lang="zh-CN" altLang="en-US" dirty="0" smtClean="0"/>
              <a:t>服务的可复用性和可组合性，强调服务处理逻辑的优化，通过</a:t>
            </a:r>
            <a:r>
              <a:rPr lang="zh-CN" altLang="en-US" dirty="0"/>
              <a:t>尽量减少资源</a:t>
            </a:r>
            <a:r>
              <a:rPr lang="zh-CN" altLang="en-US" dirty="0" smtClean="0"/>
              <a:t>消耗，满足尽可能多</a:t>
            </a:r>
            <a:r>
              <a:rPr lang="zh-CN" altLang="en-US" dirty="0"/>
              <a:t>的</a:t>
            </a:r>
            <a:r>
              <a:rPr lang="zh-CN" altLang="en-US" dirty="0" smtClean="0"/>
              <a:t>消费者程序的需要</a:t>
            </a:r>
            <a:endParaRPr lang="en-US" altLang="zh-CN" dirty="0" smtClean="0"/>
          </a:p>
          <a:p>
            <a:pPr>
              <a:lnSpc>
                <a:spcPct val="120000"/>
              </a:lnSpc>
              <a:defRPr/>
            </a:pPr>
            <a:r>
              <a:rPr lang="zh-CN" altLang="en-US" dirty="0" smtClean="0"/>
              <a:t>在服务组合的复杂性上升的同时，整个组合生命周期内需要被保留和管理的活动相关数据的数量也在增加</a:t>
            </a:r>
            <a:endParaRPr lang="en-US" altLang="zh-CN" dirty="0" smtClean="0"/>
          </a:p>
          <a:p>
            <a:pPr lvl="1">
              <a:lnSpc>
                <a:spcPct val="120000"/>
              </a:lnSpc>
              <a:defRPr/>
            </a:pPr>
            <a:r>
              <a:rPr lang="zh-CN" altLang="en-US" dirty="0" smtClean="0"/>
              <a:t>服务需要处理并保持这些数据，同时等待组合中其他服务执行它们的逻辑，这些服务对整个底层设施造成了额外的负担</a:t>
            </a:r>
            <a:endParaRPr lang="en-US" altLang="zh-CN" dirty="0" smtClean="0"/>
          </a:p>
          <a:p>
            <a:pPr lvl="1">
              <a:lnSpc>
                <a:spcPct val="120000"/>
              </a:lnSpc>
              <a:defRPr/>
            </a:pPr>
            <a:r>
              <a:rPr lang="zh-CN" altLang="en-US" dirty="0" smtClean="0"/>
              <a:t>特别是当众多的服务实例需要同时存在时，将会进一步导致系统资源耗尽</a:t>
            </a:r>
            <a:endParaRPr lang="zh-CN" altLang="en-US" dirty="0"/>
          </a:p>
        </p:txBody>
      </p:sp>
      <p:sp>
        <p:nvSpPr>
          <p:cNvPr id="4403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E5B7265-7F8C-4C30-A30B-4BB36497A07A}" type="slidenum">
              <a:rPr lang="en-US" altLang="zh-CN" smtClean="0"/>
              <a:pPr eaLnBrk="1" hangingPunct="1"/>
              <a:t>34</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normAutofit fontScale="90000"/>
          </a:bodyPr>
          <a:lstStyle/>
          <a:p>
            <a:pPr>
              <a:defRPr/>
            </a:pPr>
            <a:r>
              <a:rPr lang="zh-CN" altLang="en-US" dirty="0" smtClean="0"/>
              <a:t>服务无状态性</a:t>
            </a:r>
            <a:r>
              <a:rPr lang="en-US" altLang="zh-CN" dirty="0" smtClean="0"/>
              <a:t/>
            </a:r>
            <a:br>
              <a:rPr lang="en-US" altLang="zh-CN" dirty="0" smtClean="0"/>
            </a:br>
            <a:r>
              <a:rPr lang="zh-CN" altLang="en-US" dirty="0" smtClean="0"/>
              <a:t>（状态管理延迟与无状态性设计）</a:t>
            </a:r>
            <a:r>
              <a:rPr lang="en-US" altLang="zh-CN" dirty="0" smtClean="0"/>
              <a:t>II</a:t>
            </a:r>
            <a:endParaRPr lang="zh-CN" altLang="en-US" dirty="0" smtClean="0"/>
          </a:p>
        </p:txBody>
      </p:sp>
      <p:sp>
        <p:nvSpPr>
          <p:cNvPr id="3" name="内容占位符 2"/>
          <p:cNvSpPr>
            <a:spLocks noGrp="1"/>
          </p:cNvSpPr>
          <p:nvPr>
            <p:ph sz="half" idx="1"/>
          </p:nvPr>
        </p:nvSpPr>
        <p:spPr>
          <a:xfrm>
            <a:off x="457200" y="1600200"/>
            <a:ext cx="4043363" cy="4530725"/>
          </a:xfrm>
        </p:spPr>
        <p:txBody>
          <a:bodyPr anchor="ctr">
            <a:normAutofit/>
          </a:bodyPr>
          <a:lstStyle/>
          <a:p>
            <a:pPr>
              <a:lnSpc>
                <a:spcPct val="110000"/>
              </a:lnSpc>
              <a:defRPr/>
            </a:pPr>
            <a:r>
              <a:rPr lang="zh-CN" altLang="en-US" sz="2400" dirty="0" smtClean="0"/>
              <a:t>为了使服务的可扩展性最大化，也为了服务库存的最大化利用，服务和其周围的架构可被设计为支持对状态管理职责的委托</a:t>
            </a:r>
            <a:r>
              <a:rPr lang="en-US" altLang="zh-CN" sz="2400" dirty="0" smtClean="0"/>
              <a:t>(delegation) </a:t>
            </a:r>
            <a:r>
              <a:rPr lang="zh-CN" altLang="en-US" sz="2400" dirty="0" smtClean="0"/>
              <a:t>和延迟</a:t>
            </a:r>
            <a:r>
              <a:rPr lang="en-US" altLang="zh-CN" sz="2400" dirty="0" smtClean="0"/>
              <a:t>(deferral) </a:t>
            </a:r>
          </a:p>
          <a:p>
            <a:pPr>
              <a:lnSpc>
                <a:spcPct val="110000"/>
              </a:lnSpc>
              <a:defRPr/>
            </a:pPr>
            <a:r>
              <a:rPr lang="zh-CN" altLang="en-US" sz="2400" dirty="0" smtClean="0"/>
              <a:t>从而采用无状态性</a:t>
            </a:r>
            <a:r>
              <a:rPr lang="en-US" altLang="zh-CN" sz="2400" dirty="0" smtClean="0"/>
              <a:t>(statelessness) </a:t>
            </a:r>
            <a:r>
              <a:rPr lang="zh-CN" altLang="en-US" sz="2400" dirty="0" smtClean="0"/>
              <a:t>改进服务设计</a:t>
            </a:r>
            <a:endParaRPr lang="zh-CN" altLang="en-US" sz="2400" dirty="0"/>
          </a:p>
        </p:txBody>
      </p:sp>
      <p:sp>
        <p:nvSpPr>
          <p:cNvPr id="4506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9B97219-F132-44E6-89CA-CAA1FAA56532}" type="slidenum">
              <a:rPr lang="en-US" altLang="zh-CN" smtClean="0"/>
              <a:pPr eaLnBrk="1" hangingPunct="1"/>
              <a:t>35</a:t>
            </a:fld>
            <a:endParaRPr lang="en-US" altLang="zh-CN" dirty="0" smtClean="0"/>
          </a:p>
        </p:txBody>
      </p:sp>
      <p:pic>
        <p:nvPicPr>
          <p:cNvPr id="2" name="图片 1"/>
          <p:cNvPicPr>
            <a:picLocks noChangeAspect="1"/>
          </p:cNvPicPr>
          <p:nvPr/>
        </p:nvPicPr>
        <p:blipFill>
          <a:blip r:embed="rId3"/>
          <a:stretch>
            <a:fillRect/>
          </a:stretch>
        </p:blipFill>
        <p:spPr>
          <a:xfrm>
            <a:off x="4819650" y="1600200"/>
            <a:ext cx="4324350" cy="3057525"/>
          </a:xfrm>
          <a:prstGeom prst="rect">
            <a:avLst/>
          </a:prstGeom>
        </p:spPr>
      </p:pic>
      <p:sp>
        <p:nvSpPr>
          <p:cNvPr id="5" name="矩形 4"/>
          <p:cNvSpPr/>
          <p:nvPr/>
        </p:nvSpPr>
        <p:spPr>
          <a:xfrm>
            <a:off x="4975301" y="4880242"/>
            <a:ext cx="3787699" cy="1323439"/>
          </a:xfrm>
          <a:prstGeom prst="rect">
            <a:avLst/>
          </a:prstGeom>
        </p:spPr>
        <p:txBody>
          <a:bodyPr wrap="square">
            <a:spAutoFit/>
          </a:bodyPr>
          <a:lstStyle/>
          <a:p>
            <a:r>
              <a:rPr lang="en-US" altLang="zh-CN" sz="1600" dirty="0"/>
              <a:t>This principle encourages us to incorporate state </a:t>
            </a:r>
            <a:r>
              <a:rPr lang="en-US" altLang="zh-CN" sz="1600" dirty="0" smtClean="0"/>
              <a:t>management deferral </a:t>
            </a:r>
            <a:r>
              <a:rPr lang="en-US" altLang="zh-CN" sz="1600" dirty="0"/>
              <a:t>extensions within our service designs so as </a:t>
            </a:r>
            <a:r>
              <a:rPr lang="en-US" altLang="zh-CN" sz="1600" dirty="0" smtClean="0"/>
              <a:t>to keep </a:t>
            </a:r>
            <a:r>
              <a:rPr lang="en-US" altLang="zh-CN" sz="1600" dirty="0"/>
              <a:t>services in a stateless condition wherever appropriate</a:t>
            </a:r>
            <a:endParaRPr lang="zh-CN" altLang="en-US" sz="16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zh-CN" altLang="en-US" smtClean="0"/>
              <a:t>状态管理 </a:t>
            </a:r>
            <a:r>
              <a:rPr lang="en-US" altLang="zh-CN" smtClean="0"/>
              <a:t>I</a:t>
            </a:r>
            <a:endParaRPr lang="zh-CN" altLang="en-US" smtClean="0"/>
          </a:p>
        </p:txBody>
      </p:sp>
      <p:sp>
        <p:nvSpPr>
          <p:cNvPr id="46083" name="内容占位符 2"/>
          <p:cNvSpPr>
            <a:spLocks noGrp="1"/>
          </p:cNvSpPr>
          <p:nvPr>
            <p:ph idx="1"/>
          </p:nvPr>
        </p:nvSpPr>
        <p:spPr/>
        <p:txBody>
          <a:bodyPr/>
          <a:lstStyle/>
          <a:p>
            <a:r>
              <a:rPr lang="zh-CN" altLang="en-US" dirty="0" smtClean="0"/>
              <a:t>状态指的是某些事物的一般情况</a:t>
            </a:r>
            <a:endParaRPr lang="en-US" altLang="zh-CN" dirty="0" smtClean="0"/>
          </a:p>
          <a:p>
            <a:r>
              <a:rPr lang="zh-CN" altLang="en-US" dirty="0" smtClean="0"/>
              <a:t>程序可以拥有不同的状态，并在这些状态之间进行转换</a:t>
            </a:r>
            <a:endParaRPr lang="en-US" altLang="zh-CN" dirty="0" smtClean="0"/>
          </a:p>
          <a:p>
            <a:r>
              <a:rPr lang="zh-CN" altLang="en-US" dirty="0" smtClean="0"/>
              <a:t>每种状态都可以使用数据来表达和描述，这些数据倾向于暂时性</a:t>
            </a:r>
            <a:endParaRPr lang="en-US" altLang="zh-CN" dirty="0" smtClean="0"/>
          </a:p>
          <a:p>
            <a:r>
              <a:rPr lang="zh-CN" altLang="en-US" dirty="0" smtClean="0"/>
              <a:t>状态管理 </a:t>
            </a:r>
            <a:r>
              <a:rPr lang="en-US" altLang="zh-CN" dirty="0" smtClean="0"/>
              <a:t>(state management) </a:t>
            </a:r>
            <a:r>
              <a:rPr lang="zh-CN" altLang="en-US" dirty="0" smtClean="0"/>
              <a:t>是对这种暂时的、活动特定的数据的管理</a:t>
            </a:r>
            <a:endParaRPr lang="en-US" altLang="zh-CN" dirty="0" smtClean="0"/>
          </a:p>
        </p:txBody>
      </p:sp>
      <p:sp>
        <p:nvSpPr>
          <p:cNvPr id="4608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B0543AB-D420-429D-A8A1-634A43459E2F}" type="slidenum">
              <a:rPr lang="en-US" altLang="zh-CN" smtClean="0"/>
              <a:pPr eaLnBrk="1" hangingPunct="1"/>
              <a:t>36</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smtClean="0"/>
              <a:t>状态管理 </a:t>
            </a:r>
            <a:r>
              <a:rPr lang="en-US" altLang="zh-CN" smtClean="0"/>
              <a:t>II</a:t>
            </a:r>
            <a:endParaRPr lang="zh-CN" altLang="en-US" smtClean="0"/>
          </a:p>
        </p:txBody>
      </p:sp>
      <p:sp>
        <p:nvSpPr>
          <p:cNvPr id="47107" name="内容占位符 2"/>
          <p:cNvSpPr>
            <a:spLocks noGrp="1"/>
          </p:cNvSpPr>
          <p:nvPr>
            <p:ph idx="1"/>
          </p:nvPr>
        </p:nvSpPr>
        <p:spPr>
          <a:xfrm>
            <a:off x="457200" y="1052737"/>
            <a:ext cx="8229600" cy="1152127"/>
          </a:xfrm>
        </p:spPr>
        <p:txBody>
          <a:bodyPr/>
          <a:lstStyle/>
          <a:p>
            <a:r>
              <a:rPr lang="zh-CN" altLang="en-US" dirty="0" smtClean="0"/>
              <a:t>两层客户端</a:t>
            </a:r>
            <a:r>
              <a:rPr lang="en-US" altLang="zh-CN" dirty="0" smtClean="0"/>
              <a:t>-</a:t>
            </a:r>
            <a:r>
              <a:rPr lang="zh-CN" altLang="en-US" dirty="0" smtClean="0"/>
              <a:t>服务器解决方案</a:t>
            </a:r>
          </a:p>
        </p:txBody>
      </p:sp>
      <p:sp>
        <p:nvSpPr>
          <p:cNvPr id="47108"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B59E053-BDC4-4E2D-A7E0-2E43E2D0EC3E}" type="slidenum">
              <a:rPr lang="en-US" altLang="zh-CN" smtClean="0"/>
              <a:pPr eaLnBrk="1" hangingPunct="1"/>
              <a:t>37</a:t>
            </a:fld>
            <a:endParaRPr lang="en-US" altLang="zh-CN" smtClean="0"/>
          </a:p>
        </p:txBody>
      </p:sp>
      <p:pic>
        <p:nvPicPr>
          <p:cNvPr id="2" name="图片 1"/>
          <p:cNvPicPr>
            <a:picLocks noChangeAspect="1"/>
          </p:cNvPicPr>
          <p:nvPr/>
        </p:nvPicPr>
        <p:blipFill>
          <a:blip r:embed="rId3"/>
          <a:stretch>
            <a:fillRect/>
          </a:stretch>
        </p:blipFill>
        <p:spPr>
          <a:xfrm>
            <a:off x="2259161" y="1955092"/>
            <a:ext cx="4549477" cy="3984609"/>
          </a:xfrm>
          <a:prstGeom prst="rect">
            <a:avLst/>
          </a:prstGeom>
        </p:spPr>
      </p:pic>
      <p:sp>
        <p:nvSpPr>
          <p:cNvPr id="4" name="矩形 3"/>
          <p:cNvSpPr/>
          <p:nvPr/>
        </p:nvSpPr>
        <p:spPr>
          <a:xfrm>
            <a:off x="1763688" y="5954573"/>
            <a:ext cx="5616624" cy="584775"/>
          </a:xfrm>
          <a:prstGeom prst="rect">
            <a:avLst/>
          </a:prstGeom>
        </p:spPr>
        <p:txBody>
          <a:bodyPr wrap="square">
            <a:spAutoFit/>
          </a:bodyPr>
          <a:lstStyle/>
          <a:p>
            <a:r>
              <a:rPr lang="en-US" altLang="zh-CN" sz="1600" dirty="0"/>
              <a:t>Typical one-sided division of state </a:t>
            </a:r>
            <a:r>
              <a:rPr lang="en-US" altLang="zh-CN" sz="1600" dirty="0" smtClean="0"/>
              <a:t>management responsibilities </a:t>
            </a:r>
            <a:r>
              <a:rPr lang="en-US" altLang="zh-CN" sz="1600" dirty="0"/>
              <a:t>in a </a:t>
            </a:r>
            <a:r>
              <a:rPr lang="en-US" altLang="zh-CN" sz="1600" dirty="0" smtClean="0"/>
              <a:t>typical two-tier </a:t>
            </a:r>
            <a:r>
              <a:rPr lang="en-US" altLang="zh-CN" sz="1600" dirty="0"/>
              <a:t>client-server architecture</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a:lstStyle/>
          <a:p>
            <a:r>
              <a:rPr lang="zh-CN" altLang="en-US" smtClean="0"/>
              <a:t>状态管理 </a:t>
            </a:r>
            <a:r>
              <a:rPr lang="en-US" altLang="zh-CN" smtClean="0"/>
              <a:t>III</a:t>
            </a:r>
            <a:endParaRPr lang="zh-CN" altLang="en-US" smtClean="0"/>
          </a:p>
        </p:txBody>
      </p:sp>
      <p:sp>
        <p:nvSpPr>
          <p:cNvPr id="48131" name="内容占位符 2"/>
          <p:cNvSpPr>
            <a:spLocks noGrp="1"/>
          </p:cNvSpPr>
          <p:nvPr>
            <p:ph idx="1"/>
          </p:nvPr>
        </p:nvSpPr>
        <p:spPr>
          <a:xfrm>
            <a:off x="457200" y="1052737"/>
            <a:ext cx="8229600" cy="1008111"/>
          </a:xfrm>
        </p:spPr>
        <p:txBody>
          <a:bodyPr/>
          <a:lstStyle/>
          <a:p>
            <a:r>
              <a:rPr lang="zh-CN" altLang="en-US" dirty="0" smtClean="0"/>
              <a:t>三层客户端</a:t>
            </a:r>
            <a:r>
              <a:rPr lang="en-US" altLang="zh-CN" dirty="0" smtClean="0"/>
              <a:t>-</a:t>
            </a:r>
            <a:r>
              <a:rPr lang="zh-CN" altLang="en-US" dirty="0" smtClean="0"/>
              <a:t>服务器解决方案</a:t>
            </a:r>
          </a:p>
        </p:txBody>
      </p:sp>
      <p:sp>
        <p:nvSpPr>
          <p:cNvPr id="4813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0792A80-7008-4A66-A985-08348CA14308}" type="slidenum">
              <a:rPr lang="en-US" altLang="zh-CN" smtClean="0"/>
              <a:pPr eaLnBrk="1" hangingPunct="1"/>
              <a:t>38</a:t>
            </a:fld>
            <a:endParaRPr lang="en-US" altLang="zh-CN" smtClean="0"/>
          </a:p>
        </p:txBody>
      </p:sp>
      <p:pic>
        <p:nvPicPr>
          <p:cNvPr id="2" name="图片 1"/>
          <p:cNvPicPr>
            <a:picLocks noChangeAspect="1"/>
          </p:cNvPicPr>
          <p:nvPr/>
        </p:nvPicPr>
        <p:blipFill>
          <a:blip r:embed="rId3"/>
          <a:stretch>
            <a:fillRect/>
          </a:stretch>
        </p:blipFill>
        <p:spPr>
          <a:xfrm>
            <a:off x="1735195" y="1795791"/>
            <a:ext cx="5597409" cy="3883370"/>
          </a:xfrm>
          <a:prstGeom prst="rect">
            <a:avLst/>
          </a:prstGeom>
        </p:spPr>
      </p:pic>
      <p:sp>
        <p:nvSpPr>
          <p:cNvPr id="4" name="矩形 3"/>
          <p:cNvSpPr/>
          <p:nvPr/>
        </p:nvSpPr>
        <p:spPr>
          <a:xfrm>
            <a:off x="762608" y="5679161"/>
            <a:ext cx="7542584" cy="830997"/>
          </a:xfrm>
          <a:prstGeom prst="rect">
            <a:avLst/>
          </a:prstGeom>
        </p:spPr>
        <p:txBody>
          <a:bodyPr wrap="square">
            <a:spAutoFit/>
          </a:bodyPr>
          <a:lstStyle/>
          <a:p>
            <a:r>
              <a:rPr lang="en-US" altLang="zh-CN" sz="1600" dirty="0"/>
              <a:t>Note that the “y/2” value is arbitrary. In most contemporary Web-based solutions, the clients are relatively </a:t>
            </a:r>
            <a:r>
              <a:rPr lang="en-US" altLang="zh-CN" sz="1600" dirty="0" smtClean="0"/>
              <a:t>thin (browser-based</a:t>
            </a:r>
            <a:r>
              <a:rPr lang="en-US" altLang="zh-CN" sz="1600" dirty="0"/>
              <a:t>), requiring the server-side components to manage a higher percentage of state data</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a:lstStyle/>
          <a:p>
            <a:r>
              <a:rPr lang="zh-CN" altLang="en-US" smtClean="0"/>
              <a:t>状态管理 </a:t>
            </a:r>
            <a:r>
              <a:rPr lang="en-US" altLang="zh-CN" smtClean="0"/>
              <a:t>III</a:t>
            </a:r>
            <a:endParaRPr lang="zh-CN" altLang="en-US" smtClean="0"/>
          </a:p>
        </p:txBody>
      </p:sp>
      <p:sp>
        <p:nvSpPr>
          <p:cNvPr id="48131" name="内容占位符 2"/>
          <p:cNvSpPr>
            <a:spLocks noGrp="1"/>
          </p:cNvSpPr>
          <p:nvPr>
            <p:ph idx="1"/>
          </p:nvPr>
        </p:nvSpPr>
        <p:spPr>
          <a:xfrm>
            <a:off x="457200" y="1052737"/>
            <a:ext cx="8229600" cy="1008111"/>
          </a:xfrm>
        </p:spPr>
        <p:txBody>
          <a:bodyPr/>
          <a:lstStyle/>
          <a:p>
            <a:r>
              <a:rPr lang="zh-CN" altLang="en-US" dirty="0" smtClean="0"/>
              <a:t>三层客户端</a:t>
            </a:r>
            <a:r>
              <a:rPr lang="en-US" altLang="zh-CN" dirty="0" smtClean="0"/>
              <a:t>-</a:t>
            </a:r>
            <a:r>
              <a:rPr lang="zh-CN" altLang="en-US" dirty="0" smtClean="0"/>
              <a:t>服务器解决方案</a:t>
            </a:r>
          </a:p>
        </p:txBody>
      </p:sp>
      <p:sp>
        <p:nvSpPr>
          <p:cNvPr id="4813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0792A80-7008-4A66-A985-08348CA14308}" type="slidenum">
              <a:rPr lang="en-US" altLang="zh-CN" smtClean="0"/>
              <a:pPr eaLnBrk="1" hangingPunct="1"/>
              <a:t>39</a:t>
            </a:fld>
            <a:endParaRPr lang="en-US" altLang="zh-CN" smtClean="0"/>
          </a:p>
        </p:txBody>
      </p:sp>
      <p:pic>
        <p:nvPicPr>
          <p:cNvPr id="2" name="图片 1"/>
          <p:cNvPicPr>
            <a:picLocks noChangeAspect="1"/>
          </p:cNvPicPr>
          <p:nvPr/>
        </p:nvPicPr>
        <p:blipFill>
          <a:blip r:embed="rId3"/>
          <a:stretch>
            <a:fillRect/>
          </a:stretch>
        </p:blipFill>
        <p:spPr>
          <a:xfrm>
            <a:off x="1436429" y="1881921"/>
            <a:ext cx="6194940" cy="3545166"/>
          </a:xfrm>
          <a:prstGeom prst="rect">
            <a:avLst/>
          </a:prstGeom>
        </p:spPr>
      </p:pic>
      <p:sp>
        <p:nvSpPr>
          <p:cNvPr id="3" name="矩形 2"/>
          <p:cNvSpPr/>
          <p:nvPr/>
        </p:nvSpPr>
        <p:spPr>
          <a:xfrm>
            <a:off x="1343235" y="5494767"/>
            <a:ext cx="6381329" cy="830997"/>
          </a:xfrm>
          <a:prstGeom prst="rect">
            <a:avLst/>
          </a:prstGeom>
        </p:spPr>
        <p:txBody>
          <a:bodyPr wrap="square">
            <a:spAutoFit/>
          </a:bodyPr>
          <a:lstStyle/>
          <a:p>
            <a:r>
              <a:rPr lang="zh-CN" altLang="en-US" sz="1600" dirty="0"/>
              <a:t>Multiple clients concurrently accessing the same application component. Some enterprise solutions </a:t>
            </a:r>
            <a:r>
              <a:rPr lang="zh-CN" altLang="en-US" sz="1600" dirty="0" smtClean="0"/>
              <a:t>have thousands </a:t>
            </a:r>
            <a:r>
              <a:rPr lang="zh-CN" altLang="en-US" sz="1600" dirty="0"/>
              <a:t>of clients that can raise concurrent access numbers into the hundreds</a:t>
            </a:r>
          </a:p>
        </p:txBody>
      </p:sp>
    </p:spTree>
    <p:extLst>
      <p:ext uri="{BB962C8B-B14F-4D97-AF65-F5344CB8AC3E}">
        <p14:creationId xmlns:p14="http://schemas.microsoft.com/office/powerpoint/2010/main" val="42676200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smtClean="0"/>
              <a:t>状态管理 </a:t>
            </a:r>
            <a:r>
              <a:rPr lang="en-US" altLang="zh-CN" smtClean="0"/>
              <a:t>IV</a:t>
            </a:r>
            <a:endParaRPr lang="zh-CN" altLang="en-US" smtClean="0"/>
          </a:p>
        </p:txBody>
      </p:sp>
      <p:sp>
        <p:nvSpPr>
          <p:cNvPr id="49155" name="内容占位符 2"/>
          <p:cNvSpPr>
            <a:spLocks noGrp="1"/>
          </p:cNvSpPr>
          <p:nvPr>
            <p:ph idx="1"/>
          </p:nvPr>
        </p:nvSpPr>
        <p:spPr>
          <a:xfrm>
            <a:off x="457200" y="1052737"/>
            <a:ext cx="8229600" cy="1080119"/>
          </a:xfrm>
        </p:spPr>
        <p:txBody>
          <a:bodyPr/>
          <a:lstStyle/>
          <a:p>
            <a:r>
              <a:rPr lang="zh-CN" altLang="en-US" sz="2800" dirty="0" smtClean="0"/>
              <a:t>状态</a:t>
            </a:r>
            <a:r>
              <a:rPr lang="en-US" altLang="zh-CN" sz="2800" dirty="0" smtClean="0"/>
              <a:t>(state delegation) </a:t>
            </a:r>
            <a:r>
              <a:rPr lang="zh-CN" altLang="en-US" sz="2800" dirty="0" smtClean="0"/>
              <a:t>和状态延迟</a:t>
            </a:r>
            <a:r>
              <a:rPr lang="en-US" altLang="zh-CN" sz="2800" dirty="0" smtClean="0"/>
              <a:t>(state deferral)</a:t>
            </a:r>
            <a:endParaRPr lang="zh-CN" altLang="en-US" sz="2800" dirty="0" smtClean="0"/>
          </a:p>
        </p:txBody>
      </p:sp>
      <p:sp>
        <p:nvSpPr>
          <p:cNvPr id="4915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9299929-0794-4E53-A634-DB84687FADA9}" type="slidenum">
              <a:rPr lang="en-US" altLang="zh-CN" smtClean="0"/>
              <a:pPr eaLnBrk="1" hangingPunct="1"/>
              <a:t>40</a:t>
            </a:fld>
            <a:endParaRPr lang="en-US" altLang="zh-CN" smtClean="0"/>
          </a:p>
        </p:txBody>
      </p:sp>
      <p:pic>
        <p:nvPicPr>
          <p:cNvPr id="2" name="图片 1"/>
          <p:cNvPicPr>
            <a:picLocks noChangeAspect="1"/>
          </p:cNvPicPr>
          <p:nvPr/>
        </p:nvPicPr>
        <p:blipFill>
          <a:blip r:embed="rId3"/>
          <a:stretch>
            <a:fillRect/>
          </a:stretch>
        </p:blipFill>
        <p:spPr>
          <a:xfrm>
            <a:off x="1321420" y="1890065"/>
            <a:ext cx="6501159" cy="3781520"/>
          </a:xfrm>
          <a:prstGeom prst="rect">
            <a:avLst/>
          </a:prstGeom>
        </p:spPr>
      </p:pic>
      <p:sp>
        <p:nvSpPr>
          <p:cNvPr id="4" name="矩形 3"/>
          <p:cNvSpPr/>
          <p:nvPr/>
        </p:nvSpPr>
        <p:spPr>
          <a:xfrm>
            <a:off x="1136751" y="5700945"/>
            <a:ext cx="7626249" cy="830997"/>
          </a:xfrm>
          <a:prstGeom prst="rect">
            <a:avLst/>
          </a:prstGeom>
        </p:spPr>
        <p:txBody>
          <a:bodyPr wrap="square">
            <a:spAutoFit/>
          </a:bodyPr>
          <a:lstStyle/>
          <a:p>
            <a:r>
              <a:rPr lang="en-US" altLang="zh-CN" sz="1600" dirty="0"/>
              <a:t>A separate database positioned as a state management deferral extension of the architecture (the orange area </a:t>
            </a:r>
            <a:r>
              <a:rPr lang="en-US" altLang="zh-CN" sz="1600" dirty="0" smtClean="0"/>
              <a:t>represents state </a:t>
            </a:r>
            <a:r>
              <a:rPr lang="en-US" altLang="zh-CN" sz="1600" dirty="0"/>
              <a:t>data). Note that databases utilized in this role are often located on the application server </a:t>
            </a:r>
            <a:r>
              <a:rPr lang="en-US" altLang="zh-CN" sz="1600" dirty="0" smtClean="0"/>
              <a:t>alongside components</a:t>
            </a:r>
            <a:r>
              <a:rPr lang="en-US" altLang="zh-CN" sz="1600" dirty="0"/>
              <a:t>.</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r>
              <a:rPr lang="zh-CN" altLang="en-US" dirty="0" smtClean="0"/>
              <a:t>状态类型</a:t>
            </a:r>
          </a:p>
        </p:txBody>
      </p:sp>
      <p:sp>
        <p:nvSpPr>
          <p:cNvPr id="52227"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6957CBF-A5C6-44F9-86F9-36409A2AEEAB}" type="slidenum">
              <a:rPr lang="en-US" altLang="zh-CN" smtClean="0"/>
              <a:pPr eaLnBrk="1" hangingPunct="1"/>
              <a:t>41</a:t>
            </a:fld>
            <a:endParaRPr lang="en-US" altLang="zh-CN" smtClean="0"/>
          </a:p>
        </p:txBody>
      </p:sp>
      <p:pic>
        <p:nvPicPr>
          <p:cNvPr id="2" name="图片 1"/>
          <p:cNvPicPr>
            <a:picLocks noChangeAspect="1"/>
          </p:cNvPicPr>
          <p:nvPr/>
        </p:nvPicPr>
        <p:blipFill>
          <a:blip r:embed="rId3"/>
          <a:stretch>
            <a:fillRect/>
          </a:stretch>
        </p:blipFill>
        <p:spPr>
          <a:xfrm>
            <a:off x="1331640" y="1995411"/>
            <a:ext cx="6019800" cy="3209925"/>
          </a:xfrm>
          <a:prstGeom prst="rect">
            <a:avLst/>
          </a:prstGeom>
        </p:spPr>
      </p:pic>
      <p:sp>
        <p:nvSpPr>
          <p:cNvPr id="4" name="矩形 3"/>
          <p:cNvSpPr/>
          <p:nvPr/>
        </p:nvSpPr>
        <p:spPr>
          <a:xfrm>
            <a:off x="990464" y="5229200"/>
            <a:ext cx="7163072" cy="584775"/>
          </a:xfrm>
          <a:prstGeom prst="rect">
            <a:avLst/>
          </a:prstGeom>
        </p:spPr>
        <p:txBody>
          <a:bodyPr wrap="square">
            <a:spAutoFit/>
          </a:bodyPr>
          <a:lstStyle/>
          <a:p>
            <a:r>
              <a:rPr lang="en-US" altLang="zh-CN" sz="1600" dirty="0"/>
              <a:t>Most services transition through all of these states and conditions and </a:t>
            </a:r>
            <a:r>
              <a:rPr lang="en-US" altLang="zh-CN" sz="1600" dirty="0" smtClean="0"/>
              <a:t>are required </a:t>
            </a:r>
            <a:r>
              <a:rPr lang="en-US" altLang="zh-CN" sz="1600" dirty="0"/>
              <a:t>to work with at least some form of session or context information</a:t>
            </a:r>
            <a:endParaRPr lang="zh-CN" altLang="en-US" sz="1600" dirty="0"/>
          </a:p>
        </p:txBody>
      </p:sp>
      <p:sp>
        <p:nvSpPr>
          <p:cNvPr id="6" name="Line 11"/>
          <p:cNvSpPr>
            <a:spLocks noChangeShapeType="1"/>
          </p:cNvSpPr>
          <p:nvPr/>
        </p:nvSpPr>
        <p:spPr bwMode="auto">
          <a:xfrm>
            <a:off x="1403648" y="1943627"/>
            <a:ext cx="720079" cy="1773404"/>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2"/>
          <p:cNvSpPr txBox="1">
            <a:spLocks noChangeArrowheads="1"/>
          </p:cNvSpPr>
          <p:nvPr/>
        </p:nvSpPr>
        <p:spPr bwMode="auto">
          <a:xfrm>
            <a:off x="575556" y="1325216"/>
            <a:ext cx="16561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dirty="0"/>
              <a:t>服务处于被调用或者被执行</a:t>
            </a:r>
            <a:endParaRPr lang="en-US" altLang="zh-CN" dirty="0"/>
          </a:p>
        </p:txBody>
      </p:sp>
      <p:sp>
        <p:nvSpPr>
          <p:cNvPr id="10" name="Line 11"/>
          <p:cNvSpPr>
            <a:spLocks noChangeShapeType="1"/>
          </p:cNvSpPr>
          <p:nvPr/>
        </p:nvSpPr>
        <p:spPr bwMode="auto">
          <a:xfrm>
            <a:off x="776250" y="3390885"/>
            <a:ext cx="1254797" cy="93610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12"/>
          <p:cNvSpPr txBox="1">
            <a:spLocks noChangeArrowheads="1"/>
          </p:cNvSpPr>
          <p:nvPr/>
        </p:nvSpPr>
        <p:spPr bwMode="auto">
          <a:xfrm>
            <a:off x="0" y="2989235"/>
            <a:ext cx="19077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dirty="0"/>
              <a:t>服务没有在使用</a:t>
            </a:r>
            <a:endParaRPr lang="en-US" altLang="zh-CN" dirty="0"/>
          </a:p>
        </p:txBody>
      </p:sp>
      <p:sp>
        <p:nvSpPr>
          <p:cNvPr id="12" name="Line 11"/>
          <p:cNvSpPr>
            <a:spLocks noChangeShapeType="1"/>
          </p:cNvSpPr>
          <p:nvPr/>
        </p:nvSpPr>
        <p:spPr bwMode="auto">
          <a:xfrm>
            <a:off x="3687232" y="1913420"/>
            <a:ext cx="7314" cy="12731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12"/>
          <p:cNvSpPr txBox="1">
            <a:spLocks noChangeArrowheads="1"/>
          </p:cNvSpPr>
          <p:nvPr/>
        </p:nvSpPr>
        <p:spPr bwMode="auto">
          <a:xfrm>
            <a:off x="2902809" y="1295009"/>
            <a:ext cx="156884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dirty="0"/>
              <a:t>是否处理或保持状态数据</a:t>
            </a:r>
          </a:p>
        </p:txBody>
      </p:sp>
      <p:sp>
        <p:nvSpPr>
          <p:cNvPr id="15" name="Line 11"/>
          <p:cNvSpPr>
            <a:spLocks noChangeShapeType="1"/>
          </p:cNvSpPr>
          <p:nvPr/>
        </p:nvSpPr>
        <p:spPr bwMode="auto">
          <a:xfrm flipH="1">
            <a:off x="6732239" y="1941340"/>
            <a:ext cx="1" cy="40754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Text Box 12"/>
          <p:cNvSpPr txBox="1">
            <a:spLocks noChangeArrowheads="1"/>
          </p:cNvSpPr>
          <p:nvPr/>
        </p:nvSpPr>
        <p:spPr bwMode="auto">
          <a:xfrm>
            <a:off x="5902133" y="1262269"/>
            <a:ext cx="285663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dirty="0"/>
              <a:t>任务跨越多个服务时，在服务之间传递的状态信息</a:t>
            </a:r>
          </a:p>
        </p:txBody>
      </p:sp>
      <p:sp>
        <p:nvSpPr>
          <p:cNvPr id="19" name="Line 11"/>
          <p:cNvSpPr>
            <a:spLocks noChangeShapeType="1"/>
          </p:cNvSpPr>
          <p:nvPr/>
        </p:nvSpPr>
        <p:spPr bwMode="auto">
          <a:xfrm flipH="1">
            <a:off x="6948263" y="2810812"/>
            <a:ext cx="288033" cy="37573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Text Box 12"/>
          <p:cNvSpPr txBox="1">
            <a:spLocks noChangeArrowheads="1"/>
          </p:cNvSpPr>
          <p:nvPr/>
        </p:nvSpPr>
        <p:spPr bwMode="auto">
          <a:xfrm>
            <a:off x="7161085" y="2440446"/>
            <a:ext cx="194421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dirty="0"/>
              <a:t>对上下文数据进行处理的逻辑</a:t>
            </a:r>
          </a:p>
        </p:txBody>
      </p:sp>
      <p:sp>
        <p:nvSpPr>
          <p:cNvPr id="21" name="Line 11"/>
          <p:cNvSpPr>
            <a:spLocks noChangeShapeType="1"/>
          </p:cNvSpPr>
          <p:nvPr/>
        </p:nvSpPr>
        <p:spPr bwMode="auto">
          <a:xfrm flipH="1" flipV="1">
            <a:off x="5580112" y="3240616"/>
            <a:ext cx="1609815" cy="593079"/>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Text Box 12"/>
          <p:cNvSpPr txBox="1">
            <a:spLocks noChangeArrowheads="1"/>
          </p:cNvSpPr>
          <p:nvPr/>
        </p:nvSpPr>
        <p:spPr bwMode="auto">
          <a:xfrm>
            <a:off x="7189927" y="3531812"/>
            <a:ext cx="156884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dirty="0" smtClean="0"/>
              <a:t>代表一个连接实例的信息</a:t>
            </a:r>
            <a:endParaRPr lang="zh-CN" altLang="en-US" dirty="0"/>
          </a:p>
        </p:txBody>
      </p:sp>
      <p:sp>
        <p:nvSpPr>
          <p:cNvPr id="23" name="Line 11"/>
          <p:cNvSpPr>
            <a:spLocks noChangeShapeType="1"/>
          </p:cNvSpPr>
          <p:nvPr/>
        </p:nvSpPr>
        <p:spPr bwMode="auto">
          <a:xfrm flipH="1" flipV="1">
            <a:off x="5579399" y="3670675"/>
            <a:ext cx="1656184" cy="63662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Text Box 12"/>
          <p:cNvSpPr txBox="1">
            <a:spLocks noChangeArrowheads="1"/>
          </p:cNvSpPr>
          <p:nvPr/>
        </p:nvSpPr>
        <p:spPr bwMode="auto">
          <a:xfrm>
            <a:off x="7263795" y="4202007"/>
            <a:ext cx="156884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dirty="0" smtClean="0"/>
              <a:t>业务任务相关的信息</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linds(horizontal)">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linds(horizontal)">
                                      <p:cBhvr>
                                        <p:cTn id="23" dur="500"/>
                                        <p:tgtEl>
                                          <p:spTgt spid="12"/>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linds(horizontal)">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blinds(horizontal)">
                                      <p:cBhvr>
                                        <p:cTn id="31" dur="500"/>
                                        <p:tgtEl>
                                          <p:spTgt spid="15"/>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blinds(horizontal)">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blinds(horizontal)">
                                      <p:cBhvr>
                                        <p:cTn id="39" dur="500"/>
                                        <p:tgtEl>
                                          <p:spTgt spid="19"/>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blinds(horizontal)">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blinds(horizontal)">
                                      <p:cBhvr>
                                        <p:cTn id="47" dur="500"/>
                                        <p:tgtEl>
                                          <p:spTgt spid="21"/>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blinds(horizontal)">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blinds(horizontal)">
                                      <p:cBhvr>
                                        <p:cTn id="55" dur="500"/>
                                        <p:tgtEl>
                                          <p:spTgt spid="23"/>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blinds(horizontal)">
                                      <p:cBhvr>
                                        <p:cTn id="5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0" grpId="0" animBg="1"/>
      <p:bldP spid="11" grpId="0"/>
      <p:bldP spid="12" grpId="0" animBg="1"/>
      <p:bldP spid="13" grpId="0"/>
      <p:bldP spid="15" grpId="0" animBg="1"/>
      <p:bldP spid="16" grpId="0"/>
      <p:bldP spid="19" grpId="0" animBg="1"/>
      <p:bldP spid="20" grpId="0"/>
      <p:bldP spid="21" grpId="0" animBg="1"/>
      <p:bldP spid="22" grpId="0"/>
      <p:bldP spid="23" grpId="0" animBg="1"/>
      <p:bldP spid="2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r>
              <a:rPr lang="zh-CN" altLang="en-US" smtClean="0"/>
              <a:t>服务无状态性度量</a:t>
            </a:r>
          </a:p>
        </p:txBody>
      </p:sp>
      <p:sp>
        <p:nvSpPr>
          <p:cNvPr id="54275" name="内容占位符 2"/>
          <p:cNvSpPr>
            <a:spLocks noGrp="1"/>
          </p:cNvSpPr>
          <p:nvPr>
            <p:ph idx="1"/>
          </p:nvPr>
        </p:nvSpPr>
        <p:spPr>
          <a:xfrm>
            <a:off x="457200" y="1052737"/>
            <a:ext cx="8229600" cy="1512167"/>
          </a:xfrm>
        </p:spPr>
        <p:txBody>
          <a:bodyPr/>
          <a:lstStyle/>
          <a:p>
            <a:r>
              <a:rPr lang="zh-CN" altLang="en-US" sz="2800" dirty="0" smtClean="0"/>
              <a:t>通过衡量服务能力的无状态性，并使用能力的集体级别来决定服务的无状态性程度</a:t>
            </a:r>
          </a:p>
        </p:txBody>
      </p:sp>
      <p:sp>
        <p:nvSpPr>
          <p:cNvPr id="5427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506C259-3071-48ED-ADE7-5792F3D4E3D8}" type="slidenum">
              <a:rPr lang="en-US" altLang="zh-CN" smtClean="0"/>
              <a:pPr eaLnBrk="1" hangingPunct="1"/>
              <a:t>42</a:t>
            </a:fld>
            <a:endParaRPr lang="en-US" altLang="zh-CN" smtClean="0"/>
          </a:p>
        </p:txBody>
      </p:sp>
      <p:pic>
        <p:nvPicPr>
          <p:cNvPr id="2" name="图片 1"/>
          <p:cNvPicPr>
            <a:picLocks noChangeAspect="1"/>
          </p:cNvPicPr>
          <p:nvPr/>
        </p:nvPicPr>
        <p:blipFill>
          <a:blip r:embed="rId3"/>
          <a:stretch>
            <a:fillRect/>
          </a:stretch>
        </p:blipFill>
        <p:spPr>
          <a:xfrm>
            <a:off x="611560" y="2352691"/>
            <a:ext cx="4764126" cy="4124785"/>
          </a:xfrm>
          <a:prstGeom prst="rect">
            <a:avLst/>
          </a:prstGeom>
        </p:spPr>
      </p:pic>
      <p:sp>
        <p:nvSpPr>
          <p:cNvPr id="4" name="矩形 3"/>
          <p:cNvSpPr/>
          <p:nvPr/>
        </p:nvSpPr>
        <p:spPr>
          <a:xfrm>
            <a:off x="5524736" y="4628244"/>
            <a:ext cx="3238264" cy="1323439"/>
          </a:xfrm>
          <a:prstGeom prst="rect">
            <a:avLst/>
          </a:prstGeom>
        </p:spPr>
        <p:txBody>
          <a:bodyPr wrap="square">
            <a:spAutoFit/>
          </a:bodyPr>
          <a:lstStyle/>
          <a:p>
            <a:r>
              <a:rPr lang="en-US" altLang="zh-CN" sz="1600" dirty="0"/>
              <a:t>As with most service-orientation design </a:t>
            </a:r>
            <a:r>
              <a:rPr lang="en-US" altLang="zh-CN" sz="1600" dirty="0" smtClean="0"/>
              <a:t>characteristics, measures of statelessness </a:t>
            </a:r>
            <a:r>
              <a:rPr lang="en-US" altLang="zh-CN" sz="1600" dirty="0"/>
              <a:t>can exist at different </a:t>
            </a:r>
            <a:r>
              <a:rPr lang="en-US" altLang="zh-CN" sz="1600" dirty="0" smtClean="0"/>
              <a:t>levels within </a:t>
            </a:r>
            <a:r>
              <a:rPr lang="en-US" altLang="zh-CN" sz="1600" dirty="0"/>
              <a:t>different </a:t>
            </a:r>
            <a:r>
              <a:rPr lang="en-US" altLang="zh-CN" sz="1600" dirty="0" smtClean="0"/>
              <a:t>service capabilities</a:t>
            </a:r>
            <a:r>
              <a:rPr lang="en-US" altLang="zh-CN" sz="1600" dirty="0"/>
              <a:t>.</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defRPr/>
            </a:pPr>
            <a:r>
              <a:rPr lang="zh-CN" altLang="en-US" dirty="0" smtClean="0"/>
              <a:t>非延迟的状态管理</a:t>
            </a:r>
            <a:r>
              <a:rPr lang="zh-CN" altLang="en-US" dirty="0"/>
              <a:t>（</a:t>
            </a:r>
            <a:r>
              <a:rPr lang="zh-CN" altLang="en-US" dirty="0" smtClean="0"/>
              <a:t>无状态性从低到没有</a:t>
            </a:r>
            <a:r>
              <a:rPr lang="zh-CN" altLang="en-US" dirty="0"/>
              <a:t>）</a:t>
            </a:r>
          </a:p>
        </p:txBody>
      </p:sp>
      <p:sp>
        <p:nvSpPr>
          <p:cNvPr id="55299"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854D1C0-772B-44F9-B51B-201FCCEC0452}" type="slidenum">
              <a:rPr lang="en-US" altLang="zh-CN" smtClean="0"/>
              <a:pPr eaLnBrk="1" hangingPunct="1"/>
              <a:t>43</a:t>
            </a:fld>
            <a:endParaRPr lang="en-US" altLang="zh-CN" smtClean="0"/>
          </a:p>
        </p:txBody>
      </p:sp>
      <p:pic>
        <p:nvPicPr>
          <p:cNvPr id="3" name="图片 2"/>
          <p:cNvPicPr>
            <a:picLocks noChangeAspect="1"/>
          </p:cNvPicPr>
          <p:nvPr/>
        </p:nvPicPr>
        <p:blipFill>
          <a:blip r:embed="rId3"/>
          <a:stretch>
            <a:fillRect/>
          </a:stretch>
        </p:blipFill>
        <p:spPr>
          <a:xfrm>
            <a:off x="533400" y="1454944"/>
            <a:ext cx="8077200" cy="4267200"/>
          </a:xfrm>
          <a:prstGeom prst="rect">
            <a:avLst/>
          </a:prstGeom>
        </p:spPr>
      </p:pic>
      <p:sp>
        <p:nvSpPr>
          <p:cNvPr id="5" name="矩形 4"/>
          <p:cNvSpPr/>
          <p:nvPr/>
        </p:nvSpPr>
        <p:spPr>
          <a:xfrm>
            <a:off x="1331640" y="5769629"/>
            <a:ext cx="6966520" cy="584775"/>
          </a:xfrm>
          <a:prstGeom prst="rect">
            <a:avLst/>
          </a:prstGeom>
        </p:spPr>
        <p:txBody>
          <a:bodyPr wrap="square">
            <a:spAutoFit/>
          </a:bodyPr>
          <a:lstStyle/>
          <a:p>
            <a:r>
              <a:rPr lang="en-US" altLang="zh-CN" sz="1600" dirty="0"/>
              <a:t>A service with non-deferred state management remains </a:t>
            </a:r>
            <a:r>
              <a:rPr lang="en-US" altLang="zh-CN" sz="1600" dirty="0" err="1"/>
              <a:t>stateful</a:t>
            </a:r>
            <a:r>
              <a:rPr lang="en-US" altLang="zh-CN" sz="1600" dirty="0"/>
              <a:t> throughout the course of its involvement within </a:t>
            </a:r>
            <a:r>
              <a:rPr lang="en-US" altLang="zh-CN" sz="1600" dirty="0" smtClean="0"/>
              <a:t>a service </a:t>
            </a:r>
            <a:r>
              <a:rPr lang="en-US" altLang="zh-CN" sz="1600" dirty="0"/>
              <a:t>activity</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r>
              <a:rPr lang="zh-CN" altLang="en-US" dirty="0" smtClean="0"/>
              <a:t>部分延迟存储（较低的有状态性</a:t>
            </a:r>
            <a:r>
              <a:rPr lang="zh-CN" altLang="en-US" dirty="0"/>
              <a:t>）</a:t>
            </a:r>
            <a:endParaRPr lang="zh-CN" altLang="en-US" dirty="0" smtClean="0"/>
          </a:p>
        </p:txBody>
      </p:sp>
      <p:sp>
        <p:nvSpPr>
          <p:cNvPr id="57347"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8A1A7C8-DE45-4192-B358-BCD7A8E62A73}" type="slidenum">
              <a:rPr lang="en-US" altLang="zh-CN" smtClean="0"/>
              <a:pPr eaLnBrk="1" hangingPunct="1"/>
              <a:t>44</a:t>
            </a:fld>
            <a:endParaRPr lang="en-US" altLang="zh-CN" smtClean="0"/>
          </a:p>
        </p:txBody>
      </p:sp>
      <p:pic>
        <p:nvPicPr>
          <p:cNvPr id="2" name="图片 1"/>
          <p:cNvPicPr>
            <a:picLocks noChangeAspect="1"/>
          </p:cNvPicPr>
          <p:nvPr/>
        </p:nvPicPr>
        <p:blipFill>
          <a:blip r:embed="rId3"/>
          <a:stretch>
            <a:fillRect/>
          </a:stretch>
        </p:blipFill>
        <p:spPr>
          <a:xfrm>
            <a:off x="647700" y="1340768"/>
            <a:ext cx="8115300" cy="4210050"/>
          </a:xfrm>
          <a:prstGeom prst="rect">
            <a:avLst/>
          </a:prstGeom>
        </p:spPr>
      </p:pic>
      <p:sp>
        <p:nvSpPr>
          <p:cNvPr id="4" name="矩形 3"/>
          <p:cNvSpPr/>
          <p:nvPr/>
        </p:nvSpPr>
        <p:spPr>
          <a:xfrm>
            <a:off x="1330102" y="5524632"/>
            <a:ext cx="6750496" cy="830997"/>
          </a:xfrm>
          <a:prstGeom prst="rect">
            <a:avLst/>
          </a:prstGeom>
        </p:spPr>
        <p:txBody>
          <a:bodyPr wrap="square">
            <a:spAutoFit/>
          </a:bodyPr>
          <a:lstStyle/>
          <a:p>
            <a:r>
              <a:rPr lang="en-US" altLang="zh-CN" sz="1600" dirty="0"/>
              <a:t>With the ability to off-load some of its state data, a service with partially deferred </a:t>
            </a:r>
            <a:r>
              <a:rPr lang="en-US" altLang="zh-CN" sz="1600" dirty="0" smtClean="0"/>
              <a:t>state management </a:t>
            </a:r>
            <a:r>
              <a:rPr lang="en-US" altLang="zh-CN" sz="1600" dirty="0"/>
              <a:t>remains </a:t>
            </a:r>
            <a:r>
              <a:rPr lang="en-US" altLang="zh-CN" sz="1600" dirty="0" smtClean="0"/>
              <a:t>active and </a:t>
            </a:r>
            <a:r>
              <a:rPr lang="en-US" altLang="zh-CN" sz="1600" dirty="0" err="1"/>
              <a:t>stateful</a:t>
            </a:r>
            <a:r>
              <a:rPr lang="en-US" altLang="zh-CN" sz="1600" dirty="0"/>
              <a:t> but consumes less memory due to the decreased quantity of state data it retains</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defRPr/>
            </a:pPr>
            <a:r>
              <a:rPr lang="zh-CN" altLang="en-US" dirty="0" smtClean="0"/>
              <a:t>部分架构状态管理延迟（中等无状态性</a:t>
            </a:r>
            <a:r>
              <a:rPr lang="zh-CN" altLang="en-US" dirty="0"/>
              <a:t>）</a:t>
            </a:r>
          </a:p>
        </p:txBody>
      </p:sp>
      <p:sp>
        <p:nvSpPr>
          <p:cNvPr id="59395"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014FFCD-2D04-464F-8CC7-F0C5BE9E0CEB}" type="slidenum">
              <a:rPr lang="en-US" altLang="zh-CN" smtClean="0"/>
              <a:pPr eaLnBrk="1" hangingPunct="1"/>
              <a:t>45</a:t>
            </a:fld>
            <a:endParaRPr lang="en-US" altLang="zh-CN" smtClean="0"/>
          </a:p>
        </p:txBody>
      </p:sp>
      <p:pic>
        <p:nvPicPr>
          <p:cNvPr id="3" name="图片 2"/>
          <p:cNvPicPr>
            <a:picLocks noChangeAspect="1"/>
          </p:cNvPicPr>
          <p:nvPr/>
        </p:nvPicPr>
        <p:blipFill>
          <a:blip r:embed="rId3"/>
          <a:stretch>
            <a:fillRect/>
          </a:stretch>
        </p:blipFill>
        <p:spPr>
          <a:xfrm>
            <a:off x="509587" y="1271587"/>
            <a:ext cx="8124825" cy="4314825"/>
          </a:xfrm>
          <a:prstGeom prst="rect">
            <a:avLst/>
          </a:prstGeom>
        </p:spPr>
      </p:pic>
      <p:sp>
        <p:nvSpPr>
          <p:cNvPr id="5" name="矩形 4"/>
          <p:cNvSpPr/>
          <p:nvPr/>
        </p:nvSpPr>
        <p:spPr>
          <a:xfrm>
            <a:off x="2168859" y="5608270"/>
            <a:ext cx="4806280" cy="830997"/>
          </a:xfrm>
          <a:prstGeom prst="rect">
            <a:avLst/>
          </a:prstGeom>
        </p:spPr>
        <p:txBody>
          <a:bodyPr wrap="square">
            <a:spAutoFit/>
          </a:bodyPr>
          <a:lstStyle/>
          <a:p>
            <a:r>
              <a:rPr lang="en-US" altLang="zh-CN" sz="1600" dirty="0"/>
              <a:t>This service, based on a different form of partial state deferral, is able to transition into a stateless mode at </a:t>
            </a:r>
            <a:r>
              <a:rPr lang="en-US" altLang="zh-CN" sz="1600" dirty="0" smtClean="0"/>
              <a:t>certain times</a:t>
            </a:r>
            <a:r>
              <a:rPr lang="en-US" altLang="zh-CN" sz="1600" dirty="0"/>
              <a:t>.</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defRPr/>
            </a:pPr>
            <a:r>
              <a:rPr lang="zh-CN" altLang="en-US" dirty="0" smtClean="0"/>
              <a:t>完全架构状态管理延迟（高度无状态性）</a:t>
            </a:r>
            <a:r>
              <a:rPr lang="en-US" altLang="zh-CN" dirty="0" smtClean="0"/>
              <a:t> </a:t>
            </a:r>
            <a:endParaRPr lang="zh-CN" altLang="en-US" dirty="0"/>
          </a:p>
        </p:txBody>
      </p:sp>
      <p:sp>
        <p:nvSpPr>
          <p:cNvPr id="61443"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C8EFBD1-1339-4397-AE6C-ECB7CE80E255}" type="slidenum">
              <a:rPr lang="en-US" altLang="zh-CN" smtClean="0"/>
              <a:pPr eaLnBrk="1" hangingPunct="1"/>
              <a:t>46</a:t>
            </a:fld>
            <a:endParaRPr lang="en-US" altLang="zh-CN" smtClean="0"/>
          </a:p>
        </p:txBody>
      </p:sp>
      <p:pic>
        <p:nvPicPr>
          <p:cNvPr id="4" name="图片 3"/>
          <p:cNvPicPr>
            <a:picLocks noChangeAspect="1"/>
          </p:cNvPicPr>
          <p:nvPr/>
        </p:nvPicPr>
        <p:blipFill>
          <a:blip r:embed="rId3"/>
          <a:stretch>
            <a:fillRect/>
          </a:stretch>
        </p:blipFill>
        <p:spPr>
          <a:xfrm>
            <a:off x="571500" y="1266825"/>
            <a:ext cx="8001000" cy="4324350"/>
          </a:xfrm>
          <a:prstGeom prst="rect">
            <a:avLst/>
          </a:prstGeom>
        </p:spPr>
      </p:pic>
      <p:sp>
        <p:nvSpPr>
          <p:cNvPr id="6" name="矩形 5"/>
          <p:cNvSpPr/>
          <p:nvPr/>
        </p:nvSpPr>
        <p:spPr>
          <a:xfrm>
            <a:off x="1556792" y="5630128"/>
            <a:ext cx="6030416" cy="830997"/>
          </a:xfrm>
          <a:prstGeom prst="rect">
            <a:avLst/>
          </a:prstGeom>
        </p:spPr>
        <p:txBody>
          <a:bodyPr wrap="square">
            <a:spAutoFit/>
          </a:bodyPr>
          <a:lstStyle/>
          <a:p>
            <a:r>
              <a:rPr lang="en-US" altLang="zh-CN" sz="1600" dirty="0"/>
              <a:t>The service with fully deferred state management maximizes its opportunities to exist in a stateless condition. </a:t>
            </a:r>
            <a:r>
              <a:rPr lang="en-US" altLang="zh-CN" sz="1600" dirty="0" smtClean="0"/>
              <a:t>Even when </a:t>
            </a:r>
            <a:r>
              <a:rPr lang="en-US" altLang="zh-CN" sz="1600" dirty="0" err="1"/>
              <a:t>stateful</a:t>
            </a:r>
            <a:r>
              <a:rPr lang="en-US" altLang="zh-CN" sz="1600" dirty="0"/>
              <a:t>, it defers state data when possible</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zh-CN" altLang="en-US" dirty="0" smtClean="0"/>
              <a:t>内部延迟状态管理（高度无状态性</a:t>
            </a:r>
            <a:r>
              <a:rPr lang="zh-CN" altLang="en-US" dirty="0"/>
              <a:t>）</a:t>
            </a:r>
            <a:endParaRPr lang="zh-CN" altLang="en-US" dirty="0" smtClean="0"/>
          </a:p>
        </p:txBody>
      </p:sp>
      <p:sp>
        <p:nvSpPr>
          <p:cNvPr id="63491" name="内容占位符 2"/>
          <p:cNvSpPr>
            <a:spLocks noGrp="1"/>
          </p:cNvSpPr>
          <p:nvPr>
            <p:ph idx="1"/>
          </p:nvPr>
        </p:nvSpPr>
        <p:spPr/>
        <p:txBody>
          <a:bodyPr/>
          <a:lstStyle/>
          <a:p>
            <a:pPr>
              <a:lnSpc>
                <a:spcPct val="150000"/>
              </a:lnSpc>
            </a:pPr>
            <a:r>
              <a:rPr lang="zh-CN" altLang="en-US" dirty="0" smtClean="0"/>
              <a:t>在完全自治的服务中</a:t>
            </a:r>
            <a:endParaRPr lang="en-US" altLang="zh-CN" dirty="0" smtClean="0"/>
          </a:p>
          <a:p>
            <a:pPr lvl="1">
              <a:lnSpc>
                <a:spcPct val="150000"/>
              </a:lnSpc>
            </a:pPr>
            <a:r>
              <a:rPr lang="zh-CN" altLang="en-US" dirty="0" smtClean="0"/>
              <a:t>不采用架构状态延迟选项，而采用内部状态延迟的选项（如专有的状态数据库），来保存以及查找暂时的活动数据，来最大化其停留在无状态情形的机会，从而达到类似完全架构状态管理延迟的无状态程度</a:t>
            </a:r>
            <a:endParaRPr lang="en-US" altLang="zh-CN" dirty="0" smtClean="0"/>
          </a:p>
        </p:txBody>
      </p:sp>
      <p:sp>
        <p:nvSpPr>
          <p:cNvPr id="6349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6E28E92-1569-484B-8FBC-B6970B4B256E}" type="slidenum">
              <a:rPr lang="en-US" altLang="zh-CN" smtClean="0"/>
              <a:pPr eaLnBrk="1" hangingPunct="1"/>
              <a:t>47</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状态管理</a:t>
            </a:r>
            <a:endParaRPr lang="zh-CN" altLang="en-US" dirty="0"/>
          </a:p>
        </p:txBody>
      </p:sp>
      <p:sp>
        <p:nvSpPr>
          <p:cNvPr id="4" name="灯片编号占位符 3"/>
          <p:cNvSpPr>
            <a:spLocks noGrp="1"/>
          </p:cNvSpPr>
          <p:nvPr>
            <p:ph type="sldNum" sz="quarter" idx="11"/>
          </p:nvPr>
        </p:nvSpPr>
        <p:spPr/>
        <p:txBody>
          <a:bodyPr/>
          <a:lstStyle/>
          <a:p>
            <a:pPr>
              <a:defRPr/>
            </a:pPr>
            <a:fld id="{BD23E241-4700-4AB1-8FCF-0EE2C9EC5137}" type="slidenum">
              <a:rPr lang="en-US" altLang="zh-CN" smtClean="0"/>
              <a:pPr>
                <a:defRPr/>
              </a:pPr>
              <a:t>48</a:t>
            </a:fld>
            <a:endParaRPr lang="en-US" altLang="zh-CN" dirty="0"/>
          </a:p>
        </p:txBody>
      </p:sp>
      <p:graphicFrame>
        <p:nvGraphicFramePr>
          <p:cNvPr id="7" name="内容占位符 6"/>
          <p:cNvGraphicFramePr>
            <a:graphicFrameLocks noGrp="1"/>
          </p:cNvGraphicFramePr>
          <p:nvPr>
            <p:ph idx="1"/>
            <p:extLst>
              <p:ext uri="{D42A27DB-BD31-4B8C-83A1-F6EECF244321}">
                <p14:modId xmlns:p14="http://schemas.microsoft.com/office/powerpoint/2010/main" val="2301600169"/>
              </p:ext>
            </p:extLst>
          </p:nvPr>
        </p:nvGraphicFramePr>
        <p:xfrm>
          <a:off x="107504" y="1484784"/>
          <a:ext cx="8928992" cy="4831702"/>
        </p:xfrm>
        <a:graphic>
          <a:graphicData uri="http://schemas.openxmlformats.org/drawingml/2006/table">
            <a:tbl>
              <a:tblPr firstRow="1" bandRow="1">
                <a:tableStyleId>{5C22544A-7EE6-4342-B048-85BDC9FD1C3A}</a:tableStyleId>
              </a:tblPr>
              <a:tblGrid>
                <a:gridCol w="2306218">
                  <a:extLst>
                    <a:ext uri="{9D8B030D-6E8A-4147-A177-3AD203B41FA5}">
                      <a16:colId xmlns:a16="http://schemas.microsoft.com/office/drawing/2014/main" val="20000"/>
                    </a:ext>
                  </a:extLst>
                </a:gridCol>
                <a:gridCol w="1654222">
                  <a:extLst>
                    <a:ext uri="{9D8B030D-6E8A-4147-A177-3AD203B41FA5}">
                      <a16:colId xmlns:a16="http://schemas.microsoft.com/office/drawing/2014/main" val="20001"/>
                    </a:ext>
                  </a:extLst>
                </a:gridCol>
                <a:gridCol w="4968552">
                  <a:extLst>
                    <a:ext uri="{9D8B030D-6E8A-4147-A177-3AD203B41FA5}">
                      <a16:colId xmlns:a16="http://schemas.microsoft.com/office/drawing/2014/main" val="20002"/>
                    </a:ext>
                  </a:extLst>
                </a:gridCol>
              </a:tblGrid>
              <a:tr h="358080">
                <a:tc>
                  <a:txBody>
                    <a:bodyPr/>
                    <a:lstStyle/>
                    <a:p>
                      <a:r>
                        <a:rPr lang="zh-CN" altLang="en-US" dirty="0" smtClean="0"/>
                        <a:t>方法</a:t>
                      </a:r>
                      <a:endParaRPr lang="zh-CN" altLang="en-US" dirty="0"/>
                    </a:p>
                  </a:txBody>
                  <a:tcPr/>
                </a:tc>
                <a:tc>
                  <a:txBody>
                    <a:bodyPr/>
                    <a:lstStyle/>
                    <a:p>
                      <a:r>
                        <a:rPr lang="zh-CN" altLang="en-US" dirty="0" smtClean="0"/>
                        <a:t>状态性</a:t>
                      </a:r>
                      <a:endParaRPr lang="zh-CN" altLang="en-US" dirty="0"/>
                    </a:p>
                  </a:txBody>
                  <a:tcPr/>
                </a:tc>
                <a:tc>
                  <a:txBody>
                    <a:bodyPr/>
                    <a:lstStyle/>
                    <a:p>
                      <a:r>
                        <a:rPr lang="zh-CN" altLang="en-US" dirty="0" smtClean="0"/>
                        <a:t>特点</a:t>
                      </a:r>
                      <a:endParaRPr lang="zh-CN" altLang="en-US" dirty="0"/>
                    </a:p>
                  </a:txBody>
                  <a:tcPr/>
                </a:tc>
                <a:extLst>
                  <a:ext uri="{0D108BD9-81ED-4DB2-BD59-A6C34878D82A}">
                    <a16:rowId xmlns:a16="http://schemas.microsoft.com/office/drawing/2014/main" val="10000"/>
                  </a:ext>
                </a:extLst>
              </a:tr>
              <a:tr h="794643">
                <a:tc>
                  <a:txBody>
                    <a:bodyPr/>
                    <a:lstStyle/>
                    <a:p>
                      <a:pPr>
                        <a:lnSpc>
                          <a:spcPct val="100000"/>
                        </a:lnSpc>
                      </a:pPr>
                      <a:r>
                        <a:rPr lang="zh-CN" altLang="en-US" sz="1600" dirty="0" smtClean="0"/>
                        <a:t>非延迟的状态管理</a:t>
                      </a:r>
                      <a:endParaRPr lang="zh-CN" altLang="en-US" sz="1600" dirty="0"/>
                    </a:p>
                  </a:txBody>
                  <a:tcPr anchor="ctr"/>
                </a:tc>
                <a:tc>
                  <a:txBody>
                    <a:bodyPr/>
                    <a:lstStyle/>
                    <a:p>
                      <a:pPr>
                        <a:lnSpc>
                          <a:spcPct val="100000"/>
                        </a:lnSpc>
                      </a:pPr>
                      <a:r>
                        <a:rPr lang="zh-CN" altLang="en-US" sz="1600" dirty="0" smtClean="0"/>
                        <a:t>无状态性从低到没有</a:t>
                      </a:r>
                      <a:endParaRPr lang="zh-CN" altLang="en-US" sz="1600" dirty="0"/>
                    </a:p>
                  </a:txBody>
                  <a:tcPr anchor="ctr"/>
                </a:tc>
                <a:tc>
                  <a:txBody>
                    <a:bodyPr/>
                    <a:lstStyle/>
                    <a:p>
                      <a:pPr marL="285750" indent="-285750">
                        <a:lnSpc>
                          <a:spcPct val="100000"/>
                        </a:lnSpc>
                        <a:buFont typeface="Arial" panose="020B0604020202020204" pitchFamily="34" charset="0"/>
                        <a:buChar char="•"/>
                      </a:pPr>
                      <a:r>
                        <a:rPr lang="zh-CN" altLang="en-US" sz="1600" dirty="0" smtClean="0"/>
                        <a:t>在该特性不重要或者面向特定任务相关时（如任务服务），常常采用</a:t>
                      </a:r>
                      <a:endParaRPr lang="en-US" altLang="zh-CN" sz="1600" dirty="0" smtClean="0"/>
                    </a:p>
                    <a:p>
                      <a:pPr marL="285750" indent="-285750">
                        <a:lnSpc>
                          <a:spcPct val="100000"/>
                        </a:lnSpc>
                        <a:buFont typeface="Arial" panose="020B0604020202020204" pitchFamily="34" charset="0"/>
                        <a:buChar char="•"/>
                      </a:pPr>
                      <a:r>
                        <a:rPr lang="zh-CN" altLang="en-US" sz="1600" dirty="0" smtClean="0"/>
                        <a:t>不会与周围架构构成直接的依赖关系</a:t>
                      </a:r>
                    </a:p>
                  </a:txBody>
                  <a:tcPr anchor="ctr"/>
                </a:tc>
                <a:extLst>
                  <a:ext uri="{0D108BD9-81ED-4DB2-BD59-A6C34878D82A}">
                    <a16:rowId xmlns:a16="http://schemas.microsoft.com/office/drawing/2014/main" val="10001"/>
                  </a:ext>
                </a:extLst>
              </a:tr>
              <a:tr h="1259775">
                <a:tc>
                  <a:txBody>
                    <a:bodyPr/>
                    <a:lstStyle/>
                    <a:p>
                      <a:pPr>
                        <a:lnSpc>
                          <a:spcPct val="100000"/>
                        </a:lnSpc>
                      </a:pPr>
                      <a:r>
                        <a:rPr lang="zh-CN" altLang="en-US" sz="1600" dirty="0" smtClean="0"/>
                        <a:t>部分延迟存储</a:t>
                      </a:r>
                      <a:endParaRPr lang="zh-CN" altLang="en-US" sz="1600" dirty="0"/>
                    </a:p>
                  </a:txBody>
                  <a:tcPr anchor="ctr"/>
                </a:tc>
                <a:tc>
                  <a:txBody>
                    <a:bodyPr/>
                    <a:lstStyle/>
                    <a:p>
                      <a:pPr>
                        <a:lnSpc>
                          <a:spcPct val="100000"/>
                        </a:lnSpc>
                      </a:pPr>
                      <a:r>
                        <a:rPr lang="zh-CN" altLang="en-US" sz="1600" dirty="0" smtClean="0"/>
                        <a:t>较低的有状态性</a:t>
                      </a:r>
                      <a:endParaRPr lang="zh-CN" altLang="en-US" sz="1600" dirty="0"/>
                    </a:p>
                  </a:txBody>
                  <a:tcPr anchor="ctr"/>
                </a:tc>
                <a:tc>
                  <a:txBody>
                    <a:bodyPr/>
                    <a:lstStyle/>
                    <a:p>
                      <a:pPr marL="285750" indent="-285750">
                        <a:lnSpc>
                          <a:spcPct val="100000"/>
                        </a:lnSpc>
                        <a:buFont typeface="Arial" panose="020B0604020202020204" pitchFamily="34" charset="0"/>
                        <a:buChar char="•"/>
                      </a:pPr>
                      <a:r>
                        <a:rPr lang="zh-CN" altLang="en-US" sz="1600" dirty="0" smtClean="0"/>
                        <a:t>当服务需要在运行时间接收大量的状态数据时，可以卸载部分目前不需要的数据。这样服务就可以在只需保存一部分状态数据时，继续保持活跃状态</a:t>
                      </a:r>
                      <a:endParaRPr lang="en-US" altLang="zh-CN" sz="1600" dirty="0" smtClean="0"/>
                    </a:p>
                    <a:p>
                      <a:pPr marL="285750" indent="-285750">
                        <a:lnSpc>
                          <a:spcPct val="100000"/>
                        </a:lnSpc>
                        <a:buFont typeface="Arial" panose="020B0604020202020204" pitchFamily="34" charset="0"/>
                        <a:buChar char="•"/>
                      </a:pPr>
                      <a:r>
                        <a:rPr lang="zh-CN" altLang="en-US" sz="1600" dirty="0" smtClean="0"/>
                        <a:t>通常由服务来延迟的状态信息的类型是业务数据</a:t>
                      </a:r>
                      <a:endParaRPr lang="en-US" altLang="zh-CN" sz="1600" dirty="0" smtClean="0"/>
                    </a:p>
                    <a:p>
                      <a:pPr marL="285750" indent="-285750">
                        <a:lnSpc>
                          <a:spcPct val="100000"/>
                        </a:lnSpc>
                        <a:buFont typeface="Arial" panose="020B0604020202020204" pitchFamily="34" charset="0"/>
                        <a:buChar char="•"/>
                      </a:pPr>
                      <a:r>
                        <a:rPr lang="zh-CN" altLang="en-US" sz="1600" dirty="0" smtClean="0"/>
                        <a:t>该方法减少了服务实例所必需的存储消耗</a:t>
                      </a:r>
                    </a:p>
                  </a:txBody>
                  <a:tcPr anchor="ctr"/>
                </a:tc>
                <a:extLst>
                  <a:ext uri="{0D108BD9-81ED-4DB2-BD59-A6C34878D82A}">
                    <a16:rowId xmlns:a16="http://schemas.microsoft.com/office/drawing/2014/main" val="10002"/>
                  </a:ext>
                </a:extLst>
              </a:tr>
              <a:tr h="1030093">
                <a:tc>
                  <a:txBody>
                    <a:bodyPr/>
                    <a:lstStyle/>
                    <a:p>
                      <a:pPr>
                        <a:lnSpc>
                          <a:spcPct val="100000"/>
                        </a:lnSpc>
                      </a:pPr>
                      <a:r>
                        <a:rPr lang="zh-CN" altLang="en-US" sz="1600" dirty="0" smtClean="0"/>
                        <a:t>部分架构状态管理延迟</a:t>
                      </a:r>
                      <a:endParaRPr lang="zh-CN" altLang="en-US" sz="1600" dirty="0"/>
                    </a:p>
                  </a:txBody>
                  <a:tcPr anchor="ctr"/>
                </a:tc>
                <a:tc>
                  <a:txBody>
                    <a:bodyPr/>
                    <a:lstStyle/>
                    <a:p>
                      <a:pPr>
                        <a:lnSpc>
                          <a:spcPct val="100000"/>
                        </a:lnSpc>
                      </a:pPr>
                      <a:r>
                        <a:rPr lang="zh-CN" altLang="en-US" sz="1600" dirty="0" smtClean="0"/>
                        <a:t>中等无状态性</a:t>
                      </a:r>
                      <a:endParaRPr lang="zh-CN" altLang="en-US" sz="1600" dirty="0"/>
                    </a:p>
                  </a:txBody>
                  <a:tcPr anchor="ctr"/>
                </a:tc>
                <a:tc>
                  <a:txBody>
                    <a:bodyPr/>
                    <a:lstStyle/>
                    <a:p>
                      <a:pPr marL="285750" indent="-285750">
                        <a:lnSpc>
                          <a:spcPct val="100000"/>
                        </a:lnSpc>
                        <a:buFont typeface="Arial" panose="020B0604020202020204" pitchFamily="34" charset="0"/>
                        <a:buChar char="•"/>
                      </a:pPr>
                      <a:r>
                        <a:rPr lang="zh-CN" altLang="en-US" sz="1600" dirty="0" smtClean="0"/>
                        <a:t>在不活动状态的间隙时，考虑将状态全部卸载，将服务转换为无状态模式</a:t>
                      </a:r>
                      <a:endParaRPr lang="en-US" altLang="zh-CN" sz="1600" dirty="0" smtClean="0"/>
                    </a:p>
                    <a:p>
                      <a:pPr marL="285750" indent="-285750">
                        <a:lnSpc>
                          <a:spcPct val="100000"/>
                        </a:lnSpc>
                        <a:buFont typeface="Arial" panose="020B0604020202020204" pitchFamily="34" charset="0"/>
                        <a:buChar char="•"/>
                      </a:pPr>
                      <a:r>
                        <a:rPr lang="zh-CN" altLang="en-US" sz="1600" dirty="0" smtClean="0"/>
                        <a:t>服务不必被设计成一定要利用一切可能的机会转换到无状态</a:t>
                      </a:r>
                    </a:p>
                  </a:txBody>
                  <a:tcPr anchor="ctr"/>
                </a:tc>
                <a:extLst>
                  <a:ext uri="{0D108BD9-81ED-4DB2-BD59-A6C34878D82A}">
                    <a16:rowId xmlns:a16="http://schemas.microsoft.com/office/drawing/2014/main" val="10003"/>
                  </a:ext>
                </a:extLst>
              </a:tr>
              <a:tr h="1265542">
                <a:tc>
                  <a:txBody>
                    <a:bodyPr/>
                    <a:lstStyle/>
                    <a:p>
                      <a:pPr>
                        <a:lnSpc>
                          <a:spcPct val="100000"/>
                        </a:lnSpc>
                      </a:pPr>
                      <a:r>
                        <a:rPr lang="zh-CN" altLang="en-US" sz="1600" dirty="0" smtClean="0"/>
                        <a:t>完全架构状态管理延迟</a:t>
                      </a:r>
                      <a:r>
                        <a:rPr lang="en-US" altLang="zh-CN" sz="1600" dirty="0" smtClean="0"/>
                        <a:t>/</a:t>
                      </a:r>
                      <a:r>
                        <a:rPr lang="zh-CN" altLang="en-US" sz="1600" dirty="0" smtClean="0"/>
                        <a:t>内部延迟状态管理</a:t>
                      </a:r>
                      <a:endParaRPr lang="zh-CN" altLang="en-US" sz="1600" dirty="0"/>
                    </a:p>
                  </a:txBody>
                  <a:tcPr anchor="ctr"/>
                </a:tc>
                <a:tc>
                  <a:txBody>
                    <a:bodyPr/>
                    <a:lstStyle/>
                    <a:p>
                      <a:pPr>
                        <a:lnSpc>
                          <a:spcPct val="100000"/>
                        </a:lnSpc>
                      </a:pPr>
                      <a:r>
                        <a:rPr lang="zh-CN" altLang="en-US" sz="1600" dirty="0" smtClean="0"/>
                        <a:t>高度无状态性</a:t>
                      </a:r>
                      <a:endParaRPr lang="zh-CN" altLang="en-US" sz="1600" dirty="0"/>
                    </a:p>
                  </a:txBody>
                  <a:tcPr anchor="ctr"/>
                </a:tc>
                <a:tc>
                  <a:txBody>
                    <a:bodyPr/>
                    <a:lstStyle/>
                    <a:p>
                      <a:pPr marL="285750" indent="-285750">
                        <a:lnSpc>
                          <a:spcPct val="100000"/>
                        </a:lnSpc>
                        <a:buFont typeface="Arial" panose="020B0604020202020204" pitchFamily="34" charset="0"/>
                        <a:buChar char="•"/>
                      </a:pPr>
                      <a:r>
                        <a:rPr lang="zh-CN" altLang="en-US" sz="1600" dirty="0" smtClean="0"/>
                        <a:t>服务能力被设计为用于最大化任何可能的机会使之进入无状态模式</a:t>
                      </a:r>
                      <a:endParaRPr lang="en-US" altLang="zh-CN" sz="1600" dirty="0" smtClean="0"/>
                    </a:p>
                    <a:p>
                      <a:pPr marL="285750" indent="-285750">
                        <a:lnSpc>
                          <a:spcPct val="100000"/>
                        </a:lnSpc>
                        <a:buFont typeface="Arial" panose="020B0604020202020204" pitchFamily="34" charset="0"/>
                        <a:buChar char="•"/>
                      </a:pPr>
                      <a:r>
                        <a:rPr lang="zh-CN" altLang="en-US" sz="1600" dirty="0" smtClean="0"/>
                        <a:t>当有状态时在任何有可能的情况下卸载状态信息</a:t>
                      </a:r>
                      <a:r>
                        <a:rPr lang="en-US" altLang="zh-CN" sz="1600" dirty="0" smtClean="0"/>
                        <a:t>(</a:t>
                      </a:r>
                      <a:r>
                        <a:rPr lang="zh-CN" altLang="en-US" sz="1600" dirty="0" smtClean="0"/>
                        <a:t>主要是上下文和业务数据</a:t>
                      </a:r>
                      <a:r>
                        <a:rPr lang="en-US" altLang="zh-CN" sz="1600" dirty="0" smtClean="0"/>
                        <a:t>)</a:t>
                      </a:r>
                      <a:endParaRPr lang="zh-CN" altLang="en-US" sz="1600" dirty="0" smtClean="0"/>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197535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r>
              <a:rPr lang="zh-CN" altLang="en-US" smtClean="0"/>
              <a:t>无状态性与服务设计</a:t>
            </a:r>
          </a:p>
        </p:txBody>
      </p:sp>
      <p:sp>
        <p:nvSpPr>
          <p:cNvPr id="64515" name="内容占位符 2"/>
          <p:cNvSpPr>
            <a:spLocks noGrp="1"/>
          </p:cNvSpPr>
          <p:nvPr>
            <p:ph idx="1"/>
          </p:nvPr>
        </p:nvSpPr>
        <p:spPr/>
        <p:txBody>
          <a:bodyPr/>
          <a:lstStyle/>
          <a:p>
            <a:pPr>
              <a:lnSpc>
                <a:spcPct val="150000"/>
              </a:lnSpc>
            </a:pPr>
            <a:r>
              <a:rPr lang="zh-CN" altLang="en-US" dirty="0" smtClean="0"/>
              <a:t>消息作为一个状态延迟选项</a:t>
            </a:r>
            <a:endParaRPr lang="en-US" altLang="zh-CN" dirty="0" smtClean="0"/>
          </a:p>
          <a:p>
            <a:pPr>
              <a:lnSpc>
                <a:spcPct val="150000"/>
              </a:lnSpc>
            </a:pPr>
            <a:r>
              <a:rPr lang="zh-CN" altLang="en-US" dirty="0" smtClean="0"/>
              <a:t>服务无状态性与服务实例</a:t>
            </a:r>
            <a:endParaRPr lang="en-US" altLang="zh-CN" dirty="0" smtClean="0"/>
          </a:p>
          <a:p>
            <a:pPr>
              <a:lnSpc>
                <a:spcPct val="150000"/>
              </a:lnSpc>
            </a:pPr>
            <a:r>
              <a:rPr lang="zh-CN" altLang="en-US" dirty="0" smtClean="0"/>
              <a:t>服务无状态性与粒度</a:t>
            </a:r>
            <a:endParaRPr lang="en-US" altLang="zh-CN" dirty="0" smtClean="0"/>
          </a:p>
          <a:p>
            <a:endParaRPr lang="en-US" altLang="zh-CN" dirty="0" smtClean="0"/>
          </a:p>
        </p:txBody>
      </p:sp>
      <p:sp>
        <p:nvSpPr>
          <p:cNvPr id="6451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D6F745D-0543-469C-8610-5B30F86FE38B}" type="slidenum">
              <a:rPr lang="en-US" altLang="zh-CN" smtClean="0"/>
              <a:pPr eaLnBrk="1" hangingPunct="1"/>
              <a:t>49</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zh-CN" altLang="en-US" smtClean="0"/>
              <a:t>消息作为一个状态延迟选项</a:t>
            </a:r>
          </a:p>
        </p:txBody>
      </p:sp>
      <p:sp>
        <p:nvSpPr>
          <p:cNvPr id="3" name="内容占位符 2"/>
          <p:cNvSpPr>
            <a:spLocks noGrp="1"/>
          </p:cNvSpPr>
          <p:nvPr>
            <p:ph idx="1"/>
          </p:nvPr>
        </p:nvSpPr>
        <p:spPr/>
        <p:txBody>
          <a:bodyPr>
            <a:normAutofit fontScale="85000" lnSpcReduction="10000"/>
          </a:bodyPr>
          <a:lstStyle/>
          <a:p>
            <a:pPr>
              <a:lnSpc>
                <a:spcPct val="120000"/>
              </a:lnSpc>
              <a:defRPr/>
            </a:pPr>
            <a:r>
              <a:rPr lang="zh-CN" altLang="en-US" dirty="0" smtClean="0"/>
              <a:t>服务可复用性原则所提倡的通用设计思想，以及服务抽象原则所提倡的减少确认约束，都可以显著地减少嵌入在服务中的活动相关逻辑的数量</a:t>
            </a:r>
            <a:endParaRPr lang="en-US" altLang="zh-CN" dirty="0" smtClean="0"/>
          </a:p>
          <a:p>
            <a:pPr>
              <a:lnSpc>
                <a:spcPct val="120000"/>
              </a:lnSpc>
              <a:defRPr/>
            </a:pPr>
            <a:r>
              <a:rPr lang="zh-CN" altLang="en-US" dirty="0" smtClean="0"/>
              <a:t>无关服务变得更加“对活动无知” </a:t>
            </a:r>
            <a:r>
              <a:rPr lang="en-US" altLang="zh-CN" dirty="0" smtClean="0"/>
              <a:t>(activity dumb)</a:t>
            </a:r>
            <a:r>
              <a:rPr lang="zh-CN" altLang="en-US" dirty="0" smtClean="0"/>
              <a:t>，并将为服务提供活动的上下文数据和规则的责任放在消息层</a:t>
            </a:r>
            <a:endParaRPr lang="en-US" altLang="zh-CN" dirty="0" smtClean="0"/>
          </a:p>
          <a:p>
            <a:pPr>
              <a:lnSpc>
                <a:spcPct val="120000"/>
              </a:lnSpc>
              <a:defRPr/>
            </a:pPr>
            <a:r>
              <a:rPr lang="zh-CN" altLang="en-US" dirty="0" smtClean="0"/>
              <a:t>消息可以被看成是一种状态延迟选项</a:t>
            </a:r>
            <a:endParaRPr lang="en-US" altLang="zh-CN" dirty="0" smtClean="0"/>
          </a:p>
          <a:p>
            <a:pPr>
              <a:lnSpc>
                <a:spcPct val="120000"/>
              </a:lnSpc>
              <a:defRPr/>
            </a:pPr>
            <a:r>
              <a:rPr lang="zh-CN" altLang="en-US" dirty="0" smtClean="0"/>
              <a:t>消息可以为消费者定制设计，在整个服务活动中携带业务状态数据，因此可以更进一步减轻状态管理的负担</a:t>
            </a:r>
            <a:endParaRPr lang="en-US" altLang="zh-CN" dirty="0" smtClean="0"/>
          </a:p>
        </p:txBody>
      </p:sp>
      <p:sp>
        <p:nvSpPr>
          <p:cNvPr id="65540"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EE9A77B-4BEA-4FE5-A134-1C0AB7DE74B3}" type="slidenum">
              <a:rPr lang="en-US" altLang="zh-CN" smtClean="0"/>
              <a:pPr eaLnBrk="1" hangingPunct="1"/>
              <a:t>50</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a:lstStyle/>
          <a:p>
            <a:r>
              <a:rPr lang="zh-CN" altLang="en-US" smtClean="0"/>
              <a:t>服务无状态性与服务实例</a:t>
            </a:r>
          </a:p>
        </p:txBody>
      </p:sp>
      <p:sp>
        <p:nvSpPr>
          <p:cNvPr id="66563" name="内容占位符 2"/>
          <p:cNvSpPr>
            <a:spLocks noGrp="1"/>
          </p:cNvSpPr>
          <p:nvPr>
            <p:ph idx="1"/>
          </p:nvPr>
        </p:nvSpPr>
        <p:spPr/>
        <p:txBody>
          <a:bodyPr/>
          <a:lstStyle/>
          <a:p>
            <a:pPr>
              <a:lnSpc>
                <a:spcPct val="150000"/>
              </a:lnSpc>
            </a:pPr>
            <a:r>
              <a:rPr lang="zh-CN" altLang="en-US" dirty="0" smtClean="0"/>
              <a:t>在有状态的情况下，同一服务的多个不同实例处于活动且有状态时，它们构成一个服务实例池</a:t>
            </a:r>
            <a:endParaRPr lang="en-US" altLang="zh-CN" dirty="0" smtClean="0"/>
          </a:p>
          <a:p>
            <a:pPr>
              <a:lnSpc>
                <a:spcPct val="150000"/>
              </a:lnSpc>
            </a:pPr>
            <a:r>
              <a:rPr lang="zh-CN" altLang="en-US" dirty="0" smtClean="0"/>
              <a:t>服务消费者应能够在实例池中找到特定的实例并与之通信</a:t>
            </a:r>
            <a:endParaRPr lang="en-US" altLang="zh-CN" dirty="0" smtClean="0"/>
          </a:p>
          <a:p>
            <a:pPr>
              <a:lnSpc>
                <a:spcPct val="150000"/>
              </a:lnSpc>
            </a:pPr>
            <a:r>
              <a:rPr lang="en-US" altLang="zh-CN" dirty="0" smtClean="0"/>
              <a:t>WS-Addressing</a:t>
            </a:r>
            <a:r>
              <a:rPr lang="zh-CN" altLang="en-US" dirty="0" smtClean="0"/>
              <a:t>协议提供了相应机制</a:t>
            </a:r>
          </a:p>
        </p:txBody>
      </p:sp>
      <p:sp>
        <p:nvSpPr>
          <p:cNvPr id="6656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75ECE66-4183-49E8-B947-6514B3054BED}" type="slidenum">
              <a:rPr lang="en-US" altLang="zh-CN" smtClean="0"/>
              <a:pPr eaLnBrk="1" hangingPunct="1"/>
              <a:t>51</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r>
              <a:rPr lang="zh-CN" altLang="en-US" smtClean="0"/>
              <a:t>服务无状态性与粒度</a:t>
            </a:r>
          </a:p>
        </p:txBody>
      </p:sp>
      <p:sp>
        <p:nvSpPr>
          <p:cNvPr id="67587" name="内容占位符 2"/>
          <p:cNvSpPr>
            <a:spLocks noGrp="1"/>
          </p:cNvSpPr>
          <p:nvPr>
            <p:ph idx="1"/>
          </p:nvPr>
        </p:nvSpPr>
        <p:spPr/>
        <p:txBody>
          <a:bodyPr/>
          <a:lstStyle/>
          <a:p>
            <a:r>
              <a:rPr lang="zh-CN" altLang="en-US" dirty="0" smtClean="0"/>
              <a:t>当一些服务在运行时需要接收和处理大范围的状态数据时，它们相应的合约粒度一定会受到影响</a:t>
            </a:r>
            <a:endParaRPr lang="en-US" altLang="zh-CN" dirty="0" smtClean="0"/>
          </a:p>
          <a:p>
            <a:r>
              <a:rPr lang="zh-CN" altLang="en-US" dirty="0" smtClean="0"/>
              <a:t>尤其可能会需要降低数据和约束粒度，以使它们能接收更大量的数据和范围更广的数值</a:t>
            </a:r>
            <a:endParaRPr lang="en-US" altLang="zh-CN" dirty="0" smtClean="0"/>
          </a:p>
          <a:p>
            <a:r>
              <a:rPr lang="zh-CN" altLang="en-US" dirty="0" smtClean="0"/>
              <a:t>与其他设计原则不同，服务无状态性可以同时影响消息体和消息头的粒度（</a:t>
            </a:r>
            <a:r>
              <a:rPr lang="en-US" altLang="zh-CN" dirty="0" smtClean="0"/>
              <a:t>WS-</a:t>
            </a:r>
            <a:r>
              <a:rPr lang="zh-CN" altLang="en-US" dirty="0" smtClean="0"/>
              <a:t>*）</a:t>
            </a:r>
          </a:p>
        </p:txBody>
      </p:sp>
      <p:sp>
        <p:nvSpPr>
          <p:cNvPr id="67588"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CBFECF3-C86E-427B-BB75-68868A4AD3E4}" type="slidenum">
              <a:rPr lang="en-US" altLang="zh-CN" smtClean="0"/>
              <a:pPr eaLnBrk="1" hangingPunct="1"/>
              <a:t>52</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r>
              <a:rPr lang="zh-CN" altLang="en-US" smtClean="0"/>
              <a:t>服务无状态性与服务模型 （</a:t>
            </a:r>
            <a:r>
              <a:rPr lang="en-US" altLang="zh-CN" smtClean="0"/>
              <a:t>1/2</a:t>
            </a:r>
            <a:r>
              <a:rPr lang="zh-CN" altLang="en-US" smtClean="0"/>
              <a:t>）</a:t>
            </a:r>
          </a:p>
        </p:txBody>
      </p:sp>
      <p:sp>
        <p:nvSpPr>
          <p:cNvPr id="3" name="内容占位符 2"/>
          <p:cNvSpPr>
            <a:spLocks noGrp="1"/>
          </p:cNvSpPr>
          <p:nvPr>
            <p:ph idx="1"/>
          </p:nvPr>
        </p:nvSpPr>
        <p:spPr/>
        <p:txBody>
          <a:bodyPr>
            <a:normAutofit fontScale="85000" lnSpcReduction="10000"/>
          </a:bodyPr>
          <a:lstStyle/>
          <a:p>
            <a:pPr>
              <a:lnSpc>
                <a:spcPct val="120000"/>
              </a:lnSpc>
              <a:defRPr/>
            </a:pPr>
            <a:r>
              <a:rPr lang="zh-CN" altLang="en-US" dirty="0" smtClean="0"/>
              <a:t>实体服务</a:t>
            </a:r>
            <a:endParaRPr lang="en-US" altLang="zh-CN" dirty="0" smtClean="0"/>
          </a:p>
          <a:p>
            <a:pPr lvl="1">
              <a:lnSpc>
                <a:spcPct val="120000"/>
              </a:lnSpc>
              <a:defRPr/>
            </a:pPr>
            <a:r>
              <a:rPr lang="zh-CN" altLang="en-US" dirty="0" smtClean="0">
                <a:cs typeface="+mn-cs"/>
              </a:rPr>
              <a:t>对实体服务中的所有能力，以及对于一个服务库存中的所有实体服务，进行标准化状态管理规范</a:t>
            </a:r>
            <a:endParaRPr lang="en-US" altLang="zh-CN" dirty="0" smtClean="0">
              <a:cs typeface="+mn-cs"/>
            </a:endParaRPr>
          </a:p>
          <a:p>
            <a:pPr lvl="1">
              <a:lnSpc>
                <a:spcPct val="120000"/>
              </a:lnSpc>
              <a:defRPr/>
            </a:pPr>
            <a:r>
              <a:rPr lang="zh-CN" altLang="en-US" dirty="0" smtClean="0">
                <a:cs typeface="+mn-cs"/>
              </a:rPr>
              <a:t>并对</a:t>
            </a:r>
            <a:r>
              <a:rPr lang="zh-CN" altLang="en-US" dirty="0" smtClean="0"/>
              <a:t>消息传递的业务和上下文信息（和规则</a:t>
            </a:r>
            <a:r>
              <a:rPr lang="zh-CN" altLang="en-US" dirty="0"/>
              <a:t>）</a:t>
            </a:r>
            <a:r>
              <a:rPr lang="zh-CN" altLang="en-US" dirty="0" smtClean="0"/>
              <a:t>的数据表示进行标准化管理，以确保一致的互联性</a:t>
            </a:r>
            <a:endParaRPr lang="en-US" altLang="zh-CN" dirty="0" smtClean="0"/>
          </a:p>
          <a:p>
            <a:pPr>
              <a:lnSpc>
                <a:spcPct val="120000"/>
              </a:lnSpc>
              <a:defRPr/>
            </a:pPr>
            <a:r>
              <a:rPr lang="zh-CN" altLang="en-US" dirty="0" smtClean="0"/>
              <a:t>应用服务</a:t>
            </a:r>
            <a:endParaRPr lang="en-US" altLang="zh-CN" dirty="0" smtClean="0"/>
          </a:p>
          <a:p>
            <a:pPr lvl="1">
              <a:lnSpc>
                <a:spcPct val="120000"/>
              </a:lnSpc>
              <a:defRPr/>
            </a:pPr>
            <a:r>
              <a:rPr lang="zh-CN" altLang="en-US" dirty="0" smtClean="0"/>
              <a:t>有时会被故意设计成违反本条原则，设计一系列服务，作为有状态的系统资源来替代服务管理状态数据</a:t>
            </a:r>
            <a:endParaRPr lang="en-US" altLang="zh-CN" dirty="0" smtClean="0"/>
          </a:p>
          <a:p>
            <a:pPr lvl="1">
              <a:lnSpc>
                <a:spcPct val="120000"/>
              </a:lnSpc>
              <a:defRPr/>
            </a:pPr>
            <a:r>
              <a:rPr lang="zh-CN" altLang="en-US" dirty="0" smtClean="0"/>
              <a:t>这种类型的应用服务所提供的“横切”功能就是状态管理自身</a:t>
            </a:r>
            <a:endParaRPr lang="en-US" altLang="zh-CN" dirty="0" smtClean="0"/>
          </a:p>
          <a:p>
            <a:pPr lvl="1">
              <a:lnSpc>
                <a:spcPct val="120000"/>
              </a:lnSpc>
              <a:defRPr/>
            </a:pPr>
            <a:r>
              <a:rPr lang="zh-CN" altLang="en-US" dirty="0" smtClean="0"/>
              <a:t>使得其他服务的无状态性更容易实现</a:t>
            </a:r>
            <a:endParaRPr lang="en-US" altLang="zh-CN" dirty="0" smtClean="0"/>
          </a:p>
        </p:txBody>
      </p:sp>
      <p:sp>
        <p:nvSpPr>
          <p:cNvPr id="6861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3925468-4E8A-48CF-B30C-E9CECC8D1571}" type="slidenum">
              <a:rPr lang="en-US" altLang="zh-CN" smtClean="0"/>
              <a:pPr eaLnBrk="1" hangingPunct="1"/>
              <a:t>53</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zh-CN" altLang="en-US" smtClean="0"/>
              <a:t>服务无状态性与服务模型 （</a:t>
            </a:r>
            <a:r>
              <a:rPr lang="en-US" altLang="zh-CN" smtClean="0"/>
              <a:t>2/2</a:t>
            </a:r>
            <a:r>
              <a:rPr lang="zh-CN" altLang="en-US" smtClean="0"/>
              <a:t>）</a:t>
            </a:r>
          </a:p>
        </p:txBody>
      </p:sp>
      <p:sp>
        <p:nvSpPr>
          <p:cNvPr id="3" name="内容占位符 2"/>
          <p:cNvSpPr>
            <a:spLocks noGrp="1"/>
          </p:cNvSpPr>
          <p:nvPr>
            <p:ph idx="1"/>
          </p:nvPr>
        </p:nvSpPr>
        <p:spPr/>
        <p:txBody>
          <a:bodyPr>
            <a:normAutofit fontScale="92500" lnSpcReduction="10000"/>
          </a:bodyPr>
          <a:lstStyle/>
          <a:p>
            <a:pPr>
              <a:lnSpc>
                <a:spcPct val="110000"/>
              </a:lnSpc>
              <a:defRPr/>
            </a:pPr>
            <a:r>
              <a:rPr lang="zh-CN" altLang="en-US" dirty="0" smtClean="0"/>
              <a:t>任务服务</a:t>
            </a:r>
            <a:endParaRPr lang="en-US" altLang="zh-CN" dirty="0" smtClean="0"/>
          </a:p>
          <a:p>
            <a:pPr lvl="1">
              <a:lnSpc>
                <a:spcPct val="110000"/>
              </a:lnSpc>
              <a:defRPr/>
            </a:pPr>
            <a:r>
              <a:rPr lang="zh-CN" altLang="en-US" dirty="0" smtClean="0"/>
              <a:t>以任务为中心的服务有一个以业务流程为中心的功能范围，它们被特意设计成用于封装上下文规则</a:t>
            </a:r>
            <a:endParaRPr lang="en-US" altLang="zh-CN" dirty="0" smtClean="0"/>
          </a:p>
          <a:p>
            <a:pPr lvl="1">
              <a:lnSpc>
                <a:spcPct val="110000"/>
              </a:lnSpc>
              <a:defRPr/>
            </a:pPr>
            <a:r>
              <a:rPr lang="zh-CN" altLang="en-US" dirty="0" smtClean="0"/>
              <a:t>如何管理状态数据有多样化方法（较大规模的组合倾向于延迟上下文数据，较小规模的任务在活动期间保有状态数据）</a:t>
            </a:r>
            <a:endParaRPr lang="en-US" altLang="zh-CN" dirty="0" smtClean="0"/>
          </a:p>
          <a:p>
            <a:pPr>
              <a:lnSpc>
                <a:spcPct val="110000"/>
              </a:lnSpc>
              <a:defRPr/>
            </a:pPr>
            <a:r>
              <a:rPr lang="zh-CN" altLang="en-US" dirty="0" smtClean="0"/>
              <a:t>编排任务服务</a:t>
            </a:r>
          </a:p>
          <a:p>
            <a:pPr lvl="1">
              <a:lnSpc>
                <a:spcPct val="110000"/>
              </a:lnSpc>
              <a:defRPr/>
            </a:pPr>
            <a:r>
              <a:rPr lang="zh-CN" altLang="en-US" dirty="0" smtClean="0"/>
              <a:t>编排任务服务总是被期望保持有状态</a:t>
            </a:r>
            <a:endParaRPr lang="en-US" altLang="zh-CN" dirty="0" smtClean="0"/>
          </a:p>
          <a:p>
            <a:pPr lvl="1">
              <a:lnSpc>
                <a:spcPct val="110000"/>
              </a:lnSpc>
              <a:defRPr/>
            </a:pPr>
            <a:r>
              <a:rPr lang="zh-CN" altLang="en-US" dirty="0" smtClean="0">
                <a:cs typeface="+mn-cs"/>
              </a:rPr>
              <a:t>如果一个过程持续保持不活动状态超过了一定的时间，状态数据将会被保存在一个数据库中，直至需要被重新激活</a:t>
            </a:r>
            <a:endParaRPr lang="en-US" altLang="zh-CN" dirty="0" smtClean="0"/>
          </a:p>
        </p:txBody>
      </p:sp>
      <p:sp>
        <p:nvSpPr>
          <p:cNvPr id="69636"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31DB879-87C9-4112-9962-60D6F6C9737F}" type="slidenum">
              <a:rPr lang="en-US" altLang="zh-CN" smtClean="0"/>
              <a:pPr eaLnBrk="1" hangingPunct="1"/>
              <a:t>54</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r>
              <a:rPr lang="zh-CN" altLang="en-US" dirty="0" smtClean="0"/>
              <a:t>服务无状态性与其他原则 </a:t>
            </a:r>
            <a:r>
              <a:rPr lang="en-US" altLang="zh-CN" dirty="0" smtClean="0"/>
              <a:t>I</a:t>
            </a:r>
            <a:endParaRPr lang="zh-CN" altLang="en-US" dirty="0" smtClean="0"/>
          </a:p>
        </p:txBody>
      </p:sp>
      <p:sp>
        <p:nvSpPr>
          <p:cNvPr id="70659"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9F07BC1-4A83-48AC-BCF9-E71959E6068C}" type="slidenum">
              <a:rPr lang="en-US" altLang="zh-CN" smtClean="0"/>
              <a:pPr eaLnBrk="1" hangingPunct="1"/>
              <a:t>55</a:t>
            </a:fld>
            <a:endParaRPr lang="en-US" altLang="zh-CN" smtClean="0"/>
          </a:p>
        </p:txBody>
      </p:sp>
      <p:pic>
        <p:nvPicPr>
          <p:cNvPr id="2" name="图片 1"/>
          <p:cNvPicPr>
            <a:picLocks noChangeAspect="1"/>
          </p:cNvPicPr>
          <p:nvPr/>
        </p:nvPicPr>
        <p:blipFill>
          <a:blip r:embed="rId3"/>
          <a:stretch>
            <a:fillRect/>
          </a:stretch>
        </p:blipFill>
        <p:spPr>
          <a:xfrm>
            <a:off x="1043608" y="1844824"/>
            <a:ext cx="7293573" cy="368540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a:lstStyle/>
          <a:p>
            <a:r>
              <a:rPr lang="zh-CN" altLang="en-US" smtClean="0"/>
              <a:t>服务无状态性与其他原则 </a:t>
            </a:r>
            <a:r>
              <a:rPr lang="en-US" altLang="zh-CN" smtClean="0"/>
              <a:t>II</a:t>
            </a:r>
            <a:endParaRPr lang="zh-CN" altLang="en-US" dirty="0" smtClean="0"/>
          </a:p>
        </p:txBody>
      </p:sp>
      <p:sp>
        <p:nvSpPr>
          <p:cNvPr id="71683" name="内容占位符 2"/>
          <p:cNvSpPr>
            <a:spLocks noGrp="1"/>
          </p:cNvSpPr>
          <p:nvPr>
            <p:ph idx="1"/>
          </p:nvPr>
        </p:nvSpPr>
        <p:spPr/>
        <p:txBody>
          <a:bodyPr>
            <a:normAutofit fontScale="77500" lnSpcReduction="20000"/>
          </a:bodyPr>
          <a:lstStyle/>
          <a:p>
            <a:pPr>
              <a:lnSpc>
                <a:spcPct val="120000"/>
              </a:lnSpc>
            </a:pPr>
            <a:r>
              <a:rPr lang="zh-CN" altLang="en-US" dirty="0" smtClean="0"/>
              <a:t>服务无状态性与服务可复用性</a:t>
            </a:r>
            <a:endParaRPr lang="en-US" altLang="zh-CN" dirty="0" smtClean="0"/>
          </a:p>
          <a:p>
            <a:pPr lvl="1">
              <a:lnSpc>
                <a:spcPct val="120000"/>
              </a:lnSpc>
            </a:pPr>
            <a:r>
              <a:rPr lang="zh-CN" altLang="en-US" dirty="0" smtClean="0"/>
              <a:t>减少活动相关逻辑使一个服务变得更加无关（而无关服务具有更好的可复用性</a:t>
            </a:r>
            <a:r>
              <a:rPr lang="zh-CN" altLang="en-US" dirty="0"/>
              <a:t>）</a:t>
            </a:r>
            <a:endParaRPr lang="en-US" altLang="zh-CN" dirty="0" smtClean="0"/>
          </a:p>
          <a:p>
            <a:pPr lvl="1">
              <a:lnSpc>
                <a:spcPct val="120000"/>
              </a:lnSpc>
            </a:pPr>
            <a:r>
              <a:rPr lang="zh-CN" altLang="en-US" dirty="0" smtClean="0"/>
              <a:t>提高服务的可扩展性和可用性使得它们可以在更多的服务组合中被更多的服务消费者复用</a:t>
            </a:r>
            <a:endParaRPr lang="en-US" altLang="zh-CN" dirty="0" smtClean="0"/>
          </a:p>
          <a:p>
            <a:pPr>
              <a:lnSpc>
                <a:spcPct val="120000"/>
              </a:lnSpc>
            </a:pPr>
            <a:r>
              <a:rPr lang="zh-CN" altLang="en-US" dirty="0" smtClean="0"/>
              <a:t>服务无状态性与服务自治</a:t>
            </a:r>
            <a:endParaRPr lang="en-US" altLang="zh-CN" dirty="0" smtClean="0"/>
          </a:p>
          <a:p>
            <a:pPr lvl="1">
              <a:lnSpc>
                <a:spcPct val="120000"/>
              </a:lnSpc>
            </a:pPr>
            <a:r>
              <a:rPr lang="zh-CN" altLang="en-US" dirty="0" smtClean="0"/>
              <a:t>状态信息的本质通常是特定于一个给定的活动或者业务流程的，通过在服务边界外改变状态管理机制和流程的职责，就可以降低服务逻辑依赖于更大的业务任务的可能性。这使得服务能够更加自给自足，并且能够被定位成技术环境的一个独立部分，因而直接增加其整体自治性</a:t>
            </a:r>
          </a:p>
          <a:p>
            <a:pPr lvl="1">
              <a:lnSpc>
                <a:spcPct val="120000"/>
              </a:lnSpc>
            </a:pPr>
            <a:r>
              <a:rPr lang="zh-CN" altLang="en-US" dirty="0" smtClean="0"/>
              <a:t>另一方面，由环境架构所提供的状态管理延迟选项可要求服务形成在其边界外的一个直接依赖。这种类型的外部实现耦合会影响到一个服务的整体自治</a:t>
            </a:r>
            <a:endParaRPr lang="zh-CN" altLang="en-US" dirty="0"/>
          </a:p>
        </p:txBody>
      </p:sp>
      <p:sp>
        <p:nvSpPr>
          <p:cNvPr id="71684"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22EE5615-58C9-4AA3-A859-18902F0CD73E}" type="slidenum">
              <a:rPr lang="en-US" altLang="zh-CN" smtClean="0"/>
              <a:pPr/>
              <a:t>56</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r>
              <a:rPr lang="zh-CN" altLang="en-US" smtClean="0"/>
              <a:t>服务无状态性的相关风险</a:t>
            </a:r>
          </a:p>
        </p:txBody>
      </p:sp>
      <p:sp>
        <p:nvSpPr>
          <p:cNvPr id="73731" name="内容占位符 2"/>
          <p:cNvSpPr>
            <a:spLocks noGrp="1"/>
          </p:cNvSpPr>
          <p:nvPr>
            <p:ph idx="1"/>
          </p:nvPr>
        </p:nvSpPr>
        <p:spPr/>
        <p:txBody>
          <a:bodyPr>
            <a:normAutofit fontScale="77500" lnSpcReduction="20000"/>
          </a:bodyPr>
          <a:lstStyle/>
          <a:p>
            <a:pPr>
              <a:lnSpc>
                <a:spcPct val="120000"/>
              </a:lnSpc>
            </a:pPr>
            <a:r>
              <a:rPr lang="zh-CN" altLang="en-US" dirty="0" smtClean="0"/>
              <a:t>对于架构的依赖</a:t>
            </a:r>
            <a:endParaRPr lang="en-US" altLang="zh-CN" dirty="0" smtClean="0"/>
          </a:p>
          <a:p>
            <a:pPr lvl="1">
              <a:lnSpc>
                <a:spcPct val="120000"/>
              </a:lnSpc>
            </a:pPr>
            <a:r>
              <a:rPr lang="zh-CN" altLang="en-US" dirty="0" smtClean="0"/>
              <a:t>要建立服务设计和一个外部状态延迟选项的相互依赖关系</a:t>
            </a:r>
            <a:endParaRPr lang="en-US" altLang="zh-CN" dirty="0" smtClean="0"/>
          </a:p>
          <a:p>
            <a:pPr lvl="1">
              <a:lnSpc>
                <a:spcPct val="120000"/>
              </a:lnSpc>
            </a:pPr>
            <a:r>
              <a:rPr lang="zh-CN" altLang="en-US" dirty="0" smtClean="0"/>
              <a:t>需要权衡这种依赖关系和延迟状态所带来的好处</a:t>
            </a:r>
            <a:endParaRPr lang="en-US" altLang="zh-CN" dirty="0" smtClean="0"/>
          </a:p>
          <a:p>
            <a:pPr>
              <a:lnSpc>
                <a:spcPct val="120000"/>
              </a:lnSpc>
            </a:pPr>
            <a:r>
              <a:rPr lang="zh-CN" altLang="en-US" dirty="0" smtClean="0"/>
              <a:t>增加的运行时性能需求</a:t>
            </a:r>
            <a:endParaRPr lang="en-US" altLang="zh-CN" dirty="0" smtClean="0"/>
          </a:p>
          <a:p>
            <a:pPr lvl="1">
              <a:lnSpc>
                <a:spcPct val="120000"/>
              </a:lnSpc>
            </a:pPr>
            <a:r>
              <a:rPr lang="zh-CN" altLang="en-US" dirty="0" smtClean="0"/>
              <a:t>在从无状态到有状态进行切换时，可能会需要找回、解析然后再在服务中执行状态数据，这将会在消息内容的实际处理之外引入额外的性能开销</a:t>
            </a:r>
            <a:endParaRPr lang="en-US" altLang="zh-CN" dirty="0" smtClean="0"/>
          </a:p>
          <a:p>
            <a:pPr>
              <a:lnSpc>
                <a:spcPct val="120000"/>
              </a:lnSpc>
            </a:pPr>
            <a:r>
              <a:rPr lang="zh-CN" altLang="en-US" dirty="0" smtClean="0"/>
              <a:t>低估交付代价</a:t>
            </a:r>
            <a:endParaRPr lang="en-US" altLang="zh-CN" dirty="0" smtClean="0"/>
          </a:p>
          <a:p>
            <a:pPr lvl="1">
              <a:lnSpc>
                <a:spcPct val="120000"/>
              </a:lnSpc>
            </a:pPr>
            <a:r>
              <a:rPr lang="zh-CN" altLang="en-US" dirty="0" smtClean="0"/>
              <a:t>特定于活动的数据需要在运行过程中被接收、解析、处理和延迟的事实，需要服务的底层方案逻辑包含这些复杂的算法和例程。这不仅会带来额外的设计考虑，还伴随着确保该服务能够处理大量可能的情况和大量的活动数据所需要的编程和测试的代价</a:t>
            </a:r>
            <a:endParaRPr lang="zh-CN" altLang="en-US" dirty="0"/>
          </a:p>
        </p:txBody>
      </p:sp>
      <p:sp>
        <p:nvSpPr>
          <p:cNvPr id="73732" name="灯片编号占位符 3"/>
          <p:cNvSpPr>
            <a:spLocks noGrp="1"/>
          </p:cNvSpPr>
          <p:nvPr>
            <p:ph type="sldNum" sz="quarter" idx="11"/>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F26C7704-43CE-46EF-BC78-BE2DDC8535F7}" type="slidenum">
              <a:rPr lang="en-US" altLang="zh-CN" smtClean="0"/>
              <a:pPr/>
              <a:t>57</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p:txBody>
          <a:bodyPr/>
          <a:lstStyle/>
          <a:p>
            <a:r>
              <a:rPr lang="zh-CN" altLang="en-US" smtClean="0"/>
              <a:t>案例研究</a:t>
            </a:r>
            <a:r>
              <a:rPr lang="en-US" altLang="zh-CN" smtClean="0"/>
              <a:t>——</a:t>
            </a:r>
            <a:r>
              <a:rPr lang="zh-CN" altLang="en-US" smtClean="0"/>
              <a:t>背景</a:t>
            </a:r>
          </a:p>
        </p:txBody>
      </p:sp>
      <p:sp>
        <p:nvSpPr>
          <p:cNvPr id="74755" name="内容占位符 2"/>
          <p:cNvSpPr>
            <a:spLocks noGrp="1"/>
          </p:cNvSpPr>
          <p:nvPr>
            <p:ph idx="1"/>
          </p:nvPr>
        </p:nvSpPr>
        <p:spPr/>
        <p:txBody>
          <a:bodyPr>
            <a:normAutofit fontScale="77500" lnSpcReduction="20000"/>
          </a:bodyPr>
          <a:lstStyle/>
          <a:p>
            <a:pPr>
              <a:lnSpc>
                <a:spcPct val="120000"/>
              </a:lnSpc>
              <a:defRPr/>
            </a:pPr>
            <a:r>
              <a:rPr lang="zh-CN" altLang="en-US" dirty="0" smtClean="0"/>
              <a:t>应用特定类型的基础配方时，</a:t>
            </a:r>
            <a:r>
              <a:rPr lang="en-US" altLang="zh-CN" dirty="0" smtClean="0"/>
              <a:t>Formulas</a:t>
            </a:r>
            <a:r>
              <a:rPr lang="zh-CN" altLang="en-US" dirty="0" smtClean="0"/>
              <a:t>服务中的</a:t>
            </a:r>
            <a:r>
              <a:rPr lang="en-US" altLang="zh-CN" dirty="0" smtClean="0"/>
              <a:t>Simulate</a:t>
            </a:r>
            <a:r>
              <a:rPr lang="zh-CN" altLang="en-US" dirty="0" smtClean="0"/>
              <a:t>操作需要几分钟时间，导致</a:t>
            </a:r>
            <a:r>
              <a:rPr lang="en-US" altLang="zh-CN" dirty="0" smtClean="0"/>
              <a:t>Run Lab Project</a:t>
            </a:r>
            <a:r>
              <a:rPr lang="zh-CN" altLang="en-US" dirty="0" smtClean="0"/>
              <a:t>服务中的</a:t>
            </a:r>
            <a:r>
              <a:rPr lang="en-US" altLang="zh-CN" dirty="0" smtClean="0"/>
              <a:t>Start</a:t>
            </a:r>
            <a:r>
              <a:rPr lang="zh-CN" altLang="en-US" dirty="0" smtClean="0"/>
              <a:t>操作不能实时完成</a:t>
            </a:r>
            <a:endParaRPr lang="en-US" altLang="zh-CN" dirty="0" smtClean="0"/>
          </a:p>
          <a:p>
            <a:pPr>
              <a:lnSpc>
                <a:spcPct val="120000"/>
              </a:lnSpc>
              <a:defRPr/>
            </a:pPr>
            <a:r>
              <a:rPr lang="zh-CN" altLang="en-US" dirty="0" smtClean="0"/>
              <a:t>在调用</a:t>
            </a:r>
            <a:r>
              <a:rPr lang="en-US" altLang="zh-CN" dirty="0" smtClean="0"/>
              <a:t>Formulas</a:t>
            </a:r>
            <a:r>
              <a:rPr lang="zh-CN" altLang="en-US" dirty="0" smtClean="0"/>
              <a:t>服务的</a:t>
            </a:r>
            <a:r>
              <a:rPr lang="en-US" altLang="zh-CN" dirty="0" smtClean="0"/>
              <a:t>Simulate</a:t>
            </a:r>
            <a:r>
              <a:rPr lang="zh-CN" altLang="en-US" dirty="0" smtClean="0"/>
              <a:t>操作之前，</a:t>
            </a:r>
            <a:r>
              <a:rPr lang="en-US" altLang="zh-CN" dirty="0" smtClean="0"/>
              <a:t>Run Lab Project</a:t>
            </a:r>
            <a:r>
              <a:rPr lang="zh-CN" altLang="en-US" dirty="0" smtClean="0"/>
              <a:t>服务己经组合了几个</a:t>
            </a:r>
            <a:r>
              <a:rPr lang="en-US" altLang="zh-CN" dirty="0" smtClean="0"/>
              <a:t>Formulas</a:t>
            </a:r>
            <a:r>
              <a:rPr lang="zh-CN" altLang="en-US" dirty="0" smtClean="0"/>
              <a:t>服务和</a:t>
            </a:r>
            <a:r>
              <a:rPr lang="en-US" altLang="zh-CN" dirty="0" smtClean="0"/>
              <a:t>Materials </a:t>
            </a:r>
            <a:r>
              <a:rPr lang="zh-CN" altLang="en-US" dirty="0" smtClean="0"/>
              <a:t>服务的操作。生成模拟报告是在业务流程中的最后几个步骤之一</a:t>
            </a:r>
          </a:p>
          <a:p>
            <a:pPr>
              <a:lnSpc>
                <a:spcPct val="120000"/>
              </a:lnSpc>
              <a:defRPr/>
            </a:pPr>
            <a:r>
              <a:rPr lang="zh-CN" altLang="en-US" dirty="0" smtClean="0"/>
              <a:t>因此，当</a:t>
            </a:r>
            <a:r>
              <a:rPr lang="en-US" altLang="zh-CN" dirty="0" smtClean="0"/>
              <a:t>Simulate </a:t>
            </a:r>
            <a:r>
              <a:rPr lang="zh-CN" altLang="en-US" dirty="0" smtClean="0"/>
              <a:t>操作结果生成时候，大量的会话、上下文和业务状态数据将会被收集到内存中，包括整个库存项目和基本配方文档记录。在内存中保留所有这些信息超过</a:t>
            </a:r>
            <a:r>
              <a:rPr lang="en-US" altLang="zh-CN" dirty="0" smtClean="0"/>
              <a:t>3</a:t>
            </a:r>
            <a:r>
              <a:rPr lang="zh-CN" altLang="en-US" dirty="0" smtClean="0"/>
              <a:t>秒</a:t>
            </a:r>
            <a:r>
              <a:rPr lang="zh-CN" altLang="en-US" dirty="0" smtClean="0"/>
              <a:t>会被认为是不可接受的（主要是因为这会占用一些其他位于同一个物理服务器上的程序和服务所需要的系统资源）</a:t>
            </a:r>
            <a:endParaRPr lang="en-US" altLang="zh-CN" dirty="0" smtClean="0"/>
          </a:p>
        </p:txBody>
      </p:sp>
      <p:sp>
        <p:nvSpPr>
          <p:cNvPr id="77828"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6A8FCE5-005D-454E-92FC-3782A56E3B84}" type="slidenum">
              <a:rPr lang="en-US" altLang="zh-CN" smtClean="0"/>
              <a:pPr eaLnBrk="1" hangingPunct="1"/>
              <a:t>58</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a:lstStyle/>
          <a:p>
            <a:r>
              <a:rPr lang="zh-CN" altLang="en-US" smtClean="0"/>
              <a:t>案例研究</a:t>
            </a:r>
            <a:r>
              <a:rPr lang="en-US" altLang="zh-CN" smtClean="0"/>
              <a:t>——</a:t>
            </a:r>
            <a:r>
              <a:rPr lang="zh-CN" altLang="en-US" smtClean="0"/>
              <a:t>引入态延迟扩展</a:t>
            </a:r>
          </a:p>
        </p:txBody>
      </p:sp>
      <p:sp>
        <p:nvSpPr>
          <p:cNvPr id="78851" name="内容占位符 2"/>
          <p:cNvSpPr>
            <a:spLocks noGrp="1"/>
          </p:cNvSpPr>
          <p:nvPr>
            <p:ph idx="1"/>
          </p:nvPr>
        </p:nvSpPr>
        <p:spPr/>
        <p:txBody>
          <a:bodyPr/>
          <a:lstStyle/>
          <a:p>
            <a:pPr>
              <a:lnSpc>
                <a:spcPct val="150000"/>
              </a:lnSpc>
            </a:pPr>
            <a:r>
              <a:rPr lang="en-US" altLang="zh-CN" dirty="0" smtClean="0"/>
              <a:t>Run Lab </a:t>
            </a:r>
            <a:r>
              <a:rPr lang="en-US" altLang="zh-CN" dirty="0" smtClean="0"/>
              <a:t>Project</a:t>
            </a:r>
            <a:r>
              <a:rPr lang="zh-CN" altLang="en-US" dirty="0" smtClean="0"/>
              <a:t>服务</a:t>
            </a:r>
            <a:r>
              <a:rPr lang="zh-CN" altLang="en-US" dirty="0" smtClean="0"/>
              <a:t>需要某种形式的状态延迟扩展。</a:t>
            </a:r>
            <a:endParaRPr lang="en-US" altLang="zh-CN" dirty="0" smtClean="0"/>
          </a:p>
          <a:p>
            <a:pPr lvl="1">
              <a:lnSpc>
                <a:spcPct val="150000"/>
              </a:lnSpc>
            </a:pPr>
            <a:r>
              <a:rPr lang="zh-CN" altLang="en-US" dirty="0" smtClean="0"/>
              <a:t>引入专门的状态数据库</a:t>
            </a:r>
            <a:endParaRPr lang="en-US" altLang="zh-CN" dirty="0" smtClean="0"/>
          </a:p>
          <a:p>
            <a:pPr lvl="1">
              <a:lnSpc>
                <a:spcPct val="150000"/>
              </a:lnSpc>
            </a:pPr>
            <a:r>
              <a:rPr lang="zh-CN" altLang="en-US" dirty="0" smtClean="0"/>
              <a:t>修改</a:t>
            </a:r>
            <a:r>
              <a:rPr lang="en-US" altLang="zh-CN" dirty="0" smtClean="0"/>
              <a:t>Run Lab </a:t>
            </a:r>
            <a:r>
              <a:rPr lang="en-US" altLang="zh-CN" dirty="0" smtClean="0"/>
              <a:t>Project</a:t>
            </a:r>
            <a:r>
              <a:rPr lang="zh-CN" altLang="en-US" dirty="0" smtClean="0"/>
              <a:t>服务</a:t>
            </a:r>
            <a:r>
              <a:rPr lang="zh-CN" altLang="en-US" dirty="0" smtClean="0"/>
              <a:t>逻辑</a:t>
            </a:r>
          </a:p>
        </p:txBody>
      </p:sp>
      <p:sp>
        <p:nvSpPr>
          <p:cNvPr id="7885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8D1D7F8-265A-46E1-B845-9E905C7E54E4}" type="slidenum">
              <a:rPr lang="en-US" altLang="zh-CN" smtClean="0"/>
              <a:pPr eaLnBrk="1" hangingPunct="1"/>
              <a:t>59</a:t>
            </a:fld>
            <a:endParaRPr lang="en-US" altLang="zh-CN"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p:txBody>
          <a:bodyPr/>
          <a:lstStyle/>
          <a:p>
            <a:r>
              <a:rPr lang="zh-CN" altLang="en-US" smtClean="0"/>
              <a:t>案例研究</a:t>
            </a:r>
            <a:r>
              <a:rPr lang="en-US" altLang="zh-CN" smtClean="0"/>
              <a:t>——</a:t>
            </a:r>
            <a:r>
              <a:rPr lang="zh-CN" altLang="en-US" smtClean="0"/>
              <a:t>步骤</a:t>
            </a:r>
            <a:r>
              <a:rPr lang="en-US" altLang="zh-CN" smtClean="0"/>
              <a:t>1</a:t>
            </a:r>
            <a:endParaRPr lang="zh-CN" altLang="en-US" smtClean="0"/>
          </a:p>
        </p:txBody>
      </p:sp>
      <p:sp>
        <p:nvSpPr>
          <p:cNvPr id="79875"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37E44BD-38C2-49BD-8826-35AD53FF3D15}" type="slidenum">
              <a:rPr lang="en-US" altLang="zh-CN" smtClean="0"/>
              <a:pPr eaLnBrk="1" hangingPunct="1"/>
              <a:t>60</a:t>
            </a:fld>
            <a:endParaRPr lang="en-US" altLang="zh-CN" smtClean="0"/>
          </a:p>
        </p:txBody>
      </p:sp>
      <p:pic>
        <p:nvPicPr>
          <p:cNvPr id="2" name="图片 1"/>
          <p:cNvPicPr>
            <a:picLocks noChangeAspect="1"/>
          </p:cNvPicPr>
          <p:nvPr/>
        </p:nvPicPr>
        <p:blipFill>
          <a:blip r:embed="rId3"/>
          <a:stretch>
            <a:fillRect/>
          </a:stretch>
        </p:blipFill>
        <p:spPr>
          <a:xfrm>
            <a:off x="179512" y="1212850"/>
            <a:ext cx="6372225" cy="5248275"/>
          </a:xfrm>
          <a:prstGeom prst="rect">
            <a:avLst/>
          </a:prstGeom>
        </p:spPr>
      </p:pic>
      <p:sp>
        <p:nvSpPr>
          <p:cNvPr id="4" name="矩形 3"/>
          <p:cNvSpPr/>
          <p:nvPr/>
        </p:nvSpPr>
        <p:spPr>
          <a:xfrm>
            <a:off x="6876256" y="4293096"/>
            <a:ext cx="2267744" cy="2062103"/>
          </a:xfrm>
          <a:prstGeom prst="rect">
            <a:avLst/>
          </a:prstGeom>
        </p:spPr>
        <p:txBody>
          <a:bodyPr wrap="square">
            <a:spAutoFit/>
          </a:bodyPr>
          <a:lstStyle/>
          <a:p>
            <a:r>
              <a:rPr lang="en-US" altLang="zh-CN" sz="1600" dirty="0"/>
              <a:t>The Start operation contains considerable workflow logic for the task-centric Run Lab </a:t>
            </a:r>
            <a:r>
              <a:rPr lang="en-US" altLang="zh-CN" sz="1600" dirty="0" smtClean="0"/>
              <a:t>Project service</a:t>
            </a:r>
            <a:r>
              <a:rPr lang="en-US" altLang="zh-CN" sz="1600" dirty="0"/>
              <a:t>, resulting in a build-up of activity-specific state data.</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p:txBody>
          <a:bodyPr/>
          <a:lstStyle/>
          <a:p>
            <a:r>
              <a:rPr lang="zh-CN" altLang="en-US" smtClean="0"/>
              <a:t>案例研究</a:t>
            </a:r>
            <a:r>
              <a:rPr lang="en-US" altLang="zh-CN" smtClean="0"/>
              <a:t>——</a:t>
            </a:r>
            <a:r>
              <a:rPr lang="zh-CN" altLang="en-US" smtClean="0"/>
              <a:t>步骤</a:t>
            </a:r>
            <a:r>
              <a:rPr lang="en-US" altLang="zh-CN" smtClean="0"/>
              <a:t>2</a:t>
            </a:r>
            <a:endParaRPr lang="zh-CN" altLang="en-US" smtClean="0"/>
          </a:p>
        </p:txBody>
      </p:sp>
      <p:sp>
        <p:nvSpPr>
          <p:cNvPr id="80899"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F8B6D11-83FA-41E9-B96A-DF71D5DB024A}" type="slidenum">
              <a:rPr lang="en-US" altLang="zh-CN" smtClean="0"/>
              <a:pPr eaLnBrk="1" hangingPunct="1"/>
              <a:t>61</a:t>
            </a:fld>
            <a:endParaRPr lang="en-US" altLang="zh-CN" smtClean="0"/>
          </a:p>
        </p:txBody>
      </p:sp>
      <p:pic>
        <p:nvPicPr>
          <p:cNvPr id="2" name="图片 1"/>
          <p:cNvPicPr>
            <a:picLocks noChangeAspect="1"/>
          </p:cNvPicPr>
          <p:nvPr/>
        </p:nvPicPr>
        <p:blipFill>
          <a:blip r:embed="rId3"/>
          <a:stretch>
            <a:fillRect/>
          </a:stretch>
        </p:blipFill>
        <p:spPr>
          <a:xfrm>
            <a:off x="952500" y="1124744"/>
            <a:ext cx="7162800" cy="4419600"/>
          </a:xfrm>
          <a:prstGeom prst="rect">
            <a:avLst/>
          </a:prstGeom>
        </p:spPr>
      </p:pic>
      <p:sp>
        <p:nvSpPr>
          <p:cNvPr id="4" name="矩形 3"/>
          <p:cNvSpPr/>
          <p:nvPr/>
        </p:nvSpPr>
        <p:spPr>
          <a:xfrm>
            <a:off x="898544" y="5602288"/>
            <a:ext cx="7346912" cy="830997"/>
          </a:xfrm>
          <a:prstGeom prst="rect">
            <a:avLst/>
          </a:prstGeom>
        </p:spPr>
        <p:txBody>
          <a:bodyPr wrap="square">
            <a:spAutoFit/>
          </a:bodyPr>
          <a:lstStyle/>
          <a:p>
            <a:r>
              <a:rPr lang="en-US" altLang="zh-CN" sz="1600" dirty="0"/>
              <a:t>The criteria required for the Run Lab Project’s Start operation logic (used to determine whether or not it </a:t>
            </a:r>
            <a:r>
              <a:rPr lang="en-US" altLang="zh-CN" sz="1600" dirty="0" smtClean="0"/>
              <a:t>will need </a:t>
            </a:r>
            <a:r>
              <a:rPr lang="en-US" altLang="zh-CN" sz="1600" dirty="0"/>
              <a:t>to eventually utilize the </a:t>
            </a:r>
            <a:r>
              <a:rPr lang="en-US" altLang="zh-CN" sz="1600" dirty="0" smtClean="0"/>
              <a:t>state deferral </a:t>
            </a:r>
            <a:r>
              <a:rPr lang="en-US" altLang="zh-CN" sz="1600" dirty="0"/>
              <a:t>database) is accessible before it even invokes the </a:t>
            </a:r>
            <a:r>
              <a:rPr lang="en-US" altLang="zh-CN" sz="1600" dirty="0" smtClean="0"/>
              <a:t>Formulas service</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p:txBody>
          <a:bodyPr/>
          <a:lstStyle/>
          <a:p>
            <a:r>
              <a:rPr lang="zh-CN" altLang="en-US" smtClean="0"/>
              <a:t>案例研究</a:t>
            </a:r>
            <a:r>
              <a:rPr lang="en-US" altLang="zh-CN" smtClean="0"/>
              <a:t>——</a:t>
            </a:r>
            <a:r>
              <a:rPr lang="zh-CN" altLang="en-US" smtClean="0"/>
              <a:t>步骤</a:t>
            </a:r>
            <a:r>
              <a:rPr lang="en-US" altLang="zh-CN" smtClean="0"/>
              <a:t>3</a:t>
            </a:r>
            <a:endParaRPr lang="zh-CN" altLang="en-US" smtClean="0"/>
          </a:p>
        </p:txBody>
      </p:sp>
      <p:sp>
        <p:nvSpPr>
          <p:cNvPr id="81923"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AED363C-D90B-44ED-9809-7B4753C2EF60}" type="slidenum">
              <a:rPr lang="en-US" altLang="zh-CN" smtClean="0"/>
              <a:pPr eaLnBrk="1" hangingPunct="1"/>
              <a:t>62</a:t>
            </a:fld>
            <a:endParaRPr lang="en-US" altLang="zh-CN" smtClean="0"/>
          </a:p>
        </p:txBody>
      </p:sp>
      <p:pic>
        <p:nvPicPr>
          <p:cNvPr id="2" name="图片 1"/>
          <p:cNvPicPr>
            <a:picLocks noChangeAspect="1"/>
          </p:cNvPicPr>
          <p:nvPr/>
        </p:nvPicPr>
        <p:blipFill>
          <a:blip r:embed="rId3"/>
          <a:stretch>
            <a:fillRect/>
          </a:stretch>
        </p:blipFill>
        <p:spPr>
          <a:xfrm>
            <a:off x="1329544" y="1052736"/>
            <a:ext cx="6408712" cy="4878542"/>
          </a:xfrm>
          <a:prstGeom prst="rect">
            <a:avLst/>
          </a:prstGeom>
        </p:spPr>
      </p:pic>
      <p:sp>
        <p:nvSpPr>
          <p:cNvPr id="4" name="矩形 3"/>
          <p:cNvSpPr/>
          <p:nvPr/>
        </p:nvSpPr>
        <p:spPr>
          <a:xfrm>
            <a:off x="1448780" y="5704582"/>
            <a:ext cx="6246440" cy="1077218"/>
          </a:xfrm>
          <a:prstGeom prst="rect">
            <a:avLst/>
          </a:prstGeom>
        </p:spPr>
        <p:txBody>
          <a:bodyPr wrap="square">
            <a:spAutoFit/>
          </a:bodyPr>
          <a:lstStyle/>
          <a:p>
            <a:r>
              <a:rPr lang="en-US" altLang="zh-CN" sz="1600" dirty="0"/>
              <a:t>While the Simulate operation gets underway in </a:t>
            </a:r>
            <a:r>
              <a:rPr lang="en-US" altLang="zh-CN" sz="1600" dirty="0" smtClean="0"/>
              <a:t>its calculations </a:t>
            </a:r>
            <a:r>
              <a:rPr lang="en-US" altLang="zh-CN" sz="1600" dirty="0"/>
              <a:t>and report generation, the </a:t>
            </a:r>
            <a:r>
              <a:rPr lang="en-US" altLang="zh-CN" sz="1600" dirty="0" smtClean="0"/>
              <a:t>Start operation</a:t>
            </a:r>
            <a:r>
              <a:rPr lang="en-US" altLang="zh-CN" sz="1600" dirty="0"/>
              <a:t>, with a foreknowledge of when it should expect a </a:t>
            </a:r>
            <a:r>
              <a:rPr lang="en-US" altLang="zh-CN" sz="1600" dirty="0" smtClean="0"/>
              <a:t>response, defers </a:t>
            </a:r>
            <a:r>
              <a:rPr lang="en-US" altLang="zh-CN" sz="1600" dirty="0"/>
              <a:t>the state data </a:t>
            </a:r>
            <a:r>
              <a:rPr lang="en-US" altLang="zh-CN" sz="1600" dirty="0" smtClean="0"/>
              <a:t>away from </a:t>
            </a:r>
            <a:r>
              <a:rPr lang="en-US" altLang="zh-CN" sz="1600" dirty="0"/>
              <a:t>system memory</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p:nvPr>
        </p:nvSpPr>
        <p:spPr/>
        <p:txBody>
          <a:bodyPr/>
          <a:lstStyle/>
          <a:p>
            <a:r>
              <a:rPr lang="zh-CN" altLang="en-US" smtClean="0"/>
              <a:t>案例研究</a:t>
            </a:r>
            <a:r>
              <a:rPr lang="en-US" altLang="zh-CN" smtClean="0"/>
              <a:t>——</a:t>
            </a:r>
            <a:r>
              <a:rPr lang="zh-CN" altLang="en-US" smtClean="0"/>
              <a:t>步骤</a:t>
            </a:r>
            <a:r>
              <a:rPr lang="en-US" altLang="zh-CN" smtClean="0"/>
              <a:t>4</a:t>
            </a:r>
            <a:endParaRPr lang="zh-CN" altLang="en-US" smtClean="0"/>
          </a:p>
        </p:txBody>
      </p:sp>
      <p:sp>
        <p:nvSpPr>
          <p:cNvPr id="82947"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9D1E0C4-C3E8-4EC7-BDC6-2686D1488F8C}" type="slidenum">
              <a:rPr lang="en-US" altLang="zh-CN" smtClean="0"/>
              <a:pPr eaLnBrk="1" hangingPunct="1"/>
              <a:t>63</a:t>
            </a:fld>
            <a:endParaRPr lang="en-US" altLang="zh-CN" smtClean="0"/>
          </a:p>
        </p:txBody>
      </p:sp>
      <p:pic>
        <p:nvPicPr>
          <p:cNvPr id="2" name="图片 1"/>
          <p:cNvPicPr>
            <a:picLocks noChangeAspect="1"/>
          </p:cNvPicPr>
          <p:nvPr/>
        </p:nvPicPr>
        <p:blipFill>
          <a:blip r:embed="rId3"/>
          <a:stretch>
            <a:fillRect/>
          </a:stretch>
        </p:blipFill>
        <p:spPr>
          <a:xfrm>
            <a:off x="1371600" y="1052736"/>
            <a:ext cx="6400800" cy="4876800"/>
          </a:xfrm>
          <a:prstGeom prst="rect">
            <a:avLst/>
          </a:prstGeom>
        </p:spPr>
      </p:pic>
      <p:sp>
        <p:nvSpPr>
          <p:cNvPr id="5" name="矩形 4"/>
          <p:cNvSpPr/>
          <p:nvPr/>
        </p:nvSpPr>
        <p:spPr>
          <a:xfrm>
            <a:off x="1547664" y="5872165"/>
            <a:ext cx="5814392" cy="584775"/>
          </a:xfrm>
          <a:prstGeom prst="rect">
            <a:avLst/>
          </a:prstGeom>
        </p:spPr>
        <p:txBody>
          <a:bodyPr wrap="square">
            <a:spAutoFit/>
          </a:bodyPr>
          <a:lstStyle/>
          <a:p>
            <a:r>
              <a:rPr lang="en-US" altLang="zh-CN" sz="1600" dirty="0"/>
              <a:t>The Simulate operation continues its processing while activity within the Start operation </a:t>
            </a:r>
            <a:r>
              <a:rPr lang="en-US" altLang="zh-CN" sz="1600" dirty="0" smtClean="0"/>
              <a:t>logic has </a:t>
            </a:r>
            <a:r>
              <a:rPr lang="en-US" altLang="zh-CN" sz="1600" dirty="0"/>
              <a:t>ceased.</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p:txBody>
          <a:bodyPr/>
          <a:lstStyle/>
          <a:p>
            <a:r>
              <a:rPr lang="zh-CN" altLang="en-US" smtClean="0"/>
              <a:t>案例研究</a:t>
            </a:r>
            <a:r>
              <a:rPr lang="en-US" altLang="zh-CN" smtClean="0"/>
              <a:t>——</a:t>
            </a:r>
            <a:r>
              <a:rPr lang="zh-CN" altLang="en-US" smtClean="0"/>
              <a:t>步骤</a:t>
            </a:r>
            <a:r>
              <a:rPr lang="en-US" altLang="zh-CN" smtClean="0"/>
              <a:t>5</a:t>
            </a:r>
            <a:endParaRPr lang="zh-CN" altLang="en-US" smtClean="0"/>
          </a:p>
        </p:txBody>
      </p:sp>
      <p:sp>
        <p:nvSpPr>
          <p:cNvPr id="83971"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6045C72-C758-4EB3-84AF-A2E7FCA6CEED}" type="slidenum">
              <a:rPr lang="en-US" altLang="zh-CN" smtClean="0"/>
              <a:pPr eaLnBrk="1" hangingPunct="1"/>
              <a:t>64</a:t>
            </a:fld>
            <a:endParaRPr lang="en-US" altLang="zh-CN" smtClean="0"/>
          </a:p>
        </p:txBody>
      </p:sp>
      <p:pic>
        <p:nvPicPr>
          <p:cNvPr id="2" name="图片 1"/>
          <p:cNvPicPr>
            <a:picLocks noChangeAspect="1"/>
          </p:cNvPicPr>
          <p:nvPr/>
        </p:nvPicPr>
        <p:blipFill>
          <a:blip r:embed="rId3"/>
          <a:stretch>
            <a:fillRect/>
          </a:stretch>
        </p:blipFill>
        <p:spPr>
          <a:xfrm>
            <a:off x="995362" y="1323975"/>
            <a:ext cx="7153275" cy="4210050"/>
          </a:xfrm>
          <a:prstGeom prst="rect">
            <a:avLst/>
          </a:prstGeom>
        </p:spPr>
      </p:pic>
      <p:sp>
        <p:nvSpPr>
          <p:cNvPr id="4" name="矩形 3"/>
          <p:cNvSpPr/>
          <p:nvPr/>
        </p:nvSpPr>
        <p:spPr>
          <a:xfrm>
            <a:off x="1633362" y="5705187"/>
            <a:ext cx="5877273" cy="584775"/>
          </a:xfrm>
          <a:prstGeom prst="rect">
            <a:avLst/>
          </a:prstGeom>
        </p:spPr>
        <p:txBody>
          <a:bodyPr wrap="square">
            <a:spAutoFit/>
          </a:bodyPr>
          <a:lstStyle/>
          <a:p>
            <a:r>
              <a:rPr lang="en-US" altLang="zh-CN" sz="1600" dirty="0"/>
              <a:t>The results (consisting of a report) are transmitted back to the Run Lab Project service via the </a:t>
            </a:r>
            <a:r>
              <a:rPr lang="en-US" altLang="zh-CN" sz="1600" dirty="0" smtClean="0"/>
              <a:t>expected response </a:t>
            </a:r>
            <a:r>
              <a:rPr lang="en-US" altLang="zh-CN" sz="1600" dirty="0"/>
              <a:t>message</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a:lstStyle/>
          <a:p>
            <a:r>
              <a:rPr lang="zh-CN" altLang="en-US" smtClean="0"/>
              <a:t>案例研究</a:t>
            </a:r>
            <a:r>
              <a:rPr lang="en-US" altLang="zh-CN" smtClean="0"/>
              <a:t>——</a:t>
            </a:r>
            <a:r>
              <a:rPr lang="zh-CN" altLang="en-US" smtClean="0"/>
              <a:t>步骤</a:t>
            </a:r>
            <a:r>
              <a:rPr lang="en-US" altLang="zh-CN" smtClean="0"/>
              <a:t>6</a:t>
            </a:r>
            <a:endParaRPr lang="zh-CN" altLang="en-US" smtClean="0"/>
          </a:p>
        </p:txBody>
      </p:sp>
      <p:sp>
        <p:nvSpPr>
          <p:cNvPr id="84995"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5BD29A6-A78E-4712-8B89-E440EEA13AC6}" type="slidenum">
              <a:rPr lang="en-US" altLang="zh-CN" smtClean="0"/>
              <a:pPr eaLnBrk="1" hangingPunct="1"/>
              <a:t>65</a:t>
            </a:fld>
            <a:endParaRPr lang="en-US" altLang="zh-CN" smtClean="0"/>
          </a:p>
        </p:txBody>
      </p:sp>
      <p:pic>
        <p:nvPicPr>
          <p:cNvPr id="2" name="图片 1"/>
          <p:cNvPicPr>
            <a:picLocks noChangeAspect="1"/>
          </p:cNvPicPr>
          <p:nvPr/>
        </p:nvPicPr>
        <p:blipFill>
          <a:blip r:embed="rId3"/>
          <a:stretch>
            <a:fillRect/>
          </a:stretch>
        </p:blipFill>
        <p:spPr>
          <a:xfrm>
            <a:off x="1114425" y="1319212"/>
            <a:ext cx="6915150" cy="4219575"/>
          </a:xfrm>
          <a:prstGeom prst="rect">
            <a:avLst/>
          </a:prstGeom>
        </p:spPr>
      </p:pic>
      <p:sp>
        <p:nvSpPr>
          <p:cNvPr id="4" name="矩形 3"/>
          <p:cNvSpPr/>
          <p:nvPr/>
        </p:nvSpPr>
        <p:spPr>
          <a:xfrm>
            <a:off x="2013620" y="5730016"/>
            <a:ext cx="5040560" cy="584775"/>
          </a:xfrm>
          <a:prstGeom prst="rect">
            <a:avLst/>
          </a:prstGeom>
        </p:spPr>
        <p:txBody>
          <a:bodyPr wrap="square">
            <a:spAutoFit/>
          </a:bodyPr>
          <a:lstStyle/>
          <a:p>
            <a:r>
              <a:rPr lang="en-US" altLang="zh-CN" sz="1600" dirty="0"/>
              <a:t>The state data is transferred once again </a:t>
            </a:r>
            <a:r>
              <a:rPr lang="en-US" altLang="zh-CN" sz="1600" dirty="0" smtClean="0"/>
              <a:t>in preparation </a:t>
            </a:r>
            <a:r>
              <a:rPr lang="en-US" altLang="zh-CN" sz="1600" dirty="0"/>
              <a:t>for the upcoming </a:t>
            </a:r>
            <a:r>
              <a:rPr lang="en-US" altLang="zh-CN" sz="1600" dirty="0" smtClean="0"/>
              <a:t>composition processing</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a:lstStyle/>
          <a:p>
            <a:r>
              <a:rPr lang="zh-CN" altLang="en-US" smtClean="0"/>
              <a:t>案例研究</a:t>
            </a:r>
            <a:r>
              <a:rPr lang="en-US" altLang="zh-CN" smtClean="0"/>
              <a:t>——</a:t>
            </a:r>
            <a:r>
              <a:rPr lang="zh-CN" altLang="en-US" smtClean="0"/>
              <a:t>步骤</a:t>
            </a:r>
            <a:r>
              <a:rPr lang="en-US" altLang="zh-CN" smtClean="0"/>
              <a:t>7</a:t>
            </a:r>
            <a:endParaRPr lang="zh-CN" altLang="en-US" smtClean="0"/>
          </a:p>
        </p:txBody>
      </p:sp>
      <p:sp>
        <p:nvSpPr>
          <p:cNvPr id="86019"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88D3DA7-9FBD-47B6-91D0-CF191DEDC138}" type="slidenum">
              <a:rPr lang="en-US" altLang="zh-CN" smtClean="0"/>
              <a:pPr eaLnBrk="1" hangingPunct="1"/>
              <a:t>66</a:t>
            </a:fld>
            <a:endParaRPr lang="en-US" altLang="zh-CN" smtClean="0"/>
          </a:p>
        </p:txBody>
      </p:sp>
      <p:pic>
        <p:nvPicPr>
          <p:cNvPr id="2" name="图片 1"/>
          <p:cNvPicPr>
            <a:picLocks noChangeAspect="1"/>
          </p:cNvPicPr>
          <p:nvPr/>
        </p:nvPicPr>
        <p:blipFill>
          <a:blip r:embed="rId3"/>
          <a:stretch>
            <a:fillRect/>
          </a:stretch>
        </p:blipFill>
        <p:spPr>
          <a:xfrm>
            <a:off x="1066800" y="1528762"/>
            <a:ext cx="7010400" cy="3800475"/>
          </a:xfrm>
          <a:prstGeom prst="rect">
            <a:avLst/>
          </a:prstGeom>
        </p:spPr>
      </p:pic>
      <p:sp>
        <p:nvSpPr>
          <p:cNvPr id="5" name="矩形 4"/>
          <p:cNvSpPr/>
          <p:nvPr/>
        </p:nvSpPr>
        <p:spPr>
          <a:xfrm>
            <a:off x="1916832" y="5661248"/>
            <a:ext cx="5310336" cy="584775"/>
          </a:xfrm>
          <a:prstGeom prst="rect">
            <a:avLst/>
          </a:prstGeom>
        </p:spPr>
        <p:txBody>
          <a:bodyPr wrap="square">
            <a:spAutoFit/>
          </a:bodyPr>
          <a:lstStyle/>
          <a:p>
            <a:r>
              <a:rPr lang="en-US" altLang="zh-CN" sz="1600" dirty="0"/>
              <a:t>As processing continues, the state data in memory will continue to be accessed and modified </a:t>
            </a:r>
            <a:r>
              <a:rPr lang="en-US" altLang="zh-CN" sz="1600" dirty="0" smtClean="0"/>
              <a:t>as required</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Read More…</a:t>
            </a:r>
            <a:endParaRPr lang="zh-CN" altLang="en-US" dirty="0"/>
          </a:p>
        </p:txBody>
      </p:sp>
      <p:sp>
        <p:nvSpPr>
          <p:cNvPr id="3" name="内容占位符 2"/>
          <p:cNvSpPr>
            <a:spLocks noGrp="1"/>
          </p:cNvSpPr>
          <p:nvPr>
            <p:ph idx="1"/>
          </p:nvPr>
        </p:nvSpPr>
        <p:spPr/>
        <p:txBody>
          <a:bodyPr>
            <a:normAutofit/>
          </a:bodyPr>
          <a:lstStyle/>
          <a:p>
            <a:pPr marL="0" indent="0">
              <a:buNone/>
            </a:pPr>
            <a:endParaRPr lang="en-US" altLang="zh-CN" dirty="0"/>
          </a:p>
          <a:p>
            <a:r>
              <a:rPr lang="zh-CN" altLang="en-US" sz="2800" dirty="0"/>
              <a:t>题名</a:t>
            </a:r>
            <a:r>
              <a:rPr lang="en-US" altLang="zh-CN" sz="2800" dirty="0"/>
              <a:t>/</a:t>
            </a:r>
            <a:r>
              <a:rPr lang="zh-CN" altLang="en-US" sz="2800" dirty="0"/>
              <a:t>责任者</a:t>
            </a:r>
            <a:r>
              <a:rPr lang="en-US" altLang="zh-CN" sz="2800" dirty="0"/>
              <a:t>:SOA</a:t>
            </a:r>
            <a:r>
              <a:rPr lang="zh-CN" altLang="en-US" sz="2800" dirty="0"/>
              <a:t>服务设计原则</a:t>
            </a:r>
            <a:r>
              <a:rPr lang="en-US" altLang="zh-CN" sz="2800" dirty="0"/>
              <a:t>/(</a:t>
            </a:r>
            <a:r>
              <a:rPr lang="zh-CN" altLang="en-US" sz="2800" dirty="0"/>
              <a:t>美</a:t>
            </a:r>
            <a:r>
              <a:rPr lang="en-US" altLang="zh-CN" sz="2800" dirty="0"/>
              <a:t>) Thomas </a:t>
            </a:r>
            <a:r>
              <a:rPr lang="en-US" altLang="zh-CN" sz="2800" dirty="0" err="1"/>
              <a:t>Erl</a:t>
            </a:r>
            <a:r>
              <a:rPr lang="zh-CN" altLang="en-US" sz="2800" dirty="0"/>
              <a:t>著 </a:t>
            </a:r>
            <a:r>
              <a:rPr lang="zh-CN" altLang="en-US" sz="2800" dirty="0" smtClean="0"/>
              <a:t>郭耀译</a:t>
            </a:r>
            <a:endParaRPr lang="en-US" altLang="zh-CN" sz="2800" dirty="0" smtClean="0"/>
          </a:p>
          <a:p>
            <a:r>
              <a:rPr lang="zh-CN" altLang="en-US" sz="2800" dirty="0" smtClean="0"/>
              <a:t>出版</a:t>
            </a:r>
            <a:r>
              <a:rPr lang="zh-CN" altLang="en-US" sz="2800" dirty="0"/>
              <a:t>发行项</a:t>
            </a:r>
            <a:r>
              <a:rPr lang="en-US" altLang="zh-CN" sz="2800" dirty="0" smtClean="0"/>
              <a:t>:</a:t>
            </a:r>
            <a:r>
              <a:rPr lang="zh-CN" altLang="en-US" sz="2800" dirty="0"/>
              <a:t>北京</a:t>
            </a:r>
            <a:r>
              <a:rPr lang="en-US" altLang="zh-CN" sz="2800" dirty="0"/>
              <a:t>:</a:t>
            </a:r>
            <a:r>
              <a:rPr lang="zh-CN" altLang="en-US" sz="2800" dirty="0"/>
              <a:t>人民邮电版社</a:t>
            </a:r>
            <a:r>
              <a:rPr lang="en-US" altLang="zh-CN" sz="2800" dirty="0"/>
              <a:t>,2009 </a:t>
            </a:r>
            <a:endParaRPr lang="en-US" altLang="zh-CN" sz="2800" dirty="0" smtClean="0"/>
          </a:p>
          <a:p>
            <a:r>
              <a:rPr lang="en-US" altLang="zh-CN" sz="2800" dirty="0" smtClean="0"/>
              <a:t>ISBN</a:t>
            </a:r>
            <a:r>
              <a:rPr lang="zh-CN" altLang="en-US" sz="2800" dirty="0" smtClean="0"/>
              <a:t>及定价</a:t>
            </a:r>
            <a:r>
              <a:rPr lang="en-US" altLang="zh-CN" sz="2800" dirty="0" smtClean="0"/>
              <a:t>:</a:t>
            </a:r>
            <a:r>
              <a:rPr lang="en-US" altLang="zh-CN" sz="2800" dirty="0"/>
              <a:t>978-7-115-20492-9/CNY55.00 </a:t>
            </a:r>
            <a:endParaRPr lang="en-US" altLang="zh-CN" sz="2800" dirty="0" smtClean="0"/>
          </a:p>
          <a:p>
            <a:r>
              <a:rPr lang="en-US" altLang="zh-CN" sz="2800" dirty="0" smtClean="0"/>
              <a:t>URL:</a:t>
            </a:r>
            <a:r>
              <a:rPr lang="en-US" altLang="zh-CN" sz="2800" dirty="0" smtClean="0">
                <a:hlinkClick r:id="rId2"/>
              </a:rPr>
              <a:t>http</a:t>
            </a:r>
            <a:r>
              <a:rPr lang="en-US" altLang="zh-CN" sz="2800" dirty="0">
                <a:hlinkClick r:id="rId2"/>
              </a:rPr>
              <a:t>://</a:t>
            </a:r>
            <a:r>
              <a:rPr lang="en-US" altLang="zh-CN" sz="2800" dirty="0" smtClean="0">
                <a:hlinkClick r:id="rId2"/>
              </a:rPr>
              <a:t>calis2.nju.edu.cn:8080/opac/item.php?marc_no=0003465232</a:t>
            </a:r>
            <a:endParaRPr lang="en-US" altLang="zh-CN" sz="2800" dirty="0" smtClean="0"/>
          </a:p>
        </p:txBody>
      </p:sp>
      <p:sp>
        <p:nvSpPr>
          <p:cNvPr id="4" name="灯片编号占位符 3"/>
          <p:cNvSpPr>
            <a:spLocks noGrp="1"/>
          </p:cNvSpPr>
          <p:nvPr>
            <p:ph type="sldNum" sz="quarter" idx="4294967295"/>
          </p:nvPr>
        </p:nvSpPr>
        <p:spPr>
          <a:xfrm>
            <a:off x="3505200" y="6461125"/>
            <a:ext cx="2133600" cy="320675"/>
          </a:xfrm>
          <a:prstGeom prst="rect">
            <a:avLst/>
          </a:prstGeom>
        </p:spPr>
        <p:txBody>
          <a:bodyPr/>
          <a:lstStyle/>
          <a:p>
            <a:pPr>
              <a:defRPr/>
            </a:pPr>
            <a:fld id="{35E2893E-1C56-4F7E-897F-1FA1E5A4D06E}" type="slidenum">
              <a:rPr lang="en-US" altLang="zh-CN" smtClean="0"/>
              <a:pPr>
                <a:defRPr/>
              </a:pPr>
              <a:t>67</a:t>
            </a:fld>
            <a:endParaRPr lang="en-US" altLang="zh-CN" dirty="0"/>
          </a:p>
        </p:txBody>
      </p:sp>
    </p:spTree>
    <p:extLst>
      <p:ext uri="{BB962C8B-B14F-4D97-AF65-F5344CB8AC3E}">
        <p14:creationId xmlns:p14="http://schemas.microsoft.com/office/powerpoint/2010/main" val="37140845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SOSE</Template>
  <TotalTime>17082</TotalTime>
  <Words>4399</Words>
  <Application>Microsoft Office PowerPoint</Application>
  <PresentationFormat>全屏显示(4:3)</PresentationFormat>
  <Paragraphs>446</Paragraphs>
  <Slides>67</Slides>
  <Notes>64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67</vt:i4>
      </vt:variant>
    </vt:vector>
  </HeadingPairs>
  <TitlesOfParts>
    <vt:vector size="72" baseType="lpstr">
      <vt:lpstr>宋体</vt:lpstr>
      <vt:lpstr>Arial</vt:lpstr>
      <vt:lpstr>Verdana</vt:lpstr>
      <vt:lpstr>Wingdings</vt:lpstr>
      <vt:lpstr>software</vt:lpstr>
      <vt:lpstr>Principles of Service-Oriented Design III Service-Oriented Software Engineering</vt:lpstr>
      <vt:lpstr>服务自治（处理边界与控制）</vt:lpstr>
      <vt:lpstr>自治</vt:lpstr>
      <vt:lpstr>服务自治的类型</vt:lpstr>
      <vt:lpstr>运行时自治（执行）</vt:lpstr>
      <vt:lpstr>设计时自治（治理）</vt:lpstr>
      <vt:lpstr>服务自治度量</vt:lpstr>
      <vt:lpstr>服务合约自治（带有规范化合约的服务）</vt:lpstr>
      <vt:lpstr>服务合约自治——服务规范化</vt:lpstr>
      <vt:lpstr>服务合约自治——合约反规范化</vt:lpstr>
      <vt:lpstr>服务合约自治——共享自治</vt:lpstr>
      <vt:lpstr>服务逻辑自治（部分隔离服务） I</vt:lpstr>
      <vt:lpstr>服务逻辑自治（部分隔离服务） II</vt:lpstr>
      <vt:lpstr>完全自治（隔离的服务）</vt:lpstr>
      <vt:lpstr>功能隔离</vt:lpstr>
      <vt:lpstr>绝对隔离</vt:lpstr>
      <vt:lpstr>其他</vt:lpstr>
      <vt:lpstr>自治与服务设计</vt:lpstr>
      <vt:lpstr>服务自治与服务建模</vt:lpstr>
      <vt:lpstr>服务自治与粒度</vt:lpstr>
      <vt:lpstr>服务自治与服务模型 I</vt:lpstr>
      <vt:lpstr>服务自治与服务模型 II</vt:lpstr>
      <vt:lpstr>服务自治与其他原则 I</vt:lpstr>
      <vt:lpstr>服务自治与其他原则 II</vt:lpstr>
      <vt:lpstr>服务自治与其他原则 III</vt:lpstr>
      <vt:lpstr>服务自治与其他原则 IV</vt:lpstr>
      <vt:lpstr>服务自治的相关风险</vt:lpstr>
      <vt:lpstr>错误地判断服务的范围</vt:lpstr>
      <vt:lpstr>包装服务和遗留逻辑封装</vt:lpstr>
      <vt:lpstr>对服务需求的过高估计</vt:lpstr>
      <vt:lpstr>案例研究—— Getltem 操作现在所实现的共享自治</vt:lpstr>
      <vt:lpstr>案例研究——更高自治的操作级别架构</vt:lpstr>
      <vt:lpstr>案例研究—— 对于Run Lab Project 组合的影晌</vt:lpstr>
      <vt:lpstr>服务无状态性 （状态管理延迟与无状态性设计）I</vt:lpstr>
      <vt:lpstr>服务无状态性 （状态管理延迟与无状态性设计）II</vt:lpstr>
      <vt:lpstr>状态管理 I</vt:lpstr>
      <vt:lpstr>状态管理 II</vt:lpstr>
      <vt:lpstr>状态管理 III</vt:lpstr>
      <vt:lpstr>状态管理 III</vt:lpstr>
      <vt:lpstr>状态管理 IV</vt:lpstr>
      <vt:lpstr>状态类型</vt:lpstr>
      <vt:lpstr>服务无状态性度量</vt:lpstr>
      <vt:lpstr>非延迟的状态管理（无状态性从低到没有）</vt:lpstr>
      <vt:lpstr>部分延迟存储（较低的有状态性）</vt:lpstr>
      <vt:lpstr>部分架构状态管理延迟（中等无状态性）</vt:lpstr>
      <vt:lpstr>完全架构状态管理延迟（高度无状态性） </vt:lpstr>
      <vt:lpstr>内部延迟状态管理（高度无状态性）</vt:lpstr>
      <vt:lpstr>状态管理</vt:lpstr>
      <vt:lpstr>无状态性与服务设计</vt:lpstr>
      <vt:lpstr>消息作为一个状态延迟选项</vt:lpstr>
      <vt:lpstr>服务无状态性与服务实例</vt:lpstr>
      <vt:lpstr>服务无状态性与粒度</vt:lpstr>
      <vt:lpstr>服务无状态性与服务模型 （1/2）</vt:lpstr>
      <vt:lpstr>服务无状态性与服务模型 （2/2）</vt:lpstr>
      <vt:lpstr>服务无状态性与其他原则 I</vt:lpstr>
      <vt:lpstr>服务无状态性与其他原则 II</vt:lpstr>
      <vt:lpstr>服务无状态性的相关风险</vt:lpstr>
      <vt:lpstr>案例研究——背景</vt:lpstr>
      <vt:lpstr>案例研究——引入态延迟扩展</vt:lpstr>
      <vt:lpstr>案例研究——步骤1</vt:lpstr>
      <vt:lpstr>案例研究——步骤2</vt:lpstr>
      <vt:lpstr>案例研究——步骤3</vt:lpstr>
      <vt:lpstr>案例研究——步骤4</vt:lpstr>
      <vt:lpstr>案例研究——步骤5</vt:lpstr>
      <vt:lpstr>案例研究——步骤6</vt:lpstr>
      <vt:lpstr>案例研究——步骤7</vt:lpstr>
      <vt:lpstr>Read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bei jia</cp:lastModifiedBy>
  <cp:revision>322</cp:revision>
  <dcterms:created xsi:type="dcterms:W3CDTF">2008-04-16T11:36:22Z</dcterms:created>
  <dcterms:modified xsi:type="dcterms:W3CDTF">2017-11-17T02:28:09Z</dcterms:modified>
</cp:coreProperties>
</file>