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2"/>
  </p:notesMasterIdLst>
  <p:sldIdLst>
    <p:sldId id="256" r:id="rId2"/>
    <p:sldId id="505" r:id="rId3"/>
    <p:sldId id="507" r:id="rId4"/>
    <p:sldId id="515" r:id="rId5"/>
    <p:sldId id="508" r:id="rId6"/>
    <p:sldId id="526" r:id="rId7"/>
    <p:sldId id="517" r:id="rId8"/>
    <p:sldId id="514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10" r:id="rId17"/>
    <p:sldId id="511" r:id="rId18"/>
    <p:sldId id="512" r:id="rId19"/>
    <p:sldId id="516" r:id="rId20"/>
    <p:sldId id="525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3300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7" autoAdjust="0"/>
    <p:restoredTop sz="73973" autoAdjust="0"/>
  </p:normalViewPr>
  <p:slideViewPr>
    <p:cSldViewPr>
      <p:cViewPr varScale="1">
        <p:scale>
          <a:sx n="115" d="100"/>
          <a:sy n="115" d="100"/>
        </p:scale>
        <p:origin x="183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868D0D-C398-4CF8-83A5-18BAC79F81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3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0FA0C8-3306-4722-B4E6-46F822739A9A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38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4BCE3B5D-9452-4989-80F6-FCD319B55D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8F34C40F-BA95-4DDA-97E9-8A8A32627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AD7F185D-A779-4FDD-9E97-81CCF6C1D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56EA33-7EFA-473E-8F92-236DA47768AF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633CD355-4001-4677-ACEB-CFF83D6BEA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217F7D8E-8B86-4D67-9415-C0FFAA7DB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58BA79CF-BB94-43D6-BED9-2B748E4AF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3F25784-3F1E-4BCB-A711-EED3B73E80B6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6BC89312-4306-48DB-A8AE-3ED1254474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23D5FDCF-C5C3-4782-8364-34DC09230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800269FC-DB51-41A8-9630-50019BE8A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14B03A-15AD-447E-9258-03593FF10248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592E4BEB-8238-48E2-A06F-9607F2D6DF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E0867F69-A318-4751-B401-B1725EF2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E96606B7-5605-4CCF-878A-E833FC71D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537447-3784-40C9-A71D-85D1AD2604DB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9785283D-5FCF-4A0B-8F18-383C785064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87F4318E-8F7C-42C1-8CD6-ECC8155F4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FAC51978-C4DF-43E9-8F74-AF16B625A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9493E6-EBD8-4D66-9095-022F30C0E276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9A7812E0-22C4-492D-A3A8-B10879592C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C2DB2E31-BC10-4D91-9AFF-60B64C2EB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15B46860-E1D3-4C70-ADC5-BF31B943D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FA687F-F050-4766-96F9-D1EEACDA0F23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939A9BA7-4FB9-4E6C-803F-25C6037A7D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71BBF3F0-A867-4B47-A129-4A3A697FC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75E07B4E-B495-4C43-858E-84B30B9E4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91221B-B2F2-4FB4-9674-8FC7C149F2EA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B14A8F03-D808-4110-8DC1-F15BA90542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228923E3-6960-4822-9B6B-A495BB5EA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7D43F247-0364-48D6-BCD0-1E7C8EAE5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24A8B7A-9C29-492F-9EB2-DF016EFCDAA1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BD6590A6-D8E7-4F76-88F0-8D41EB7B49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0061DE5-461F-44D4-850B-06C396DCA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312CC2AE-D3EE-4775-B219-F0453028B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C6CE44-85CC-4D55-9CF5-9838EAD0839D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FA21F4A2-BF11-4192-BB0B-DF0755148D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E44F0694-EEFD-4337-A1AD-1E6A86A75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3FF22AB2-A76C-4E1B-86D5-84F938D2B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57FB500-42D7-41BA-AC49-C0BDE55DB3D0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8A72C0BF-6779-4778-A0DB-56583B55B2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73A66B28-39FD-4CC6-8835-6BCC4E6A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6E1420E2-F759-4323-A03E-C4D4D8B89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678BC0-F410-4517-932A-992A509D938A}" type="slidenum">
              <a:rPr lang="en-US" altLang="zh-CN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02618B38-17DC-4FD7-ADC1-EE305997D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A7800FB5-7D15-4FF8-9B2A-411CB9364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F2EBEA0E-78C9-4ED9-AFB9-95ABC0990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7E5A55-BA2F-4C6A-BF71-96FCE9278C21}" type="slidenum">
              <a:rPr lang="en-US" altLang="zh-CN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5B5B546F-72AF-4D52-A462-71CC7DAB27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8834F43D-4FB8-406F-BE8E-DDCC032C6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602BAA99-CC29-4FCF-8F97-0C7930B7B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099F6A-2879-4A5E-861C-231765DCB569}" type="slidenum">
              <a:rPr lang="en-US" altLang="zh-CN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A2E5C378-6EBD-4423-8CA6-A38DFDA505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246B11AC-FD8F-41C0-B93F-6FACC423D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07A84DFB-9D97-4A96-8232-BFB78F43F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19AB988-EDCB-495E-8218-39724618CD60}" type="slidenum">
              <a:rPr lang="en-US" altLang="zh-CN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8E15B287-F2F9-4538-9F8C-BED513C0F5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96E462AF-84B2-44A4-86D2-24BFB0748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6E255F50-9182-4194-81FF-A266595A4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45D86EC-DF32-445C-AC9D-3819E491898A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CE2BEFC9-E683-4DC8-B8D5-A6E2E27569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EB002FB0-2BE5-42DE-AD6C-D7CEBAE4C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F8F563CC-0301-4FD8-8899-7D342EC53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C83CDD-98B1-4E9E-BF07-AFC1AC9C95F5}" type="slidenum">
              <a:rPr lang="en-US" altLang="zh-CN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F253E659-112B-4678-9614-10A3106123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F6E929A0-51A4-4E6D-B0B4-8B13EB55C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CE9E4C7C-DA2F-4A8A-9C8C-34572A7C5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4C1D54-8D76-4C8B-BF93-875DC1010B23}" type="slidenum">
              <a:rPr lang="en-US" altLang="zh-CN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2A386551-F846-4184-BE45-C8F713CABD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D627BA03-A051-4F74-94ED-5CFA7260B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C0A54F07-2F77-49D1-8B23-3967E742C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35BA71-88CD-4426-8E5C-E87C31A57C08}" type="slidenum">
              <a:rPr lang="en-US" altLang="zh-CN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D5F5963D-EB37-4A4D-B6CB-310DD435D2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0FEF8A4B-28AE-4B98-A291-F6C89C32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BBDABF66-D052-48EA-A457-DC7B2312A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460753-13F0-4122-B686-A18FFB8DB072}" type="slidenum">
              <a:rPr lang="en-US" altLang="zh-CN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CE098-78E7-4D6F-B667-DB0097CCC9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5E50B-A953-4918-8716-CAAF4E2659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7FA1-9437-4596-B349-759BEDB2AF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07C14-B184-494D-9559-B33678D3E7A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35C-509A-4F47-9595-DC813BD463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DF462-01D9-4967-AECA-CEAD27BF24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1A58-EAD4-4532-B494-3341F8C248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78A78-8E68-48C0-A96D-456AAB403E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776E-7930-43E7-867B-C25687EF30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CN" sz="2800" dirty="0"/>
              <a:t>XPath</a:t>
            </a:r>
            <a:br>
              <a:rPr lang="en-US" altLang="zh-CN" sz="2000" dirty="0"/>
            </a:br>
            <a:r>
              <a:rPr lang="en-US" altLang="zh-CN" sz="2000" dirty="0"/>
              <a:t>Service-Oriented Software Engineering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9A56EA43-C8BA-40CA-9BB8-D2B1B4E4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2</a:t>
            </a:fld>
            <a:endParaRPr lang="en-US" altLang="zh-CN" sz="10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A7B2F48-D1D7-4550-8891-920273D7F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dirty="0"/>
              <a:t>Example Tree Representation of XML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C7DD24E-253F-4B08-BF40-462FDD0CA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556" y="1371600"/>
            <a:ext cx="7024688" cy="499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7B0DF694-01A7-4BCA-A536-AAD0A383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3</a:t>
            </a:fld>
            <a:endParaRPr lang="en-US" altLang="zh-CN" sz="10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BD3A552-619A-4B87-BF2A-4CDDD47F0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XPath Current Context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8D7F2426-009C-4E81-9F79-FDA116237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12332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The active element within the XPath address step</a:t>
            </a:r>
          </a:p>
          <a:p>
            <a:pPr lvl="1" eaLnBrk="1" hangingPunct="1"/>
            <a:r>
              <a:rPr lang="en-US" altLang="zh-CN" sz="2100" dirty="0"/>
              <a:t>/Root/.../Ancestor/Parent/</a:t>
            </a:r>
            <a:r>
              <a:rPr lang="en-US" altLang="zh-CN" sz="2100" b="1" u="sng" dirty="0"/>
              <a:t>SELF</a:t>
            </a:r>
            <a:r>
              <a:rPr lang="en-US" altLang="zh-CN" sz="2100" dirty="0"/>
              <a:t>/Child/Descendant</a:t>
            </a:r>
          </a:p>
        </p:txBody>
      </p:sp>
      <p:pic>
        <p:nvPicPr>
          <p:cNvPr id="8197" name="Picture 4">
            <a:extLst>
              <a:ext uri="{FF2B5EF4-FFF2-40B4-BE49-F238E27FC236}">
                <a16:creationId xmlns:a16="http://schemas.microsoft.com/office/drawing/2014/main" id="{BF9C4580-3A1C-4B5D-B551-9126C5D20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5375"/>
            <a:ext cx="705485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03981A27-AE5F-449B-9070-78D3523D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4</a:t>
            </a:fld>
            <a:endParaRPr lang="en-US" altLang="zh-CN" sz="10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198266C-AEE3-4C68-80C9-24C97BDC9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Partitioning the Document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45025C5-3C08-4477-81FE-EB153F789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12332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Self, ancestor, descendant, preceding and following partition the entire document</a:t>
            </a:r>
          </a:p>
        </p:txBody>
      </p:sp>
      <p:pic>
        <p:nvPicPr>
          <p:cNvPr id="10245" name="Picture 4">
            <a:extLst>
              <a:ext uri="{FF2B5EF4-FFF2-40B4-BE49-F238E27FC236}">
                <a16:creationId xmlns:a16="http://schemas.microsoft.com/office/drawing/2014/main" id="{EDA25C5F-0A3C-46FC-B902-309030FA2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58207"/>
            <a:ext cx="7008812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4A076B44-B4C9-4614-9FA7-0C1EB705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5</a:t>
            </a:fld>
            <a:endParaRPr lang="en-US" altLang="zh-CN" sz="10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E4242B0-9EF8-4674-8F08-D65CE8898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XPath Step Syntax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C42F61A8-DE27-4379-9FF2-E144522D5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An XPath location path is made up of one or more steps separated by a forward slash ("/").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Each step within the path consists 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b="1" dirty="0">
                <a:solidFill>
                  <a:srgbClr val="993300"/>
                </a:solidFill>
              </a:rPr>
              <a:t>Axis</a:t>
            </a:r>
            <a:r>
              <a:rPr lang="en-US" altLang="zh-CN" sz="2100" dirty="0"/>
              <a:t>: Branch of the node tree relative to the current context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b="1" dirty="0" err="1">
                <a:solidFill>
                  <a:srgbClr val="008000"/>
                </a:solidFill>
              </a:rPr>
              <a:t>NodeTest</a:t>
            </a:r>
            <a:r>
              <a:rPr lang="en-US" altLang="zh-CN" sz="2100" dirty="0"/>
              <a:t>: Tests node for inclusion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b="1" dirty="0">
                <a:solidFill>
                  <a:srgbClr val="0066FF"/>
                </a:solidFill>
              </a:rPr>
              <a:t>Predicate</a:t>
            </a:r>
            <a:r>
              <a:rPr lang="en-US" altLang="zh-CN" sz="2100" b="1" dirty="0"/>
              <a:t>:</a:t>
            </a:r>
            <a:r>
              <a:rPr lang="en-US" altLang="zh-CN" sz="2100" dirty="0"/>
              <a:t> Optional filter of matched nodes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/>
              <a:t>Locate all chapters titles in the book that contain the string 'XPath'</a:t>
            </a:r>
          </a:p>
        </p:txBody>
      </p:sp>
      <p:pic>
        <p:nvPicPr>
          <p:cNvPr id="12293" name="Picture 4">
            <a:extLst>
              <a:ext uri="{FF2B5EF4-FFF2-40B4-BE49-F238E27FC236}">
                <a16:creationId xmlns:a16="http://schemas.microsoft.com/office/drawing/2014/main" id="{0FBA319F-2041-456B-B862-36889F353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4000"/>
            <a:ext cx="442436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5">
            <a:extLst>
              <a:ext uri="{FF2B5EF4-FFF2-40B4-BE49-F238E27FC236}">
                <a16:creationId xmlns:a16="http://schemas.microsoft.com/office/drawing/2014/main" id="{21611BBD-D44E-47C6-8F18-2E33CF15D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5636988"/>
            <a:ext cx="8115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A863C0BC-C5F4-4752-B960-384E3FCA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6</a:t>
            </a:fld>
            <a:endParaRPr lang="en-US" altLang="zh-CN" sz="10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C0AB1D9-E08D-4399-83F4-166495FD4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The Thirteen Axes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8F78F6B8-825D-40AC-8403-267D566F1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" y="1277937"/>
            <a:ext cx="8774113" cy="497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DE2BCC72-2691-42F7-AB0B-162ADFA5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7</a:t>
            </a:fld>
            <a:endParaRPr lang="en-US" altLang="zh-CN" sz="10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F1004D5-99ED-44A6-AF92-65EE64B29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XPath Axis Node Type and Node Tests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CC2CD3F1-B458-46BD-BE3B-B901056F9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7353300" cy="51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0A7EB8DC-6EA8-48B0-A1D2-E0EDAA46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8</a:t>
            </a:fld>
            <a:endParaRPr lang="en-US" altLang="zh-CN" sz="1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0E39798-5225-428F-A2BA-05D505F56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Abbreviated Step Notation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56207CE-EA72-4459-A934-68C44DFE9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11570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The following step abbreviations may be used to simplify XPath location paths</a:t>
            </a: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5D591B4B-BA37-4EC6-9457-38B37EA9E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77724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827D9CB0-E991-4FC9-A3DC-523C7DDD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9</a:t>
            </a:fld>
            <a:endParaRPr lang="en-US" altLang="zh-CN" sz="10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0146E78-3C53-43C7-B4B7-F9C5C4FC2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Sample Node Tests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7F7B5F96-0473-4319-A6AF-35DE49D3C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//comment()</a:t>
            </a:r>
          </a:p>
          <a:p>
            <a:pPr lvl="1" eaLnBrk="1" hangingPunct="1">
              <a:defRPr/>
            </a:pPr>
            <a:r>
              <a:rPr lang="en-US" altLang="zh-CN" sz="2000" dirty="0"/>
              <a:t>Extract all comments from a document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/book/*/title</a:t>
            </a:r>
          </a:p>
          <a:p>
            <a:pPr lvl="1" eaLnBrk="1" hangingPunct="1">
              <a:defRPr/>
            </a:pPr>
            <a:r>
              <a:rPr lang="en-US" altLang="zh-CN" sz="2000" dirty="0"/>
              <a:t>Extract all top-level titles regardless of parent type (that is, Chapter, Appendix, and so forth)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/processing-instruction()</a:t>
            </a:r>
          </a:p>
          <a:p>
            <a:pPr lvl="1" eaLnBrk="1" hangingPunct="1">
              <a:defRPr/>
            </a:pPr>
            <a:r>
              <a:rPr lang="en-US" altLang="zh-CN" sz="2000" dirty="0"/>
              <a:t>Extract all Processing Instructions that exist outside of the root element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/book/chapter[2]//text()</a:t>
            </a:r>
          </a:p>
          <a:p>
            <a:pPr lvl="1" eaLnBrk="1" hangingPunct="1">
              <a:defRPr/>
            </a:pPr>
            <a:r>
              <a:rPr lang="en-US" altLang="zh-CN" sz="2000" dirty="0"/>
              <a:t>Extract the actual text from all elements inside the second chapter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chapter/section[2][@status="Draft"]</a:t>
            </a:r>
          </a:p>
          <a:p>
            <a:pPr lvl="1" eaLnBrk="1" hangingPunct="1">
              <a:defRPr/>
            </a:pPr>
            <a:r>
              <a:rPr lang="en-US" altLang="zh-CN" sz="2000" dirty="0"/>
              <a:t>Extract the second section child of every chapter child of the context node where the section status attribute has a value of "Draft"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E2F0AD89-312F-4BDC-90FD-20BB19B6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10</a:t>
            </a:fld>
            <a:endParaRPr lang="en-US" altLang="zh-CN" sz="10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BEEAFC7-C408-4555-9CCF-19168EF6B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Predicates (1/2)</a:t>
            </a:r>
          </a:p>
        </p:txBody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5D777D04-B088-47D8-BCF7-FE4663C88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sz="2400" dirty="0"/>
              <a:t>All comparisons or function calls are within the predicate, enclosed within [ ]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400" dirty="0"/>
              <a:t>Predicates test a set of nodes and return one of: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/>
              <a:t>A new set of nodes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/>
              <a:t>A string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/>
              <a:t>A </a:t>
            </a:r>
            <a:r>
              <a:rPr lang="en-US" altLang="zh-CN" sz="2000" dirty="0" err="1"/>
              <a:t>boolean</a:t>
            </a:r>
            <a:endParaRPr lang="en-US" altLang="zh-CN" sz="20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/>
              <a:t>A number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400" dirty="0"/>
              <a:t>Each node in the list of nodes is tested to see if the predicate is true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/>
              <a:t>If predicate is true the node is included in the resulting list of nodes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400" dirty="0"/>
              <a:t>If a predicate results in no matching nodes, an empty result set is returned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1517D52F-D5CB-44F3-BCC7-803C266B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11</a:t>
            </a:fld>
            <a:endParaRPr lang="en-US" altLang="zh-CN" sz="10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2636025-7388-4307-B3FD-E78AD3AE8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Predicates (2/2)</a:t>
            </a:r>
          </a:p>
        </p:txBody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5174BE85-5C57-4551-B74A-796753C16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dirty="0"/>
              <a:t>Predicate expression types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Function call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Number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Literal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Location path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dirty="0"/>
              <a:t>Extra logic operators can be used inside a predicate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Allows </a:t>
            </a:r>
            <a:r>
              <a:rPr lang="en-US" altLang="zh-CN" sz="2400" dirty="0" err="1"/>
              <a:t>boolean</a:t>
            </a:r>
            <a:r>
              <a:rPr lang="en-US" altLang="zh-CN" sz="2400" dirty="0"/>
              <a:t> “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altLang="zh-CN" sz="2400" dirty="0"/>
              <a:t>” and “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altLang="zh-CN" sz="2400" dirty="0"/>
              <a:t>” chaining of tests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dirty="0"/>
              <a:t>Math operators allowed in predicates for numbers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Equality “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dirty="0"/>
              <a:t> ” operator	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Less than “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/>
              <a:t> ” and Greater than “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dirty="0"/>
              <a:t> ” operators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Other functions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E04714CD-D499-40F6-B349-392CF999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12</a:t>
            </a:fld>
            <a:endParaRPr lang="en-US" altLang="zh-CN" sz="10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BB29A82-AE67-47B9-918A-21BF6A4E8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Predicate Core Functions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593E0EF6-F96C-4277-B8DF-38DBAF3FD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7" y="1355725"/>
            <a:ext cx="7477125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4E2A6710-6ABA-4973-A810-6649EA93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13</a:t>
            </a:fld>
            <a:endParaRPr lang="en-US" altLang="zh-CN" sz="10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50A586A-8F48-4A81-861E-07FF293DD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Predicate String Functions (1/2)</a:t>
            </a: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3F643447-92B8-4494-AC7D-B63DA3172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53" y="1172322"/>
            <a:ext cx="7945438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>
            <a:extLst>
              <a:ext uri="{FF2B5EF4-FFF2-40B4-BE49-F238E27FC236}">
                <a16:creationId xmlns:a16="http://schemas.microsoft.com/office/drawing/2014/main" id="{185DE10E-A72A-4C48-BE12-367BE94A6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91" y="1309687"/>
            <a:ext cx="8299450" cy="493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灯片编号占位符 5">
            <a:extLst>
              <a:ext uri="{FF2B5EF4-FFF2-40B4-BE49-F238E27FC236}">
                <a16:creationId xmlns:a16="http://schemas.microsoft.com/office/drawing/2014/main" id="{3ED7F8B8-81D9-4312-88E6-808ECE3D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14</a:t>
            </a:fld>
            <a:endParaRPr lang="en-US" altLang="zh-CN" sz="1000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744A3B1A-EC10-40CD-AB7E-981503914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Predicate String Functions (2/2)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7CC538A4-2A44-45F4-A055-D6062444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15</a:t>
            </a:fld>
            <a:endParaRPr lang="en-US" altLang="zh-CN" sz="10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60DC6F2-700F-4F31-8E0D-65EFFFD75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Predicate Number and Boolean Functions</a:t>
            </a: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FBF03571-CA8F-45B9-BC84-746B01474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219200"/>
            <a:ext cx="73914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0693067C-E219-4AD0-9604-AAEF19CB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16</a:t>
            </a:fld>
            <a:endParaRPr lang="en-US" altLang="zh-CN" sz="10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4096044-3038-4B3D-B6C0-253D2174D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Example: Absolute Addressing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F75BE1F7-31F5-46F0-B1BD-BDE0FED5F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62075"/>
            <a:ext cx="693420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77BFA4AE-1158-4BBF-A4BE-C2F6A6BD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17</a:t>
            </a:fld>
            <a:endParaRPr lang="en-US" altLang="zh-CN" sz="10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EF43DD0-5338-494D-9E33-FDD06D24D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Example: </a:t>
            </a:r>
            <a:br>
              <a:rPr lang="en-US" altLang="zh-CN" sz="2800" dirty="0"/>
            </a:br>
            <a:r>
              <a:rPr lang="en-US" altLang="zh-CN" sz="2800" dirty="0"/>
              <a:t>Absolute Addressing with Predicates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9B454105-744D-4411-8B37-AAD036E82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" y="1475722"/>
            <a:ext cx="7367587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02D0FC1F-6AEA-4243-AA6E-1966BF0E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18</a:t>
            </a:fld>
            <a:endParaRPr lang="en-US" altLang="zh-CN" sz="10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12CC768-3B8A-479B-B41C-9C5AF3AAB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Example: Relative Addressing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4B908C89-C838-4495-AED5-60D8F75C5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91372"/>
            <a:ext cx="7200900" cy="526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0AA14F4F-EFE0-403B-B348-B708EEEE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19</a:t>
            </a:fld>
            <a:endParaRPr lang="en-US" altLang="zh-CN" sz="10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8F57627-DBAE-4C42-B446-74E8EF064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Example: Addressing with Axes</a:t>
            </a:r>
          </a:p>
        </p:txBody>
      </p:sp>
      <p:pic>
        <p:nvPicPr>
          <p:cNvPr id="40964" name="图片 7">
            <a:extLst>
              <a:ext uri="{FF2B5EF4-FFF2-40B4-BE49-F238E27FC236}">
                <a16:creationId xmlns:a16="http://schemas.microsoft.com/office/drawing/2014/main" id="{BAB482F1-C2C6-484A-801D-E6B8842D4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7" y="1549400"/>
            <a:ext cx="6816725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8666AA85-1F17-4D68-B523-7DC56A20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6891D1-0785-4350-A1BB-98023938DD85}" type="slidenum">
              <a:rPr lang="en-US" altLang="zh-CN" smtClean="0"/>
              <a:pPr/>
              <a:t>20</a:t>
            </a:fld>
            <a:endParaRPr lang="en-US" altLang="zh-CN" sz="10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707409FA-A39F-4A82-89F5-164512A0D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Reference Information</a:t>
            </a: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AF1445CA-63A5-4117-A52A-0B93A6D86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01762"/>
            <a:ext cx="7696200" cy="484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4464</TotalTime>
  <Words>482</Words>
  <Application>Microsoft Office PowerPoint</Application>
  <PresentationFormat>全屏显示(4:3)</PresentationFormat>
  <Paragraphs>104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Courier New</vt:lpstr>
      <vt:lpstr>Verdana</vt:lpstr>
      <vt:lpstr>Wingdings</vt:lpstr>
      <vt:lpstr>software</vt:lpstr>
      <vt:lpstr>XPath Service-Oriented Software Engineering</vt:lpstr>
      <vt:lpstr>Example Tree Representation of XML</vt:lpstr>
      <vt:lpstr>XPath Current Context</vt:lpstr>
      <vt:lpstr>Partitioning the Document</vt:lpstr>
      <vt:lpstr>XPath Step Syntax</vt:lpstr>
      <vt:lpstr>The Thirteen Axes</vt:lpstr>
      <vt:lpstr>XPath Axis Node Type and Node Tests</vt:lpstr>
      <vt:lpstr>Abbreviated Step Notation</vt:lpstr>
      <vt:lpstr>Sample Node Tests</vt:lpstr>
      <vt:lpstr>Predicates (1/2)</vt:lpstr>
      <vt:lpstr>Predicates (2/2)</vt:lpstr>
      <vt:lpstr>Predicate Core Functions</vt:lpstr>
      <vt:lpstr>Predicate String Functions (1/2)</vt:lpstr>
      <vt:lpstr>Predicate String Functions (2/2)</vt:lpstr>
      <vt:lpstr>Predicate Number and Boolean Functions</vt:lpstr>
      <vt:lpstr>Example: Absolute Addressing</vt:lpstr>
      <vt:lpstr>Example:  Absolute Addressing with Predicates</vt:lpstr>
      <vt:lpstr>Example: Relative Addressing</vt:lpstr>
      <vt:lpstr>Example: Addressing with Axes</vt:lpstr>
      <vt:lpstr>Reference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beijia</dc:creator>
  <cp:lastModifiedBy>jia bei</cp:lastModifiedBy>
  <cp:revision>144</cp:revision>
  <cp:lastPrinted>1601-01-01T00:00:00Z</cp:lastPrinted>
  <dcterms:created xsi:type="dcterms:W3CDTF">1601-01-01T00:00:00Z</dcterms:created>
  <dcterms:modified xsi:type="dcterms:W3CDTF">2023-10-12T04:31:20Z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