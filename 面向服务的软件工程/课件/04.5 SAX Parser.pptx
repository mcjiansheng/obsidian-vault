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3"/>
  </p:notesMasterIdLst>
  <p:sldIdLst>
    <p:sldId id="256" r:id="rId2"/>
    <p:sldId id="491" r:id="rId3"/>
    <p:sldId id="492" r:id="rId4"/>
    <p:sldId id="494" r:id="rId5"/>
    <p:sldId id="495" r:id="rId6"/>
    <p:sldId id="496" r:id="rId7"/>
    <p:sldId id="497" r:id="rId8"/>
    <p:sldId id="498" r:id="rId9"/>
    <p:sldId id="499" r:id="rId10"/>
    <p:sldId id="500" r:id="rId11"/>
    <p:sldId id="501" r:id="rId1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3300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7" autoAdjust="0"/>
    <p:restoredTop sz="73973" autoAdjust="0"/>
  </p:normalViewPr>
  <p:slideViewPr>
    <p:cSldViewPr>
      <p:cViewPr varScale="1">
        <p:scale>
          <a:sx n="115" d="100"/>
          <a:sy n="115" d="100"/>
        </p:scale>
        <p:origin x="183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868D0D-C398-4CF8-83A5-18BAC79F81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3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0FA0C8-3306-4722-B4E6-46F822739A9A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38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9C6BDC61-CDAB-4AF4-8C00-0CFB063C75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72FFC805-0F7A-45DA-A74C-7DCE01720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7BFEE187-21D1-4D01-97CB-1D8772703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3403915-ACB2-4C1B-8A5A-2AC9EB90964A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70C7DA13-48B9-4B84-93F8-6895647211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BBD845B1-78DE-4F42-8F71-EDF1ACDD7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460DAA72-D281-44F2-8AE0-D4F9DF1C8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A07F2D-705F-46F1-BA54-35824CFF1784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20E3C08C-B43A-4C94-BC78-2F07B96218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29F4EEF8-9FBD-4249-B313-D3A6EFAA8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662917A0-5CD3-4AD7-A690-02D96501F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E4355F-95CF-42E2-8D7C-D178E21F8309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319BD7BE-9FEF-4BD3-87EB-87D3927C57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C5FD5574-8BD1-4728-93B8-C5606BF73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97B34304-51F9-4853-9EB5-93C430674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653D09B-DBBD-4E32-A3B7-27A612E8A2A9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D213981D-B3F3-4B1E-94EC-6EAADE7EDA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00DA75AF-2CF8-4048-9F98-0B4AAFD01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52AA2A97-952B-4CEF-8B6D-27926546C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272FFB-95E6-407C-AB84-DF9E95EDD9C6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8CE9D6A7-22A2-460B-8BDA-01F5F7F7DA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6BDE938B-16FB-4EA2-8FF4-D0AEDFD20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217CD04E-3BBF-4405-B91E-1712713A1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762BDF-AC71-41A0-A1AE-6BEB126C18B4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9D93174B-E916-4C29-B3C5-4323CC6958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7D6A08C7-27CE-40CD-A610-2980E580F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005D7BC6-1759-42FC-B64C-59DAE031B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40AD1F5-C9DC-4A3D-998C-3E1D59FA9D04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1A67EF4D-C770-4ED3-A3F3-D1975F357E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CC6F548C-AD93-4642-8984-A5E98474C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15A014A4-9241-4AE7-816F-1B27503B0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88F9B18-33E3-4717-A873-89BDEA44224E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10DD4ACC-3A12-40AB-930E-2436ECAC19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AFAE6F51-A72D-4D8A-8473-ABBED1C34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8BD5A8C8-16EC-4D64-8229-F2967AD5F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8893F-214C-4A6B-9E52-BA8B02640EC3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ADA6D4EF-66BD-4B13-AA4C-CB380D54DF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775E3BA3-96D9-4983-BDF0-2002618F1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0D149467-BFDE-43E0-8145-17AC1E630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F70256-3750-4016-89A4-B58591FAB75C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CE098-78E7-4D6F-B667-DB0097CCC9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5E50B-A953-4918-8716-CAAF4E2659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7FA1-9437-4596-B349-759BEDB2AF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07C14-B184-494D-9559-B33678D3E7A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35C-509A-4F47-9595-DC813BD463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DF462-01D9-4967-AECA-CEAD27BF24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1A58-EAD4-4532-B494-3341F8C248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78A78-8E68-48C0-A96D-456AAB403E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776E-7930-43E7-867B-C25687EF30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CN" sz="3200" dirty="0"/>
              <a:t>SAX Parser</a:t>
            </a:r>
            <a:br>
              <a:rPr lang="en-US" altLang="zh-CN" sz="2000" dirty="0"/>
            </a:br>
            <a:r>
              <a:rPr lang="en-US" altLang="zh-CN" sz="2000" dirty="0"/>
              <a:t>Service-Oriented Software Engineering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C27B2D10-B45A-42D8-AFDE-0DB3C5D2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SAX Basics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72F6D0-6511-43D3-8755-8311752E2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400" dirty="0"/>
              <a:t>Simple interface for event-based parsing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A specific method is called for each event fired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400" dirty="0"/>
              <a:t>SAX is efficient, but simple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The less work the parser does, the more the application needs to do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400" dirty="0"/>
              <a:t>Application must track state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You handle the events as you see fit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Program must track its location within the document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Once an event is fired, the parser forgets about it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If you don't store the data it is lost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Application may need to buffer events it cares about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400" dirty="0"/>
              <a:t>SAX can be considered to create a tree implicitly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A Start tag indicates going down one level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dirty="0">
                <a:cs typeface="+mn-cs"/>
              </a:rPr>
              <a:t>An End tag indicates moving up one level</a:t>
            </a:r>
            <a:endParaRPr lang="zh-CN" altLang="en-US" sz="2000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01AE2A6F-7528-4EF6-8C28-8D9C2755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2</a:t>
            </a:fld>
            <a:endParaRPr lang="en-US" alt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01AAE464-8DCD-4B6E-AFCC-CFC96AF6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When to Use SAX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9701C6-3FBF-4713-990A-C23D06D2F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/>
              <a:t>When you need to scan large XML documents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cs typeface="+mn-cs"/>
              </a:rPr>
              <a:t>Scan huge files with little overhead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/>
              <a:t>You need more control over the parsing process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cs typeface="+mn-cs"/>
              </a:rPr>
              <a:t>SAX doesn't actually do much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cs typeface="+mn-cs"/>
              </a:rPr>
              <a:t>Your program decides how anything is used, if at all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/>
              <a:t>You have limited system resources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cs typeface="+mn-cs"/>
              </a:rPr>
              <a:t>Memory and processor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cs typeface="+mn-cs"/>
              </a:rPr>
              <a:t>SAX doesn't create many objects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/>
              <a:t>You need high performance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cs typeface="+mn-cs"/>
              </a:rPr>
              <a:t>Quickly read and locate elements within any size XML document</a:t>
            </a:r>
            <a:endParaRPr lang="zh-CN" altLang="en-US" dirty="0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5C18BB8B-71E3-4A1A-9CFD-629E9A26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3</a:t>
            </a:fld>
            <a:endParaRPr lang="en-US" alt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E34C6533-7C9F-4537-9DF9-94184037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SAX Event Timeline</a:t>
            </a:r>
            <a:endParaRPr lang="zh-CN" altLang="en-US"/>
          </a:p>
        </p:txBody>
      </p:sp>
      <p:sp>
        <p:nvSpPr>
          <p:cNvPr id="10243" name="灯片编号占位符 3">
            <a:extLst>
              <a:ext uri="{FF2B5EF4-FFF2-40B4-BE49-F238E27FC236}">
                <a16:creationId xmlns:a16="http://schemas.microsoft.com/office/drawing/2014/main" id="{17B3FCDE-52C4-42E5-B766-409F92F4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4</a:t>
            </a:fld>
            <a:endParaRPr lang="en-US" altLang="zh-CN" sz="1000"/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C4CCF729-24B9-4654-8623-0AC673285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31938"/>
            <a:ext cx="73152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07237D4B-7F4C-4F10-A274-5E4C2D001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en-US" altLang="zh-CN"/>
              <a:t>Structure of a SAX Application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FFBEBF-971B-493A-A2C7-418C2CF1B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373856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Typical SAX applications consist of three basic section. Each of these may represent a discreet class or be combined into a single class</a:t>
            </a:r>
          </a:p>
          <a:p>
            <a:pPr lvl="1"/>
            <a:r>
              <a:rPr lang="en-US" altLang="zh-CN" dirty="0"/>
              <a:t>Parser creation and configuration</a:t>
            </a:r>
          </a:p>
          <a:p>
            <a:pPr lvl="2"/>
            <a:r>
              <a:rPr lang="en-US" altLang="zh-CN" dirty="0"/>
              <a:t>Seven steps to create, configure, and start the parser</a:t>
            </a:r>
          </a:p>
          <a:p>
            <a:pPr lvl="1"/>
            <a:r>
              <a:rPr lang="en-US" altLang="zh-CN" dirty="0"/>
              <a:t>Content Handler Methods</a:t>
            </a:r>
          </a:p>
          <a:p>
            <a:pPr lvl="2"/>
            <a:r>
              <a:rPr lang="en-US" altLang="zh-CN" dirty="0"/>
              <a:t>Handles all normal events fired by the parser</a:t>
            </a:r>
          </a:p>
          <a:p>
            <a:pPr lvl="2"/>
            <a:r>
              <a:rPr lang="en-US" altLang="zh-CN" dirty="0"/>
              <a:t>All the real work occurs</a:t>
            </a:r>
          </a:p>
          <a:p>
            <a:pPr lvl="1"/>
            <a:r>
              <a:rPr lang="en-US" altLang="zh-CN" dirty="0"/>
              <a:t>Error Handler Methods</a:t>
            </a:r>
          </a:p>
          <a:p>
            <a:pPr lvl="2"/>
            <a:r>
              <a:rPr lang="en-US" altLang="zh-CN" dirty="0"/>
              <a:t>Deals with any errors that occur during the parse</a:t>
            </a:r>
            <a:endParaRPr lang="zh-CN" altLang="en-US" dirty="0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37CA2DE5-A805-47F7-BE82-26E5A145D3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5</a:t>
            </a:fld>
            <a:endParaRPr lang="en-US" altLang="zh-CN" sz="1000"/>
          </a:p>
        </p:txBody>
      </p:sp>
      <p:pic>
        <p:nvPicPr>
          <p:cNvPr id="12293" name="Picture 2">
            <a:extLst>
              <a:ext uri="{FF2B5EF4-FFF2-40B4-BE49-F238E27FC236}">
                <a16:creationId xmlns:a16="http://schemas.microsoft.com/office/drawing/2014/main" id="{26C0112F-B6ED-4D9A-A6A5-0C61577B0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4791075"/>
            <a:ext cx="72993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C91D4A8C-5D0C-4FE9-BD8D-5D3DBD644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Parser Creation: Seven Steps (1/2)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7DFD-258D-435E-BF8D-1E4622200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51956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000" dirty="0"/>
              <a:t>Step 1: Create a new instance of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SAXParserFactory</a:t>
            </a:r>
            <a:endParaRPr lang="en-US" altLang="zh-CN" sz="2000" dirty="0"/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JAXP dynamically locates the real SAX implementation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The application doesn't care what SAX parser is used</a:t>
            </a:r>
          </a:p>
          <a:p>
            <a:pPr marL="363538" lvl="1" indent="0">
              <a:buNone/>
              <a:defRPr/>
            </a:pPr>
            <a:endParaRPr lang="en-US" altLang="zh-CN" sz="1800" dirty="0">
              <a:cs typeface="+mn-cs"/>
            </a:endParaRPr>
          </a:p>
          <a:p>
            <a:pPr>
              <a:defRPr/>
            </a:pPr>
            <a:r>
              <a:rPr lang="en-US" altLang="zh-CN" sz="2000" dirty="0"/>
              <a:t>Step 2: Set any desired parsing options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Some behaviors of the parser can be altered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All available features and properties are shown later</a:t>
            </a:r>
          </a:p>
          <a:p>
            <a:pPr marL="0" indent="0">
              <a:buNone/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Step 3: Create a JAXP SAX parser from the factory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Multiple parsers can be generated from a single factory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Step 4: Get an encapsulated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XMLReader</a:t>
            </a:r>
            <a:r>
              <a:rPr lang="en-US" altLang="zh-CN" sz="2000" dirty="0"/>
              <a:t> from the parser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Returns an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XMLReader</a:t>
            </a:r>
            <a:r>
              <a:rPr lang="en-US" altLang="zh-CN" sz="1800" dirty="0">
                <a:cs typeface="+mn-cs"/>
              </a:rPr>
              <a:t> from the implementation class</a:t>
            </a:r>
            <a:endParaRPr lang="zh-CN" altLang="en-US" sz="1800" dirty="0"/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11D3C413-20F3-4152-A381-325A824B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6</a:t>
            </a:fld>
            <a:endParaRPr lang="en-US" altLang="zh-CN" sz="1000"/>
          </a:p>
        </p:txBody>
      </p:sp>
      <p:pic>
        <p:nvPicPr>
          <p:cNvPr id="14341" name="Picture 3">
            <a:extLst>
              <a:ext uri="{FF2B5EF4-FFF2-40B4-BE49-F238E27FC236}">
                <a16:creationId xmlns:a16="http://schemas.microsoft.com/office/drawing/2014/main" id="{CA9FAA55-E1BF-4B3A-B1A4-6E757182F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78871"/>
            <a:ext cx="80010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5">
            <a:extLst>
              <a:ext uri="{FF2B5EF4-FFF2-40B4-BE49-F238E27FC236}">
                <a16:creationId xmlns:a16="http://schemas.microsoft.com/office/drawing/2014/main" id="{680F4669-0BAD-40D3-BA19-C69D6D2B7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08413"/>
            <a:ext cx="77724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6">
            <a:extLst>
              <a:ext uri="{FF2B5EF4-FFF2-40B4-BE49-F238E27FC236}">
                <a16:creationId xmlns:a16="http://schemas.microsoft.com/office/drawing/2014/main" id="{87A63EDC-C205-4CE3-8294-2421F5E57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823618"/>
            <a:ext cx="800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7">
            <a:extLst>
              <a:ext uri="{FF2B5EF4-FFF2-40B4-BE49-F238E27FC236}">
                <a16:creationId xmlns:a16="http://schemas.microsoft.com/office/drawing/2014/main" id="{1F62DA31-B942-40FF-B60C-EFC6157DC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5958586"/>
            <a:ext cx="76962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8B74B755-B93B-4E12-8C9F-989AD7C0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Parser Creation: Seven Steps (2/2)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8E8BB-87BD-45DD-91CA-6B71FD44E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967063"/>
          </a:xfrm>
        </p:spPr>
        <p:txBody>
          <a:bodyPr>
            <a:normAutofit/>
          </a:bodyPr>
          <a:lstStyle/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Step 5: Create and register a Content Handler class</a:t>
            </a:r>
          </a:p>
          <a:p>
            <a:pPr lvl="1">
              <a:defRPr/>
            </a:pPr>
            <a:r>
              <a:rPr lang="en-US" altLang="zh-CN" sz="1800" dirty="0"/>
              <a:t>Custom class that handles all normal events received from the parser</a:t>
            </a:r>
          </a:p>
          <a:p>
            <a:pPr lvl="1">
              <a:defRPr/>
            </a:pPr>
            <a:endParaRPr lang="en-US" altLang="zh-CN" sz="1800" dirty="0"/>
          </a:p>
          <a:p>
            <a:pPr lvl="1">
              <a:defRPr/>
            </a:pPr>
            <a:endParaRPr lang="en-US" altLang="zh-CN" sz="1800" dirty="0"/>
          </a:p>
          <a:p>
            <a:pPr>
              <a:defRPr/>
            </a:pPr>
            <a:r>
              <a:rPr lang="en-US" altLang="zh-CN" sz="2000" dirty="0"/>
              <a:t>Step 6: Create and register an Error Handler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Custom class that deals with parsing errors.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Step 7: Begin the parsing process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A simple call to 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parse() </a:t>
            </a:r>
            <a:r>
              <a:rPr lang="en-US" altLang="zh-CN" sz="1800" dirty="0">
                <a:cs typeface="+mn-cs"/>
              </a:rPr>
              <a:t>is all it takes to begin the entire process</a:t>
            </a:r>
            <a:endParaRPr lang="zh-CN" altLang="en-US" sz="1800" dirty="0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50C504AA-E83A-41F4-A879-F81710C0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7</a:t>
            </a:fld>
            <a:endParaRPr lang="en-US" altLang="zh-CN" sz="1000"/>
          </a:p>
        </p:txBody>
      </p:sp>
      <p:pic>
        <p:nvPicPr>
          <p:cNvPr id="16389" name="Picture 3">
            <a:extLst>
              <a:ext uri="{FF2B5EF4-FFF2-40B4-BE49-F238E27FC236}">
                <a16:creationId xmlns:a16="http://schemas.microsoft.com/office/drawing/2014/main" id="{3B819DBD-D5ED-4371-B51E-2DDA08A4F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2757055"/>
            <a:ext cx="7772400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4">
            <a:extLst>
              <a:ext uri="{FF2B5EF4-FFF2-40B4-BE49-F238E27FC236}">
                <a16:creationId xmlns:a16="http://schemas.microsoft.com/office/drawing/2014/main" id="{B2EEF473-268D-4CDB-876D-D1E68D6A8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078071"/>
            <a:ext cx="76962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5">
            <a:extLst>
              <a:ext uri="{FF2B5EF4-FFF2-40B4-BE49-F238E27FC236}">
                <a16:creationId xmlns:a16="http://schemas.microsoft.com/office/drawing/2014/main" id="{83FFFBF5-23A5-40F0-BD1E-05E39E200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5391150"/>
            <a:ext cx="7848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A0A84-1B83-4EA0-8F57-B0D65DFB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 err="1"/>
              <a:t>Overridable</a:t>
            </a:r>
            <a:r>
              <a:rPr lang="en-US" altLang="zh-CN" dirty="0"/>
              <a:t> Methods in </a:t>
            </a:r>
            <a:r>
              <a:rPr lang="en-US" altLang="zh-CN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DefaultHandler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35" name="灯片编号占位符 3">
            <a:extLst>
              <a:ext uri="{FF2B5EF4-FFF2-40B4-BE49-F238E27FC236}">
                <a16:creationId xmlns:a16="http://schemas.microsoft.com/office/drawing/2014/main" id="{E1BD1467-7CAA-4DFC-AC21-0A10C9BD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8</a:t>
            </a:fld>
            <a:endParaRPr lang="en-US" altLang="zh-CN" sz="1000"/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B73BAE1-7B93-4C42-8E04-DE3E9807D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7" y="1066800"/>
            <a:ext cx="7210425" cy="531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D58DD271-8251-407B-90DA-C950670E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 Handler: Other Methods</a:t>
            </a:r>
            <a:endParaRPr lang="zh-CN" altLang="en-US"/>
          </a:p>
        </p:txBody>
      </p:sp>
      <p:sp>
        <p:nvSpPr>
          <p:cNvPr id="20483" name="灯片编号占位符 3">
            <a:extLst>
              <a:ext uri="{FF2B5EF4-FFF2-40B4-BE49-F238E27FC236}">
                <a16:creationId xmlns:a16="http://schemas.microsoft.com/office/drawing/2014/main" id="{3DB678A5-1C7C-42F0-97D0-2365E551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9</a:t>
            </a:fld>
            <a:endParaRPr lang="en-US" altLang="zh-CN" sz="1000"/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7B6188DD-DF9E-444E-A42C-36DCD039A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681163"/>
            <a:ext cx="6629400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9B23EFF5-5440-4EE8-8AD9-FBEB036E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Handling Errors during Parsing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BEDBB3-24FD-4D3C-8AD8-EF97F8C57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6447"/>
            <a:ext cx="8229600" cy="21510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000" dirty="0"/>
              <a:t>Create a customer Error Handling class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Implement the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org.xml.sax.ErrorHandler</a:t>
            </a:r>
            <a:r>
              <a:rPr lang="en-US" altLang="zh-CN" sz="1800" b="1" dirty="0">
                <a:cs typeface="+mn-cs"/>
              </a:rPr>
              <a:t> </a:t>
            </a:r>
            <a:r>
              <a:rPr lang="en-US" altLang="zh-CN" sz="1800" dirty="0">
                <a:cs typeface="+mn-cs"/>
              </a:rPr>
              <a:t>Interface</a:t>
            </a:r>
            <a:endParaRPr lang="en-US" altLang="zh-CN" sz="1800" b="1" dirty="0">
              <a:cs typeface="+mn-cs"/>
            </a:endParaRP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Inform parser with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xmlRdrInstance.setErrorHandler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defRPr/>
            </a:pPr>
            <a:r>
              <a:rPr lang="en-US" altLang="zh-CN" sz="2000" dirty="0"/>
              <a:t>Default behavior is to take no action on most errors</a:t>
            </a:r>
          </a:p>
          <a:p>
            <a:pPr lvl="1">
              <a:defRPr/>
            </a:pPr>
            <a:r>
              <a:rPr lang="en-US" altLang="zh-CN" sz="1800" dirty="0">
                <a:cs typeface="+mn-cs"/>
              </a:rPr>
              <a:t>Not a desirable feature in an application</a:t>
            </a:r>
          </a:p>
          <a:p>
            <a:pPr>
              <a:defRPr/>
            </a:pPr>
            <a:r>
              <a:rPr lang="en-US" altLang="zh-CN" sz="2000" dirty="0"/>
              <a:t>Provide custom actions for the three error conditions</a:t>
            </a:r>
            <a:endParaRPr lang="zh-CN" altLang="en-US" sz="2000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FE091D7D-2481-4AA0-BF13-A07FC777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10</a:t>
            </a:fld>
            <a:endParaRPr lang="en-US" altLang="zh-CN" sz="1000"/>
          </a:p>
        </p:txBody>
      </p:sp>
      <p:pic>
        <p:nvPicPr>
          <p:cNvPr id="22533" name="Picture 2">
            <a:extLst>
              <a:ext uri="{FF2B5EF4-FFF2-40B4-BE49-F238E27FC236}">
                <a16:creationId xmlns:a16="http://schemas.microsoft.com/office/drawing/2014/main" id="{A99776EB-421F-4183-B522-EB386E275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429000"/>
            <a:ext cx="7239000" cy="295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825AFAC8-7249-4CC4-8942-EA317493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Maintaining State in SAX Programs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D4553A-BBEF-4C1C-9804-CB2E63D9D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/>
              <a:t>In most SAX applications, you need to track the state of the parsing process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The current element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The current element's parent and grandparents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Count of sibling elements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Any siblings that have already been seen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/>
              <a:t>The application must be aware of the XML structure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Enforced with a validating parser and the DTD/Schema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/>
              <a:t>Common methods for tracking application state are: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Integer constants representing element levels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LIFO buffer to push and pop element names as they are started and ended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800" dirty="0">
                <a:cs typeface="+mn-cs"/>
              </a:rPr>
              <a:t>Hierarchical class structure (Build your own DOM)</a:t>
            </a:r>
            <a:endParaRPr lang="zh-CN" altLang="en-US" sz="1800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C6CC964C-6215-442D-AB41-BDCD5685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DA4B1-3738-4698-AA8C-8B49488E8870}" type="slidenum">
              <a:rPr lang="en-US" altLang="zh-CN" smtClean="0"/>
              <a:pPr/>
              <a:t>11</a:t>
            </a:fld>
            <a:endParaRPr lang="en-US" alt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4490</TotalTime>
  <Words>605</Words>
  <Application>Microsoft Office PowerPoint</Application>
  <PresentationFormat>全屏显示(4:3)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Verdana</vt:lpstr>
      <vt:lpstr>Wingdings</vt:lpstr>
      <vt:lpstr>software</vt:lpstr>
      <vt:lpstr>SAX Parser Service-Oriented Software Engineering</vt:lpstr>
      <vt:lpstr>SAX Basics</vt:lpstr>
      <vt:lpstr>When to Use SAX</vt:lpstr>
      <vt:lpstr>SAX Event Timeline</vt:lpstr>
      <vt:lpstr>Structure of a SAX Application</vt:lpstr>
      <vt:lpstr>Parser Creation: Seven Steps (1/2)</vt:lpstr>
      <vt:lpstr>Parser Creation: Seven Steps (2/2)</vt:lpstr>
      <vt:lpstr>Overridable Methods in DefaultHandler</vt:lpstr>
      <vt:lpstr>Content Handler: Other Methods</vt:lpstr>
      <vt:lpstr>Handling Errors during Parsing</vt:lpstr>
      <vt:lpstr>Maintaining State in SAX Programs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beijia</dc:creator>
  <cp:lastModifiedBy>jia bei</cp:lastModifiedBy>
  <cp:revision>144</cp:revision>
  <cp:lastPrinted>1601-01-01T00:00:00Z</cp:lastPrinted>
  <dcterms:created xsi:type="dcterms:W3CDTF">1601-01-01T00:00:00Z</dcterms:created>
  <dcterms:modified xsi:type="dcterms:W3CDTF">2023-10-12T03:41:31Z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