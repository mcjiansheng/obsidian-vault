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42"/>
  </p:notesMasterIdLst>
  <p:sldIdLst>
    <p:sldId id="256" r:id="rId2"/>
    <p:sldId id="314" r:id="rId3"/>
    <p:sldId id="315" r:id="rId4"/>
    <p:sldId id="316" r:id="rId5"/>
    <p:sldId id="318" r:id="rId6"/>
    <p:sldId id="320" r:id="rId7"/>
    <p:sldId id="321" r:id="rId8"/>
    <p:sldId id="322" r:id="rId9"/>
    <p:sldId id="502" r:id="rId10"/>
    <p:sldId id="323" r:id="rId11"/>
    <p:sldId id="501" r:id="rId12"/>
    <p:sldId id="489" r:id="rId13"/>
    <p:sldId id="371" r:id="rId14"/>
    <p:sldId id="466" r:id="rId15"/>
    <p:sldId id="373" r:id="rId16"/>
    <p:sldId id="468" r:id="rId17"/>
    <p:sldId id="374" r:id="rId18"/>
    <p:sldId id="324" r:id="rId19"/>
    <p:sldId id="327" r:id="rId20"/>
    <p:sldId id="328" r:id="rId21"/>
    <p:sldId id="329" r:id="rId22"/>
    <p:sldId id="330" r:id="rId23"/>
    <p:sldId id="331" r:id="rId24"/>
    <p:sldId id="332" r:id="rId25"/>
    <p:sldId id="333" r:id="rId26"/>
    <p:sldId id="376" r:id="rId27"/>
    <p:sldId id="498" r:id="rId28"/>
    <p:sldId id="469" r:id="rId29"/>
    <p:sldId id="379" r:id="rId30"/>
    <p:sldId id="470" r:id="rId31"/>
    <p:sldId id="503" r:id="rId32"/>
    <p:sldId id="380" r:id="rId33"/>
    <p:sldId id="381" r:id="rId34"/>
    <p:sldId id="471" r:id="rId35"/>
    <p:sldId id="472" r:id="rId36"/>
    <p:sldId id="382" r:id="rId37"/>
    <p:sldId id="383" r:id="rId38"/>
    <p:sldId id="384" r:id="rId39"/>
    <p:sldId id="473" r:id="rId40"/>
    <p:sldId id="334" r:id="rId4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3" autoAdjust="0"/>
    <p:restoredTop sz="94639" autoAdjust="0"/>
  </p:normalViewPr>
  <p:slideViewPr>
    <p:cSldViewPr>
      <p:cViewPr varScale="1">
        <p:scale>
          <a:sx n="109" d="100"/>
          <a:sy n="109" d="100"/>
        </p:scale>
        <p:origin x="1749"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2262B14-ADD9-4EF4-8894-95364EC9DDD0}" type="slidenum">
              <a:rPr lang="en-US" altLang="zh-CN"/>
              <a:pPr>
                <a:defRPr/>
              </a:pPr>
              <a:t>‹#›</a:t>
            </a:fld>
            <a:endParaRPr lang="en-US" altLang="zh-CN"/>
          </a:p>
        </p:txBody>
      </p:sp>
    </p:spTree>
    <p:extLst>
      <p:ext uri="{BB962C8B-B14F-4D97-AF65-F5344CB8AC3E}">
        <p14:creationId xmlns:p14="http://schemas.microsoft.com/office/powerpoint/2010/main" val="1346057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73E74F-837B-4786-B3B6-E0D8EFDAEAC0}" type="slidenum">
              <a:rPr lang="en-US" altLang="zh-CN" smtClean="0"/>
              <a:pPr eaLnBrk="1" hangingPunct="1"/>
              <a:t>1</a:t>
            </a:fld>
            <a:endParaRPr lang="en-US" altLang="zh-CN"/>
          </a:p>
        </p:txBody>
      </p:sp>
    </p:spTree>
    <p:extLst>
      <p:ext uri="{BB962C8B-B14F-4D97-AF65-F5344CB8AC3E}">
        <p14:creationId xmlns:p14="http://schemas.microsoft.com/office/powerpoint/2010/main" val="396052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722DED4B-AB72-47FA-BE73-8D638EBA3A7F}"/>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29DB1829-CA76-4466-B04E-EB03D23D3D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15EF73B0-88F8-458D-AE27-9538A561385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5F15578-61D2-4793-9A4D-62B4A9540982}" type="slidenum">
              <a:rPr lang="en-US" altLang="zh-CN"/>
              <a:pPr>
                <a:spcBef>
                  <a:spcPct val="0"/>
                </a:spcBef>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B8309968-57BC-413F-9CF3-4C55C9CB3AA2}"/>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7A59CB83-C9C2-4012-9D11-5852F4D96A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034F5878-58FA-458D-8C4F-7954FEF192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3751614-5D22-48F6-AE97-DB1DE864587F}" type="slidenum">
              <a:rPr lang="en-US" altLang="zh-CN"/>
              <a:pPr>
                <a:spcBef>
                  <a:spcPct val="0"/>
                </a:spcBef>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50CAA7F6-9D93-40E8-B5A1-C39F51F6AF40}"/>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C52A1089-C27F-4899-AB07-BDE02DBE94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7574F5EF-73BD-4C12-B68A-A088887608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D7273DF-8B33-4C29-90EA-BB0C7F5962AE}" type="slidenum">
              <a:rPr lang="en-US" altLang="zh-CN"/>
              <a:pPr>
                <a:spcBef>
                  <a:spcPct val="0"/>
                </a:spcBef>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C3175FFD-ED9C-4566-8E6D-156AD64A15DA}"/>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85CE6EEE-4469-471A-8D65-76BE59B970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EF625323-711B-4F41-97D9-B647B037AF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FEA151A-0160-4F67-83A5-07283111990F}" type="slidenum">
              <a:rPr lang="en-US" altLang="zh-CN"/>
              <a:pPr>
                <a:spcBef>
                  <a:spcPct val="0"/>
                </a:spcBef>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EC4D3465-27DF-4FCC-A2C1-5625A79B95B5}"/>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5A074806-62F9-4D61-906A-01E3CE0458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C33E21CF-0A7A-45CC-83DD-ED324386E9F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7DD3C6E-9B69-4F5E-A00B-38D16AFF4E81}" type="slidenum">
              <a:rPr lang="en-US" altLang="zh-CN"/>
              <a:pPr>
                <a:spcBef>
                  <a:spcPct val="0"/>
                </a:spcBef>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534CE9D4-6455-4B4F-9AD4-C5892FEDE3B1}"/>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1CF6CE0E-4514-46FC-8140-172808CAD04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19E82ED5-46D1-457F-A09C-21295D65EF6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8D12F1B-43BA-4292-B52E-E20DB0A8413E}" type="slidenum">
              <a:rPr lang="en-US" altLang="zh-CN"/>
              <a:pPr>
                <a:spcBef>
                  <a:spcPct val="0"/>
                </a:spcBef>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00AA6393-4D80-4843-B1E8-DD17B5AF85BD}"/>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61C99A6F-356E-48E0-AE78-8B7B4D5C55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61283B23-910C-48AC-82BD-02AF76DEB8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EA16414-96E7-4A15-8DE1-7EA270E5A0B6}" type="slidenum">
              <a:rPr lang="en-US" altLang="zh-CN"/>
              <a:pPr>
                <a:spcBef>
                  <a:spcPct val="0"/>
                </a:spcBef>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BC4BC8A9-76C3-45BE-8EB7-597027D934A8}"/>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247C40AE-C4D0-4A53-AF42-714C1F918B5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96F66790-3BB2-4885-853B-27F4999DF4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2966BC2-0BA4-4262-9459-C322DD385F72}" type="slidenum">
              <a:rPr lang="en-US" altLang="zh-CN"/>
              <a:pPr>
                <a:spcBef>
                  <a:spcPct val="0"/>
                </a:spcBef>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731E35F9-98CB-4E84-9886-436317766232}"/>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C35862C8-DABA-4FD8-8F86-1AAB1B1062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6ACD273A-C6B4-4288-9215-3EBD5A53C4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1107784-DAF0-42CA-94C8-7337B7FEC023}" type="slidenum">
              <a:rPr lang="en-US" altLang="zh-CN"/>
              <a:pPr>
                <a:spcBef>
                  <a:spcPct val="0"/>
                </a:spcBef>
              </a:pPr>
              <a:t>10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54DAC6B8-EF0F-4AB6-867E-6FDB9F17159A}"/>
              </a:ext>
            </a:extLst>
          </p:cNvPr>
          <p:cNvSpPr>
            <a:spLocks noGrp="1" noRot="1" noChangeAspect="1" noTextEdit="1"/>
          </p:cNvSpPr>
          <p:nvPr>
            <p:ph type="sldImg"/>
          </p:nvPr>
        </p:nvSpPr>
        <p:spPr>
          <a:ln/>
        </p:spPr>
      </p:sp>
      <p:sp>
        <p:nvSpPr>
          <p:cNvPr id="40963" name="备注占位符 2">
            <a:extLst>
              <a:ext uri="{FF2B5EF4-FFF2-40B4-BE49-F238E27FC236}">
                <a16:creationId xmlns:a16="http://schemas.microsoft.com/office/drawing/2014/main" id="{565E8F6D-1B69-46CF-A745-35422ECCB8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0964" name="灯片编号占位符 3">
            <a:extLst>
              <a:ext uri="{FF2B5EF4-FFF2-40B4-BE49-F238E27FC236}">
                <a16:creationId xmlns:a16="http://schemas.microsoft.com/office/drawing/2014/main" id="{49522481-48F7-4AF4-8C71-2E4D6169B7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E645530-AFD2-404F-BF55-3FCD90CB1D2C}" type="slidenum">
              <a:rPr lang="en-US" altLang="zh-CN"/>
              <a:pPr>
                <a:spcBef>
                  <a:spcPct val="0"/>
                </a:spcBef>
              </a:pPr>
              <a:t>11</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AC990B55-2585-4820-A9F3-CB1438612F86}"/>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47ADAF9B-E805-49F7-91EA-4752D534F9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EE3AF4A6-BC83-4AB0-8109-FFB2BF6435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CF05AEF-4583-47BF-BBBF-C2B37A8568EF}" type="slidenum">
              <a:rPr lang="en-US" altLang="zh-CN"/>
              <a:pPr>
                <a:spcBef>
                  <a:spcPct val="0"/>
                </a:spcBef>
              </a:pPr>
              <a:t>13</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01DFAD2A-90C4-4F61-8FCB-EA7C2622F79E}"/>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835F8F09-B175-47E1-B4DF-2045490E88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70D5F1F5-6C92-495A-AB04-AF231FD2359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99A6205-4B58-4DB7-BEAB-C15369F755DB}" type="slidenum">
              <a:rPr lang="en-US" altLang="zh-CN"/>
              <a:pPr>
                <a:spcBef>
                  <a:spcPct val="0"/>
                </a:spcBef>
              </a:pPr>
              <a:t>14</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8EBA977C-D6AD-4A0B-9A89-594CE5435397}"/>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59ED27D4-6550-4BC6-A9A1-6D40C9A79A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7E625E8A-1AB5-4A90-9C8C-8BFF02F767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4F173DD-2851-4962-A6F2-4A0C0B9784FF}" type="slidenum">
              <a:rPr lang="en-US" altLang="zh-CN"/>
              <a:pPr>
                <a:spcBef>
                  <a:spcPct val="0"/>
                </a:spcBef>
              </a:pPr>
              <a:t>15</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E80B8C39-0996-4CB2-916C-0D81F0B2ABFB}"/>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2DB9E6CB-4898-43C6-BE6F-4D1BAD4FFC6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F1CDE26B-185E-4AA2-A449-DB7AF651F40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60E3B21-1627-432A-A69B-3F79F7CC5D7D}" type="slidenum">
              <a:rPr lang="en-US" altLang="zh-CN"/>
              <a:pPr>
                <a:spcBef>
                  <a:spcPct val="0"/>
                </a:spcBef>
              </a:pPr>
              <a:t>16</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774D6882-2AEA-4E8C-B190-3060E96791F4}"/>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76E42038-D1B8-4B90-ADCF-B46A7442E9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CEDB679C-B52D-41F2-8B5C-108E87FBF2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E9A8F66-587A-47F0-9C18-C8D54601A69C}" type="slidenum">
              <a:rPr lang="en-US" altLang="zh-CN"/>
              <a:pPr>
                <a:spcBef>
                  <a:spcPct val="0"/>
                </a:spcBef>
              </a:pPr>
              <a:t>17</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30C70FA4-B31B-4777-9226-C8DC87F81976}"/>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163D0249-EA87-48DB-B70B-FE6CE13BA1F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307D5750-6C5C-4012-8360-9122612C9C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5131919-863A-4331-9182-6E09A474710A}" type="slidenum">
              <a:rPr lang="en-US" altLang="zh-CN"/>
              <a:pPr>
                <a:spcBef>
                  <a:spcPct val="0"/>
                </a:spcBef>
              </a:pPr>
              <a:t>18</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308379F6-61DF-43DD-A8F1-A40E960EDD0A}"/>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7A628868-30CA-4A4E-9DB3-8287BE22FF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FF6A3A2E-CA00-4657-A999-598746463B9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F4A0791-86C4-4E57-B2AA-56B73B98A06A}" type="slidenum">
              <a:rPr lang="en-US" altLang="zh-CN"/>
              <a:pPr>
                <a:spcBef>
                  <a:spcPct val="0"/>
                </a:spcBef>
              </a:pPr>
              <a:t>19</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F9A7E48C-DF9C-4F5F-8688-1C993B2BB31B}"/>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3EFDCE5E-2315-4D08-8EA8-2396ED8BB9E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BFE1609E-E176-4EF3-B525-F537C9FA8FC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58A1DBC-BE92-454C-A09A-4A5529F1F40C}" type="slidenum">
              <a:rPr lang="en-US" altLang="zh-CN"/>
              <a:pPr>
                <a:spcBef>
                  <a:spcPct val="0"/>
                </a:spcBef>
              </a:pPr>
              <a:t>20</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9A7B6BCC-FFAC-4086-B86B-64023216F0A9}"/>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1822CE46-9D8D-49B9-BEB2-DFF4DF5472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CCD622BC-658B-419E-A1C2-731959C5C0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031BB2-7A34-4246-916E-6B6A87824327}" type="slidenum">
              <a:rPr lang="en-US" altLang="zh-CN"/>
              <a:pPr>
                <a:spcBef>
                  <a:spcPct val="0"/>
                </a:spcBef>
              </a:pPr>
              <a:t>21</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FB599DA1-3BBE-4354-BAF8-5BD704EF1065}"/>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F890634D-8E9A-4FFF-A033-FFA8FAD0521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5DBEC748-7277-4AEB-ADA6-7787482CC8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CE20BEA-FC05-4922-A02A-C167A35DE93F}" type="slidenum">
              <a:rPr lang="en-US" altLang="zh-CN"/>
              <a:pPr>
                <a:spcBef>
                  <a:spcPct val="0"/>
                </a:spcBef>
              </a:pPr>
              <a:t>22</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2A6297C3-6D4B-4DDD-8D9E-71D01F4F6A95}"/>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9CF4C983-EA7F-432A-B81A-0984C3A88A5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C951A657-331B-4A9B-B938-350F1DDAD4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FDEC0EB-D7F2-4B3A-B5CA-0FD65A283036}" type="slidenum">
              <a:rPr lang="en-US" altLang="zh-CN"/>
              <a:pPr>
                <a:spcBef>
                  <a:spcPct val="0"/>
                </a:spcBef>
              </a:pPr>
              <a:t>23</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7E770BCF-681A-48C5-B17D-6B0980CDBAB4}"/>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B44FE4D4-3241-44D7-8CB7-71DB42BC76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6E90E6A6-D40D-49CE-A534-7FE1E37B8D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3AEA425-AD77-4D56-BE32-95BC6EB2FF75}" type="slidenum">
              <a:rPr lang="en-US" altLang="zh-CN"/>
              <a:pPr>
                <a:spcBef>
                  <a:spcPct val="0"/>
                </a:spcBef>
              </a:pPr>
              <a:t>24</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BB3E0C7B-ED42-4A89-9E30-242AFEBE2C2A}"/>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832ADDB7-2856-4AB7-ABEB-76F7FA2AF2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91CD0D03-68AA-4DCC-987A-C74F09130A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80B5FAB-8157-480B-B655-1D08BCEB10EC}" type="slidenum">
              <a:rPr lang="en-US" altLang="zh-CN"/>
              <a:pPr>
                <a:spcBef>
                  <a:spcPct val="0"/>
                </a:spcBef>
              </a:pPr>
              <a:t>25</a:t>
            </a:fld>
            <a:endParaRPr lang="en-US" altLang="zh-CN"/>
          </a:p>
        </p:txBody>
      </p:sp>
    </p:spTree>
    <p:extLst>
      <p:ext uri="{BB962C8B-B14F-4D97-AF65-F5344CB8AC3E}">
        <p14:creationId xmlns:p14="http://schemas.microsoft.com/office/powerpoint/2010/main" val="3927465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EF452FD7-22A2-41C6-ADF8-09A8DE683771}"/>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49DB329E-FC39-4984-B029-ACFC58C18D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25111448-2BC2-4E1F-BB83-53A008AFB5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7B2BA1D-4D50-480B-9DA8-9B21B375279F}" type="slidenum">
              <a:rPr lang="en-US" altLang="zh-CN"/>
              <a:pPr>
                <a:spcBef>
                  <a:spcPct val="0"/>
                </a:spcBef>
              </a:pPr>
              <a:t>26</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225E939C-1DBD-4EEF-B603-ADC6242A27E2}"/>
              </a:ext>
            </a:extLst>
          </p:cNvPr>
          <p:cNvSpPr>
            <a:spLocks noGrp="1" noRot="1" noChangeAspect="1" noTextEdit="1"/>
          </p:cNvSpPr>
          <p:nvPr>
            <p:ph type="sldImg"/>
          </p:nvPr>
        </p:nvSpPr>
        <p:spPr>
          <a:ln/>
        </p:spPr>
      </p:sp>
      <p:sp>
        <p:nvSpPr>
          <p:cNvPr id="25603" name="备注占位符 2">
            <a:extLst>
              <a:ext uri="{FF2B5EF4-FFF2-40B4-BE49-F238E27FC236}">
                <a16:creationId xmlns:a16="http://schemas.microsoft.com/office/drawing/2014/main" id="{BA4503FF-0FA0-4CB8-942E-FFFE34B1DE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5604" name="灯片编号占位符 3">
            <a:extLst>
              <a:ext uri="{FF2B5EF4-FFF2-40B4-BE49-F238E27FC236}">
                <a16:creationId xmlns:a16="http://schemas.microsoft.com/office/drawing/2014/main" id="{78347401-EC21-41D4-BAC0-2E402D64B29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6B01F3-50DF-4A12-B7CF-C0167AD2CB31}" type="slidenum">
              <a:rPr lang="en-US" altLang="zh-CN"/>
              <a:pPr>
                <a:spcBef>
                  <a:spcPct val="0"/>
                </a:spcBef>
              </a:pPr>
              <a:t>28</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B3D57253-ADCE-4C3F-9DE7-E3436FB85A5B}"/>
              </a:ext>
            </a:extLst>
          </p:cNvPr>
          <p:cNvSpPr>
            <a:spLocks noGrp="1" noRot="1" noChangeAspect="1" noTextEdit="1"/>
          </p:cNvSpPr>
          <p:nvPr>
            <p:ph type="sldImg"/>
          </p:nvPr>
        </p:nvSpPr>
        <p:spPr>
          <a:ln/>
        </p:spPr>
      </p:sp>
      <p:sp>
        <p:nvSpPr>
          <p:cNvPr id="27651" name="备注占位符 2">
            <a:extLst>
              <a:ext uri="{FF2B5EF4-FFF2-40B4-BE49-F238E27FC236}">
                <a16:creationId xmlns:a16="http://schemas.microsoft.com/office/drawing/2014/main" id="{63369FBE-CF23-4872-A04C-95E26973D5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7652" name="灯片编号占位符 3">
            <a:extLst>
              <a:ext uri="{FF2B5EF4-FFF2-40B4-BE49-F238E27FC236}">
                <a16:creationId xmlns:a16="http://schemas.microsoft.com/office/drawing/2014/main" id="{9EE4EFE3-0329-4CFA-BA1B-CCB97F48E76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81F0D59-AECF-4942-BD42-1FCFE534A597}" type="slidenum">
              <a:rPr lang="en-US" altLang="zh-CN"/>
              <a:pPr>
                <a:spcBef>
                  <a:spcPct val="0"/>
                </a:spcBef>
              </a:pPr>
              <a:t>29</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888E0102-D101-40E6-978D-462B6CBE8119}"/>
              </a:ext>
            </a:extLst>
          </p:cNvPr>
          <p:cNvSpPr>
            <a:spLocks noGrp="1" noRot="1" noChangeAspect="1" noTextEdit="1"/>
          </p:cNvSpPr>
          <p:nvPr>
            <p:ph type="sldImg"/>
          </p:nvPr>
        </p:nvSpPr>
        <p:spPr>
          <a:ln/>
        </p:spPr>
      </p:sp>
      <p:sp>
        <p:nvSpPr>
          <p:cNvPr id="29699" name="备注占位符 2">
            <a:extLst>
              <a:ext uri="{FF2B5EF4-FFF2-40B4-BE49-F238E27FC236}">
                <a16:creationId xmlns:a16="http://schemas.microsoft.com/office/drawing/2014/main" id="{6CFA3ADF-0E19-49DA-A768-3A3220C9C2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9700" name="灯片编号占位符 3">
            <a:extLst>
              <a:ext uri="{FF2B5EF4-FFF2-40B4-BE49-F238E27FC236}">
                <a16:creationId xmlns:a16="http://schemas.microsoft.com/office/drawing/2014/main" id="{89B755D0-7EDD-490C-82E5-D0AB701576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588A934-A305-40BD-8871-B5A1A9A004E1}" type="slidenum">
              <a:rPr lang="en-US" altLang="zh-CN"/>
              <a:pPr>
                <a:spcBef>
                  <a:spcPct val="0"/>
                </a:spcBef>
              </a:pPr>
              <a:t>30</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5BAB225D-0E3F-430D-A5B5-0F8725F5164A}"/>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555D476C-1874-4B9E-89DA-C99A5BF97A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A95EB74F-A359-4009-B264-7186E0B42C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0347EF8-C310-477D-97B0-C4F6B8F869B0}" type="slidenum">
              <a:rPr lang="en-US" altLang="zh-CN"/>
              <a:pPr>
                <a:spcBef>
                  <a:spcPct val="0"/>
                </a:spcBef>
              </a:pPr>
              <a:t>32</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84CE12B7-F308-450F-A0C4-443158F09CA8}"/>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A6FB4A70-3677-4039-A862-1EAEF44686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BE9898B4-96E0-4FB6-9D1F-796A609A13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8B033B7-D664-4938-9771-8B84E61B3CDC}" type="slidenum">
              <a:rPr lang="en-US" altLang="zh-CN"/>
              <a:pPr>
                <a:spcBef>
                  <a:spcPct val="0"/>
                </a:spcBef>
              </a:pPr>
              <a:t>33</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C41E7A16-C791-41A7-8A86-EBFD06E429A6}"/>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428BB82E-5CB7-4146-B37B-BE629E9106A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EC604A35-B336-41BF-80C6-26B60DE56F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DA4B36F-9516-403F-854D-95B287ADBEE7}" type="slidenum">
              <a:rPr lang="en-US" altLang="zh-CN"/>
              <a:pPr>
                <a:spcBef>
                  <a:spcPct val="0"/>
                </a:spcBef>
              </a:pPr>
              <a:t>34</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698A14C9-1654-410D-B84D-A8A7952C849B}"/>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C6DD737A-D2DB-48BD-8F94-8851AA4BC8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B8595710-2E40-48CD-8774-E15C7C01904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A03B105-A6AC-4490-A193-4FE85BCD7CCF}" type="slidenum">
              <a:rPr lang="en-US" altLang="zh-CN"/>
              <a:pPr>
                <a:spcBef>
                  <a:spcPct val="0"/>
                </a:spcBef>
              </a:pPr>
              <a:t>35</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CA95F090-4E61-4B0B-8A7F-129035B4C9A1}"/>
              </a:ext>
            </a:extLst>
          </p:cNvPr>
          <p:cNvSpPr>
            <a:spLocks noGrp="1" noRot="1" noChangeAspect="1" noTextEdit="1"/>
          </p:cNvSpPr>
          <p:nvPr>
            <p:ph type="sldImg"/>
          </p:nvPr>
        </p:nvSpPr>
        <p:spPr>
          <a:ln/>
        </p:spPr>
      </p:sp>
      <p:sp>
        <p:nvSpPr>
          <p:cNvPr id="40963" name="备注占位符 2">
            <a:extLst>
              <a:ext uri="{FF2B5EF4-FFF2-40B4-BE49-F238E27FC236}">
                <a16:creationId xmlns:a16="http://schemas.microsoft.com/office/drawing/2014/main" id="{710A51BF-5449-4B31-8C83-4E56D4730D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0964" name="灯片编号占位符 3">
            <a:extLst>
              <a:ext uri="{FF2B5EF4-FFF2-40B4-BE49-F238E27FC236}">
                <a16:creationId xmlns:a16="http://schemas.microsoft.com/office/drawing/2014/main" id="{B4A81FF9-6A6A-471B-8977-E3F2350274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47A5F27-05EA-4E0E-9EBE-C3A3D15F636A}" type="slidenum">
              <a:rPr lang="en-US" altLang="zh-CN"/>
              <a:pPr>
                <a:spcBef>
                  <a:spcPct val="0"/>
                </a:spcBef>
              </a:pPr>
              <a:t>36</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154DAD5F-A732-49F8-89C6-093C9AFA1A26}"/>
              </a:ext>
            </a:extLst>
          </p:cNvPr>
          <p:cNvSpPr>
            <a:spLocks noGrp="1" noRot="1" noChangeAspect="1" noTextEdit="1"/>
          </p:cNvSpPr>
          <p:nvPr>
            <p:ph type="sldImg"/>
          </p:nvPr>
        </p:nvSpPr>
        <p:spPr>
          <a:ln/>
        </p:spPr>
      </p:sp>
      <p:sp>
        <p:nvSpPr>
          <p:cNvPr id="43011" name="备注占位符 2">
            <a:extLst>
              <a:ext uri="{FF2B5EF4-FFF2-40B4-BE49-F238E27FC236}">
                <a16:creationId xmlns:a16="http://schemas.microsoft.com/office/drawing/2014/main" id="{DB6F30F4-86A2-4032-8C41-C0A82801BA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3012" name="灯片编号占位符 3">
            <a:extLst>
              <a:ext uri="{FF2B5EF4-FFF2-40B4-BE49-F238E27FC236}">
                <a16:creationId xmlns:a16="http://schemas.microsoft.com/office/drawing/2014/main" id="{71EBD34A-4EB0-4C97-99C1-12159D65B9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AAD08BF-6981-4FB3-BE96-8DE6040A8458}" type="slidenum">
              <a:rPr lang="en-US" altLang="zh-CN"/>
              <a:pPr>
                <a:spcBef>
                  <a:spcPct val="0"/>
                </a:spcBef>
              </a:pPr>
              <a:t>37</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FA3BABA-C54B-4F4C-9D5A-CDBCA3CBF7F0}"/>
              </a:ext>
            </a:extLst>
          </p:cNvPr>
          <p:cNvSpPr>
            <a:spLocks noGrp="1" noRot="1" noChangeAspect="1" noTextEdit="1"/>
          </p:cNvSpPr>
          <p:nvPr>
            <p:ph type="sldImg"/>
          </p:nvPr>
        </p:nvSpPr>
        <p:spPr>
          <a:ln/>
        </p:spPr>
      </p:sp>
      <p:sp>
        <p:nvSpPr>
          <p:cNvPr id="45059" name="备注占位符 2">
            <a:extLst>
              <a:ext uri="{FF2B5EF4-FFF2-40B4-BE49-F238E27FC236}">
                <a16:creationId xmlns:a16="http://schemas.microsoft.com/office/drawing/2014/main" id="{41978252-7DE5-4774-92B0-42C3DEA71D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5060" name="灯片编号占位符 3">
            <a:extLst>
              <a:ext uri="{FF2B5EF4-FFF2-40B4-BE49-F238E27FC236}">
                <a16:creationId xmlns:a16="http://schemas.microsoft.com/office/drawing/2014/main" id="{E4253783-D724-4604-8F5A-127D4AAEC7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35898AC-FABD-49D1-99BD-16AF04B0AA7E}" type="slidenum">
              <a:rPr lang="en-US" altLang="zh-CN"/>
              <a:pPr>
                <a:spcBef>
                  <a:spcPct val="0"/>
                </a:spcBef>
              </a:pPr>
              <a:t>38</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8A9D2FB6-8FA5-47CA-8212-077F40179977}"/>
              </a:ext>
            </a:extLst>
          </p:cNvPr>
          <p:cNvSpPr>
            <a:spLocks noGrp="1" noRot="1" noChangeAspect="1" noTextEdit="1"/>
          </p:cNvSpPr>
          <p:nvPr>
            <p:ph type="sldImg"/>
          </p:nvPr>
        </p:nvSpPr>
        <p:spPr>
          <a:ln/>
        </p:spPr>
      </p:sp>
      <p:sp>
        <p:nvSpPr>
          <p:cNvPr id="47107" name="备注占位符 2">
            <a:extLst>
              <a:ext uri="{FF2B5EF4-FFF2-40B4-BE49-F238E27FC236}">
                <a16:creationId xmlns:a16="http://schemas.microsoft.com/office/drawing/2014/main" id="{96901648-94B8-40A5-B5CF-17426C9AB47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7108" name="灯片编号占位符 3">
            <a:extLst>
              <a:ext uri="{FF2B5EF4-FFF2-40B4-BE49-F238E27FC236}">
                <a16:creationId xmlns:a16="http://schemas.microsoft.com/office/drawing/2014/main" id="{9ACBDED6-DE2F-42D8-970C-30EAF1FE3C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CBD6B60-84F1-4F72-90EF-FB111B1B8B4C}" type="slidenum">
              <a:rPr lang="en-US" altLang="zh-CN"/>
              <a:pPr>
                <a:spcBef>
                  <a:spcPct val="0"/>
                </a:spcBef>
              </a:pPr>
              <a:t>39</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34CDD565-C454-45EE-A5C1-B39432CCEE7E}"/>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E39E6F05-FAD0-43E6-BF20-281DAD4D69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6D96AA0D-1F70-4556-8592-27FD5AC7FD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D322623-1218-4B30-8AF2-89BC41B012BE}" type="slidenum">
              <a:rPr lang="en-US" altLang="zh-CN"/>
              <a:pPr>
                <a:spcBef>
                  <a:spcPct val="0"/>
                </a:spcBef>
              </a:pPr>
              <a:t>40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684708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2FAFEC3-FCF9-4793-BD53-13ACF2C4D1E4}" type="slidenum">
              <a:rPr lang="en-US" altLang="zh-CN"/>
              <a:pPr>
                <a:defRPr/>
              </a:pPr>
              <a:t>‹#›</a:t>
            </a:fld>
            <a:endParaRPr lang="en-US" altLang="zh-CN" dirty="0"/>
          </a:p>
        </p:txBody>
      </p:sp>
    </p:spTree>
    <p:extLst>
      <p:ext uri="{BB962C8B-B14F-4D97-AF65-F5344CB8AC3E}">
        <p14:creationId xmlns:p14="http://schemas.microsoft.com/office/powerpoint/2010/main" val="33478729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1874B12-3BD3-4C39-BF0E-BF8A9539BB9C}" type="slidenum">
              <a:rPr lang="en-US" altLang="zh-CN"/>
              <a:pPr>
                <a:defRPr/>
              </a:pPr>
              <a:t>‹#›</a:t>
            </a:fld>
            <a:endParaRPr lang="en-US" altLang="zh-CN"/>
          </a:p>
        </p:txBody>
      </p:sp>
    </p:spTree>
    <p:extLst>
      <p:ext uri="{BB962C8B-B14F-4D97-AF65-F5344CB8AC3E}">
        <p14:creationId xmlns:p14="http://schemas.microsoft.com/office/powerpoint/2010/main" val="22008105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4FD21B5-0BC5-4C4A-925A-9CA4DDE9DFCF}" type="slidenum">
              <a:rPr lang="en-US" altLang="zh-CN"/>
              <a:pPr>
                <a:defRPr/>
              </a:pPr>
              <a:t>‹#›</a:t>
            </a:fld>
            <a:endParaRPr lang="en-US" altLang="zh-CN"/>
          </a:p>
        </p:txBody>
      </p:sp>
    </p:spTree>
    <p:extLst>
      <p:ext uri="{BB962C8B-B14F-4D97-AF65-F5344CB8AC3E}">
        <p14:creationId xmlns:p14="http://schemas.microsoft.com/office/powerpoint/2010/main" val="152885660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D738D31-8EED-425A-B617-D3D8B1C55F32}" type="slidenum">
              <a:rPr lang="en-US" altLang="zh-CN"/>
              <a:pPr>
                <a:defRPr/>
              </a:pPr>
              <a:t>‹#›</a:t>
            </a:fld>
            <a:endParaRPr lang="en-US" altLang="zh-CN"/>
          </a:p>
        </p:txBody>
      </p:sp>
    </p:spTree>
    <p:extLst>
      <p:ext uri="{BB962C8B-B14F-4D97-AF65-F5344CB8AC3E}">
        <p14:creationId xmlns:p14="http://schemas.microsoft.com/office/powerpoint/2010/main" val="331168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C5CA553-975E-450D-81D4-CB823086BDE2}" type="slidenum">
              <a:rPr lang="en-US" altLang="zh-CN"/>
              <a:pPr>
                <a:defRPr/>
              </a:pPr>
              <a:t>‹#›</a:t>
            </a:fld>
            <a:endParaRPr lang="en-US" altLang="zh-CN" dirty="0"/>
          </a:p>
        </p:txBody>
      </p:sp>
    </p:spTree>
    <p:extLst>
      <p:ext uri="{BB962C8B-B14F-4D97-AF65-F5344CB8AC3E}">
        <p14:creationId xmlns:p14="http://schemas.microsoft.com/office/powerpoint/2010/main" val="3204809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21DDC60-5961-4053-83B8-C0116183DEFD}" type="slidenum">
              <a:rPr lang="en-US" altLang="zh-CN"/>
              <a:pPr>
                <a:defRPr/>
              </a:pPr>
              <a:t>‹#›</a:t>
            </a:fld>
            <a:endParaRPr lang="en-US" altLang="zh-CN"/>
          </a:p>
        </p:txBody>
      </p:sp>
    </p:spTree>
    <p:extLst>
      <p:ext uri="{BB962C8B-B14F-4D97-AF65-F5344CB8AC3E}">
        <p14:creationId xmlns:p14="http://schemas.microsoft.com/office/powerpoint/2010/main" val="2896607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71C95EA6-4527-48FB-83CD-F4BD91AE8F02}" type="slidenum">
              <a:rPr lang="en-US" altLang="zh-CN"/>
              <a:pPr>
                <a:defRPr/>
              </a:pPr>
              <a:t>‹#›</a:t>
            </a:fld>
            <a:endParaRPr lang="en-US" altLang="zh-CN"/>
          </a:p>
        </p:txBody>
      </p:sp>
    </p:spTree>
    <p:extLst>
      <p:ext uri="{BB962C8B-B14F-4D97-AF65-F5344CB8AC3E}">
        <p14:creationId xmlns:p14="http://schemas.microsoft.com/office/powerpoint/2010/main" val="395229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828800" y="184482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5" name="Rectangle 6"/>
          <p:cNvSpPr>
            <a:spLocks noGrp="1" noChangeArrowheads="1"/>
          </p:cNvSpPr>
          <p:nvPr>
            <p:ph type="sldNum" sz="quarter" idx="10"/>
          </p:nvPr>
        </p:nvSpPr>
        <p:spPr>
          <a:ln/>
        </p:spPr>
        <p:txBody>
          <a:bodyPr/>
          <a:lstStyle>
            <a:lvl1pPr>
              <a:defRPr/>
            </a:lvl1pPr>
          </a:lstStyle>
          <a:p>
            <a:pPr>
              <a:defRPr/>
            </a:pPr>
            <a:fld id="{3610D5DC-5696-4A07-8349-2A517564EAB6}" type="slidenum">
              <a:rPr lang="en-US" altLang="zh-CN"/>
              <a:pPr>
                <a:defRPr/>
              </a:pPr>
              <a:t>‹#›</a:t>
            </a:fld>
            <a:endParaRPr lang="en-US" altLang="zh-CN"/>
          </a:p>
        </p:txBody>
      </p:sp>
    </p:spTree>
    <p:extLst>
      <p:ext uri="{BB962C8B-B14F-4D97-AF65-F5344CB8AC3E}">
        <p14:creationId xmlns:p14="http://schemas.microsoft.com/office/powerpoint/2010/main" val="35263464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E5E8FD3-EDE5-4EC3-94E3-1C754301C081}" type="slidenum">
              <a:rPr lang="en-US" altLang="zh-CN"/>
              <a:pPr>
                <a:defRPr/>
              </a:pPr>
              <a:t>‹#›</a:t>
            </a:fld>
            <a:endParaRPr lang="en-US" altLang="zh-CN"/>
          </a:p>
        </p:txBody>
      </p:sp>
    </p:spTree>
    <p:extLst>
      <p:ext uri="{BB962C8B-B14F-4D97-AF65-F5344CB8AC3E}">
        <p14:creationId xmlns:p14="http://schemas.microsoft.com/office/powerpoint/2010/main" val="9468136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4C1ECC8-739C-4170-B0ED-4174C943E5E6}" type="slidenum">
              <a:rPr lang="en-US" altLang="zh-CN"/>
              <a:pPr>
                <a:defRPr/>
              </a:pPr>
              <a:t>‹#›</a:t>
            </a:fld>
            <a:endParaRPr lang="en-US" altLang="zh-CN"/>
          </a:p>
        </p:txBody>
      </p:sp>
    </p:spTree>
    <p:extLst>
      <p:ext uri="{BB962C8B-B14F-4D97-AF65-F5344CB8AC3E}">
        <p14:creationId xmlns:p14="http://schemas.microsoft.com/office/powerpoint/2010/main" val="368152386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C4490AA-E879-42CB-B964-307DC817647D}" type="slidenum">
              <a:rPr lang="en-US" altLang="zh-CN"/>
              <a:pPr>
                <a:defRPr/>
              </a:pPr>
              <a:t>‹#›</a:t>
            </a:fld>
            <a:endParaRPr lang="en-US" altLang="zh-CN"/>
          </a:p>
        </p:txBody>
      </p:sp>
    </p:spTree>
    <p:extLst>
      <p:ext uri="{BB962C8B-B14F-4D97-AF65-F5344CB8AC3E}">
        <p14:creationId xmlns:p14="http://schemas.microsoft.com/office/powerpoint/2010/main" val="7976836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p:txBody>
          <a:bodyPr/>
          <a:lstStyle>
            <a:lvl1pPr>
              <a:defRPr/>
            </a:lvl1pPr>
          </a:lstStyle>
          <a:p>
            <a:pPr>
              <a:defRPr/>
            </a:pPr>
            <a:fld id="{C02672C6-A66C-4A23-877B-AF8E4660A64F}" type="slidenum">
              <a:rPr lang="en-US" altLang="zh-CN"/>
              <a:pPr>
                <a:defRPr/>
              </a:pPr>
              <a:t>‹#›</a:t>
            </a:fld>
            <a:endParaRPr lang="en-US" altLang="zh-CN"/>
          </a:p>
        </p:txBody>
      </p:sp>
    </p:spTree>
    <p:extLst>
      <p:ext uri="{BB962C8B-B14F-4D97-AF65-F5344CB8AC3E}">
        <p14:creationId xmlns:p14="http://schemas.microsoft.com/office/powerpoint/2010/main" val="362260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sldNum" sz="quarter" idx="12"/>
          </p:nvPr>
        </p:nvSpPr>
        <p:spPr/>
        <p:txBody>
          <a:bodyPr/>
          <a:lstStyle>
            <a:lvl1pPr>
              <a:defRPr/>
            </a:lvl1pPr>
          </a:lstStyle>
          <a:p>
            <a:pPr>
              <a:defRPr/>
            </a:pPr>
            <a:fld id="{6B528C79-012F-4666-B6B9-2F1EF291DD5A}" type="slidenum">
              <a:rPr lang="en-US" altLang="zh-CN"/>
              <a:pPr>
                <a:defRPr/>
              </a:pPr>
              <a:t>‹#›</a:t>
            </a:fld>
            <a:endParaRPr lang="en-US" altLang="zh-CN"/>
          </a:p>
        </p:txBody>
      </p:sp>
    </p:spTree>
    <p:extLst>
      <p:ext uri="{BB962C8B-B14F-4D97-AF65-F5344CB8AC3E}">
        <p14:creationId xmlns:p14="http://schemas.microsoft.com/office/powerpoint/2010/main" val="330914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76F7B25D-5EBC-4A23-B073-187DA5FB4EA0}"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6"/>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41"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2" r:id="rId13"/>
    <p:sldLayoutId id="2147483943" r:id="rId14"/>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XMLInfoSet"/><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12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WSDL-PART1"/><Relationship Id="rId4" Type="http://schemas.openxmlformats.org/officeDocument/2006/relationships/hyperlink" Target="#XMLSchemaP1"/></Relationships>
</file>

<file path=ppt/slides/_rels/slide5.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04%20WSDL.ppt"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adv-import-and-authoring"/></Relationships>
</file>

<file path=ppt/slides/_rels/slide9.xml.rels><?xml version="1.0" encoding="UTF-8" standalone="yes"?>
<Relationships xmlns="http://schemas.openxmlformats.org/package/2006/relationships"><Relationship Id="rId3" Type="http://schemas.openxmlformats.org/officeDocument/2006/relationships/hyperlink" Target="#example-bindings-http"/><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adv-import-and-authori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adv-import-and-authori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XMLSchemaP1"/><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XMLSchemaP1"/><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04%20WSDL.ppt"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123" TargetMode="External"/><Relationship Id="rId5" Type="http://schemas.openxmlformats.org/officeDocument/2006/relationships/hyperlink" Target="#XMLSchemaP1"/><Relationship Id="rId4" Type="http://schemas.openxmlformats.org/officeDocument/2006/relationships/hyperlink" Target="http://www.google.ca/"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04%20WSDL.pp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ws-i.org/Profiles/BasicProfile-1.1-2004-08-24.html#WSDL_and_Schema_Import"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04%20WSDL.ppt"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www.ws-i.org/Profiles/BasicProfile-1.1-2004-08-24.html#WSDL_and_Schema_Import"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ws-i.org/Profiles/BasicProfile-1.1-2004-08-24.html#WSDL_and_Schema_Import"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ws-i.org/Profiles/BasicProfile-1.1-2004-08-24.html#WSDL_and_Schema_Import"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retrieveItems.wsd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w3.org/2002/ws/desc/wsdl20-adjuncts#RPCStyle"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hyperlink" Target="#XPTR"/><Relationship Id="rId5" Type="http://schemas.openxmlformats.org/officeDocument/2006/relationships/hyperlink" Target="123" TargetMode="External"/><Relationship Id="rId4" Type="http://schemas.openxmlformats.org/officeDocument/2006/relationships/hyperlink" Target="#updateDetails.wsd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www.w3.org/TR/2007/REC-wsdl20-20070626"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subTitle" idx="1"/>
          </p:nvPr>
        </p:nvSpPr>
        <p:spPr/>
        <p:txBody>
          <a:bodyPr/>
          <a:lstStyle/>
          <a:p>
            <a:r>
              <a:rPr lang="en-US" altLang="zh-CN" sz="2000">
                <a:solidFill>
                  <a:srgbClr val="595959"/>
                </a:solidFill>
                <a:ea typeface="宋体" pitchFamily="2" charset="-122"/>
              </a:rPr>
              <a:t>Software Institute</a:t>
            </a:r>
          </a:p>
          <a:p>
            <a:r>
              <a:rPr lang="en-US" altLang="zh-CN" sz="2000">
                <a:solidFill>
                  <a:srgbClr val="595959"/>
                </a:solidFill>
                <a:ea typeface="宋体" pitchFamily="2" charset="-122"/>
              </a:rPr>
              <a:t>Nanjing University</a:t>
            </a:r>
          </a:p>
          <a:p>
            <a:r>
              <a:rPr lang="en-US" altLang="zh-CN" sz="2000">
                <a:solidFill>
                  <a:srgbClr val="595959"/>
                </a:solidFill>
                <a:ea typeface="宋体" pitchFamily="2" charset="-122"/>
              </a:rPr>
              <a:t>Bei Jia</a:t>
            </a:r>
          </a:p>
        </p:txBody>
      </p:sp>
      <p:sp>
        <p:nvSpPr>
          <p:cNvPr id="5123" name="Rectangle 2"/>
          <p:cNvSpPr>
            <a:spLocks noGrp="1" noChangeArrowheads="1"/>
          </p:cNvSpPr>
          <p:nvPr>
            <p:ph type="ctrTitle" sz="quarter"/>
          </p:nvPr>
        </p:nvSpPr>
        <p:spPr>
          <a:gradFill rotWithShape="0"/>
        </p:spPr>
        <p:txBody>
          <a:bodyPr>
            <a:normAutofit/>
          </a:bodyPr>
          <a:lstStyle/>
          <a:p>
            <a:r>
              <a:rPr lang="en-US" altLang="zh-CN" sz="2800" dirty="0"/>
              <a:t>WSDL </a:t>
            </a:r>
            <a:r>
              <a:rPr lang="en-US" altLang="zh-CN" sz="2800" dirty="0" err="1"/>
              <a:t>InfoSet</a:t>
            </a:r>
            <a:r>
              <a:rPr lang="en-US" altLang="zh-CN" sz="2800" dirty="0"/>
              <a:t> &amp; Component Model </a:t>
            </a:r>
            <a:br>
              <a:rPr lang="en-US" altLang="zh-CN" sz="2800" dirty="0"/>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4B720568-3B47-4BE3-9B0F-55DFCF2EC0A9}"/>
              </a:ext>
            </a:extLst>
          </p:cNvPr>
          <p:cNvSpPr>
            <a:spLocks noGrp="1"/>
          </p:cNvSpPr>
          <p:nvPr>
            <p:ph type="title"/>
          </p:nvPr>
        </p:nvSpPr>
        <p:spPr/>
        <p:txBody>
          <a:bodyPr/>
          <a:lstStyle/>
          <a:p>
            <a:r>
              <a:rPr lang="en-US" altLang="zh-CN" sz="2800" dirty="0"/>
              <a:t>WSDL 2.0 </a:t>
            </a:r>
            <a:r>
              <a:rPr lang="en-US" altLang="zh-CN" sz="2800" dirty="0" err="1"/>
              <a:t>Infoset</a:t>
            </a:r>
            <a:r>
              <a:rPr lang="en-US" altLang="zh-CN" sz="2800" dirty="0"/>
              <a:t> (1/2)</a:t>
            </a:r>
            <a:endParaRPr lang="zh-CN" altLang="en-US" sz="2800" dirty="0"/>
          </a:p>
        </p:txBody>
      </p:sp>
      <p:sp>
        <p:nvSpPr>
          <p:cNvPr id="3" name="内容占位符 2">
            <a:extLst>
              <a:ext uri="{FF2B5EF4-FFF2-40B4-BE49-F238E27FC236}">
                <a16:creationId xmlns:a16="http://schemas.microsoft.com/office/drawing/2014/main" id="{162A623E-5A73-4DB7-B308-220831D9DA90}"/>
              </a:ext>
            </a:extLst>
          </p:cNvPr>
          <p:cNvSpPr>
            <a:spLocks noGrp="1"/>
          </p:cNvSpPr>
          <p:nvPr>
            <p:ph idx="1"/>
          </p:nvPr>
        </p:nvSpPr>
        <p:spPr/>
        <p:txBody>
          <a:bodyPr>
            <a:normAutofit fontScale="85000" lnSpcReduction="10000"/>
          </a:bodyPr>
          <a:lstStyle/>
          <a:p>
            <a:pPr>
              <a:lnSpc>
                <a:spcPct val="120000"/>
              </a:lnSpc>
              <a:defRPr/>
            </a:pPr>
            <a:r>
              <a:rPr lang="en-US" altLang="zh-CN" sz="2200" dirty="0"/>
              <a:t>Instead of defining WSDL 2.0 in terms of literal symbols or characters, to avoid dependency on any particular character encoding, WSDL 2.0 is defined in terms of the </a:t>
            </a:r>
            <a:r>
              <a:rPr lang="en-US" altLang="zh-CN" sz="2200" i="1" dirty="0"/>
              <a:t>XML </a:t>
            </a:r>
            <a:r>
              <a:rPr lang="en-US" altLang="zh-CN" sz="2200" i="1" dirty="0" err="1"/>
              <a:t>Infoset</a:t>
            </a:r>
            <a:r>
              <a:rPr lang="en-US" altLang="zh-CN" sz="2200" dirty="0"/>
              <a:t> [</a:t>
            </a:r>
            <a:r>
              <a:rPr lang="en-US" altLang="zh-CN" sz="2200" i="1" dirty="0">
                <a:hlinkClick r:id="rId3" action="ppaction://hlinkfile"/>
              </a:rPr>
              <a:t>XML Information Set</a:t>
            </a:r>
            <a:r>
              <a:rPr lang="en-US" altLang="zh-CN" sz="2200" dirty="0"/>
              <a:t>]</a:t>
            </a:r>
          </a:p>
          <a:p>
            <a:pPr lvl="1">
              <a:lnSpc>
                <a:spcPct val="120000"/>
              </a:lnSpc>
              <a:defRPr/>
            </a:pPr>
            <a:r>
              <a:rPr lang="en-US" altLang="zh-CN" sz="1700" dirty="0"/>
              <a:t>Specifically, a </a:t>
            </a:r>
            <a:r>
              <a:rPr lang="en-US" altLang="zh-CN" sz="1700" i="1" dirty="0"/>
              <a:t>WSDL 2.0 document</a:t>
            </a:r>
            <a:r>
              <a:rPr lang="en-US" altLang="zh-CN" sz="1700" dirty="0"/>
              <a:t> consists of a </a:t>
            </a:r>
            <a:r>
              <a:rPr lang="en-US" altLang="zh-CN" sz="1700" dirty="0">
                <a:solidFill>
                  <a:srgbClr val="FF0000"/>
                </a:solidFill>
                <a:hlinkClick r:id="rId4" action="ppaction://hlinkfile"/>
              </a:rPr>
              <a:t>description</a:t>
            </a:r>
            <a:r>
              <a:rPr lang="en-US" altLang="zh-CN" sz="1700" dirty="0">
                <a:hlinkClick r:id="rId4" action="ppaction://hlinkfile"/>
              </a:rPr>
              <a:t> </a:t>
            </a:r>
            <a:r>
              <a:rPr lang="en-US" altLang="zh-CN" sz="1700" dirty="0"/>
              <a:t>element information item (in the XML </a:t>
            </a:r>
            <a:r>
              <a:rPr lang="en-US" altLang="zh-CN" sz="1700" dirty="0" err="1"/>
              <a:t>Infoset</a:t>
            </a:r>
            <a:r>
              <a:rPr lang="en-US" altLang="zh-CN" sz="1700" dirty="0"/>
              <a:t>) that conforms to the WSDL 2.0 specification</a:t>
            </a:r>
          </a:p>
          <a:p>
            <a:pPr lvl="1">
              <a:lnSpc>
                <a:spcPct val="120000"/>
              </a:lnSpc>
              <a:defRPr/>
            </a:pPr>
            <a:r>
              <a:rPr lang="en-US" altLang="zh-CN" sz="1700" dirty="0"/>
              <a:t>In other words, a sentence in the WSDL 2.0 language is a </a:t>
            </a:r>
            <a:r>
              <a:rPr lang="en-US" altLang="zh-CN" sz="1700" dirty="0">
                <a:solidFill>
                  <a:srgbClr val="FF0000"/>
                </a:solidFill>
                <a:hlinkClick r:id="rId4" action="ppaction://hlinkfile"/>
              </a:rPr>
              <a:t>description</a:t>
            </a:r>
            <a:r>
              <a:rPr lang="en-US" altLang="zh-CN" sz="1700" dirty="0">
                <a:hlinkClick r:id="rId4" action="ppaction://hlinkfile"/>
              </a:rPr>
              <a:t> </a:t>
            </a:r>
            <a:r>
              <a:rPr lang="en-US" altLang="zh-CN" sz="1700" dirty="0"/>
              <a:t>element information item that obeys the additional constraints spelled out in the WSDL 2.0 specification</a:t>
            </a:r>
          </a:p>
          <a:p>
            <a:pPr>
              <a:lnSpc>
                <a:spcPct val="120000"/>
              </a:lnSpc>
              <a:defRPr/>
            </a:pPr>
            <a:r>
              <a:rPr lang="en-US" altLang="zh-CN" sz="2200" dirty="0"/>
              <a:t>Since an XML </a:t>
            </a:r>
            <a:r>
              <a:rPr lang="en-US" altLang="zh-CN" sz="2200" dirty="0" err="1"/>
              <a:t>Infoset</a:t>
            </a:r>
            <a:r>
              <a:rPr lang="en-US" altLang="zh-CN" sz="2200" dirty="0"/>
              <a:t> can be created from more than one </a:t>
            </a:r>
            <a:r>
              <a:rPr lang="en-US" altLang="zh-CN" sz="2200" i="1" dirty="0">
                <a:solidFill>
                  <a:srgbClr val="FF0000"/>
                </a:solidFill>
              </a:rPr>
              <a:t>physical</a:t>
            </a:r>
            <a:r>
              <a:rPr lang="en-US" altLang="zh-CN" sz="2200" dirty="0"/>
              <a:t> document, a WSDL 2.0 document does not necessarily correspond to a single </a:t>
            </a:r>
            <a:r>
              <a:rPr lang="en-US" altLang="zh-CN" sz="2200" i="1" dirty="0">
                <a:solidFill>
                  <a:srgbClr val="FF0000"/>
                </a:solidFill>
              </a:rPr>
              <a:t>physical</a:t>
            </a:r>
            <a:r>
              <a:rPr lang="en-US" altLang="zh-CN" sz="2200" dirty="0">
                <a:solidFill>
                  <a:srgbClr val="FF0000"/>
                </a:solidFill>
              </a:rPr>
              <a:t> </a:t>
            </a:r>
            <a:r>
              <a:rPr lang="en-US" altLang="zh-CN" sz="2200" dirty="0"/>
              <a:t>document</a:t>
            </a:r>
          </a:p>
          <a:p>
            <a:pPr>
              <a:lnSpc>
                <a:spcPct val="120000"/>
              </a:lnSpc>
              <a:defRPr/>
            </a:pPr>
            <a:r>
              <a:rPr lang="en-US" altLang="zh-CN" sz="2200" dirty="0"/>
              <a:t>Furthermore, since WSDL 2.0 provides </a:t>
            </a:r>
            <a:r>
              <a:rPr lang="en-US" altLang="zh-CN" sz="2200" i="1" dirty="0">
                <a:solidFill>
                  <a:srgbClr val="FF0000"/>
                </a:solidFill>
              </a:rPr>
              <a:t>import</a:t>
            </a:r>
            <a:r>
              <a:rPr lang="en-US" altLang="zh-CN" sz="2200" dirty="0"/>
              <a:t> and </a:t>
            </a:r>
            <a:r>
              <a:rPr lang="en-US" altLang="zh-CN" sz="2200" i="1" dirty="0">
                <a:solidFill>
                  <a:srgbClr val="FF0000"/>
                </a:solidFill>
              </a:rPr>
              <a:t>include</a:t>
            </a:r>
            <a:r>
              <a:rPr lang="en-US" altLang="zh-CN" sz="2200" dirty="0"/>
              <a:t> mechanisms, a WSDL 2.0 document may reference other WSDL 2.0 documents to facilitate convenient organization or reuse. In such cases, the meaning of the including or importing document as a whole will depend (in part) on the meaning of the included or imported document</a:t>
            </a:r>
          </a:p>
        </p:txBody>
      </p:sp>
      <p:sp>
        <p:nvSpPr>
          <p:cNvPr id="21508" name="灯片编号占位符 3">
            <a:extLst>
              <a:ext uri="{FF2B5EF4-FFF2-40B4-BE49-F238E27FC236}">
                <a16:creationId xmlns:a16="http://schemas.microsoft.com/office/drawing/2014/main" id="{ABDE3422-2922-4F5E-AB61-CDE4D680F7D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2</a:t>
            </a:fld>
            <a:endParaRPr lang="en-US" altLang="zh-CN" sz="1000">
              <a:solidFill>
                <a:srgbClr val="000000"/>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611BF9A4-F03D-4309-B8B6-A55A2295DBA1}"/>
              </a:ext>
            </a:extLst>
          </p:cNvPr>
          <p:cNvSpPr>
            <a:spLocks noGrp="1"/>
          </p:cNvSpPr>
          <p:nvPr>
            <p:ph type="title"/>
          </p:nvPr>
        </p:nvSpPr>
        <p:spPr/>
        <p:txBody>
          <a:bodyPr/>
          <a:lstStyle/>
          <a:p>
            <a:r>
              <a:rPr lang="en-US" altLang="zh-CN" sz="2800" dirty="0"/>
              <a:t>WSDL 2.0 </a:t>
            </a:r>
            <a:r>
              <a:rPr lang="en-US" altLang="zh-CN" sz="2800" dirty="0" err="1"/>
              <a:t>Infoset</a:t>
            </a:r>
            <a:r>
              <a:rPr lang="en-US" altLang="zh-CN" sz="2800" dirty="0"/>
              <a:t> (2/2)</a:t>
            </a:r>
            <a:endParaRPr lang="zh-CN" altLang="en-US" sz="2800" dirty="0"/>
          </a:p>
        </p:txBody>
      </p:sp>
      <p:pic>
        <p:nvPicPr>
          <p:cNvPr id="23555" name="内容占位符 4" descr="untitled.bmp">
            <a:extLst>
              <a:ext uri="{FF2B5EF4-FFF2-40B4-BE49-F238E27FC236}">
                <a16:creationId xmlns:a16="http://schemas.microsoft.com/office/drawing/2014/main" id="{AFB0BF20-7443-48A3-892E-FB6FB724636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84213" y="1417638"/>
            <a:ext cx="7473950" cy="5292725"/>
          </a:xfrm>
        </p:spPr>
      </p:pic>
      <p:sp>
        <p:nvSpPr>
          <p:cNvPr id="23556" name="灯片编号占位符 3">
            <a:extLst>
              <a:ext uri="{FF2B5EF4-FFF2-40B4-BE49-F238E27FC236}">
                <a16:creationId xmlns:a16="http://schemas.microsoft.com/office/drawing/2014/main" id="{C93BAC7E-9C57-4C00-9510-E87662D14CE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3</a:t>
            </a:fld>
            <a:endParaRPr lang="en-US" altLang="zh-CN" sz="1000">
              <a:solidFill>
                <a:srgbClr val="00000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3D302D1B-5172-44E2-B885-BD796D89B0D1}"/>
              </a:ext>
            </a:extLst>
          </p:cNvPr>
          <p:cNvSpPr>
            <a:spLocks noGrp="1"/>
          </p:cNvSpPr>
          <p:nvPr>
            <p:ph type="title"/>
          </p:nvPr>
        </p:nvSpPr>
        <p:spPr/>
        <p:txBody>
          <a:bodyPr/>
          <a:lstStyle/>
          <a:p>
            <a:r>
              <a:rPr lang="en-US" altLang="zh-CN" sz="2800" dirty="0"/>
              <a:t>WSDL 2.0 Schema</a:t>
            </a:r>
            <a:endParaRPr lang="zh-CN" altLang="en-US" sz="2800" dirty="0"/>
          </a:p>
        </p:txBody>
      </p:sp>
      <p:sp>
        <p:nvSpPr>
          <p:cNvPr id="3" name="内容占位符 2">
            <a:extLst>
              <a:ext uri="{FF2B5EF4-FFF2-40B4-BE49-F238E27FC236}">
                <a16:creationId xmlns:a16="http://schemas.microsoft.com/office/drawing/2014/main" id="{D9FC541F-4771-4CD2-AF99-CFD455DACCCA}"/>
              </a:ext>
            </a:extLst>
          </p:cNvPr>
          <p:cNvSpPr>
            <a:spLocks noGrp="1"/>
          </p:cNvSpPr>
          <p:nvPr>
            <p:ph idx="1"/>
          </p:nvPr>
        </p:nvSpPr>
        <p:spPr/>
        <p:txBody>
          <a:bodyPr>
            <a:normAutofit lnSpcReduction="10000"/>
          </a:bodyPr>
          <a:lstStyle/>
          <a:p>
            <a:pPr>
              <a:defRPr/>
            </a:pPr>
            <a:r>
              <a:rPr lang="en-US" altLang="zh-CN" sz="2400" dirty="0"/>
              <a:t>The WSDL 2.0 specification supplies a normative </a:t>
            </a:r>
            <a:r>
              <a:rPr lang="en-US" altLang="zh-CN" sz="2400" dirty="0">
                <a:hlinkClick r:id="rId3" action="ppaction://hlinkfile"/>
              </a:rPr>
              <a:t>WSDL 2.0 schema</a:t>
            </a:r>
            <a:r>
              <a:rPr lang="en-US" altLang="zh-CN" sz="2400" dirty="0"/>
              <a:t>, defined in [</a:t>
            </a:r>
            <a:r>
              <a:rPr lang="en-US" altLang="zh-CN" sz="2400" dirty="0">
                <a:hlinkClick r:id="rId4" action="ppaction://hlinkfile"/>
              </a:rPr>
              <a:t>XML Schema Structures</a:t>
            </a:r>
            <a:r>
              <a:rPr lang="en-US" altLang="zh-CN" sz="2400" dirty="0"/>
              <a:t>], which can be used as an aid in validating WSDL 2.0 documents</a:t>
            </a:r>
          </a:p>
          <a:p>
            <a:pPr>
              <a:defRPr/>
            </a:pPr>
            <a:r>
              <a:rPr lang="en-US" altLang="zh-CN" sz="2400" dirty="0"/>
              <a:t>We say "as an aid" here because WSDL 2.0 specification [</a:t>
            </a:r>
            <a:r>
              <a:rPr lang="en-US" altLang="zh-CN" sz="2400" dirty="0">
                <a:hlinkClick r:id="rId5" action="ppaction://hlinkfile"/>
              </a:rPr>
              <a:t>WSDL 2.0 Core</a:t>
            </a:r>
            <a:r>
              <a:rPr lang="en-US" altLang="zh-CN" sz="2400" dirty="0"/>
              <a:t>] often provides further constraints to the WSDL 2.0 schema</a:t>
            </a:r>
          </a:p>
          <a:p>
            <a:pPr>
              <a:defRPr/>
            </a:pPr>
            <a:r>
              <a:rPr lang="en-US" altLang="zh-CN" sz="2400" dirty="0"/>
              <a:t>In addition to being valid with the normative schema, a WSDL 2.0 document must also follow all the constraints defined by the WSDL 2.0 specification</a:t>
            </a:r>
          </a:p>
          <a:p>
            <a:pPr>
              <a:defRPr/>
            </a:pPr>
            <a:r>
              <a:rPr lang="en-US" altLang="zh-CN" sz="2400" dirty="0"/>
              <a:t>The WSDL 2.0 schema does not indicate the required ordering of elements, the WSDL 2.0 specification (WSDL 2.0 Part 1 [</a:t>
            </a:r>
            <a:r>
              <a:rPr lang="en-US" altLang="zh-CN" sz="2400" dirty="0">
                <a:hlinkClick r:id="rId5" action="ppaction://hlinkfile"/>
              </a:rPr>
              <a:t>WSDL 2.0 Core</a:t>
            </a:r>
            <a:r>
              <a:rPr lang="en-US" altLang="zh-CN" sz="2400" dirty="0"/>
              <a:t>]) clearly states a set of constraints about how the child elements of the description element should be ordered</a:t>
            </a:r>
          </a:p>
        </p:txBody>
      </p:sp>
      <p:sp>
        <p:nvSpPr>
          <p:cNvPr id="25604" name="灯片编号占位符 3">
            <a:extLst>
              <a:ext uri="{FF2B5EF4-FFF2-40B4-BE49-F238E27FC236}">
                <a16:creationId xmlns:a16="http://schemas.microsoft.com/office/drawing/2014/main" id="{96FFEB5D-83FC-409F-9A75-FD92555A8F9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4</a:t>
            </a:fld>
            <a:endParaRPr lang="en-US" altLang="zh-CN" sz="1000">
              <a:solidFill>
                <a:srgbClr val="000000"/>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1ED27C25-E4A7-43B4-8239-2EB3DB28B5E2}"/>
              </a:ext>
            </a:extLst>
          </p:cNvPr>
          <p:cNvSpPr>
            <a:spLocks noGrp="1"/>
          </p:cNvSpPr>
          <p:nvPr>
            <p:ph type="title"/>
          </p:nvPr>
        </p:nvSpPr>
        <p:spPr/>
        <p:txBody>
          <a:bodyPr/>
          <a:lstStyle/>
          <a:p>
            <a:r>
              <a:rPr lang="en-US" altLang="zh-CN" sz="2800" dirty="0"/>
              <a:t>WSDL 2.0 Element Ordering</a:t>
            </a:r>
            <a:endParaRPr lang="zh-CN" altLang="en-US" sz="2800" dirty="0"/>
          </a:p>
        </p:txBody>
      </p:sp>
      <p:sp>
        <p:nvSpPr>
          <p:cNvPr id="3" name="内容占位符 2">
            <a:extLst>
              <a:ext uri="{FF2B5EF4-FFF2-40B4-BE49-F238E27FC236}">
                <a16:creationId xmlns:a16="http://schemas.microsoft.com/office/drawing/2014/main" id="{82FA10F3-837B-4346-90FB-EE9AE41F03EB}"/>
              </a:ext>
            </a:extLst>
          </p:cNvPr>
          <p:cNvSpPr>
            <a:spLocks noGrp="1"/>
          </p:cNvSpPr>
          <p:nvPr>
            <p:ph idx="1"/>
          </p:nvPr>
        </p:nvSpPr>
        <p:spPr>
          <a:xfrm>
            <a:off x="3924300" y="1341438"/>
            <a:ext cx="4762500" cy="4679950"/>
          </a:xfrm>
        </p:spPr>
        <p:txBody>
          <a:bodyPr>
            <a:normAutofit fontScale="25000" lnSpcReduction="20000"/>
          </a:bodyPr>
          <a:lstStyle/>
          <a:p>
            <a:pPr>
              <a:defRPr/>
            </a:pPr>
            <a:r>
              <a:rPr lang="en-US" altLang="zh-CN" sz="8000" dirty="0"/>
              <a:t>The children elements of the </a:t>
            </a:r>
            <a:r>
              <a:rPr lang="en-US" altLang="zh-CN" sz="8000" dirty="0">
                <a:solidFill>
                  <a:srgbClr val="FF0000"/>
                </a:solidFill>
                <a:hlinkClick r:id="rId3" action="ppaction://hlinkfile"/>
              </a:rPr>
              <a:t>description</a:t>
            </a:r>
            <a:r>
              <a:rPr lang="en-US" altLang="zh-CN" sz="8000" dirty="0">
                <a:hlinkClick r:id="rId3" action="ppaction://hlinkfile"/>
              </a:rPr>
              <a:t> </a:t>
            </a:r>
            <a:r>
              <a:rPr lang="en-US" altLang="zh-CN" sz="8000" dirty="0"/>
              <a:t>element should be ordered as follows:</a:t>
            </a:r>
          </a:p>
          <a:p>
            <a:pPr lvl="1">
              <a:defRPr/>
            </a:pPr>
            <a:r>
              <a:rPr lang="en-US" altLang="zh-CN" sz="7200" dirty="0"/>
              <a:t>An optional </a:t>
            </a:r>
            <a:r>
              <a:rPr lang="en-US" altLang="zh-CN" sz="7200" i="1" dirty="0">
                <a:solidFill>
                  <a:srgbClr val="FF0000"/>
                </a:solidFill>
                <a:hlinkClick r:id="rId3" action="ppaction://hlinkfile"/>
              </a:rPr>
              <a:t>documentation</a:t>
            </a:r>
            <a:r>
              <a:rPr lang="en-US" altLang="zh-CN" sz="7200" dirty="0">
                <a:hlinkClick r:id="rId3" action="ppaction://hlinkfile"/>
              </a:rPr>
              <a:t> </a:t>
            </a:r>
            <a:r>
              <a:rPr lang="en-US" altLang="zh-CN" sz="7200" dirty="0"/>
              <a:t>comes first, if present</a:t>
            </a:r>
          </a:p>
          <a:p>
            <a:pPr lvl="1">
              <a:defRPr/>
            </a:pPr>
            <a:r>
              <a:rPr lang="en-US" altLang="zh-CN" sz="7200" dirty="0"/>
              <a:t>Then comes zero or more elements from among the following, in any order:</a:t>
            </a:r>
          </a:p>
          <a:p>
            <a:pPr lvl="2">
              <a:defRPr/>
            </a:pPr>
            <a:r>
              <a:rPr lang="en-US" altLang="zh-CN" sz="7200" dirty="0">
                <a:solidFill>
                  <a:srgbClr val="FF0000"/>
                </a:solidFill>
                <a:hlinkClick r:id="rId3" action="ppaction://hlinkfile"/>
              </a:rPr>
              <a:t>include</a:t>
            </a:r>
            <a:endParaRPr lang="en-US" altLang="zh-CN" sz="7200" dirty="0">
              <a:solidFill>
                <a:srgbClr val="FF0000"/>
              </a:solidFill>
            </a:endParaRPr>
          </a:p>
          <a:p>
            <a:pPr lvl="2">
              <a:defRPr/>
            </a:pPr>
            <a:r>
              <a:rPr lang="en-US" altLang="zh-CN" sz="7200" dirty="0">
                <a:solidFill>
                  <a:srgbClr val="FF0000"/>
                </a:solidFill>
                <a:hlinkClick r:id="rId3" action="ppaction://hlinkfile"/>
              </a:rPr>
              <a:t>import</a:t>
            </a:r>
            <a:endParaRPr lang="en-US" altLang="zh-CN" sz="7200" dirty="0">
              <a:solidFill>
                <a:srgbClr val="FF0000"/>
              </a:solidFill>
            </a:endParaRPr>
          </a:p>
          <a:p>
            <a:pPr lvl="2">
              <a:defRPr/>
            </a:pPr>
            <a:r>
              <a:rPr lang="en-US" altLang="zh-CN" sz="7200" b="1" dirty="0">
                <a:solidFill>
                  <a:srgbClr val="FF0000"/>
                </a:solidFill>
              </a:rPr>
              <a:t>extensions</a:t>
            </a:r>
          </a:p>
          <a:p>
            <a:pPr lvl="1">
              <a:defRPr/>
            </a:pPr>
            <a:r>
              <a:rPr lang="en-US" altLang="zh-CN" sz="7200" dirty="0"/>
              <a:t>An optional </a:t>
            </a:r>
            <a:r>
              <a:rPr lang="en-US" altLang="zh-CN" sz="7200" dirty="0">
                <a:solidFill>
                  <a:srgbClr val="FF0000"/>
                </a:solidFill>
                <a:hlinkClick r:id="rId3" action="ppaction://hlinkfile"/>
              </a:rPr>
              <a:t>types</a:t>
            </a:r>
            <a:r>
              <a:rPr lang="en-US" altLang="zh-CN" sz="7200" dirty="0">
                <a:hlinkClick r:id="rId3" action="ppaction://hlinkfile"/>
              </a:rPr>
              <a:t> </a:t>
            </a:r>
            <a:r>
              <a:rPr lang="en-US" altLang="zh-CN" sz="7200" dirty="0"/>
              <a:t>follows</a:t>
            </a:r>
          </a:p>
          <a:p>
            <a:pPr lvl="1">
              <a:defRPr/>
            </a:pPr>
            <a:r>
              <a:rPr lang="en-US" altLang="zh-CN" sz="7200" dirty="0"/>
              <a:t>Zero or more elements from among the following, in any order:</a:t>
            </a:r>
          </a:p>
          <a:p>
            <a:pPr lvl="2">
              <a:defRPr/>
            </a:pPr>
            <a:r>
              <a:rPr lang="en-US" altLang="zh-CN" sz="7200" dirty="0">
                <a:solidFill>
                  <a:srgbClr val="FF0000"/>
                </a:solidFill>
                <a:hlinkClick r:id="rId3" action="ppaction://hlinkfile"/>
              </a:rPr>
              <a:t>interface</a:t>
            </a:r>
            <a:endParaRPr lang="en-US" altLang="zh-CN" sz="7200" dirty="0">
              <a:solidFill>
                <a:srgbClr val="FF0000"/>
              </a:solidFill>
            </a:endParaRPr>
          </a:p>
          <a:p>
            <a:pPr lvl="2">
              <a:defRPr/>
            </a:pPr>
            <a:r>
              <a:rPr lang="en-US" altLang="zh-CN" sz="7200" dirty="0">
                <a:solidFill>
                  <a:srgbClr val="FF0000"/>
                </a:solidFill>
                <a:hlinkClick r:id="rId3" action="ppaction://hlinkfile"/>
              </a:rPr>
              <a:t>binding</a:t>
            </a:r>
            <a:endParaRPr lang="en-US" altLang="zh-CN" sz="7200" dirty="0">
              <a:solidFill>
                <a:srgbClr val="FF0000"/>
              </a:solidFill>
            </a:endParaRPr>
          </a:p>
          <a:p>
            <a:pPr lvl="2">
              <a:defRPr/>
            </a:pPr>
            <a:r>
              <a:rPr lang="en-US" altLang="zh-CN" sz="7200" dirty="0">
                <a:solidFill>
                  <a:srgbClr val="FF0000"/>
                </a:solidFill>
                <a:hlinkClick r:id="rId3" action="ppaction://hlinkfile"/>
              </a:rPr>
              <a:t>service</a:t>
            </a:r>
            <a:endParaRPr lang="en-US" altLang="zh-CN" sz="7200" dirty="0">
              <a:solidFill>
                <a:srgbClr val="FF0000"/>
              </a:solidFill>
            </a:endParaRPr>
          </a:p>
          <a:p>
            <a:pPr lvl="2">
              <a:defRPr/>
            </a:pPr>
            <a:r>
              <a:rPr lang="en-US" altLang="zh-CN" sz="7200" b="1" dirty="0">
                <a:solidFill>
                  <a:srgbClr val="FF0000"/>
                </a:solidFill>
              </a:rPr>
              <a:t>extensions</a:t>
            </a:r>
          </a:p>
          <a:p>
            <a:pPr>
              <a:defRPr/>
            </a:pPr>
            <a:endParaRPr lang="zh-CN" altLang="en-US" dirty="0"/>
          </a:p>
          <a:p>
            <a:pPr>
              <a:defRPr/>
            </a:pPr>
            <a:endParaRPr lang="zh-CN" altLang="en-US" dirty="0"/>
          </a:p>
        </p:txBody>
      </p:sp>
      <p:sp>
        <p:nvSpPr>
          <p:cNvPr id="27652" name="灯片编号占位符 3">
            <a:extLst>
              <a:ext uri="{FF2B5EF4-FFF2-40B4-BE49-F238E27FC236}">
                <a16:creationId xmlns:a16="http://schemas.microsoft.com/office/drawing/2014/main" id="{B9B1414E-A756-4A28-AE3B-FF829E59829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5</a:t>
            </a:fld>
            <a:endParaRPr lang="en-US" altLang="zh-CN" sz="1000">
              <a:solidFill>
                <a:srgbClr val="000000"/>
              </a:solidFill>
            </a:endParaRPr>
          </a:p>
        </p:txBody>
      </p:sp>
      <p:sp>
        <p:nvSpPr>
          <p:cNvPr id="5" name="Text Box 4">
            <a:extLst>
              <a:ext uri="{FF2B5EF4-FFF2-40B4-BE49-F238E27FC236}">
                <a16:creationId xmlns:a16="http://schemas.microsoft.com/office/drawing/2014/main" id="{86D3A4FE-8ED2-462A-BCDB-DDA38A55AA44}"/>
              </a:ext>
            </a:extLst>
          </p:cNvPr>
          <p:cNvSpPr txBox="1">
            <a:spLocks noChangeArrowheads="1"/>
          </p:cNvSpPr>
          <p:nvPr/>
        </p:nvSpPr>
        <p:spPr bwMode="auto">
          <a:xfrm>
            <a:off x="129742" y="3102084"/>
            <a:ext cx="4197946" cy="181588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description</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documentation</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import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include</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types</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interface</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binding</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service</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description</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p:txBody>
      </p:sp>
      <p:sp>
        <p:nvSpPr>
          <p:cNvPr id="27654" name="TextBox 6">
            <a:extLst>
              <a:ext uri="{FF2B5EF4-FFF2-40B4-BE49-F238E27FC236}">
                <a16:creationId xmlns:a16="http://schemas.microsoft.com/office/drawing/2014/main" id="{543FA7BE-9E06-4B16-9B18-E9161807D43E}"/>
              </a:ext>
            </a:extLst>
          </p:cNvPr>
          <p:cNvSpPr txBox="1">
            <a:spLocks noChangeArrowheads="1"/>
          </p:cNvSpPr>
          <p:nvPr/>
        </p:nvSpPr>
        <p:spPr bwMode="auto">
          <a:xfrm>
            <a:off x="341313" y="2706688"/>
            <a:ext cx="3673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600"/>
              <a:t>A pseudo-content model of description</a:t>
            </a:r>
            <a:endParaRPr lang="zh-CN" altLang="en-US" sz="1600"/>
          </a:p>
        </p:txBody>
      </p:sp>
      <p:sp>
        <p:nvSpPr>
          <p:cNvPr id="7" name="文本框 6">
            <a:extLst>
              <a:ext uri="{FF2B5EF4-FFF2-40B4-BE49-F238E27FC236}">
                <a16:creationId xmlns:a16="http://schemas.microsoft.com/office/drawing/2014/main" id="{C99BEBC2-FDF6-45C1-B933-826F0388061C}"/>
              </a:ext>
            </a:extLst>
          </p:cNvPr>
          <p:cNvSpPr txBox="1"/>
          <p:nvPr/>
        </p:nvSpPr>
        <p:spPr>
          <a:xfrm>
            <a:off x="139792" y="5896849"/>
            <a:ext cx="8578850" cy="831850"/>
          </a:xfrm>
          <a:prstGeom prst="rect">
            <a:avLst/>
          </a:prstGeom>
          <a:noFill/>
        </p:spPr>
        <p:txBody>
          <a:bodyPr>
            <a:spAutoFit/>
          </a:bodyPr>
          <a:lstStyle/>
          <a:p>
            <a:pPr marL="285750" indent="-285750">
              <a:buFont typeface="Arial" panose="020B0604020202020204" pitchFamily="34" charset="0"/>
              <a:buChar char="•"/>
              <a:defRPr/>
            </a:pPr>
            <a:r>
              <a:rPr lang="en-US" altLang="zh-CN" sz="1600" kern="0" dirty="0">
                <a:solidFill>
                  <a:srgbClr val="000000"/>
                </a:solidFill>
                <a:latin typeface="Arial"/>
                <a:ea typeface="宋体"/>
              </a:rPr>
              <a:t>Note the term "</a:t>
            </a:r>
            <a:r>
              <a:rPr lang="en-US" altLang="zh-CN" sz="1600" b="1" kern="0" dirty="0">
                <a:solidFill>
                  <a:srgbClr val="FF0000"/>
                </a:solidFill>
                <a:latin typeface="Arial"/>
                <a:ea typeface="宋体"/>
              </a:rPr>
              <a:t>extension</a:t>
            </a:r>
            <a:r>
              <a:rPr lang="en-US" altLang="zh-CN" sz="1600" kern="0" dirty="0">
                <a:solidFill>
                  <a:srgbClr val="000000"/>
                </a:solidFill>
                <a:latin typeface="Arial"/>
                <a:ea typeface="宋体"/>
              </a:rPr>
              <a:t>" is used as a convenient way to refer to namespace-qualified extension elements. The namespace name of such extension elements must not be "</a:t>
            </a:r>
            <a:r>
              <a:rPr lang="en-US" altLang="zh-CN" sz="1600" kern="0" dirty="0">
                <a:solidFill>
                  <a:srgbClr val="000000"/>
                </a:solidFill>
                <a:latin typeface="Arial"/>
                <a:ea typeface="宋体"/>
                <a:hlinkClick r:id="rId4" action="ppaction://hlinkpres?slideindex=1&amp;slidetitle="/>
              </a:rPr>
              <a:t>http://www.w3.org/ns/wsdl</a:t>
            </a:r>
            <a:r>
              <a:rPr lang="en-US" altLang="zh-CN" sz="1600" kern="0" dirty="0">
                <a:solidFill>
                  <a:srgbClr val="000000"/>
                </a:solidFill>
                <a:latin typeface="Arial"/>
                <a:ea typeface="宋体"/>
              </a:rPr>
              <a: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8F04B553-564F-404A-A9D5-4C6292F110DB}"/>
              </a:ext>
            </a:extLst>
          </p:cNvPr>
          <p:cNvSpPr>
            <a:spLocks noGrp="1"/>
          </p:cNvSpPr>
          <p:nvPr>
            <p:ph type="title"/>
          </p:nvPr>
        </p:nvSpPr>
        <p:spPr/>
        <p:txBody>
          <a:bodyPr/>
          <a:lstStyle/>
          <a:p>
            <a:r>
              <a:rPr lang="en-US" altLang="zh-CN" sz="2800" dirty="0"/>
              <a:t>WSDL 2.0 Component Model (1/3)</a:t>
            </a:r>
            <a:endParaRPr lang="zh-CN" altLang="en-US" sz="2800" dirty="0"/>
          </a:p>
        </p:txBody>
      </p:sp>
      <p:sp>
        <p:nvSpPr>
          <p:cNvPr id="3" name="内容占位符 2">
            <a:extLst>
              <a:ext uri="{FF2B5EF4-FFF2-40B4-BE49-F238E27FC236}">
                <a16:creationId xmlns:a16="http://schemas.microsoft.com/office/drawing/2014/main" id="{A0789021-6EE2-4D8C-ACD4-6DDA8BFEE91F}"/>
              </a:ext>
            </a:extLst>
          </p:cNvPr>
          <p:cNvSpPr>
            <a:spLocks noGrp="1"/>
          </p:cNvSpPr>
          <p:nvPr>
            <p:ph idx="1"/>
          </p:nvPr>
        </p:nvSpPr>
        <p:spPr/>
        <p:txBody>
          <a:bodyPr>
            <a:normAutofit fontScale="25000" lnSpcReduction="20000"/>
          </a:bodyPr>
          <a:lstStyle/>
          <a:p>
            <a:pPr>
              <a:lnSpc>
                <a:spcPct val="120000"/>
              </a:lnSpc>
              <a:defRPr/>
            </a:pPr>
            <a:r>
              <a:rPr lang="en-US" altLang="zh-CN" sz="8000" dirty="0"/>
              <a:t>The WSDL 2.0 </a:t>
            </a:r>
            <a:r>
              <a:rPr lang="en-US" altLang="zh-CN" sz="8000" dirty="0" err="1"/>
              <a:t>Infoset</a:t>
            </a:r>
            <a:r>
              <a:rPr lang="en-US" altLang="zh-CN" sz="8000" dirty="0"/>
              <a:t> model illustrates the required structure of a WSDL 2.0 document, using the XML </a:t>
            </a:r>
            <a:r>
              <a:rPr lang="en-US" altLang="zh-CN" sz="8000" dirty="0" err="1"/>
              <a:t>Infoset</a:t>
            </a:r>
            <a:endParaRPr lang="en-US" altLang="zh-CN" sz="8000" dirty="0"/>
          </a:p>
          <a:p>
            <a:pPr>
              <a:lnSpc>
                <a:spcPct val="120000"/>
              </a:lnSpc>
              <a:defRPr/>
            </a:pPr>
            <a:r>
              <a:rPr lang="en-US" altLang="zh-CN" sz="8000" dirty="0"/>
              <a:t>However, the WSDL 2.0 language also imposes many semantic constraints over and above structural conformance to this XML </a:t>
            </a:r>
            <a:r>
              <a:rPr lang="en-US" altLang="zh-CN" sz="8000" dirty="0" err="1"/>
              <a:t>Infoset</a:t>
            </a:r>
            <a:endParaRPr lang="en-US" altLang="zh-CN" sz="8000" dirty="0"/>
          </a:p>
          <a:p>
            <a:pPr>
              <a:lnSpc>
                <a:spcPct val="120000"/>
              </a:lnSpc>
              <a:defRPr/>
            </a:pPr>
            <a:r>
              <a:rPr lang="en-US" altLang="zh-CN" sz="8000" dirty="0"/>
              <a:t>In order to precisely describe these constraints, and as an aid in precisely defining the meaning of each WSDL 2.0 document, the WSDL 2.0 specification defines a </a:t>
            </a:r>
            <a:r>
              <a:rPr lang="en-US" altLang="zh-CN" sz="8000" i="1" dirty="0">
                <a:solidFill>
                  <a:srgbClr val="FF0000"/>
                </a:solidFill>
              </a:rPr>
              <a:t>component model</a:t>
            </a:r>
            <a:r>
              <a:rPr lang="en-US" altLang="zh-CN" sz="8000" dirty="0">
                <a:solidFill>
                  <a:srgbClr val="FF0000"/>
                </a:solidFill>
              </a:rPr>
              <a:t> </a:t>
            </a:r>
            <a:r>
              <a:rPr lang="en-US" altLang="zh-CN" sz="8000" dirty="0"/>
              <a:t>as an additional layer of abstraction above the XML </a:t>
            </a:r>
            <a:r>
              <a:rPr lang="en-US" altLang="zh-CN" sz="8000" dirty="0" err="1"/>
              <a:t>Infoset</a:t>
            </a:r>
            <a:endParaRPr lang="en-US" altLang="zh-CN" sz="8000" dirty="0"/>
          </a:p>
          <a:p>
            <a:pPr>
              <a:lnSpc>
                <a:spcPct val="120000"/>
              </a:lnSpc>
              <a:defRPr/>
            </a:pPr>
            <a:r>
              <a:rPr lang="en-US" altLang="zh-CN" sz="8000" dirty="0"/>
              <a:t>Constraints and meaning are defined in terms of this component model, and the definition of each component includes a mapping that specifies how values in the component model are derived from corresponding items in the XML </a:t>
            </a:r>
            <a:r>
              <a:rPr lang="en-US" altLang="zh-CN" sz="8000" dirty="0" err="1"/>
              <a:t>Infoset</a:t>
            </a:r>
            <a:endParaRPr lang="en-US" altLang="zh-CN" sz="8000" dirty="0"/>
          </a:p>
          <a:p>
            <a:pPr>
              <a:defRPr/>
            </a:pPr>
            <a:endParaRPr lang="zh-CN" altLang="en-US" dirty="0"/>
          </a:p>
        </p:txBody>
      </p:sp>
      <p:sp>
        <p:nvSpPr>
          <p:cNvPr id="29700" name="灯片编号占位符 3">
            <a:extLst>
              <a:ext uri="{FF2B5EF4-FFF2-40B4-BE49-F238E27FC236}">
                <a16:creationId xmlns:a16="http://schemas.microsoft.com/office/drawing/2014/main" id="{9238C08E-27C6-4512-8055-7DE278A909D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6</a:t>
            </a:fld>
            <a:endParaRPr lang="en-US" altLang="zh-CN" sz="1000">
              <a:solidFill>
                <a:srgbClr val="000000"/>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B6355978-609A-4937-B0DE-EE453322A0D3}"/>
              </a:ext>
            </a:extLst>
          </p:cNvPr>
          <p:cNvSpPr>
            <a:spLocks noGrp="1"/>
          </p:cNvSpPr>
          <p:nvPr>
            <p:ph type="title"/>
          </p:nvPr>
        </p:nvSpPr>
        <p:spPr/>
        <p:txBody>
          <a:bodyPr/>
          <a:lstStyle/>
          <a:p>
            <a:r>
              <a:rPr lang="en-US" altLang="zh-CN" sz="2800" dirty="0"/>
              <a:t>WSDL 2.0 Component Model (2/3)</a:t>
            </a:r>
            <a:endParaRPr lang="zh-CN" altLang="en-US" sz="2800" dirty="0"/>
          </a:p>
        </p:txBody>
      </p:sp>
      <p:pic>
        <p:nvPicPr>
          <p:cNvPr id="31747" name="内容占位符 4" descr="2.bmp">
            <a:extLst>
              <a:ext uri="{FF2B5EF4-FFF2-40B4-BE49-F238E27FC236}">
                <a16:creationId xmlns:a16="http://schemas.microsoft.com/office/drawing/2014/main" id="{888F46DB-1207-43E4-BF9B-2443A5313A7D}"/>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11560" y="1268760"/>
            <a:ext cx="7564437" cy="5356225"/>
          </a:xfrm>
        </p:spPr>
      </p:pic>
      <p:sp>
        <p:nvSpPr>
          <p:cNvPr id="31748" name="灯片编号占位符 3">
            <a:extLst>
              <a:ext uri="{FF2B5EF4-FFF2-40B4-BE49-F238E27FC236}">
                <a16:creationId xmlns:a16="http://schemas.microsoft.com/office/drawing/2014/main" id="{8F6C3C4B-C640-48A2-A87B-D1496E12EAC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7</a:t>
            </a:fld>
            <a:endParaRPr lang="en-US" altLang="zh-CN" sz="1000">
              <a:solidFill>
                <a:srgbClr val="000000"/>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5B366970-D1D8-487B-8E47-9FA7FF2EA5E7}"/>
              </a:ext>
            </a:extLst>
          </p:cNvPr>
          <p:cNvSpPr>
            <a:spLocks noGrp="1"/>
          </p:cNvSpPr>
          <p:nvPr>
            <p:ph type="title"/>
          </p:nvPr>
        </p:nvSpPr>
        <p:spPr/>
        <p:txBody>
          <a:bodyPr/>
          <a:lstStyle/>
          <a:p>
            <a:r>
              <a:rPr lang="en-US" altLang="zh-CN" sz="2800" dirty="0"/>
              <a:t>WSDL 2.0 Component Model (3/3)</a:t>
            </a:r>
            <a:endParaRPr lang="zh-CN" altLang="en-US" sz="2800" dirty="0"/>
          </a:p>
        </p:txBody>
      </p:sp>
      <p:sp>
        <p:nvSpPr>
          <p:cNvPr id="3" name="内容占位符 2">
            <a:extLst>
              <a:ext uri="{FF2B5EF4-FFF2-40B4-BE49-F238E27FC236}">
                <a16:creationId xmlns:a16="http://schemas.microsoft.com/office/drawing/2014/main" id="{AD4F953F-C9AD-4348-AA0B-E6C61A774F3F}"/>
              </a:ext>
            </a:extLst>
          </p:cNvPr>
          <p:cNvSpPr>
            <a:spLocks noGrp="1"/>
          </p:cNvSpPr>
          <p:nvPr>
            <p:ph idx="1"/>
          </p:nvPr>
        </p:nvSpPr>
        <p:spPr/>
        <p:txBody>
          <a:bodyPr>
            <a:normAutofit fontScale="92500" lnSpcReduction="20000"/>
          </a:bodyPr>
          <a:lstStyle/>
          <a:p>
            <a:pPr>
              <a:defRPr/>
            </a:pPr>
            <a:r>
              <a:rPr lang="en-US" altLang="zh-CN" sz="2400" dirty="0"/>
              <a:t>In general, the WSDL 2.0 component model parallels the structure of the required XML </a:t>
            </a:r>
            <a:r>
              <a:rPr lang="en-US" altLang="zh-CN" sz="2400" dirty="0" err="1"/>
              <a:t>Infoset</a:t>
            </a:r>
            <a:r>
              <a:rPr lang="en-US" altLang="zh-CN" sz="2400" dirty="0"/>
              <a:t> illustrated above</a:t>
            </a:r>
          </a:p>
          <a:p>
            <a:pPr>
              <a:defRPr/>
            </a:pPr>
            <a:r>
              <a:rPr lang="en-US" altLang="zh-CN" sz="2400" dirty="0"/>
              <a:t>Since WSDL 2.0 relies heavily on the component model to convey the meaning of the constructs in the WSDL 2.0 language, the Description component can be regarded as representing the meaning of the description element information item, and hence, it represents the meaning of the WSDL 2.0 document as a whole</a:t>
            </a:r>
          </a:p>
          <a:p>
            <a:pPr>
              <a:defRPr/>
            </a:pPr>
            <a:r>
              <a:rPr lang="en-US" altLang="zh-CN" sz="2400" dirty="0"/>
              <a:t>Furthermore, each of these components has properties whose values are (usually) derived from the element and attribute information item children of those element information items</a:t>
            </a:r>
          </a:p>
          <a:p>
            <a:pPr lvl="1">
              <a:defRPr/>
            </a:pPr>
            <a:r>
              <a:rPr lang="en-US" altLang="zh-CN" sz="1800" dirty="0"/>
              <a:t>For example, the </a:t>
            </a:r>
            <a:r>
              <a:rPr lang="en-US" altLang="zh-CN" sz="1800" dirty="0">
                <a:solidFill>
                  <a:srgbClr val="FF0000"/>
                </a:solidFill>
              </a:rPr>
              <a:t>service</a:t>
            </a:r>
            <a:r>
              <a:rPr lang="en-US" altLang="zh-CN" sz="1800" dirty="0"/>
              <a:t> component corresponds to the </a:t>
            </a:r>
            <a:r>
              <a:rPr lang="en-US" altLang="zh-CN" sz="1800" dirty="0">
                <a:hlinkClick r:id="rId3" action="ppaction://hlinkfile"/>
              </a:rPr>
              <a:t>service </a:t>
            </a:r>
            <a:r>
              <a:rPr lang="en-US" altLang="zh-CN" sz="1800" dirty="0"/>
              <a:t>element information item, so the </a:t>
            </a:r>
            <a:r>
              <a:rPr lang="en-US" altLang="zh-CN" sz="1800" dirty="0">
                <a:solidFill>
                  <a:srgbClr val="FF0000"/>
                </a:solidFill>
              </a:rPr>
              <a:t>service</a:t>
            </a:r>
            <a:r>
              <a:rPr lang="en-US" altLang="zh-CN" sz="1800" dirty="0"/>
              <a:t> component has an {</a:t>
            </a:r>
            <a:r>
              <a:rPr lang="en-US" altLang="zh-CN" sz="1800" dirty="0">
                <a:solidFill>
                  <a:srgbClr val="FF0000"/>
                </a:solidFill>
              </a:rPr>
              <a:t>endpoints</a:t>
            </a:r>
            <a:r>
              <a:rPr lang="en-US" altLang="zh-CN" sz="1800" dirty="0"/>
              <a:t>} property whose value is a set of </a:t>
            </a:r>
            <a:r>
              <a:rPr lang="en-US" altLang="zh-CN" sz="1800" dirty="0">
                <a:solidFill>
                  <a:srgbClr val="FF0000"/>
                </a:solidFill>
              </a:rPr>
              <a:t>endpoints </a:t>
            </a:r>
            <a:r>
              <a:rPr lang="en-US" altLang="zh-CN" sz="1800" dirty="0"/>
              <a:t>components corresponding to the </a:t>
            </a:r>
            <a:r>
              <a:rPr lang="en-US" altLang="zh-CN" sz="1800" dirty="0">
                <a:hlinkClick r:id="rId3" action="ppaction://hlinkfile"/>
              </a:rPr>
              <a:t>endpoint </a:t>
            </a:r>
            <a:r>
              <a:rPr lang="en-US" altLang="zh-CN" sz="1800" dirty="0"/>
              <a:t>element information item children of that service element information item</a:t>
            </a:r>
          </a:p>
          <a:p>
            <a:pPr>
              <a:defRPr/>
            </a:pPr>
            <a:r>
              <a:rPr lang="en-US" altLang="zh-CN" sz="2400" dirty="0"/>
              <a:t>The WSDL 2.0 component model is particularly helpful in defining the meaning of </a:t>
            </a:r>
            <a:r>
              <a:rPr lang="en-US" altLang="zh-CN" sz="2400" dirty="0">
                <a:hlinkClick r:id="rId4" action="ppaction://hlinkfile"/>
              </a:rPr>
              <a:t>import</a:t>
            </a:r>
            <a:r>
              <a:rPr lang="en-US" altLang="zh-CN" sz="2400" dirty="0"/>
              <a:t> and </a:t>
            </a:r>
            <a:r>
              <a:rPr lang="en-US" altLang="zh-CN" sz="2400" dirty="0">
                <a:hlinkClick r:id="rId4" action="ppaction://hlinkfile"/>
              </a:rPr>
              <a:t>include</a:t>
            </a:r>
            <a:r>
              <a:rPr lang="en-US" altLang="zh-CN" sz="2400" dirty="0"/>
              <a:t> elements</a:t>
            </a:r>
          </a:p>
        </p:txBody>
      </p:sp>
      <p:sp>
        <p:nvSpPr>
          <p:cNvPr id="33796" name="灯片编号占位符 3">
            <a:extLst>
              <a:ext uri="{FF2B5EF4-FFF2-40B4-BE49-F238E27FC236}">
                <a16:creationId xmlns:a16="http://schemas.microsoft.com/office/drawing/2014/main" id="{E5DBA288-5E21-424E-8066-B458EDB5BA9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8</a:t>
            </a:fld>
            <a:endParaRPr lang="en-US" altLang="zh-CN" sz="1000">
              <a:solidFill>
                <a:srgbClr val="0000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F3DDE1CC-98C2-4D9A-9E3C-728E1EF5AFE1}"/>
              </a:ext>
            </a:extLst>
          </p:cNvPr>
          <p:cNvSpPr>
            <a:spLocks noGrp="1"/>
          </p:cNvSpPr>
          <p:nvPr>
            <p:ph type="title"/>
          </p:nvPr>
        </p:nvSpPr>
        <p:spPr/>
        <p:txBody>
          <a:bodyPr/>
          <a:lstStyle/>
          <a:p>
            <a:r>
              <a:rPr lang="en-US" altLang="zh-CN" sz="2800" dirty="0"/>
              <a:t>Importing WSDL</a:t>
            </a:r>
            <a:endParaRPr lang="zh-CN" altLang="en-US" sz="2800" dirty="0"/>
          </a:p>
        </p:txBody>
      </p:sp>
      <p:sp>
        <p:nvSpPr>
          <p:cNvPr id="22531" name="内容占位符 2">
            <a:extLst>
              <a:ext uri="{FF2B5EF4-FFF2-40B4-BE49-F238E27FC236}">
                <a16:creationId xmlns:a16="http://schemas.microsoft.com/office/drawing/2014/main" id="{DB176304-C0DF-4BCC-8B16-689E60CCE85A}"/>
              </a:ext>
            </a:extLst>
          </p:cNvPr>
          <p:cNvSpPr>
            <a:spLocks noGrp="1"/>
          </p:cNvSpPr>
          <p:nvPr>
            <p:ph idx="1"/>
          </p:nvPr>
        </p:nvSpPr>
        <p:spPr/>
        <p:txBody>
          <a:bodyPr>
            <a:normAutofit fontScale="92500"/>
          </a:bodyPr>
          <a:lstStyle/>
          <a:p>
            <a:pPr>
              <a:defRPr/>
            </a:pPr>
            <a:r>
              <a:rPr lang="en-US" altLang="zh-CN" sz="2400" dirty="0"/>
              <a:t>In some circumstances WSDL authors may want to split up a Web service description into two or </a:t>
            </a:r>
            <a:r>
              <a:rPr lang="en-US" altLang="zh-CN" sz="2400"/>
              <a:t>more documents</a:t>
            </a:r>
          </a:p>
          <a:p>
            <a:pPr>
              <a:defRPr/>
            </a:pPr>
            <a:r>
              <a:rPr lang="en-US" altLang="zh-CN" sz="2400"/>
              <a:t>For </a:t>
            </a:r>
            <a:r>
              <a:rPr lang="en-US" altLang="zh-CN" sz="2400" dirty="0"/>
              <a:t>example:</a:t>
            </a:r>
          </a:p>
          <a:p>
            <a:pPr lvl="1">
              <a:defRPr/>
            </a:pPr>
            <a:r>
              <a:rPr lang="en-US" altLang="zh-CN" sz="2000" dirty="0"/>
              <a:t>If a description is getting long or is being developed by several authors, then it is convenient to divide it into several parts</a:t>
            </a:r>
          </a:p>
          <a:p>
            <a:pPr lvl="1">
              <a:defRPr/>
            </a:pPr>
            <a:r>
              <a:rPr lang="en-US" altLang="zh-CN" sz="2000" dirty="0"/>
              <a:t>When parts of the description are expected to be reused in several contexts</a:t>
            </a:r>
          </a:p>
          <a:p>
            <a:pPr>
              <a:defRPr/>
            </a:pPr>
            <a:r>
              <a:rPr lang="en-US" altLang="zh-CN" sz="2400" dirty="0"/>
              <a:t>Clearly it is undesirable to cut and paste sections of one document into another, since that is error prone and leads to maintenance problems, and you may need to reuse components that belong to a different </a:t>
            </a:r>
            <a:r>
              <a:rPr lang="en-US" altLang="zh-CN" sz="2400" dirty="0" err="1">
                <a:hlinkClick r:id="rId3" action="ppaction://hlinkfile"/>
              </a:rPr>
              <a:t>wsdl:targetNamespace</a:t>
            </a:r>
            <a:r>
              <a:rPr lang="en-US" altLang="zh-CN" sz="2400" dirty="0"/>
              <a:t> owned by others</a:t>
            </a:r>
          </a:p>
          <a:p>
            <a:pPr>
              <a:defRPr/>
            </a:pPr>
            <a:r>
              <a:rPr lang="en-US" altLang="zh-CN" sz="2400" dirty="0"/>
              <a:t>To solve these problems, WSDL 2.0 provides two mechanisms for modularizing Web service description documents: </a:t>
            </a:r>
            <a:r>
              <a:rPr lang="en-US" altLang="zh-CN" sz="2400" dirty="0">
                <a:solidFill>
                  <a:srgbClr val="FF0000"/>
                </a:solidFill>
              </a:rPr>
              <a:t>import</a:t>
            </a:r>
            <a:r>
              <a:rPr lang="en-US" altLang="zh-CN" sz="2400" dirty="0"/>
              <a:t> and </a:t>
            </a:r>
            <a:r>
              <a:rPr lang="en-US" altLang="zh-CN" sz="2400" dirty="0">
                <a:solidFill>
                  <a:srgbClr val="FF0000"/>
                </a:solidFill>
              </a:rPr>
              <a:t>include</a:t>
            </a:r>
          </a:p>
        </p:txBody>
      </p:sp>
      <p:sp>
        <p:nvSpPr>
          <p:cNvPr id="35844" name="灯片编号占位符 3">
            <a:extLst>
              <a:ext uri="{FF2B5EF4-FFF2-40B4-BE49-F238E27FC236}">
                <a16:creationId xmlns:a16="http://schemas.microsoft.com/office/drawing/2014/main" id="{1C50312D-3B00-4CE0-95BB-4C353CE300E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9</a:t>
            </a:fld>
            <a:endParaRPr lang="en-US" altLang="zh-CN" sz="1000">
              <a:solidFill>
                <a:srgbClr val="000000"/>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DE4B9EC4-7BB4-40FD-8262-80C3A98FC10E}"/>
              </a:ext>
            </a:extLst>
          </p:cNvPr>
          <p:cNvSpPr>
            <a:spLocks noGrp="1"/>
          </p:cNvSpPr>
          <p:nvPr>
            <p:ph type="title"/>
          </p:nvPr>
        </p:nvSpPr>
        <p:spPr/>
        <p:txBody>
          <a:bodyPr/>
          <a:lstStyle/>
          <a:p>
            <a:r>
              <a:rPr lang="en-US" altLang="zh-CN" sz="2800" dirty="0"/>
              <a:t>WSDL 2.0 Import and Include (1/3)</a:t>
            </a:r>
            <a:endParaRPr lang="zh-CN" altLang="en-US" sz="2800" dirty="0"/>
          </a:p>
        </p:txBody>
      </p:sp>
      <p:sp>
        <p:nvSpPr>
          <p:cNvPr id="3" name="内容占位符 2">
            <a:extLst>
              <a:ext uri="{FF2B5EF4-FFF2-40B4-BE49-F238E27FC236}">
                <a16:creationId xmlns:a16="http://schemas.microsoft.com/office/drawing/2014/main" id="{B3C8A275-C992-4B49-88CF-ED1674F1B431}"/>
              </a:ext>
            </a:extLst>
          </p:cNvPr>
          <p:cNvSpPr>
            <a:spLocks noGrp="1"/>
          </p:cNvSpPr>
          <p:nvPr>
            <p:ph idx="1"/>
          </p:nvPr>
        </p:nvSpPr>
        <p:spPr/>
        <p:txBody>
          <a:bodyPr>
            <a:normAutofit/>
          </a:bodyPr>
          <a:lstStyle/>
          <a:p>
            <a:pPr>
              <a:lnSpc>
                <a:spcPct val="120000"/>
              </a:lnSpc>
              <a:defRPr/>
            </a:pPr>
            <a:r>
              <a:rPr lang="en-US" altLang="zh-CN" sz="2400" dirty="0"/>
              <a:t>The </a:t>
            </a:r>
            <a:r>
              <a:rPr lang="en-US" altLang="zh-CN" sz="2400" dirty="0">
                <a:hlinkClick r:id="rId3" action="ppaction://hlinkfile"/>
              </a:rPr>
              <a:t>include</a:t>
            </a:r>
            <a:r>
              <a:rPr lang="en-US" altLang="zh-CN" sz="2400" dirty="0"/>
              <a:t> element is used to assemble the contents of a given WSDL 2.0 namespace from several WSDL 2.0 documents that define components for that namespace</a:t>
            </a:r>
          </a:p>
          <a:p>
            <a:pPr lvl="1">
              <a:lnSpc>
                <a:spcPct val="120000"/>
              </a:lnSpc>
              <a:defRPr/>
            </a:pPr>
            <a:r>
              <a:rPr lang="en-US" altLang="zh-CN" sz="2000" dirty="0"/>
              <a:t>The components defined by a given WSDL 2.0 document consist of those whose definitions are contained in the document and those that are defined by any WSDL 2.0 documents that are included in it via the </a:t>
            </a:r>
            <a:r>
              <a:rPr lang="en-US" altLang="zh-CN" sz="2000" dirty="0">
                <a:hlinkClick r:id="rId3" action="ppaction://hlinkfile"/>
              </a:rPr>
              <a:t>include</a:t>
            </a:r>
            <a:r>
              <a:rPr lang="en-US" altLang="zh-CN" sz="2000" dirty="0"/>
              <a:t> element</a:t>
            </a:r>
          </a:p>
          <a:p>
            <a:pPr lvl="1">
              <a:lnSpc>
                <a:spcPct val="120000"/>
              </a:lnSpc>
              <a:defRPr/>
            </a:pPr>
            <a:r>
              <a:rPr lang="en-US" altLang="zh-CN" sz="2000" dirty="0"/>
              <a:t>The effect of the </a:t>
            </a:r>
            <a:r>
              <a:rPr lang="en-US" altLang="zh-CN" sz="2000" dirty="0">
                <a:hlinkClick r:id="rId3" action="ppaction://hlinkfile"/>
              </a:rPr>
              <a:t>include</a:t>
            </a:r>
            <a:r>
              <a:rPr lang="en-US" altLang="zh-CN" sz="2000" dirty="0"/>
              <a:t> element is cumulative so that if document A includes document B and document B includes document C, then the components defined by document A consist of those whose definitions are contained in documents A, B, and C</a:t>
            </a:r>
          </a:p>
        </p:txBody>
      </p:sp>
      <p:sp>
        <p:nvSpPr>
          <p:cNvPr id="37892" name="灯片编号占位符 3">
            <a:extLst>
              <a:ext uri="{FF2B5EF4-FFF2-40B4-BE49-F238E27FC236}">
                <a16:creationId xmlns:a16="http://schemas.microsoft.com/office/drawing/2014/main" id="{A1000DD2-6807-4CA7-9BC7-D35B23EA51A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10</a:t>
            </a:fld>
            <a:endParaRPr lang="en-US" altLang="zh-CN" sz="1000">
              <a:solidFill>
                <a:srgbClr val="000000"/>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5E04985F-EBE0-4D50-A00B-43689A9C9EB0}"/>
              </a:ext>
            </a:extLst>
          </p:cNvPr>
          <p:cNvSpPr>
            <a:spLocks noGrp="1"/>
          </p:cNvSpPr>
          <p:nvPr>
            <p:ph type="title"/>
          </p:nvPr>
        </p:nvSpPr>
        <p:spPr/>
        <p:txBody>
          <a:bodyPr/>
          <a:lstStyle/>
          <a:p>
            <a:r>
              <a:rPr lang="en-US" altLang="zh-CN" sz="2800" dirty="0"/>
              <a:t>WSDL 2.0 Import and Include (2/3)</a:t>
            </a:r>
            <a:endParaRPr lang="zh-CN" altLang="en-US" sz="2800" dirty="0"/>
          </a:p>
        </p:txBody>
      </p:sp>
      <p:sp>
        <p:nvSpPr>
          <p:cNvPr id="39939" name="内容占位符 2">
            <a:extLst>
              <a:ext uri="{FF2B5EF4-FFF2-40B4-BE49-F238E27FC236}">
                <a16:creationId xmlns:a16="http://schemas.microsoft.com/office/drawing/2014/main" id="{5351F39F-F07E-4EDE-944E-3E7C69586B34}"/>
              </a:ext>
            </a:extLst>
          </p:cNvPr>
          <p:cNvSpPr>
            <a:spLocks noGrp="1"/>
          </p:cNvSpPr>
          <p:nvPr>
            <p:ph idx="1"/>
          </p:nvPr>
        </p:nvSpPr>
        <p:spPr/>
        <p:txBody>
          <a:bodyPr/>
          <a:lstStyle/>
          <a:p>
            <a:pPr>
              <a:lnSpc>
                <a:spcPct val="120000"/>
              </a:lnSpc>
            </a:pPr>
            <a:r>
              <a:rPr lang="en-US" altLang="zh-CN" sz="2400"/>
              <a:t>The </a:t>
            </a:r>
            <a:r>
              <a:rPr lang="en-US" altLang="zh-CN" sz="2400">
                <a:hlinkClick r:id="rId3" action="ppaction://hlinkfile"/>
              </a:rPr>
              <a:t>import</a:t>
            </a:r>
            <a:r>
              <a:rPr lang="en-US" altLang="zh-CN" sz="2400"/>
              <a:t> element declares that the components whose definitions are contained in a WSDL 2.0 document for a given WSDL 2.0 namespace refer to components that belong to a </a:t>
            </a:r>
            <a:r>
              <a:rPr lang="en-US" altLang="zh-CN" sz="2400">
                <a:solidFill>
                  <a:srgbClr val="FF0000"/>
                </a:solidFill>
              </a:rPr>
              <a:t>different</a:t>
            </a:r>
            <a:r>
              <a:rPr lang="en-US" altLang="zh-CN" sz="2400"/>
              <a:t> WSDL 2.0 namespace</a:t>
            </a:r>
          </a:p>
          <a:p>
            <a:pPr lvl="1">
              <a:lnSpc>
                <a:spcPct val="120000"/>
              </a:lnSpc>
            </a:pPr>
            <a:r>
              <a:rPr lang="en-US" altLang="zh-CN" sz="2000"/>
              <a:t>If a WSDL 2.0 document contains definitions of components that refer to other namespaces, then those namespaces must be declared via an </a:t>
            </a:r>
            <a:r>
              <a:rPr lang="en-US" altLang="zh-CN" sz="2000">
                <a:hlinkClick r:id="rId3" action="ppaction://hlinkfile"/>
              </a:rPr>
              <a:t>import</a:t>
            </a:r>
            <a:r>
              <a:rPr lang="en-US" altLang="zh-CN" sz="2000"/>
              <a:t> element</a:t>
            </a:r>
          </a:p>
          <a:p>
            <a:pPr lvl="1">
              <a:lnSpc>
                <a:spcPct val="120000"/>
              </a:lnSpc>
            </a:pPr>
            <a:r>
              <a:rPr lang="en-US" altLang="zh-CN" sz="2000"/>
              <a:t>The </a:t>
            </a:r>
            <a:r>
              <a:rPr lang="en-US" altLang="zh-CN" sz="2000">
                <a:hlinkClick r:id="rId3" action="ppaction://hlinkfile"/>
              </a:rPr>
              <a:t>import</a:t>
            </a:r>
            <a:r>
              <a:rPr lang="en-US" altLang="zh-CN" sz="2000"/>
              <a:t> element also has an optional </a:t>
            </a:r>
            <a:r>
              <a:rPr lang="en-US" altLang="zh-CN" sz="2000">
                <a:hlinkClick r:id="rId3" action="ppaction://hlinkfile"/>
              </a:rPr>
              <a:t>location</a:t>
            </a:r>
            <a:r>
              <a:rPr lang="en-US" altLang="zh-CN" sz="2000"/>
              <a:t> attribute that is a hint to the processor where the definitions of the imported namespace can be found. However, the processor may find the definitions by other means, for example, by using a catalog</a:t>
            </a:r>
          </a:p>
        </p:txBody>
      </p:sp>
      <p:sp>
        <p:nvSpPr>
          <p:cNvPr id="39940" name="灯片编号占位符 3">
            <a:extLst>
              <a:ext uri="{FF2B5EF4-FFF2-40B4-BE49-F238E27FC236}">
                <a16:creationId xmlns:a16="http://schemas.microsoft.com/office/drawing/2014/main" id="{63A51A9E-6379-4767-B5D3-9916919F1174}"/>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11</a:t>
            </a:fld>
            <a:endParaRPr lang="en-US" altLang="zh-CN" sz="1000">
              <a:solidFill>
                <a:srgbClr val="000000"/>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2839DBD7-A6A9-4A5B-8496-41964C13F709}"/>
              </a:ext>
            </a:extLst>
          </p:cNvPr>
          <p:cNvSpPr>
            <a:spLocks noGrp="1"/>
          </p:cNvSpPr>
          <p:nvPr>
            <p:ph type="title"/>
          </p:nvPr>
        </p:nvSpPr>
        <p:spPr/>
        <p:txBody>
          <a:bodyPr/>
          <a:lstStyle/>
          <a:p>
            <a:r>
              <a:rPr lang="en-US" altLang="zh-CN" sz="2800" dirty="0"/>
              <a:t>WSDL 2.0 Import and Include (3/3)</a:t>
            </a:r>
            <a:endParaRPr lang="zh-CN" altLang="en-US" sz="2800" dirty="0"/>
          </a:p>
        </p:txBody>
      </p:sp>
      <p:sp>
        <p:nvSpPr>
          <p:cNvPr id="3" name="内容占位符 2">
            <a:extLst>
              <a:ext uri="{FF2B5EF4-FFF2-40B4-BE49-F238E27FC236}">
                <a16:creationId xmlns:a16="http://schemas.microsoft.com/office/drawing/2014/main" id="{F172FD0B-B082-4CA5-9C2B-BDCD26BC435D}"/>
              </a:ext>
            </a:extLst>
          </p:cNvPr>
          <p:cNvSpPr>
            <a:spLocks noGrp="1"/>
          </p:cNvSpPr>
          <p:nvPr>
            <p:ph idx="1"/>
          </p:nvPr>
        </p:nvSpPr>
        <p:spPr/>
        <p:txBody>
          <a:bodyPr>
            <a:normAutofit lnSpcReduction="10000"/>
          </a:bodyPr>
          <a:lstStyle/>
          <a:p>
            <a:pPr>
              <a:lnSpc>
                <a:spcPct val="120000"/>
              </a:lnSpc>
              <a:defRPr/>
            </a:pPr>
            <a:r>
              <a:rPr lang="en-US" altLang="zh-CN" sz="2400" dirty="0"/>
              <a:t>After processing any include elements and locating the components that belong to any imported namespaces, the WSDL 2.0 component model for a WSDL 2.0 document will contain a set of components that belong to the document's WSDL 2.0 namespace and any imported namespaces</a:t>
            </a:r>
          </a:p>
          <a:p>
            <a:pPr>
              <a:lnSpc>
                <a:spcPct val="120000"/>
              </a:lnSpc>
              <a:defRPr/>
            </a:pPr>
            <a:r>
              <a:rPr lang="en-US" altLang="zh-CN" sz="2400" dirty="0"/>
              <a:t>These components will refer to each other, usually via </a:t>
            </a:r>
            <a:r>
              <a:rPr lang="en-US" altLang="zh-CN" sz="2400" dirty="0" err="1">
                <a:solidFill>
                  <a:srgbClr val="FF0000"/>
                </a:solidFill>
              </a:rPr>
              <a:t>QName</a:t>
            </a:r>
            <a:r>
              <a:rPr lang="en-US" altLang="zh-CN" sz="2400" dirty="0"/>
              <a:t> references</a:t>
            </a:r>
          </a:p>
          <a:p>
            <a:pPr>
              <a:lnSpc>
                <a:spcPct val="120000"/>
              </a:lnSpc>
              <a:defRPr/>
            </a:pPr>
            <a:r>
              <a:rPr lang="en-US" altLang="zh-CN" sz="2400" dirty="0"/>
              <a:t>A WSDL 2.0 document is invalid if any component reference cannot be resolved, whether or not the referenced component belongs to the same or a different namespace</a:t>
            </a:r>
          </a:p>
        </p:txBody>
      </p:sp>
      <p:sp>
        <p:nvSpPr>
          <p:cNvPr id="41988" name="灯片编号占位符 3">
            <a:extLst>
              <a:ext uri="{FF2B5EF4-FFF2-40B4-BE49-F238E27FC236}">
                <a16:creationId xmlns:a16="http://schemas.microsoft.com/office/drawing/2014/main" id="{BBE55B93-743B-461F-BBA2-C1EB27C54AA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8F8DF14-EC4A-4942-8CB3-11539DF9E6D9}" type="slidenum">
              <a:rPr lang="en-US" altLang="zh-CN" smtClean="0"/>
              <a:pPr/>
              <a:t>12</a:t>
            </a:fld>
            <a:endParaRPr lang="en-US" altLang="zh-CN" sz="1000">
              <a:solidFill>
                <a:srgbClr val="000000"/>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979F857C-8D06-4C7F-A7B5-DC3C605409D3}"/>
              </a:ext>
            </a:extLst>
          </p:cNvPr>
          <p:cNvSpPr>
            <a:spLocks noGrp="1"/>
          </p:cNvSpPr>
          <p:nvPr>
            <p:ph type="title"/>
          </p:nvPr>
        </p:nvSpPr>
        <p:spPr/>
        <p:txBody>
          <a:bodyPr/>
          <a:lstStyle/>
          <a:p>
            <a:r>
              <a:rPr lang="en-US" altLang="zh-CN" sz="2800" dirty="0"/>
              <a:t>WSDL that defines faults (1/2)</a:t>
            </a:r>
          </a:p>
        </p:txBody>
      </p:sp>
      <p:sp>
        <p:nvSpPr>
          <p:cNvPr id="21507" name="内容占位符 2">
            <a:extLst>
              <a:ext uri="{FF2B5EF4-FFF2-40B4-BE49-F238E27FC236}">
                <a16:creationId xmlns:a16="http://schemas.microsoft.com/office/drawing/2014/main" id="{C441B961-07EE-4F41-AD09-44F7DEFB8851}"/>
              </a:ext>
            </a:extLst>
          </p:cNvPr>
          <p:cNvSpPr>
            <a:spLocks noGrp="1"/>
          </p:cNvSpPr>
          <p:nvPr>
            <p:ph idx="1"/>
          </p:nvPr>
        </p:nvSpPr>
        <p:spPr>
          <a:xfrm>
            <a:off x="449367" y="1340768"/>
            <a:ext cx="8229600" cy="1108075"/>
          </a:xfrm>
        </p:spPr>
        <p:txBody>
          <a:bodyPr/>
          <a:lstStyle/>
          <a:p>
            <a:r>
              <a:rPr lang="en-US" altLang="zh-CN" sz="2000" dirty="0"/>
              <a:t>This example shows a standard credit card validation services provided by a financial services company, which defines common errors in validation</a:t>
            </a:r>
          </a:p>
        </p:txBody>
      </p:sp>
      <p:sp>
        <p:nvSpPr>
          <p:cNvPr id="21508" name="灯片编号占位符 3">
            <a:extLst>
              <a:ext uri="{FF2B5EF4-FFF2-40B4-BE49-F238E27FC236}">
                <a16:creationId xmlns:a16="http://schemas.microsoft.com/office/drawing/2014/main" id="{8CC3387D-35ED-4C57-AE43-DBB9F9BC0BB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7934F3C-DD8C-46FF-8459-2F42C80CA2DF}" type="slidenum">
              <a:rPr lang="en-US" altLang="zh-CN" smtClean="0"/>
              <a:pPr/>
              <a:t>13</a:t>
            </a:fld>
            <a:endParaRPr lang="en-US" altLang="zh-CN" sz="1000">
              <a:solidFill>
                <a:srgbClr val="000000"/>
              </a:solidFill>
            </a:endParaRPr>
          </a:p>
        </p:txBody>
      </p:sp>
      <p:sp>
        <p:nvSpPr>
          <p:cNvPr id="5" name="Text Box 4">
            <a:extLst>
              <a:ext uri="{FF2B5EF4-FFF2-40B4-BE49-F238E27FC236}">
                <a16:creationId xmlns:a16="http://schemas.microsoft.com/office/drawing/2014/main" id="{FFBDDBAA-3FA7-47B7-A033-C63AAC16C8F3}"/>
              </a:ext>
            </a:extLst>
          </p:cNvPr>
          <p:cNvSpPr txBox="1">
            <a:spLocks noChangeArrowheads="1"/>
          </p:cNvSpPr>
          <p:nvPr/>
        </p:nvSpPr>
        <p:spPr bwMode="auto">
          <a:xfrm>
            <a:off x="457200" y="2708275"/>
            <a:ext cx="8229600" cy="3927229"/>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http://finance.example.com/CreditCards/wsdl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http://finance.example.com/CreditCards/wsdl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xmlns:cc</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http://finance.example.com/CreditCards/xsd</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This document describes standard faults for use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by Web services that process credit cards.</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xs:import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xmlns:xs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http://www.w3.org/2001/XMLSchema</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http://finance.example.com/CreditCardFaults/xsd</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credit-card-faults.xsd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endParaRPr lang="zh-CN" altLang="en-US" sz="1400" dirty="0">
              <a:solidFill>
                <a:srgbClr val="000000"/>
              </a:solidFill>
              <a:highlight>
                <a:srgbClr val="FFFFFF"/>
              </a:highlight>
              <a:latin typeface="Aria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E5C14BD6-7391-441A-BBC3-EAF8637C321B}"/>
              </a:ext>
            </a:extLst>
          </p:cNvPr>
          <p:cNvSpPr>
            <a:spLocks noGrp="1"/>
          </p:cNvSpPr>
          <p:nvPr>
            <p:ph type="title"/>
          </p:nvPr>
        </p:nvSpPr>
        <p:spPr/>
        <p:txBody>
          <a:bodyPr/>
          <a:lstStyle/>
          <a:p>
            <a:r>
              <a:rPr lang="en-US" altLang="zh-CN" sz="2800" dirty="0"/>
              <a:t>WSDL that defines faults (2/2)</a:t>
            </a:r>
          </a:p>
        </p:txBody>
      </p:sp>
      <p:sp>
        <p:nvSpPr>
          <p:cNvPr id="23555" name="灯片编号占位符 3">
            <a:extLst>
              <a:ext uri="{FF2B5EF4-FFF2-40B4-BE49-F238E27FC236}">
                <a16:creationId xmlns:a16="http://schemas.microsoft.com/office/drawing/2014/main" id="{05E3F6E1-6F37-4A8E-A209-37DF3A6167B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7934F3C-DD8C-46FF-8459-2F42C80CA2DF}" type="slidenum">
              <a:rPr lang="en-US" altLang="zh-CN" smtClean="0"/>
              <a:pPr/>
              <a:t>14</a:t>
            </a:fld>
            <a:endParaRPr lang="en-US" altLang="zh-CN" sz="1000">
              <a:solidFill>
                <a:srgbClr val="000000"/>
              </a:solidFill>
            </a:endParaRPr>
          </a:p>
        </p:txBody>
      </p:sp>
      <p:sp>
        <p:nvSpPr>
          <p:cNvPr id="5" name="Text Box 4">
            <a:extLst>
              <a:ext uri="{FF2B5EF4-FFF2-40B4-BE49-F238E27FC236}">
                <a16:creationId xmlns:a16="http://schemas.microsoft.com/office/drawing/2014/main" id="{5A4AD720-10E1-416D-9D85-6504E2E42E93}"/>
              </a:ext>
            </a:extLst>
          </p:cNvPr>
          <p:cNvSpPr txBox="1">
            <a:spLocks noChangeArrowheads="1"/>
          </p:cNvSpPr>
          <p:nvPr/>
        </p:nvSpPr>
        <p:spPr bwMode="auto">
          <a:xfrm>
            <a:off x="457200" y="1628800"/>
            <a:ext cx="8229600" cy="4702826"/>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creditCardFaults</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fault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cancelledCreditCard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cc:CancelledCreditCard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Thrown when the credit card has been cancelled.</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fault</a:t>
            </a:r>
            <a:r>
              <a:rPr lang="en-US" altLang="zh-CN" sz="1400" dirty="0">
                <a:solidFill>
                  <a:srgbClr val="0000FF"/>
                </a:solidFill>
                <a:highlight>
                  <a:srgbClr val="FFFFFF"/>
                </a:highlight>
                <a:latin typeface="Arial"/>
              </a:rPr>
              <a:t>&gt;</a:t>
            </a:r>
            <a:r>
              <a:rPr lang="zh-CN" altLang="en-US"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fault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expiredCreditCard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cc:ExpiredCreditCard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Thrown when the credit card has expired.</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fault</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fault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invalidCreditCardNumber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cc:InvalidCreditCardNumber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Thrown when the credit card number is invalid.</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This fault will occur if the wrong credit card type is specified.</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fault</a:t>
            </a:r>
            <a:r>
              <a:rPr lang="en-US" altLang="zh-CN" sz="1400" dirty="0">
                <a:solidFill>
                  <a:srgbClr val="0000FF"/>
                </a:solidFill>
                <a:highlight>
                  <a:srgbClr val="FFFFFF"/>
                </a:highlight>
                <a:latin typeface="Arial"/>
              </a:rPr>
              <a:t>&gt;</a:t>
            </a:r>
            <a:r>
              <a:rPr lang="zh-CN" altLang="en-US"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fault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invalidExpirationDate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cc:InvalidExpirationDate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Thrown when the expiration date is invalid.</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fault</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1140914D-08CA-4167-8D51-FCF355E16DF3}"/>
              </a:ext>
            </a:extLst>
          </p:cNvPr>
          <p:cNvSpPr>
            <a:spLocks noChangeShapeType="1"/>
          </p:cNvSpPr>
          <p:nvPr/>
        </p:nvSpPr>
        <p:spPr bwMode="auto">
          <a:xfrm flipH="1">
            <a:off x="3563938" y="1895475"/>
            <a:ext cx="1211262" cy="1651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7D327C78-0199-48AC-8FF8-A783BA3ED619}"/>
              </a:ext>
            </a:extLst>
          </p:cNvPr>
          <p:cNvSpPr txBox="1">
            <a:spLocks noChangeArrowheads="1"/>
          </p:cNvSpPr>
          <p:nvPr/>
        </p:nvSpPr>
        <p:spPr bwMode="auto">
          <a:xfrm>
            <a:off x="4751388" y="1701800"/>
            <a:ext cx="4156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A fault lib. Where is the operations?</a:t>
            </a:r>
          </a:p>
        </p:txBody>
      </p:sp>
      <p:sp>
        <p:nvSpPr>
          <p:cNvPr id="8" name="Line 15">
            <a:extLst>
              <a:ext uri="{FF2B5EF4-FFF2-40B4-BE49-F238E27FC236}">
                <a16:creationId xmlns:a16="http://schemas.microsoft.com/office/drawing/2014/main" id="{7A232120-6D9D-42AC-95A3-F0E0DC13F4E5}"/>
              </a:ext>
            </a:extLst>
          </p:cNvPr>
          <p:cNvSpPr>
            <a:spLocks noChangeShapeType="1"/>
          </p:cNvSpPr>
          <p:nvPr/>
        </p:nvSpPr>
        <p:spPr bwMode="auto">
          <a:xfrm flipH="1">
            <a:off x="6169025" y="2997200"/>
            <a:ext cx="1350963" cy="1651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74671E38-9C92-4F2D-9C72-D89101EFB717}"/>
              </a:ext>
            </a:extLst>
          </p:cNvPr>
          <p:cNvSpPr txBox="1">
            <a:spLocks noChangeArrowheads="1"/>
          </p:cNvSpPr>
          <p:nvPr/>
        </p:nvSpPr>
        <p:spPr bwMode="auto">
          <a:xfrm>
            <a:off x="7413625" y="2643188"/>
            <a:ext cx="17303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Four kinds of fault belongs to one namespace</a:t>
            </a:r>
          </a:p>
        </p:txBody>
      </p:sp>
      <p:sp>
        <p:nvSpPr>
          <p:cNvPr id="10" name="Line 15">
            <a:extLst>
              <a:ext uri="{FF2B5EF4-FFF2-40B4-BE49-F238E27FC236}">
                <a16:creationId xmlns:a16="http://schemas.microsoft.com/office/drawing/2014/main" id="{B4A85484-45F0-4CC6-835C-B318EA749E71}"/>
              </a:ext>
            </a:extLst>
          </p:cNvPr>
          <p:cNvSpPr>
            <a:spLocks noChangeShapeType="1"/>
          </p:cNvSpPr>
          <p:nvPr/>
        </p:nvSpPr>
        <p:spPr bwMode="auto">
          <a:xfrm flipH="1">
            <a:off x="6278563" y="2997200"/>
            <a:ext cx="1228725" cy="7778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15">
            <a:extLst>
              <a:ext uri="{FF2B5EF4-FFF2-40B4-BE49-F238E27FC236}">
                <a16:creationId xmlns:a16="http://schemas.microsoft.com/office/drawing/2014/main" id="{9D135990-F226-4FA4-A789-12CE03BE1C99}"/>
              </a:ext>
            </a:extLst>
          </p:cNvPr>
          <p:cNvSpPr>
            <a:spLocks noChangeShapeType="1"/>
          </p:cNvSpPr>
          <p:nvPr/>
        </p:nvSpPr>
        <p:spPr bwMode="auto">
          <a:xfrm flipH="1">
            <a:off x="6384925" y="2997200"/>
            <a:ext cx="1109663" cy="214471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15">
            <a:extLst>
              <a:ext uri="{FF2B5EF4-FFF2-40B4-BE49-F238E27FC236}">
                <a16:creationId xmlns:a16="http://schemas.microsoft.com/office/drawing/2014/main" id="{C0A890DB-2B69-40DB-95E2-A59901D925AB}"/>
              </a:ext>
            </a:extLst>
          </p:cNvPr>
          <p:cNvSpPr>
            <a:spLocks noChangeShapeType="1"/>
          </p:cNvSpPr>
          <p:nvPr/>
        </p:nvSpPr>
        <p:spPr bwMode="auto">
          <a:xfrm flipH="1" flipV="1">
            <a:off x="6135688" y="2638425"/>
            <a:ext cx="1387475" cy="3587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773FF12E-5294-4CBE-BA5D-0CE328660F0B}"/>
              </a:ext>
            </a:extLst>
          </p:cNvPr>
          <p:cNvSpPr>
            <a:spLocks noGrp="1"/>
          </p:cNvSpPr>
          <p:nvPr>
            <p:ph type="title"/>
          </p:nvPr>
        </p:nvSpPr>
        <p:spPr/>
        <p:txBody>
          <a:bodyPr/>
          <a:lstStyle/>
          <a:p>
            <a:r>
              <a:rPr lang="en-US" altLang="zh-CN" sz="2800" dirty="0"/>
              <a:t>Importing WSDL Sample (1/3)</a:t>
            </a:r>
            <a:endParaRPr lang="zh-CN" altLang="en-US" sz="2800" dirty="0"/>
          </a:p>
        </p:txBody>
      </p:sp>
      <p:sp>
        <p:nvSpPr>
          <p:cNvPr id="25603" name="灯片编号占位符 3">
            <a:extLst>
              <a:ext uri="{FF2B5EF4-FFF2-40B4-BE49-F238E27FC236}">
                <a16:creationId xmlns:a16="http://schemas.microsoft.com/office/drawing/2014/main" id="{C5D96E39-9106-4F23-A7CC-57D93567CEB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7934F3C-DD8C-46FF-8459-2F42C80CA2DF}" type="slidenum">
              <a:rPr lang="en-US" altLang="zh-CN" smtClean="0"/>
              <a:pPr/>
              <a:t>15</a:t>
            </a:fld>
            <a:endParaRPr lang="en-US" altLang="zh-CN" sz="1000">
              <a:solidFill>
                <a:srgbClr val="000000"/>
              </a:solidFill>
            </a:endParaRPr>
          </a:p>
        </p:txBody>
      </p:sp>
      <p:sp>
        <p:nvSpPr>
          <p:cNvPr id="5" name="Text Box 4">
            <a:extLst>
              <a:ext uri="{FF2B5EF4-FFF2-40B4-BE49-F238E27FC236}">
                <a16:creationId xmlns:a16="http://schemas.microsoft.com/office/drawing/2014/main" id="{EC0EA23A-CA7A-4436-9E10-20CEF978F554}"/>
              </a:ext>
            </a:extLst>
          </p:cNvPr>
          <p:cNvSpPr txBox="1">
            <a:spLocks noChangeArrowheads="1"/>
          </p:cNvSpPr>
          <p:nvPr/>
        </p:nvSpPr>
        <p:spPr bwMode="auto">
          <a:xfrm>
            <a:off x="457200" y="1628800"/>
            <a:ext cx="8229600" cy="3927229"/>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http://greath.example.com/2004/wsdl/resSvc</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xmlns:ghns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http://greath.example.com/2004/schemas/resSvc</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xmlns:cc</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http://finance.example.com/CreditCards/wsdl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xmlns:xs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http://www.w3.org/2001/XMLSchema</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Description: The definition of the reservation Web service of</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GreatH</a:t>
            </a:r>
            <a:r>
              <a:rPr lang="en-US" altLang="zh-CN" sz="1400" dirty="0">
                <a:solidFill>
                  <a:srgbClr val="000000"/>
                </a:solidFill>
                <a:highlight>
                  <a:srgbClr val="FFFFFF"/>
                </a:highlight>
                <a:latin typeface="Arial"/>
              </a:rPr>
              <a:t> hotel. Author: Joe Somebody Date: 05/17/2004</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r>
              <a:rPr lang="zh-CN" altLang="en-US"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import</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http://finance.example.com/CreditCards/wsdl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location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credit-card-</a:t>
            </a:r>
            <a:r>
              <a:rPr lang="en-US" altLang="zh-CN" sz="1400" dirty="0" err="1">
                <a:solidFill>
                  <a:srgbClr val="000000"/>
                </a:solidFill>
                <a:highlight>
                  <a:srgbClr val="FFFFFF"/>
                </a:highlight>
                <a:latin typeface="Arial"/>
              </a:rPr>
              <a:t>faults.wsdl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endParaRPr lang="en-US" altLang="zh-CN" sz="14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B22DC924-5596-4E61-A4F3-736E4594F877}"/>
              </a:ext>
            </a:extLst>
          </p:cNvPr>
          <p:cNvSpPr>
            <a:spLocks noChangeShapeType="1"/>
          </p:cNvSpPr>
          <p:nvPr/>
        </p:nvSpPr>
        <p:spPr bwMode="auto">
          <a:xfrm flipH="1">
            <a:off x="5148263" y="4081463"/>
            <a:ext cx="1244600" cy="3778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6C6EEDE6-FA4B-4DE1-917B-5154DFB30277}"/>
              </a:ext>
            </a:extLst>
          </p:cNvPr>
          <p:cNvSpPr txBox="1">
            <a:spLocks noChangeArrowheads="1"/>
          </p:cNvSpPr>
          <p:nvPr/>
        </p:nvSpPr>
        <p:spPr bwMode="auto">
          <a:xfrm>
            <a:off x="6376988" y="3789363"/>
            <a:ext cx="2571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Import WSDL from this namespace</a:t>
            </a:r>
          </a:p>
        </p:txBody>
      </p:sp>
      <p:sp>
        <p:nvSpPr>
          <p:cNvPr id="8" name="Line 15">
            <a:extLst>
              <a:ext uri="{FF2B5EF4-FFF2-40B4-BE49-F238E27FC236}">
                <a16:creationId xmlns:a16="http://schemas.microsoft.com/office/drawing/2014/main" id="{066084EC-98D2-432C-95B7-A5C39AF728FE}"/>
              </a:ext>
            </a:extLst>
          </p:cNvPr>
          <p:cNvSpPr>
            <a:spLocks noChangeShapeType="1"/>
          </p:cNvSpPr>
          <p:nvPr/>
        </p:nvSpPr>
        <p:spPr bwMode="auto">
          <a:xfrm flipH="1" flipV="1">
            <a:off x="3924300" y="4868863"/>
            <a:ext cx="946150" cy="10080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41532D89-5337-4759-9A0E-387D0D92D927}"/>
              </a:ext>
            </a:extLst>
          </p:cNvPr>
          <p:cNvSpPr txBox="1">
            <a:spLocks noChangeArrowheads="1"/>
          </p:cNvSpPr>
          <p:nvPr/>
        </p:nvSpPr>
        <p:spPr bwMode="auto">
          <a:xfrm>
            <a:off x="4870450" y="5573713"/>
            <a:ext cx="36512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Optional location hint for WSDL script</a:t>
            </a:r>
          </a:p>
        </p:txBody>
      </p:sp>
      <p:sp>
        <p:nvSpPr>
          <p:cNvPr id="10" name="Line 15">
            <a:extLst>
              <a:ext uri="{FF2B5EF4-FFF2-40B4-BE49-F238E27FC236}">
                <a16:creationId xmlns:a16="http://schemas.microsoft.com/office/drawing/2014/main" id="{D3C65456-AF71-40CC-9D49-CB46BF34CAF5}"/>
              </a:ext>
            </a:extLst>
          </p:cNvPr>
          <p:cNvSpPr>
            <a:spLocks noChangeShapeType="1"/>
          </p:cNvSpPr>
          <p:nvPr/>
        </p:nvSpPr>
        <p:spPr bwMode="auto">
          <a:xfrm flipH="1" flipV="1">
            <a:off x="5435600" y="2841625"/>
            <a:ext cx="957263" cy="12398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BBD52757-A01F-4D96-9314-E901E1024849}"/>
              </a:ext>
            </a:extLst>
          </p:cNvPr>
          <p:cNvSpPr>
            <a:spLocks noGrp="1"/>
          </p:cNvSpPr>
          <p:nvPr>
            <p:ph type="title"/>
          </p:nvPr>
        </p:nvSpPr>
        <p:spPr/>
        <p:txBody>
          <a:bodyPr/>
          <a:lstStyle/>
          <a:p>
            <a:r>
              <a:rPr lang="en-US" altLang="zh-CN" sz="2800" dirty="0"/>
              <a:t>Importing WSDL Sample (2/3)</a:t>
            </a:r>
            <a:endParaRPr lang="zh-CN" altLang="en-US" sz="2800" dirty="0"/>
          </a:p>
        </p:txBody>
      </p:sp>
      <p:sp>
        <p:nvSpPr>
          <p:cNvPr id="27651" name="灯片编号占位符 3">
            <a:extLst>
              <a:ext uri="{FF2B5EF4-FFF2-40B4-BE49-F238E27FC236}">
                <a16:creationId xmlns:a16="http://schemas.microsoft.com/office/drawing/2014/main" id="{31B2CE4E-54DF-4CD8-8263-1946D026BBD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7934F3C-DD8C-46FF-8459-2F42C80CA2DF}" type="slidenum">
              <a:rPr lang="en-US" altLang="zh-CN" smtClean="0"/>
              <a:pPr/>
              <a:t>16</a:t>
            </a:fld>
            <a:endParaRPr lang="en-US" altLang="zh-CN" sz="1000">
              <a:solidFill>
                <a:srgbClr val="000000"/>
              </a:solidFill>
            </a:endParaRPr>
          </a:p>
        </p:txBody>
      </p:sp>
      <p:sp>
        <p:nvSpPr>
          <p:cNvPr id="5" name="Text Box 4">
            <a:extLst>
              <a:ext uri="{FF2B5EF4-FFF2-40B4-BE49-F238E27FC236}">
                <a16:creationId xmlns:a16="http://schemas.microsoft.com/office/drawing/2014/main" id="{1F0042C4-B02D-4B11-949C-2B42BDE649F3}"/>
              </a:ext>
            </a:extLst>
          </p:cNvPr>
          <p:cNvSpPr txBox="1">
            <a:spLocks noChangeArrowheads="1"/>
          </p:cNvSpPr>
          <p:nvPr/>
        </p:nvSpPr>
        <p:spPr bwMode="auto">
          <a:xfrm>
            <a:off x="457200" y="1628800"/>
            <a:ext cx="8229600" cy="418576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reservation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extends</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cc:creditCardFaults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 .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makeReservation</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pattern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http://www.w3.org/ns/wsdl/in-out</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ghns:makeReservation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ghns:makeReservationResponse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invalidDataFault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cc:cancelledCreditCard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cc:expiredCreditCard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cc:invalidCreditCardNumber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cc:invalidExpirationDate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66057431-46A9-4663-94E1-9B5B4EBD2362}"/>
              </a:ext>
            </a:extLst>
          </p:cNvPr>
          <p:cNvSpPr>
            <a:spLocks noChangeShapeType="1"/>
          </p:cNvSpPr>
          <p:nvPr/>
        </p:nvSpPr>
        <p:spPr bwMode="auto">
          <a:xfrm flipH="1" flipV="1">
            <a:off x="5940425" y="2060575"/>
            <a:ext cx="714375" cy="2159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A59F31F0-F32C-481B-AAD3-F7252BA33198}"/>
              </a:ext>
            </a:extLst>
          </p:cNvPr>
          <p:cNvSpPr txBox="1">
            <a:spLocks noChangeArrowheads="1"/>
          </p:cNvSpPr>
          <p:nvPr/>
        </p:nvSpPr>
        <p:spPr bwMode="auto">
          <a:xfrm>
            <a:off x="6675438" y="1922463"/>
            <a:ext cx="2032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Now we can use these faults by inheritance</a:t>
            </a:r>
          </a:p>
        </p:txBody>
      </p:sp>
      <p:sp>
        <p:nvSpPr>
          <p:cNvPr id="8" name="Line 15">
            <a:extLst>
              <a:ext uri="{FF2B5EF4-FFF2-40B4-BE49-F238E27FC236}">
                <a16:creationId xmlns:a16="http://schemas.microsoft.com/office/drawing/2014/main" id="{1BEA12A7-D2D0-433A-9E6B-03477E8378A2}"/>
              </a:ext>
            </a:extLst>
          </p:cNvPr>
          <p:cNvSpPr>
            <a:spLocks noChangeShapeType="1"/>
          </p:cNvSpPr>
          <p:nvPr/>
        </p:nvSpPr>
        <p:spPr bwMode="auto">
          <a:xfrm flipH="1">
            <a:off x="6553200" y="4154488"/>
            <a:ext cx="755650" cy="2111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3BA9EF76-50F7-418A-B067-3063308CAB4A}"/>
              </a:ext>
            </a:extLst>
          </p:cNvPr>
          <p:cNvSpPr txBox="1">
            <a:spLocks noChangeArrowheads="1"/>
          </p:cNvSpPr>
          <p:nvPr/>
        </p:nvSpPr>
        <p:spPr bwMode="auto">
          <a:xfrm>
            <a:off x="7343775" y="3703638"/>
            <a:ext cx="16303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Four kinds of additional faults</a:t>
            </a:r>
          </a:p>
        </p:txBody>
      </p:sp>
      <p:sp>
        <p:nvSpPr>
          <p:cNvPr id="10" name="Line 15">
            <a:extLst>
              <a:ext uri="{FF2B5EF4-FFF2-40B4-BE49-F238E27FC236}">
                <a16:creationId xmlns:a16="http://schemas.microsoft.com/office/drawing/2014/main" id="{EEA8EFBB-6C76-4DB1-B6B8-8CDADB216745}"/>
              </a:ext>
            </a:extLst>
          </p:cNvPr>
          <p:cNvSpPr>
            <a:spLocks noChangeShapeType="1"/>
          </p:cNvSpPr>
          <p:nvPr/>
        </p:nvSpPr>
        <p:spPr bwMode="auto">
          <a:xfrm flipH="1">
            <a:off x="7019925" y="4154488"/>
            <a:ext cx="288925" cy="4270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15">
            <a:extLst>
              <a:ext uri="{FF2B5EF4-FFF2-40B4-BE49-F238E27FC236}">
                <a16:creationId xmlns:a16="http://schemas.microsoft.com/office/drawing/2014/main" id="{AED9C137-5D48-41BC-A7D0-D5F835609F1C}"/>
              </a:ext>
            </a:extLst>
          </p:cNvPr>
          <p:cNvSpPr>
            <a:spLocks noChangeShapeType="1"/>
          </p:cNvSpPr>
          <p:nvPr/>
        </p:nvSpPr>
        <p:spPr bwMode="auto">
          <a:xfrm flipH="1">
            <a:off x="6553200" y="4154488"/>
            <a:ext cx="755650" cy="6381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15">
            <a:extLst>
              <a:ext uri="{FF2B5EF4-FFF2-40B4-BE49-F238E27FC236}">
                <a16:creationId xmlns:a16="http://schemas.microsoft.com/office/drawing/2014/main" id="{62572402-E716-40FA-AA17-A1B5CB9C74FF}"/>
              </a:ext>
            </a:extLst>
          </p:cNvPr>
          <p:cNvSpPr>
            <a:spLocks noChangeShapeType="1"/>
          </p:cNvSpPr>
          <p:nvPr/>
        </p:nvSpPr>
        <p:spPr bwMode="auto">
          <a:xfrm flipH="1" flipV="1">
            <a:off x="6732588" y="4076700"/>
            <a:ext cx="576262" cy="777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1A87CAF5-3D17-4159-AA09-B2C36F7F7997}"/>
              </a:ext>
            </a:extLst>
          </p:cNvPr>
          <p:cNvSpPr>
            <a:spLocks noGrp="1"/>
          </p:cNvSpPr>
          <p:nvPr>
            <p:ph type="title"/>
          </p:nvPr>
        </p:nvSpPr>
        <p:spPr/>
        <p:txBody>
          <a:bodyPr/>
          <a:lstStyle/>
          <a:p>
            <a:r>
              <a:rPr lang="en-US" altLang="zh-CN" sz="2800" dirty="0"/>
              <a:t>Importing WSDL Sample (3/3)</a:t>
            </a:r>
            <a:endParaRPr lang="zh-CN" altLang="en-US" sz="2800" dirty="0"/>
          </a:p>
        </p:txBody>
      </p:sp>
      <p:sp>
        <p:nvSpPr>
          <p:cNvPr id="3" name="内容占位符 2">
            <a:extLst>
              <a:ext uri="{FF2B5EF4-FFF2-40B4-BE49-F238E27FC236}">
                <a16:creationId xmlns:a16="http://schemas.microsoft.com/office/drawing/2014/main" id="{CCEDF7BB-4197-493A-9694-10A465BE6D02}"/>
              </a:ext>
            </a:extLst>
          </p:cNvPr>
          <p:cNvSpPr>
            <a:spLocks noGrp="1"/>
          </p:cNvSpPr>
          <p:nvPr>
            <p:ph idx="1"/>
          </p:nvPr>
        </p:nvSpPr>
        <p:spPr/>
        <p:txBody>
          <a:bodyPr>
            <a:normAutofit fontScale="92500" lnSpcReduction="10000"/>
          </a:bodyPr>
          <a:lstStyle/>
          <a:p>
            <a:pPr>
              <a:defRPr/>
            </a:pPr>
            <a:r>
              <a:rPr lang="en-US" altLang="zh-CN" sz="2800" dirty="0"/>
              <a:t>Another typical situation for using imports is to define a standard interface that is to be implemented by many services</a:t>
            </a:r>
          </a:p>
          <a:p>
            <a:pPr>
              <a:defRPr/>
            </a:pPr>
            <a:r>
              <a:rPr lang="en-US" altLang="zh-CN" sz="2900" dirty="0"/>
              <a:t>For example</a:t>
            </a:r>
            <a:r>
              <a:rPr lang="zh-CN" altLang="en-US" sz="2900" dirty="0"/>
              <a:t>：</a:t>
            </a:r>
            <a:endParaRPr lang="en-US" altLang="zh-CN" sz="2900" dirty="0"/>
          </a:p>
          <a:p>
            <a:pPr lvl="1">
              <a:defRPr/>
            </a:pPr>
            <a:r>
              <a:rPr lang="en-US" altLang="zh-CN" sz="2400" dirty="0"/>
              <a:t>Suppose the hotel industry decided that it was useful to have a standard interface for making reservations. This interface would belong to some industry association namespace, e.g. </a:t>
            </a:r>
            <a:r>
              <a:rPr lang="en-US" altLang="zh-CN" sz="2400" dirty="0">
                <a:solidFill>
                  <a:srgbClr val="FF0000"/>
                </a:solidFill>
              </a:rPr>
              <a:t>http://hotels.example.com/reservations/wsdl</a:t>
            </a:r>
            <a:endParaRPr lang="en-US" altLang="zh-CN" sz="2400" dirty="0"/>
          </a:p>
          <a:p>
            <a:pPr lvl="1">
              <a:defRPr/>
            </a:pPr>
            <a:r>
              <a:rPr lang="en-US" altLang="zh-CN" sz="2400" dirty="0"/>
              <a:t>Each hotel that implemented the standard reservation service would define a service in its own namespace, e.g. </a:t>
            </a:r>
            <a:r>
              <a:rPr lang="en-US" altLang="zh-CN" sz="2400" dirty="0">
                <a:solidFill>
                  <a:srgbClr val="FF0000"/>
                </a:solidFill>
              </a:rPr>
              <a:t>http://greath.example.com/2004/wsdl/resSvc</a:t>
            </a:r>
            <a:r>
              <a:rPr lang="en-US" altLang="zh-CN" sz="2400" dirty="0"/>
              <a:t> </a:t>
            </a:r>
          </a:p>
          <a:p>
            <a:pPr lvl="1">
              <a:defRPr/>
            </a:pPr>
            <a:r>
              <a:rPr lang="en-US" altLang="zh-CN" sz="2400" dirty="0"/>
              <a:t>The description of each service would import the </a:t>
            </a:r>
            <a:r>
              <a:rPr lang="en-US" altLang="zh-CN" sz="2400" dirty="0">
                <a:solidFill>
                  <a:srgbClr val="FF0000"/>
                </a:solidFill>
              </a:rPr>
              <a:t>http://hotels.example.com/reservations/wsdl </a:t>
            </a:r>
            <a:r>
              <a:rPr lang="en-US" altLang="zh-CN" sz="2400" dirty="0"/>
              <a:t>namespace and refer to the standard reservation interface in it</a:t>
            </a:r>
          </a:p>
        </p:txBody>
      </p:sp>
      <p:sp>
        <p:nvSpPr>
          <p:cNvPr id="29700" name="灯片编号占位符 3">
            <a:extLst>
              <a:ext uri="{FF2B5EF4-FFF2-40B4-BE49-F238E27FC236}">
                <a16:creationId xmlns:a16="http://schemas.microsoft.com/office/drawing/2014/main" id="{701C8B26-B964-45C3-AEFE-2D2B723226B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7934F3C-DD8C-46FF-8459-2F42C80CA2DF}" type="slidenum">
              <a:rPr lang="en-US" altLang="zh-CN" smtClean="0"/>
              <a:pPr/>
              <a:t>17</a:t>
            </a:fld>
            <a:endParaRPr lang="en-US" altLang="zh-CN" sz="1000">
              <a:solidFill>
                <a:srgbClr val="000000"/>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C4845BAB-9D36-4178-A769-9A161782D595}"/>
              </a:ext>
            </a:extLst>
          </p:cNvPr>
          <p:cNvSpPr>
            <a:spLocks noGrp="1"/>
          </p:cNvSpPr>
          <p:nvPr>
            <p:ph type="title"/>
          </p:nvPr>
        </p:nvSpPr>
        <p:spPr/>
        <p:txBody>
          <a:bodyPr/>
          <a:lstStyle/>
          <a:p>
            <a:r>
              <a:rPr lang="en-US" altLang="zh-CN" sz="2800" dirty="0"/>
              <a:t>Message Types</a:t>
            </a:r>
            <a:endParaRPr lang="zh-CN" altLang="en-US" sz="2800" dirty="0"/>
          </a:p>
        </p:txBody>
      </p:sp>
      <p:sp>
        <p:nvSpPr>
          <p:cNvPr id="3" name="内容占位符 2">
            <a:extLst>
              <a:ext uri="{FF2B5EF4-FFF2-40B4-BE49-F238E27FC236}">
                <a16:creationId xmlns:a16="http://schemas.microsoft.com/office/drawing/2014/main" id="{DD7A70C6-BE31-4B9C-A0C9-17B07E914B4A}"/>
              </a:ext>
            </a:extLst>
          </p:cNvPr>
          <p:cNvSpPr>
            <a:spLocks noGrp="1"/>
          </p:cNvSpPr>
          <p:nvPr>
            <p:ph idx="1"/>
          </p:nvPr>
        </p:nvSpPr>
        <p:spPr>
          <a:xfrm>
            <a:off x="457200" y="1412776"/>
            <a:ext cx="8229600" cy="4835624"/>
          </a:xfrm>
        </p:spPr>
        <p:txBody>
          <a:bodyPr>
            <a:normAutofit lnSpcReduction="10000"/>
          </a:bodyPr>
          <a:lstStyle/>
          <a:p>
            <a:pPr>
              <a:defRPr/>
            </a:pPr>
            <a:r>
              <a:rPr lang="en-US" altLang="zh-CN" sz="2000" dirty="0"/>
              <a:t>Message types may be defined in various schema languages. XML Schema is natively supported by WSDL 2.0</a:t>
            </a:r>
          </a:p>
          <a:p>
            <a:pPr>
              <a:defRPr/>
            </a:pPr>
            <a:r>
              <a:rPr lang="en-US" altLang="zh-CN" sz="2000" dirty="0"/>
              <a:t>Message types defined in other languages may be introduced into a WSDL 2.0 description via extensions</a:t>
            </a:r>
          </a:p>
          <a:p>
            <a:pPr>
              <a:defRPr/>
            </a:pPr>
            <a:r>
              <a:rPr lang="en-US" altLang="zh-CN" sz="2000" dirty="0"/>
              <a:t>The following is the XML syntax for the </a:t>
            </a:r>
            <a:r>
              <a:rPr lang="en-US" altLang="zh-CN" sz="2000" dirty="0" err="1">
                <a:hlinkClick r:id="rId3" action="ppaction://hlinkfile"/>
              </a:rPr>
              <a:t>wsdl:types</a:t>
            </a:r>
            <a:r>
              <a:rPr lang="en-US" altLang="zh-CN" sz="2000" dirty="0"/>
              <a:t> element:</a:t>
            </a:r>
          </a:p>
          <a:p>
            <a:pPr>
              <a:defRPr/>
            </a:pPr>
            <a:endParaRPr lang="en-US" altLang="zh-CN" sz="2000" dirty="0"/>
          </a:p>
          <a:p>
            <a:pPr>
              <a:defRPr/>
            </a:pPr>
            <a:endParaRPr lang="en-US" altLang="zh-CN" sz="2000" dirty="0"/>
          </a:p>
          <a:p>
            <a:pPr>
              <a:defRPr/>
            </a:pPr>
            <a:endParaRPr lang="en-US" altLang="zh-CN" sz="2000" dirty="0"/>
          </a:p>
          <a:p>
            <a:pPr>
              <a:defRPr/>
            </a:pPr>
            <a:endParaRPr lang="en-US" altLang="zh-CN" sz="2000" dirty="0"/>
          </a:p>
          <a:p>
            <a:pPr>
              <a:defRPr/>
            </a:pPr>
            <a:endParaRPr lang="en-US" altLang="zh-CN" sz="2000" dirty="0">
              <a:latin typeface="+mn-lt"/>
              <a:ea typeface="+mn-ea"/>
            </a:endParaRPr>
          </a:p>
          <a:p>
            <a:pPr>
              <a:defRPr/>
            </a:pPr>
            <a:endParaRPr lang="en-US" altLang="zh-CN" sz="2000" dirty="0"/>
          </a:p>
          <a:p>
            <a:pPr>
              <a:defRPr/>
            </a:pPr>
            <a:endParaRPr lang="en-US" altLang="zh-CN" sz="2000" dirty="0">
              <a:latin typeface="+mn-lt"/>
              <a:ea typeface="+mn-ea"/>
            </a:endParaRPr>
          </a:p>
          <a:p>
            <a:pPr>
              <a:defRPr/>
            </a:pPr>
            <a:r>
              <a:rPr lang="en-US" altLang="zh-CN" sz="2000" dirty="0">
                <a:latin typeface="+mn-lt"/>
                <a:ea typeface="+mn-ea"/>
              </a:rPr>
              <a:t>There are two ways to make XML Schema message definitions visible, or in other words, available for reference by </a:t>
            </a:r>
            <a:r>
              <a:rPr lang="en-US" altLang="zh-CN" sz="2000" dirty="0" err="1">
                <a:latin typeface="+mn-lt"/>
                <a:ea typeface="+mn-ea"/>
              </a:rPr>
              <a:t>QName</a:t>
            </a:r>
            <a:r>
              <a:rPr lang="en-US" altLang="zh-CN" sz="2000" dirty="0">
                <a:latin typeface="+mn-lt"/>
                <a:ea typeface="+mn-ea"/>
              </a:rPr>
              <a:t> in a WSDL 2.0 document: </a:t>
            </a:r>
            <a:r>
              <a:rPr lang="en-US" altLang="zh-CN" sz="2000" dirty="0" err="1">
                <a:solidFill>
                  <a:srgbClr val="FF0000"/>
                </a:solidFill>
                <a:latin typeface="+mn-lt"/>
                <a:ea typeface="+mn-ea"/>
              </a:rPr>
              <a:t>inlining</a:t>
            </a:r>
            <a:r>
              <a:rPr lang="en-US" altLang="zh-CN" sz="2000" dirty="0">
                <a:solidFill>
                  <a:srgbClr val="FF0000"/>
                </a:solidFill>
                <a:latin typeface="+mn-lt"/>
                <a:ea typeface="+mn-ea"/>
              </a:rPr>
              <a:t> </a:t>
            </a:r>
            <a:r>
              <a:rPr lang="en-US" altLang="zh-CN" sz="2000" dirty="0">
                <a:latin typeface="+mn-lt"/>
                <a:ea typeface="+mn-ea"/>
              </a:rPr>
              <a:t>or </a:t>
            </a:r>
            <a:r>
              <a:rPr lang="en-US" altLang="zh-CN" sz="2000" dirty="0">
                <a:solidFill>
                  <a:srgbClr val="FF0000"/>
                </a:solidFill>
                <a:latin typeface="+mn-lt"/>
                <a:ea typeface="+mn-ea"/>
              </a:rPr>
              <a:t>importing</a:t>
            </a:r>
            <a:endParaRPr lang="en-US" altLang="zh-CN" sz="2000" dirty="0">
              <a:latin typeface="+mn-lt"/>
              <a:ea typeface="+mn-ea"/>
            </a:endParaRPr>
          </a:p>
        </p:txBody>
      </p:sp>
      <p:sp>
        <p:nvSpPr>
          <p:cNvPr id="21508" name="灯片编号占位符 3">
            <a:extLst>
              <a:ext uri="{FF2B5EF4-FFF2-40B4-BE49-F238E27FC236}">
                <a16:creationId xmlns:a16="http://schemas.microsoft.com/office/drawing/2014/main" id="{05270C45-3CE2-48C9-8260-E2BDDCD417A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A9022D90-4977-4540-8F84-5CA04C859776}" type="slidenum">
              <a:rPr lang="en-US" altLang="zh-CN" smtClean="0"/>
              <a:pPr/>
              <a:t>18</a:t>
            </a:fld>
            <a:endParaRPr lang="en-US" altLang="zh-CN" sz="1000">
              <a:solidFill>
                <a:srgbClr val="000000"/>
              </a:solidFill>
            </a:endParaRPr>
          </a:p>
        </p:txBody>
      </p:sp>
      <p:sp>
        <p:nvSpPr>
          <p:cNvPr id="5" name="Text Box 4">
            <a:extLst>
              <a:ext uri="{FF2B5EF4-FFF2-40B4-BE49-F238E27FC236}">
                <a16:creationId xmlns:a16="http://schemas.microsoft.com/office/drawing/2014/main" id="{70EAAF06-27F7-47AF-8B28-3D9B3D11DDCD}"/>
              </a:ext>
            </a:extLst>
          </p:cNvPr>
          <p:cNvSpPr txBox="1">
            <a:spLocks noChangeArrowheads="1"/>
          </p:cNvSpPr>
          <p:nvPr/>
        </p:nvSpPr>
        <p:spPr bwMode="auto">
          <a:xfrm>
            <a:off x="1259632" y="3140968"/>
            <a:ext cx="6552728" cy="2117503"/>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xs:import</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xs:anyURI</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xs:anyURI</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xs:anyURI</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other extension elements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C8EC3933-8F8E-47CF-88AC-C4993C53C5CE}"/>
              </a:ext>
            </a:extLst>
          </p:cNvPr>
          <p:cNvSpPr>
            <a:spLocks noGrp="1"/>
          </p:cNvSpPr>
          <p:nvPr>
            <p:ph type="title"/>
          </p:nvPr>
        </p:nvSpPr>
        <p:spPr/>
        <p:txBody>
          <a:bodyPr/>
          <a:lstStyle/>
          <a:p>
            <a:r>
              <a:rPr lang="en-US" altLang="zh-CN" sz="2800" dirty="0" err="1"/>
              <a:t>Inlining</a:t>
            </a:r>
            <a:r>
              <a:rPr lang="en-US" altLang="zh-CN" sz="2800" dirty="0"/>
              <a:t> XML Schema</a:t>
            </a:r>
            <a:endParaRPr lang="zh-CN" altLang="en-US" sz="2800" dirty="0"/>
          </a:p>
        </p:txBody>
      </p:sp>
      <p:sp>
        <p:nvSpPr>
          <p:cNvPr id="3" name="内容占位符 2">
            <a:extLst>
              <a:ext uri="{FF2B5EF4-FFF2-40B4-BE49-F238E27FC236}">
                <a16:creationId xmlns:a16="http://schemas.microsoft.com/office/drawing/2014/main" id="{BEC63E4F-77E7-4B2A-974A-B84EDC7B5378}"/>
              </a:ext>
            </a:extLst>
          </p:cNvPr>
          <p:cNvSpPr>
            <a:spLocks noGrp="1"/>
          </p:cNvSpPr>
          <p:nvPr>
            <p:ph idx="1"/>
          </p:nvPr>
        </p:nvSpPr>
        <p:spPr/>
        <p:txBody>
          <a:bodyPr>
            <a:normAutofit fontScale="92500"/>
          </a:bodyPr>
          <a:lstStyle/>
          <a:p>
            <a:pPr>
              <a:lnSpc>
                <a:spcPct val="120000"/>
              </a:lnSpc>
              <a:defRPr/>
            </a:pPr>
            <a:r>
              <a:rPr lang="en-US" altLang="zh-CN" sz="2400" dirty="0"/>
              <a:t>When XML Schema is </a:t>
            </a:r>
            <a:r>
              <a:rPr lang="en-US" altLang="zh-CN" sz="2400" dirty="0" err="1"/>
              <a:t>inlined</a:t>
            </a:r>
            <a:r>
              <a:rPr lang="en-US" altLang="zh-CN" sz="2400" dirty="0"/>
              <a:t> directly in a WSDL 2.0 document, it uses the existing top-level </a:t>
            </a:r>
            <a:r>
              <a:rPr lang="en-US" altLang="zh-CN" sz="2400" kern="1200" dirty="0" err="1">
                <a:hlinkClick r:id="rId3" action="ppaction://hlinkfile"/>
              </a:rPr>
              <a:t>xs:schema</a:t>
            </a:r>
            <a:r>
              <a:rPr lang="en-US" altLang="zh-CN" sz="2400" dirty="0"/>
              <a:t> element defined by XML Schema to do so, as though a schema file had been copied and pasted into the types element</a:t>
            </a:r>
          </a:p>
          <a:p>
            <a:pPr>
              <a:lnSpc>
                <a:spcPct val="120000"/>
              </a:lnSpc>
              <a:defRPr/>
            </a:pPr>
            <a:r>
              <a:rPr lang="en-US" altLang="zh-CN" sz="2400" dirty="0"/>
              <a:t>The schema components defined in the </a:t>
            </a:r>
            <a:r>
              <a:rPr lang="en-US" altLang="zh-CN" sz="2400" dirty="0" err="1"/>
              <a:t>inlined</a:t>
            </a:r>
            <a:r>
              <a:rPr lang="en-US" altLang="zh-CN" sz="2400" dirty="0"/>
              <a:t> schema are then available to the containing WSDL 2.0 description for reference by </a:t>
            </a:r>
            <a:r>
              <a:rPr lang="en-US" altLang="zh-CN" sz="2400" dirty="0" err="1">
                <a:solidFill>
                  <a:srgbClr val="FF0000"/>
                </a:solidFill>
              </a:rPr>
              <a:t>QName</a:t>
            </a:r>
            <a:endParaRPr lang="en-US" altLang="zh-CN" sz="2400" dirty="0"/>
          </a:p>
          <a:p>
            <a:pPr>
              <a:lnSpc>
                <a:spcPct val="120000"/>
              </a:lnSpc>
              <a:defRPr/>
            </a:pPr>
            <a:r>
              <a:rPr lang="en-US" altLang="zh-CN" sz="2400" dirty="0"/>
              <a:t>Using </a:t>
            </a:r>
            <a:r>
              <a:rPr lang="en-US" altLang="zh-CN" sz="2400" dirty="0" err="1"/>
              <a:t>inlined</a:t>
            </a:r>
            <a:r>
              <a:rPr lang="en-US" altLang="zh-CN" sz="2400" dirty="0"/>
              <a:t> schema has been shown in the previous topic</a:t>
            </a:r>
          </a:p>
          <a:p>
            <a:pPr lvl="1">
              <a:lnSpc>
                <a:spcPct val="120000"/>
              </a:lnSpc>
              <a:defRPr/>
            </a:pPr>
            <a:r>
              <a:rPr lang="en-US" altLang="zh-CN" sz="1800" dirty="0"/>
              <a:t>The input message of the interface operation "</a:t>
            </a:r>
            <a:r>
              <a:rPr lang="en-US" altLang="zh-CN" sz="1800" dirty="0" err="1">
                <a:solidFill>
                  <a:srgbClr val="FF0000"/>
                </a:solidFill>
              </a:rPr>
              <a:t>opCheckAvailability</a:t>
            </a:r>
            <a:r>
              <a:rPr lang="en-US" altLang="zh-CN" sz="1800" dirty="0"/>
              <a:t>" is defined by the "</a:t>
            </a:r>
            <a:r>
              <a:rPr lang="en-US" altLang="zh-CN" sz="1800" dirty="0" err="1">
                <a:solidFill>
                  <a:srgbClr val="FF0000"/>
                </a:solidFill>
              </a:rPr>
              <a:t>ghns:checkAvailability</a:t>
            </a:r>
            <a:r>
              <a:rPr lang="en-US" altLang="zh-CN" sz="1800" dirty="0"/>
              <a:t>" element in the </a:t>
            </a:r>
            <a:r>
              <a:rPr lang="en-US" altLang="zh-CN" sz="1800" dirty="0" err="1"/>
              <a:t>inlined</a:t>
            </a:r>
            <a:r>
              <a:rPr lang="en-US" altLang="zh-CN" sz="1800" dirty="0"/>
              <a:t> schema</a:t>
            </a:r>
          </a:p>
          <a:p>
            <a:pPr>
              <a:lnSpc>
                <a:spcPct val="120000"/>
              </a:lnSpc>
              <a:defRPr/>
            </a:pPr>
            <a:r>
              <a:rPr lang="en-US" altLang="zh-CN" sz="2400" dirty="0" err="1"/>
              <a:t>Inlined</a:t>
            </a:r>
            <a:r>
              <a:rPr lang="en-US" altLang="zh-CN" sz="2400" dirty="0"/>
              <a:t> schema definitions are only available to the containing WSDL 2.0 description </a:t>
            </a:r>
          </a:p>
        </p:txBody>
      </p:sp>
      <p:sp>
        <p:nvSpPr>
          <p:cNvPr id="23556" name="灯片编号占位符 3">
            <a:extLst>
              <a:ext uri="{FF2B5EF4-FFF2-40B4-BE49-F238E27FC236}">
                <a16:creationId xmlns:a16="http://schemas.microsoft.com/office/drawing/2014/main" id="{353C4CD8-00DA-460A-A551-DD1B238F359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A9022D90-4977-4540-8F84-5CA04C859776}" type="slidenum">
              <a:rPr lang="en-US" altLang="zh-CN" smtClean="0"/>
              <a:pPr/>
              <a:t>19</a:t>
            </a:fld>
            <a:endParaRPr lang="en-US" altLang="zh-CN" sz="1000">
              <a:solidFill>
                <a:srgbClr val="000000"/>
              </a:solidFill>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DE6D3D8C-3866-427E-A189-4B0F104EFF24}"/>
              </a:ext>
            </a:extLst>
          </p:cNvPr>
          <p:cNvSpPr>
            <a:spLocks noGrp="1"/>
          </p:cNvSpPr>
          <p:nvPr>
            <p:ph type="title"/>
          </p:nvPr>
        </p:nvSpPr>
        <p:spPr/>
        <p:txBody>
          <a:bodyPr>
            <a:noAutofit/>
          </a:bodyPr>
          <a:lstStyle/>
          <a:p>
            <a:pPr>
              <a:defRPr/>
            </a:pPr>
            <a:r>
              <a:rPr lang="en-US" altLang="zh-CN" sz="2800" dirty="0"/>
              <a:t>Importing XML Schema </a:t>
            </a:r>
            <a:br>
              <a:rPr lang="en-US" altLang="zh-CN" sz="2800" dirty="0"/>
            </a:br>
            <a:r>
              <a:rPr lang="en-US" altLang="zh-CN" sz="2800" dirty="0"/>
              <a:t>under </a:t>
            </a:r>
            <a:r>
              <a:rPr lang="en-US" altLang="zh-CN" sz="2800" dirty="0">
                <a:hlinkClick r:id="rId3" action="ppaction://hlinkpres?slideindex=1&amp;slidetitle="/>
              </a:rPr>
              <a:t>types</a:t>
            </a:r>
            <a:r>
              <a:rPr lang="en-US" altLang="zh-CN" sz="2800" dirty="0"/>
              <a:t> (1/2)</a:t>
            </a:r>
            <a:endParaRPr lang="zh-CN" altLang="en-US" sz="2800" dirty="0"/>
          </a:p>
        </p:txBody>
      </p:sp>
      <p:sp>
        <p:nvSpPr>
          <p:cNvPr id="3" name="内容占位符 2">
            <a:extLst>
              <a:ext uri="{FF2B5EF4-FFF2-40B4-BE49-F238E27FC236}">
                <a16:creationId xmlns:a16="http://schemas.microsoft.com/office/drawing/2014/main" id="{22E38045-59C9-473B-942F-6CD31F4D9069}"/>
              </a:ext>
            </a:extLst>
          </p:cNvPr>
          <p:cNvSpPr>
            <a:spLocks noGrp="1"/>
          </p:cNvSpPr>
          <p:nvPr>
            <p:ph idx="1"/>
          </p:nvPr>
        </p:nvSpPr>
        <p:spPr/>
        <p:txBody>
          <a:bodyPr>
            <a:normAutofit/>
          </a:bodyPr>
          <a:lstStyle/>
          <a:p>
            <a:pPr>
              <a:lnSpc>
                <a:spcPct val="110000"/>
              </a:lnSpc>
              <a:defRPr/>
            </a:pPr>
            <a:r>
              <a:rPr lang="en-US" altLang="zh-CN" sz="2400" dirty="0"/>
              <a:t>If one wishes to share schema definitions across several WSDL 2.0 descriptions, these schema definitions should be placed in separate XML Schema documents and imported into each WSDL 2.0 </a:t>
            </a:r>
            <a:r>
              <a:rPr lang="en-US" altLang="zh-CN" sz="2400" dirty="0">
                <a:hlinkClick r:id="rId4"/>
              </a:rPr>
              <a:t>description </a:t>
            </a:r>
            <a:r>
              <a:rPr lang="en-US" altLang="zh-CN" sz="2400" dirty="0"/>
              <a:t>using </a:t>
            </a:r>
            <a:r>
              <a:rPr lang="en-US" altLang="zh-CN" sz="2400" dirty="0" err="1">
                <a:hlinkClick r:id="rId5" action="ppaction://hlinkfile"/>
              </a:rPr>
              <a:t>xs:import</a:t>
            </a:r>
            <a:r>
              <a:rPr lang="en-US" altLang="zh-CN" sz="2400" dirty="0"/>
              <a:t> directly under </a:t>
            </a:r>
            <a:r>
              <a:rPr lang="en-US" altLang="zh-CN" sz="2400" dirty="0">
                <a:hlinkClick r:id="rId3" action="ppaction://hlinkpres?slideindex=1&amp;slidetitle="/>
              </a:rPr>
              <a:t>types</a:t>
            </a:r>
            <a:endParaRPr lang="en-US" altLang="zh-CN" sz="2400" dirty="0"/>
          </a:p>
          <a:p>
            <a:pPr>
              <a:lnSpc>
                <a:spcPct val="110000"/>
              </a:lnSpc>
              <a:defRPr/>
            </a:pPr>
            <a:r>
              <a:rPr lang="en-US" altLang="zh-CN" sz="2400" dirty="0"/>
              <a:t>Although WSDL 2.0 provides a </a:t>
            </a:r>
            <a:r>
              <a:rPr lang="en-US" altLang="zh-CN" sz="2400" dirty="0" err="1">
                <a:hlinkClick r:id="rId5" action="ppaction://hlinkfile"/>
              </a:rPr>
              <a:t>wsdl:import</a:t>
            </a:r>
            <a:r>
              <a:rPr lang="en-US" altLang="zh-CN" sz="2400" dirty="0"/>
              <a:t> mechanism for importing other WSDL files, schema definitions </a:t>
            </a:r>
            <a:r>
              <a:rPr lang="en-US" altLang="zh-CN" sz="2400" dirty="0" err="1"/>
              <a:t>inlined</a:t>
            </a:r>
            <a:r>
              <a:rPr lang="en-US" altLang="zh-CN" sz="2400" dirty="0"/>
              <a:t> in an imported WSDL document are </a:t>
            </a:r>
            <a:r>
              <a:rPr lang="en-US" altLang="zh-CN" sz="2400" dirty="0">
                <a:solidFill>
                  <a:srgbClr val="FF0000"/>
                </a:solidFill>
              </a:rPr>
              <a:t>NOT</a:t>
            </a:r>
            <a:r>
              <a:rPr lang="en-US" altLang="zh-CN" sz="2400" dirty="0"/>
              <a:t> automatically made available to the importing WSDL 2.0 document, even though other WSDL 2.0 components (such as </a:t>
            </a:r>
            <a:r>
              <a:rPr lang="en-US" altLang="zh-CN" sz="2400" dirty="0">
                <a:hlinkClick r:id="rId6" action="ppaction://hlinkfile"/>
              </a:rPr>
              <a:t>interfaces</a:t>
            </a:r>
            <a:r>
              <a:rPr lang="en-US" altLang="zh-CN" sz="2400"/>
              <a:t>, </a:t>
            </a:r>
            <a:r>
              <a:rPr lang="en-US" altLang="zh-CN" sz="2400">
                <a:hlinkClick r:id="rId6" action="ppaction://hlinkfile"/>
              </a:rPr>
              <a:t>bindings</a:t>
            </a:r>
            <a:r>
              <a:rPr lang="en-US" altLang="zh-CN" sz="2400" dirty="0"/>
              <a:t>, etc.) do become available</a:t>
            </a:r>
          </a:p>
        </p:txBody>
      </p:sp>
      <p:sp>
        <p:nvSpPr>
          <p:cNvPr id="25604" name="灯片编号占位符 3">
            <a:extLst>
              <a:ext uri="{FF2B5EF4-FFF2-40B4-BE49-F238E27FC236}">
                <a16:creationId xmlns:a16="http://schemas.microsoft.com/office/drawing/2014/main" id="{2BF8ACBD-ECCA-447E-BAFB-0E496E64F8C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A9022D90-4977-4540-8F84-5CA04C859776}" type="slidenum">
              <a:rPr lang="en-US" altLang="zh-CN" smtClean="0"/>
              <a:pPr/>
              <a:t>20</a:t>
            </a:fld>
            <a:endParaRPr lang="en-US" altLang="zh-CN" sz="1000">
              <a:solidFill>
                <a:srgbClr val="000000"/>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55B92425-2E4F-4C55-9170-001AA21448DC}"/>
              </a:ext>
            </a:extLst>
          </p:cNvPr>
          <p:cNvSpPr>
            <a:spLocks noGrp="1"/>
          </p:cNvSpPr>
          <p:nvPr>
            <p:ph type="title"/>
          </p:nvPr>
        </p:nvSpPr>
        <p:spPr/>
        <p:txBody>
          <a:bodyPr>
            <a:noAutofit/>
          </a:bodyPr>
          <a:lstStyle/>
          <a:p>
            <a:pPr>
              <a:defRPr/>
            </a:pPr>
            <a:r>
              <a:rPr lang="en-US" altLang="zh-CN" sz="2800" dirty="0"/>
              <a:t>Importing XML Schema </a:t>
            </a:r>
            <a:br>
              <a:rPr lang="en-US" altLang="zh-CN" sz="2800" dirty="0"/>
            </a:br>
            <a:r>
              <a:rPr lang="en-US" altLang="zh-CN" sz="2800" dirty="0"/>
              <a:t>under </a:t>
            </a:r>
            <a:r>
              <a:rPr lang="en-US" altLang="zh-CN" sz="2800" dirty="0">
                <a:hlinkClick r:id="rId3" action="ppaction://hlinkpres?slideindex=1&amp;slidetitle="/>
              </a:rPr>
              <a:t>types</a:t>
            </a:r>
            <a:r>
              <a:rPr lang="en-US" altLang="zh-CN" sz="2800" dirty="0"/>
              <a:t> (2/2)</a:t>
            </a:r>
            <a:endParaRPr lang="zh-CN" altLang="en-US" sz="2800" dirty="0"/>
          </a:p>
        </p:txBody>
      </p:sp>
      <p:sp>
        <p:nvSpPr>
          <p:cNvPr id="27651" name="灯片编号占位符 3">
            <a:extLst>
              <a:ext uri="{FF2B5EF4-FFF2-40B4-BE49-F238E27FC236}">
                <a16:creationId xmlns:a16="http://schemas.microsoft.com/office/drawing/2014/main" id="{BEE4D43C-1039-46BC-B881-09D65D64C70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A9022D90-4977-4540-8F84-5CA04C859776}" type="slidenum">
              <a:rPr lang="en-US" altLang="zh-CN" smtClean="0"/>
              <a:pPr/>
              <a:t>21</a:t>
            </a:fld>
            <a:endParaRPr lang="en-US" altLang="zh-CN" sz="1000">
              <a:solidFill>
                <a:srgbClr val="000000"/>
              </a:solidFill>
            </a:endParaRPr>
          </a:p>
        </p:txBody>
      </p:sp>
      <p:sp>
        <p:nvSpPr>
          <p:cNvPr id="5" name="Text Box 4">
            <a:extLst>
              <a:ext uri="{FF2B5EF4-FFF2-40B4-BE49-F238E27FC236}">
                <a16:creationId xmlns:a16="http://schemas.microsoft.com/office/drawing/2014/main" id="{914A1D20-AFD0-484A-B418-2D2DF1B13934}"/>
              </a:ext>
            </a:extLst>
          </p:cNvPr>
          <p:cNvSpPr txBox="1">
            <a:spLocks noGrp="1" noChangeArrowheads="1"/>
          </p:cNvSpPr>
          <p:nvPr>
            <p:ph idx="1"/>
          </p:nvPr>
        </p:nvSpPr>
        <p:spPr>
          <a:xfrm>
            <a:off x="467544" y="1772816"/>
            <a:ext cx="8229600" cy="3927229"/>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400" dirty="0">
                <a:solidFill>
                  <a:srgbClr val="008080"/>
                </a:solidFill>
                <a:highlight>
                  <a:srgbClr val="FFFFFF"/>
                </a:highlight>
              </a:rPr>
              <a:t>&lt;?xml version="1.0" encoding="utf-8" ?&gt;</a:t>
            </a:r>
            <a:r>
              <a:rPr lang="en-US" altLang="zh-CN" sz="1400" dirty="0">
                <a:solidFill>
                  <a:srgbClr val="000000"/>
                </a:solidFill>
                <a:highlight>
                  <a:srgbClr val="FFFFFF"/>
                </a:highlight>
              </a:rPr>
              <a:t> </a:t>
            </a:r>
          </a:p>
          <a:p>
            <a:pPr>
              <a:buFont typeface="Wingdings" panose="05000000000000000000" pitchFamily="2" charset="2"/>
              <a:buNone/>
              <a:defRPr/>
            </a:pPr>
            <a:r>
              <a:rPr lang="en-US" altLang="zh-CN" sz="1400" dirty="0">
                <a:solidFill>
                  <a:srgbClr val="0000FF"/>
                </a:solidFill>
                <a:highlight>
                  <a:srgbClr val="FFFFFF"/>
                </a:highlight>
              </a:rPr>
              <a:t>&lt;</a:t>
            </a:r>
            <a:r>
              <a:rPr lang="en-US" altLang="zh-CN" sz="1400" dirty="0">
                <a:solidFill>
                  <a:srgbClr val="800000"/>
                </a:solidFill>
                <a:highlight>
                  <a:srgbClr val="FFFFFF"/>
                </a:highlight>
              </a:rPr>
              <a:t>description</a:t>
            </a:r>
            <a:r>
              <a:rPr lang="en-US" altLang="zh-CN" sz="1400" dirty="0">
                <a:solidFill>
                  <a:srgbClr val="FF0000"/>
                </a:solidFill>
                <a:highlight>
                  <a:srgbClr val="FFFFFF"/>
                </a:highlight>
              </a:rPr>
              <a:t> </a:t>
            </a:r>
            <a:r>
              <a:rPr lang="en-US" altLang="zh-CN" sz="1400" dirty="0" err="1">
                <a:solidFill>
                  <a:srgbClr val="FF0000"/>
                </a:solidFill>
                <a:highlight>
                  <a:srgbClr val="FFFFFF"/>
                </a:highlight>
              </a:rPr>
              <a:t>xmlns</a:t>
            </a:r>
            <a:r>
              <a:rPr lang="en-US" altLang="zh-CN" sz="1400" dirty="0">
                <a:solidFill>
                  <a:srgbClr val="0000FF"/>
                </a:solidFill>
                <a:highlight>
                  <a:srgbClr val="FFFFFF"/>
                </a:highlight>
              </a:rPr>
              <a:t>="</a:t>
            </a:r>
            <a:r>
              <a:rPr lang="en-US" altLang="zh-CN" sz="1400" dirty="0">
                <a:solidFill>
                  <a:srgbClr val="000000"/>
                </a:solidFill>
                <a:highlight>
                  <a:srgbClr val="FFFFFF"/>
                </a:highlight>
              </a:rPr>
              <a:t>http://www.w3.org/ns/wsdl</a:t>
            </a:r>
            <a:r>
              <a:rPr lang="en-US" altLang="zh-CN" sz="1400" dirty="0">
                <a:solidFill>
                  <a:srgbClr val="0000FF"/>
                </a:solidFill>
                <a:highlight>
                  <a:srgbClr val="FFFFFF"/>
                </a:highlight>
              </a:rPr>
              <a:t>"</a:t>
            </a:r>
            <a:endParaRPr lang="en-US" altLang="zh-CN" sz="1400" dirty="0">
              <a:solidFill>
                <a:srgbClr val="FF0000"/>
              </a:solidFill>
              <a:highlight>
                <a:srgbClr val="FFFFFF"/>
              </a:highlight>
            </a:endParaRPr>
          </a:p>
          <a:p>
            <a:pPr>
              <a:buFont typeface="Wingdings" panose="05000000000000000000" pitchFamily="2" charset="2"/>
              <a:buNone/>
              <a:defRPr/>
            </a:pPr>
            <a:r>
              <a:rPr lang="en-US" altLang="zh-CN" sz="1400" dirty="0" err="1">
                <a:solidFill>
                  <a:srgbClr val="FF0000"/>
                </a:solidFill>
                <a:highlight>
                  <a:srgbClr val="FFFFFF"/>
                </a:highlight>
              </a:rPr>
              <a:t>targetNamespace</a:t>
            </a:r>
            <a:r>
              <a:rPr lang="en-US" altLang="zh-CN" sz="1400" dirty="0">
                <a:solidFill>
                  <a:srgbClr val="0000FF"/>
                </a:solidFill>
                <a:highlight>
                  <a:srgbClr val="FFFFFF"/>
                </a:highlight>
              </a:rPr>
              <a:t>= "</a:t>
            </a:r>
            <a:r>
              <a:rPr lang="en-US" altLang="zh-CN" sz="1400" dirty="0">
                <a:solidFill>
                  <a:srgbClr val="000000"/>
                </a:solidFill>
                <a:highlight>
                  <a:srgbClr val="FFFFFF"/>
                </a:highlight>
              </a:rPr>
              <a:t>http://greath.example.com/2004/wsdl/resSvc</a:t>
            </a:r>
            <a:r>
              <a:rPr lang="en-US" altLang="zh-CN" sz="1400" dirty="0">
                <a:solidFill>
                  <a:srgbClr val="0000FF"/>
                </a:solidFill>
                <a:highlight>
                  <a:srgbClr val="FFFFFF"/>
                </a:highlight>
              </a:rPr>
              <a:t>"</a:t>
            </a:r>
            <a:r>
              <a:rPr lang="en-US" altLang="zh-CN" sz="1400" dirty="0">
                <a:solidFill>
                  <a:srgbClr val="FF0000"/>
                </a:solidFill>
                <a:highlight>
                  <a:srgbClr val="FFFFFF"/>
                </a:highlight>
              </a:rPr>
              <a:t> </a:t>
            </a:r>
          </a:p>
          <a:p>
            <a:pPr>
              <a:buFont typeface="Wingdings" panose="05000000000000000000" pitchFamily="2" charset="2"/>
              <a:buNone/>
              <a:defRPr/>
            </a:pPr>
            <a:r>
              <a:rPr lang="en-US" altLang="zh-CN" sz="1400" dirty="0" err="1">
                <a:solidFill>
                  <a:srgbClr val="FF0000"/>
                </a:solidFill>
                <a:highlight>
                  <a:srgbClr val="FFFFFF"/>
                </a:highlight>
              </a:rPr>
              <a:t>xmlns:tns</a:t>
            </a:r>
            <a:r>
              <a:rPr lang="en-US" altLang="zh-CN" sz="1400" dirty="0">
                <a:solidFill>
                  <a:srgbClr val="0000FF"/>
                </a:solidFill>
                <a:highlight>
                  <a:srgbClr val="FFFFFF"/>
                </a:highlight>
              </a:rPr>
              <a:t>= "</a:t>
            </a:r>
            <a:r>
              <a:rPr lang="en-US" altLang="zh-CN" sz="1400" dirty="0">
                <a:solidFill>
                  <a:srgbClr val="000000"/>
                </a:solidFill>
                <a:highlight>
                  <a:srgbClr val="FFFFFF"/>
                </a:highlight>
              </a:rPr>
              <a:t>http://greath.example.com/2004/wsdl/resSvc</a:t>
            </a:r>
            <a:r>
              <a:rPr lang="en-US" altLang="zh-CN" sz="1400" dirty="0">
                <a:solidFill>
                  <a:srgbClr val="0000FF"/>
                </a:solidFill>
                <a:highlight>
                  <a:srgbClr val="FFFFFF"/>
                </a:highlight>
              </a:rPr>
              <a:t>"</a:t>
            </a:r>
            <a:endParaRPr lang="en-US" altLang="zh-CN" sz="1400" dirty="0">
              <a:solidFill>
                <a:srgbClr val="FF0000"/>
              </a:solidFill>
              <a:highlight>
                <a:srgbClr val="FFFFFF"/>
              </a:highlight>
            </a:endParaRPr>
          </a:p>
          <a:p>
            <a:pPr>
              <a:buFont typeface="Wingdings" panose="05000000000000000000" pitchFamily="2" charset="2"/>
              <a:buNone/>
              <a:defRPr/>
            </a:pPr>
            <a:r>
              <a:rPr lang="en-US" altLang="zh-CN" sz="1400" dirty="0" err="1">
                <a:solidFill>
                  <a:srgbClr val="FF0000"/>
                </a:solidFill>
                <a:highlight>
                  <a:srgbClr val="FFFFFF"/>
                </a:highlight>
              </a:rPr>
              <a:t>xmlns:ghns</a:t>
            </a:r>
            <a:r>
              <a:rPr lang="en-US" altLang="zh-CN" sz="1400" dirty="0">
                <a:solidFill>
                  <a:srgbClr val="FF0000"/>
                </a:solidFill>
                <a:highlight>
                  <a:srgbClr val="FFFFFF"/>
                </a:highlight>
              </a:rPr>
              <a:t> </a:t>
            </a:r>
            <a:r>
              <a:rPr lang="en-US" altLang="zh-CN" sz="1400" dirty="0">
                <a:solidFill>
                  <a:srgbClr val="0000FF"/>
                </a:solidFill>
                <a:highlight>
                  <a:srgbClr val="FFFFFF"/>
                </a:highlight>
              </a:rPr>
              <a:t>= "</a:t>
            </a:r>
            <a:r>
              <a:rPr lang="en-US" altLang="zh-CN" sz="1400" dirty="0">
                <a:solidFill>
                  <a:srgbClr val="000000"/>
                </a:solidFill>
                <a:highlight>
                  <a:srgbClr val="FFFFFF"/>
                </a:highlight>
              </a:rPr>
              <a:t>http://greath.example.com/2004/schemas/resSvc</a:t>
            </a:r>
            <a:r>
              <a:rPr lang="en-US" altLang="zh-CN" sz="1400" dirty="0">
                <a:solidFill>
                  <a:srgbClr val="0000FF"/>
                </a:solidFill>
                <a:highlight>
                  <a:srgbClr val="FFFFFF"/>
                </a:highlight>
              </a:rPr>
              <a:t>"</a:t>
            </a:r>
            <a:endParaRPr lang="en-US" altLang="zh-CN" sz="1400" dirty="0">
              <a:solidFill>
                <a:srgbClr val="FF0000"/>
              </a:solidFill>
              <a:highlight>
                <a:srgbClr val="FFFFFF"/>
              </a:highlight>
            </a:endParaRPr>
          </a:p>
          <a:p>
            <a:pPr>
              <a:buFont typeface="Wingdings" panose="05000000000000000000" pitchFamily="2" charset="2"/>
              <a:buNone/>
              <a:defRPr/>
            </a:pPr>
            <a:r>
              <a:rPr lang="en-US" altLang="zh-CN" sz="1400" dirty="0">
                <a:solidFill>
                  <a:srgbClr val="FF0000"/>
                </a:solidFill>
                <a:highlight>
                  <a:srgbClr val="FFFFFF"/>
                </a:highlight>
              </a:rPr>
              <a:t>. . . </a:t>
            </a:r>
            <a:r>
              <a:rPr lang="en-US" altLang="zh-CN" sz="1400" dirty="0">
                <a:solidFill>
                  <a:srgbClr val="0000FF"/>
                </a:solidFill>
                <a:highlight>
                  <a:srgbClr val="FFFFFF"/>
                </a:highlight>
              </a:rPr>
              <a:t>&gt;</a:t>
            </a:r>
            <a:endParaRPr lang="zh-CN" altLang="en-US"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00"/>
                </a:solidFill>
                <a:highlight>
                  <a:srgbClr val="FFFFFF"/>
                </a:highlight>
              </a:rPr>
              <a:t>. . .</a:t>
            </a:r>
          </a:p>
          <a:p>
            <a:pPr>
              <a:buFont typeface="Wingdings" panose="05000000000000000000" pitchFamily="2" charset="2"/>
              <a:buNone/>
              <a:defRPr/>
            </a:pPr>
            <a:endParaRPr lang="zh-CN" altLang="en-US"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FF"/>
                </a:solidFill>
                <a:highlight>
                  <a:srgbClr val="FFFFFF"/>
                </a:highlight>
              </a:rPr>
              <a:t>&lt;</a:t>
            </a:r>
            <a:r>
              <a:rPr lang="en-US" altLang="zh-CN" sz="1400" dirty="0">
                <a:solidFill>
                  <a:srgbClr val="800000"/>
                </a:solidFill>
                <a:highlight>
                  <a:srgbClr val="FFFFFF"/>
                </a:highlight>
              </a:rPr>
              <a:t>types</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00"/>
                </a:solidFill>
                <a:highlight>
                  <a:srgbClr val="FFFFFF"/>
                </a:highlight>
              </a:rPr>
              <a:t>        </a:t>
            </a:r>
            <a:r>
              <a:rPr lang="en-US" altLang="zh-CN" sz="1400" dirty="0">
                <a:solidFill>
                  <a:srgbClr val="0000FF"/>
                </a:solidFill>
                <a:highlight>
                  <a:srgbClr val="FFFFFF"/>
                </a:highlight>
              </a:rPr>
              <a:t>&lt;</a:t>
            </a:r>
            <a:r>
              <a:rPr lang="en-US" altLang="zh-CN" sz="1400" dirty="0" err="1">
                <a:solidFill>
                  <a:srgbClr val="800000"/>
                </a:solidFill>
                <a:highlight>
                  <a:srgbClr val="FFFFFF"/>
                </a:highlight>
              </a:rPr>
              <a:t>xs:import</a:t>
            </a:r>
            <a:r>
              <a:rPr lang="en-US" altLang="zh-CN" sz="1400" dirty="0">
                <a:solidFill>
                  <a:srgbClr val="FF0000"/>
                </a:solidFill>
                <a:highlight>
                  <a:srgbClr val="FFFFFF"/>
                </a:highlight>
              </a:rPr>
              <a:t> namespace</a:t>
            </a:r>
            <a:r>
              <a:rPr lang="en-US" altLang="zh-CN" sz="1400" dirty="0">
                <a:solidFill>
                  <a:srgbClr val="0000FF"/>
                </a:solidFill>
                <a:highlight>
                  <a:srgbClr val="FFFFFF"/>
                </a:highlight>
              </a:rPr>
              <a:t>="</a:t>
            </a:r>
            <a:r>
              <a:rPr lang="en-US" altLang="zh-CN" sz="1400" dirty="0">
                <a:solidFill>
                  <a:srgbClr val="000000"/>
                </a:solidFill>
                <a:highlight>
                  <a:srgbClr val="FFFFFF"/>
                </a:highlight>
              </a:rPr>
              <a:t>http://greath.example.com/2004/schemas/resSvc</a:t>
            </a:r>
            <a:r>
              <a:rPr lang="en-US" altLang="zh-CN" sz="1400" dirty="0">
                <a:solidFill>
                  <a:srgbClr val="0000FF"/>
                </a:solidFill>
                <a:highlight>
                  <a:srgbClr val="FFFFFF"/>
                </a:highlight>
              </a:rPr>
              <a:t>"</a:t>
            </a:r>
            <a:r>
              <a:rPr lang="en-US" altLang="zh-CN" sz="1400" dirty="0">
                <a:solidFill>
                  <a:srgbClr val="FF0000"/>
                </a:solidFill>
                <a:highlight>
                  <a:srgbClr val="FFFFFF"/>
                </a:highlight>
              </a:rPr>
              <a:t> </a:t>
            </a:r>
          </a:p>
          <a:p>
            <a:pPr>
              <a:buFont typeface="Wingdings" panose="05000000000000000000" pitchFamily="2" charset="2"/>
              <a:buNone/>
              <a:defRPr/>
            </a:pPr>
            <a:r>
              <a:rPr lang="en-US" altLang="zh-CN" sz="1400" dirty="0">
                <a:solidFill>
                  <a:srgbClr val="FF0000"/>
                </a:solidFill>
                <a:highlight>
                  <a:srgbClr val="FFFFFF"/>
                </a:highlight>
              </a:rPr>
              <a:t>                </a:t>
            </a:r>
            <a:r>
              <a:rPr lang="en-US" altLang="zh-CN" sz="1400" dirty="0" err="1">
                <a:solidFill>
                  <a:srgbClr val="FF0000"/>
                </a:solidFill>
                <a:highlight>
                  <a:srgbClr val="FFFFFF"/>
                </a:highlight>
              </a:rPr>
              <a:t>schemaLocation</a:t>
            </a:r>
            <a:r>
              <a:rPr lang="en-US" altLang="zh-CN" sz="1400" dirty="0">
                <a:solidFill>
                  <a:srgbClr val="0000FF"/>
                </a:solidFill>
                <a:highlight>
                  <a:srgbClr val="FFFFFF"/>
                </a:highlight>
              </a:rPr>
              <a:t>= "</a:t>
            </a:r>
            <a:r>
              <a:rPr lang="en-US" altLang="zh-CN" sz="1400" dirty="0">
                <a:solidFill>
                  <a:srgbClr val="000000"/>
                </a:solidFill>
                <a:highlight>
                  <a:srgbClr val="FFFFFF"/>
                </a:highlight>
              </a:rPr>
              <a:t>http://greath.example.com/2004/schemas/resSvc.xsd</a:t>
            </a:r>
            <a:r>
              <a:rPr lang="en-US" altLang="zh-CN" sz="1400" dirty="0">
                <a:solidFill>
                  <a:srgbClr val="0000FF"/>
                </a:solidFill>
                <a:highlight>
                  <a:srgbClr val="FFFFFF"/>
                </a:highlight>
              </a:rPr>
              <a:t>"/&gt;</a:t>
            </a:r>
            <a:r>
              <a:rPr lang="en-US" altLang="zh-CN" sz="1400" dirty="0">
                <a:solidFill>
                  <a:srgbClr val="000000"/>
                </a:solidFill>
                <a:highlight>
                  <a:srgbClr val="FFFFFF"/>
                </a:highlight>
              </a:rPr>
              <a:t>  </a:t>
            </a:r>
          </a:p>
          <a:p>
            <a:pPr>
              <a:buFont typeface="Wingdings" panose="05000000000000000000" pitchFamily="2" charset="2"/>
              <a:buNone/>
              <a:defRPr/>
            </a:pPr>
            <a:r>
              <a:rPr lang="en-US" altLang="zh-CN" sz="1400" dirty="0">
                <a:solidFill>
                  <a:srgbClr val="0000FF"/>
                </a:solidFill>
                <a:highlight>
                  <a:srgbClr val="FFFFFF"/>
                </a:highlight>
              </a:rPr>
              <a:t>&lt;/</a:t>
            </a:r>
            <a:r>
              <a:rPr lang="en-US" altLang="zh-CN" sz="1400" dirty="0">
                <a:solidFill>
                  <a:srgbClr val="800000"/>
                </a:solidFill>
                <a:highlight>
                  <a:srgbClr val="FFFFFF"/>
                </a:highlight>
              </a:rPr>
              <a:t>types</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a:p>
            <a:pPr>
              <a:buFont typeface="Wingdings" panose="05000000000000000000" pitchFamily="2" charset="2"/>
              <a:buNone/>
              <a:defRPr/>
            </a:pPr>
            <a:endParaRPr lang="zh-CN" altLang="en-US"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00"/>
                </a:solidFill>
                <a:highlight>
                  <a:srgbClr val="FFFFFF"/>
                </a:highlight>
              </a:rPr>
              <a:t>. . .</a:t>
            </a:r>
          </a:p>
          <a:p>
            <a:pPr>
              <a:buFont typeface="Wingdings" panose="05000000000000000000" pitchFamily="2" charset="2"/>
              <a:buNone/>
              <a:defRPr/>
            </a:pPr>
            <a:r>
              <a:rPr lang="en-US" altLang="zh-CN" sz="1400" dirty="0">
                <a:solidFill>
                  <a:srgbClr val="0000FF"/>
                </a:solidFill>
                <a:highlight>
                  <a:srgbClr val="FFFFFF"/>
                </a:highlight>
              </a:rPr>
              <a:t>&lt;/</a:t>
            </a:r>
            <a:r>
              <a:rPr lang="en-US" altLang="zh-CN" sz="1400" dirty="0">
                <a:solidFill>
                  <a:srgbClr val="800000"/>
                </a:solidFill>
                <a:highlight>
                  <a:srgbClr val="FFFFFF"/>
                </a:highlight>
              </a:rPr>
              <a:t>description</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p:txBody>
      </p:sp>
      <p:sp>
        <p:nvSpPr>
          <p:cNvPr id="6" name="Line 15">
            <a:extLst>
              <a:ext uri="{FF2B5EF4-FFF2-40B4-BE49-F238E27FC236}">
                <a16:creationId xmlns:a16="http://schemas.microsoft.com/office/drawing/2014/main" id="{210B1F1C-B743-44FD-AED7-5770FEA26201}"/>
              </a:ext>
            </a:extLst>
          </p:cNvPr>
          <p:cNvSpPr>
            <a:spLocks noChangeShapeType="1"/>
          </p:cNvSpPr>
          <p:nvPr/>
        </p:nvSpPr>
        <p:spPr bwMode="auto">
          <a:xfrm flipH="1" flipV="1">
            <a:off x="5580063" y="4581525"/>
            <a:ext cx="0" cy="520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EED97811-E31C-48C3-96EF-C597B143D237}"/>
              </a:ext>
            </a:extLst>
          </p:cNvPr>
          <p:cNvSpPr txBox="1">
            <a:spLocks noChangeArrowheads="1"/>
          </p:cNvSpPr>
          <p:nvPr/>
        </p:nvSpPr>
        <p:spPr bwMode="auto">
          <a:xfrm>
            <a:off x="4356100" y="5021263"/>
            <a:ext cx="33845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The hint of location of separated schema file </a:t>
            </a:r>
          </a:p>
        </p:txBody>
      </p:sp>
      <p:sp>
        <p:nvSpPr>
          <p:cNvPr id="8" name="Line 15">
            <a:extLst>
              <a:ext uri="{FF2B5EF4-FFF2-40B4-BE49-F238E27FC236}">
                <a16:creationId xmlns:a16="http://schemas.microsoft.com/office/drawing/2014/main" id="{DAA2BE34-F1B3-44B3-8F82-83F1294F43BD}"/>
              </a:ext>
            </a:extLst>
          </p:cNvPr>
          <p:cNvSpPr>
            <a:spLocks noChangeShapeType="1"/>
          </p:cNvSpPr>
          <p:nvPr/>
        </p:nvSpPr>
        <p:spPr bwMode="auto">
          <a:xfrm flipH="1">
            <a:off x="5795963" y="3751263"/>
            <a:ext cx="647700" cy="4397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5CC9EC2B-29B9-4C63-9A5D-DDFA35CEAC95}"/>
              </a:ext>
            </a:extLst>
          </p:cNvPr>
          <p:cNvSpPr txBox="1">
            <a:spLocks noChangeArrowheads="1"/>
          </p:cNvSpPr>
          <p:nvPr/>
        </p:nvSpPr>
        <p:spPr bwMode="auto">
          <a:xfrm>
            <a:off x="4572000" y="3043238"/>
            <a:ext cx="4114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The target namespace. Only the components in it is available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a:extLst>
              <a:ext uri="{FF2B5EF4-FFF2-40B4-BE49-F238E27FC236}">
                <a16:creationId xmlns:a16="http://schemas.microsoft.com/office/drawing/2014/main" id="{28EE5E67-F8B5-4C30-BBDA-55961787A9E7}"/>
              </a:ext>
            </a:extLst>
          </p:cNvPr>
          <p:cNvSpPr>
            <a:spLocks noGrp="1"/>
          </p:cNvSpPr>
          <p:nvPr>
            <p:ph type="title"/>
          </p:nvPr>
        </p:nvSpPr>
        <p:spPr/>
        <p:txBody>
          <a:bodyPr>
            <a:normAutofit/>
          </a:bodyPr>
          <a:lstStyle/>
          <a:p>
            <a:pPr>
              <a:defRPr/>
            </a:pPr>
            <a:r>
              <a:rPr lang="en-US" altLang="zh-CN" sz="2800" dirty="0" err="1">
                <a:hlinkClick r:id="rId3"/>
              </a:rPr>
              <a:t>xs:import</a:t>
            </a:r>
            <a:r>
              <a:rPr lang="en-US" altLang="zh-CN" sz="2800" dirty="0">
                <a:hlinkClick r:id="rId3"/>
              </a:rPr>
              <a:t> </a:t>
            </a:r>
            <a:r>
              <a:rPr lang="en-US" altLang="zh-CN" sz="2800" dirty="0"/>
              <a:t>in </a:t>
            </a:r>
            <a:r>
              <a:rPr lang="en-US" altLang="zh-CN" sz="2800" dirty="0" err="1"/>
              <a:t>Inlined</a:t>
            </a:r>
            <a:r>
              <a:rPr lang="en-US" altLang="zh-CN" sz="2800" dirty="0"/>
              <a:t> XML Schema (1/2)</a:t>
            </a:r>
            <a:endParaRPr lang="zh-CN" altLang="en-US" sz="2800" dirty="0"/>
          </a:p>
        </p:txBody>
      </p:sp>
      <p:sp>
        <p:nvSpPr>
          <p:cNvPr id="3" name="内容占位符 2">
            <a:extLst>
              <a:ext uri="{FF2B5EF4-FFF2-40B4-BE49-F238E27FC236}">
                <a16:creationId xmlns:a16="http://schemas.microsoft.com/office/drawing/2014/main" id="{5FDD3610-813C-48C0-8F93-6C2EE4169BFE}"/>
              </a:ext>
            </a:extLst>
          </p:cNvPr>
          <p:cNvSpPr>
            <a:spLocks noGrp="1"/>
          </p:cNvSpPr>
          <p:nvPr>
            <p:ph idx="1"/>
          </p:nvPr>
        </p:nvSpPr>
        <p:spPr/>
        <p:txBody>
          <a:bodyPr>
            <a:normAutofit fontScale="77500" lnSpcReduction="20000"/>
          </a:bodyPr>
          <a:lstStyle/>
          <a:p>
            <a:pPr>
              <a:lnSpc>
                <a:spcPct val="120000"/>
              </a:lnSpc>
              <a:defRPr/>
            </a:pPr>
            <a:r>
              <a:rPr lang="en-US" altLang="zh-CN" dirty="0"/>
              <a:t>An </a:t>
            </a:r>
            <a:r>
              <a:rPr lang="en-US" altLang="zh-CN" dirty="0" err="1"/>
              <a:t>inlined</a:t>
            </a:r>
            <a:r>
              <a:rPr lang="en-US" altLang="zh-CN" dirty="0"/>
              <a:t> schema may use native XML schema </a:t>
            </a:r>
            <a:r>
              <a:rPr lang="en-US" altLang="zh-CN" dirty="0" err="1">
                <a:hlinkClick r:id="rId3"/>
              </a:rPr>
              <a:t>xs:import</a:t>
            </a:r>
            <a:r>
              <a:rPr lang="en-US" altLang="zh-CN" dirty="0"/>
              <a:t> to bring in external schema definitions that are in different namespaces</a:t>
            </a:r>
          </a:p>
          <a:p>
            <a:pPr lvl="1">
              <a:lnSpc>
                <a:spcPct val="120000"/>
              </a:lnSpc>
              <a:defRPr/>
            </a:pPr>
            <a:r>
              <a:rPr lang="en-US" altLang="zh-CN" dirty="0"/>
              <a:t>This is the schema importing mechanism recommended for WSDL 1.1 in </a:t>
            </a:r>
            <a:r>
              <a:rPr lang="en-US" altLang="zh-CN" dirty="0">
                <a:hlinkClick r:id="rId3"/>
              </a:rPr>
              <a:t>WS-I Basic Profile</a:t>
            </a:r>
            <a:endParaRPr lang="en-US" altLang="zh-CN" dirty="0"/>
          </a:p>
          <a:p>
            <a:pPr>
              <a:lnSpc>
                <a:spcPct val="120000"/>
              </a:lnSpc>
              <a:defRPr/>
            </a:pPr>
            <a:r>
              <a:rPr lang="en-US" altLang="zh-CN" dirty="0"/>
              <a:t>But, according to XML Schema specification, such enclosed message definitions are only visible to the importing schema (in this case, the </a:t>
            </a:r>
            <a:r>
              <a:rPr lang="en-US" altLang="zh-CN" dirty="0" err="1"/>
              <a:t>inlined</a:t>
            </a:r>
            <a:r>
              <a:rPr lang="en-US" altLang="zh-CN" dirty="0"/>
              <a:t> schema). They are not visible to the containing WSDL 2.0 </a:t>
            </a:r>
            <a:r>
              <a:rPr lang="en-US" altLang="zh-CN" dirty="0">
                <a:hlinkClick r:id="rId4" action="ppaction://hlinkpres?slideindex=1&amp;slidetitle="/>
              </a:rPr>
              <a:t>description</a:t>
            </a:r>
            <a:endParaRPr lang="en-US" altLang="zh-CN" dirty="0"/>
          </a:p>
          <a:p>
            <a:pPr>
              <a:lnSpc>
                <a:spcPct val="120000"/>
              </a:lnSpc>
              <a:defRPr/>
            </a:pPr>
            <a:r>
              <a:rPr lang="en-US" altLang="zh-CN" sz="3100" dirty="0" err="1">
                <a:hlinkClick r:id="rId3"/>
              </a:rPr>
              <a:t>xs:import</a:t>
            </a:r>
            <a:r>
              <a:rPr lang="en-US" altLang="zh-CN" dirty="0"/>
              <a:t> used directly under </a:t>
            </a:r>
            <a:r>
              <a:rPr lang="en-US" altLang="zh-CN" sz="3100" dirty="0" err="1">
                <a:hlinkClick r:id="rId3"/>
              </a:rPr>
              <a:t>wsdl:types</a:t>
            </a:r>
            <a:r>
              <a:rPr lang="en-US" altLang="zh-CN" dirty="0"/>
              <a:t> has been given a different visibility than </a:t>
            </a:r>
            <a:r>
              <a:rPr lang="en-US" altLang="zh-CN" sz="3100" dirty="0" err="1">
                <a:hlinkClick r:id="rId3"/>
              </a:rPr>
              <a:t>xs:import</a:t>
            </a:r>
            <a:r>
              <a:rPr lang="en-US" altLang="zh-CN" dirty="0"/>
              <a:t> used inside an </a:t>
            </a:r>
            <a:r>
              <a:rPr lang="en-US" altLang="zh-CN" dirty="0" err="1"/>
              <a:t>inlined</a:t>
            </a:r>
            <a:r>
              <a:rPr lang="en-US" altLang="zh-CN" dirty="0"/>
              <a:t> schema</a:t>
            </a:r>
          </a:p>
        </p:txBody>
      </p:sp>
      <p:sp>
        <p:nvSpPr>
          <p:cNvPr id="29700" name="灯片编号占位符 3">
            <a:extLst>
              <a:ext uri="{FF2B5EF4-FFF2-40B4-BE49-F238E27FC236}">
                <a16:creationId xmlns:a16="http://schemas.microsoft.com/office/drawing/2014/main" id="{5B1A6B69-33D5-4949-A636-7F1121161A6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A9022D90-4977-4540-8F84-5CA04C859776}" type="slidenum">
              <a:rPr lang="en-US" altLang="zh-CN" smtClean="0"/>
              <a:pPr/>
              <a:t>22</a:t>
            </a:fld>
            <a:endParaRPr lang="en-US" altLang="zh-CN" sz="1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16A115E6-C781-44E1-9A74-1412DC6FFCA3}"/>
              </a:ext>
            </a:extLst>
          </p:cNvPr>
          <p:cNvSpPr>
            <a:spLocks noGrp="1"/>
          </p:cNvSpPr>
          <p:nvPr>
            <p:ph type="title"/>
          </p:nvPr>
        </p:nvSpPr>
        <p:spPr/>
        <p:txBody>
          <a:bodyPr>
            <a:normAutofit/>
          </a:bodyPr>
          <a:lstStyle/>
          <a:p>
            <a:pPr>
              <a:defRPr/>
            </a:pPr>
            <a:r>
              <a:rPr lang="en-US" altLang="zh-CN" sz="2800" dirty="0" err="1">
                <a:hlinkClick r:id="rId3"/>
              </a:rPr>
              <a:t>xs:import</a:t>
            </a:r>
            <a:r>
              <a:rPr lang="en-US" altLang="zh-CN" sz="2800" dirty="0">
                <a:hlinkClick r:id="rId3"/>
              </a:rPr>
              <a:t> </a:t>
            </a:r>
            <a:r>
              <a:rPr lang="en-US" altLang="zh-CN" sz="2800" dirty="0"/>
              <a:t>in </a:t>
            </a:r>
            <a:r>
              <a:rPr lang="en-US" altLang="zh-CN" sz="2800" dirty="0" err="1"/>
              <a:t>Inlined</a:t>
            </a:r>
            <a:r>
              <a:rPr lang="en-US" altLang="zh-CN" sz="2800" dirty="0"/>
              <a:t> XML Schema (2/2)</a:t>
            </a:r>
            <a:endParaRPr lang="zh-CN" altLang="en-US" sz="2800" dirty="0"/>
          </a:p>
        </p:txBody>
      </p:sp>
      <p:sp>
        <p:nvSpPr>
          <p:cNvPr id="31747" name="灯片编号占位符 3">
            <a:extLst>
              <a:ext uri="{FF2B5EF4-FFF2-40B4-BE49-F238E27FC236}">
                <a16:creationId xmlns:a16="http://schemas.microsoft.com/office/drawing/2014/main" id="{CD638DC1-076D-42EE-B0EC-EAFB43DC932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A9022D90-4977-4540-8F84-5CA04C859776}" type="slidenum">
              <a:rPr lang="en-US" altLang="zh-CN" smtClean="0"/>
              <a:pPr/>
              <a:t>23</a:t>
            </a:fld>
            <a:endParaRPr lang="en-US" altLang="zh-CN" sz="1000">
              <a:solidFill>
                <a:srgbClr val="000000"/>
              </a:solidFill>
            </a:endParaRPr>
          </a:p>
        </p:txBody>
      </p:sp>
      <p:sp>
        <p:nvSpPr>
          <p:cNvPr id="5" name="Text Box 4">
            <a:extLst>
              <a:ext uri="{FF2B5EF4-FFF2-40B4-BE49-F238E27FC236}">
                <a16:creationId xmlns:a16="http://schemas.microsoft.com/office/drawing/2014/main" id="{62A10D33-A32E-4922-8FFC-B24277B5EE10}"/>
              </a:ext>
            </a:extLst>
          </p:cNvPr>
          <p:cNvSpPr txBox="1">
            <a:spLocks noChangeArrowheads="1"/>
          </p:cNvSpPr>
          <p:nvPr/>
        </p:nvSpPr>
        <p:spPr bwMode="auto">
          <a:xfrm>
            <a:off x="467544" y="1628800"/>
            <a:ext cx="8229600" cy="4444294"/>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 ?&gt;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http://greath.example.com/2004/wsdl/resSvc</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http://greath.example.com/2004/wsdl/resSvc</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err="1">
                <a:solidFill>
                  <a:srgbClr val="FF0000"/>
                </a:solidFill>
                <a:highlight>
                  <a:srgbClr val="FFFFFF"/>
                </a:highlight>
                <a:latin typeface="Arial"/>
              </a:rPr>
              <a:t>xmlns:ghns</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http://greath.example.com/2004/schemas/resSvc</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 .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http://greath.example.com/2004/schemas/resSvcWrapper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xs:import</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http://greath.example.com/2004/schemas/resSvc</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http://greath.example.com/2004/schemas/resSvc.xsd</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C755E0E4-0A70-4FF8-9BB4-5DF15765C667}"/>
              </a:ext>
            </a:extLst>
          </p:cNvPr>
          <p:cNvSpPr>
            <a:spLocks noChangeShapeType="1"/>
          </p:cNvSpPr>
          <p:nvPr/>
        </p:nvSpPr>
        <p:spPr bwMode="auto">
          <a:xfrm flipH="1" flipV="1">
            <a:off x="5508625" y="4437063"/>
            <a:ext cx="0" cy="520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B415239A-F38D-46F5-82AB-F180F19EA117}"/>
              </a:ext>
            </a:extLst>
          </p:cNvPr>
          <p:cNvSpPr txBox="1">
            <a:spLocks noChangeArrowheads="1"/>
          </p:cNvSpPr>
          <p:nvPr/>
        </p:nvSpPr>
        <p:spPr bwMode="auto">
          <a:xfrm>
            <a:off x="3708400" y="4941888"/>
            <a:ext cx="4103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Not available to WSDL component</a:t>
            </a:r>
            <a:endParaRPr lang="en-US" altLang="zh-CN" sz="2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793B1C43-6C15-4687-B4C1-ED48B940F0D8}"/>
              </a:ext>
            </a:extLst>
          </p:cNvPr>
          <p:cNvSpPr>
            <a:spLocks noGrp="1"/>
          </p:cNvSpPr>
          <p:nvPr>
            <p:ph type="title"/>
          </p:nvPr>
        </p:nvSpPr>
        <p:spPr/>
        <p:txBody>
          <a:bodyPr>
            <a:normAutofit/>
          </a:bodyPr>
          <a:lstStyle/>
          <a:p>
            <a:pPr>
              <a:defRPr/>
            </a:pPr>
            <a:r>
              <a:rPr lang="en-US" altLang="zh-CN" sz="2800" dirty="0" err="1">
                <a:hlinkClick r:id="rId3"/>
              </a:rPr>
              <a:t>xs:include</a:t>
            </a:r>
            <a:r>
              <a:rPr lang="en-US" altLang="zh-CN" sz="2800" dirty="0">
                <a:hlinkClick r:id="rId3"/>
              </a:rPr>
              <a:t> </a:t>
            </a:r>
            <a:r>
              <a:rPr lang="en-US" altLang="zh-CN" sz="2800" dirty="0"/>
              <a:t>in </a:t>
            </a:r>
            <a:r>
              <a:rPr lang="en-US" altLang="zh-CN" sz="2800" dirty="0" err="1"/>
              <a:t>Inlined</a:t>
            </a:r>
            <a:r>
              <a:rPr lang="en-US" altLang="zh-CN" sz="2800" dirty="0"/>
              <a:t> XML Schema (1/2)</a:t>
            </a:r>
            <a:endParaRPr lang="zh-CN" altLang="en-US" sz="2800" dirty="0"/>
          </a:p>
        </p:txBody>
      </p:sp>
      <p:sp>
        <p:nvSpPr>
          <p:cNvPr id="3" name="内容占位符 2">
            <a:extLst>
              <a:ext uri="{FF2B5EF4-FFF2-40B4-BE49-F238E27FC236}">
                <a16:creationId xmlns:a16="http://schemas.microsoft.com/office/drawing/2014/main" id="{15A7E715-1E50-40F0-84CF-EE11F733D26D}"/>
              </a:ext>
            </a:extLst>
          </p:cNvPr>
          <p:cNvSpPr>
            <a:spLocks noGrp="1"/>
          </p:cNvSpPr>
          <p:nvPr>
            <p:ph idx="1"/>
          </p:nvPr>
        </p:nvSpPr>
        <p:spPr/>
        <p:txBody>
          <a:bodyPr>
            <a:normAutofit lnSpcReduction="10000"/>
          </a:bodyPr>
          <a:lstStyle/>
          <a:p>
            <a:pPr>
              <a:lnSpc>
                <a:spcPct val="120000"/>
              </a:lnSpc>
              <a:defRPr/>
            </a:pPr>
            <a:r>
              <a:rPr lang="en-US" altLang="zh-CN" sz="2400" dirty="0"/>
              <a:t>Of course, an </a:t>
            </a:r>
            <a:r>
              <a:rPr lang="en-US" altLang="zh-CN" sz="2400" dirty="0" err="1"/>
              <a:t>inlined</a:t>
            </a:r>
            <a:r>
              <a:rPr lang="en-US" altLang="zh-CN" sz="2400" dirty="0"/>
              <a:t> XML schema may also use XML Schema's native </a:t>
            </a:r>
            <a:r>
              <a:rPr lang="en-US" altLang="zh-CN" sz="2400" dirty="0" err="1">
                <a:hlinkClick r:id="rId3"/>
              </a:rPr>
              <a:t>xs:include</a:t>
            </a:r>
            <a:r>
              <a:rPr lang="en-US" altLang="zh-CN" sz="2400" dirty="0"/>
              <a:t> element to refer to schemas defined in separate files when the included schema has no namespace or has the same namespace as the including schema</a:t>
            </a:r>
          </a:p>
          <a:p>
            <a:pPr>
              <a:lnSpc>
                <a:spcPct val="120000"/>
              </a:lnSpc>
              <a:defRPr/>
            </a:pPr>
            <a:r>
              <a:rPr lang="en-US" altLang="zh-CN" sz="2400" dirty="0"/>
              <a:t>In this case, according to XML Schema, the included schema components become a part of the including schema as though they had been copied and pasted into the including schema</a:t>
            </a:r>
          </a:p>
          <a:p>
            <a:pPr>
              <a:lnSpc>
                <a:spcPct val="120000"/>
              </a:lnSpc>
              <a:defRPr/>
            </a:pPr>
            <a:r>
              <a:rPr lang="en-US" altLang="zh-CN" sz="2400" dirty="0"/>
              <a:t>Hence, the included schema components are also available to the containing WSDL 2.0 description for reference by </a:t>
            </a:r>
            <a:r>
              <a:rPr lang="en-US" altLang="zh-CN" sz="2400" dirty="0" err="1">
                <a:solidFill>
                  <a:srgbClr val="FF0000"/>
                </a:solidFill>
              </a:rPr>
              <a:t>QName</a:t>
            </a:r>
            <a:endParaRPr lang="zh-CN" altLang="en-US" sz="2400" dirty="0"/>
          </a:p>
        </p:txBody>
      </p:sp>
      <p:sp>
        <p:nvSpPr>
          <p:cNvPr id="33796" name="灯片编号占位符 3">
            <a:extLst>
              <a:ext uri="{FF2B5EF4-FFF2-40B4-BE49-F238E27FC236}">
                <a16:creationId xmlns:a16="http://schemas.microsoft.com/office/drawing/2014/main" id="{BC0B7AF1-B744-463E-9DBC-5E4F5975C9E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A9022D90-4977-4540-8F84-5CA04C859776}" type="slidenum">
              <a:rPr lang="en-US" altLang="zh-CN" smtClean="0"/>
              <a:pPr/>
              <a:t>24</a:t>
            </a:fld>
            <a:endParaRPr lang="en-US" altLang="zh-CN" sz="1000">
              <a:solidFill>
                <a:srgbClr val="000000"/>
              </a:solidFil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448FB7B5-E6F4-447D-A620-A18C5ECD284C}"/>
              </a:ext>
            </a:extLst>
          </p:cNvPr>
          <p:cNvSpPr>
            <a:spLocks noGrp="1"/>
          </p:cNvSpPr>
          <p:nvPr>
            <p:ph type="title"/>
          </p:nvPr>
        </p:nvSpPr>
        <p:spPr/>
        <p:txBody>
          <a:bodyPr>
            <a:normAutofit/>
          </a:bodyPr>
          <a:lstStyle/>
          <a:p>
            <a:pPr>
              <a:defRPr/>
            </a:pPr>
            <a:r>
              <a:rPr lang="en-US" altLang="zh-CN" sz="2800" dirty="0" err="1">
                <a:hlinkClick r:id="rId3"/>
              </a:rPr>
              <a:t>xs:include</a:t>
            </a:r>
            <a:r>
              <a:rPr lang="en-US" altLang="zh-CN" sz="2800" dirty="0">
                <a:hlinkClick r:id="rId3"/>
              </a:rPr>
              <a:t> </a:t>
            </a:r>
            <a:r>
              <a:rPr lang="en-US" altLang="zh-CN" sz="2800" dirty="0"/>
              <a:t>in </a:t>
            </a:r>
            <a:r>
              <a:rPr lang="en-US" altLang="zh-CN" sz="2800" dirty="0" err="1"/>
              <a:t>Inlined</a:t>
            </a:r>
            <a:r>
              <a:rPr lang="en-US" altLang="zh-CN" sz="2800" dirty="0"/>
              <a:t> XML Schema (2/2)</a:t>
            </a:r>
            <a:endParaRPr lang="zh-CN" altLang="en-US" sz="2800" dirty="0"/>
          </a:p>
        </p:txBody>
      </p:sp>
      <p:sp>
        <p:nvSpPr>
          <p:cNvPr id="35843" name="灯片编号占位符 3">
            <a:extLst>
              <a:ext uri="{FF2B5EF4-FFF2-40B4-BE49-F238E27FC236}">
                <a16:creationId xmlns:a16="http://schemas.microsoft.com/office/drawing/2014/main" id="{542BDAA9-FD79-42A7-B0B8-9982ADDD4EA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A9022D90-4977-4540-8F84-5CA04C859776}" type="slidenum">
              <a:rPr lang="en-US" altLang="zh-CN" smtClean="0"/>
              <a:pPr>
                <a:buFont typeface="Wingdings" panose="05000000000000000000" pitchFamily="2" charset="2"/>
                <a:buNone/>
              </a:pPr>
              <a:t>25</a:t>
            </a:fld>
            <a:endParaRPr lang="en-US" altLang="zh-CN" sz="1000">
              <a:solidFill>
                <a:srgbClr val="000000"/>
              </a:solidFill>
            </a:endParaRPr>
          </a:p>
        </p:txBody>
      </p:sp>
      <p:sp>
        <p:nvSpPr>
          <p:cNvPr id="5" name="Text Box 4">
            <a:extLst>
              <a:ext uri="{FF2B5EF4-FFF2-40B4-BE49-F238E27FC236}">
                <a16:creationId xmlns:a16="http://schemas.microsoft.com/office/drawing/2014/main" id="{24196A93-1578-4661-8DC5-838A8516940C}"/>
              </a:ext>
            </a:extLst>
          </p:cNvPr>
          <p:cNvSpPr txBox="1">
            <a:spLocks noChangeArrowheads="1"/>
          </p:cNvSpPr>
          <p:nvPr/>
        </p:nvSpPr>
        <p:spPr bwMode="auto">
          <a:xfrm>
            <a:off x="457200" y="1600200"/>
            <a:ext cx="8229600" cy="418576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 ?&gt;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http://greath.example.com/2004/wsdl/resSvc</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http://greath.example.com/2004/wsdl/resSvc</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err="1">
                <a:solidFill>
                  <a:srgbClr val="FF0000"/>
                </a:solidFill>
                <a:highlight>
                  <a:srgbClr val="FFFFFF"/>
                </a:highlight>
                <a:latin typeface="Arial"/>
              </a:rPr>
              <a:t>xmlns:ghns</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http://greath.example.com/2004/schemas/resSvc</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 .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http://greath.example.com/2004/schemas/resSvc</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xs:include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http://greath.example.com/2004/schemas/resSvc.xsd</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A6BBC3D1-76EA-4079-A4A0-08A571502325}"/>
              </a:ext>
            </a:extLst>
          </p:cNvPr>
          <p:cNvSpPr>
            <a:spLocks noChangeShapeType="1"/>
          </p:cNvSpPr>
          <p:nvPr/>
        </p:nvSpPr>
        <p:spPr bwMode="auto">
          <a:xfrm flipH="1" flipV="1">
            <a:off x="4572000" y="4411663"/>
            <a:ext cx="0" cy="520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F98B4754-FD36-4A9C-8204-91DA8622541D}"/>
              </a:ext>
            </a:extLst>
          </p:cNvPr>
          <p:cNvSpPr txBox="1">
            <a:spLocks noChangeArrowheads="1"/>
          </p:cNvSpPr>
          <p:nvPr/>
        </p:nvSpPr>
        <p:spPr bwMode="auto">
          <a:xfrm>
            <a:off x="2700338" y="4932363"/>
            <a:ext cx="4103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Available to WSDL component</a:t>
            </a:r>
            <a:endParaRPr lang="en-US" altLang="zh-CN" sz="2000">
              <a:solidFill>
                <a:srgbClr val="000000"/>
              </a:solidFill>
            </a:endParaRPr>
          </a:p>
        </p:txBody>
      </p:sp>
    </p:spTree>
    <p:extLst>
      <p:ext uri="{BB962C8B-B14F-4D97-AF65-F5344CB8AC3E}">
        <p14:creationId xmlns:p14="http://schemas.microsoft.com/office/powerpoint/2010/main" val="16025333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A39ADF86-6450-41FF-A88E-AC7A581C504D}"/>
              </a:ext>
            </a:extLst>
          </p:cNvPr>
          <p:cNvSpPr>
            <a:spLocks noGrp="1"/>
          </p:cNvSpPr>
          <p:nvPr>
            <p:ph type="title"/>
          </p:nvPr>
        </p:nvSpPr>
        <p:spPr/>
        <p:txBody>
          <a:bodyPr>
            <a:noAutofit/>
          </a:bodyPr>
          <a:lstStyle/>
          <a:p>
            <a:r>
              <a:rPr lang="en-US" altLang="zh-CN" sz="2800" dirty="0"/>
              <a:t>Schemas in Imported Documents</a:t>
            </a:r>
            <a:endParaRPr lang="zh-CN" altLang="en-US" sz="2800" dirty="0"/>
          </a:p>
        </p:txBody>
      </p:sp>
      <p:sp>
        <p:nvSpPr>
          <p:cNvPr id="21507" name="内容占位符 2">
            <a:extLst>
              <a:ext uri="{FF2B5EF4-FFF2-40B4-BE49-F238E27FC236}">
                <a16:creationId xmlns:a16="http://schemas.microsoft.com/office/drawing/2014/main" id="{4D18E5D1-48CD-4C57-BA54-7D21AC6A6EA8}"/>
              </a:ext>
            </a:extLst>
          </p:cNvPr>
          <p:cNvSpPr>
            <a:spLocks noGrp="1"/>
          </p:cNvSpPr>
          <p:nvPr>
            <p:ph idx="1"/>
          </p:nvPr>
        </p:nvSpPr>
        <p:spPr/>
        <p:txBody>
          <a:bodyPr/>
          <a:lstStyle/>
          <a:p>
            <a:r>
              <a:rPr lang="en-US" altLang="zh-CN" sz="2800"/>
              <a:t>We consider some GreatH Hotel Web services that retrieve and update reservation details</a:t>
            </a:r>
          </a:p>
          <a:p>
            <a:pPr lvl="1"/>
            <a:r>
              <a:rPr lang="en-US" altLang="zh-CN" sz="2000"/>
              <a:t>The retrieval Web service, within namespace </a:t>
            </a:r>
            <a:r>
              <a:rPr lang="en-US" altLang="zh-CN" sz="2000">
                <a:solidFill>
                  <a:srgbClr val="FF0000"/>
                </a:solidFill>
              </a:rPr>
              <a:t>http://greath.example.com/2004/services/retrieveDetails</a:t>
            </a:r>
            <a:r>
              <a:rPr lang="en-US" altLang="zh-CN" sz="2000"/>
              <a:t>, is defined in the </a:t>
            </a:r>
            <a:r>
              <a:rPr lang="en-US" altLang="zh-CN" sz="2000">
                <a:solidFill>
                  <a:srgbClr val="FF0000"/>
                </a:solidFill>
              </a:rPr>
              <a:t>retrieveDetails.wsdl </a:t>
            </a:r>
            <a:r>
              <a:rPr lang="en-US" altLang="zh-CN" sz="2000"/>
              <a:t>WSDL 2.0 document, along with a inline schema, within namespace </a:t>
            </a:r>
            <a:r>
              <a:rPr lang="en-US" altLang="zh-CN" sz="2000">
                <a:solidFill>
                  <a:srgbClr val="FF0000"/>
                </a:solidFill>
              </a:rPr>
              <a:t>http://greath.example.com/2004/schemas/reservationDetails</a:t>
            </a:r>
            <a:r>
              <a:rPr lang="en-US" altLang="zh-CN" sz="2000"/>
              <a:t>, for the message format</a:t>
            </a:r>
          </a:p>
          <a:p>
            <a:pPr lvl="1"/>
            <a:r>
              <a:rPr lang="en-US" altLang="zh-CN" sz="2000"/>
              <a:t>The updating Web service, within namespace </a:t>
            </a:r>
            <a:r>
              <a:rPr lang="en-US" altLang="zh-CN" sz="2000">
                <a:solidFill>
                  <a:srgbClr val="FF0000"/>
                </a:solidFill>
              </a:rPr>
              <a:t>http://greath.example.com/2004/services/updateDetails</a:t>
            </a:r>
            <a:r>
              <a:rPr lang="en-US" altLang="zh-CN" sz="2000"/>
              <a:t>, is defined in the </a:t>
            </a:r>
            <a:r>
              <a:rPr lang="en-US" altLang="zh-CN" sz="2000">
                <a:solidFill>
                  <a:srgbClr val="FF0000"/>
                </a:solidFill>
              </a:rPr>
              <a:t>updateDetails.wsdl</a:t>
            </a:r>
            <a:r>
              <a:rPr lang="en-US" altLang="zh-CN" sz="2000"/>
              <a:t> WSDL 2.0 document which imports </a:t>
            </a:r>
            <a:r>
              <a:rPr lang="en-US" altLang="zh-CN" sz="2000">
                <a:solidFill>
                  <a:srgbClr val="FF0000"/>
                </a:solidFill>
              </a:rPr>
              <a:t>retrieveDetails.wsdl </a:t>
            </a:r>
            <a:r>
              <a:rPr lang="en-US" altLang="zh-CN" sz="2000"/>
              <a:t>and refers to both WSDL 2.0 and schema definitions contained in the imported document</a:t>
            </a:r>
          </a:p>
        </p:txBody>
      </p:sp>
      <p:sp>
        <p:nvSpPr>
          <p:cNvPr id="21508" name="灯片编号占位符 3">
            <a:extLst>
              <a:ext uri="{FF2B5EF4-FFF2-40B4-BE49-F238E27FC236}">
                <a16:creationId xmlns:a16="http://schemas.microsoft.com/office/drawing/2014/main" id="{F2EDE757-B84E-455D-B8AD-B2469568996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26</a:t>
            </a:fld>
            <a:endParaRPr lang="en-US" altLang="zh-CN" sz="1000">
              <a:solidFill>
                <a:srgbClr val="000000"/>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1C671996-529F-40D8-A9AD-DCBC7B5203BA}"/>
              </a:ext>
            </a:extLst>
          </p:cNvPr>
          <p:cNvSpPr>
            <a:spLocks noGrp="1"/>
          </p:cNvSpPr>
          <p:nvPr>
            <p:ph type="title"/>
          </p:nvPr>
        </p:nvSpPr>
        <p:spPr/>
        <p:txBody>
          <a:bodyPr/>
          <a:lstStyle/>
          <a:p>
            <a:r>
              <a:rPr lang="en-US" altLang="zh-CN" sz="2800" dirty="0"/>
              <a:t>Retrieve Service (1/2)</a:t>
            </a:r>
            <a:endParaRPr lang="zh-CN" altLang="en-US" sz="2800" dirty="0"/>
          </a:p>
        </p:txBody>
      </p:sp>
      <p:sp>
        <p:nvSpPr>
          <p:cNvPr id="23555" name="灯片编号占位符 3">
            <a:extLst>
              <a:ext uri="{FF2B5EF4-FFF2-40B4-BE49-F238E27FC236}">
                <a16:creationId xmlns:a16="http://schemas.microsoft.com/office/drawing/2014/main" id="{EA71793B-E0C0-461E-8BEE-1D8D6BA6783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27</a:t>
            </a:fld>
            <a:endParaRPr lang="en-US" altLang="zh-CN" sz="1000">
              <a:solidFill>
                <a:srgbClr val="000000"/>
              </a:solidFill>
            </a:endParaRPr>
          </a:p>
        </p:txBody>
      </p:sp>
      <p:sp>
        <p:nvSpPr>
          <p:cNvPr id="6" name="Text Box 4">
            <a:extLst>
              <a:ext uri="{FF2B5EF4-FFF2-40B4-BE49-F238E27FC236}">
                <a16:creationId xmlns:a16="http://schemas.microsoft.com/office/drawing/2014/main" id="{5F57595D-07D4-45AA-9CFC-8050BC46AE2D}"/>
              </a:ext>
            </a:extLst>
          </p:cNvPr>
          <p:cNvSpPr txBox="1">
            <a:spLocks noChangeArrowheads="1"/>
          </p:cNvSpPr>
          <p:nvPr/>
        </p:nvSpPr>
        <p:spPr bwMode="auto">
          <a:xfrm>
            <a:off x="457200" y="1268760"/>
            <a:ext cx="8229600" cy="5339923"/>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8080"/>
                </a:solidFill>
                <a:highlight>
                  <a:srgbClr val="FFFFFF"/>
                </a:highlight>
                <a:latin typeface="Arial"/>
              </a:rPr>
              <a:t>&lt;?xml version="1.0" encoding="utf-8" ?&gt;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description</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http://www.w3.org/ns/wsdl</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targetNamespace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http://greath.example.com/2004/services/retrieveDetails</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xmlns:tns</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http://greath.example.com/2004/services/retrieveDetails</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xmlns:wdetails</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http://greath.example.com/2004/schemas/reservationDetails</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xmlns:xs</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http://www.w3.org/2001/XMLSchema</a:t>
            </a:r>
            <a:r>
              <a:rPr lang="en-US" altLang="zh-CN" sz="1100" dirty="0">
                <a:solidFill>
                  <a:srgbClr val="0000FF"/>
                </a:solidFill>
                <a:highlight>
                  <a:srgbClr val="FFFFFF"/>
                </a:highlight>
                <a:latin typeface="Arial"/>
              </a:rPr>
              <a:t>"&gt;</a:t>
            </a: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documentation</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This document describes the </a:t>
            </a:r>
            <a:r>
              <a:rPr lang="en-US" altLang="zh-CN" sz="1100" dirty="0" err="1">
                <a:solidFill>
                  <a:srgbClr val="000000"/>
                </a:solidFill>
                <a:highlight>
                  <a:srgbClr val="FFFFFF"/>
                </a:highlight>
                <a:latin typeface="Arial"/>
              </a:rPr>
              <a:t>GreatH</a:t>
            </a:r>
            <a:r>
              <a:rPr lang="en-US" altLang="zh-CN" sz="1100" dirty="0">
                <a:solidFill>
                  <a:srgbClr val="000000"/>
                </a:solidFill>
                <a:highlight>
                  <a:srgbClr val="FFFFFF"/>
                </a:highlight>
                <a:latin typeface="Arial"/>
              </a:rPr>
              <a:t> Retrieve Reservation </a:t>
            </a:r>
            <a:r>
              <a:rPr lang="en-US" altLang="zh-CN" sz="1100" dirty="0" err="1">
                <a:solidFill>
                  <a:srgbClr val="000000"/>
                </a:solidFill>
                <a:highlight>
                  <a:srgbClr val="FFFFFF"/>
                </a:highlight>
                <a:latin typeface="Arial"/>
              </a:rPr>
              <a:t>DetailsWeb</a:t>
            </a:r>
            <a:r>
              <a:rPr lang="en-US" altLang="zh-CN" sz="1100" dirty="0">
                <a:solidFill>
                  <a:srgbClr val="000000"/>
                </a:solidFill>
                <a:highlight>
                  <a:srgbClr val="FFFFFF"/>
                </a:highlight>
                <a:latin typeface="Arial"/>
              </a:rPr>
              <a:t> service.</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documentation</a:t>
            </a:r>
            <a:r>
              <a:rPr lang="en-US" altLang="zh-CN" sz="1100" dirty="0">
                <a:solidFill>
                  <a:srgbClr val="0000FF"/>
                </a:solidFill>
                <a:highlight>
                  <a:srgbClr val="FFFFFF"/>
                </a:highlight>
                <a:latin typeface="Arial"/>
              </a:rPr>
              <a:t>&gt;</a:t>
            </a: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types</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xs:schema</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http://www.w3.org/2001/XMLSchema</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targetNamespace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http://greath.example.com/2004/schemas/reservationDetails</a:t>
            </a:r>
            <a:r>
              <a:rPr lang="en-US" altLang="zh-CN" sz="1100" dirty="0">
                <a:solidFill>
                  <a:srgbClr val="0000FF"/>
                </a:solidFill>
                <a:highlight>
                  <a:srgbClr val="FFFFFF"/>
                </a:highlight>
                <a:latin typeface="Arial"/>
              </a:rPr>
              <a:t>"&gt;</a:t>
            </a: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xs:element</a:t>
            </a:r>
            <a:r>
              <a:rPr lang="en-US" altLang="zh-CN" sz="1100" dirty="0">
                <a:solidFill>
                  <a:srgbClr val="FF0000"/>
                </a:solidFill>
                <a:highlight>
                  <a:srgbClr val="FFFFFF"/>
                </a:highlight>
                <a:latin typeface="Arial"/>
              </a:rPr>
              <a:t> name</a:t>
            </a:r>
            <a:r>
              <a:rPr lang="en-US" altLang="zh-CN" sz="1100" dirty="0">
                <a:solidFill>
                  <a:srgbClr val="0000FF"/>
                </a:solidFill>
                <a:highlight>
                  <a:srgbClr val="FFFFFF"/>
                </a:highlight>
                <a:latin typeface="Arial"/>
              </a:rPr>
              <a:t>="</a:t>
            </a:r>
            <a:r>
              <a:rPr lang="en-US" altLang="zh-CN" sz="1100" dirty="0" err="1">
                <a:solidFill>
                  <a:srgbClr val="000000"/>
                </a:solidFill>
                <a:highlight>
                  <a:srgbClr val="FFFFFF"/>
                </a:highlight>
                <a:latin typeface="Arial"/>
              </a:rPr>
              <a:t>reservationDetails</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xs:complexType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xs:sequence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xs:element</a:t>
            </a:r>
            <a:r>
              <a:rPr lang="en-US" altLang="zh-CN" sz="1100" dirty="0">
                <a:solidFill>
                  <a:srgbClr val="FF0000"/>
                </a:solidFill>
                <a:highlight>
                  <a:srgbClr val="FFFFFF"/>
                </a:highlight>
                <a:latin typeface="Arial"/>
              </a:rPr>
              <a:t> name</a:t>
            </a:r>
            <a:r>
              <a:rPr lang="en-US" altLang="zh-CN" sz="1100" dirty="0">
                <a:solidFill>
                  <a:srgbClr val="0000FF"/>
                </a:solidFill>
                <a:highlight>
                  <a:srgbClr val="FFFFFF"/>
                </a:highlight>
                <a:latin typeface="Arial"/>
              </a:rPr>
              <a:t>="</a:t>
            </a:r>
            <a:r>
              <a:rPr lang="en-US" altLang="zh-CN" sz="1100" dirty="0" err="1">
                <a:solidFill>
                  <a:srgbClr val="000000"/>
                </a:solidFill>
                <a:highlight>
                  <a:srgbClr val="FFFFFF"/>
                </a:highlight>
                <a:latin typeface="Arial"/>
              </a:rPr>
              <a:t>confirmationNumber</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type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string</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xs:element</a:t>
            </a:r>
            <a:r>
              <a:rPr lang="en-US" altLang="zh-CN" sz="1100" dirty="0">
                <a:solidFill>
                  <a:srgbClr val="FF0000"/>
                </a:solidFill>
                <a:highlight>
                  <a:srgbClr val="FFFFFF"/>
                </a:highlight>
                <a:latin typeface="Arial"/>
              </a:rPr>
              <a:t> name</a:t>
            </a:r>
            <a:r>
              <a:rPr lang="en-US" altLang="zh-CN" sz="1100" dirty="0">
                <a:solidFill>
                  <a:srgbClr val="0000FF"/>
                </a:solidFill>
                <a:highlight>
                  <a:srgbClr val="FFFFFF"/>
                </a:highlight>
                <a:latin typeface="Arial"/>
              </a:rPr>
              <a:t>="</a:t>
            </a:r>
            <a:r>
              <a:rPr lang="en-US" altLang="zh-CN" sz="1100" dirty="0" err="1">
                <a:solidFill>
                  <a:srgbClr val="000000"/>
                </a:solidFill>
                <a:highlight>
                  <a:srgbClr val="FFFFFF"/>
                </a:highlight>
                <a:latin typeface="Arial"/>
              </a:rPr>
              <a:t>checkInDate</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type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date</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xs:element</a:t>
            </a:r>
            <a:r>
              <a:rPr lang="en-US" altLang="zh-CN" sz="1100" dirty="0">
                <a:solidFill>
                  <a:srgbClr val="FF0000"/>
                </a:solidFill>
                <a:highlight>
                  <a:srgbClr val="FFFFFF"/>
                </a:highlight>
                <a:latin typeface="Arial"/>
              </a:rPr>
              <a:t> name</a:t>
            </a:r>
            <a:r>
              <a:rPr lang="en-US" altLang="zh-CN" sz="1100" dirty="0">
                <a:solidFill>
                  <a:srgbClr val="0000FF"/>
                </a:solidFill>
                <a:highlight>
                  <a:srgbClr val="FFFFFF"/>
                </a:highlight>
                <a:latin typeface="Arial"/>
              </a:rPr>
              <a:t>="</a:t>
            </a:r>
            <a:r>
              <a:rPr lang="en-US" altLang="zh-CN" sz="1100" dirty="0" err="1">
                <a:solidFill>
                  <a:srgbClr val="000000"/>
                </a:solidFill>
                <a:highlight>
                  <a:srgbClr val="FFFFFF"/>
                </a:highlight>
                <a:latin typeface="Arial"/>
              </a:rPr>
              <a:t>checkOutDate</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type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date</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xs:element</a:t>
            </a:r>
            <a:r>
              <a:rPr lang="en-US" altLang="zh-CN" sz="1100" dirty="0">
                <a:solidFill>
                  <a:srgbClr val="FF0000"/>
                </a:solidFill>
                <a:highlight>
                  <a:srgbClr val="FFFFFF"/>
                </a:highlight>
                <a:latin typeface="Arial"/>
              </a:rPr>
              <a:t> name</a:t>
            </a:r>
            <a:r>
              <a:rPr lang="en-US" altLang="zh-CN" sz="1100" dirty="0">
                <a:solidFill>
                  <a:srgbClr val="0000FF"/>
                </a:solidFill>
                <a:highlight>
                  <a:srgbClr val="FFFFFF"/>
                </a:highlight>
                <a:latin typeface="Arial"/>
              </a:rPr>
              <a:t>="</a:t>
            </a:r>
            <a:r>
              <a:rPr lang="en-US" altLang="zh-CN" sz="1100" dirty="0" err="1">
                <a:solidFill>
                  <a:srgbClr val="000000"/>
                </a:solidFill>
                <a:highlight>
                  <a:srgbClr val="FFFFFF"/>
                </a:highlight>
                <a:latin typeface="Arial"/>
              </a:rPr>
              <a:t>roomType</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type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string</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xs:element</a:t>
            </a:r>
            <a:r>
              <a:rPr lang="en-US" altLang="zh-CN" sz="1100" dirty="0">
                <a:solidFill>
                  <a:srgbClr val="FF0000"/>
                </a:solidFill>
                <a:highlight>
                  <a:srgbClr val="FFFFFF"/>
                </a:highlight>
                <a:latin typeface="Arial"/>
              </a:rPr>
              <a:t> name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smoking</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type</a:t>
            </a:r>
            <a:r>
              <a:rPr lang="en-US" altLang="zh-CN" sz="1100" dirty="0">
                <a:solidFill>
                  <a:srgbClr val="0000FF"/>
                </a:solidFill>
                <a:highlight>
                  <a:srgbClr val="FFFFFF"/>
                </a:highlight>
                <a:latin typeface="Arial"/>
              </a:rPr>
              <a:t>="</a:t>
            </a:r>
            <a:r>
              <a:rPr lang="en-US" altLang="zh-CN" sz="1100" dirty="0" err="1">
                <a:solidFill>
                  <a:srgbClr val="000000"/>
                </a:solidFill>
                <a:highlight>
                  <a:srgbClr val="FFFFFF"/>
                </a:highlight>
                <a:latin typeface="Arial"/>
              </a:rPr>
              <a:t>boolean</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xs:sequence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xs:complexType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xs:element</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xs:schema</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types</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BD8D6CED-9D95-46B7-A801-3654F7626613}"/>
              </a:ext>
            </a:extLst>
          </p:cNvPr>
          <p:cNvSpPr>
            <a:spLocks noGrp="1"/>
          </p:cNvSpPr>
          <p:nvPr>
            <p:ph type="title"/>
          </p:nvPr>
        </p:nvSpPr>
        <p:spPr/>
        <p:txBody>
          <a:bodyPr/>
          <a:lstStyle/>
          <a:p>
            <a:r>
              <a:rPr lang="en-US" altLang="zh-CN" sz="2800" dirty="0"/>
              <a:t>Retrieve Service (2/2)</a:t>
            </a:r>
            <a:endParaRPr lang="zh-CN" altLang="en-US" sz="2800" dirty="0"/>
          </a:p>
        </p:txBody>
      </p:sp>
      <p:sp>
        <p:nvSpPr>
          <p:cNvPr id="5" name="Text Box 4">
            <a:extLst>
              <a:ext uri="{FF2B5EF4-FFF2-40B4-BE49-F238E27FC236}">
                <a16:creationId xmlns:a16="http://schemas.microsoft.com/office/drawing/2014/main" id="{A10C4829-D7DF-4544-8C32-9C50E59021E1}"/>
              </a:ext>
            </a:extLst>
          </p:cNvPr>
          <p:cNvSpPr txBox="1">
            <a:spLocks noChangeArrowheads="1"/>
          </p:cNvSpPr>
          <p:nvPr/>
        </p:nvSpPr>
        <p:spPr bwMode="auto">
          <a:xfrm>
            <a:off x="395536" y="2687906"/>
            <a:ext cx="8229600" cy="227139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retrieveDetailsInterface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retrieve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#none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wdetails:reservationDetails</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7" name="Line 15">
            <a:extLst>
              <a:ext uri="{FF2B5EF4-FFF2-40B4-BE49-F238E27FC236}">
                <a16:creationId xmlns:a16="http://schemas.microsoft.com/office/drawing/2014/main" id="{1EFBF26F-1FEE-45C5-A987-9ADDDD042541}"/>
              </a:ext>
            </a:extLst>
          </p:cNvPr>
          <p:cNvSpPr>
            <a:spLocks noChangeShapeType="1"/>
          </p:cNvSpPr>
          <p:nvPr/>
        </p:nvSpPr>
        <p:spPr bwMode="auto">
          <a:xfrm flipH="1" flipV="1">
            <a:off x="4725988" y="3679825"/>
            <a:ext cx="647700" cy="2889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16">
            <a:extLst>
              <a:ext uri="{FF2B5EF4-FFF2-40B4-BE49-F238E27FC236}">
                <a16:creationId xmlns:a16="http://schemas.microsoft.com/office/drawing/2014/main" id="{8975FD60-FF76-47E1-B80D-2E844AC31AB2}"/>
              </a:ext>
            </a:extLst>
          </p:cNvPr>
          <p:cNvSpPr txBox="1">
            <a:spLocks noChangeArrowheads="1"/>
          </p:cNvSpPr>
          <p:nvPr/>
        </p:nvSpPr>
        <p:spPr bwMode="auto">
          <a:xfrm>
            <a:off x="5022850" y="3929063"/>
            <a:ext cx="3590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None type for input message</a:t>
            </a:r>
          </a:p>
        </p:txBody>
      </p:sp>
      <p:sp>
        <p:nvSpPr>
          <p:cNvPr id="9" name="Line 15">
            <a:extLst>
              <a:ext uri="{FF2B5EF4-FFF2-40B4-BE49-F238E27FC236}">
                <a16:creationId xmlns:a16="http://schemas.microsoft.com/office/drawing/2014/main" id="{90115EDC-C2F2-4185-B845-F2E3D30CF405}"/>
              </a:ext>
            </a:extLst>
          </p:cNvPr>
          <p:cNvSpPr>
            <a:spLocks noChangeShapeType="1"/>
          </p:cNvSpPr>
          <p:nvPr/>
        </p:nvSpPr>
        <p:spPr bwMode="auto">
          <a:xfrm flipH="1" flipV="1">
            <a:off x="3502025" y="4319588"/>
            <a:ext cx="647700" cy="2889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16">
            <a:extLst>
              <a:ext uri="{FF2B5EF4-FFF2-40B4-BE49-F238E27FC236}">
                <a16:creationId xmlns:a16="http://schemas.microsoft.com/office/drawing/2014/main" id="{655C9E0D-6A99-41BA-9B20-83C493061126}"/>
              </a:ext>
            </a:extLst>
          </p:cNvPr>
          <p:cNvSpPr txBox="1">
            <a:spLocks noChangeArrowheads="1"/>
          </p:cNvSpPr>
          <p:nvPr/>
        </p:nvSpPr>
        <p:spPr bwMode="auto">
          <a:xfrm>
            <a:off x="3967163" y="4578350"/>
            <a:ext cx="3590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Data type defined inline</a:t>
            </a:r>
          </a:p>
        </p:txBody>
      </p:sp>
      <p:sp>
        <p:nvSpPr>
          <p:cNvPr id="24584" name="矩形 1">
            <a:extLst>
              <a:ext uri="{FF2B5EF4-FFF2-40B4-BE49-F238E27FC236}">
                <a16:creationId xmlns:a16="http://schemas.microsoft.com/office/drawing/2014/main" id="{912B5484-7DAB-42E6-8879-DF21BDC0634E}"/>
              </a:ext>
            </a:extLst>
          </p:cNvPr>
          <p:cNvSpPr>
            <a:spLocks noChangeArrowheads="1"/>
          </p:cNvSpPr>
          <p:nvPr/>
        </p:nvSpPr>
        <p:spPr bwMode="auto">
          <a:xfrm>
            <a:off x="2286000" y="1444625"/>
            <a:ext cx="45720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endParaRPr lang="en-US" altLang="zh-CN" sz="1900"/>
          </a:p>
        </p:txBody>
      </p:sp>
      <p:sp>
        <p:nvSpPr>
          <p:cNvPr id="24585" name="灯片编号占位符 3">
            <a:extLst>
              <a:ext uri="{FF2B5EF4-FFF2-40B4-BE49-F238E27FC236}">
                <a16:creationId xmlns:a16="http://schemas.microsoft.com/office/drawing/2014/main" id="{F23416D6-D97B-439F-972D-88769A4F229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28</a:t>
            </a:fld>
            <a:endParaRPr lang="en-US" altLang="zh-CN" sz="1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3EA4EA5C-A047-4D81-8306-9B19E77F0BCA}"/>
              </a:ext>
            </a:extLst>
          </p:cNvPr>
          <p:cNvSpPr>
            <a:spLocks noGrp="1"/>
          </p:cNvSpPr>
          <p:nvPr>
            <p:ph type="title"/>
          </p:nvPr>
        </p:nvSpPr>
        <p:spPr/>
        <p:txBody>
          <a:bodyPr/>
          <a:lstStyle/>
          <a:p>
            <a:r>
              <a:rPr lang="en-US" altLang="zh-CN" sz="2800" dirty="0"/>
              <a:t>Update Service (1/2)</a:t>
            </a:r>
            <a:endParaRPr lang="zh-CN" altLang="en-US" sz="2800" dirty="0"/>
          </a:p>
        </p:txBody>
      </p:sp>
      <p:sp>
        <p:nvSpPr>
          <p:cNvPr id="26627" name="灯片编号占位符 3">
            <a:extLst>
              <a:ext uri="{FF2B5EF4-FFF2-40B4-BE49-F238E27FC236}">
                <a16:creationId xmlns:a16="http://schemas.microsoft.com/office/drawing/2014/main" id="{33F5958B-8A52-4368-8213-7B27BF4C38D4}"/>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29</a:t>
            </a:fld>
            <a:endParaRPr lang="en-US" altLang="zh-CN" sz="1000">
              <a:solidFill>
                <a:srgbClr val="000000"/>
              </a:solidFill>
            </a:endParaRPr>
          </a:p>
        </p:txBody>
      </p:sp>
      <p:sp>
        <p:nvSpPr>
          <p:cNvPr id="5" name="Text Box 4">
            <a:extLst>
              <a:ext uri="{FF2B5EF4-FFF2-40B4-BE49-F238E27FC236}">
                <a16:creationId xmlns:a16="http://schemas.microsoft.com/office/drawing/2014/main" id="{46FD8407-FC6A-4C83-B782-39C24E98ECA1}"/>
              </a:ext>
            </a:extLst>
          </p:cNvPr>
          <p:cNvSpPr txBox="1">
            <a:spLocks noChangeArrowheads="1"/>
          </p:cNvSpPr>
          <p:nvPr/>
        </p:nvSpPr>
        <p:spPr bwMode="auto">
          <a:xfrm>
            <a:off x="457200" y="1484784"/>
            <a:ext cx="8229600" cy="496135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http://greath.example.com/2004/services/updateDetails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http://greath.example.com/2004/services/</a:t>
            </a:r>
            <a:r>
              <a:rPr lang="en-US" altLang="zh-CN" sz="1400" dirty="0" err="1">
                <a:solidFill>
                  <a:srgbClr val="000000"/>
                </a:solidFill>
                <a:highlight>
                  <a:srgbClr val="FFFFFF"/>
                </a:highlight>
                <a:latin typeface="Arial"/>
              </a:rPr>
              <a:t>updateDetails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xmlns:retrieve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http://greath.example.com/2004/services/retrieveDetails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xmlns:details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xmlns:xs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http://www.w3.org/2001/XMLSchema</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This document describes the </a:t>
            </a:r>
            <a:r>
              <a:rPr lang="en-US" altLang="zh-CN" sz="1400" dirty="0" err="1">
                <a:solidFill>
                  <a:srgbClr val="000000"/>
                </a:solidFill>
                <a:highlight>
                  <a:srgbClr val="FFFFFF"/>
                </a:highlight>
                <a:latin typeface="Arial"/>
              </a:rPr>
              <a:t>GreatH</a:t>
            </a:r>
            <a:r>
              <a:rPr lang="en-US" altLang="zh-CN" sz="1400" dirty="0">
                <a:solidFill>
                  <a:srgbClr val="000000"/>
                </a:solidFill>
                <a:highlight>
                  <a:srgbClr val="FFFFFF"/>
                </a:highlight>
                <a:latin typeface="Arial"/>
              </a:rPr>
              <a:t> Update Reservation Details</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Web service.</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import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http://greath.example.com/2004/services/retrieveDetails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location</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retrieveDetails.wsdl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xs:import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http://greath.example.com/2004/schemas/reservationDetails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endParaRPr lang="zh-CN" altLang="en-US" sz="14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4123D966-7C0D-46B7-8F93-E57F4FCD1992}"/>
              </a:ext>
            </a:extLst>
          </p:cNvPr>
          <p:cNvSpPr>
            <a:spLocks noChangeShapeType="1"/>
          </p:cNvSpPr>
          <p:nvPr/>
        </p:nvSpPr>
        <p:spPr bwMode="auto">
          <a:xfrm flipH="1" flipV="1">
            <a:off x="4716463" y="5876925"/>
            <a:ext cx="1316037" cy="2063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E5DB606B-CDF2-4CCA-9A34-5D5DDF80E6AB}"/>
              </a:ext>
            </a:extLst>
          </p:cNvPr>
          <p:cNvSpPr txBox="1">
            <a:spLocks noChangeArrowheads="1"/>
          </p:cNvSpPr>
          <p:nvPr/>
        </p:nvSpPr>
        <p:spPr bwMode="auto">
          <a:xfrm>
            <a:off x="6032500" y="5870575"/>
            <a:ext cx="2571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Both required</a:t>
            </a:r>
          </a:p>
        </p:txBody>
      </p:sp>
      <p:sp>
        <p:nvSpPr>
          <p:cNvPr id="8" name="Line 15">
            <a:extLst>
              <a:ext uri="{FF2B5EF4-FFF2-40B4-BE49-F238E27FC236}">
                <a16:creationId xmlns:a16="http://schemas.microsoft.com/office/drawing/2014/main" id="{3B116692-4CA7-4E10-BEF5-8E3EF0B21996}"/>
              </a:ext>
            </a:extLst>
          </p:cNvPr>
          <p:cNvSpPr>
            <a:spLocks noChangeShapeType="1"/>
          </p:cNvSpPr>
          <p:nvPr/>
        </p:nvSpPr>
        <p:spPr bwMode="auto">
          <a:xfrm flipH="1" flipV="1">
            <a:off x="5076825" y="4841875"/>
            <a:ext cx="955675" cy="12414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DF09A0A4-5913-45DC-8EF4-F72D5EA0F37E}"/>
              </a:ext>
            </a:extLst>
          </p:cNvPr>
          <p:cNvSpPr txBox="1">
            <a:spLocks noChangeArrowheads="1"/>
          </p:cNvSpPr>
          <p:nvPr/>
        </p:nvSpPr>
        <p:spPr bwMode="auto">
          <a:xfrm>
            <a:off x="5724525" y="3946525"/>
            <a:ext cx="3095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Make WSDL components available</a:t>
            </a:r>
          </a:p>
        </p:txBody>
      </p:sp>
      <p:sp>
        <p:nvSpPr>
          <p:cNvPr id="10" name="Line 15">
            <a:extLst>
              <a:ext uri="{FF2B5EF4-FFF2-40B4-BE49-F238E27FC236}">
                <a16:creationId xmlns:a16="http://schemas.microsoft.com/office/drawing/2014/main" id="{6A4C0E26-896A-4794-BEA7-91A81C7B9AC8}"/>
              </a:ext>
            </a:extLst>
          </p:cNvPr>
          <p:cNvSpPr>
            <a:spLocks noChangeShapeType="1"/>
          </p:cNvSpPr>
          <p:nvPr/>
        </p:nvSpPr>
        <p:spPr bwMode="auto">
          <a:xfrm flipH="1">
            <a:off x="4716463" y="4238625"/>
            <a:ext cx="1023937" cy="3444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6">
            <a:extLst>
              <a:ext uri="{FF2B5EF4-FFF2-40B4-BE49-F238E27FC236}">
                <a16:creationId xmlns:a16="http://schemas.microsoft.com/office/drawing/2014/main" id="{1DEC468C-CB8B-4F3B-B61D-DE4D9AE35B1B}"/>
              </a:ext>
            </a:extLst>
          </p:cNvPr>
          <p:cNvSpPr txBox="1">
            <a:spLocks noChangeArrowheads="1"/>
          </p:cNvSpPr>
          <p:nvPr/>
        </p:nvSpPr>
        <p:spPr bwMode="auto">
          <a:xfrm>
            <a:off x="1835150" y="6126163"/>
            <a:ext cx="3600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Make XML Schema available </a:t>
            </a:r>
          </a:p>
        </p:txBody>
      </p:sp>
      <p:sp>
        <p:nvSpPr>
          <p:cNvPr id="12" name="Line 15">
            <a:extLst>
              <a:ext uri="{FF2B5EF4-FFF2-40B4-BE49-F238E27FC236}">
                <a16:creationId xmlns:a16="http://schemas.microsoft.com/office/drawing/2014/main" id="{5BF8680A-8B0A-47CD-B7A7-A6E0A93F0C7F}"/>
              </a:ext>
            </a:extLst>
          </p:cNvPr>
          <p:cNvSpPr>
            <a:spLocks noChangeShapeType="1"/>
          </p:cNvSpPr>
          <p:nvPr/>
        </p:nvSpPr>
        <p:spPr bwMode="auto">
          <a:xfrm flipV="1">
            <a:off x="3348038" y="5876925"/>
            <a:ext cx="0" cy="3127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6">
            <a:extLst>
              <a:ext uri="{FF2B5EF4-FFF2-40B4-BE49-F238E27FC236}">
                <a16:creationId xmlns:a16="http://schemas.microsoft.com/office/drawing/2014/main" id="{B8D671F3-5447-403D-BCA1-F7389530538C}"/>
              </a:ext>
            </a:extLst>
          </p:cNvPr>
          <p:cNvSpPr txBox="1">
            <a:spLocks noChangeArrowheads="1"/>
          </p:cNvSpPr>
          <p:nvPr/>
        </p:nvSpPr>
        <p:spPr bwMode="auto">
          <a:xfrm>
            <a:off x="4178485" y="4739847"/>
            <a:ext cx="453650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defRPr/>
            </a:pPr>
            <a:r>
              <a:rPr lang="en-US" altLang="zh-CN" sz="2000" dirty="0">
                <a:solidFill>
                  <a:srgbClr val="000000"/>
                </a:solidFill>
              </a:rPr>
              <a:t>Since we know </a:t>
            </a:r>
            <a:r>
              <a:rPr lang="en-US" altLang="zh-CN" sz="2000" dirty="0" err="1">
                <a:solidFill>
                  <a:srgbClr val="FF0000"/>
                </a:solidFill>
              </a:rPr>
              <a:t>r</a:t>
            </a:r>
            <a:r>
              <a:rPr lang="en-US" altLang="zh-CN" sz="2000" dirty="0" err="1">
                <a:solidFill>
                  <a:srgbClr val="FF0000"/>
                </a:solidFill>
                <a:highlight>
                  <a:srgbClr val="FFFFFF"/>
                </a:highlight>
                <a:latin typeface="Arial"/>
              </a:rPr>
              <a:t>etrieveDetails.wsdl</a:t>
            </a:r>
            <a:r>
              <a:rPr lang="en-US" altLang="zh-CN" sz="2000" dirty="0">
                <a:solidFill>
                  <a:srgbClr val="000000"/>
                </a:solidFill>
              </a:rPr>
              <a:t>, we should know the definition of the inline schema</a:t>
            </a:r>
            <a:endParaRPr lang="en-US" altLang="zh-CN" sz="20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24" presetID="10"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27" presetID="10"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4B5E8C8C-9003-46A9-9DC1-1654A45E417F}"/>
              </a:ext>
            </a:extLst>
          </p:cNvPr>
          <p:cNvSpPr>
            <a:spLocks noGrp="1"/>
          </p:cNvSpPr>
          <p:nvPr>
            <p:ph type="title"/>
          </p:nvPr>
        </p:nvSpPr>
        <p:spPr/>
        <p:txBody>
          <a:bodyPr/>
          <a:lstStyle/>
          <a:p>
            <a:r>
              <a:rPr lang="en-US" altLang="zh-CN" sz="2800" dirty="0"/>
              <a:t>Update Service (2/2)</a:t>
            </a:r>
            <a:endParaRPr lang="zh-CN" altLang="en-US" sz="2800" dirty="0"/>
          </a:p>
        </p:txBody>
      </p:sp>
      <p:sp>
        <p:nvSpPr>
          <p:cNvPr id="28675" name="灯片编号占位符 3">
            <a:extLst>
              <a:ext uri="{FF2B5EF4-FFF2-40B4-BE49-F238E27FC236}">
                <a16:creationId xmlns:a16="http://schemas.microsoft.com/office/drawing/2014/main" id="{BB3BD98D-D9FB-40E5-A2E7-CCEDAA8637D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30</a:t>
            </a:fld>
            <a:endParaRPr lang="en-US" altLang="zh-CN" sz="1000">
              <a:solidFill>
                <a:srgbClr val="000000"/>
              </a:solidFill>
            </a:endParaRPr>
          </a:p>
        </p:txBody>
      </p:sp>
      <p:sp>
        <p:nvSpPr>
          <p:cNvPr id="5" name="Text Box 4">
            <a:extLst>
              <a:ext uri="{FF2B5EF4-FFF2-40B4-BE49-F238E27FC236}">
                <a16:creationId xmlns:a16="http://schemas.microsoft.com/office/drawing/2014/main" id="{20E2BA3A-4C48-4EE0-A5DE-7D5A63209F03}"/>
              </a:ext>
            </a:extLst>
          </p:cNvPr>
          <p:cNvSpPr txBox="1">
            <a:spLocks noChangeArrowheads="1"/>
          </p:cNvSpPr>
          <p:nvPr/>
        </p:nvSpPr>
        <p:spPr bwMode="auto">
          <a:xfrm>
            <a:off x="457200" y="2348880"/>
            <a:ext cx="8229600" cy="315163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updateDetailsInterface</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extends</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retrieve:retrieveDetailsInterface</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update</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pattern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http://www.w3.org/ns/wsdl/in-out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details:reservationDetails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details:reservationDetails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Text Box 16">
            <a:extLst>
              <a:ext uri="{FF2B5EF4-FFF2-40B4-BE49-F238E27FC236}">
                <a16:creationId xmlns:a16="http://schemas.microsoft.com/office/drawing/2014/main" id="{EF0D1741-4B50-4214-8CBA-466D1ADFA6A2}"/>
              </a:ext>
            </a:extLst>
          </p:cNvPr>
          <p:cNvSpPr txBox="1">
            <a:spLocks noChangeArrowheads="1"/>
          </p:cNvSpPr>
          <p:nvPr/>
        </p:nvSpPr>
        <p:spPr bwMode="auto">
          <a:xfrm>
            <a:off x="5940425" y="2797175"/>
            <a:ext cx="25717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Combine operations by extension </a:t>
            </a:r>
          </a:p>
        </p:txBody>
      </p:sp>
      <p:sp>
        <p:nvSpPr>
          <p:cNvPr id="7" name="Line 15">
            <a:extLst>
              <a:ext uri="{FF2B5EF4-FFF2-40B4-BE49-F238E27FC236}">
                <a16:creationId xmlns:a16="http://schemas.microsoft.com/office/drawing/2014/main" id="{37108457-67D7-4EFD-BC9E-B6FDAEAD9612}"/>
              </a:ext>
            </a:extLst>
          </p:cNvPr>
          <p:cNvSpPr>
            <a:spLocks noChangeShapeType="1"/>
          </p:cNvSpPr>
          <p:nvPr/>
        </p:nvSpPr>
        <p:spPr bwMode="auto">
          <a:xfrm flipH="1" flipV="1">
            <a:off x="4787900" y="2997200"/>
            <a:ext cx="1152525"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15">
            <a:extLst>
              <a:ext uri="{FF2B5EF4-FFF2-40B4-BE49-F238E27FC236}">
                <a16:creationId xmlns:a16="http://schemas.microsoft.com/office/drawing/2014/main" id="{A6553469-03A2-4DC6-855C-7DD5FAF0DF4E}"/>
              </a:ext>
            </a:extLst>
          </p:cNvPr>
          <p:cNvSpPr>
            <a:spLocks noChangeShapeType="1"/>
          </p:cNvSpPr>
          <p:nvPr/>
        </p:nvSpPr>
        <p:spPr bwMode="auto">
          <a:xfrm flipH="1" flipV="1">
            <a:off x="5237163" y="4606925"/>
            <a:ext cx="1316037" cy="2047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C46985DD-EFBB-4496-9C92-196736ACF7E7}"/>
              </a:ext>
            </a:extLst>
          </p:cNvPr>
          <p:cNvSpPr txBox="1">
            <a:spLocks noChangeArrowheads="1"/>
          </p:cNvSpPr>
          <p:nvPr/>
        </p:nvSpPr>
        <p:spPr bwMode="auto">
          <a:xfrm>
            <a:off x="6537325" y="4518025"/>
            <a:ext cx="2571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Data types from different namespace</a:t>
            </a:r>
          </a:p>
        </p:txBody>
      </p:sp>
      <p:sp>
        <p:nvSpPr>
          <p:cNvPr id="10" name="Line 15">
            <a:extLst>
              <a:ext uri="{FF2B5EF4-FFF2-40B4-BE49-F238E27FC236}">
                <a16:creationId xmlns:a16="http://schemas.microsoft.com/office/drawing/2014/main" id="{A354C564-5A88-41AE-A709-E0C90BBA4EBC}"/>
              </a:ext>
            </a:extLst>
          </p:cNvPr>
          <p:cNvSpPr>
            <a:spLocks noChangeShapeType="1"/>
          </p:cNvSpPr>
          <p:nvPr/>
        </p:nvSpPr>
        <p:spPr bwMode="auto">
          <a:xfrm flipH="1" flipV="1">
            <a:off x="5237163" y="4011613"/>
            <a:ext cx="1316037" cy="8001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1F654739-FBBA-42D6-8D0B-310B39E78236}"/>
              </a:ext>
            </a:extLst>
          </p:cNvPr>
          <p:cNvSpPr>
            <a:spLocks noGrp="1"/>
          </p:cNvSpPr>
          <p:nvPr>
            <p:ph type="title"/>
          </p:nvPr>
        </p:nvSpPr>
        <p:spPr/>
        <p:txBody>
          <a:bodyPr/>
          <a:lstStyle/>
          <a:p>
            <a:r>
              <a:rPr lang="en-US" altLang="zh-CN" sz="2800" dirty="0"/>
              <a:t>Best Practice</a:t>
            </a:r>
            <a:endParaRPr lang="zh-CN" altLang="en-US" sz="2800" dirty="0"/>
          </a:p>
        </p:txBody>
      </p:sp>
      <p:sp>
        <p:nvSpPr>
          <p:cNvPr id="3" name="内容占位符 2">
            <a:extLst>
              <a:ext uri="{FF2B5EF4-FFF2-40B4-BE49-F238E27FC236}">
                <a16:creationId xmlns:a16="http://schemas.microsoft.com/office/drawing/2014/main" id="{65D79137-FAFC-4352-95AA-DC6B302DFFB9}"/>
              </a:ext>
            </a:extLst>
          </p:cNvPr>
          <p:cNvSpPr>
            <a:spLocks noGrp="1"/>
          </p:cNvSpPr>
          <p:nvPr>
            <p:ph idx="1"/>
          </p:nvPr>
        </p:nvSpPr>
        <p:spPr/>
        <p:txBody>
          <a:bodyPr>
            <a:normAutofit fontScale="92500" lnSpcReduction="20000"/>
          </a:bodyPr>
          <a:lstStyle/>
          <a:p>
            <a:pPr>
              <a:lnSpc>
                <a:spcPct val="120000"/>
              </a:lnSpc>
              <a:defRPr/>
            </a:pPr>
            <a:r>
              <a:rPr lang="en-US" altLang="zh-CN" dirty="0"/>
              <a:t>In general, schemas that are expected to be referenced from more than one WSDL 2.0 document should be defined in a separate schema document rather than be </a:t>
            </a:r>
            <a:r>
              <a:rPr lang="en-US" altLang="zh-CN" dirty="0" err="1"/>
              <a:t>inlined</a:t>
            </a:r>
            <a:endParaRPr lang="en-US" altLang="zh-CN" dirty="0"/>
          </a:p>
          <a:p>
            <a:pPr lvl="1">
              <a:lnSpc>
                <a:spcPct val="120000"/>
              </a:lnSpc>
              <a:defRPr/>
            </a:pPr>
            <a:r>
              <a:rPr lang="en-US" altLang="zh-CN" dirty="0"/>
              <a:t>For example, move the inline schema into a separate document, say it </a:t>
            </a:r>
            <a:r>
              <a:rPr lang="en-US" altLang="zh-CN" dirty="0">
                <a:solidFill>
                  <a:srgbClr val="FF0000"/>
                </a:solidFill>
              </a:rPr>
              <a:t>reservationDetails.xsd</a:t>
            </a:r>
            <a:r>
              <a:rPr lang="en-US" altLang="zh-CN" dirty="0"/>
              <a:t>, and directly import it in the types element of both </a:t>
            </a:r>
            <a:r>
              <a:rPr lang="en-US" altLang="zh-CN" dirty="0" err="1">
                <a:solidFill>
                  <a:srgbClr val="FF0000"/>
                </a:solidFill>
              </a:rPr>
              <a:t>retrieveDetails.wsdl</a:t>
            </a:r>
            <a:r>
              <a:rPr lang="en-US" altLang="zh-CN" dirty="0">
                <a:solidFill>
                  <a:srgbClr val="FF0000"/>
                </a:solidFill>
              </a:rPr>
              <a:t> </a:t>
            </a:r>
            <a:r>
              <a:rPr lang="en-US" altLang="zh-CN" dirty="0"/>
              <a:t>and </a:t>
            </a:r>
            <a:r>
              <a:rPr lang="en-US" altLang="zh-CN" dirty="0" err="1">
                <a:solidFill>
                  <a:srgbClr val="FF0000"/>
                </a:solidFill>
              </a:rPr>
              <a:t>updateDetails.wsdl</a:t>
            </a:r>
            <a:endParaRPr lang="en-US" altLang="zh-CN" dirty="0">
              <a:solidFill>
                <a:srgbClr val="FF0000"/>
              </a:solidFill>
            </a:endParaRPr>
          </a:p>
          <a:p>
            <a:pPr>
              <a:lnSpc>
                <a:spcPct val="120000"/>
              </a:lnSpc>
              <a:defRPr/>
            </a:pPr>
            <a:r>
              <a:rPr lang="en-US" altLang="zh-CN" dirty="0"/>
              <a:t>WSDL document and XML schema document should be managed under different name spaces</a:t>
            </a:r>
          </a:p>
        </p:txBody>
      </p:sp>
      <p:sp>
        <p:nvSpPr>
          <p:cNvPr id="30724" name="灯片编号占位符 3">
            <a:extLst>
              <a:ext uri="{FF2B5EF4-FFF2-40B4-BE49-F238E27FC236}">
                <a16:creationId xmlns:a16="http://schemas.microsoft.com/office/drawing/2014/main" id="{6DDC2AFB-C9EA-40C5-8AF4-93B328D9190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31</a:t>
            </a:fld>
            <a:endParaRPr lang="en-US" altLang="zh-CN" sz="1000">
              <a:solidFill>
                <a:srgbClr val="000000"/>
              </a:solidFill>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B6720920-6276-4A3B-B93E-1913B143B3E1}"/>
              </a:ext>
            </a:extLst>
          </p:cNvPr>
          <p:cNvSpPr>
            <a:spLocks noGrp="1"/>
          </p:cNvSpPr>
          <p:nvPr>
            <p:ph type="title"/>
          </p:nvPr>
        </p:nvSpPr>
        <p:spPr/>
        <p:txBody>
          <a:bodyPr>
            <a:noAutofit/>
          </a:bodyPr>
          <a:lstStyle/>
          <a:p>
            <a:r>
              <a:rPr lang="en-US" altLang="zh-CN" sz="2800" dirty="0"/>
              <a:t>Multiple Inline Schemas in One Document (1/4)</a:t>
            </a:r>
            <a:endParaRPr lang="zh-CN" altLang="en-US" sz="2800" dirty="0"/>
          </a:p>
        </p:txBody>
      </p:sp>
      <p:sp>
        <p:nvSpPr>
          <p:cNvPr id="46083" name="内容占位符 2">
            <a:extLst>
              <a:ext uri="{FF2B5EF4-FFF2-40B4-BE49-F238E27FC236}">
                <a16:creationId xmlns:a16="http://schemas.microsoft.com/office/drawing/2014/main" id="{11C85AAA-FB72-4C54-BB7B-64316A50CBE3}"/>
              </a:ext>
            </a:extLst>
          </p:cNvPr>
          <p:cNvSpPr>
            <a:spLocks noGrp="1"/>
          </p:cNvSpPr>
          <p:nvPr>
            <p:ph idx="1"/>
          </p:nvPr>
        </p:nvSpPr>
        <p:spPr/>
        <p:txBody>
          <a:bodyPr>
            <a:normAutofit/>
          </a:bodyPr>
          <a:lstStyle/>
          <a:p>
            <a:pPr>
              <a:lnSpc>
                <a:spcPct val="120000"/>
              </a:lnSpc>
              <a:defRPr/>
            </a:pPr>
            <a:r>
              <a:rPr lang="en-US" altLang="zh-CN" sz="2000" dirty="0"/>
              <a:t>A WSDL 2.0 document may define multiple inline schemas in its types element</a:t>
            </a:r>
          </a:p>
          <a:p>
            <a:pPr lvl="1">
              <a:lnSpc>
                <a:spcPct val="120000"/>
              </a:lnSpc>
              <a:defRPr/>
            </a:pPr>
            <a:r>
              <a:rPr lang="en-US" altLang="zh-CN" sz="1600" dirty="0"/>
              <a:t>The two or more schemas may have the same target namespace provided that they do not define the same elements or types. </a:t>
            </a:r>
          </a:p>
          <a:p>
            <a:pPr lvl="1">
              <a:lnSpc>
                <a:spcPct val="120000"/>
              </a:lnSpc>
              <a:defRPr/>
            </a:pPr>
            <a:r>
              <a:rPr lang="en-US" altLang="zh-CN" sz="1600" dirty="0"/>
              <a:t>It is an error to define the same element or type more than once, even if the definitions are identical.</a:t>
            </a:r>
          </a:p>
          <a:p>
            <a:pPr>
              <a:lnSpc>
                <a:spcPct val="120000"/>
              </a:lnSpc>
              <a:defRPr/>
            </a:pPr>
            <a:r>
              <a:rPr lang="en-US" altLang="zh-CN" sz="2000" dirty="0"/>
              <a:t>Each namespace of an inline schema becomes visible to the Web service definitions</a:t>
            </a:r>
          </a:p>
          <a:p>
            <a:pPr>
              <a:lnSpc>
                <a:spcPct val="120000"/>
              </a:lnSpc>
              <a:defRPr/>
            </a:pPr>
            <a:r>
              <a:rPr lang="en-US" altLang="zh-CN" sz="2000" dirty="0"/>
              <a:t>However, the namespaces are not automatically visible to the other inline schemas</a:t>
            </a:r>
          </a:p>
          <a:p>
            <a:pPr lvl="1">
              <a:lnSpc>
                <a:spcPct val="120000"/>
              </a:lnSpc>
              <a:defRPr/>
            </a:pPr>
            <a:r>
              <a:rPr lang="en-US" altLang="zh-CN" sz="1600" dirty="0"/>
              <a:t>Each inline schema must explicitly import any other namespace it references</a:t>
            </a:r>
          </a:p>
          <a:p>
            <a:pPr lvl="1">
              <a:lnSpc>
                <a:spcPct val="120000"/>
              </a:lnSpc>
              <a:defRPr/>
            </a:pPr>
            <a:r>
              <a:rPr lang="en-US" altLang="zh-CN" sz="1600" dirty="0"/>
              <a:t>The </a:t>
            </a:r>
            <a:r>
              <a:rPr lang="en-US" altLang="zh-CN" sz="1600" dirty="0" err="1">
                <a:hlinkClick r:id="rId3" action="ppaction://hlinkfile"/>
              </a:rPr>
              <a:t>schemaLocation</a:t>
            </a:r>
            <a:r>
              <a:rPr lang="en-US" altLang="zh-CN" sz="1600" dirty="0"/>
              <a:t> attribute is not required in this case since the WSDL 2.0 processor knows the location of each schema by virtue of having processed the enclosing WSDL 2.0 document</a:t>
            </a:r>
          </a:p>
        </p:txBody>
      </p:sp>
      <p:sp>
        <p:nvSpPr>
          <p:cNvPr id="5" name="Line 15">
            <a:extLst>
              <a:ext uri="{FF2B5EF4-FFF2-40B4-BE49-F238E27FC236}">
                <a16:creationId xmlns:a16="http://schemas.microsoft.com/office/drawing/2014/main" id="{596E7B4E-8EB8-4CD6-9C5A-72ABD799FC8F}"/>
              </a:ext>
            </a:extLst>
          </p:cNvPr>
          <p:cNvSpPr>
            <a:spLocks noChangeShapeType="1"/>
          </p:cNvSpPr>
          <p:nvPr/>
        </p:nvSpPr>
        <p:spPr bwMode="auto">
          <a:xfrm flipH="1">
            <a:off x="2267744" y="1916832"/>
            <a:ext cx="1296144" cy="86409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Text Box 16">
            <a:extLst>
              <a:ext uri="{FF2B5EF4-FFF2-40B4-BE49-F238E27FC236}">
                <a16:creationId xmlns:a16="http://schemas.microsoft.com/office/drawing/2014/main" id="{907AC9E5-DE64-4C6B-872D-9513EEFAD27D}"/>
              </a:ext>
            </a:extLst>
          </p:cNvPr>
          <p:cNvSpPr txBox="1">
            <a:spLocks noChangeArrowheads="1"/>
          </p:cNvSpPr>
          <p:nvPr/>
        </p:nvSpPr>
        <p:spPr bwMode="auto">
          <a:xfrm>
            <a:off x="3492500" y="1708150"/>
            <a:ext cx="4598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dirty="0">
                <a:solidFill>
                  <a:srgbClr val="000000"/>
                </a:solidFill>
              </a:rPr>
              <a:t>If the target namespaces are different? </a:t>
            </a:r>
          </a:p>
        </p:txBody>
      </p:sp>
      <p:sp>
        <p:nvSpPr>
          <p:cNvPr id="31750" name="灯片编号占位符 3">
            <a:extLst>
              <a:ext uri="{FF2B5EF4-FFF2-40B4-BE49-F238E27FC236}">
                <a16:creationId xmlns:a16="http://schemas.microsoft.com/office/drawing/2014/main" id="{61769E9C-4260-4369-9963-5D895A4E593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32</a:t>
            </a:fld>
            <a:endParaRPr lang="en-US" altLang="zh-CN" sz="1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AE344B62-9554-45FE-BE9B-596124E279D3}"/>
              </a:ext>
            </a:extLst>
          </p:cNvPr>
          <p:cNvSpPr>
            <a:spLocks noGrp="1"/>
          </p:cNvSpPr>
          <p:nvPr>
            <p:ph type="title"/>
          </p:nvPr>
        </p:nvSpPr>
        <p:spPr/>
        <p:txBody>
          <a:bodyPr>
            <a:noAutofit/>
          </a:bodyPr>
          <a:lstStyle/>
          <a:p>
            <a:r>
              <a:rPr lang="en-US" altLang="zh-CN" sz="2800" dirty="0"/>
              <a:t>Multiple Inline Schemas in One Document (2/4)</a:t>
            </a:r>
            <a:endParaRPr lang="zh-CN" altLang="en-US" sz="2800" dirty="0"/>
          </a:p>
        </p:txBody>
      </p:sp>
      <p:sp>
        <p:nvSpPr>
          <p:cNvPr id="33795" name="灯片编号占位符 3">
            <a:extLst>
              <a:ext uri="{FF2B5EF4-FFF2-40B4-BE49-F238E27FC236}">
                <a16:creationId xmlns:a16="http://schemas.microsoft.com/office/drawing/2014/main" id="{980310C2-85AD-4369-9D2F-6344765DF8F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33</a:t>
            </a:fld>
            <a:endParaRPr lang="en-US" altLang="zh-CN" sz="1000">
              <a:solidFill>
                <a:srgbClr val="000000"/>
              </a:solidFill>
            </a:endParaRPr>
          </a:p>
        </p:txBody>
      </p:sp>
      <p:sp>
        <p:nvSpPr>
          <p:cNvPr id="5" name="Text Box 4">
            <a:extLst>
              <a:ext uri="{FF2B5EF4-FFF2-40B4-BE49-F238E27FC236}">
                <a16:creationId xmlns:a16="http://schemas.microsoft.com/office/drawing/2014/main" id="{F4E4EDFC-7147-478F-B052-357049E5AB4C}"/>
              </a:ext>
            </a:extLst>
          </p:cNvPr>
          <p:cNvSpPr txBox="1">
            <a:spLocks noChangeArrowheads="1"/>
          </p:cNvSpPr>
          <p:nvPr/>
        </p:nvSpPr>
        <p:spPr bwMode="auto">
          <a:xfrm>
            <a:off x="457200" y="1497198"/>
            <a:ext cx="8229600" cy="517680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http://greath.example.com/2004/services/retrieveDetails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http://greath.example.com/2004/services/retrieveDetails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xmlns:wdetails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xmlns:xs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http://www.w3.org/2001/XMLSchema</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This document describes the </a:t>
            </a:r>
            <a:r>
              <a:rPr lang="en-US" altLang="zh-CN" sz="1400" dirty="0" err="1">
                <a:solidFill>
                  <a:srgbClr val="000000"/>
                </a:solidFill>
                <a:highlight>
                  <a:srgbClr val="FFFFFF"/>
                </a:highlight>
                <a:latin typeface="Arial"/>
              </a:rPr>
              <a:t>GreatH</a:t>
            </a:r>
            <a:r>
              <a:rPr lang="en-US" altLang="zh-CN" sz="1400" dirty="0">
                <a:solidFill>
                  <a:srgbClr val="000000"/>
                </a:solidFill>
                <a:highlight>
                  <a:srgbClr val="FFFFFF"/>
                </a:highlight>
                <a:latin typeface="Arial"/>
              </a:rPr>
              <a:t> Retrieve Reservation Details</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Web service.</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http://greath.example.com/2004/schemas/reservationItems</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confirmationNumber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string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checkInDate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checkOutDate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roomType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string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smoking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boolean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endParaRPr lang="zh-CN" altLang="en-US" sz="1400" dirty="0">
              <a:solidFill>
                <a:srgbClr val="000000"/>
              </a:solidFill>
              <a:highlight>
                <a:srgbClr val="FFFFFF"/>
              </a:highlight>
              <a:latin typeface="Arial"/>
            </a:endParaRPr>
          </a:p>
        </p:txBody>
      </p:sp>
      <p:sp>
        <p:nvSpPr>
          <p:cNvPr id="6" name="Text Box 16">
            <a:extLst>
              <a:ext uri="{FF2B5EF4-FFF2-40B4-BE49-F238E27FC236}">
                <a16:creationId xmlns:a16="http://schemas.microsoft.com/office/drawing/2014/main" id="{FF828EEC-0F42-4506-A327-5C12C7506372}"/>
              </a:ext>
            </a:extLst>
          </p:cNvPr>
          <p:cNvSpPr txBox="1">
            <a:spLocks noChangeArrowheads="1"/>
          </p:cNvSpPr>
          <p:nvPr/>
        </p:nvSpPr>
        <p:spPr bwMode="auto">
          <a:xfrm>
            <a:off x="6156325" y="4203700"/>
            <a:ext cx="2160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Inline Schema 1</a:t>
            </a:r>
          </a:p>
        </p:txBody>
      </p:sp>
      <p:sp>
        <p:nvSpPr>
          <p:cNvPr id="7" name="Line 15">
            <a:extLst>
              <a:ext uri="{FF2B5EF4-FFF2-40B4-BE49-F238E27FC236}">
                <a16:creationId xmlns:a16="http://schemas.microsoft.com/office/drawing/2014/main" id="{B3D78C5A-487D-4548-9ACD-89172BB2F5DA}"/>
              </a:ext>
            </a:extLst>
          </p:cNvPr>
          <p:cNvSpPr>
            <a:spLocks noChangeShapeType="1"/>
          </p:cNvSpPr>
          <p:nvPr/>
        </p:nvSpPr>
        <p:spPr bwMode="auto">
          <a:xfrm flipH="1">
            <a:off x="2339975" y="4437063"/>
            <a:ext cx="3816350"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CECBBFEA-80B0-4EC3-BADD-3DA636078AF2}"/>
              </a:ext>
            </a:extLst>
          </p:cNvPr>
          <p:cNvSpPr>
            <a:spLocks noGrp="1"/>
          </p:cNvSpPr>
          <p:nvPr>
            <p:ph type="title"/>
          </p:nvPr>
        </p:nvSpPr>
        <p:spPr/>
        <p:txBody>
          <a:bodyPr>
            <a:noAutofit/>
          </a:bodyPr>
          <a:lstStyle/>
          <a:p>
            <a:r>
              <a:rPr lang="en-US" altLang="zh-CN" sz="2800" dirty="0"/>
              <a:t>Multiple Inline Schemas in One Document (3/4)</a:t>
            </a:r>
            <a:endParaRPr lang="zh-CN" altLang="en-US" sz="2800" dirty="0"/>
          </a:p>
        </p:txBody>
      </p:sp>
      <p:sp>
        <p:nvSpPr>
          <p:cNvPr id="35843" name="灯片编号占位符 3">
            <a:extLst>
              <a:ext uri="{FF2B5EF4-FFF2-40B4-BE49-F238E27FC236}">
                <a16:creationId xmlns:a16="http://schemas.microsoft.com/office/drawing/2014/main" id="{3623E568-0066-4F38-916F-9B053F59275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34</a:t>
            </a:fld>
            <a:endParaRPr lang="en-US" altLang="zh-CN" sz="1000">
              <a:solidFill>
                <a:srgbClr val="000000"/>
              </a:solidFill>
            </a:endParaRPr>
          </a:p>
        </p:txBody>
      </p:sp>
      <p:sp>
        <p:nvSpPr>
          <p:cNvPr id="5" name="Text Box 4">
            <a:extLst>
              <a:ext uri="{FF2B5EF4-FFF2-40B4-BE49-F238E27FC236}">
                <a16:creationId xmlns:a16="http://schemas.microsoft.com/office/drawing/2014/main" id="{3F513DCD-592D-41B0-BBEA-B6592C3FD568}"/>
              </a:ext>
            </a:extLst>
          </p:cNvPr>
          <p:cNvSpPr txBox="1">
            <a:spLocks noChangeArrowheads="1"/>
          </p:cNvSpPr>
          <p:nvPr/>
        </p:nvSpPr>
        <p:spPr bwMode="auto">
          <a:xfrm>
            <a:off x="611560" y="1504235"/>
            <a:ext cx="8229600" cy="517680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xmlns:items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http://greath.example.com/2004/schemas/reservationItems</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xs:import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http://greath.example.com/2004/schemas/reservationItems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reservationDetails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items:confirmationNumber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items:checkInDate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items:checkOutDate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items:roomType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items:smoking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endParaRPr lang="zh-CN" altLang="en-US" sz="1400" dirty="0">
              <a:solidFill>
                <a:srgbClr val="000000"/>
              </a:solidFill>
              <a:highlight>
                <a:srgbClr val="FFFFFF"/>
              </a:highlight>
              <a:latin typeface="Arial"/>
            </a:endParaRPr>
          </a:p>
        </p:txBody>
      </p:sp>
      <p:sp>
        <p:nvSpPr>
          <p:cNvPr id="6" name="Text Box 16">
            <a:extLst>
              <a:ext uri="{FF2B5EF4-FFF2-40B4-BE49-F238E27FC236}">
                <a16:creationId xmlns:a16="http://schemas.microsoft.com/office/drawing/2014/main" id="{908909AD-7427-4F1F-B6CF-356D80254C9F}"/>
              </a:ext>
            </a:extLst>
          </p:cNvPr>
          <p:cNvSpPr txBox="1">
            <a:spLocks noChangeArrowheads="1"/>
          </p:cNvSpPr>
          <p:nvPr/>
        </p:nvSpPr>
        <p:spPr bwMode="auto">
          <a:xfrm>
            <a:off x="6300788" y="1644650"/>
            <a:ext cx="215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Inline Schema 2</a:t>
            </a:r>
          </a:p>
        </p:txBody>
      </p:sp>
      <p:sp>
        <p:nvSpPr>
          <p:cNvPr id="7" name="Line 15">
            <a:extLst>
              <a:ext uri="{FF2B5EF4-FFF2-40B4-BE49-F238E27FC236}">
                <a16:creationId xmlns:a16="http://schemas.microsoft.com/office/drawing/2014/main" id="{1AFB6BCD-E31B-4A27-8CCE-E8C41A38386F}"/>
              </a:ext>
            </a:extLst>
          </p:cNvPr>
          <p:cNvSpPr>
            <a:spLocks noChangeShapeType="1"/>
          </p:cNvSpPr>
          <p:nvPr/>
        </p:nvSpPr>
        <p:spPr bwMode="auto">
          <a:xfrm flipH="1" flipV="1">
            <a:off x="2411413" y="1884363"/>
            <a:ext cx="3876675" cy="47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16">
            <a:extLst>
              <a:ext uri="{FF2B5EF4-FFF2-40B4-BE49-F238E27FC236}">
                <a16:creationId xmlns:a16="http://schemas.microsoft.com/office/drawing/2014/main" id="{5EC8BB83-07DF-4C4D-A40A-458D42A0E56E}"/>
              </a:ext>
            </a:extLst>
          </p:cNvPr>
          <p:cNvSpPr txBox="1">
            <a:spLocks noChangeArrowheads="1"/>
          </p:cNvSpPr>
          <p:nvPr/>
        </p:nvSpPr>
        <p:spPr bwMode="auto">
          <a:xfrm>
            <a:off x="3452813" y="5540375"/>
            <a:ext cx="5051425"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Importing is required even within same target Namespace. </a:t>
            </a:r>
          </a:p>
          <a:p>
            <a:pPr eaLnBrk="1" hangingPunct="1">
              <a:spcBef>
                <a:spcPct val="50000"/>
              </a:spcBef>
              <a:buClrTx/>
              <a:buFontTx/>
              <a:buNone/>
            </a:pPr>
            <a:r>
              <a:rPr lang="en-US" altLang="zh-CN" sz="2000">
                <a:solidFill>
                  <a:srgbClr val="000000"/>
                </a:solidFill>
              </a:rPr>
              <a:t>Location hint is omitted</a:t>
            </a:r>
          </a:p>
        </p:txBody>
      </p:sp>
      <p:sp>
        <p:nvSpPr>
          <p:cNvPr id="9" name="Line 15">
            <a:extLst>
              <a:ext uri="{FF2B5EF4-FFF2-40B4-BE49-F238E27FC236}">
                <a16:creationId xmlns:a16="http://schemas.microsoft.com/office/drawing/2014/main" id="{9EE8F5B9-0F6B-4E16-9CB5-DE3509F46B0B}"/>
              </a:ext>
            </a:extLst>
          </p:cNvPr>
          <p:cNvSpPr>
            <a:spLocks noChangeShapeType="1"/>
          </p:cNvSpPr>
          <p:nvPr/>
        </p:nvSpPr>
        <p:spPr bwMode="auto">
          <a:xfrm flipH="1" flipV="1">
            <a:off x="5435600" y="2967038"/>
            <a:ext cx="1588" cy="26162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66BBFACA-BBA2-4454-9FEA-0BFAFD419497}"/>
              </a:ext>
            </a:extLst>
          </p:cNvPr>
          <p:cNvSpPr>
            <a:spLocks noGrp="1"/>
          </p:cNvSpPr>
          <p:nvPr>
            <p:ph type="title"/>
          </p:nvPr>
        </p:nvSpPr>
        <p:spPr/>
        <p:txBody>
          <a:bodyPr>
            <a:noAutofit/>
          </a:bodyPr>
          <a:lstStyle/>
          <a:p>
            <a:r>
              <a:rPr lang="en-US" altLang="zh-CN" sz="2800" dirty="0"/>
              <a:t>Multiple Inline Schemas in One Document (4/4)</a:t>
            </a:r>
            <a:endParaRPr lang="zh-CN" altLang="en-US" sz="2800" dirty="0"/>
          </a:p>
        </p:txBody>
      </p:sp>
      <p:sp>
        <p:nvSpPr>
          <p:cNvPr id="37891" name="灯片编号占位符 3">
            <a:extLst>
              <a:ext uri="{FF2B5EF4-FFF2-40B4-BE49-F238E27FC236}">
                <a16:creationId xmlns:a16="http://schemas.microsoft.com/office/drawing/2014/main" id="{5629A92D-B673-4A15-921E-74E777E612C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35</a:t>
            </a:fld>
            <a:endParaRPr lang="en-US" altLang="zh-CN" sz="1000">
              <a:solidFill>
                <a:srgbClr val="000000"/>
              </a:solidFill>
            </a:endParaRPr>
          </a:p>
        </p:txBody>
      </p:sp>
      <p:sp>
        <p:nvSpPr>
          <p:cNvPr id="5" name="Text Box 4">
            <a:extLst>
              <a:ext uri="{FF2B5EF4-FFF2-40B4-BE49-F238E27FC236}">
                <a16:creationId xmlns:a16="http://schemas.microsoft.com/office/drawing/2014/main" id="{EBC3E511-D73D-4A44-B104-879B5F74BCFC}"/>
              </a:ext>
            </a:extLst>
          </p:cNvPr>
          <p:cNvSpPr txBox="1">
            <a:spLocks noChangeArrowheads="1"/>
          </p:cNvSpPr>
          <p:nvPr/>
        </p:nvSpPr>
        <p:spPr bwMode="auto">
          <a:xfrm>
            <a:off x="457200" y="2090577"/>
            <a:ext cx="8229600" cy="263456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retrieveDetailsInterface</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retrieve</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pattern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http://www.w3.org/ns/wsdl/in-out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#none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wdetails:reservationDetails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Text Box 16">
            <a:extLst>
              <a:ext uri="{FF2B5EF4-FFF2-40B4-BE49-F238E27FC236}">
                <a16:creationId xmlns:a16="http://schemas.microsoft.com/office/drawing/2014/main" id="{044F5B35-7C13-4180-AE14-E52BD420A6DA}"/>
              </a:ext>
            </a:extLst>
          </p:cNvPr>
          <p:cNvSpPr txBox="1">
            <a:spLocks noChangeArrowheads="1"/>
          </p:cNvSpPr>
          <p:nvPr/>
        </p:nvSpPr>
        <p:spPr bwMode="auto">
          <a:xfrm>
            <a:off x="2700338" y="5241925"/>
            <a:ext cx="2808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Automatically available</a:t>
            </a:r>
          </a:p>
        </p:txBody>
      </p:sp>
      <p:sp>
        <p:nvSpPr>
          <p:cNvPr id="7" name="Line 15">
            <a:extLst>
              <a:ext uri="{FF2B5EF4-FFF2-40B4-BE49-F238E27FC236}">
                <a16:creationId xmlns:a16="http://schemas.microsoft.com/office/drawing/2014/main" id="{FC3AAD0B-D9A9-4811-AB99-BF87917476B5}"/>
              </a:ext>
            </a:extLst>
          </p:cNvPr>
          <p:cNvSpPr>
            <a:spLocks noChangeShapeType="1"/>
          </p:cNvSpPr>
          <p:nvPr/>
        </p:nvSpPr>
        <p:spPr bwMode="auto">
          <a:xfrm flipV="1">
            <a:off x="4056063" y="3860800"/>
            <a:ext cx="11112" cy="14065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838C9137-43B7-443F-B07C-9C66468C570B}"/>
              </a:ext>
            </a:extLst>
          </p:cNvPr>
          <p:cNvSpPr>
            <a:spLocks noGrp="1"/>
          </p:cNvSpPr>
          <p:nvPr>
            <p:ph type="title"/>
          </p:nvPr>
        </p:nvSpPr>
        <p:spPr/>
        <p:txBody>
          <a:bodyPr>
            <a:normAutofit/>
          </a:bodyPr>
          <a:lstStyle/>
          <a:p>
            <a:r>
              <a:rPr lang="en-US" altLang="zh-CN" sz="2800" dirty="0"/>
              <a:t>The </a:t>
            </a:r>
            <a:r>
              <a:rPr lang="en-US" altLang="zh-CN" sz="2800" dirty="0" err="1"/>
              <a:t>schemaLocation</a:t>
            </a:r>
            <a:r>
              <a:rPr lang="en-US" altLang="zh-CN" sz="2800" dirty="0"/>
              <a:t> Attribute</a:t>
            </a:r>
            <a:endParaRPr lang="zh-CN" altLang="en-US" sz="2800" dirty="0"/>
          </a:p>
        </p:txBody>
      </p:sp>
      <p:sp>
        <p:nvSpPr>
          <p:cNvPr id="3" name="内容占位符 2">
            <a:extLst>
              <a:ext uri="{FF2B5EF4-FFF2-40B4-BE49-F238E27FC236}">
                <a16:creationId xmlns:a16="http://schemas.microsoft.com/office/drawing/2014/main" id="{7921F959-7E50-4371-9523-F2DA438E20C1}"/>
              </a:ext>
            </a:extLst>
          </p:cNvPr>
          <p:cNvSpPr>
            <a:spLocks noGrp="1"/>
          </p:cNvSpPr>
          <p:nvPr>
            <p:ph idx="1"/>
          </p:nvPr>
        </p:nvSpPr>
        <p:spPr/>
        <p:txBody>
          <a:bodyPr>
            <a:normAutofit fontScale="77500" lnSpcReduction="20000"/>
          </a:bodyPr>
          <a:lstStyle/>
          <a:p>
            <a:pPr>
              <a:lnSpc>
                <a:spcPct val="120000"/>
              </a:lnSpc>
              <a:defRPr/>
            </a:pPr>
            <a:r>
              <a:rPr lang="en-US" altLang="zh-CN" dirty="0"/>
              <a:t>If  schemas are defined inline in WSDL 2.0 documents, the </a:t>
            </a:r>
            <a:r>
              <a:rPr lang="en-US" altLang="zh-CN" dirty="0" err="1">
                <a:hlinkClick r:id="rId3" action="ppaction://hlinkfile"/>
              </a:rPr>
              <a:t>schemaLocation</a:t>
            </a:r>
            <a:r>
              <a:rPr lang="en-US" altLang="zh-CN" dirty="0"/>
              <a:t> attribute was omitted since the WSDL 2.0 processor was assumed to know how to locate the imported schemas because they were part of the WSDL 2.0 documents being processed</a:t>
            </a:r>
          </a:p>
          <a:p>
            <a:pPr>
              <a:lnSpc>
                <a:spcPct val="120000"/>
              </a:lnSpc>
              <a:defRPr/>
            </a:pPr>
            <a:r>
              <a:rPr lang="en-US" altLang="zh-CN" dirty="0"/>
              <a:t>However, the </a:t>
            </a:r>
            <a:r>
              <a:rPr lang="en-US" altLang="zh-CN" dirty="0" err="1">
                <a:hlinkClick r:id="rId4" action="ppaction://hlinkfile"/>
              </a:rPr>
              <a:t>schemaLocation</a:t>
            </a:r>
            <a:r>
              <a:rPr lang="en-US" altLang="zh-CN" dirty="0"/>
              <a:t> attribute can be used to give the processor a URI reference that explicitly locates the schemas</a:t>
            </a:r>
          </a:p>
          <a:p>
            <a:pPr lvl="1">
              <a:lnSpc>
                <a:spcPct val="120000"/>
              </a:lnSpc>
              <a:defRPr/>
            </a:pPr>
            <a:r>
              <a:rPr lang="en-US" altLang="zh-CN" dirty="0"/>
              <a:t>A URI reference is a URI plus an optional fragment identifier that indicates part of the resource. For schemas, the fragment should identify the schema element. The simplest way to accomplish this is to use the </a:t>
            </a:r>
            <a:r>
              <a:rPr lang="en-US" altLang="zh-CN" dirty="0">
                <a:hlinkClick r:id="rId5" action="ppaction://hlinkfile"/>
              </a:rPr>
              <a:t>id</a:t>
            </a:r>
            <a:r>
              <a:rPr lang="en-US" altLang="zh-CN" dirty="0"/>
              <a:t> attribute, however XPointer [</a:t>
            </a:r>
            <a:r>
              <a:rPr lang="en-US" altLang="zh-CN" dirty="0">
                <a:hlinkClick r:id="rId6" action="ppaction://hlinkfile"/>
              </a:rPr>
              <a:t>XPointer Framework</a:t>
            </a:r>
            <a:r>
              <a:rPr lang="en-US" altLang="zh-CN" dirty="0"/>
              <a:t>] can also be used</a:t>
            </a:r>
          </a:p>
        </p:txBody>
      </p:sp>
      <p:sp>
        <p:nvSpPr>
          <p:cNvPr id="39940" name="灯片编号占位符 3">
            <a:extLst>
              <a:ext uri="{FF2B5EF4-FFF2-40B4-BE49-F238E27FC236}">
                <a16:creationId xmlns:a16="http://schemas.microsoft.com/office/drawing/2014/main" id="{E9626EB7-6E71-4A69-A466-606DA143AA7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36</a:t>
            </a:fld>
            <a:endParaRPr lang="en-US" altLang="zh-CN" sz="1000">
              <a:solidFill>
                <a:srgbClr val="000000"/>
              </a:solidFill>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603D7DAF-5A80-46C6-97D0-E137562B399D}"/>
              </a:ext>
            </a:extLst>
          </p:cNvPr>
          <p:cNvSpPr>
            <a:spLocks noGrp="1"/>
          </p:cNvSpPr>
          <p:nvPr>
            <p:ph type="title"/>
          </p:nvPr>
        </p:nvSpPr>
        <p:spPr/>
        <p:txBody>
          <a:bodyPr>
            <a:noAutofit/>
          </a:bodyPr>
          <a:lstStyle/>
          <a:p>
            <a:r>
              <a:rPr lang="en-US" altLang="zh-CN" sz="2800" dirty="0"/>
              <a:t>Using the id Attribute to </a:t>
            </a:r>
            <a:br>
              <a:rPr lang="en-US" altLang="zh-CN" sz="2800" dirty="0"/>
            </a:br>
            <a:r>
              <a:rPr lang="en-US" altLang="zh-CN" sz="2800" dirty="0"/>
              <a:t>Identify Inline Schemas (1/3)</a:t>
            </a:r>
            <a:endParaRPr lang="zh-CN" altLang="en-US" sz="2800" dirty="0"/>
          </a:p>
        </p:txBody>
      </p:sp>
      <p:sp>
        <p:nvSpPr>
          <p:cNvPr id="41987" name="灯片编号占位符 3">
            <a:extLst>
              <a:ext uri="{FF2B5EF4-FFF2-40B4-BE49-F238E27FC236}">
                <a16:creationId xmlns:a16="http://schemas.microsoft.com/office/drawing/2014/main" id="{1FA39F90-E630-4BA1-9B29-619C57A96C6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37</a:t>
            </a:fld>
            <a:endParaRPr lang="en-US" altLang="zh-CN" sz="1000">
              <a:solidFill>
                <a:srgbClr val="000000"/>
              </a:solidFill>
            </a:endParaRPr>
          </a:p>
        </p:txBody>
      </p:sp>
      <p:sp>
        <p:nvSpPr>
          <p:cNvPr id="5" name="Text Box 4">
            <a:extLst>
              <a:ext uri="{FF2B5EF4-FFF2-40B4-BE49-F238E27FC236}">
                <a16:creationId xmlns:a16="http://schemas.microsoft.com/office/drawing/2014/main" id="{9DAB04D6-C1ED-4E50-8912-5FAA196BC34F}"/>
              </a:ext>
            </a:extLst>
          </p:cNvPr>
          <p:cNvSpPr txBox="1">
            <a:spLocks noChangeArrowheads="1"/>
          </p:cNvSpPr>
          <p:nvPr/>
        </p:nvSpPr>
        <p:spPr bwMode="auto">
          <a:xfrm>
            <a:off x="457200" y="1485709"/>
            <a:ext cx="8229600" cy="521989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http://greath.example.com/2004/services/retrieveDetails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http://greath.example.com/2004/services/retrieveDetails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xmlns:wdetails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http://greath.example.com/2004/schemas/reservationDetails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xmlns:xs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http://www.w3.org/2001/XMLSchema</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This document describes the </a:t>
            </a:r>
            <a:r>
              <a:rPr lang="en-US" altLang="zh-CN" sz="1400" dirty="0" err="1">
                <a:solidFill>
                  <a:srgbClr val="000000"/>
                </a:solidFill>
                <a:highlight>
                  <a:srgbClr val="FFFFFF"/>
                </a:highlight>
                <a:latin typeface="Arial"/>
              </a:rPr>
              <a:t>GreatH</a:t>
            </a:r>
            <a:r>
              <a:rPr lang="en-US" altLang="zh-CN" sz="1400" dirty="0">
                <a:solidFill>
                  <a:srgbClr val="000000"/>
                </a:solidFill>
                <a:highlight>
                  <a:srgbClr val="FFFFFF"/>
                </a:highlight>
                <a:latin typeface="Arial"/>
              </a:rPr>
              <a:t> Retrieve Reservation Details</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Web service.</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FF0000"/>
                </a:solidFill>
                <a:highlight>
                  <a:srgbClr val="FFFFFF"/>
                </a:highlight>
                <a:latin typeface="Arial"/>
              </a:rPr>
              <a:t> id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items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http://greath.example.com/2004/schemas/reservationItems</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confirmationNumber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string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checkInDate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checkOutDate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roomType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string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smoking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boolean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p>
        </p:txBody>
      </p:sp>
      <p:sp>
        <p:nvSpPr>
          <p:cNvPr id="6" name="Text Box 16">
            <a:extLst>
              <a:ext uri="{FF2B5EF4-FFF2-40B4-BE49-F238E27FC236}">
                <a16:creationId xmlns:a16="http://schemas.microsoft.com/office/drawing/2014/main" id="{8B57A99A-078C-4094-9F70-FF16CD764200}"/>
              </a:ext>
            </a:extLst>
          </p:cNvPr>
          <p:cNvSpPr txBox="1">
            <a:spLocks noChangeArrowheads="1"/>
          </p:cNvSpPr>
          <p:nvPr/>
        </p:nvSpPr>
        <p:spPr bwMode="auto">
          <a:xfrm>
            <a:off x="4689475" y="3824288"/>
            <a:ext cx="792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ID</a:t>
            </a:r>
          </a:p>
        </p:txBody>
      </p:sp>
      <p:sp>
        <p:nvSpPr>
          <p:cNvPr id="7" name="Line 15">
            <a:extLst>
              <a:ext uri="{FF2B5EF4-FFF2-40B4-BE49-F238E27FC236}">
                <a16:creationId xmlns:a16="http://schemas.microsoft.com/office/drawing/2014/main" id="{096F4834-79FA-42FE-9937-49CF27FC9DD0}"/>
              </a:ext>
            </a:extLst>
          </p:cNvPr>
          <p:cNvSpPr>
            <a:spLocks noChangeShapeType="1"/>
          </p:cNvSpPr>
          <p:nvPr/>
        </p:nvSpPr>
        <p:spPr bwMode="auto">
          <a:xfrm flipH="1">
            <a:off x="3132138" y="4057650"/>
            <a:ext cx="1579562" cy="4508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D46ACA42-9B28-44BC-AE83-287D9EBF2E3F}"/>
              </a:ext>
            </a:extLst>
          </p:cNvPr>
          <p:cNvSpPr>
            <a:spLocks noGrp="1"/>
          </p:cNvSpPr>
          <p:nvPr>
            <p:ph type="title"/>
          </p:nvPr>
        </p:nvSpPr>
        <p:spPr/>
        <p:txBody>
          <a:bodyPr>
            <a:noAutofit/>
          </a:bodyPr>
          <a:lstStyle/>
          <a:p>
            <a:r>
              <a:rPr lang="en-US" altLang="zh-CN" sz="2800" dirty="0"/>
              <a:t>Using the id Attribute to </a:t>
            </a:r>
            <a:br>
              <a:rPr lang="en-US" altLang="zh-CN" sz="2800" dirty="0"/>
            </a:br>
            <a:r>
              <a:rPr lang="en-US" altLang="zh-CN" sz="2800" dirty="0"/>
              <a:t>Identify Inline Schemas (2/3)</a:t>
            </a:r>
            <a:endParaRPr lang="zh-CN" altLang="en-US" sz="2800" dirty="0"/>
          </a:p>
        </p:txBody>
      </p:sp>
      <p:sp>
        <p:nvSpPr>
          <p:cNvPr id="44035" name="灯片编号占位符 3">
            <a:extLst>
              <a:ext uri="{FF2B5EF4-FFF2-40B4-BE49-F238E27FC236}">
                <a16:creationId xmlns:a16="http://schemas.microsoft.com/office/drawing/2014/main" id="{9A566137-6711-407B-9F27-75190687CF1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38</a:t>
            </a:fld>
            <a:endParaRPr lang="en-US" altLang="zh-CN" sz="1000">
              <a:solidFill>
                <a:srgbClr val="000000"/>
              </a:solidFill>
            </a:endParaRPr>
          </a:p>
        </p:txBody>
      </p:sp>
      <p:sp>
        <p:nvSpPr>
          <p:cNvPr id="5" name="Text Box 4">
            <a:extLst>
              <a:ext uri="{FF2B5EF4-FFF2-40B4-BE49-F238E27FC236}">
                <a16:creationId xmlns:a16="http://schemas.microsoft.com/office/drawing/2014/main" id="{48503288-ADFE-4CC4-80BC-10AA77883F19}"/>
              </a:ext>
            </a:extLst>
          </p:cNvPr>
          <p:cNvSpPr txBox="1">
            <a:spLocks noChangeArrowheads="1"/>
          </p:cNvSpPr>
          <p:nvPr/>
        </p:nvSpPr>
        <p:spPr bwMode="auto">
          <a:xfrm>
            <a:off x="457200" y="1556792"/>
            <a:ext cx="8229600" cy="47089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xs:schema</a:t>
            </a:r>
            <a:r>
              <a:rPr lang="en-US" altLang="zh-CN" sz="1200" dirty="0">
                <a:solidFill>
                  <a:srgbClr val="FF0000"/>
                </a:solidFill>
                <a:highlight>
                  <a:srgbClr val="FFFFFF"/>
                </a:highlight>
                <a:latin typeface="Arial"/>
              </a:rPr>
              <a:t> id</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targetNamespace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xmlns:items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http://greath.example.com/2004/schemas/reservationItems</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xs:import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http://greath.example.com/2004/schemas/reservationItems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schemaLocation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#items</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reservationDetails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items:confirmationNumber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items:checkInDate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items:checkOutDate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items:roomType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items:smoking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xs:schema</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types</a:t>
            </a:r>
            <a:r>
              <a:rPr lang="en-US" altLang="zh-CN" sz="12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en-US" altLang="zh-CN" sz="1200" dirty="0">
              <a:solidFill>
                <a:srgbClr val="000000"/>
              </a:solidFill>
              <a:highlight>
                <a:srgbClr val="FFFFFF"/>
              </a:highlight>
              <a:latin typeface="Arial"/>
            </a:endParaRPr>
          </a:p>
        </p:txBody>
      </p:sp>
      <p:sp>
        <p:nvSpPr>
          <p:cNvPr id="6" name="Text Box 16">
            <a:extLst>
              <a:ext uri="{FF2B5EF4-FFF2-40B4-BE49-F238E27FC236}">
                <a16:creationId xmlns:a16="http://schemas.microsoft.com/office/drawing/2014/main" id="{B4A82B25-88A8-4B08-B037-AB5E6838BF41}"/>
              </a:ext>
            </a:extLst>
          </p:cNvPr>
          <p:cNvSpPr txBox="1">
            <a:spLocks noChangeArrowheads="1"/>
          </p:cNvSpPr>
          <p:nvPr/>
        </p:nvSpPr>
        <p:spPr bwMode="auto">
          <a:xfrm>
            <a:off x="4000500" y="3305175"/>
            <a:ext cx="4464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A hint to find inline schema definition</a:t>
            </a:r>
          </a:p>
        </p:txBody>
      </p:sp>
      <p:sp>
        <p:nvSpPr>
          <p:cNvPr id="7" name="Line 15">
            <a:extLst>
              <a:ext uri="{FF2B5EF4-FFF2-40B4-BE49-F238E27FC236}">
                <a16:creationId xmlns:a16="http://schemas.microsoft.com/office/drawing/2014/main" id="{85134107-770B-476A-9768-2CDF6801C0DE}"/>
              </a:ext>
            </a:extLst>
          </p:cNvPr>
          <p:cNvSpPr>
            <a:spLocks noChangeShapeType="1"/>
          </p:cNvSpPr>
          <p:nvPr/>
        </p:nvSpPr>
        <p:spPr bwMode="auto">
          <a:xfrm flipH="1" flipV="1">
            <a:off x="3995738" y="2997200"/>
            <a:ext cx="863600" cy="2873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82159F54-4E3E-4CBF-91F8-59859D742716}"/>
              </a:ext>
            </a:extLst>
          </p:cNvPr>
          <p:cNvSpPr>
            <a:spLocks noGrp="1"/>
          </p:cNvSpPr>
          <p:nvPr>
            <p:ph type="title"/>
          </p:nvPr>
        </p:nvSpPr>
        <p:spPr/>
        <p:txBody>
          <a:bodyPr>
            <a:noAutofit/>
          </a:bodyPr>
          <a:lstStyle/>
          <a:p>
            <a:r>
              <a:rPr lang="en-US" altLang="zh-CN" sz="2800" dirty="0"/>
              <a:t>Using the id Attribute to </a:t>
            </a:r>
            <a:br>
              <a:rPr lang="en-US" altLang="zh-CN" sz="2800" dirty="0"/>
            </a:br>
            <a:r>
              <a:rPr lang="en-US" altLang="zh-CN" sz="2800" dirty="0"/>
              <a:t>Identify Inline Schemas (3/3)</a:t>
            </a:r>
            <a:endParaRPr lang="zh-CN" altLang="en-US" sz="2800" dirty="0"/>
          </a:p>
        </p:txBody>
      </p:sp>
      <p:sp>
        <p:nvSpPr>
          <p:cNvPr id="46083" name="灯片编号占位符 3">
            <a:extLst>
              <a:ext uri="{FF2B5EF4-FFF2-40B4-BE49-F238E27FC236}">
                <a16:creationId xmlns:a16="http://schemas.microsoft.com/office/drawing/2014/main" id="{9D091AB2-EBF7-407D-B8D5-6353A8E11BC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A853F1D-68A9-4972-B37A-5860DC1813F4}" type="slidenum">
              <a:rPr lang="en-US" altLang="zh-CN" smtClean="0"/>
              <a:pPr>
                <a:buFont typeface="Wingdings" panose="05000000000000000000" pitchFamily="2" charset="2"/>
                <a:buNone/>
              </a:pPr>
              <a:t>39</a:t>
            </a:fld>
            <a:endParaRPr lang="en-US" altLang="zh-CN" sz="1000">
              <a:solidFill>
                <a:srgbClr val="000000"/>
              </a:solidFill>
            </a:endParaRPr>
          </a:p>
        </p:txBody>
      </p:sp>
      <p:sp>
        <p:nvSpPr>
          <p:cNvPr id="5" name="Text Box 4">
            <a:extLst>
              <a:ext uri="{FF2B5EF4-FFF2-40B4-BE49-F238E27FC236}">
                <a16:creationId xmlns:a16="http://schemas.microsoft.com/office/drawing/2014/main" id="{C88E2CBF-086D-4C25-8E1C-3B375F2940C6}"/>
              </a:ext>
            </a:extLst>
          </p:cNvPr>
          <p:cNvSpPr txBox="1">
            <a:spLocks noChangeArrowheads="1"/>
          </p:cNvSpPr>
          <p:nvPr/>
        </p:nvSpPr>
        <p:spPr bwMode="auto">
          <a:xfrm>
            <a:off x="457200" y="1556792"/>
            <a:ext cx="8229600" cy="315778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retrieveDetailsInterface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retrieve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#none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wdetails:reservationDetails</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FF41C-9565-438E-B00E-C580A0025D1A}"/>
              </a:ext>
            </a:extLst>
          </p:cNvPr>
          <p:cNvSpPr>
            <a:spLocks noGrp="1"/>
          </p:cNvSpPr>
          <p:nvPr>
            <p:ph type="title"/>
          </p:nvPr>
        </p:nvSpPr>
        <p:spPr/>
        <p:txBody>
          <a:bodyPr>
            <a:noAutofit/>
          </a:bodyPr>
          <a:lstStyle/>
          <a:p>
            <a:pPr>
              <a:defRPr/>
            </a:pPr>
            <a:r>
              <a:rPr lang="en-US" altLang="zh-CN" sz="2800" dirty="0"/>
              <a:t>Summary of </a:t>
            </a:r>
            <a:br>
              <a:rPr lang="en-US" altLang="zh-CN" sz="2800" dirty="0"/>
            </a:br>
            <a:r>
              <a:rPr lang="en-US" altLang="zh-CN" sz="2800" dirty="0"/>
              <a:t>Import and Include Mechanisms</a:t>
            </a:r>
          </a:p>
        </p:txBody>
      </p:sp>
      <p:sp>
        <p:nvSpPr>
          <p:cNvPr id="37891" name="灯片编号占位符 3">
            <a:extLst>
              <a:ext uri="{FF2B5EF4-FFF2-40B4-BE49-F238E27FC236}">
                <a16:creationId xmlns:a16="http://schemas.microsoft.com/office/drawing/2014/main" id="{027C9C6D-4816-45C1-A4A3-163DBE3B68C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fld id="{A9022D90-4977-4540-8F84-5CA04C859776}" type="slidenum">
              <a:rPr lang="en-US" altLang="zh-CN" smtClean="0"/>
              <a:pPr/>
              <a:t>40</a:t>
            </a:fld>
            <a:endParaRPr lang="en-US" altLang="zh-CN" sz="1000">
              <a:solidFill>
                <a:srgbClr val="000000"/>
              </a:solidFill>
            </a:endParaRPr>
          </a:p>
        </p:txBody>
      </p:sp>
      <p:graphicFrame>
        <p:nvGraphicFramePr>
          <p:cNvPr id="5" name="内容占位符 4">
            <a:extLst>
              <a:ext uri="{FF2B5EF4-FFF2-40B4-BE49-F238E27FC236}">
                <a16:creationId xmlns:a16="http://schemas.microsoft.com/office/drawing/2014/main" id="{022F02D4-4549-41C6-8857-2955C112607F}"/>
              </a:ext>
            </a:extLst>
          </p:cNvPr>
          <p:cNvGraphicFramePr>
            <a:graphicFrameLocks/>
          </p:cNvGraphicFramePr>
          <p:nvPr>
            <p:extLst>
              <p:ext uri="{D42A27DB-BD31-4B8C-83A1-F6EECF244321}">
                <p14:modId xmlns:p14="http://schemas.microsoft.com/office/powerpoint/2010/main" val="3297307599"/>
              </p:ext>
            </p:extLst>
          </p:nvPr>
        </p:nvGraphicFramePr>
        <p:xfrm>
          <a:off x="304800" y="1196752"/>
          <a:ext cx="8640761" cy="5241972"/>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3023443">
                  <a:extLst>
                    <a:ext uri="{9D8B030D-6E8A-4147-A177-3AD203B41FA5}">
                      <a16:colId xmlns:a16="http://schemas.microsoft.com/office/drawing/2014/main" val="20002"/>
                    </a:ext>
                  </a:extLst>
                </a:gridCol>
                <a:gridCol w="3313062">
                  <a:extLst>
                    <a:ext uri="{9D8B030D-6E8A-4147-A177-3AD203B41FA5}">
                      <a16:colId xmlns:a16="http://schemas.microsoft.com/office/drawing/2014/main" val="20003"/>
                    </a:ext>
                  </a:extLst>
                </a:gridCol>
              </a:tblGrid>
              <a:tr h="304699">
                <a:tc>
                  <a:txBody>
                    <a:bodyPr/>
                    <a:lstStyle/>
                    <a:p>
                      <a:pPr algn="ctr"/>
                      <a:r>
                        <a:rPr lang="en-US" sz="1400" b="0" i="0" dirty="0">
                          <a:solidFill>
                            <a:srgbClr val="000000"/>
                          </a:solidFill>
                        </a:rPr>
                        <a:t>Mechanism</a:t>
                      </a:r>
                    </a:p>
                  </a:txBody>
                  <a:tcPr marL="91438" marR="91438" marT="45671" marB="45671" anchor="ctr"/>
                </a:tc>
                <a:tc>
                  <a:txBody>
                    <a:bodyPr/>
                    <a:lstStyle/>
                    <a:p>
                      <a:pPr algn="ctr"/>
                      <a:r>
                        <a:rPr lang="en-US" sz="1400" b="0" i="0" dirty="0">
                          <a:solidFill>
                            <a:srgbClr val="000000"/>
                          </a:solidFill>
                        </a:rPr>
                        <a:t>Object</a:t>
                      </a:r>
                    </a:p>
                  </a:txBody>
                  <a:tcPr marL="91438" marR="91438" marT="45671" marB="45671" anchor="ctr"/>
                </a:tc>
                <a:tc>
                  <a:txBody>
                    <a:bodyPr/>
                    <a:lstStyle/>
                    <a:p>
                      <a:pPr algn="ctr"/>
                      <a:r>
                        <a:rPr lang="en-US" sz="1400" b="0" i="0" dirty="0">
                          <a:solidFill>
                            <a:srgbClr val="000000"/>
                          </a:solidFill>
                        </a:rPr>
                        <a:t>Meaning</a:t>
                      </a:r>
                    </a:p>
                  </a:txBody>
                  <a:tcPr marL="91438" marR="91438" marT="45671" marB="45671" anchor="ctr"/>
                </a:tc>
                <a:tc>
                  <a:txBody>
                    <a:bodyPr/>
                    <a:lstStyle/>
                    <a:p>
                      <a:pPr algn="ctr"/>
                      <a:r>
                        <a:rPr lang="en-US" sz="1400" b="0" i="0" dirty="0">
                          <a:solidFill>
                            <a:srgbClr val="000000"/>
                          </a:solidFill>
                        </a:rPr>
                        <a:t>Visibility of Schema Components</a:t>
                      </a:r>
                    </a:p>
                  </a:txBody>
                  <a:tcPr marL="91438" marR="91438" marT="45671" marB="45671" anchor="ctr"/>
                </a:tc>
                <a:extLst>
                  <a:ext uri="{0D108BD9-81ED-4DB2-BD59-A6C34878D82A}">
                    <a16:rowId xmlns:a16="http://schemas.microsoft.com/office/drawing/2014/main" val="10000"/>
                  </a:ext>
                </a:extLst>
              </a:tr>
              <a:tr h="944774">
                <a:tc>
                  <a:txBody>
                    <a:bodyPr/>
                    <a:lstStyle/>
                    <a:p>
                      <a:pPr algn="l"/>
                      <a:r>
                        <a:rPr lang="en-US" sz="1400" b="0" i="0" dirty="0" err="1"/>
                        <a:t>wsdl:import</a:t>
                      </a:r>
                      <a:endParaRPr lang="en-US" sz="1400" b="0" i="0" dirty="0"/>
                    </a:p>
                  </a:txBody>
                  <a:tcPr marL="91438" marR="91438" marT="45671" marB="45671" anchor="ctr"/>
                </a:tc>
                <a:tc>
                  <a:txBody>
                    <a:bodyPr/>
                    <a:lstStyle/>
                    <a:p>
                      <a:pPr algn="l"/>
                      <a:r>
                        <a:rPr lang="en-US" sz="1400" b="0" i="0" dirty="0"/>
                        <a:t>WSDL 2.0 Namespace</a:t>
                      </a:r>
                    </a:p>
                  </a:txBody>
                  <a:tcPr marL="91438" marR="91438" marT="45671" marB="45671" anchor="ctr"/>
                </a:tc>
                <a:tc>
                  <a:txBody>
                    <a:bodyPr/>
                    <a:lstStyle/>
                    <a:p>
                      <a:pPr algn="l"/>
                      <a:r>
                        <a:rPr lang="en-US" sz="1400" b="0" i="0" dirty="0"/>
                        <a:t>Declare that WSDL 2.0 components refer to WSDL 2.0 components from a DIFFERENT </a:t>
                      </a:r>
                      <a:r>
                        <a:rPr lang="en-US" sz="1400" b="0" i="0" dirty="0" err="1"/>
                        <a:t>targetNamespace</a:t>
                      </a:r>
                      <a:endParaRPr lang="en-US" sz="1400" b="0" i="0" dirty="0"/>
                    </a:p>
                  </a:txBody>
                  <a:tcPr marL="91438" marR="91438" marT="45671" marB="45671" anchor="ctr"/>
                </a:tc>
                <a:tc>
                  <a:txBody>
                    <a:bodyPr/>
                    <a:lstStyle/>
                    <a:p>
                      <a:pPr algn="l"/>
                      <a:r>
                        <a:rPr lang="en-US" sz="1400" b="0" i="0" dirty="0"/>
                        <a:t>XML Schema Components in the imported </a:t>
                      </a:r>
                      <a:r>
                        <a:rPr lang="en-US" sz="1400" b="0" i="0" dirty="0">
                          <a:hlinkClick r:id="rId3"/>
                        </a:rPr>
                        <a:t>Description</a:t>
                      </a:r>
                      <a:r>
                        <a:rPr lang="en-US" sz="1400" b="0" i="0" dirty="0"/>
                        <a:t> component are </a:t>
                      </a:r>
                      <a:r>
                        <a:rPr lang="en-US" sz="1400" b="0" i="0" dirty="0">
                          <a:solidFill>
                            <a:srgbClr val="FF0000"/>
                          </a:solidFill>
                        </a:rPr>
                        <a:t>NOT</a:t>
                      </a:r>
                      <a:r>
                        <a:rPr lang="en-US" sz="1400" b="0" i="0" dirty="0"/>
                        <a:t> visible to the containing </a:t>
                      </a:r>
                      <a:r>
                        <a:rPr lang="en-US" sz="1400" b="0" i="0" kern="1200" dirty="0">
                          <a:solidFill>
                            <a:schemeClr val="dk1"/>
                          </a:solidFill>
                          <a:latin typeface="+mn-lt"/>
                          <a:ea typeface="+mn-ea"/>
                          <a:cs typeface="+mn-cs"/>
                          <a:hlinkClick r:id="rId3"/>
                        </a:rPr>
                        <a:t>description</a:t>
                      </a:r>
                      <a:endParaRPr lang="en-US" sz="1400" b="0" i="0" dirty="0"/>
                    </a:p>
                  </a:txBody>
                  <a:tcPr marL="91438" marR="91438" marT="45671" marB="45671" anchor="ctr"/>
                </a:tc>
                <a:extLst>
                  <a:ext uri="{0D108BD9-81ED-4DB2-BD59-A6C34878D82A}">
                    <a16:rowId xmlns:a16="http://schemas.microsoft.com/office/drawing/2014/main" val="10001"/>
                  </a:ext>
                </a:extLst>
              </a:tr>
              <a:tr h="1158132">
                <a:tc>
                  <a:txBody>
                    <a:bodyPr/>
                    <a:lstStyle/>
                    <a:p>
                      <a:pPr algn="l"/>
                      <a:r>
                        <a:rPr lang="en-US" sz="1400" b="0" i="0" dirty="0" err="1"/>
                        <a:t>wsdl:include</a:t>
                      </a:r>
                      <a:endParaRPr lang="en-US" sz="1400" b="0" i="0" dirty="0"/>
                    </a:p>
                  </a:txBody>
                  <a:tcPr marL="91438" marR="91438" marT="45671" marB="45671" anchor="ctr"/>
                </a:tc>
                <a:tc>
                  <a:txBody>
                    <a:bodyPr/>
                    <a:lstStyle/>
                    <a:p>
                      <a:pPr algn="l"/>
                      <a:r>
                        <a:rPr lang="en-US" sz="1400" b="0" i="0"/>
                        <a:t>WSDL 2.0 Document</a:t>
                      </a:r>
                    </a:p>
                  </a:txBody>
                  <a:tcPr marL="91438" marR="91438" marT="45671" marB="45671" anchor="ctr"/>
                </a:tc>
                <a:tc>
                  <a:txBody>
                    <a:bodyPr/>
                    <a:lstStyle/>
                    <a:p>
                      <a:pPr algn="l"/>
                      <a:r>
                        <a:rPr lang="en-US" sz="1400" b="0" i="0" dirty="0"/>
                        <a:t>Merge Interface, Binding and Service components from another WSDL 2.0 document that has the SAME </a:t>
                      </a:r>
                      <a:r>
                        <a:rPr lang="en-US" sz="1400" b="0" i="0" dirty="0" err="1"/>
                        <a:t>targetNamespace</a:t>
                      </a:r>
                      <a:endParaRPr lang="en-US" sz="1400" b="0" i="0" dirty="0"/>
                    </a:p>
                  </a:txBody>
                  <a:tcPr marL="91438" marR="91438" marT="45671" marB="45671" anchor="ctr"/>
                </a:tc>
                <a:tc>
                  <a:txBody>
                    <a:bodyPr/>
                    <a:lstStyle/>
                    <a:p>
                      <a:pPr algn="l"/>
                      <a:r>
                        <a:rPr lang="en-US" sz="1400" b="0" i="0" dirty="0"/>
                        <a:t>XML Schema components in the included </a:t>
                      </a:r>
                      <a:r>
                        <a:rPr lang="en-US" sz="1400" b="0" i="0" dirty="0">
                          <a:hlinkClick r:id="rId3"/>
                        </a:rPr>
                        <a:t>Description</a:t>
                      </a:r>
                      <a:r>
                        <a:rPr lang="en-US" sz="1400" b="0" i="0" dirty="0"/>
                        <a:t> component's {</a:t>
                      </a:r>
                      <a:r>
                        <a:rPr lang="en-US" sz="1400" b="0" i="0" dirty="0">
                          <a:hlinkClick r:id="rId3"/>
                        </a:rPr>
                        <a:t>element declarations</a:t>
                      </a:r>
                      <a:r>
                        <a:rPr lang="en-US" sz="1400" b="0" i="0" dirty="0"/>
                        <a:t>} and {</a:t>
                      </a:r>
                      <a:r>
                        <a:rPr lang="en-US" sz="1400" b="0" i="0" dirty="0">
                          <a:hlinkClick r:id="rId3"/>
                        </a:rPr>
                        <a:t>type definitions</a:t>
                      </a:r>
                      <a:r>
                        <a:rPr lang="en-US" sz="1400" b="0" i="0" dirty="0"/>
                        <a:t>} properties are visible to the containing </a:t>
                      </a:r>
                      <a:r>
                        <a:rPr lang="en-US" sz="1400" b="0" i="0" kern="1200" dirty="0">
                          <a:solidFill>
                            <a:schemeClr val="dk1"/>
                          </a:solidFill>
                          <a:latin typeface="+mn-lt"/>
                          <a:ea typeface="+mn-ea"/>
                          <a:cs typeface="+mn-cs"/>
                          <a:hlinkClick r:id="rId3"/>
                        </a:rPr>
                        <a:t>description</a:t>
                      </a:r>
                      <a:endParaRPr lang="en-US" sz="1400" b="0" i="0" dirty="0"/>
                    </a:p>
                  </a:txBody>
                  <a:tcPr marL="91438" marR="91438" marT="45671" marB="45671" anchor="ctr"/>
                </a:tc>
                <a:extLst>
                  <a:ext uri="{0D108BD9-81ED-4DB2-BD59-A6C34878D82A}">
                    <a16:rowId xmlns:a16="http://schemas.microsoft.com/office/drawing/2014/main" val="10002"/>
                  </a:ext>
                </a:extLst>
              </a:tr>
              <a:tr h="944774">
                <a:tc>
                  <a:txBody>
                    <a:bodyPr/>
                    <a:lstStyle/>
                    <a:p>
                      <a:pPr algn="l"/>
                      <a:r>
                        <a:rPr lang="en-US" sz="1400" b="0" i="0"/>
                        <a:t>wsdl:types/ xs:import</a:t>
                      </a:r>
                    </a:p>
                  </a:txBody>
                  <a:tcPr marL="91438" marR="91438" marT="45671" marB="45671" anchor="ctr"/>
                </a:tc>
                <a:tc>
                  <a:txBody>
                    <a:bodyPr/>
                    <a:lstStyle/>
                    <a:p>
                      <a:pPr algn="l"/>
                      <a:r>
                        <a:rPr lang="en-US" sz="1400" b="0" i="0"/>
                        <a:t>XML Schema Namespace</a:t>
                      </a:r>
                    </a:p>
                  </a:txBody>
                  <a:tcPr marL="91438" marR="91438" marT="45671" marB="45671" anchor="ctr"/>
                </a:tc>
                <a:tc>
                  <a:txBody>
                    <a:bodyPr/>
                    <a:lstStyle/>
                    <a:p>
                      <a:pPr algn="l"/>
                      <a:r>
                        <a:rPr lang="en-US" sz="1400" b="0" i="0" dirty="0"/>
                        <a:t>Declare that XML Schema components refer to XML Schema components from a DIFFERENT </a:t>
                      </a:r>
                      <a:r>
                        <a:rPr lang="en-US" sz="1400" b="0" i="0" dirty="0" err="1"/>
                        <a:t>targetNamespace</a:t>
                      </a:r>
                      <a:endParaRPr lang="en-US" sz="1400" b="0" i="0" dirty="0"/>
                    </a:p>
                  </a:txBody>
                  <a:tcPr marL="91438" marR="91438" marT="45671" marB="45671" anchor="ctr"/>
                </a:tc>
                <a:tc>
                  <a:txBody>
                    <a:bodyPr/>
                    <a:lstStyle/>
                    <a:p>
                      <a:pPr algn="l"/>
                      <a:r>
                        <a:rPr lang="en-US" sz="1400" b="0" i="0" dirty="0"/>
                        <a:t>XML Schema components in the imported namespace are visible to the containing </a:t>
                      </a:r>
                      <a:r>
                        <a:rPr lang="en-US" sz="1400" b="0" i="0" kern="1200" dirty="0">
                          <a:solidFill>
                            <a:schemeClr val="dk1"/>
                          </a:solidFill>
                          <a:latin typeface="+mn-lt"/>
                          <a:ea typeface="+mn-ea"/>
                          <a:cs typeface="+mn-cs"/>
                          <a:hlinkClick r:id="rId3"/>
                        </a:rPr>
                        <a:t>description</a:t>
                      </a:r>
                      <a:endParaRPr lang="en-US" sz="1400" b="0" i="0" dirty="0"/>
                    </a:p>
                  </a:txBody>
                  <a:tcPr marL="91438" marR="91438" marT="45671" marB="45671" anchor="ctr"/>
                </a:tc>
                <a:extLst>
                  <a:ext uri="{0D108BD9-81ED-4DB2-BD59-A6C34878D82A}">
                    <a16:rowId xmlns:a16="http://schemas.microsoft.com/office/drawing/2014/main" val="10003"/>
                  </a:ext>
                </a:extLst>
              </a:tr>
              <a:tr h="944774">
                <a:tc>
                  <a:txBody>
                    <a:bodyPr/>
                    <a:lstStyle/>
                    <a:p>
                      <a:pPr algn="l"/>
                      <a:r>
                        <a:rPr lang="en-US" sz="1400" b="0" i="0"/>
                        <a:t>wsdl:types/ xs:schema/xs:import</a:t>
                      </a:r>
                    </a:p>
                  </a:txBody>
                  <a:tcPr marL="91438" marR="91438" marT="45671" marB="45671" anchor="ctr"/>
                </a:tc>
                <a:tc>
                  <a:txBody>
                    <a:bodyPr/>
                    <a:lstStyle/>
                    <a:p>
                      <a:pPr algn="l"/>
                      <a:r>
                        <a:rPr lang="en-US" sz="1400" b="0" i="0"/>
                        <a:t>XML Schema Namespace</a:t>
                      </a:r>
                    </a:p>
                  </a:txBody>
                  <a:tcPr marL="91438" marR="91438" marT="45671" marB="45671" anchor="ctr"/>
                </a:tc>
                <a:tc>
                  <a:txBody>
                    <a:bodyPr/>
                    <a:lstStyle/>
                    <a:p>
                      <a:pPr algn="l"/>
                      <a:r>
                        <a:rPr lang="en-US" sz="1400" b="0" i="0" dirty="0"/>
                        <a:t>Declare that XML Schema components refer to XML Schema components from a DIFFERENT </a:t>
                      </a:r>
                      <a:r>
                        <a:rPr lang="en-US" sz="1400" b="0" i="0" dirty="0" err="1"/>
                        <a:t>targetNamespace</a:t>
                      </a:r>
                      <a:endParaRPr lang="en-US" sz="1400" b="0" i="0" dirty="0"/>
                    </a:p>
                  </a:txBody>
                  <a:tcPr marL="91438" marR="91438" marT="45671" marB="45671" anchor="ctr"/>
                </a:tc>
                <a:tc>
                  <a:txBody>
                    <a:bodyPr/>
                    <a:lstStyle/>
                    <a:p>
                      <a:pPr algn="l"/>
                      <a:r>
                        <a:rPr lang="en-US" sz="1400" b="0" i="0" dirty="0"/>
                        <a:t>XML Schema components in the imported namespace are NOT visible to the containing </a:t>
                      </a:r>
                      <a:r>
                        <a:rPr lang="en-US" sz="1400" b="0" i="0" kern="1200" dirty="0">
                          <a:solidFill>
                            <a:schemeClr val="dk1"/>
                          </a:solidFill>
                          <a:latin typeface="+mn-lt"/>
                          <a:ea typeface="+mn-ea"/>
                          <a:cs typeface="+mn-cs"/>
                          <a:hlinkClick r:id="rId3"/>
                        </a:rPr>
                        <a:t>description</a:t>
                      </a:r>
                      <a:endParaRPr lang="en-US" sz="1400" b="0" i="0" dirty="0"/>
                    </a:p>
                  </a:txBody>
                  <a:tcPr marL="91438" marR="91438" marT="45671" marB="45671" anchor="ctr"/>
                </a:tc>
                <a:extLst>
                  <a:ext uri="{0D108BD9-81ED-4DB2-BD59-A6C34878D82A}">
                    <a16:rowId xmlns:a16="http://schemas.microsoft.com/office/drawing/2014/main" val="10004"/>
                  </a:ext>
                </a:extLst>
              </a:tr>
              <a:tr h="944774">
                <a:tc>
                  <a:txBody>
                    <a:bodyPr/>
                    <a:lstStyle/>
                    <a:p>
                      <a:pPr algn="l"/>
                      <a:r>
                        <a:rPr lang="en-US" sz="1400" b="0" i="0"/>
                        <a:t>wsdl:types/ xs:schema/xs:include</a:t>
                      </a:r>
                    </a:p>
                  </a:txBody>
                  <a:tcPr marL="91438" marR="91438" marT="45671" marB="45671" anchor="ctr"/>
                </a:tc>
                <a:tc>
                  <a:txBody>
                    <a:bodyPr/>
                    <a:lstStyle/>
                    <a:p>
                      <a:pPr algn="l"/>
                      <a:r>
                        <a:rPr lang="en-US" sz="1400" b="0" i="0"/>
                        <a:t>XML Schema Document</a:t>
                      </a:r>
                    </a:p>
                  </a:txBody>
                  <a:tcPr marL="91438" marR="91438" marT="45671" marB="45671" anchor="ctr"/>
                </a:tc>
                <a:tc>
                  <a:txBody>
                    <a:bodyPr/>
                    <a:lstStyle/>
                    <a:p>
                      <a:pPr algn="l"/>
                      <a:r>
                        <a:rPr lang="en-US" sz="1400" b="0" i="0" dirty="0"/>
                        <a:t>Merge XML Schema components from another XML Schema document that has the SAME or NO </a:t>
                      </a:r>
                      <a:r>
                        <a:rPr lang="en-US" sz="1400" b="0" i="0" dirty="0" err="1"/>
                        <a:t>targetNamespace</a:t>
                      </a:r>
                      <a:endParaRPr lang="en-US" sz="1400" b="0" i="0" dirty="0"/>
                    </a:p>
                  </a:txBody>
                  <a:tcPr marL="91438" marR="91438" marT="45671" marB="45671" anchor="ctr"/>
                </a:tc>
                <a:tc>
                  <a:txBody>
                    <a:bodyPr/>
                    <a:lstStyle/>
                    <a:p>
                      <a:pPr algn="l"/>
                      <a:r>
                        <a:rPr lang="en-US" sz="1400" b="0" i="0" dirty="0"/>
                        <a:t>XML Schema components in the included document are visible to the containing </a:t>
                      </a:r>
                      <a:r>
                        <a:rPr lang="en-US" sz="1400" b="0" i="0" kern="1200" dirty="0">
                          <a:solidFill>
                            <a:schemeClr val="dk1"/>
                          </a:solidFill>
                          <a:latin typeface="+mn-lt"/>
                          <a:ea typeface="+mn-ea"/>
                          <a:cs typeface="+mn-cs"/>
                          <a:hlinkClick r:id="rId3"/>
                        </a:rPr>
                        <a:t>description</a:t>
                      </a:r>
                      <a:endParaRPr lang="en-US" sz="1400" b="0" i="0" dirty="0"/>
                    </a:p>
                  </a:txBody>
                  <a:tcPr marL="91438" marR="91438" marT="45671" marB="45671" anchor="ctr"/>
                </a:tc>
                <a:extLst>
                  <a:ext uri="{0D108BD9-81ED-4DB2-BD59-A6C34878D82A}">
                    <a16:rowId xmlns:a16="http://schemas.microsoft.com/office/drawing/2014/main" val="10005"/>
                  </a:ext>
                </a:extLst>
              </a:tr>
            </a:tbl>
          </a:graphicData>
        </a:graphic>
      </p:graphicFrame>
    </p:spTree>
  </p:cSld>
  <p:clrMapOvr>
    <a:masterClrMapping/>
  </p:clrMapOvr>
  <p:transition/>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17285</TotalTime>
  <Words>5631</Words>
  <Application>Microsoft Office PowerPoint</Application>
  <PresentationFormat>全屏显示(4:3)</PresentationFormat>
  <Paragraphs>558</Paragraphs>
  <Slides>40</Slides>
  <Notes>37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40</vt:i4>
      </vt:variant>
    </vt:vector>
  </HeadingPairs>
  <TitlesOfParts>
    <vt:vector size="44" baseType="lpstr">
      <vt:lpstr>Arial</vt:lpstr>
      <vt:lpstr>Verdana</vt:lpstr>
      <vt:lpstr>Wingdings</vt:lpstr>
      <vt:lpstr>software</vt:lpstr>
      <vt:lpstr>WSDL InfoSet &amp; Component Model  Service-Oriented Software Engineering</vt:lpstr>
      <vt:lpstr>WSDL 2.0 Infoset (1/2)</vt:lpstr>
      <vt:lpstr>WSDL 2.0 Infoset (2/2)</vt:lpstr>
      <vt:lpstr>WSDL 2.0 Schema</vt:lpstr>
      <vt:lpstr>WSDL 2.0 Element Ordering</vt:lpstr>
      <vt:lpstr>WSDL 2.0 Component Model (1/3)</vt:lpstr>
      <vt:lpstr>WSDL 2.0 Component Model (2/3)</vt:lpstr>
      <vt:lpstr>WSDL 2.0 Component Model (3/3)</vt:lpstr>
      <vt:lpstr>Importing WSDL</vt:lpstr>
      <vt:lpstr>WSDL 2.0 Import and Include (1/3)</vt:lpstr>
      <vt:lpstr>WSDL 2.0 Import and Include (2/3)</vt:lpstr>
      <vt:lpstr>WSDL 2.0 Import and Include (3/3)</vt:lpstr>
      <vt:lpstr>WSDL that defines faults (1/2)</vt:lpstr>
      <vt:lpstr>WSDL that defines faults (2/2)</vt:lpstr>
      <vt:lpstr>Importing WSDL Sample (1/3)</vt:lpstr>
      <vt:lpstr>Importing WSDL Sample (2/3)</vt:lpstr>
      <vt:lpstr>Importing WSDL Sample (3/3)</vt:lpstr>
      <vt:lpstr>Message Types</vt:lpstr>
      <vt:lpstr>Inlining XML Schema</vt:lpstr>
      <vt:lpstr>Importing XML Schema  under types (1/2)</vt:lpstr>
      <vt:lpstr>Importing XML Schema  under types (2/2)</vt:lpstr>
      <vt:lpstr>xs:import in Inlined XML Schema (1/2)</vt:lpstr>
      <vt:lpstr>xs:import in Inlined XML Schema (2/2)</vt:lpstr>
      <vt:lpstr>xs:include in Inlined XML Schema (1/2)</vt:lpstr>
      <vt:lpstr>xs:include in Inlined XML Schema (2/2)</vt:lpstr>
      <vt:lpstr>Schemas in Imported Documents</vt:lpstr>
      <vt:lpstr>Retrieve Service (1/2)</vt:lpstr>
      <vt:lpstr>Retrieve Service (2/2)</vt:lpstr>
      <vt:lpstr>Update Service (1/2)</vt:lpstr>
      <vt:lpstr>Update Service (2/2)</vt:lpstr>
      <vt:lpstr>Best Practice</vt:lpstr>
      <vt:lpstr>Multiple Inline Schemas in One Document (1/4)</vt:lpstr>
      <vt:lpstr>Multiple Inline Schemas in One Document (2/4)</vt:lpstr>
      <vt:lpstr>Multiple Inline Schemas in One Document (3/4)</vt:lpstr>
      <vt:lpstr>Multiple Inline Schemas in One Document (4/4)</vt:lpstr>
      <vt:lpstr>The schemaLocation Attribute</vt:lpstr>
      <vt:lpstr>Using the id Attribute to  Identify Inline Schemas (1/3)</vt:lpstr>
      <vt:lpstr>Using the id Attribute to  Identify Inline Schemas (2/3)</vt:lpstr>
      <vt:lpstr>Using the id Attribute to  Identify Inline Schemas (3/3)</vt:lpstr>
      <vt:lpstr>Summary of  Import and Include Mechanisms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253</cp:revision>
  <dcterms:created xsi:type="dcterms:W3CDTF">2008-04-16T11:36:22Z</dcterms:created>
  <dcterms:modified xsi:type="dcterms:W3CDTF">2023-10-19T04:59:29Z</dcterms:modified>
</cp:coreProperties>
</file>