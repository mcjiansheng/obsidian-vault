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33"/>
  </p:notesMasterIdLst>
  <p:sldIdLst>
    <p:sldId id="256" r:id="rId2"/>
    <p:sldId id="337" r:id="rId3"/>
    <p:sldId id="340" r:id="rId4"/>
    <p:sldId id="342" r:id="rId5"/>
    <p:sldId id="343" r:id="rId6"/>
    <p:sldId id="490" r:id="rId7"/>
    <p:sldId id="344" r:id="rId8"/>
    <p:sldId id="345" r:id="rId9"/>
    <p:sldId id="460" r:id="rId10"/>
    <p:sldId id="496" r:id="rId11"/>
    <p:sldId id="498" r:id="rId12"/>
    <p:sldId id="491" r:id="rId13"/>
    <p:sldId id="492" r:id="rId14"/>
    <p:sldId id="493" r:id="rId15"/>
    <p:sldId id="494" r:id="rId16"/>
    <p:sldId id="495" r:id="rId17"/>
    <p:sldId id="354" r:id="rId18"/>
    <p:sldId id="355" r:id="rId19"/>
    <p:sldId id="358" r:id="rId20"/>
    <p:sldId id="359" r:id="rId21"/>
    <p:sldId id="360" r:id="rId22"/>
    <p:sldId id="361" r:id="rId23"/>
    <p:sldId id="362" r:id="rId24"/>
    <p:sldId id="463" r:id="rId25"/>
    <p:sldId id="364" r:id="rId26"/>
    <p:sldId id="499" r:id="rId27"/>
    <p:sldId id="365" r:id="rId28"/>
    <p:sldId id="367" r:id="rId29"/>
    <p:sldId id="368" r:id="rId30"/>
    <p:sldId id="465" r:id="rId31"/>
    <p:sldId id="369" r:id="rId3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3" autoAdjust="0"/>
    <p:restoredTop sz="94639" autoAdjust="0"/>
  </p:normalViewPr>
  <p:slideViewPr>
    <p:cSldViewPr>
      <p:cViewPr varScale="1">
        <p:scale>
          <a:sx n="109" d="100"/>
          <a:sy n="109" d="100"/>
        </p:scale>
        <p:origin x="1749"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2262B14-ADD9-4EF4-8894-95364EC9DDD0}" type="slidenum">
              <a:rPr lang="en-US" altLang="zh-CN"/>
              <a:pPr>
                <a:defRPr/>
              </a:pPr>
              <a:t>‹#›</a:t>
            </a:fld>
            <a:endParaRPr lang="en-US" altLang="zh-CN"/>
          </a:p>
        </p:txBody>
      </p:sp>
    </p:spTree>
    <p:extLst>
      <p:ext uri="{BB962C8B-B14F-4D97-AF65-F5344CB8AC3E}">
        <p14:creationId xmlns:p14="http://schemas.microsoft.com/office/powerpoint/2010/main" val="1346057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73E74F-837B-4786-B3B6-E0D8EFDAEAC0}" type="slidenum">
              <a:rPr lang="en-US" altLang="zh-CN" smtClean="0"/>
              <a:pPr eaLnBrk="1" hangingPunct="1"/>
              <a:t>1</a:t>
            </a:fld>
            <a:endParaRPr lang="en-US" altLang="zh-CN"/>
          </a:p>
        </p:txBody>
      </p:sp>
    </p:spTree>
    <p:extLst>
      <p:ext uri="{BB962C8B-B14F-4D97-AF65-F5344CB8AC3E}">
        <p14:creationId xmlns:p14="http://schemas.microsoft.com/office/powerpoint/2010/main" val="396052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4E4996A6-902F-46D4-998E-4834A595C77F}"/>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3B8CD37E-D0D8-41F5-B61C-6E6F1C651F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889C0C67-A6AE-4974-8524-4B7006ED22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9F44EFB-3D51-487A-B40B-2D4B1D3BFE93}" type="slidenum">
              <a:rPr lang="en-US" altLang="zh-CN"/>
              <a:pPr>
                <a:spcBef>
                  <a:spcPct val="0"/>
                </a:spcBef>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B4AE41E7-3259-44E9-8298-B957B89A1CF5}"/>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CDD15D3A-02E5-4850-A09E-FB7DD47BAD1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3352441C-1050-4A70-A2E6-D750E88613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39678D-5D27-411C-B1CE-73F008C3B64B}" type="slidenum">
              <a:rPr lang="en-US" altLang="zh-CN"/>
              <a:pPr>
                <a:spcBef>
                  <a:spcPct val="0"/>
                </a:spcBef>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E825A359-CE7F-4CF6-95B6-A57C50F36CD8}"/>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97915121-4672-43BE-A026-2CF7BB18D43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42142D67-73B9-4230-A112-1224B0DC61E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A721FA4-DAA4-4DF0-A0D1-5D251692228F}" type="slidenum">
              <a:rPr lang="en-US" altLang="zh-CN"/>
              <a:pPr>
                <a:spcBef>
                  <a:spcPct val="0"/>
                </a:spcBef>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76CD76F5-E83A-42A5-B80E-CA8A6F46A4C5}"/>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8F6B6A1A-4269-44FA-BCCA-3ABDB64B83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A035F040-304E-4AA8-BB08-AD4C880661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946E147-B94B-43B4-80A3-D9D8AE10DB53}" type="slidenum">
              <a:rPr lang="en-US" altLang="zh-CN"/>
              <a:pPr>
                <a:spcBef>
                  <a:spcPct val="0"/>
                </a:spcBef>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ECD747E8-DD84-45D8-B7FF-87D1D31A6A9C}"/>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D03FCF40-EE7E-461F-906B-E320EF5EB6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18AF78EC-B819-417B-9652-AA16D2DB8CD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8229E6-C7D2-4657-A53A-05B75624AFAC}" type="slidenum">
              <a:rPr lang="en-US" altLang="zh-CN"/>
              <a:pPr>
                <a:spcBef>
                  <a:spcPct val="0"/>
                </a:spcBef>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DE844FA1-84F7-4658-84E0-E3119CB0F504}"/>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B6871B7E-D89B-4A68-8025-B56681E560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DC42ACB5-93A7-4659-933C-224A2D15F6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B48EA6-F5AF-43B1-BA92-EC3CE4987126}" type="slidenum">
              <a:rPr lang="en-US" altLang="zh-CN"/>
              <a:pPr>
                <a:spcBef>
                  <a:spcPct val="0"/>
                </a:spcBef>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D914961B-441B-467A-8159-6001F3ED15BB}"/>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FC8F670B-F676-486A-A4F1-AD622A8EA8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610D97B0-302E-4552-B52F-C78CE71B92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4E546E4-C3EF-4C56-A305-B5ED490909BC}" type="slidenum">
              <a:rPr lang="en-US" altLang="zh-CN"/>
              <a:pPr>
                <a:spcBef>
                  <a:spcPct val="0"/>
                </a:spcBef>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E9BC5D37-A7C5-428B-B46A-D10BD1EF9DD5}"/>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3491C8E7-2414-4A81-BC28-D1911D831B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F94458FF-AC32-40BE-9A22-31D4C94FAB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A2D209F-AA95-498D-83EB-74967CF68086}" type="slidenum">
              <a:rPr lang="en-US" altLang="zh-CN"/>
              <a:pPr>
                <a:spcBef>
                  <a:spcPct val="0"/>
                </a:spcBef>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6A972E95-2E00-4975-A9A7-B2EBCB0A7DAE}"/>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0F8493FC-006F-4B4C-A352-9DF33179E71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C5D66A60-2394-4528-8591-206B02CA03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FE3132D-22FF-4DEC-B9DB-0795AA05A027}" type="slidenum">
              <a:rPr lang="en-US" altLang="zh-CN"/>
              <a:pPr>
                <a:spcBef>
                  <a:spcPct val="0"/>
                </a:spcBef>
              </a:pPr>
              <a:t>10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B4F2CCE2-C9AF-4C68-AC67-5AA049BED13E}"/>
              </a:ext>
            </a:extLst>
          </p:cNvPr>
          <p:cNvSpPr>
            <a:spLocks noGrp="1" noRot="1" noChangeAspect="1" noTextEdit="1"/>
          </p:cNvSpPr>
          <p:nvPr>
            <p:ph type="sldImg"/>
          </p:nvPr>
        </p:nvSpPr>
        <p:spPr>
          <a:ln/>
        </p:spPr>
      </p:sp>
      <p:sp>
        <p:nvSpPr>
          <p:cNvPr id="40963" name="备注占位符 2">
            <a:extLst>
              <a:ext uri="{FF2B5EF4-FFF2-40B4-BE49-F238E27FC236}">
                <a16:creationId xmlns:a16="http://schemas.microsoft.com/office/drawing/2014/main" id="{8701D2E7-4792-4438-B919-6428D8A4BEA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0964" name="灯片编号占位符 3">
            <a:extLst>
              <a:ext uri="{FF2B5EF4-FFF2-40B4-BE49-F238E27FC236}">
                <a16:creationId xmlns:a16="http://schemas.microsoft.com/office/drawing/2014/main" id="{7D94173E-BDBF-446D-A435-1A3ECFBD4E7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353054B-CD82-4125-82E4-A7E82AF898B9}" type="slidenum">
              <a:rPr lang="en-US" altLang="zh-CN"/>
              <a:pPr>
                <a:spcBef>
                  <a:spcPct val="0"/>
                </a:spcBef>
              </a:pPr>
              <a:t>11</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D515C552-B955-4781-95A9-0ACB41EF9530}"/>
              </a:ext>
            </a:extLst>
          </p:cNvPr>
          <p:cNvSpPr>
            <a:spLocks noGrp="1" noRot="1" noChangeAspect="1" noTextEdit="1"/>
          </p:cNvSpPr>
          <p:nvPr>
            <p:ph type="sldImg"/>
          </p:nvPr>
        </p:nvSpPr>
        <p:spPr>
          <a:ln/>
        </p:spPr>
      </p:sp>
      <p:sp>
        <p:nvSpPr>
          <p:cNvPr id="43011" name="备注占位符 2">
            <a:extLst>
              <a:ext uri="{FF2B5EF4-FFF2-40B4-BE49-F238E27FC236}">
                <a16:creationId xmlns:a16="http://schemas.microsoft.com/office/drawing/2014/main" id="{043BEA06-4DD3-45DF-8552-2027ABE655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3012" name="灯片编号占位符 3">
            <a:extLst>
              <a:ext uri="{FF2B5EF4-FFF2-40B4-BE49-F238E27FC236}">
                <a16:creationId xmlns:a16="http://schemas.microsoft.com/office/drawing/2014/main" id="{31CBC552-A6D4-4E73-BDA3-BEB110C00B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B91CF0-0860-4C88-8C36-41DE1DB82106}" type="slidenum">
              <a:rPr lang="en-US" altLang="zh-CN"/>
              <a:pPr>
                <a:spcBef>
                  <a:spcPct val="0"/>
                </a:spcBef>
              </a:pPr>
              <a:t>12</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659D28DA-8B24-4057-9D1F-2448A5641F67}"/>
              </a:ext>
            </a:extLst>
          </p:cNvPr>
          <p:cNvSpPr>
            <a:spLocks noGrp="1" noRot="1" noChangeAspect="1" noTextEdit="1"/>
          </p:cNvSpPr>
          <p:nvPr>
            <p:ph type="sldImg"/>
          </p:nvPr>
        </p:nvSpPr>
        <p:spPr>
          <a:ln/>
        </p:spPr>
      </p:sp>
      <p:sp>
        <p:nvSpPr>
          <p:cNvPr id="45059" name="备注占位符 2">
            <a:extLst>
              <a:ext uri="{FF2B5EF4-FFF2-40B4-BE49-F238E27FC236}">
                <a16:creationId xmlns:a16="http://schemas.microsoft.com/office/drawing/2014/main" id="{5E837363-3EA3-4C2F-9B01-E3C1133FDF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5060" name="灯片编号占位符 3">
            <a:extLst>
              <a:ext uri="{FF2B5EF4-FFF2-40B4-BE49-F238E27FC236}">
                <a16:creationId xmlns:a16="http://schemas.microsoft.com/office/drawing/2014/main" id="{2C5BC190-662E-401B-AFB9-36E234A6FB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FB19E14-2FC6-4FEB-A240-25C1053F2BBE}" type="slidenum">
              <a:rPr lang="en-US" altLang="zh-CN"/>
              <a:pPr>
                <a:spcBef>
                  <a:spcPct val="0"/>
                </a:spcBef>
              </a:pPr>
              <a:t>13</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4FABC77A-C390-49E9-BA31-0E688C175E8A}"/>
              </a:ext>
            </a:extLst>
          </p:cNvPr>
          <p:cNvSpPr>
            <a:spLocks noGrp="1" noRot="1" noChangeAspect="1" noTextEdit="1"/>
          </p:cNvSpPr>
          <p:nvPr>
            <p:ph type="sldImg"/>
          </p:nvPr>
        </p:nvSpPr>
        <p:spPr>
          <a:ln/>
        </p:spPr>
      </p:sp>
      <p:sp>
        <p:nvSpPr>
          <p:cNvPr id="47107" name="备注占位符 2">
            <a:extLst>
              <a:ext uri="{FF2B5EF4-FFF2-40B4-BE49-F238E27FC236}">
                <a16:creationId xmlns:a16="http://schemas.microsoft.com/office/drawing/2014/main" id="{BD92A2AD-448E-4DA3-B0BC-DA294AFE51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7108" name="灯片编号占位符 3">
            <a:extLst>
              <a:ext uri="{FF2B5EF4-FFF2-40B4-BE49-F238E27FC236}">
                <a16:creationId xmlns:a16="http://schemas.microsoft.com/office/drawing/2014/main" id="{56BA0186-6D37-49A9-AB00-45BA7538A2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BFCA01-B63E-4431-A828-02CE79094E87}" type="slidenum">
              <a:rPr lang="en-US" altLang="zh-CN"/>
              <a:pPr>
                <a:spcBef>
                  <a:spcPct val="0"/>
                </a:spcBef>
              </a:pPr>
              <a:t>14</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429F5A84-EA90-42AB-AD3F-8A00D439603D}"/>
              </a:ext>
            </a:extLst>
          </p:cNvPr>
          <p:cNvSpPr>
            <a:spLocks noGrp="1" noRot="1" noChangeAspect="1" noTextEdit="1"/>
          </p:cNvSpPr>
          <p:nvPr>
            <p:ph type="sldImg"/>
          </p:nvPr>
        </p:nvSpPr>
        <p:spPr>
          <a:ln/>
        </p:spPr>
      </p:sp>
      <p:sp>
        <p:nvSpPr>
          <p:cNvPr id="49155" name="备注占位符 2">
            <a:extLst>
              <a:ext uri="{FF2B5EF4-FFF2-40B4-BE49-F238E27FC236}">
                <a16:creationId xmlns:a16="http://schemas.microsoft.com/office/drawing/2014/main" id="{A9E07A91-E744-4033-BF01-B1BD617949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9156" name="灯片编号占位符 3">
            <a:extLst>
              <a:ext uri="{FF2B5EF4-FFF2-40B4-BE49-F238E27FC236}">
                <a16:creationId xmlns:a16="http://schemas.microsoft.com/office/drawing/2014/main" id="{31C7636C-3F7C-42F8-8ED6-5264AC2CACE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08F1D78-FB37-4FDF-91AE-D0D1E1CB4FF0}" type="slidenum">
              <a:rPr lang="en-US" altLang="zh-CN"/>
              <a:pPr>
                <a:spcBef>
                  <a:spcPct val="0"/>
                </a:spcBef>
              </a:pPr>
              <a:t>15</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A55944C1-1EDA-4B6F-A027-BC1E4FEB647F}"/>
              </a:ext>
            </a:extLst>
          </p:cNvPr>
          <p:cNvSpPr>
            <a:spLocks noGrp="1" noRot="1" noChangeAspect="1" noTextEdit="1"/>
          </p:cNvSpPr>
          <p:nvPr>
            <p:ph type="sldImg"/>
          </p:nvPr>
        </p:nvSpPr>
        <p:spPr>
          <a:ln/>
        </p:spPr>
      </p:sp>
      <p:sp>
        <p:nvSpPr>
          <p:cNvPr id="51203" name="备注占位符 2">
            <a:extLst>
              <a:ext uri="{FF2B5EF4-FFF2-40B4-BE49-F238E27FC236}">
                <a16:creationId xmlns:a16="http://schemas.microsoft.com/office/drawing/2014/main" id="{A2D82233-2CC8-4563-8F67-C5BEEFA56E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1204" name="灯片编号占位符 3">
            <a:extLst>
              <a:ext uri="{FF2B5EF4-FFF2-40B4-BE49-F238E27FC236}">
                <a16:creationId xmlns:a16="http://schemas.microsoft.com/office/drawing/2014/main" id="{D8F00228-3B75-49DD-8AD3-2435307586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BCC1D0B-BEBD-4F4E-8AA1-DE3E9F626392}" type="slidenum">
              <a:rPr lang="en-US" altLang="zh-CN"/>
              <a:pPr>
                <a:spcBef>
                  <a:spcPct val="0"/>
                </a:spcBef>
              </a:pPr>
              <a:t>16</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D95364C6-DE1F-4D3C-AB86-A429B584097D}"/>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7C6B896F-280E-4650-AF5F-D64BA44FAA2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88FBC325-CE48-4741-A073-DB4A2E983C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BE187ED-076F-456D-A205-3967630C4599}" type="slidenum">
              <a:rPr lang="en-US" altLang="zh-CN"/>
              <a:pPr>
                <a:spcBef>
                  <a:spcPct val="0"/>
                </a:spcBef>
              </a:pPr>
              <a:t>17</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6958728A-B0EE-45AE-BC98-70BBAC88D730}"/>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B3BFD08C-008C-4384-A772-8DC8045348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3373BDA4-04EB-4DE2-BCB6-1B468AC3F5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A30CBCF-C6F1-46A8-8C58-EEB34403C62E}" type="slidenum">
              <a:rPr lang="en-US" altLang="zh-CN"/>
              <a:pPr>
                <a:spcBef>
                  <a:spcPct val="0"/>
                </a:spcBef>
              </a:pPr>
              <a:t>18</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F6DFF57D-E6D1-4354-A5F6-68FA993EA130}"/>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D79F060B-2A48-42C9-AA4C-949468B2CA2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60754CBD-3B58-4ABD-B647-D1110091EA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1B5A7A2-5761-4B1E-8E11-DF19104B87C0}" type="slidenum">
              <a:rPr lang="en-US" altLang="zh-CN"/>
              <a:pPr>
                <a:spcBef>
                  <a:spcPct val="0"/>
                </a:spcBef>
              </a:pPr>
              <a:t>19</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19AF8D40-C596-4387-B88C-F66C9A1E2D7E}"/>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26F703B9-6C8B-43F2-8CA7-7913DAAD67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AF2DFFB3-D3CF-464B-A640-C513AF6F12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5BDC418-276B-4711-A40D-98273AE23DB8}" type="slidenum">
              <a:rPr lang="en-US" altLang="zh-CN"/>
              <a:pPr>
                <a:spcBef>
                  <a:spcPct val="0"/>
                </a:spcBef>
              </a:pPr>
              <a:t>20</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A03E8274-145D-4FA0-9C1D-C89082A79CFD}"/>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D95CBFBA-08A4-45B9-96B9-0FA28A9712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21C32D5F-C8A3-419F-BEFC-9659CB8B6D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0338F66-5200-45F2-AF93-8D4308960192}" type="slidenum">
              <a:rPr lang="en-US" altLang="zh-CN"/>
              <a:pPr>
                <a:spcBef>
                  <a:spcPct val="0"/>
                </a:spcBef>
              </a:pPr>
              <a:t>21</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40F69A68-3F2C-4AD8-A24B-527F229DABB5}"/>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137C9A6B-CA4C-4B7F-94CD-73F80899313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596AE9E2-3A09-40CC-AB64-45E4EBCCB3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AC2A4C4-B36B-41F8-8664-08501CEB978E}" type="slidenum">
              <a:rPr lang="en-US" altLang="zh-CN"/>
              <a:pPr>
                <a:spcBef>
                  <a:spcPct val="0"/>
                </a:spcBef>
              </a:pPr>
              <a:t>22</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BE6826D6-0656-4CEA-9A14-80AB13F633DF}"/>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457B3A4B-EEB4-493B-BBF1-B543395CFB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FCF71D7F-294D-4565-BA54-E57B34121D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B7B63B1-CCC2-467D-8609-4100FC92AA5D}" type="slidenum">
              <a:rPr lang="en-US" altLang="zh-CN"/>
              <a:pPr>
                <a:spcBef>
                  <a:spcPct val="0"/>
                </a:spcBef>
              </a:pPr>
              <a:t>23</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D8750578-C668-48AC-BE4B-E3E607539734}"/>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917EDA12-1650-4724-A742-86AA600908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D3F42521-FF49-4BC4-B338-9548C909BE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51FF631-38F9-4062-8574-FE16AF3A493C}" type="slidenum">
              <a:rPr lang="en-US" altLang="zh-CN"/>
              <a:pPr>
                <a:spcBef>
                  <a:spcPct val="0"/>
                </a:spcBef>
              </a:pPr>
              <a:t>24</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6794DA86-98C7-4A65-B2BD-43977A9B57F0}"/>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09D1F944-2337-4C89-8D0B-D1A8951F03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3AAC8FBD-611C-4EA6-B3E7-6A28E06D1B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47422E2-E3A7-40A1-995E-DBEB9D642746}" type="slidenum">
              <a:rPr lang="en-US" altLang="zh-CN"/>
              <a:pPr>
                <a:spcBef>
                  <a:spcPct val="0"/>
                </a:spcBef>
              </a:pPr>
              <a:t>25</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593F9B85-B714-437C-8221-032D9ED4907D}"/>
              </a:ext>
            </a:extLst>
          </p:cNvPr>
          <p:cNvSpPr>
            <a:spLocks noGrp="1" noRot="1" noChangeAspect="1" noTextEdit="1"/>
          </p:cNvSpPr>
          <p:nvPr>
            <p:ph type="sldImg"/>
          </p:nvPr>
        </p:nvSpPr>
        <p:spPr>
          <a:ln/>
        </p:spPr>
      </p:sp>
      <p:sp>
        <p:nvSpPr>
          <p:cNvPr id="41987" name="备注占位符 2">
            <a:extLst>
              <a:ext uri="{FF2B5EF4-FFF2-40B4-BE49-F238E27FC236}">
                <a16:creationId xmlns:a16="http://schemas.microsoft.com/office/drawing/2014/main" id="{41AD59A4-1A37-40C1-A8D6-034E220727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1988" name="灯片编号占位符 3">
            <a:extLst>
              <a:ext uri="{FF2B5EF4-FFF2-40B4-BE49-F238E27FC236}">
                <a16:creationId xmlns:a16="http://schemas.microsoft.com/office/drawing/2014/main" id="{ACDBAC4E-31E6-48C0-8729-28326BD4EE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9491CF7-AB59-45C1-A4C1-045F59C00EAC}" type="slidenum">
              <a:rPr lang="en-US" altLang="zh-CN"/>
              <a:pPr>
                <a:spcBef>
                  <a:spcPct val="0"/>
                </a:spcBef>
              </a:pPr>
              <a:t>27</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7FFD530D-D543-40EE-972C-5FCDE62ED5DF}"/>
              </a:ext>
            </a:extLst>
          </p:cNvPr>
          <p:cNvSpPr>
            <a:spLocks noGrp="1" noRot="1" noChangeAspect="1" noTextEdit="1"/>
          </p:cNvSpPr>
          <p:nvPr>
            <p:ph type="sldImg"/>
          </p:nvPr>
        </p:nvSpPr>
        <p:spPr>
          <a:ln/>
        </p:spPr>
      </p:sp>
      <p:sp>
        <p:nvSpPr>
          <p:cNvPr id="44035" name="备注占位符 2">
            <a:extLst>
              <a:ext uri="{FF2B5EF4-FFF2-40B4-BE49-F238E27FC236}">
                <a16:creationId xmlns:a16="http://schemas.microsoft.com/office/drawing/2014/main" id="{2B7E1FF9-7FE0-4F36-B41C-B761BCC508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4036" name="灯片编号占位符 3">
            <a:extLst>
              <a:ext uri="{FF2B5EF4-FFF2-40B4-BE49-F238E27FC236}">
                <a16:creationId xmlns:a16="http://schemas.microsoft.com/office/drawing/2014/main" id="{D36B439D-05EF-44E4-B426-ED9FA1E23C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7F03544-6604-4F10-A1F0-22CEFADBA58D}" type="slidenum">
              <a:rPr lang="en-US" altLang="zh-CN"/>
              <a:pPr>
                <a:spcBef>
                  <a:spcPct val="0"/>
                </a:spcBef>
              </a:pPr>
              <a:t>28</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275AB2F7-159D-497F-961C-D98F1D1767E9}"/>
              </a:ext>
            </a:extLst>
          </p:cNvPr>
          <p:cNvSpPr>
            <a:spLocks noGrp="1" noRot="1" noChangeAspect="1" noTextEdit="1"/>
          </p:cNvSpPr>
          <p:nvPr>
            <p:ph type="sldImg"/>
          </p:nvPr>
        </p:nvSpPr>
        <p:spPr>
          <a:ln/>
        </p:spPr>
      </p:sp>
      <p:sp>
        <p:nvSpPr>
          <p:cNvPr id="46083" name="备注占位符 2">
            <a:extLst>
              <a:ext uri="{FF2B5EF4-FFF2-40B4-BE49-F238E27FC236}">
                <a16:creationId xmlns:a16="http://schemas.microsoft.com/office/drawing/2014/main" id="{DC4FF588-3B7C-4716-B90A-791F74DF591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6084" name="灯片编号占位符 3">
            <a:extLst>
              <a:ext uri="{FF2B5EF4-FFF2-40B4-BE49-F238E27FC236}">
                <a16:creationId xmlns:a16="http://schemas.microsoft.com/office/drawing/2014/main" id="{C7B74AF7-3BEE-424B-B011-E1FF89133F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7CA43C9-AAAD-45E6-A5D9-6ED07C62131D}" type="slidenum">
              <a:rPr lang="en-US" altLang="zh-CN"/>
              <a:pPr>
                <a:spcBef>
                  <a:spcPct val="0"/>
                </a:spcBef>
              </a:pPr>
              <a:t>29</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EF948D06-FA21-4DFC-8E9B-2D4197E60659}"/>
              </a:ext>
            </a:extLst>
          </p:cNvPr>
          <p:cNvSpPr>
            <a:spLocks noGrp="1" noRot="1" noChangeAspect="1" noTextEdit="1"/>
          </p:cNvSpPr>
          <p:nvPr>
            <p:ph type="sldImg"/>
          </p:nvPr>
        </p:nvSpPr>
        <p:spPr>
          <a:ln/>
        </p:spPr>
      </p:sp>
      <p:sp>
        <p:nvSpPr>
          <p:cNvPr id="48131" name="备注占位符 2">
            <a:extLst>
              <a:ext uri="{FF2B5EF4-FFF2-40B4-BE49-F238E27FC236}">
                <a16:creationId xmlns:a16="http://schemas.microsoft.com/office/drawing/2014/main" id="{A650BAA2-9A6F-4DB6-89B9-3794C711353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8132" name="灯片编号占位符 3">
            <a:extLst>
              <a:ext uri="{FF2B5EF4-FFF2-40B4-BE49-F238E27FC236}">
                <a16:creationId xmlns:a16="http://schemas.microsoft.com/office/drawing/2014/main" id="{EEA0F12A-4E2F-4957-A146-BDF634C7027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5FD70AF-A5FE-4E21-90FE-47C1DDD4DE92}" type="slidenum">
              <a:rPr lang="en-US" altLang="zh-CN"/>
              <a:pPr>
                <a:spcBef>
                  <a:spcPct val="0"/>
                </a:spcBef>
              </a:pPr>
              <a:t>30</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822EA6CD-96A5-4507-A570-0E2264DA6D7D}"/>
              </a:ext>
            </a:extLst>
          </p:cNvPr>
          <p:cNvSpPr>
            <a:spLocks noGrp="1" noRot="1" noChangeAspect="1" noTextEdit="1"/>
          </p:cNvSpPr>
          <p:nvPr>
            <p:ph type="sldImg"/>
          </p:nvPr>
        </p:nvSpPr>
        <p:spPr>
          <a:ln/>
        </p:spPr>
      </p:sp>
      <p:sp>
        <p:nvSpPr>
          <p:cNvPr id="50179" name="备注占位符 2">
            <a:extLst>
              <a:ext uri="{FF2B5EF4-FFF2-40B4-BE49-F238E27FC236}">
                <a16:creationId xmlns:a16="http://schemas.microsoft.com/office/drawing/2014/main" id="{6685B259-BC71-40DF-A5C4-1F2F8ADD99C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0180" name="灯片编号占位符 3">
            <a:extLst>
              <a:ext uri="{FF2B5EF4-FFF2-40B4-BE49-F238E27FC236}">
                <a16:creationId xmlns:a16="http://schemas.microsoft.com/office/drawing/2014/main" id="{D044B939-5B9C-41AF-88FA-82D9514644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38B57EE-7219-49C7-A16B-D199822297D7}" type="slidenum">
              <a:rPr lang="en-US" altLang="zh-CN"/>
              <a:pPr>
                <a:spcBef>
                  <a:spcPct val="0"/>
                </a:spcBef>
              </a:pPr>
              <a:t>31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684708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2FAFEC3-FCF9-4793-BD53-13ACF2C4D1E4}" type="slidenum">
              <a:rPr lang="en-US" altLang="zh-CN"/>
              <a:pPr>
                <a:defRPr/>
              </a:pPr>
              <a:t>‹#›</a:t>
            </a:fld>
            <a:endParaRPr lang="en-US" altLang="zh-CN" dirty="0"/>
          </a:p>
        </p:txBody>
      </p:sp>
    </p:spTree>
    <p:extLst>
      <p:ext uri="{BB962C8B-B14F-4D97-AF65-F5344CB8AC3E}">
        <p14:creationId xmlns:p14="http://schemas.microsoft.com/office/powerpoint/2010/main" val="33478729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1874B12-3BD3-4C39-BF0E-BF8A9539BB9C}" type="slidenum">
              <a:rPr lang="en-US" altLang="zh-CN"/>
              <a:pPr>
                <a:defRPr/>
              </a:pPr>
              <a:t>‹#›</a:t>
            </a:fld>
            <a:endParaRPr lang="en-US" altLang="zh-CN"/>
          </a:p>
        </p:txBody>
      </p:sp>
    </p:spTree>
    <p:extLst>
      <p:ext uri="{BB962C8B-B14F-4D97-AF65-F5344CB8AC3E}">
        <p14:creationId xmlns:p14="http://schemas.microsoft.com/office/powerpoint/2010/main" val="22008105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4FD21B5-0BC5-4C4A-925A-9CA4DDE9DFCF}" type="slidenum">
              <a:rPr lang="en-US" altLang="zh-CN"/>
              <a:pPr>
                <a:defRPr/>
              </a:pPr>
              <a:t>‹#›</a:t>
            </a:fld>
            <a:endParaRPr lang="en-US" altLang="zh-CN"/>
          </a:p>
        </p:txBody>
      </p:sp>
    </p:spTree>
    <p:extLst>
      <p:ext uri="{BB962C8B-B14F-4D97-AF65-F5344CB8AC3E}">
        <p14:creationId xmlns:p14="http://schemas.microsoft.com/office/powerpoint/2010/main" val="152885660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D738D31-8EED-425A-B617-D3D8B1C55F32}" type="slidenum">
              <a:rPr lang="en-US" altLang="zh-CN"/>
              <a:pPr>
                <a:defRPr/>
              </a:pPr>
              <a:t>‹#›</a:t>
            </a:fld>
            <a:endParaRPr lang="en-US" altLang="zh-CN"/>
          </a:p>
        </p:txBody>
      </p:sp>
    </p:spTree>
    <p:extLst>
      <p:ext uri="{BB962C8B-B14F-4D97-AF65-F5344CB8AC3E}">
        <p14:creationId xmlns:p14="http://schemas.microsoft.com/office/powerpoint/2010/main" val="331168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C5CA553-975E-450D-81D4-CB823086BDE2}" type="slidenum">
              <a:rPr lang="en-US" altLang="zh-CN"/>
              <a:pPr>
                <a:defRPr/>
              </a:pPr>
              <a:t>‹#›</a:t>
            </a:fld>
            <a:endParaRPr lang="en-US" altLang="zh-CN" dirty="0"/>
          </a:p>
        </p:txBody>
      </p:sp>
    </p:spTree>
    <p:extLst>
      <p:ext uri="{BB962C8B-B14F-4D97-AF65-F5344CB8AC3E}">
        <p14:creationId xmlns:p14="http://schemas.microsoft.com/office/powerpoint/2010/main" val="3204809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21DDC60-5961-4053-83B8-C0116183DEFD}" type="slidenum">
              <a:rPr lang="en-US" altLang="zh-CN"/>
              <a:pPr>
                <a:defRPr/>
              </a:pPr>
              <a:t>‹#›</a:t>
            </a:fld>
            <a:endParaRPr lang="en-US" altLang="zh-CN"/>
          </a:p>
        </p:txBody>
      </p:sp>
    </p:spTree>
    <p:extLst>
      <p:ext uri="{BB962C8B-B14F-4D97-AF65-F5344CB8AC3E}">
        <p14:creationId xmlns:p14="http://schemas.microsoft.com/office/powerpoint/2010/main" val="2896607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71C95EA6-4527-48FB-83CD-F4BD91AE8F02}" type="slidenum">
              <a:rPr lang="en-US" altLang="zh-CN"/>
              <a:pPr>
                <a:defRPr/>
              </a:pPr>
              <a:t>‹#›</a:t>
            </a:fld>
            <a:endParaRPr lang="en-US" altLang="zh-CN"/>
          </a:p>
        </p:txBody>
      </p:sp>
    </p:spTree>
    <p:extLst>
      <p:ext uri="{BB962C8B-B14F-4D97-AF65-F5344CB8AC3E}">
        <p14:creationId xmlns:p14="http://schemas.microsoft.com/office/powerpoint/2010/main" val="395229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828800" y="184482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5" name="Rectangle 6"/>
          <p:cNvSpPr>
            <a:spLocks noGrp="1" noChangeArrowheads="1"/>
          </p:cNvSpPr>
          <p:nvPr>
            <p:ph type="sldNum" sz="quarter" idx="10"/>
          </p:nvPr>
        </p:nvSpPr>
        <p:spPr>
          <a:ln/>
        </p:spPr>
        <p:txBody>
          <a:bodyPr/>
          <a:lstStyle>
            <a:lvl1pPr>
              <a:defRPr/>
            </a:lvl1pPr>
          </a:lstStyle>
          <a:p>
            <a:pPr>
              <a:defRPr/>
            </a:pPr>
            <a:fld id="{3610D5DC-5696-4A07-8349-2A517564EAB6}" type="slidenum">
              <a:rPr lang="en-US" altLang="zh-CN"/>
              <a:pPr>
                <a:defRPr/>
              </a:pPr>
              <a:t>‹#›</a:t>
            </a:fld>
            <a:endParaRPr lang="en-US" altLang="zh-CN"/>
          </a:p>
        </p:txBody>
      </p:sp>
    </p:spTree>
    <p:extLst>
      <p:ext uri="{BB962C8B-B14F-4D97-AF65-F5344CB8AC3E}">
        <p14:creationId xmlns:p14="http://schemas.microsoft.com/office/powerpoint/2010/main" val="35263464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E5E8FD3-EDE5-4EC3-94E3-1C754301C081}" type="slidenum">
              <a:rPr lang="en-US" altLang="zh-CN"/>
              <a:pPr>
                <a:defRPr/>
              </a:pPr>
              <a:t>‹#›</a:t>
            </a:fld>
            <a:endParaRPr lang="en-US" altLang="zh-CN"/>
          </a:p>
        </p:txBody>
      </p:sp>
    </p:spTree>
    <p:extLst>
      <p:ext uri="{BB962C8B-B14F-4D97-AF65-F5344CB8AC3E}">
        <p14:creationId xmlns:p14="http://schemas.microsoft.com/office/powerpoint/2010/main" val="9468136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4C1ECC8-739C-4170-B0ED-4174C943E5E6}" type="slidenum">
              <a:rPr lang="en-US" altLang="zh-CN"/>
              <a:pPr>
                <a:defRPr/>
              </a:pPr>
              <a:t>‹#›</a:t>
            </a:fld>
            <a:endParaRPr lang="en-US" altLang="zh-CN"/>
          </a:p>
        </p:txBody>
      </p:sp>
    </p:spTree>
    <p:extLst>
      <p:ext uri="{BB962C8B-B14F-4D97-AF65-F5344CB8AC3E}">
        <p14:creationId xmlns:p14="http://schemas.microsoft.com/office/powerpoint/2010/main" val="368152386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C4490AA-E879-42CB-B964-307DC817647D}" type="slidenum">
              <a:rPr lang="en-US" altLang="zh-CN"/>
              <a:pPr>
                <a:defRPr/>
              </a:pPr>
              <a:t>‹#›</a:t>
            </a:fld>
            <a:endParaRPr lang="en-US" altLang="zh-CN"/>
          </a:p>
        </p:txBody>
      </p:sp>
    </p:spTree>
    <p:extLst>
      <p:ext uri="{BB962C8B-B14F-4D97-AF65-F5344CB8AC3E}">
        <p14:creationId xmlns:p14="http://schemas.microsoft.com/office/powerpoint/2010/main" val="7976836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p:txBody>
          <a:bodyPr/>
          <a:lstStyle>
            <a:lvl1pPr>
              <a:defRPr/>
            </a:lvl1pPr>
          </a:lstStyle>
          <a:p>
            <a:pPr>
              <a:defRPr/>
            </a:pPr>
            <a:fld id="{C02672C6-A66C-4A23-877B-AF8E4660A64F}" type="slidenum">
              <a:rPr lang="en-US" altLang="zh-CN"/>
              <a:pPr>
                <a:defRPr/>
              </a:pPr>
              <a:t>‹#›</a:t>
            </a:fld>
            <a:endParaRPr lang="en-US" altLang="zh-CN"/>
          </a:p>
        </p:txBody>
      </p:sp>
    </p:spTree>
    <p:extLst>
      <p:ext uri="{BB962C8B-B14F-4D97-AF65-F5344CB8AC3E}">
        <p14:creationId xmlns:p14="http://schemas.microsoft.com/office/powerpoint/2010/main" val="362260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sldNum" sz="quarter" idx="12"/>
          </p:nvPr>
        </p:nvSpPr>
        <p:spPr/>
        <p:txBody>
          <a:bodyPr/>
          <a:lstStyle>
            <a:lvl1pPr>
              <a:defRPr/>
            </a:lvl1pPr>
          </a:lstStyle>
          <a:p>
            <a:pPr>
              <a:defRPr/>
            </a:pPr>
            <a:fld id="{6B528C79-012F-4666-B6B9-2F1EF291DD5A}" type="slidenum">
              <a:rPr lang="en-US" altLang="zh-CN"/>
              <a:pPr>
                <a:defRPr/>
              </a:pPr>
              <a:t>‹#›</a:t>
            </a:fld>
            <a:endParaRPr lang="en-US" altLang="zh-CN"/>
          </a:p>
        </p:txBody>
      </p:sp>
    </p:spTree>
    <p:extLst>
      <p:ext uri="{BB962C8B-B14F-4D97-AF65-F5344CB8AC3E}">
        <p14:creationId xmlns:p14="http://schemas.microsoft.com/office/powerpoint/2010/main" val="330914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76F7B25D-5EBC-4A23-B073-187DA5FB4EA0}"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6"/>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41"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2" r:id="rId13"/>
    <p:sldLayoutId id="2147483943" r:id="rId14"/>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w3.org/TR/2007/REC-wsdl20-20070626#Interface_styleDefault_attribut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w3.org/TR/2007/REC-wsdl20-20070626#Interface_styleDefault_attribut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w3.org/TR/2007/REC-wsdl20-20070626#Interface_styleDefault_attribute"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www.w3.org/TR/2007/REC-wsdl20-20070626#Interface_styleDefault_attribut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WSDL-PART2"/></Relationships>
</file>

<file path=ppt/slides/_rels/slide8.xml.rels><?xml version="1.0" encoding="UTF-8" standalone="yes"?>
<Relationships xmlns="http://schemas.openxmlformats.org/package/2006/relationships"><Relationship Id="rId3" Type="http://schemas.openxmlformats.org/officeDocument/2006/relationships/hyperlink" Target="#WSDL-PART2"/><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www.w3.org/ns/wsdl/rpc"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WSDL-PART2"/><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basics-interface"/><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adv-message-dispatch"/><Relationship Id="rId4" Type="http://schemas.openxmlformats.org/officeDocument/2006/relationships/hyperlink" Target="#WSDL-PART2"/></Relationships>
</file>

<file path=ppt/slides/_rels/slide11.xml.rels><?xml version="1.0" encoding="UTF-8" standalone="yes"?>
<Relationships xmlns="http://schemas.openxmlformats.org/package/2006/relationships"><Relationship Id="rId3" Type="http://schemas.openxmlformats.org/officeDocument/2006/relationships/hyperlink" Target="#adv-message-dispatch"/><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1"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WSDL-PART2"/><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w3.org/ns/wsdl/in-only"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WSDL-PART2"/></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w3.org/TR/2007/REC-wsdl20-adjuncts-20070626#soap-default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123"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www.w3.org/TR/2007/REC-wsdl20-adjuncts-20070626#soap-default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w3.org/TR/2007/REC-wsdl20-adjuncts-20070626#soap-default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05%20WSDL.ppt"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1"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more-bindings-soa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more-bindings-soap"/><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hyperlink" Target="123"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more-bindings-soap"/><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hyperlink" Target="1" TargetMode="External"/><Relationship Id="rId4" Type="http://schemas.openxmlformats.org/officeDocument/2006/relationships/hyperlink" Target="#example-bindings-htt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subTitle" idx="1"/>
          </p:nvPr>
        </p:nvSpPr>
        <p:spPr/>
        <p:txBody>
          <a:bodyPr/>
          <a:lstStyle/>
          <a:p>
            <a:r>
              <a:rPr lang="en-US" altLang="zh-CN" sz="2000">
                <a:solidFill>
                  <a:srgbClr val="595959"/>
                </a:solidFill>
                <a:ea typeface="宋体" pitchFamily="2" charset="-122"/>
              </a:rPr>
              <a:t>Software Institute</a:t>
            </a:r>
          </a:p>
          <a:p>
            <a:r>
              <a:rPr lang="en-US" altLang="zh-CN" sz="2000">
                <a:solidFill>
                  <a:srgbClr val="595959"/>
                </a:solidFill>
                <a:ea typeface="宋体" pitchFamily="2" charset="-122"/>
              </a:rPr>
              <a:t>Nanjing University</a:t>
            </a:r>
          </a:p>
          <a:p>
            <a:r>
              <a:rPr lang="en-US" altLang="zh-CN" sz="2000">
                <a:solidFill>
                  <a:srgbClr val="595959"/>
                </a:solidFill>
                <a:ea typeface="宋体" pitchFamily="2" charset="-122"/>
              </a:rPr>
              <a:t>Bei Jia</a:t>
            </a:r>
          </a:p>
        </p:txBody>
      </p:sp>
      <p:sp>
        <p:nvSpPr>
          <p:cNvPr id="5123" name="Rectangle 2"/>
          <p:cNvSpPr>
            <a:spLocks noGrp="1" noChangeArrowheads="1"/>
          </p:cNvSpPr>
          <p:nvPr>
            <p:ph type="ctrTitle" sz="quarter"/>
          </p:nvPr>
        </p:nvSpPr>
        <p:spPr>
          <a:gradFill rotWithShape="0"/>
        </p:spPr>
        <p:txBody>
          <a:bodyPr>
            <a:normAutofit/>
          </a:bodyPr>
          <a:lstStyle/>
          <a:p>
            <a:r>
              <a:rPr lang="en-US" altLang="zh-CN" sz="2800" dirty="0"/>
              <a:t>WSDL Interface &amp; Binding</a:t>
            </a:r>
            <a:br>
              <a:rPr lang="en-US" altLang="zh-CN" sz="2800" dirty="0"/>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D289D6C1-F16D-4DA0-853C-77E0BFDA6C95}"/>
              </a:ext>
            </a:extLst>
          </p:cNvPr>
          <p:cNvSpPr>
            <a:spLocks noGrp="1"/>
          </p:cNvSpPr>
          <p:nvPr>
            <p:ph type="title"/>
          </p:nvPr>
        </p:nvSpPr>
        <p:spPr/>
        <p:txBody>
          <a:bodyPr/>
          <a:lstStyle/>
          <a:p>
            <a:r>
              <a:rPr lang="en-US" altLang="zh-CN" sz="2800" dirty="0"/>
              <a:t>Interface Syntax</a:t>
            </a:r>
            <a:endParaRPr lang="zh-CN" altLang="en-US" sz="2800" dirty="0"/>
          </a:p>
        </p:txBody>
      </p:sp>
      <p:sp>
        <p:nvSpPr>
          <p:cNvPr id="21507" name="灯片编号占位符 3">
            <a:extLst>
              <a:ext uri="{FF2B5EF4-FFF2-40B4-BE49-F238E27FC236}">
                <a16:creationId xmlns:a16="http://schemas.microsoft.com/office/drawing/2014/main" id="{A9C46ADF-A728-4774-A996-35F75190AD8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2</a:t>
            </a:fld>
            <a:endParaRPr lang="en-US" altLang="zh-CN" sz="1000">
              <a:solidFill>
                <a:srgbClr val="000000"/>
              </a:solidFill>
            </a:endParaRPr>
          </a:p>
        </p:txBody>
      </p:sp>
      <p:sp>
        <p:nvSpPr>
          <p:cNvPr id="5" name="Text Box 4">
            <a:extLst>
              <a:ext uri="{FF2B5EF4-FFF2-40B4-BE49-F238E27FC236}">
                <a16:creationId xmlns:a16="http://schemas.microsoft.com/office/drawing/2014/main" id="{6BBA6679-BB0E-424A-A85F-C14ADD5148F2}"/>
              </a:ext>
            </a:extLst>
          </p:cNvPr>
          <p:cNvSpPr txBox="1">
            <a:spLocks noChangeArrowheads="1"/>
          </p:cNvSpPr>
          <p:nvPr/>
        </p:nvSpPr>
        <p:spPr bwMode="auto">
          <a:xfrm>
            <a:off x="431597" y="1313385"/>
            <a:ext cx="8229600" cy="5373779"/>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targetNamespace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xs:anyURI</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xs:NCName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extends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list of </a:t>
            </a:r>
            <a:r>
              <a:rPr lang="en-US" altLang="zh-CN" sz="1200" dirty="0" err="1">
                <a:solidFill>
                  <a:srgbClr val="000000"/>
                </a:solidFill>
                <a:highlight>
                  <a:srgbClr val="FFFFFF"/>
                </a:highlight>
                <a:latin typeface="Arial"/>
              </a:rPr>
              <a:t>xs:QName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styleDefault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list of </a:t>
            </a:r>
            <a:r>
              <a:rPr lang="en-US" altLang="zh-CN" sz="1200" dirty="0" err="1">
                <a:solidFill>
                  <a:srgbClr val="000000"/>
                </a:solidFill>
                <a:highlight>
                  <a:srgbClr val="FFFFFF"/>
                </a:highlight>
                <a:latin typeface="Arial"/>
              </a:rPr>
              <a:t>xs:anyURI</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fault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xs:NCName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xs:QName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fault</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xs:NCName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xs:anyURI</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style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list of </a:t>
            </a:r>
            <a:r>
              <a:rPr lang="en-US" altLang="zh-CN" sz="1200" dirty="0" err="1">
                <a:solidFill>
                  <a:srgbClr val="000000"/>
                </a:solidFill>
                <a:highlight>
                  <a:srgbClr val="FFFFFF"/>
                </a:highlight>
                <a:latin typeface="Arial"/>
              </a:rPr>
              <a:t>xs:anyURI</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wsdlx:safe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xs:boolean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xs:NCName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union of </a:t>
            </a:r>
            <a:r>
              <a:rPr lang="en-US" altLang="zh-CN" sz="1200" dirty="0" err="1">
                <a:solidFill>
                  <a:srgbClr val="000000"/>
                </a:solidFill>
                <a:highlight>
                  <a:srgbClr val="FFFFFF"/>
                </a:highlight>
                <a:latin typeface="Arial"/>
              </a:rPr>
              <a:t>xs:QName</a:t>
            </a:r>
            <a:r>
              <a:rPr lang="en-US" altLang="zh-CN" sz="1200" dirty="0">
                <a:solidFill>
                  <a:srgbClr val="000000"/>
                </a:solidFill>
                <a:highlight>
                  <a:srgbClr val="FFFFFF"/>
                </a:highlight>
                <a:latin typeface="Arial"/>
              </a:rPr>
              <a:t>, </a:t>
            </a:r>
            <a:r>
              <a:rPr lang="en-US" altLang="zh-CN" sz="1200" dirty="0" err="1">
                <a:solidFill>
                  <a:srgbClr val="000000"/>
                </a:solidFill>
                <a:highlight>
                  <a:srgbClr val="FFFFFF"/>
                </a:highlight>
                <a:latin typeface="Arial"/>
              </a:rPr>
              <a:t>xs:Token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xs:NCName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union of </a:t>
            </a:r>
            <a:r>
              <a:rPr lang="en-US" altLang="zh-CN" sz="1200" dirty="0" err="1">
                <a:solidFill>
                  <a:srgbClr val="000000"/>
                </a:solidFill>
                <a:highlight>
                  <a:srgbClr val="FFFFFF"/>
                </a:highlight>
                <a:latin typeface="Arial"/>
              </a:rPr>
              <a:t>xs:QName</a:t>
            </a:r>
            <a:r>
              <a:rPr lang="en-US" altLang="zh-CN" sz="1200" dirty="0">
                <a:solidFill>
                  <a:srgbClr val="000000"/>
                </a:solidFill>
                <a:highlight>
                  <a:srgbClr val="FFFFFF"/>
                </a:highlight>
                <a:latin typeface="Arial"/>
              </a:rPr>
              <a:t>, </a:t>
            </a:r>
            <a:r>
              <a:rPr lang="en-US" altLang="zh-CN" sz="1200" dirty="0" err="1">
                <a:solidFill>
                  <a:srgbClr val="000000"/>
                </a:solidFill>
                <a:highlight>
                  <a:srgbClr val="FFFFFF"/>
                </a:highlight>
                <a:latin typeface="Arial"/>
              </a:rPr>
              <a:t>xs:Token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infault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xs:QName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xs:NCName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infault</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outfault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xs:QName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xs:NCName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outfault</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 . .</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B7811B25-1ED8-43C8-8BF1-611FFF8B52FD}"/>
              </a:ext>
            </a:extLst>
          </p:cNvPr>
          <p:cNvSpPr>
            <a:spLocks noChangeShapeType="1"/>
          </p:cNvSpPr>
          <p:nvPr/>
        </p:nvSpPr>
        <p:spPr bwMode="auto">
          <a:xfrm flipH="1" flipV="1">
            <a:off x="3348038" y="2349500"/>
            <a:ext cx="792162" cy="2873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C9B4714F-CCD5-459B-9972-3E5496A75E19}"/>
              </a:ext>
            </a:extLst>
          </p:cNvPr>
          <p:cNvSpPr txBox="1">
            <a:spLocks noChangeArrowheads="1"/>
          </p:cNvSpPr>
          <p:nvPr/>
        </p:nvSpPr>
        <p:spPr bwMode="auto">
          <a:xfrm>
            <a:off x="4140200" y="2470150"/>
            <a:ext cx="41036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Used to define a default value for the style attributes of all operations under this interface</a:t>
            </a:r>
            <a:endParaRPr lang="en-US" altLang="zh-CN" sz="2000">
              <a:solidFill>
                <a:srgbClr val="000000"/>
              </a:solidFill>
            </a:endParaRPr>
          </a:p>
        </p:txBody>
      </p:sp>
      <p:sp>
        <p:nvSpPr>
          <p:cNvPr id="8" name="Line 15">
            <a:extLst>
              <a:ext uri="{FF2B5EF4-FFF2-40B4-BE49-F238E27FC236}">
                <a16:creationId xmlns:a16="http://schemas.microsoft.com/office/drawing/2014/main" id="{680680A1-B87D-4246-9C55-F05F2B4E8F3D}"/>
              </a:ext>
            </a:extLst>
          </p:cNvPr>
          <p:cNvSpPr>
            <a:spLocks noChangeShapeType="1"/>
          </p:cNvSpPr>
          <p:nvPr/>
        </p:nvSpPr>
        <p:spPr bwMode="auto">
          <a:xfrm flipH="1" flipV="1">
            <a:off x="3132138" y="2085975"/>
            <a:ext cx="792162" cy="2889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8669BACE-BFB2-4722-A3DD-56555BF94AD2}"/>
              </a:ext>
            </a:extLst>
          </p:cNvPr>
          <p:cNvSpPr txBox="1">
            <a:spLocks noChangeArrowheads="1"/>
          </p:cNvSpPr>
          <p:nvPr/>
        </p:nvSpPr>
        <p:spPr bwMode="auto">
          <a:xfrm>
            <a:off x="3924300" y="2208213"/>
            <a:ext cx="4103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Used for inheritance</a:t>
            </a:r>
            <a:endParaRPr lang="en-US" altLang="zh-CN" sz="2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D98DB3F9-2A81-4C6A-84D2-86B8D46F8F75}"/>
              </a:ext>
            </a:extLst>
          </p:cNvPr>
          <p:cNvSpPr>
            <a:spLocks noGrp="1"/>
          </p:cNvSpPr>
          <p:nvPr>
            <p:ph type="title"/>
          </p:nvPr>
        </p:nvSpPr>
        <p:spPr/>
        <p:txBody>
          <a:bodyPr/>
          <a:lstStyle/>
          <a:p>
            <a:r>
              <a:rPr lang="en-US" altLang="zh-CN" sz="2800" dirty="0"/>
              <a:t>Interface Inheritance (1/2)</a:t>
            </a:r>
            <a:endParaRPr lang="zh-CN" altLang="en-US" sz="2800" dirty="0"/>
          </a:p>
        </p:txBody>
      </p:sp>
      <p:sp>
        <p:nvSpPr>
          <p:cNvPr id="129027" name="内容占位符 2">
            <a:extLst>
              <a:ext uri="{FF2B5EF4-FFF2-40B4-BE49-F238E27FC236}">
                <a16:creationId xmlns:a16="http://schemas.microsoft.com/office/drawing/2014/main" id="{B357D406-75D2-456E-97C5-830AAC5488AC}"/>
              </a:ext>
            </a:extLst>
          </p:cNvPr>
          <p:cNvSpPr>
            <a:spLocks noGrp="1"/>
          </p:cNvSpPr>
          <p:nvPr>
            <p:ph idx="1"/>
          </p:nvPr>
        </p:nvSpPr>
        <p:spPr/>
        <p:txBody>
          <a:bodyPr>
            <a:normAutofit/>
          </a:bodyPr>
          <a:lstStyle/>
          <a:p>
            <a:pPr>
              <a:defRPr/>
            </a:pPr>
            <a:r>
              <a:rPr lang="en-US" altLang="zh-CN" sz="2400" dirty="0"/>
              <a:t>The optional </a:t>
            </a:r>
            <a:r>
              <a:rPr lang="en-US" altLang="zh-CN" sz="2400" dirty="0">
                <a:hlinkClick r:id="rId3"/>
              </a:rPr>
              <a:t>extends</a:t>
            </a:r>
            <a:r>
              <a:rPr lang="en-US" altLang="zh-CN" sz="2400" dirty="0"/>
              <a:t> attribute allows an interface to extend or inherit from one or more other interfaces. The interface contains the operations of the interfaces it extends, along with any operations it defines directly</a:t>
            </a:r>
          </a:p>
          <a:p>
            <a:pPr lvl="1">
              <a:defRPr/>
            </a:pPr>
            <a:r>
              <a:rPr lang="en-US" altLang="zh-CN" sz="2000" dirty="0"/>
              <a:t>An inheritance loop (or infinite recursion) is prohibited: the interfaces that a given interface extends must </a:t>
            </a:r>
            <a:r>
              <a:rPr lang="en-US" altLang="zh-CN" sz="2000" dirty="0">
                <a:solidFill>
                  <a:srgbClr val="FF0000"/>
                </a:solidFill>
              </a:rPr>
              <a:t>NOT</a:t>
            </a:r>
            <a:r>
              <a:rPr lang="en-US" altLang="zh-CN" sz="2000" dirty="0"/>
              <a:t> themselves extend that interface either directly or indirectly</a:t>
            </a:r>
          </a:p>
          <a:p>
            <a:pPr lvl="1">
              <a:defRPr/>
            </a:pPr>
            <a:r>
              <a:rPr lang="en-US" altLang="zh-CN" sz="2000" dirty="0"/>
              <a:t>When operations from two different interfaces have the same target namespace and operation name: </a:t>
            </a:r>
          </a:p>
          <a:p>
            <a:pPr lvl="2">
              <a:defRPr/>
            </a:pPr>
            <a:r>
              <a:rPr lang="en-US" altLang="zh-CN" sz="1800" dirty="0"/>
              <a:t>If the operation component models are the same, then they are considered to be the same operation</a:t>
            </a:r>
          </a:p>
          <a:p>
            <a:pPr lvl="2">
              <a:defRPr/>
            </a:pPr>
            <a:r>
              <a:rPr lang="en-US" altLang="zh-CN" sz="1800" dirty="0"/>
              <a:t>If two operations are not equivalent, then it is an error</a:t>
            </a:r>
          </a:p>
          <a:p>
            <a:pPr lvl="1">
              <a:defRPr/>
            </a:pPr>
            <a:r>
              <a:rPr lang="en-US" altLang="zh-CN" sz="2000" dirty="0"/>
              <a:t>Since faults can also be defined as children of the interface element, the same name-collision rules apply to those constructs</a:t>
            </a:r>
          </a:p>
        </p:txBody>
      </p:sp>
      <p:sp>
        <p:nvSpPr>
          <p:cNvPr id="23556" name="灯片编号占位符 3">
            <a:extLst>
              <a:ext uri="{FF2B5EF4-FFF2-40B4-BE49-F238E27FC236}">
                <a16:creationId xmlns:a16="http://schemas.microsoft.com/office/drawing/2014/main" id="{C5B0CC90-B905-48D4-AD7B-62D10235EA7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3</a:t>
            </a:fld>
            <a:endParaRPr lang="en-US" altLang="zh-CN" sz="1000">
              <a:solidFill>
                <a:srgbClr val="00000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81247188-6855-4A72-BAC0-51ED481BB236}"/>
              </a:ext>
            </a:extLst>
          </p:cNvPr>
          <p:cNvSpPr>
            <a:spLocks noGrp="1"/>
          </p:cNvSpPr>
          <p:nvPr>
            <p:ph type="title"/>
          </p:nvPr>
        </p:nvSpPr>
        <p:spPr/>
        <p:txBody>
          <a:bodyPr/>
          <a:lstStyle/>
          <a:p>
            <a:r>
              <a:rPr lang="en-US" altLang="zh-CN" sz="2800" dirty="0"/>
              <a:t>Interface Inheritance (2/2)</a:t>
            </a:r>
            <a:endParaRPr lang="zh-CN" altLang="en-US" sz="2800" dirty="0"/>
          </a:p>
        </p:txBody>
      </p:sp>
      <p:sp>
        <p:nvSpPr>
          <p:cNvPr id="25603" name="灯片编号占位符 3">
            <a:extLst>
              <a:ext uri="{FF2B5EF4-FFF2-40B4-BE49-F238E27FC236}">
                <a16:creationId xmlns:a16="http://schemas.microsoft.com/office/drawing/2014/main" id="{757CCAA9-7062-438E-9F50-DDB2037BE2F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4</a:t>
            </a:fld>
            <a:endParaRPr lang="en-US" altLang="zh-CN" sz="1000">
              <a:solidFill>
                <a:srgbClr val="000000"/>
              </a:solidFill>
            </a:endParaRPr>
          </a:p>
        </p:txBody>
      </p:sp>
      <p:sp>
        <p:nvSpPr>
          <p:cNvPr id="5" name="Text Box 4">
            <a:extLst>
              <a:ext uri="{FF2B5EF4-FFF2-40B4-BE49-F238E27FC236}">
                <a16:creationId xmlns:a16="http://schemas.microsoft.com/office/drawing/2014/main" id="{C2B03D8B-9904-473F-B865-8F9D2EECECAF}"/>
              </a:ext>
            </a:extLst>
          </p:cNvPr>
          <p:cNvSpPr txBox="1">
            <a:spLocks noChangeArrowheads="1"/>
          </p:cNvSpPr>
          <p:nvPr/>
        </p:nvSpPr>
        <p:spPr bwMode="auto">
          <a:xfrm>
            <a:off x="457200" y="1434861"/>
            <a:ext cx="8229600" cy="5152180"/>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 </a:t>
            </a:r>
            <a:r>
              <a:rPr lang="en-US" altLang="zh-CN" sz="1200" dirty="0">
                <a:solidFill>
                  <a:srgbClr val="0000FF"/>
                </a:solidFill>
                <a:highlight>
                  <a:srgbClr val="FFFFFF"/>
                </a:highlight>
                <a:latin typeface="Arial"/>
              </a:rPr>
              <a:t>= "</a:t>
            </a:r>
            <a:r>
              <a:rPr lang="en-US" altLang="zh-CN" sz="1200" dirty="0" err="1">
                <a:solidFill>
                  <a:srgbClr val="000000"/>
                </a:solidFill>
                <a:highlight>
                  <a:srgbClr val="FFFFFF"/>
                </a:highlight>
                <a:latin typeface="Arial"/>
              </a:rPr>
              <a:t>messageLogInterface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r>
              <a:rPr lang="zh-CN" altLang="en-US"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opLogMessage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http://www.w3.org/ns/wsdl/out-only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ghns:messageLog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reservationInterface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extends</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tns:messageLogInterface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opCheckAvailability</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pattern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http://www.w3.org/ns/wsdl/in-out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style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http://www.w3.org/ns/wsdl/style/iri</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wsdlx:safe</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 "</a:t>
            </a:r>
            <a:r>
              <a:rPr lang="en-US" altLang="zh-CN" sz="1200" dirty="0">
                <a:solidFill>
                  <a:srgbClr val="000000"/>
                </a:solidFill>
                <a:highlight>
                  <a:srgbClr val="FFFFFF"/>
                </a:highlight>
                <a:latin typeface="Arial"/>
              </a:rPr>
              <a:t>true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In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ghns:checkAvailability</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output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element</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ghns:checkAvailabilityResponse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outfault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tns:invalidDataFault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messageLabel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Out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interface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10" name="任意多边形 9">
            <a:extLst>
              <a:ext uri="{FF2B5EF4-FFF2-40B4-BE49-F238E27FC236}">
                <a16:creationId xmlns:a16="http://schemas.microsoft.com/office/drawing/2014/main" id="{2AD8ED15-21E3-4554-88A4-3E0774FE6C96}"/>
              </a:ext>
            </a:extLst>
          </p:cNvPr>
          <p:cNvSpPr/>
          <p:nvPr/>
        </p:nvSpPr>
        <p:spPr>
          <a:xfrm>
            <a:off x="5216525" y="2544763"/>
            <a:ext cx="1306513" cy="1154112"/>
          </a:xfrm>
          <a:custGeom>
            <a:avLst/>
            <a:gdLst>
              <a:gd name="connsiteX0" fmla="*/ 0 w 1306511"/>
              <a:gd name="connsiteY0" fmla="*/ 53372 h 1154809"/>
              <a:gd name="connsiteX1" fmla="*/ 1257300 w 1306511"/>
              <a:gd name="connsiteY1" fmla="*/ 126109 h 1154809"/>
              <a:gd name="connsiteX2" fmla="*/ 1049482 w 1306511"/>
              <a:gd name="connsiteY2" fmla="*/ 1154809 h 1154809"/>
            </a:gdLst>
            <a:ahLst/>
            <a:cxnLst>
              <a:cxn ang="0">
                <a:pos x="connsiteX0" y="connsiteY0"/>
              </a:cxn>
              <a:cxn ang="0">
                <a:pos x="connsiteX1" y="connsiteY1"/>
              </a:cxn>
              <a:cxn ang="0">
                <a:pos x="connsiteX2" y="connsiteY2"/>
              </a:cxn>
            </a:cxnLst>
            <a:rect l="l" t="t" r="r" b="b"/>
            <a:pathLst>
              <a:path w="1306511" h="1154809">
                <a:moveTo>
                  <a:pt x="0" y="53372"/>
                </a:moveTo>
                <a:cubicBezTo>
                  <a:pt x="541193" y="-2046"/>
                  <a:pt x="1082386" y="-57464"/>
                  <a:pt x="1257300" y="126109"/>
                </a:cubicBezTo>
                <a:cubicBezTo>
                  <a:pt x="1432214" y="309682"/>
                  <a:pt x="1087582" y="1037046"/>
                  <a:pt x="1049482" y="1154809"/>
                </a:cubicBezTo>
              </a:path>
            </a:pathLst>
          </a:custGeom>
          <a:noFill/>
          <a:ln w="5715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Line 15">
            <a:extLst>
              <a:ext uri="{FF2B5EF4-FFF2-40B4-BE49-F238E27FC236}">
                <a16:creationId xmlns:a16="http://schemas.microsoft.com/office/drawing/2014/main" id="{C7863132-C431-4E64-9E94-061FE561FA50}"/>
              </a:ext>
            </a:extLst>
          </p:cNvPr>
          <p:cNvSpPr>
            <a:spLocks noChangeShapeType="1"/>
          </p:cNvSpPr>
          <p:nvPr/>
        </p:nvSpPr>
        <p:spPr bwMode="auto">
          <a:xfrm flipH="1">
            <a:off x="3635375" y="2133600"/>
            <a:ext cx="650875" cy="1428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F2051A77-9CC6-4942-ACBE-8624D297DF2F}"/>
              </a:ext>
            </a:extLst>
          </p:cNvPr>
          <p:cNvSpPr txBox="1">
            <a:spLocks noChangeArrowheads="1"/>
          </p:cNvSpPr>
          <p:nvPr/>
        </p:nvSpPr>
        <p:spPr bwMode="auto">
          <a:xfrm>
            <a:off x="4286250" y="1719263"/>
            <a:ext cx="3097213"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Standard log operation that should be reusable</a:t>
            </a:r>
            <a:endParaRPr lang="en-US" altLang="zh-CN" sz="2000">
              <a:solidFill>
                <a:srgbClr val="000000"/>
              </a:solidFill>
            </a:endParaRPr>
          </a:p>
        </p:txBody>
      </p:sp>
      <p:sp>
        <p:nvSpPr>
          <p:cNvPr id="8" name="Line 15">
            <a:extLst>
              <a:ext uri="{FF2B5EF4-FFF2-40B4-BE49-F238E27FC236}">
                <a16:creationId xmlns:a16="http://schemas.microsoft.com/office/drawing/2014/main" id="{F2AC03AA-81B7-4DA8-A218-2C00486356EF}"/>
              </a:ext>
            </a:extLst>
          </p:cNvPr>
          <p:cNvSpPr>
            <a:spLocks noChangeShapeType="1"/>
          </p:cNvSpPr>
          <p:nvPr/>
        </p:nvSpPr>
        <p:spPr bwMode="auto">
          <a:xfrm flipH="1" flipV="1">
            <a:off x="3995738" y="3644900"/>
            <a:ext cx="1081087" cy="720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C7BA2325-C06A-48BD-85CC-22A1D4B85B33}"/>
              </a:ext>
            </a:extLst>
          </p:cNvPr>
          <p:cNvSpPr txBox="1">
            <a:spLocks noChangeArrowheads="1"/>
          </p:cNvSpPr>
          <p:nvPr/>
        </p:nvSpPr>
        <p:spPr bwMode="auto">
          <a:xfrm>
            <a:off x="5216525" y="4292600"/>
            <a:ext cx="3316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Now contains 2 operations</a:t>
            </a:r>
            <a:endParaRPr lang="en-US" altLang="zh-CN" sz="2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6E0FC0E0-9AA5-4559-ABF3-DE173CB3F820}"/>
              </a:ext>
            </a:extLst>
          </p:cNvPr>
          <p:cNvSpPr>
            <a:spLocks noGrp="1"/>
          </p:cNvSpPr>
          <p:nvPr>
            <p:ph type="title"/>
          </p:nvPr>
        </p:nvSpPr>
        <p:spPr/>
        <p:txBody>
          <a:bodyPr/>
          <a:lstStyle/>
          <a:p>
            <a:r>
              <a:rPr lang="en-US" altLang="zh-CN" sz="2800" dirty="0"/>
              <a:t>Interface Faults (1/2)</a:t>
            </a:r>
            <a:endParaRPr lang="zh-CN" altLang="en-US" sz="2800" dirty="0"/>
          </a:p>
        </p:txBody>
      </p:sp>
      <p:sp>
        <p:nvSpPr>
          <p:cNvPr id="3" name="内容占位符 2">
            <a:extLst>
              <a:ext uri="{FF2B5EF4-FFF2-40B4-BE49-F238E27FC236}">
                <a16:creationId xmlns:a16="http://schemas.microsoft.com/office/drawing/2014/main" id="{16F34292-7046-4AE1-A0A5-D1552A0B128B}"/>
              </a:ext>
            </a:extLst>
          </p:cNvPr>
          <p:cNvSpPr>
            <a:spLocks noGrp="1"/>
          </p:cNvSpPr>
          <p:nvPr>
            <p:ph idx="1"/>
          </p:nvPr>
        </p:nvSpPr>
        <p:spPr/>
        <p:txBody>
          <a:bodyPr>
            <a:normAutofit fontScale="70000" lnSpcReduction="20000"/>
          </a:bodyPr>
          <a:lstStyle/>
          <a:p>
            <a:pPr>
              <a:lnSpc>
                <a:spcPct val="120000"/>
              </a:lnSpc>
              <a:defRPr/>
            </a:pPr>
            <a:r>
              <a:rPr lang="en-US" altLang="zh-CN" dirty="0"/>
              <a:t>The </a:t>
            </a:r>
            <a:r>
              <a:rPr lang="en-US" altLang="zh-CN" dirty="0">
                <a:hlinkClick r:id="rId3"/>
              </a:rPr>
              <a:t>fault</a:t>
            </a:r>
            <a:r>
              <a:rPr lang="en-US" altLang="zh-CN" dirty="0"/>
              <a:t> elements are declared directly under interface, and referenced from operations where they apply, in order to permit reuse across multiple operations</a:t>
            </a:r>
          </a:p>
          <a:p>
            <a:pPr>
              <a:lnSpc>
                <a:spcPct val="120000"/>
              </a:lnSpc>
              <a:defRPr/>
            </a:pPr>
            <a:r>
              <a:rPr lang="en-US" altLang="zh-CN" dirty="0"/>
              <a:t>This design is especially beneficial when bindings are defined, since in binding extensions like SOAP there is additional information that is associated with faults</a:t>
            </a:r>
          </a:p>
          <a:p>
            <a:pPr lvl="1">
              <a:lnSpc>
                <a:spcPct val="120000"/>
              </a:lnSpc>
              <a:defRPr/>
            </a:pPr>
            <a:r>
              <a:rPr lang="en-US" altLang="zh-CN" dirty="0"/>
              <a:t>In the case of SOAP, faults have codes and </a:t>
            </a:r>
            <a:r>
              <a:rPr lang="en-US" altLang="zh-CN" dirty="0" err="1"/>
              <a:t>subcodes</a:t>
            </a:r>
            <a:r>
              <a:rPr lang="en-US" altLang="zh-CN" dirty="0"/>
              <a:t> in addition to a payload. By defining faults at the interface level, common codes and </a:t>
            </a:r>
            <a:r>
              <a:rPr lang="en-US" altLang="zh-CN" dirty="0" err="1"/>
              <a:t>subcodes</a:t>
            </a:r>
            <a:r>
              <a:rPr lang="en-US" altLang="zh-CN" dirty="0"/>
              <a:t> can be associated with them, thereby ensuring consistency across all operations that use the faults</a:t>
            </a:r>
          </a:p>
          <a:p>
            <a:pPr>
              <a:lnSpc>
                <a:spcPct val="120000"/>
              </a:lnSpc>
              <a:defRPr/>
            </a:pPr>
            <a:r>
              <a:rPr lang="en-US" altLang="zh-CN" dirty="0"/>
              <a:t>The </a:t>
            </a:r>
            <a:r>
              <a:rPr lang="en-US" altLang="zh-CN" dirty="0">
                <a:hlinkClick r:id="rId3"/>
              </a:rPr>
              <a:t>fault</a:t>
            </a:r>
            <a:r>
              <a:rPr lang="en-US" altLang="zh-CN" dirty="0"/>
              <a:t> element has a required </a:t>
            </a:r>
            <a:r>
              <a:rPr lang="en-US" altLang="zh-CN" dirty="0">
                <a:hlinkClick r:id="rId3"/>
              </a:rPr>
              <a:t>name</a:t>
            </a:r>
            <a:r>
              <a:rPr lang="en-US" altLang="zh-CN" dirty="0"/>
              <a:t> attribute that must be unique within the parent </a:t>
            </a:r>
            <a:r>
              <a:rPr lang="en-US" altLang="zh-CN" dirty="0">
                <a:hlinkClick r:id="rId3"/>
              </a:rPr>
              <a:t>interface</a:t>
            </a:r>
            <a:r>
              <a:rPr lang="en-US" altLang="zh-CN" dirty="0"/>
              <a:t> element, and permits it to be referenced from operation declarations</a:t>
            </a:r>
          </a:p>
        </p:txBody>
      </p:sp>
      <p:sp>
        <p:nvSpPr>
          <p:cNvPr id="27652" name="灯片编号占位符 3">
            <a:extLst>
              <a:ext uri="{FF2B5EF4-FFF2-40B4-BE49-F238E27FC236}">
                <a16:creationId xmlns:a16="http://schemas.microsoft.com/office/drawing/2014/main" id="{952A7162-72B0-4E9B-8FDF-06C953EBB21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5</a:t>
            </a:fld>
            <a:endParaRPr lang="en-US" altLang="zh-CN" sz="1000">
              <a:solidFill>
                <a:srgbClr val="000000"/>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A8DA11B0-0483-41BD-AF00-1A74052A5B2D}"/>
              </a:ext>
            </a:extLst>
          </p:cNvPr>
          <p:cNvSpPr>
            <a:spLocks noGrp="1"/>
          </p:cNvSpPr>
          <p:nvPr>
            <p:ph type="title"/>
          </p:nvPr>
        </p:nvSpPr>
        <p:spPr/>
        <p:txBody>
          <a:bodyPr/>
          <a:lstStyle/>
          <a:p>
            <a:r>
              <a:rPr lang="en-US" altLang="zh-CN" sz="2800" dirty="0"/>
              <a:t>Interface Faults (2/2)</a:t>
            </a:r>
            <a:endParaRPr lang="zh-CN" altLang="en-US" sz="2800" dirty="0"/>
          </a:p>
        </p:txBody>
      </p:sp>
      <p:sp>
        <p:nvSpPr>
          <p:cNvPr id="3" name="内容占位符 2">
            <a:extLst>
              <a:ext uri="{FF2B5EF4-FFF2-40B4-BE49-F238E27FC236}">
                <a16:creationId xmlns:a16="http://schemas.microsoft.com/office/drawing/2014/main" id="{3AE8D346-6F6C-4710-8C24-B31B4B66E348}"/>
              </a:ext>
            </a:extLst>
          </p:cNvPr>
          <p:cNvSpPr>
            <a:spLocks noGrp="1"/>
          </p:cNvSpPr>
          <p:nvPr>
            <p:ph idx="1"/>
          </p:nvPr>
        </p:nvSpPr>
        <p:spPr/>
        <p:txBody>
          <a:bodyPr>
            <a:normAutofit fontScale="85000" lnSpcReduction="10000"/>
          </a:bodyPr>
          <a:lstStyle/>
          <a:p>
            <a:pPr>
              <a:lnSpc>
                <a:spcPct val="120000"/>
              </a:lnSpc>
              <a:defRPr/>
            </a:pPr>
            <a:r>
              <a:rPr lang="en-US" altLang="zh-CN" sz="2400" dirty="0">
                <a:hlinkClick r:id="rId3" action="ppaction://hlinkfile"/>
              </a:rPr>
              <a:t>Faults </a:t>
            </a:r>
            <a:r>
              <a:rPr lang="en-US" altLang="zh-CN" sz="2400" dirty="0"/>
              <a:t>are very similar to messages and can be viewed as a special kind of message. Both faults and messages may carry a payload that is normally described by an element declaration</a:t>
            </a:r>
          </a:p>
          <a:p>
            <a:pPr>
              <a:lnSpc>
                <a:spcPct val="120000"/>
              </a:lnSpc>
              <a:defRPr/>
            </a:pPr>
            <a:r>
              <a:rPr lang="en-US" altLang="zh-CN" sz="2400" dirty="0"/>
              <a:t>However, WSDL 2.0 treats faults and messages slightly differently</a:t>
            </a:r>
            <a:r>
              <a:rPr lang="zh-CN" altLang="en-US" sz="2400" dirty="0"/>
              <a:t>：</a:t>
            </a:r>
          </a:p>
          <a:p>
            <a:pPr lvl="1">
              <a:lnSpc>
                <a:spcPct val="120000"/>
              </a:lnSpc>
              <a:defRPr/>
            </a:pPr>
            <a:r>
              <a:rPr lang="en-US" altLang="zh-CN" sz="1900" dirty="0"/>
              <a:t>The messages of an operation directly refer to their element declaration</a:t>
            </a:r>
          </a:p>
          <a:p>
            <a:pPr lvl="1">
              <a:lnSpc>
                <a:spcPct val="120000"/>
              </a:lnSpc>
              <a:defRPr/>
            </a:pPr>
            <a:r>
              <a:rPr lang="en-US" altLang="zh-CN" sz="1900" dirty="0"/>
              <a:t>The faults of an operation indirectly refer to their element declaration via a fault element that is defined on the interface</a:t>
            </a:r>
          </a:p>
          <a:p>
            <a:pPr>
              <a:lnSpc>
                <a:spcPct val="120000"/>
              </a:lnSpc>
              <a:defRPr/>
            </a:pPr>
            <a:r>
              <a:rPr lang="en-US" altLang="zh-CN" sz="2400" dirty="0"/>
              <a:t>The optional </a:t>
            </a:r>
            <a:r>
              <a:rPr lang="en-US" altLang="zh-CN" sz="2400" dirty="0">
                <a:hlinkClick r:id="rId4"/>
              </a:rPr>
              <a:t>element</a:t>
            </a:r>
            <a:r>
              <a:rPr lang="en-US" altLang="zh-CN" sz="2400" dirty="0"/>
              <a:t> attribute can be used to indicate a schema for the content or payload of the fault message. Its value should be the </a:t>
            </a:r>
            <a:r>
              <a:rPr lang="en-US" altLang="zh-CN" sz="2400" dirty="0" err="1">
                <a:solidFill>
                  <a:srgbClr val="FF0000"/>
                </a:solidFill>
              </a:rPr>
              <a:t>QName</a:t>
            </a:r>
            <a:r>
              <a:rPr lang="en-US" altLang="zh-CN" sz="2400" dirty="0"/>
              <a:t> of a global element defined in the </a:t>
            </a:r>
            <a:r>
              <a:rPr lang="en-US" altLang="zh-CN" sz="2400" dirty="0">
                <a:hlinkClick r:id="rId4"/>
              </a:rPr>
              <a:t>types</a:t>
            </a:r>
            <a:r>
              <a:rPr lang="en-US" altLang="zh-CN" sz="2400" dirty="0"/>
              <a:t> section</a:t>
            </a:r>
          </a:p>
          <a:p>
            <a:pPr lvl="1">
              <a:lnSpc>
                <a:spcPct val="120000"/>
              </a:lnSpc>
              <a:defRPr/>
            </a:pPr>
            <a:r>
              <a:rPr lang="en-US" altLang="zh-CN" sz="1900" dirty="0"/>
              <a:t>When other type systems are used to define the schema for a fault message, additional attributes may need to be defined via WSDL 2.0’s attribute extension mechanism to allow the schema to be associated with the fault</a:t>
            </a:r>
          </a:p>
        </p:txBody>
      </p:sp>
      <p:sp>
        <p:nvSpPr>
          <p:cNvPr id="29700" name="灯片编号占位符 3">
            <a:extLst>
              <a:ext uri="{FF2B5EF4-FFF2-40B4-BE49-F238E27FC236}">
                <a16:creationId xmlns:a16="http://schemas.microsoft.com/office/drawing/2014/main" id="{26B5A421-2854-4D13-BD63-E4A4B43D993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6</a:t>
            </a:fld>
            <a:endParaRPr lang="en-US" altLang="zh-CN" sz="1000">
              <a:solidFill>
                <a:srgbClr val="000000"/>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15DC846B-32F3-4BF3-9D14-BBCE9B270584}"/>
              </a:ext>
            </a:extLst>
          </p:cNvPr>
          <p:cNvSpPr>
            <a:spLocks noGrp="1"/>
          </p:cNvSpPr>
          <p:nvPr>
            <p:ph type="title"/>
          </p:nvPr>
        </p:nvSpPr>
        <p:spPr/>
        <p:txBody>
          <a:bodyPr/>
          <a:lstStyle/>
          <a:p>
            <a:r>
              <a:rPr lang="en-US" altLang="zh-CN" sz="2800" dirty="0"/>
              <a:t>Interface Operations</a:t>
            </a:r>
            <a:endParaRPr lang="zh-CN" altLang="en-US" sz="2800" dirty="0"/>
          </a:p>
        </p:txBody>
      </p:sp>
      <p:sp>
        <p:nvSpPr>
          <p:cNvPr id="129027" name="内容占位符 2">
            <a:extLst>
              <a:ext uri="{FF2B5EF4-FFF2-40B4-BE49-F238E27FC236}">
                <a16:creationId xmlns:a16="http://schemas.microsoft.com/office/drawing/2014/main" id="{23CE5D20-9C8A-4179-8FD8-34094DE5A257}"/>
              </a:ext>
            </a:extLst>
          </p:cNvPr>
          <p:cNvSpPr>
            <a:spLocks noGrp="1"/>
          </p:cNvSpPr>
          <p:nvPr>
            <p:ph idx="1"/>
          </p:nvPr>
        </p:nvSpPr>
        <p:spPr/>
        <p:txBody>
          <a:bodyPr>
            <a:normAutofit fontScale="85000" lnSpcReduction="10000"/>
          </a:bodyPr>
          <a:lstStyle/>
          <a:p>
            <a:pPr>
              <a:lnSpc>
                <a:spcPct val="120000"/>
              </a:lnSpc>
              <a:defRPr/>
            </a:pPr>
            <a:r>
              <a:rPr lang="en-US" altLang="zh-CN" dirty="0"/>
              <a:t>The </a:t>
            </a:r>
            <a:r>
              <a:rPr lang="en-US" altLang="zh-CN" dirty="0">
                <a:hlinkClick r:id="rId3"/>
              </a:rPr>
              <a:t>operation</a:t>
            </a:r>
            <a:r>
              <a:rPr lang="en-US" altLang="zh-CN" dirty="0"/>
              <a:t> element is used to indicate an operation supported by the containing interface. </a:t>
            </a:r>
          </a:p>
          <a:p>
            <a:pPr>
              <a:lnSpc>
                <a:spcPct val="120000"/>
              </a:lnSpc>
              <a:defRPr/>
            </a:pPr>
            <a:r>
              <a:rPr lang="en-US" altLang="zh-CN" dirty="0"/>
              <a:t>It associates message schemas with a message exchange pattern (MEP), in order to abstractly describe a simple interaction with a Web service</a:t>
            </a:r>
          </a:p>
          <a:p>
            <a:pPr>
              <a:lnSpc>
                <a:spcPct val="120000"/>
              </a:lnSpc>
              <a:defRPr/>
            </a:pPr>
            <a:r>
              <a:rPr lang="en-US" altLang="zh-CN" dirty="0"/>
              <a:t>An operation has two required attributes and one optional attribute:</a:t>
            </a:r>
          </a:p>
          <a:p>
            <a:pPr lvl="1">
              <a:lnSpc>
                <a:spcPct val="120000"/>
              </a:lnSpc>
              <a:defRPr/>
            </a:pPr>
            <a:r>
              <a:rPr lang="en-US" altLang="zh-CN" sz="2800" dirty="0"/>
              <a:t>A required </a:t>
            </a:r>
            <a:r>
              <a:rPr lang="en-US" altLang="zh-CN" sz="2800" dirty="0">
                <a:hlinkClick r:id="rId4" action="ppaction://hlinkfile"/>
              </a:rPr>
              <a:t>name</a:t>
            </a:r>
            <a:r>
              <a:rPr lang="en-US" altLang="zh-CN" sz="2800" dirty="0"/>
              <a:t> attribute</a:t>
            </a:r>
          </a:p>
          <a:p>
            <a:pPr lvl="1">
              <a:lnSpc>
                <a:spcPct val="120000"/>
              </a:lnSpc>
              <a:defRPr/>
            </a:pPr>
            <a:r>
              <a:rPr lang="en-US" altLang="zh-CN" sz="2800" dirty="0"/>
              <a:t>A required </a:t>
            </a:r>
            <a:r>
              <a:rPr lang="en-US" altLang="zh-CN" sz="2800" dirty="0">
                <a:hlinkClick r:id="rId4" action="ppaction://hlinkfile"/>
              </a:rPr>
              <a:t>pattern</a:t>
            </a:r>
            <a:r>
              <a:rPr lang="en-US" altLang="zh-CN" sz="2800" dirty="0"/>
              <a:t> attribute</a:t>
            </a:r>
          </a:p>
          <a:p>
            <a:pPr lvl="1">
              <a:lnSpc>
                <a:spcPct val="120000"/>
              </a:lnSpc>
              <a:defRPr/>
            </a:pPr>
            <a:r>
              <a:rPr lang="en-US" altLang="zh-CN" sz="2800" dirty="0"/>
              <a:t>An optional </a:t>
            </a:r>
            <a:r>
              <a:rPr lang="en-US" altLang="zh-CN" sz="2800" dirty="0">
                <a:hlinkClick r:id="rId4" action="ppaction://hlinkfile"/>
              </a:rPr>
              <a:t>style</a:t>
            </a:r>
            <a:r>
              <a:rPr lang="en-US" altLang="zh-CN" sz="2800" dirty="0"/>
              <a:t> attribute</a:t>
            </a:r>
          </a:p>
          <a:p>
            <a:pPr lvl="1">
              <a:lnSpc>
                <a:spcPct val="120000"/>
              </a:lnSpc>
              <a:defRPr/>
            </a:pPr>
            <a:r>
              <a:rPr lang="en-US" altLang="zh-CN" dirty="0"/>
              <a:t>Other attribute(s) extended</a:t>
            </a:r>
          </a:p>
        </p:txBody>
      </p:sp>
      <p:sp>
        <p:nvSpPr>
          <p:cNvPr id="31748" name="灯片编号占位符 3">
            <a:extLst>
              <a:ext uri="{FF2B5EF4-FFF2-40B4-BE49-F238E27FC236}">
                <a16:creationId xmlns:a16="http://schemas.microsoft.com/office/drawing/2014/main" id="{1A32D0AE-C8EB-4BE1-9817-A1908FD6C6E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7</a:t>
            </a:fld>
            <a:endParaRPr lang="en-US" altLang="zh-CN" sz="1000">
              <a:solidFill>
                <a:srgbClr val="000000"/>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D30B5B13-82DB-43CA-A93B-385560C41E79}"/>
              </a:ext>
            </a:extLst>
          </p:cNvPr>
          <p:cNvSpPr>
            <a:spLocks noGrp="1"/>
          </p:cNvSpPr>
          <p:nvPr>
            <p:ph type="title"/>
          </p:nvPr>
        </p:nvSpPr>
        <p:spPr/>
        <p:txBody>
          <a:bodyPr/>
          <a:lstStyle/>
          <a:p>
            <a:r>
              <a:rPr lang="en-US" altLang="zh-CN" sz="2800" dirty="0"/>
              <a:t>Operation Attributes</a:t>
            </a:r>
            <a:endParaRPr lang="zh-CN" altLang="en-US" sz="2800" dirty="0"/>
          </a:p>
        </p:txBody>
      </p:sp>
      <p:sp>
        <p:nvSpPr>
          <p:cNvPr id="3" name="内容占位符 2">
            <a:extLst>
              <a:ext uri="{FF2B5EF4-FFF2-40B4-BE49-F238E27FC236}">
                <a16:creationId xmlns:a16="http://schemas.microsoft.com/office/drawing/2014/main" id="{C2EACA1F-49CA-45B9-8A10-684C18A1260E}"/>
              </a:ext>
            </a:extLst>
          </p:cNvPr>
          <p:cNvSpPr>
            <a:spLocks noGrp="1"/>
          </p:cNvSpPr>
          <p:nvPr>
            <p:ph idx="1"/>
          </p:nvPr>
        </p:nvSpPr>
        <p:spPr/>
        <p:txBody>
          <a:bodyPr>
            <a:normAutofit fontScale="62500" lnSpcReduction="20000"/>
          </a:bodyPr>
          <a:lstStyle/>
          <a:p>
            <a:pPr>
              <a:lnSpc>
                <a:spcPct val="120000"/>
              </a:lnSpc>
              <a:defRPr/>
            </a:pPr>
            <a:r>
              <a:rPr lang="en-US" altLang="zh-CN" dirty="0">
                <a:hlinkClick r:id="rId3" action="ppaction://hlinkfile"/>
              </a:rPr>
              <a:t>name</a:t>
            </a:r>
            <a:r>
              <a:rPr lang="en-US" altLang="zh-CN" dirty="0"/>
              <a:t> attribute (required), which must be unique within the interface</a:t>
            </a:r>
          </a:p>
          <a:p>
            <a:pPr>
              <a:lnSpc>
                <a:spcPct val="120000"/>
              </a:lnSpc>
              <a:defRPr/>
            </a:pPr>
            <a:r>
              <a:rPr lang="en-US" altLang="zh-CN" dirty="0">
                <a:hlinkClick r:id="rId3" action="ppaction://hlinkfile"/>
              </a:rPr>
              <a:t>pattern</a:t>
            </a:r>
            <a:r>
              <a:rPr lang="en-US" altLang="zh-CN" dirty="0"/>
              <a:t> attribute (required), whose value must be an absolute URI that identifies the desired MEP for the operation</a:t>
            </a:r>
          </a:p>
          <a:p>
            <a:pPr>
              <a:lnSpc>
                <a:spcPct val="120000"/>
              </a:lnSpc>
              <a:defRPr/>
            </a:pPr>
            <a:r>
              <a:rPr lang="en-US" altLang="zh-CN" dirty="0">
                <a:hlinkClick r:id="rId3" action="ppaction://hlinkfile"/>
              </a:rPr>
              <a:t>style</a:t>
            </a:r>
            <a:r>
              <a:rPr lang="en-US" altLang="zh-CN" dirty="0"/>
              <a:t> attribute (optional), whose value is a list of absolute URIs</a:t>
            </a:r>
          </a:p>
          <a:p>
            <a:pPr lvl="1">
              <a:lnSpc>
                <a:spcPct val="120000"/>
              </a:lnSpc>
              <a:defRPr/>
            </a:pPr>
            <a:r>
              <a:rPr lang="en-US" altLang="zh-CN" dirty="0"/>
              <a:t>Each URI identifies a certain set of rules that were followed in defining this operation</a:t>
            </a:r>
          </a:p>
          <a:p>
            <a:pPr lvl="1">
              <a:lnSpc>
                <a:spcPct val="120000"/>
              </a:lnSpc>
              <a:defRPr/>
            </a:pPr>
            <a:r>
              <a:rPr lang="en-US" altLang="zh-CN" dirty="0"/>
              <a:t>It is an error if a particular style is indicated, but the associated rules are not followed</a:t>
            </a:r>
          </a:p>
          <a:p>
            <a:pPr lvl="1">
              <a:lnSpc>
                <a:spcPct val="120000"/>
              </a:lnSpc>
              <a:defRPr/>
            </a:pPr>
            <a:r>
              <a:rPr lang="en-US" altLang="zh-CN" dirty="0"/>
              <a:t>[</a:t>
            </a:r>
            <a:r>
              <a:rPr lang="en-US" altLang="zh-CN" dirty="0">
                <a:hlinkClick r:id="rId3" action="ppaction://hlinkfile"/>
              </a:rPr>
              <a:t>WSDL 2.0 Adjuncts</a:t>
            </a:r>
            <a:r>
              <a:rPr lang="en-US" altLang="zh-CN" dirty="0"/>
              <a:t>] defines a set of styles, including</a:t>
            </a:r>
          </a:p>
          <a:p>
            <a:pPr lvl="2">
              <a:lnSpc>
                <a:spcPct val="120000"/>
              </a:lnSpc>
              <a:defRPr/>
            </a:pPr>
            <a:r>
              <a:rPr lang="en-US" altLang="zh-CN" dirty="0"/>
              <a:t>RPC Style (</a:t>
            </a:r>
            <a:r>
              <a:rPr lang="en-US" altLang="zh-CN" dirty="0">
                <a:hlinkClick r:id="rId4"/>
              </a:rPr>
              <a:t>http://www.w3.org/ns/wsdl/rpc</a:t>
            </a:r>
            <a:r>
              <a:rPr lang="en-US" altLang="zh-CN" dirty="0"/>
              <a:t>) places restrictions for Remote Procedure Call-types of interactions</a:t>
            </a:r>
          </a:p>
          <a:p>
            <a:pPr lvl="2">
              <a:lnSpc>
                <a:spcPct val="120000"/>
              </a:lnSpc>
              <a:defRPr/>
            </a:pPr>
            <a:r>
              <a:rPr lang="en-US" altLang="zh-CN" dirty="0"/>
              <a:t>IRI Style (</a:t>
            </a:r>
            <a:r>
              <a:rPr lang="en-US" altLang="zh-CN" dirty="0">
                <a:hlinkClick r:id="rId4"/>
              </a:rPr>
              <a:t>http://www.w3.org/ns/wsdl/style/iri</a:t>
            </a:r>
            <a:r>
              <a:rPr lang="en-US" altLang="zh-CN" dirty="0"/>
              <a:t>) places restrictions on message definitions so they may be serialized into something like HTTP URL encoded</a:t>
            </a:r>
          </a:p>
          <a:p>
            <a:pPr lvl="2">
              <a:lnSpc>
                <a:spcPct val="120000"/>
              </a:lnSpc>
              <a:defRPr/>
            </a:pPr>
            <a:r>
              <a:rPr lang="en-US" altLang="zh-CN" dirty="0"/>
              <a:t>The Multipart style (</a:t>
            </a:r>
            <a:r>
              <a:rPr lang="en-US" altLang="zh-CN" dirty="0">
                <a:hlinkClick r:id="rId4"/>
              </a:rPr>
              <a:t>http://www.w3.org/ns/wsdl/style/multipart</a:t>
            </a:r>
            <a:r>
              <a:rPr lang="en-US" altLang="zh-CN" dirty="0"/>
              <a:t>). In the HTTP binding, for </a:t>
            </a:r>
            <a:r>
              <a:rPr lang="en-US" altLang="zh-CN" dirty="0" err="1"/>
              <a:t>XForms</a:t>
            </a:r>
            <a:r>
              <a:rPr lang="en-US" altLang="zh-CN" dirty="0"/>
              <a:t> clients, a message must be defined following the Multipart style and serialized as "Multipart/form-data"</a:t>
            </a:r>
          </a:p>
        </p:txBody>
      </p:sp>
      <p:sp>
        <p:nvSpPr>
          <p:cNvPr id="33796" name="灯片编号占位符 3">
            <a:extLst>
              <a:ext uri="{FF2B5EF4-FFF2-40B4-BE49-F238E27FC236}">
                <a16:creationId xmlns:a16="http://schemas.microsoft.com/office/drawing/2014/main" id="{514C9F66-6A2B-447C-8929-D0BB91E2E3F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8</a:t>
            </a:fld>
            <a:endParaRPr lang="en-US" altLang="zh-CN" sz="1000">
              <a:solidFill>
                <a:srgbClr val="0000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3103090F-0655-49F6-990C-1B0D14595765}"/>
              </a:ext>
            </a:extLst>
          </p:cNvPr>
          <p:cNvSpPr>
            <a:spLocks noGrp="1"/>
          </p:cNvSpPr>
          <p:nvPr>
            <p:ph type="title"/>
          </p:nvPr>
        </p:nvSpPr>
        <p:spPr/>
        <p:txBody>
          <a:bodyPr/>
          <a:lstStyle/>
          <a:p>
            <a:r>
              <a:rPr lang="en-US" altLang="zh-CN" sz="2800" dirty="0"/>
              <a:t>Operation Attributes (Extended)</a:t>
            </a:r>
            <a:endParaRPr lang="zh-CN" altLang="en-US" sz="2800" dirty="0"/>
          </a:p>
        </p:txBody>
      </p:sp>
      <p:sp>
        <p:nvSpPr>
          <p:cNvPr id="3" name="内容占位符 2">
            <a:extLst>
              <a:ext uri="{FF2B5EF4-FFF2-40B4-BE49-F238E27FC236}">
                <a16:creationId xmlns:a16="http://schemas.microsoft.com/office/drawing/2014/main" id="{D9180C4B-7A6B-4650-8865-1F3C6184EB9E}"/>
              </a:ext>
            </a:extLst>
          </p:cNvPr>
          <p:cNvSpPr>
            <a:spLocks noGrp="1"/>
          </p:cNvSpPr>
          <p:nvPr>
            <p:ph idx="1"/>
          </p:nvPr>
        </p:nvSpPr>
        <p:spPr/>
        <p:txBody>
          <a:bodyPr>
            <a:normAutofit lnSpcReduction="10000"/>
          </a:bodyPr>
          <a:lstStyle/>
          <a:p>
            <a:pPr>
              <a:lnSpc>
                <a:spcPct val="110000"/>
              </a:lnSpc>
              <a:defRPr/>
            </a:pPr>
            <a:r>
              <a:rPr lang="en-US" altLang="zh-CN" sz="2400" dirty="0"/>
              <a:t>A “safe” operation is any operation that does not give the client any new obligations</a:t>
            </a:r>
          </a:p>
          <a:p>
            <a:pPr lvl="1">
              <a:lnSpc>
                <a:spcPct val="110000"/>
              </a:lnSpc>
              <a:defRPr/>
            </a:pPr>
            <a:r>
              <a:rPr lang="en-US" altLang="zh-CN" sz="1800" dirty="0"/>
              <a:t>e.g., </a:t>
            </a:r>
            <a:r>
              <a:rPr lang="en-US" altLang="zh-CN" sz="1800" i="1" dirty="0">
                <a:solidFill>
                  <a:srgbClr val="FF0000"/>
                </a:solidFill>
              </a:rPr>
              <a:t>check prices </a:t>
            </a:r>
            <a:r>
              <a:rPr lang="en-US" altLang="zh-CN" sz="1800" dirty="0"/>
              <a:t>operation is safe, whereas </a:t>
            </a:r>
            <a:r>
              <a:rPr lang="en-US" altLang="zh-CN" sz="1800" i="1" dirty="0">
                <a:solidFill>
                  <a:srgbClr val="FF0000"/>
                </a:solidFill>
              </a:rPr>
              <a:t>purchasing</a:t>
            </a:r>
            <a:r>
              <a:rPr lang="en-US" altLang="zh-CN" sz="1800" dirty="0">
                <a:solidFill>
                  <a:srgbClr val="FF0000"/>
                </a:solidFill>
              </a:rPr>
              <a:t> </a:t>
            </a:r>
            <a:r>
              <a:rPr lang="en-US" altLang="zh-CN" sz="1800" dirty="0"/>
              <a:t>operation is NOT</a:t>
            </a:r>
            <a:endParaRPr lang="en-US" altLang="zh-CN" sz="2400" dirty="0"/>
          </a:p>
          <a:p>
            <a:pPr>
              <a:lnSpc>
                <a:spcPct val="110000"/>
              </a:lnSpc>
              <a:defRPr/>
            </a:pPr>
            <a:r>
              <a:rPr lang="en-US" altLang="zh-CN" sz="2400" dirty="0"/>
              <a:t>The </a:t>
            </a:r>
            <a:r>
              <a:rPr lang="en-US" altLang="zh-CN" sz="2400" dirty="0" err="1"/>
              <a:t>boolean</a:t>
            </a:r>
            <a:r>
              <a:rPr lang="en-US" altLang="zh-CN" sz="2400" dirty="0"/>
              <a:t> </a:t>
            </a:r>
            <a:r>
              <a:rPr lang="en-US" altLang="zh-CN" sz="2400" dirty="0" err="1">
                <a:hlinkClick r:id="rId3" action="ppaction://hlinkfile"/>
              </a:rPr>
              <a:t>wsdlx:safe</a:t>
            </a:r>
            <a:r>
              <a:rPr lang="en-US" altLang="zh-CN" sz="2400" dirty="0"/>
              <a:t> global attribute (provided by [</a:t>
            </a:r>
            <a:r>
              <a:rPr lang="en-US" altLang="zh-CN" sz="2400" dirty="0">
                <a:hlinkClick r:id="rId3" action="ppaction://hlinkfile"/>
              </a:rPr>
              <a:t>WSDL 2.0 Adjuncts</a:t>
            </a:r>
            <a:r>
              <a:rPr lang="en-US" altLang="zh-CN" sz="2400" dirty="0"/>
              <a:t>]) can be used with an operation to indicate whether the operation is asserted to be "safe" for clients to invoke</a:t>
            </a:r>
          </a:p>
          <a:p>
            <a:pPr lvl="1">
              <a:lnSpc>
                <a:spcPct val="110000"/>
              </a:lnSpc>
              <a:defRPr/>
            </a:pPr>
            <a:r>
              <a:rPr lang="en-US" altLang="zh-CN" sz="1900" dirty="0"/>
              <a:t>An operation should be marked safe (by using the </a:t>
            </a:r>
            <a:r>
              <a:rPr lang="en-US" altLang="zh-CN" sz="1900" dirty="0" err="1">
                <a:hlinkClick r:id="rId3" action="ppaction://hlinkfile"/>
              </a:rPr>
              <a:t>wsdlx:safe</a:t>
            </a:r>
            <a:r>
              <a:rPr lang="en-US" altLang="zh-CN" sz="1900" dirty="0"/>
              <a:t> and by setting its value to "true") if it meets the criteria for a safe interaction, because this permits the infrastructure to perform efficiency optimizations, such as pre-fetch, re-fetch and caching</a:t>
            </a:r>
          </a:p>
          <a:p>
            <a:pPr lvl="1">
              <a:lnSpc>
                <a:spcPct val="110000"/>
              </a:lnSpc>
              <a:defRPr/>
            </a:pPr>
            <a:r>
              <a:rPr lang="en-US" altLang="zh-CN" sz="1900" dirty="0"/>
              <a:t>The default value of this attribute is false. If it is false or is not set, then no assertion is made about the safety of the operation; thus the operation may or may not be safe</a:t>
            </a:r>
          </a:p>
        </p:txBody>
      </p:sp>
      <p:sp>
        <p:nvSpPr>
          <p:cNvPr id="35844" name="灯片编号占位符 3">
            <a:extLst>
              <a:ext uri="{FF2B5EF4-FFF2-40B4-BE49-F238E27FC236}">
                <a16:creationId xmlns:a16="http://schemas.microsoft.com/office/drawing/2014/main" id="{6421EF38-6FBC-4E4B-A3FD-160A493AF02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9</a:t>
            </a:fld>
            <a:endParaRPr lang="en-US" altLang="zh-CN" sz="1000">
              <a:solidFill>
                <a:srgbClr val="000000"/>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DFC39A48-F652-45DE-80F0-E9E33510A867}"/>
              </a:ext>
            </a:extLst>
          </p:cNvPr>
          <p:cNvSpPr>
            <a:spLocks noGrp="1"/>
          </p:cNvSpPr>
          <p:nvPr>
            <p:ph type="title"/>
          </p:nvPr>
        </p:nvSpPr>
        <p:spPr/>
        <p:txBody>
          <a:bodyPr/>
          <a:lstStyle/>
          <a:p>
            <a:r>
              <a:rPr lang="en-US" altLang="zh-CN" sz="2800" dirty="0"/>
              <a:t>Operation Message References</a:t>
            </a:r>
            <a:endParaRPr lang="zh-CN" altLang="en-US" sz="2800" dirty="0"/>
          </a:p>
        </p:txBody>
      </p:sp>
      <p:sp>
        <p:nvSpPr>
          <p:cNvPr id="3" name="内容占位符 2">
            <a:extLst>
              <a:ext uri="{FF2B5EF4-FFF2-40B4-BE49-F238E27FC236}">
                <a16:creationId xmlns:a16="http://schemas.microsoft.com/office/drawing/2014/main" id="{032C1ADC-B7FD-420A-A1C5-3AF99784A9B6}"/>
              </a:ext>
            </a:extLst>
          </p:cNvPr>
          <p:cNvSpPr>
            <a:spLocks noGrp="1"/>
          </p:cNvSpPr>
          <p:nvPr>
            <p:ph idx="1"/>
          </p:nvPr>
        </p:nvSpPr>
        <p:spPr/>
        <p:txBody>
          <a:bodyPr>
            <a:normAutofit fontScale="92500"/>
          </a:bodyPr>
          <a:lstStyle/>
          <a:p>
            <a:pPr>
              <a:lnSpc>
                <a:spcPct val="120000"/>
              </a:lnSpc>
              <a:defRPr/>
            </a:pPr>
            <a:r>
              <a:rPr lang="en-US" altLang="zh-CN" sz="2400" dirty="0"/>
              <a:t>An operation will also have </a:t>
            </a:r>
            <a:r>
              <a:rPr lang="en-US" altLang="zh-CN" sz="2400" dirty="0">
                <a:hlinkClick r:id="rId3" action="ppaction://hlinkfile"/>
              </a:rPr>
              <a:t>input</a:t>
            </a:r>
            <a:r>
              <a:rPr lang="en-US" altLang="zh-CN" sz="2400" dirty="0"/>
              <a:t>, </a:t>
            </a:r>
            <a:r>
              <a:rPr lang="en-US" altLang="zh-CN" sz="2400" dirty="0">
                <a:hlinkClick r:id="rId3" action="ppaction://hlinkfile"/>
              </a:rPr>
              <a:t>output</a:t>
            </a:r>
            <a:r>
              <a:rPr lang="en-US" altLang="zh-CN" sz="2400" dirty="0"/>
              <a:t>, </a:t>
            </a:r>
            <a:r>
              <a:rPr lang="en-US" altLang="zh-CN" sz="2400" dirty="0" err="1">
                <a:hlinkClick r:id="rId3" action="ppaction://hlinkfile"/>
              </a:rPr>
              <a:t>infault</a:t>
            </a:r>
            <a:r>
              <a:rPr lang="en-US" altLang="zh-CN" sz="2400" dirty="0"/>
              <a:t>, and/or </a:t>
            </a:r>
            <a:r>
              <a:rPr lang="en-US" altLang="zh-CN" sz="2400" dirty="0" err="1">
                <a:hlinkClick r:id="rId3" action="ppaction://hlinkfile"/>
              </a:rPr>
              <a:t>outfault</a:t>
            </a:r>
            <a:r>
              <a:rPr lang="en-US" altLang="zh-CN" sz="2400" dirty="0"/>
              <a:t> element children that specify the ordinary and fault message types to be used by that operation</a:t>
            </a:r>
          </a:p>
          <a:p>
            <a:pPr>
              <a:lnSpc>
                <a:spcPct val="120000"/>
              </a:lnSpc>
              <a:defRPr/>
            </a:pPr>
            <a:r>
              <a:rPr lang="en-US" altLang="zh-CN" sz="2400" dirty="0"/>
              <a:t>The MEP specified by the </a:t>
            </a:r>
            <a:r>
              <a:rPr lang="en-US" altLang="zh-CN" sz="2400" dirty="0">
                <a:hlinkClick r:id="rId3" action="ppaction://hlinkfile"/>
              </a:rPr>
              <a:t>pattern</a:t>
            </a:r>
            <a:r>
              <a:rPr lang="en-US" altLang="zh-CN" sz="2400" dirty="0"/>
              <a:t> attribute determines which of these elements should be included, since each MEP has placeholders for the message types involved in its pattern</a:t>
            </a:r>
          </a:p>
          <a:p>
            <a:pPr>
              <a:lnSpc>
                <a:spcPct val="120000"/>
              </a:lnSpc>
              <a:defRPr/>
            </a:pPr>
            <a:r>
              <a:rPr lang="en-US" altLang="zh-CN" sz="2400" dirty="0"/>
              <a:t>The </a:t>
            </a:r>
            <a:r>
              <a:rPr lang="en-US" altLang="zh-CN" sz="2400" dirty="0" err="1">
                <a:hlinkClick r:id="rId4" action="ppaction://hlinkfile"/>
              </a:rPr>
              <a:t>messageLabel</a:t>
            </a:r>
            <a:r>
              <a:rPr lang="en-US" altLang="zh-CN" sz="2400" dirty="0"/>
              <a:t> attribute of the </a:t>
            </a:r>
            <a:r>
              <a:rPr lang="en-US" altLang="zh-CN" sz="2400" dirty="0">
                <a:hlinkClick r:id="rId4" action="ppaction://hlinkfile"/>
              </a:rPr>
              <a:t>input</a:t>
            </a:r>
            <a:r>
              <a:rPr lang="en-US" altLang="zh-CN" sz="2400" dirty="0"/>
              <a:t> and </a:t>
            </a:r>
            <a:r>
              <a:rPr lang="en-US" altLang="zh-CN" sz="2400" dirty="0">
                <a:hlinkClick r:id="rId4" action="ppaction://hlinkfile"/>
              </a:rPr>
              <a:t>output</a:t>
            </a:r>
            <a:r>
              <a:rPr lang="en-US" altLang="zh-CN" sz="2400" dirty="0"/>
              <a:t> elements is optional</a:t>
            </a:r>
          </a:p>
          <a:p>
            <a:pPr lvl="1">
              <a:lnSpc>
                <a:spcPct val="120000"/>
              </a:lnSpc>
              <a:defRPr/>
            </a:pPr>
            <a:r>
              <a:rPr lang="en-US" altLang="zh-CN" sz="1800" dirty="0"/>
              <a:t>It is not necessary to explicitly set the </a:t>
            </a:r>
            <a:r>
              <a:rPr lang="en-US" altLang="zh-CN" sz="1800" dirty="0" err="1">
                <a:hlinkClick r:id="rId4" action="ppaction://hlinkfile"/>
              </a:rPr>
              <a:t>messageLabel</a:t>
            </a:r>
            <a:r>
              <a:rPr lang="en-US" altLang="zh-CN" sz="1800" dirty="0"/>
              <a:t> when the MEP in use is one of the eight MEPs predefined in WSDL 2.0 Part 2 [</a:t>
            </a:r>
            <a:r>
              <a:rPr lang="en-US" altLang="zh-CN" sz="1800" dirty="0">
                <a:hlinkClick r:id="rId4" action="ppaction://hlinkfile"/>
              </a:rPr>
              <a:t>WSDL 2.0 Adjuncts</a:t>
            </a:r>
            <a:r>
              <a:rPr lang="en-US" altLang="zh-CN" sz="1800" dirty="0"/>
              <a:t>] and it has only one message with a given direction</a:t>
            </a:r>
          </a:p>
          <a:p>
            <a:pPr>
              <a:lnSpc>
                <a:spcPct val="120000"/>
              </a:lnSpc>
              <a:defRPr/>
            </a:pPr>
            <a:r>
              <a:rPr lang="en-US" altLang="zh-CN" sz="2400" dirty="0"/>
              <a:t>When </a:t>
            </a:r>
            <a:r>
              <a:rPr lang="en-US" altLang="zh-CN" sz="2400" dirty="0" err="1">
                <a:hlinkClick r:id="rId5" action="ppaction://hlinkfile"/>
              </a:rPr>
              <a:t>infault</a:t>
            </a:r>
            <a:r>
              <a:rPr lang="en-US" altLang="zh-CN" sz="2400" dirty="0"/>
              <a:t> and/or </a:t>
            </a:r>
            <a:r>
              <a:rPr lang="en-US" altLang="zh-CN" sz="2400" dirty="0" err="1">
                <a:hlinkClick r:id="rId5" action="ppaction://hlinkfile"/>
              </a:rPr>
              <a:t>outfault</a:t>
            </a:r>
            <a:r>
              <a:rPr lang="en-US" altLang="zh-CN" sz="2400" dirty="0"/>
              <a:t> occur multiple times within an operation, they define alternative fault messages</a:t>
            </a:r>
          </a:p>
        </p:txBody>
      </p:sp>
      <p:sp>
        <p:nvSpPr>
          <p:cNvPr id="37892" name="灯片编号占位符 3">
            <a:extLst>
              <a:ext uri="{FF2B5EF4-FFF2-40B4-BE49-F238E27FC236}">
                <a16:creationId xmlns:a16="http://schemas.microsoft.com/office/drawing/2014/main" id="{72C73DD8-0EE3-4008-ABBB-E13D57C3377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10</a:t>
            </a:fld>
            <a:endParaRPr lang="en-US" altLang="zh-CN" sz="1000">
              <a:solidFill>
                <a:srgbClr val="000000"/>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1AD6C8D1-8B47-4428-AF28-35D41067E3BF}"/>
              </a:ext>
            </a:extLst>
          </p:cNvPr>
          <p:cNvSpPr>
            <a:spLocks noGrp="1"/>
          </p:cNvSpPr>
          <p:nvPr>
            <p:ph type="title"/>
          </p:nvPr>
        </p:nvSpPr>
        <p:spPr/>
        <p:txBody>
          <a:bodyPr/>
          <a:lstStyle/>
          <a:p>
            <a:r>
              <a:rPr lang="en-US" altLang="zh-CN" sz="2800" dirty="0"/>
              <a:t>The element Attribute</a:t>
            </a:r>
            <a:endParaRPr lang="zh-CN" altLang="en-US" sz="2800" dirty="0"/>
          </a:p>
        </p:txBody>
      </p:sp>
      <p:sp>
        <p:nvSpPr>
          <p:cNvPr id="3" name="内容占位符 2">
            <a:extLst>
              <a:ext uri="{FF2B5EF4-FFF2-40B4-BE49-F238E27FC236}">
                <a16:creationId xmlns:a16="http://schemas.microsoft.com/office/drawing/2014/main" id="{935304BA-477E-494E-85C6-E1FCD2B511EC}"/>
              </a:ext>
            </a:extLst>
          </p:cNvPr>
          <p:cNvSpPr>
            <a:spLocks noGrp="1"/>
          </p:cNvSpPr>
          <p:nvPr>
            <p:ph idx="1"/>
          </p:nvPr>
        </p:nvSpPr>
        <p:spPr/>
        <p:txBody>
          <a:bodyPr>
            <a:normAutofit fontScale="85000" lnSpcReduction="10000"/>
          </a:bodyPr>
          <a:lstStyle/>
          <a:p>
            <a:pPr>
              <a:lnSpc>
                <a:spcPct val="110000"/>
              </a:lnSpc>
              <a:defRPr/>
            </a:pPr>
            <a:r>
              <a:rPr lang="en-US" altLang="zh-CN" sz="2400" dirty="0"/>
              <a:t>The optional </a:t>
            </a:r>
            <a:r>
              <a:rPr lang="en-US" altLang="zh-CN" sz="2400" dirty="0">
                <a:hlinkClick r:id="rId3" action="ppaction://hlinkfile"/>
              </a:rPr>
              <a:t>element</a:t>
            </a:r>
            <a:r>
              <a:rPr lang="en-US" altLang="zh-CN" sz="2400" dirty="0"/>
              <a:t> attribute of the </a:t>
            </a:r>
            <a:r>
              <a:rPr lang="en-US" altLang="zh-CN" sz="2400" dirty="0">
                <a:hlinkClick r:id="rId3" action="ppaction://hlinkfile"/>
              </a:rPr>
              <a:t>input</a:t>
            </a:r>
            <a:r>
              <a:rPr lang="en-US" altLang="zh-CN" sz="2400" dirty="0"/>
              <a:t> and </a:t>
            </a:r>
            <a:r>
              <a:rPr lang="en-US" altLang="zh-CN" sz="2400" dirty="0">
                <a:hlinkClick r:id="rId3" action="ppaction://hlinkfile"/>
              </a:rPr>
              <a:t>output</a:t>
            </a:r>
            <a:r>
              <a:rPr lang="en-US" altLang="zh-CN" sz="2400" dirty="0"/>
              <a:t> elements is used to specify the message content schema when the content model is defined using XML Schema. It can specify the </a:t>
            </a:r>
            <a:r>
              <a:rPr lang="en-US" altLang="zh-CN" sz="2400" dirty="0" err="1">
                <a:solidFill>
                  <a:srgbClr val="FF0000"/>
                </a:solidFill>
              </a:rPr>
              <a:t>QName</a:t>
            </a:r>
            <a:r>
              <a:rPr lang="en-US" altLang="zh-CN" sz="2400" dirty="0">
                <a:solidFill>
                  <a:srgbClr val="FF0000"/>
                </a:solidFill>
              </a:rPr>
              <a:t> </a:t>
            </a:r>
            <a:r>
              <a:rPr lang="en-US" altLang="zh-CN" sz="2400" dirty="0"/>
              <a:t>of an element schema that was defined in the </a:t>
            </a:r>
            <a:r>
              <a:rPr lang="en-US" altLang="zh-CN" sz="2400" dirty="0">
                <a:hlinkClick r:id="rId4" action="ppaction://hlinkfile"/>
              </a:rPr>
              <a:t>types</a:t>
            </a:r>
            <a:r>
              <a:rPr lang="en-US" altLang="zh-CN" sz="2400" dirty="0"/>
              <a:t> section</a:t>
            </a:r>
          </a:p>
          <a:p>
            <a:pPr>
              <a:lnSpc>
                <a:spcPct val="110000"/>
              </a:lnSpc>
              <a:defRPr/>
            </a:pPr>
            <a:r>
              <a:rPr lang="en-US" altLang="zh-CN" sz="2400" dirty="0"/>
              <a:t>However, alternatively it can specify one of the following tokens:</a:t>
            </a:r>
          </a:p>
          <a:p>
            <a:pPr lvl="1">
              <a:lnSpc>
                <a:spcPct val="110000"/>
              </a:lnSpc>
              <a:defRPr/>
            </a:pPr>
            <a:r>
              <a:rPr lang="en-US" altLang="zh-CN" sz="1800" dirty="0">
                <a:solidFill>
                  <a:srgbClr val="FF0000"/>
                </a:solidFill>
              </a:rPr>
              <a:t>#any  </a:t>
            </a:r>
            <a:r>
              <a:rPr lang="en-US" altLang="zh-CN" sz="1800" dirty="0"/>
              <a:t>The message content is any single element</a:t>
            </a:r>
          </a:p>
          <a:p>
            <a:pPr lvl="1">
              <a:lnSpc>
                <a:spcPct val="110000"/>
              </a:lnSpc>
              <a:defRPr/>
            </a:pPr>
            <a:r>
              <a:rPr lang="en-US" altLang="zh-CN" sz="1800" dirty="0">
                <a:solidFill>
                  <a:srgbClr val="FF0000"/>
                </a:solidFill>
              </a:rPr>
              <a:t>#none </a:t>
            </a:r>
            <a:r>
              <a:rPr lang="en-US" altLang="zh-CN" sz="1800" dirty="0"/>
              <a:t>There is no message content, i.e., the message payload is empty</a:t>
            </a:r>
          </a:p>
          <a:p>
            <a:pPr lvl="1">
              <a:lnSpc>
                <a:spcPct val="110000"/>
              </a:lnSpc>
              <a:defRPr/>
            </a:pPr>
            <a:r>
              <a:rPr lang="en-US" altLang="zh-CN" sz="1800" dirty="0">
                <a:solidFill>
                  <a:srgbClr val="FF0000"/>
                </a:solidFill>
              </a:rPr>
              <a:t>#other </a:t>
            </a:r>
            <a:r>
              <a:rPr lang="en-US" altLang="zh-CN" sz="1800" dirty="0"/>
              <a:t>The message content is described by a non-XML type system. Extension attributes specify the type. #other is default, if the </a:t>
            </a:r>
            <a:r>
              <a:rPr lang="en-US" altLang="zh-CN" sz="1800" dirty="0">
                <a:hlinkClick r:id="rId3" action="ppaction://hlinkfile"/>
              </a:rPr>
              <a:t>element</a:t>
            </a:r>
            <a:r>
              <a:rPr lang="en-US" altLang="zh-CN" sz="1800" dirty="0"/>
              <a:t> attribute is omitted</a:t>
            </a:r>
          </a:p>
          <a:p>
            <a:pPr>
              <a:lnSpc>
                <a:spcPct val="110000"/>
              </a:lnSpc>
              <a:defRPr/>
            </a:pPr>
            <a:r>
              <a:rPr lang="en-US" altLang="zh-CN" sz="2400" dirty="0"/>
              <a:t>Note that there are situations that the information conveyed in the </a:t>
            </a:r>
            <a:r>
              <a:rPr lang="en-US" altLang="zh-CN" sz="2400" dirty="0">
                <a:hlinkClick r:id="rId3" action="ppaction://hlinkfile"/>
              </a:rPr>
              <a:t>element</a:t>
            </a:r>
            <a:r>
              <a:rPr lang="en-US" altLang="zh-CN" sz="2400" dirty="0"/>
              <a:t> attribute is not sufficient for a service implementation to uniquely identify an incoming message and dispatch it to an appropriate operation. In such situations, additional means may be required to aid identifying an incoming message</a:t>
            </a:r>
          </a:p>
        </p:txBody>
      </p:sp>
      <p:sp>
        <p:nvSpPr>
          <p:cNvPr id="39940" name="灯片编号占位符 3">
            <a:extLst>
              <a:ext uri="{FF2B5EF4-FFF2-40B4-BE49-F238E27FC236}">
                <a16:creationId xmlns:a16="http://schemas.microsoft.com/office/drawing/2014/main" id="{CF57720C-028F-4D1F-8283-25AF61040A1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11</a:t>
            </a:fld>
            <a:endParaRPr lang="en-US" altLang="zh-CN" sz="1000">
              <a:solidFill>
                <a:srgbClr val="000000"/>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DA40A021-A7A7-40EE-9480-002784F80138}"/>
              </a:ext>
            </a:extLst>
          </p:cNvPr>
          <p:cNvSpPr>
            <a:spLocks noGrp="1"/>
          </p:cNvSpPr>
          <p:nvPr>
            <p:ph type="title"/>
          </p:nvPr>
        </p:nvSpPr>
        <p:spPr/>
        <p:txBody>
          <a:bodyPr>
            <a:normAutofit fontScale="90000"/>
          </a:bodyPr>
          <a:lstStyle/>
          <a:p>
            <a:pPr>
              <a:defRPr/>
            </a:pPr>
            <a:r>
              <a:rPr lang="en-US" altLang="zh-CN" dirty="0"/>
              <a:t>Message Exchange Patterns (MEPs) (1/5)</a:t>
            </a:r>
            <a:endParaRPr lang="zh-CN" altLang="en-US" dirty="0"/>
          </a:p>
        </p:txBody>
      </p:sp>
      <p:sp>
        <p:nvSpPr>
          <p:cNvPr id="3" name="内容占位符 2">
            <a:extLst>
              <a:ext uri="{FF2B5EF4-FFF2-40B4-BE49-F238E27FC236}">
                <a16:creationId xmlns:a16="http://schemas.microsoft.com/office/drawing/2014/main" id="{3A86F283-D345-483D-B495-937CE3F6CB21}"/>
              </a:ext>
            </a:extLst>
          </p:cNvPr>
          <p:cNvSpPr>
            <a:spLocks noGrp="1"/>
          </p:cNvSpPr>
          <p:nvPr>
            <p:ph idx="1"/>
          </p:nvPr>
        </p:nvSpPr>
        <p:spPr/>
        <p:txBody>
          <a:bodyPr>
            <a:normAutofit fontScale="70000" lnSpcReduction="20000"/>
          </a:bodyPr>
          <a:lstStyle/>
          <a:p>
            <a:pPr>
              <a:lnSpc>
                <a:spcPct val="120000"/>
              </a:lnSpc>
              <a:defRPr/>
            </a:pPr>
            <a:r>
              <a:rPr lang="en-US" altLang="zh-CN" dirty="0"/>
              <a:t>WSDL 2.0 message exchange patterns (MEPs) are used to define the sequence and cardinality of the abstract messages in an operation</a:t>
            </a:r>
          </a:p>
          <a:p>
            <a:pPr>
              <a:lnSpc>
                <a:spcPct val="120000"/>
              </a:lnSpc>
              <a:defRPr/>
            </a:pPr>
            <a:r>
              <a:rPr lang="en-US" altLang="zh-CN" dirty="0"/>
              <a:t>To maximize reuse, WSDL 2.0 MEPs contain only necessary information between other parties and Web Services. WSDL 2.0 MEPs are abstract</a:t>
            </a:r>
          </a:p>
          <a:p>
            <a:pPr lvl="1">
              <a:lnSpc>
                <a:spcPct val="120000"/>
              </a:lnSpc>
              <a:defRPr/>
            </a:pPr>
            <a:r>
              <a:rPr lang="en-US" altLang="zh-CN" dirty="0"/>
              <a:t>They abstract out specific message types. MEPs identify placeholders for messages, and placeholders are associated with specific message types when an operation is defined, which includes specifying which MEP to use for that operation</a:t>
            </a:r>
          </a:p>
          <a:p>
            <a:pPr lvl="1">
              <a:lnSpc>
                <a:spcPct val="120000"/>
              </a:lnSpc>
              <a:defRPr/>
            </a:pPr>
            <a:r>
              <a:rPr lang="en-US" altLang="zh-CN" dirty="0"/>
              <a:t>Unless explicitly stated otherwise, MEPs also abstract out binding-specific information like timing between messages, whether the pattern is synchronous or asynchronous, and whether the messages are sent over a single or multiple channels</a:t>
            </a:r>
          </a:p>
          <a:p>
            <a:pPr lvl="1">
              <a:defRPr/>
            </a:pPr>
            <a:endParaRPr lang="en-US" altLang="zh-CN" dirty="0"/>
          </a:p>
        </p:txBody>
      </p:sp>
      <p:sp>
        <p:nvSpPr>
          <p:cNvPr id="41988" name="灯片编号占位符 3">
            <a:extLst>
              <a:ext uri="{FF2B5EF4-FFF2-40B4-BE49-F238E27FC236}">
                <a16:creationId xmlns:a16="http://schemas.microsoft.com/office/drawing/2014/main" id="{5F5E8304-31AF-492B-9B92-5F1DCD4B99F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12</a:t>
            </a:fld>
            <a:endParaRPr lang="en-US" altLang="zh-CN" sz="1000">
              <a:solidFill>
                <a:srgbClr val="000000"/>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1">
            <a:extLst>
              <a:ext uri="{FF2B5EF4-FFF2-40B4-BE49-F238E27FC236}">
                <a16:creationId xmlns:a16="http://schemas.microsoft.com/office/drawing/2014/main" id="{9BBC21C6-6DF8-40B3-B605-F4233E45734B}"/>
              </a:ext>
            </a:extLst>
          </p:cNvPr>
          <p:cNvSpPr>
            <a:spLocks noGrp="1"/>
          </p:cNvSpPr>
          <p:nvPr>
            <p:ph type="title"/>
          </p:nvPr>
        </p:nvSpPr>
        <p:spPr/>
        <p:txBody>
          <a:bodyPr>
            <a:normAutofit fontScale="90000"/>
          </a:bodyPr>
          <a:lstStyle/>
          <a:p>
            <a:pPr>
              <a:defRPr/>
            </a:pPr>
            <a:r>
              <a:rPr lang="en-US" altLang="zh-CN" dirty="0"/>
              <a:t>Message Exchange Patterns (MEPs) (2/5)</a:t>
            </a:r>
            <a:endParaRPr lang="zh-CN" altLang="en-US" dirty="0"/>
          </a:p>
        </p:txBody>
      </p:sp>
      <p:sp>
        <p:nvSpPr>
          <p:cNvPr id="145411" name="内容占位符 2">
            <a:extLst>
              <a:ext uri="{FF2B5EF4-FFF2-40B4-BE49-F238E27FC236}">
                <a16:creationId xmlns:a16="http://schemas.microsoft.com/office/drawing/2014/main" id="{152FA697-AC2B-4A52-A216-FDC533493008}"/>
              </a:ext>
            </a:extLst>
          </p:cNvPr>
          <p:cNvSpPr>
            <a:spLocks noGrp="1"/>
          </p:cNvSpPr>
          <p:nvPr>
            <p:ph idx="1"/>
          </p:nvPr>
        </p:nvSpPr>
        <p:spPr/>
        <p:txBody>
          <a:bodyPr>
            <a:normAutofit/>
          </a:bodyPr>
          <a:lstStyle/>
          <a:p>
            <a:pPr>
              <a:defRPr/>
            </a:pPr>
            <a:r>
              <a:rPr lang="en-US" altLang="zh-CN" sz="2400" dirty="0"/>
              <a:t>Besides, WSDL 2.0 MEPs do not exhaustively describe the set of messages that may be exchanged between a service and other nodes. By some prior agreement, another node and/or the service may send other messages (to each other or to other nodes) that are not described by the MEP</a:t>
            </a:r>
          </a:p>
          <a:p>
            <a:pPr lvl="1">
              <a:defRPr/>
            </a:pPr>
            <a:r>
              <a:rPr lang="en-US" altLang="zh-CN" sz="2000" dirty="0"/>
              <a:t>For instance, even though an MEP may define a single message sent from a service to one other node, a service defined by that MEP may multicast that message to other nodes</a:t>
            </a:r>
          </a:p>
          <a:p>
            <a:pPr>
              <a:defRPr/>
            </a:pPr>
            <a:r>
              <a:rPr lang="en-US" altLang="zh-CN" sz="2400" dirty="0"/>
              <a:t>Although the eight MEPs defined in WSDL 2.0 Part 2 [</a:t>
            </a:r>
            <a:r>
              <a:rPr lang="en-US" altLang="zh-CN" sz="2400" dirty="0">
                <a:hlinkClick r:id="rId3" action="ppaction://hlinkfile"/>
              </a:rPr>
              <a:t>WSDL 2.0 Adjuncts</a:t>
            </a:r>
            <a:r>
              <a:rPr lang="en-US" altLang="zh-CN" sz="2400" dirty="0"/>
              <a:t>] are intended to cover most use cases, WSDL 2.0 has designed this set to be extensible. This is why MEPs are identified by URIs rather than a fixed set of tokens</a:t>
            </a:r>
          </a:p>
        </p:txBody>
      </p:sp>
      <p:sp>
        <p:nvSpPr>
          <p:cNvPr id="44036" name="灯片编号占位符 3">
            <a:extLst>
              <a:ext uri="{FF2B5EF4-FFF2-40B4-BE49-F238E27FC236}">
                <a16:creationId xmlns:a16="http://schemas.microsoft.com/office/drawing/2014/main" id="{06DEB970-23D1-43CA-A1DD-1AFA4678724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13</a:t>
            </a:fld>
            <a:endParaRPr lang="en-US" altLang="zh-CN" sz="1000">
              <a:solidFill>
                <a:srgbClr val="000000"/>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标题 1">
            <a:extLst>
              <a:ext uri="{FF2B5EF4-FFF2-40B4-BE49-F238E27FC236}">
                <a16:creationId xmlns:a16="http://schemas.microsoft.com/office/drawing/2014/main" id="{3059C4D5-CCB6-4592-B3C2-8292BC70FD4A}"/>
              </a:ext>
            </a:extLst>
          </p:cNvPr>
          <p:cNvSpPr>
            <a:spLocks noGrp="1"/>
          </p:cNvSpPr>
          <p:nvPr>
            <p:ph type="title"/>
          </p:nvPr>
        </p:nvSpPr>
        <p:spPr/>
        <p:txBody>
          <a:bodyPr>
            <a:normAutofit fontScale="90000"/>
          </a:bodyPr>
          <a:lstStyle/>
          <a:p>
            <a:pPr>
              <a:defRPr/>
            </a:pPr>
            <a:r>
              <a:rPr lang="en-US" altLang="zh-CN" dirty="0"/>
              <a:t>Message Exchange Patterns (MEPs) (3/5)</a:t>
            </a:r>
            <a:endParaRPr lang="zh-CN" altLang="en-US" dirty="0"/>
          </a:p>
        </p:txBody>
      </p:sp>
      <p:sp>
        <p:nvSpPr>
          <p:cNvPr id="46083" name="内容占位符 2">
            <a:extLst>
              <a:ext uri="{FF2B5EF4-FFF2-40B4-BE49-F238E27FC236}">
                <a16:creationId xmlns:a16="http://schemas.microsoft.com/office/drawing/2014/main" id="{853BF5DD-4DAD-4B0D-A5FE-3CFB8D2864A0}"/>
              </a:ext>
            </a:extLst>
          </p:cNvPr>
          <p:cNvSpPr>
            <a:spLocks noGrp="1"/>
          </p:cNvSpPr>
          <p:nvPr>
            <p:ph idx="1"/>
          </p:nvPr>
        </p:nvSpPr>
        <p:spPr>
          <a:xfrm>
            <a:off x="457200" y="3449638"/>
            <a:ext cx="8075613" cy="3240087"/>
          </a:xfrm>
        </p:spPr>
        <p:txBody>
          <a:bodyPr/>
          <a:lstStyle/>
          <a:p>
            <a:r>
              <a:rPr lang="en-US" altLang="zh-CN" sz="2000"/>
              <a:t>For the eight MEPs defined by WSDL 2.0, some of them are variations of others based on how faults may be generated. </a:t>
            </a:r>
          </a:p>
          <a:p>
            <a:pPr lvl="1"/>
            <a:r>
              <a:rPr lang="en-US" altLang="zh-CN" sz="1800"/>
              <a:t>e.g., the </a:t>
            </a:r>
            <a:r>
              <a:rPr lang="en-US" altLang="zh-CN" sz="1800">
                <a:solidFill>
                  <a:srgbClr val="FF0000"/>
                </a:solidFill>
              </a:rPr>
              <a:t>In-Only</a:t>
            </a:r>
            <a:r>
              <a:rPr lang="en-US" altLang="zh-CN" sz="1800"/>
              <a:t> pattern ("</a:t>
            </a:r>
            <a:r>
              <a:rPr lang="en-US" altLang="zh-CN" sz="1800">
                <a:hlinkClick r:id="rId3"/>
              </a:rPr>
              <a:t>http://www.w3.org/ns/wsdl/in-only</a:t>
            </a:r>
            <a:r>
              <a:rPr lang="en-US" altLang="zh-CN" sz="1800"/>
              <a:t>") consists of exactly one message received by a service from some other node. No fault can be generated</a:t>
            </a:r>
          </a:p>
          <a:p>
            <a:pPr lvl="1"/>
            <a:r>
              <a:rPr lang="en-US" altLang="zh-CN" sz="1800">
                <a:solidFill>
                  <a:srgbClr val="FF0000"/>
                </a:solidFill>
              </a:rPr>
              <a:t>Robust In-Only </a:t>
            </a:r>
            <a:r>
              <a:rPr lang="en-US" altLang="zh-CN" sz="1800"/>
              <a:t>pattern ("</a:t>
            </a:r>
            <a:r>
              <a:rPr lang="en-US" altLang="zh-CN" sz="1800">
                <a:hlinkClick r:id="rId3"/>
              </a:rPr>
              <a:t>http://www.w3.org/ns/wsdl/robust-in-only</a:t>
            </a:r>
            <a:r>
              <a:rPr lang="en-US" altLang="zh-CN" sz="1800"/>
              <a:t>") also consists of exactly one message received by a service, but in this case faults can be triggered by the message and must be delivered to the originator of the message. If there is no path to this node, the fault must be discarded</a:t>
            </a:r>
          </a:p>
        </p:txBody>
      </p:sp>
      <p:sp>
        <p:nvSpPr>
          <p:cNvPr id="46084" name="灯片编号占位符 3">
            <a:extLst>
              <a:ext uri="{FF2B5EF4-FFF2-40B4-BE49-F238E27FC236}">
                <a16:creationId xmlns:a16="http://schemas.microsoft.com/office/drawing/2014/main" id="{9944552C-CFC3-4052-A504-879F83ECBA8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14</a:t>
            </a:fld>
            <a:endParaRPr lang="en-US" altLang="zh-CN" sz="1000">
              <a:solidFill>
                <a:srgbClr val="000000"/>
              </a:solidFill>
            </a:endParaRPr>
          </a:p>
        </p:txBody>
      </p:sp>
      <p:graphicFrame>
        <p:nvGraphicFramePr>
          <p:cNvPr id="4" name="表格 3">
            <a:extLst>
              <a:ext uri="{FF2B5EF4-FFF2-40B4-BE49-F238E27FC236}">
                <a16:creationId xmlns:a16="http://schemas.microsoft.com/office/drawing/2014/main" id="{C52878D0-0A93-4BC1-B142-AF820CB4F627}"/>
              </a:ext>
            </a:extLst>
          </p:cNvPr>
          <p:cNvGraphicFramePr>
            <a:graphicFrameLocks noGrp="1"/>
          </p:cNvGraphicFramePr>
          <p:nvPr/>
        </p:nvGraphicFramePr>
        <p:xfrm>
          <a:off x="2411413" y="1417638"/>
          <a:ext cx="3887788" cy="1854200"/>
        </p:xfrm>
        <a:graphic>
          <a:graphicData uri="http://schemas.openxmlformats.org/drawingml/2006/table">
            <a:tbl>
              <a:tblPr firstRow="1" bandRow="1">
                <a:tableStyleId>{5C22544A-7EE6-4342-B048-85BDC9FD1C3A}</a:tableStyleId>
              </a:tblPr>
              <a:tblGrid>
                <a:gridCol w="1943894">
                  <a:extLst>
                    <a:ext uri="{9D8B030D-6E8A-4147-A177-3AD203B41FA5}">
                      <a16:colId xmlns:a16="http://schemas.microsoft.com/office/drawing/2014/main" val="20000"/>
                    </a:ext>
                  </a:extLst>
                </a:gridCol>
                <a:gridCol w="1943894">
                  <a:extLst>
                    <a:ext uri="{9D8B030D-6E8A-4147-A177-3AD203B41FA5}">
                      <a16:colId xmlns:a16="http://schemas.microsoft.com/office/drawing/2014/main" val="20001"/>
                    </a:ext>
                  </a:extLst>
                </a:gridCol>
              </a:tblGrid>
              <a:tr h="370840">
                <a:tc gridSpan="2">
                  <a:txBody>
                    <a:bodyPr/>
                    <a:lstStyle/>
                    <a:p>
                      <a:pPr algn="ctr"/>
                      <a:r>
                        <a:rPr lang="en-US" altLang="zh-CN" baseline="0" dirty="0"/>
                        <a:t>MEP defined in WSDL 2.0</a:t>
                      </a:r>
                      <a:endParaRPr lang="zh-CN" altLang="en-US" dirty="0"/>
                    </a:p>
                  </a:txBody>
                  <a:tcPr marL="91425" marR="91425"/>
                </a:tc>
                <a:tc hMerge="1">
                  <a:txBody>
                    <a:bodyPr/>
                    <a:lstStyle/>
                    <a:p>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effectLst/>
                        </a:rPr>
                        <a:t>in-only </a:t>
                      </a:r>
                      <a:endParaRPr lang="zh-CN" altLang="en-US" dirty="0"/>
                    </a:p>
                  </a:txBody>
                  <a:tcPr marL="91425" marR="91425"/>
                </a:tc>
                <a:tc>
                  <a:txBody>
                    <a:bodyPr/>
                    <a:lstStyle/>
                    <a:p>
                      <a:r>
                        <a:rPr lang="en-US" altLang="zh-CN" dirty="0">
                          <a:effectLst/>
                        </a:rPr>
                        <a:t>out-only </a:t>
                      </a:r>
                      <a:endParaRPr lang="zh-CN" altLang="en-US" dirty="0"/>
                    </a:p>
                  </a:txBody>
                  <a:tcPr marL="91425" marR="91425"/>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effectLst/>
                        </a:rPr>
                        <a:t>robust-in-only </a:t>
                      </a:r>
                      <a:endParaRPr lang="zh-CN" altLang="en-US" dirty="0"/>
                    </a:p>
                  </a:txBody>
                  <a:tcPr marL="91425" marR="91425"/>
                </a:tc>
                <a:tc>
                  <a:txBody>
                    <a:bodyPr/>
                    <a:lstStyle/>
                    <a:p>
                      <a:r>
                        <a:rPr lang="en-US" altLang="zh-CN" dirty="0">
                          <a:effectLst/>
                        </a:rPr>
                        <a:t>robust out-only </a:t>
                      </a:r>
                      <a:endParaRPr lang="zh-CN" altLang="en-US" dirty="0"/>
                    </a:p>
                  </a:txBody>
                  <a:tcPr marL="91425" marR="91425"/>
                </a:tc>
                <a:extLst>
                  <a:ext uri="{0D108BD9-81ED-4DB2-BD59-A6C34878D82A}">
                    <a16:rowId xmlns:a16="http://schemas.microsoft.com/office/drawing/2014/main" val="10002"/>
                  </a:ext>
                </a:extLst>
              </a:tr>
              <a:tr h="370840">
                <a:tc>
                  <a:txBody>
                    <a:bodyPr/>
                    <a:lstStyle/>
                    <a:p>
                      <a:r>
                        <a:rPr lang="en-US" altLang="zh-CN" dirty="0">
                          <a:effectLst/>
                        </a:rPr>
                        <a:t>in-out</a:t>
                      </a:r>
                      <a:r>
                        <a:rPr lang="en-US" altLang="zh-CN" dirty="0"/>
                        <a:t> </a:t>
                      </a:r>
                      <a:endParaRPr lang="zh-CN" altLang="en-US" dirty="0"/>
                    </a:p>
                  </a:txBody>
                  <a:tcPr marL="91425" marR="91425"/>
                </a:tc>
                <a:tc>
                  <a:txBody>
                    <a:bodyPr/>
                    <a:lstStyle/>
                    <a:p>
                      <a:r>
                        <a:rPr lang="en-US" altLang="zh-CN" dirty="0">
                          <a:effectLst/>
                        </a:rPr>
                        <a:t>out-in </a:t>
                      </a:r>
                      <a:endParaRPr lang="zh-CN" altLang="en-US" dirty="0"/>
                    </a:p>
                  </a:txBody>
                  <a:tcPr marL="91425" marR="91425"/>
                </a:tc>
                <a:extLst>
                  <a:ext uri="{0D108BD9-81ED-4DB2-BD59-A6C34878D82A}">
                    <a16:rowId xmlns:a16="http://schemas.microsoft.com/office/drawing/2014/main" val="10003"/>
                  </a:ext>
                </a:extLst>
              </a:tr>
              <a:tr h="370840">
                <a:tc>
                  <a:txBody>
                    <a:bodyPr/>
                    <a:lstStyle/>
                    <a:p>
                      <a:r>
                        <a:rPr lang="en-US" altLang="zh-CN" dirty="0">
                          <a:effectLst/>
                        </a:rPr>
                        <a:t>in-optional-out </a:t>
                      </a:r>
                      <a:endParaRPr lang="zh-CN" altLang="en-US" dirty="0"/>
                    </a:p>
                  </a:txBody>
                  <a:tcPr marL="91425" marR="91425"/>
                </a:tc>
                <a:tc>
                  <a:txBody>
                    <a:bodyPr/>
                    <a:lstStyle/>
                    <a:p>
                      <a:r>
                        <a:rPr lang="en-US" altLang="zh-CN" dirty="0">
                          <a:effectLst/>
                        </a:rPr>
                        <a:t>out-optional-in </a:t>
                      </a:r>
                      <a:endParaRPr lang="zh-CN" altLang="en-US" dirty="0"/>
                    </a:p>
                  </a:txBody>
                  <a:tcPr marL="91425" marR="91425"/>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1">
            <a:extLst>
              <a:ext uri="{FF2B5EF4-FFF2-40B4-BE49-F238E27FC236}">
                <a16:creationId xmlns:a16="http://schemas.microsoft.com/office/drawing/2014/main" id="{2E62BFCA-ED89-4D8B-8DB1-2551B8DC1C0D}"/>
              </a:ext>
            </a:extLst>
          </p:cNvPr>
          <p:cNvSpPr>
            <a:spLocks noGrp="1"/>
          </p:cNvSpPr>
          <p:nvPr>
            <p:ph type="title"/>
          </p:nvPr>
        </p:nvSpPr>
        <p:spPr/>
        <p:txBody>
          <a:bodyPr>
            <a:normAutofit fontScale="90000"/>
          </a:bodyPr>
          <a:lstStyle/>
          <a:p>
            <a:pPr>
              <a:defRPr/>
            </a:pPr>
            <a:r>
              <a:rPr lang="en-US" altLang="zh-CN" dirty="0"/>
              <a:t>Message Exchange Patterns (MEPs) (4/5)</a:t>
            </a:r>
            <a:endParaRPr lang="zh-CN" altLang="en-US" dirty="0"/>
          </a:p>
        </p:txBody>
      </p:sp>
      <p:sp>
        <p:nvSpPr>
          <p:cNvPr id="48131" name="内容占位符 2">
            <a:extLst>
              <a:ext uri="{FF2B5EF4-FFF2-40B4-BE49-F238E27FC236}">
                <a16:creationId xmlns:a16="http://schemas.microsoft.com/office/drawing/2014/main" id="{8C300824-ED82-42D0-B102-11AA780A799F}"/>
              </a:ext>
            </a:extLst>
          </p:cNvPr>
          <p:cNvSpPr>
            <a:spLocks noGrp="1"/>
          </p:cNvSpPr>
          <p:nvPr>
            <p:ph idx="1"/>
          </p:nvPr>
        </p:nvSpPr>
        <p:spPr/>
        <p:txBody>
          <a:bodyPr/>
          <a:lstStyle/>
          <a:p>
            <a:r>
              <a:rPr lang="en-US" altLang="zh-CN" sz="2400"/>
              <a:t>Depending on how the first message in the MEP is initiated, the eight WSDL 2.0 MEPs may be grouped into two groups: </a:t>
            </a:r>
            <a:r>
              <a:rPr lang="en-US" altLang="zh-CN" sz="2400">
                <a:solidFill>
                  <a:srgbClr val="FF0000"/>
                </a:solidFill>
              </a:rPr>
              <a:t>in-bound MEPs </a:t>
            </a:r>
            <a:r>
              <a:rPr lang="en-US" altLang="zh-CN" sz="2400"/>
              <a:t>and </a:t>
            </a:r>
            <a:r>
              <a:rPr lang="en-US" altLang="zh-CN" sz="2400">
                <a:solidFill>
                  <a:srgbClr val="FF0000"/>
                </a:solidFill>
              </a:rPr>
              <a:t>out-bound MEPs</a:t>
            </a:r>
            <a:endParaRPr lang="en-US" altLang="zh-CN" sz="2400"/>
          </a:p>
          <a:p>
            <a:r>
              <a:rPr lang="en-US" altLang="zh-CN" sz="2400"/>
              <a:t>How a service knows where to send the message in </a:t>
            </a:r>
            <a:r>
              <a:rPr lang="en-US" altLang="zh-CN" sz="2400">
                <a:solidFill>
                  <a:srgbClr val="FF0000"/>
                </a:solidFill>
              </a:rPr>
              <a:t>out-bound MEPs</a:t>
            </a:r>
            <a:r>
              <a:rPr lang="en-US" altLang="zh-CN" sz="2400"/>
              <a:t>?</a:t>
            </a:r>
          </a:p>
          <a:p>
            <a:pPr lvl="1"/>
            <a:r>
              <a:rPr lang="en-US" altLang="zh-CN" sz="2000"/>
              <a:t>Services using out-bound MEPs are typically part of large scale integration systems that rely on mapping and routing facilities</a:t>
            </a:r>
          </a:p>
          <a:p>
            <a:pPr lvl="1"/>
            <a:r>
              <a:rPr lang="en-US" altLang="zh-CN" sz="2000"/>
              <a:t>In such systems, out-bound MEPs are useful for specifying the functionality of a service abstractly, including its requirements for potential customers, while endpoint address information can be provided at deployment or runtime by the underlying integration infrastructure</a:t>
            </a:r>
          </a:p>
        </p:txBody>
      </p:sp>
      <p:sp>
        <p:nvSpPr>
          <p:cNvPr id="48132" name="灯片编号占位符 3">
            <a:extLst>
              <a:ext uri="{FF2B5EF4-FFF2-40B4-BE49-F238E27FC236}">
                <a16:creationId xmlns:a16="http://schemas.microsoft.com/office/drawing/2014/main" id="{FF9BD2AA-34E7-4CDF-AC07-C3F666075AF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15</a:t>
            </a:fld>
            <a:endParaRPr lang="en-US" altLang="zh-CN" sz="1000">
              <a:solidFill>
                <a:srgbClr val="000000"/>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标题 1">
            <a:extLst>
              <a:ext uri="{FF2B5EF4-FFF2-40B4-BE49-F238E27FC236}">
                <a16:creationId xmlns:a16="http://schemas.microsoft.com/office/drawing/2014/main" id="{FF6CEC7B-EED8-4A50-A7EF-AC499131F921}"/>
              </a:ext>
            </a:extLst>
          </p:cNvPr>
          <p:cNvSpPr>
            <a:spLocks noGrp="1"/>
          </p:cNvSpPr>
          <p:nvPr>
            <p:ph type="title"/>
          </p:nvPr>
        </p:nvSpPr>
        <p:spPr/>
        <p:txBody>
          <a:bodyPr>
            <a:normAutofit fontScale="90000"/>
          </a:bodyPr>
          <a:lstStyle/>
          <a:p>
            <a:pPr>
              <a:defRPr/>
            </a:pPr>
            <a:r>
              <a:rPr lang="en-US" altLang="zh-CN" dirty="0"/>
              <a:t>Message Exchange Patterns (MEPs) (5/5)</a:t>
            </a:r>
            <a:endParaRPr lang="zh-CN" altLang="en-US" dirty="0"/>
          </a:p>
        </p:txBody>
      </p:sp>
      <p:sp>
        <p:nvSpPr>
          <p:cNvPr id="50179" name="灯片编号占位符 3">
            <a:extLst>
              <a:ext uri="{FF2B5EF4-FFF2-40B4-BE49-F238E27FC236}">
                <a16:creationId xmlns:a16="http://schemas.microsoft.com/office/drawing/2014/main" id="{535887B8-A5DC-405F-8A71-EC7AB0EF530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36D7A066-998D-4DBB-AF0E-2F0385D867E1}" type="slidenum">
              <a:rPr lang="en-US" altLang="zh-CN" smtClean="0"/>
              <a:pPr/>
              <a:t>16</a:t>
            </a:fld>
            <a:endParaRPr lang="en-US" altLang="zh-CN" sz="1000">
              <a:solidFill>
                <a:srgbClr val="000000"/>
              </a:solidFill>
            </a:endParaRPr>
          </a:p>
        </p:txBody>
      </p:sp>
      <p:sp>
        <p:nvSpPr>
          <p:cNvPr id="5" name="Text Box 4">
            <a:extLst>
              <a:ext uri="{FF2B5EF4-FFF2-40B4-BE49-F238E27FC236}">
                <a16:creationId xmlns:a16="http://schemas.microsoft.com/office/drawing/2014/main" id="{E626ED95-EF0E-44EF-B8E9-F47D00A38762}"/>
              </a:ext>
            </a:extLst>
          </p:cNvPr>
          <p:cNvSpPr txBox="1">
            <a:spLocks noChangeArrowheads="1"/>
          </p:cNvSpPr>
          <p:nvPr/>
        </p:nvSpPr>
        <p:spPr bwMode="auto">
          <a:xfrm>
            <a:off x="467544" y="1628800"/>
            <a:ext cx="8229600" cy="469051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description</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interface</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reservationInterface</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operation</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opCheckAvailability</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 </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operation</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opLogInquiry</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pattern</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http://www.w3.org/ns/wsdl/out-only</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output</a:t>
            </a: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messageLabel</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Out</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element</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ghns:customerData</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operation</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interface</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description</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69B71420-EAE0-40CD-8087-2BE2434A5A65}"/>
              </a:ext>
            </a:extLst>
          </p:cNvPr>
          <p:cNvSpPr>
            <a:spLocks noChangeShapeType="1"/>
          </p:cNvSpPr>
          <p:nvPr/>
        </p:nvSpPr>
        <p:spPr bwMode="auto">
          <a:xfrm flipH="1">
            <a:off x="5468938" y="3556000"/>
            <a:ext cx="579437" cy="2873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99222C44-04B8-48AC-B86F-23622363C93A}"/>
              </a:ext>
            </a:extLst>
          </p:cNvPr>
          <p:cNvSpPr txBox="1">
            <a:spLocks noChangeArrowheads="1"/>
          </p:cNvSpPr>
          <p:nvPr/>
        </p:nvSpPr>
        <p:spPr bwMode="auto">
          <a:xfrm>
            <a:off x="6048375" y="3141663"/>
            <a:ext cx="2771775"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Advertises to potential service clients</a:t>
            </a:r>
            <a:endParaRPr lang="en-US" altLang="zh-CN" sz="2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8AE3C02B-D47F-41AE-9973-580D41FB1264}"/>
              </a:ext>
            </a:extLst>
          </p:cNvPr>
          <p:cNvSpPr>
            <a:spLocks noGrp="1"/>
          </p:cNvSpPr>
          <p:nvPr>
            <p:ph type="title"/>
          </p:nvPr>
        </p:nvSpPr>
        <p:spPr/>
        <p:txBody>
          <a:bodyPr/>
          <a:lstStyle/>
          <a:p>
            <a:r>
              <a:rPr lang="en-US" altLang="zh-CN" sz="2800" dirty="0"/>
              <a:t>Bindings</a:t>
            </a:r>
            <a:endParaRPr lang="zh-CN" altLang="en-US" sz="2800" dirty="0"/>
          </a:p>
        </p:txBody>
      </p:sp>
      <p:sp>
        <p:nvSpPr>
          <p:cNvPr id="3" name="内容占位符 2">
            <a:extLst>
              <a:ext uri="{FF2B5EF4-FFF2-40B4-BE49-F238E27FC236}">
                <a16:creationId xmlns:a16="http://schemas.microsoft.com/office/drawing/2014/main" id="{1B0E4351-EC7D-4FC2-9201-19D9408CA68F}"/>
              </a:ext>
            </a:extLst>
          </p:cNvPr>
          <p:cNvSpPr>
            <a:spLocks noGrp="1"/>
          </p:cNvSpPr>
          <p:nvPr>
            <p:ph idx="1"/>
          </p:nvPr>
        </p:nvSpPr>
        <p:spPr/>
        <p:txBody>
          <a:bodyPr>
            <a:normAutofit lnSpcReduction="10000"/>
          </a:bodyPr>
          <a:lstStyle/>
          <a:p>
            <a:pPr>
              <a:lnSpc>
                <a:spcPct val="120000"/>
              </a:lnSpc>
              <a:defRPr/>
            </a:pPr>
            <a:r>
              <a:rPr lang="en-US" altLang="zh-CN" sz="2000" dirty="0"/>
              <a:t>Bindings are used to supply protocol and encoding details that specify </a:t>
            </a:r>
            <a:r>
              <a:rPr lang="en-US" altLang="zh-CN" sz="2000" i="1" dirty="0">
                <a:solidFill>
                  <a:srgbClr val="FF0000"/>
                </a:solidFill>
              </a:rPr>
              <a:t>how</a:t>
            </a:r>
            <a:r>
              <a:rPr lang="en-US" altLang="zh-CN" sz="2000" dirty="0">
                <a:solidFill>
                  <a:srgbClr val="FF0000"/>
                </a:solidFill>
              </a:rPr>
              <a:t> </a:t>
            </a:r>
            <a:r>
              <a:rPr lang="en-US" altLang="zh-CN" sz="2000" dirty="0"/>
              <a:t>messages are to be sent or received. Each </a:t>
            </a:r>
            <a:r>
              <a:rPr lang="en-US" altLang="zh-CN" sz="2000" dirty="0">
                <a:solidFill>
                  <a:srgbClr val="FF0000"/>
                </a:solidFill>
                <a:hlinkClick r:id="rId3" action="ppaction://hlinkfile"/>
              </a:rPr>
              <a:t>binding </a:t>
            </a:r>
            <a:r>
              <a:rPr lang="en-US" altLang="zh-CN" sz="2000" dirty="0"/>
              <a:t>element uses a particular </a:t>
            </a:r>
            <a:r>
              <a:rPr lang="en-US" altLang="zh-CN" sz="2000" i="1" dirty="0">
                <a:solidFill>
                  <a:srgbClr val="FF0000"/>
                </a:solidFill>
              </a:rPr>
              <a:t>binding extension</a:t>
            </a:r>
            <a:r>
              <a:rPr lang="en-US" altLang="zh-CN" sz="2000" dirty="0">
                <a:solidFill>
                  <a:srgbClr val="FF0000"/>
                </a:solidFill>
              </a:rPr>
              <a:t> </a:t>
            </a:r>
            <a:r>
              <a:rPr lang="en-US" altLang="zh-CN" sz="2000" dirty="0"/>
              <a:t>to specify such information</a:t>
            </a:r>
          </a:p>
          <a:p>
            <a:pPr>
              <a:lnSpc>
                <a:spcPct val="120000"/>
              </a:lnSpc>
              <a:defRPr/>
            </a:pPr>
            <a:r>
              <a:rPr lang="en-US" altLang="zh-CN" sz="2000" dirty="0"/>
              <a:t>WSDL 2.0 Part 2 [</a:t>
            </a:r>
            <a:r>
              <a:rPr lang="en-US" altLang="zh-CN" sz="2000" i="1" dirty="0">
                <a:hlinkClick r:id="rId4" action="ppaction://hlinkfile"/>
              </a:rPr>
              <a:t>WSDL 2.0 Adjuncts</a:t>
            </a:r>
            <a:r>
              <a:rPr lang="en-US" altLang="zh-CN" sz="2000" dirty="0"/>
              <a:t>] defines several binding extensions that are typically used. However, binding extensions that are not defined can also be used, provided that client and service toolkits support them</a:t>
            </a:r>
          </a:p>
          <a:p>
            <a:pPr>
              <a:lnSpc>
                <a:spcPct val="120000"/>
              </a:lnSpc>
              <a:defRPr/>
            </a:pPr>
            <a:r>
              <a:rPr lang="en-US" altLang="zh-CN" sz="2000" dirty="0"/>
              <a:t>Binding information must be supplied for every operation in the interface that is used in an endpoint</a:t>
            </a:r>
          </a:p>
          <a:p>
            <a:pPr>
              <a:lnSpc>
                <a:spcPct val="120000"/>
              </a:lnSpc>
              <a:defRPr/>
            </a:pPr>
            <a:r>
              <a:rPr lang="en-US" altLang="zh-CN" sz="2000" dirty="0"/>
              <a:t>However, if the desired binding extension provides suitable defaulting rules, then the information will only need to be explicitly supplied at the interface level, and the defaulting rules will implicitly propagate the information to the operations of the interface</a:t>
            </a:r>
          </a:p>
        </p:txBody>
      </p:sp>
      <p:sp>
        <p:nvSpPr>
          <p:cNvPr id="21508" name="灯片编号占位符 3">
            <a:extLst>
              <a:ext uri="{FF2B5EF4-FFF2-40B4-BE49-F238E27FC236}">
                <a16:creationId xmlns:a16="http://schemas.microsoft.com/office/drawing/2014/main" id="{F0E8FE1A-D2B9-40D8-A680-EC653ADB8A64}"/>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17</a:t>
            </a:fld>
            <a:endParaRPr lang="en-US" altLang="zh-CN" sz="1000">
              <a:solidFill>
                <a:srgbClr val="000000"/>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348D647E-FA75-4BD0-BE85-A695982132DF}"/>
              </a:ext>
            </a:extLst>
          </p:cNvPr>
          <p:cNvSpPr>
            <a:spLocks noGrp="1"/>
          </p:cNvSpPr>
          <p:nvPr>
            <p:ph type="title"/>
          </p:nvPr>
        </p:nvSpPr>
        <p:spPr/>
        <p:txBody>
          <a:bodyPr/>
          <a:lstStyle/>
          <a:p>
            <a:r>
              <a:rPr lang="en-US" altLang="zh-CN" sz="2800" dirty="0"/>
              <a:t>Syntax Summary for Bindings</a:t>
            </a:r>
            <a:endParaRPr lang="zh-CN" altLang="en-US" sz="2800" dirty="0"/>
          </a:p>
        </p:txBody>
      </p:sp>
      <p:sp>
        <p:nvSpPr>
          <p:cNvPr id="3" name="内容占位符 2">
            <a:extLst>
              <a:ext uri="{FF2B5EF4-FFF2-40B4-BE49-F238E27FC236}">
                <a16:creationId xmlns:a16="http://schemas.microsoft.com/office/drawing/2014/main" id="{B3E74299-948D-4F5E-A8B1-8558100340C5}"/>
              </a:ext>
            </a:extLst>
          </p:cNvPr>
          <p:cNvSpPr>
            <a:spLocks noGrp="1"/>
          </p:cNvSpPr>
          <p:nvPr>
            <p:ph idx="1"/>
          </p:nvPr>
        </p:nvSpPr>
        <p:spPr>
          <a:xfrm>
            <a:off x="457200" y="1270658"/>
            <a:ext cx="8229600" cy="1512887"/>
          </a:xfrm>
        </p:spPr>
        <p:txBody>
          <a:bodyPr>
            <a:normAutofit fontScale="47500" lnSpcReduction="20000"/>
          </a:bodyPr>
          <a:lstStyle/>
          <a:p>
            <a:pPr>
              <a:defRPr/>
            </a:pPr>
            <a:r>
              <a:rPr lang="en-US" altLang="zh-CN" sz="4000" dirty="0"/>
              <a:t>Since bindings are specified using extensions to the WSDL 2.0 language (i.e., binding extensions are not in the WSDL 2.0 namespace), the XML for expressing a binding will consist of a mixture of elements and attributes from WSDL 2.0 namespace and from the binding extension's namespace, using WSDL 2.0's open content model</a:t>
            </a:r>
          </a:p>
        </p:txBody>
      </p:sp>
      <p:sp>
        <p:nvSpPr>
          <p:cNvPr id="23556" name="灯片编号占位符 3">
            <a:extLst>
              <a:ext uri="{FF2B5EF4-FFF2-40B4-BE49-F238E27FC236}">
                <a16:creationId xmlns:a16="http://schemas.microsoft.com/office/drawing/2014/main" id="{66DA90F5-0A30-4989-872E-B4B0A47FF34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18</a:t>
            </a:fld>
            <a:endParaRPr lang="en-US" altLang="zh-CN" sz="1000">
              <a:solidFill>
                <a:srgbClr val="000000"/>
              </a:solidFill>
            </a:endParaRPr>
          </a:p>
        </p:txBody>
      </p:sp>
      <p:sp>
        <p:nvSpPr>
          <p:cNvPr id="5" name="Text Box 4">
            <a:extLst>
              <a:ext uri="{FF2B5EF4-FFF2-40B4-BE49-F238E27FC236}">
                <a16:creationId xmlns:a16="http://schemas.microsoft.com/office/drawing/2014/main" id="{98B054A6-9D31-4EED-8585-A733107563DE}"/>
              </a:ext>
            </a:extLst>
          </p:cNvPr>
          <p:cNvSpPr txBox="1">
            <a:spLocks noChangeArrowheads="1"/>
          </p:cNvSpPr>
          <p:nvPr/>
        </p:nvSpPr>
        <p:spPr bwMode="auto">
          <a:xfrm>
            <a:off x="590872" y="2857228"/>
            <a:ext cx="8229600" cy="3884140"/>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description</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targetNamespace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xs:anyURI</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600" dirty="0">
                <a:solidFill>
                  <a:srgbClr val="000000"/>
                </a:solidFill>
                <a:highlight>
                  <a:srgbClr val="FFFFFF"/>
                </a:highlight>
                <a:latin typeface="Arial"/>
              </a:rPr>
              <a:t>  </a:t>
            </a:r>
            <a:r>
              <a:rPr lang="en-US" altLang="zh-CN" sz="16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binding</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xs:NCName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interface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xs:QName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fault</a:t>
            </a:r>
            <a:r>
              <a:rPr lang="en-US" altLang="zh-CN" sz="1600" dirty="0">
                <a:solidFill>
                  <a:srgbClr val="FF0000"/>
                </a:solidFill>
                <a:highlight>
                  <a:srgbClr val="FFFFFF"/>
                </a:highlight>
                <a:latin typeface="Arial"/>
              </a:rPr>
              <a:t> ref</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xs:QName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fault</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operation</a:t>
            </a:r>
            <a:r>
              <a:rPr lang="en-US" altLang="zh-CN" sz="1600" dirty="0">
                <a:solidFill>
                  <a:srgbClr val="FF0000"/>
                </a:solidFill>
                <a:highlight>
                  <a:srgbClr val="FFFFFF"/>
                </a:highlight>
                <a:latin typeface="Arial"/>
              </a:rPr>
              <a:t> ref</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xs:QName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input</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messageLabel</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xs:NCName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input</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output</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messageLabel</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xs:NCName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output</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infault</a:t>
            </a:r>
            <a:r>
              <a:rPr lang="en-US" altLang="zh-CN" sz="1600" dirty="0">
                <a:solidFill>
                  <a:srgbClr val="FF0000"/>
                </a:solidFill>
                <a:highlight>
                  <a:srgbClr val="FFFFFF"/>
                </a:highlight>
                <a:latin typeface="Arial"/>
              </a:rPr>
              <a:t> ref</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xs:QName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messageLabel</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xs:NCName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infault</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outfault</a:t>
            </a:r>
            <a:r>
              <a:rPr lang="en-US" altLang="zh-CN" sz="1600" dirty="0">
                <a:solidFill>
                  <a:srgbClr val="FF0000"/>
                </a:solidFill>
                <a:highlight>
                  <a:srgbClr val="FFFFFF"/>
                </a:highlight>
                <a:latin typeface="Arial"/>
              </a:rPr>
              <a:t> ref</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xs:QName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messageLabel</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xs:NCName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outfault</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operation</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binding</a:t>
            </a:r>
            <a:r>
              <a:rPr lang="en-US" altLang="zh-CN" sz="1600" dirty="0">
                <a:solidFill>
                  <a:srgbClr val="0000FF"/>
                </a:solidFill>
                <a:highlight>
                  <a:srgbClr val="FFFFFF"/>
                </a:highlight>
                <a:latin typeface="Arial"/>
              </a:rPr>
              <a:t>&gt;</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zh-CN" altLang="en-US" sz="1600" dirty="0">
                <a:solidFill>
                  <a:srgbClr val="000000"/>
                </a:solidFill>
                <a:highlight>
                  <a:srgbClr val="FFFFFF"/>
                </a:highlight>
                <a:latin typeface="Arial"/>
              </a:rPr>
              <a:t>  </a:t>
            </a:r>
            <a:r>
              <a:rPr lang="en-US" altLang="zh-CN" sz="16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description</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C6C4C791-06D1-408F-925A-E8B355F01F87}"/>
              </a:ext>
            </a:extLst>
          </p:cNvPr>
          <p:cNvSpPr>
            <a:spLocks noChangeShapeType="1"/>
          </p:cNvSpPr>
          <p:nvPr/>
        </p:nvSpPr>
        <p:spPr bwMode="auto">
          <a:xfrm flipH="1" flipV="1">
            <a:off x="5795963" y="3573463"/>
            <a:ext cx="992187"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BEB2AA92-94D4-4E61-B3C5-B117E38E5017}"/>
              </a:ext>
            </a:extLst>
          </p:cNvPr>
          <p:cNvSpPr txBox="1">
            <a:spLocks noChangeArrowheads="1"/>
          </p:cNvSpPr>
          <p:nvPr/>
        </p:nvSpPr>
        <p:spPr bwMode="auto">
          <a:xfrm>
            <a:off x="6788150" y="3141663"/>
            <a:ext cx="2052638"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May contains documentation element</a:t>
            </a:r>
          </a:p>
        </p:txBody>
      </p:sp>
      <p:sp>
        <p:nvSpPr>
          <p:cNvPr id="8" name="Line 15">
            <a:extLst>
              <a:ext uri="{FF2B5EF4-FFF2-40B4-BE49-F238E27FC236}">
                <a16:creationId xmlns:a16="http://schemas.microsoft.com/office/drawing/2014/main" id="{717D22E1-9E11-46F2-876F-A59BC3A6CB00}"/>
              </a:ext>
            </a:extLst>
          </p:cNvPr>
          <p:cNvSpPr>
            <a:spLocks noChangeShapeType="1"/>
          </p:cNvSpPr>
          <p:nvPr/>
        </p:nvSpPr>
        <p:spPr bwMode="auto">
          <a:xfrm flipH="1" flipV="1">
            <a:off x="3203575" y="5589588"/>
            <a:ext cx="847725" cy="4318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8ED1179E-F40C-4166-AD59-1147C160D4F2}"/>
              </a:ext>
            </a:extLst>
          </p:cNvPr>
          <p:cNvSpPr txBox="1">
            <a:spLocks noChangeArrowheads="1"/>
          </p:cNvSpPr>
          <p:nvPr/>
        </p:nvSpPr>
        <p:spPr bwMode="auto">
          <a:xfrm>
            <a:off x="4051300" y="5589588"/>
            <a:ext cx="3616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Only shows the elements and attributes defined within the WSDL 2.0 namespace</a:t>
            </a:r>
            <a:endParaRPr lang="en-US" altLang="zh-CN" sz="2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F128267C-9CA9-450F-B56C-F10A7BA37A21}"/>
              </a:ext>
            </a:extLst>
          </p:cNvPr>
          <p:cNvSpPr>
            <a:spLocks noGrp="1"/>
          </p:cNvSpPr>
          <p:nvPr>
            <p:ph type="title"/>
          </p:nvPr>
        </p:nvSpPr>
        <p:spPr/>
        <p:txBody>
          <a:bodyPr/>
          <a:lstStyle/>
          <a:p>
            <a:r>
              <a:rPr lang="en-US" altLang="zh-CN" sz="2800" dirty="0"/>
              <a:t>Reusable Bindings</a:t>
            </a:r>
            <a:endParaRPr lang="zh-CN" altLang="en-US" sz="2800" dirty="0"/>
          </a:p>
        </p:txBody>
      </p:sp>
      <p:sp>
        <p:nvSpPr>
          <p:cNvPr id="3" name="内容占位符 2">
            <a:extLst>
              <a:ext uri="{FF2B5EF4-FFF2-40B4-BE49-F238E27FC236}">
                <a16:creationId xmlns:a16="http://schemas.microsoft.com/office/drawing/2014/main" id="{08CD6FBB-C967-4995-927A-357E025E4619}"/>
              </a:ext>
            </a:extLst>
          </p:cNvPr>
          <p:cNvSpPr>
            <a:spLocks noGrp="1"/>
          </p:cNvSpPr>
          <p:nvPr>
            <p:ph idx="1"/>
          </p:nvPr>
        </p:nvSpPr>
        <p:spPr/>
        <p:txBody>
          <a:bodyPr>
            <a:normAutofit fontScale="70000" lnSpcReduction="20000"/>
          </a:bodyPr>
          <a:lstStyle/>
          <a:p>
            <a:pPr>
              <a:defRPr/>
            </a:pPr>
            <a:r>
              <a:rPr lang="en-US" altLang="zh-CN" dirty="0"/>
              <a:t>A binding can either be reusable (applicable to any interface) or non-reusable (specified for a particular interface)</a:t>
            </a:r>
          </a:p>
          <a:p>
            <a:pPr lvl="1">
              <a:defRPr/>
            </a:pPr>
            <a:r>
              <a:rPr lang="en-US" altLang="zh-CN" dirty="0"/>
              <a:t>Non-reusable bindings may be specified at the granularity of the interface or on a per-operation basis if needed</a:t>
            </a:r>
          </a:p>
          <a:p>
            <a:pPr lvl="1">
              <a:defRPr/>
            </a:pPr>
            <a:r>
              <a:rPr lang="en-US" altLang="zh-CN" dirty="0"/>
              <a:t>To define a reusable binding, the </a:t>
            </a:r>
            <a:r>
              <a:rPr lang="en-US" altLang="zh-CN" dirty="0">
                <a:hlinkClick r:id="rId3"/>
              </a:rPr>
              <a:t>binding</a:t>
            </a:r>
            <a:r>
              <a:rPr lang="en-US" altLang="zh-CN" dirty="0"/>
              <a:t> element simply omits the </a:t>
            </a:r>
            <a:r>
              <a:rPr lang="en-US" altLang="zh-CN" dirty="0">
                <a:hlinkClick r:id="rId3"/>
              </a:rPr>
              <a:t>interface</a:t>
            </a:r>
            <a:r>
              <a:rPr lang="en-US" altLang="zh-CN" dirty="0"/>
              <a:t> attribute and omits specifying any operation-specific and fault-specific binding details</a:t>
            </a:r>
          </a:p>
          <a:p>
            <a:pPr>
              <a:defRPr/>
            </a:pPr>
            <a:r>
              <a:rPr lang="en-US" altLang="zh-CN" dirty="0"/>
              <a:t>A reusable </a:t>
            </a:r>
            <a:r>
              <a:rPr lang="en-US" altLang="zh-CN" dirty="0">
                <a:hlinkClick r:id="rId4" action="ppaction://hlinkfile"/>
              </a:rPr>
              <a:t>binding </a:t>
            </a:r>
            <a:r>
              <a:rPr lang="en-US" altLang="zh-CN" dirty="0"/>
              <a:t>becomes associated with a particular </a:t>
            </a:r>
            <a:r>
              <a:rPr lang="en-US" altLang="zh-CN" dirty="0">
                <a:hlinkClick r:id="rId4" action="ppaction://hlinkfile"/>
              </a:rPr>
              <a:t>interface </a:t>
            </a:r>
            <a:r>
              <a:rPr lang="en-US" altLang="zh-CN" dirty="0"/>
              <a:t>when it is referenced from an </a:t>
            </a:r>
            <a:r>
              <a:rPr lang="en-US" altLang="zh-CN" dirty="0">
                <a:hlinkClick r:id="rId4" action="ppaction://hlinkfile"/>
              </a:rPr>
              <a:t>endpoint</a:t>
            </a:r>
            <a:r>
              <a:rPr lang="en-US" altLang="zh-CN" dirty="0"/>
              <a:t>. It can be guaranteed because the </a:t>
            </a:r>
            <a:r>
              <a:rPr lang="en-US" altLang="zh-CN" dirty="0">
                <a:hlinkClick r:id="rId4" action="ppaction://hlinkfile"/>
              </a:rPr>
              <a:t>service </a:t>
            </a:r>
            <a:r>
              <a:rPr lang="en-US" altLang="zh-CN" dirty="0"/>
              <a:t>must specify a particular </a:t>
            </a:r>
            <a:r>
              <a:rPr lang="en-US" altLang="zh-CN" dirty="0">
                <a:hlinkClick r:id="rId4" action="ppaction://hlinkfile"/>
              </a:rPr>
              <a:t>interface </a:t>
            </a:r>
            <a:r>
              <a:rPr lang="en-US" altLang="zh-CN" dirty="0"/>
              <a:t>that it implements</a:t>
            </a:r>
          </a:p>
          <a:p>
            <a:pPr>
              <a:defRPr/>
            </a:pPr>
            <a:r>
              <a:rPr lang="en-US" altLang="zh-CN" dirty="0"/>
              <a:t>Since a reusable binding does not specify an interface, reusable bindings cannot specify </a:t>
            </a:r>
            <a:r>
              <a:rPr lang="en-US" altLang="zh-CN" i="1" dirty="0">
                <a:solidFill>
                  <a:srgbClr val="FF0000"/>
                </a:solidFill>
              </a:rPr>
              <a:t>operation-specific</a:t>
            </a:r>
            <a:r>
              <a:rPr lang="en-US" altLang="zh-CN" dirty="0"/>
              <a:t> details. Therefore, reusable bindings can only be defined using binding extensions that have suitable defaulting rules, such that the binding information only needs to be explicitly supplied at the interface level</a:t>
            </a:r>
          </a:p>
        </p:txBody>
      </p:sp>
      <p:sp>
        <p:nvSpPr>
          <p:cNvPr id="25604" name="灯片编号占位符 3">
            <a:extLst>
              <a:ext uri="{FF2B5EF4-FFF2-40B4-BE49-F238E27FC236}">
                <a16:creationId xmlns:a16="http://schemas.microsoft.com/office/drawing/2014/main" id="{AFF6D604-5689-478E-96C3-4E98BB29EB1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19</a:t>
            </a:fld>
            <a:endParaRPr lang="en-US" altLang="zh-CN" sz="1000">
              <a:solidFill>
                <a:srgbClr val="000000"/>
              </a:solidFill>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4CA229AF-B2F1-4D47-9B6A-A0DC1714813B}"/>
              </a:ext>
            </a:extLst>
          </p:cNvPr>
          <p:cNvSpPr>
            <a:spLocks noGrp="1"/>
          </p:cNvSpPr>
          <p:nvPr>
            <p:ph type="title"/>
          </p:nvPr>
        </p:nvSpPr>
        <p:spPr/>
        <p:txBody>
          <a:bodyPr/>
          <a:lstStyle/>
          <a:p>
            <a:r>
              <a:rPr lang="en-US" altLang="zh-CN" sz="2800" dirty="0"/>
              <a:t>Binding Faults</a:t>
            </a:r>
            <a:endParaRPr lang="zh-CN" altLang="en-US" sz="2800" dirty="0"/>
          </a:p>
        </p:txBody>
      </p:sp>
      <p:sp>
        <p:nvSpPr>
          <p:cNvPr id="3" name="内容占位符 2">
            <a:extLst>
              <a:ext uri="{FF2B5EF4-FFF2-40B4-BE49-F238E27FC236}">
                <a16:creationId xmlns:a16="http://schemas.microsoft.com/office/drawing/2014/main" id="{619D35F3-2BF0-4624-AF95-D32525BB0609}"/>
              </a:ext>
            </a:extLst>
          </p:cNvPr>
          <p:cNvSpPr>
            <a:spLocks noGrp="1"/>
          </p:cNvSpPr>
          <p:nvPr>
            <p:ph idx="1"/>
          </p:nvPr>
        </p:nvSpPr>
        <p:spPr/>
        <p:txBody>
          <a:bodyPr>
            <a:normAutofit lnSpcReduction="10000"/>
          </a:bodyPr>
          <a:lstStyle/>
          <a:p>
            <a:pPr>
              <a:lnSpc>
                <a:spcPct val="110000"/>
              </a:lnSpc>
              <a:defRPr/>
            </a:pPr>
            <a:r>
              <a:rPr lang="en-US" altLang="zh-CN" sz="2400" dirty="0"/>
              <a:t>A binding </a:t>
            </a:r>
            <a:r>
              <a:rPr lang="en-US" altLang="zh-CN" sz="2400" dirty="0">
                <a:hlinkClick r:id="rId3"/>
              </a:rPr>
              <a:t>fault</a:t>
            </a:r>
            <a:r>
              <a:rPr lang="en-US" altLang="zh-CN" sz="2400" dirty="0"/>
              <a:t> associates a concrete message format with an abstract </a:t>
            </a:r>
            <a:r>
              <a:rPr lang="en-US" altLang="zh-CN" sz="2400" dirty="0">
                <a:hlinkClick r:id="rId3"/>
              </a:rPr>
              <a:t>fault</a:t>
            </a:r>
            <a:r>
              <a:rPr lang="en-US" altLang="zh-CN" sz="2400" dirty="0"/>
              <a:t> of an interface</a:t>
            </a:r>
          </a:p>
          <a:p>
            <a:pPr>
              <a:lnSpc>
                <a:spcPct val="110000"/>
              </a:lnSpc>
              <a:defRPr/>
            </a:pPr>
            <a:r>
              <a:rPr lang="en-US" altLang="zh-CN" sz="2400" dirty="0"/>
              <a:t>A fault occurs as part of a message exchange specified by an interface </a:t>
            </a:r>
            <a:r>
              <a:rPr lang="en-US" altLang="zh-CN" sz="2400" dirty="0">
                <a:hlinkClick r:id="rId3"/>
              </a:rPr>
              <a:t>operation</a:t>
            </a:r>
            <a:r>
              <a:rPr lang="en-US" altLang="zh-CN" sz="2400" dirty="0"/>
              <a:t> and its binding counterpart, the binding </a:t>
            </a:r>
            <a:r>
              <a:rPr lang="en-US" altLang="zh-CN" sz="2400" dirty="0">
                <a:hlinkClick r:id="rId3"/>
              </a:rPr>
              <a:t>operation</a:t>
            </a:r>
            <a:endParaRPr lang="en-US" altLang="zh-CN" sz="2400" dirty="0"/>
          </a:p>
          <a:p>
            <a:pPr>
              <a:lnSpc>
                <a:spcPct val="110000"/>
              </a:lnSpc>
              <a:defRPr/>
            </a:pPr>
            <a:r>
              <a:rPr lang="en-US" altLang="zh-CN" sz="2400" dirty="0"/>
              <a:t>A binding </a:t>
            </a:r>
            <a:r>
              <a:rPr lang="en-US" altLang="zh-CN" sz="2400" dirty="0">
                <a:hlinkClick r:id="rId3"/>
              </a:rPr>
              <a:t>fault</a:t>
            </a:r>
            <a:r>
              <a:rPr lang="en-US" altLang="zh-CN" sz="2400" dirty="0"/>
              <a:t> has one required </a:t>
            </a:r>
            <a:r>
              <a:rPr lang="en-US" altLang="zh-CN" sz="2400" dirty="0">
                <a:hlinkClick r:id="rId3"/>
              </a:rPr>
              <a:t>ref</a:t>
            </a:r>
            <a:r>
              <a:rPr lang="en-US" altLang="zh-CN" sz="2400" dirty="0"/>
              <a:t> attribute which is a reference, by </a:t>
            </a:r>
            <a:r>
              <a:rPr lang="en-US" altLang="zh-CN" sz="2400" dirty="0">
                <a:solidFill>
                  <a:srgbClr val="FF0000"/>
                </a:solidFill>
              </a:rPr>
              <a:t>QName</a:t>
            </a:r>
            <a:r>
              <a:rPr lang="en-US" altLang="zh-CN" sz="2400" dirty="0"/>
              <a:t>, to an interface </a:t>
            </a:r>
            <a:r>
              <a:rPr lang="en-US" altLang="zh-CN" sz="2400" dirty="0">
                <a:hlinkClick r:id="rId3"/>
              </a:rPr>
              <a:t>fault</a:t>
            </a:r>
            <a:r>
              <a:rPr lang="en-US" altLang="zh-CN" sz="2400" dirty="0"/>
              <a:t>. It identifies the abstract interface </a:t>
            </a:r>
            <a:r>
              <a:rPr lang="en-US" altLang="zh-CN" sz="2400" dirty="0">
                <a:hlinkClick r:id="rId3"/>
              </a:rPr>
              <a:t>fault</a:t>
            </a:r>
            <a:r>
              <a:rPr lang="en-US" altLang="zh-CN" sz="2400" dirty="0"/>
              <a:t> for which binding information is being specified</a:t>
            </a:r>
          </a:p>
          <a:p>
            <a:pPr>
              <a:lnSpc>
                <a:spcPct val="110000"/>
              </a:lnSpc>
              <a:defRPr/>
            </a:pPr>
            <a:r>
              <a:rPr lang="en-US" altLang="zh-CN" sz="2400" dirty="0"/>
              <a:t>Be aware that the value of </a:t>
            </a:r>
            <a:r>
              <a:rPr lang="en-US" altLang="zh-CN" sz="2400" dirty="0">
                <a:hlinkClick r:id="rId3"/>
              </a:rPr>
              <a:t>ref</a:t>
            </a:r>
            <a:r>
              <a:rPr lang="en-US" altLang="zh-CN" sz="2400" dirty="0"/>
              <a:t> attribute of all the </a:t>
            </a:r>
            <a:r>
              <a:rPr lang="en-US" altLang="zh-CN" sz="2400" dirty="0">
                <a:hlinkClick r:id="rId3"/>
              </a:rPr>
              <a:t>faults</a:t>
            </a:r>
            <a:r>
              <a:rPr lang="en-US" altLang="zh-CN" sz="2400" dirty="0"/>
              <a:t> under a </a:t>
            </a:r>
            <a:r>
              <a:rPr lang="en-US" altLang="zh-CN" sz="2400" dirty="0">
                <a:hlinkClick r:id="rId3"/>
              </a:rPr>
              <a:t>binding</a:t>
            </a:r>
            <a:r>
              <a:rPr lang="en-US" altLang="zh-CN" sz="2400" dirty="0"/>
              <a:t> must be unique. That is, one cannot define multiple bindings for the same interface fault within a given </a:t>
            </a:r>
            <a:r>
              <a:rPr lang="en-US" altLang="zh-CN" sz="2400" dirty="0">
                <a:hlinkClick r:id="rId3"/>
              </a:rPr>
              <a:t>binding</a:t>
            </a:r>
            <a:endParaRPr lang="en-US" altLang="zh-CN" sz="2400" dirty="0"/>
          </a:p>
        </p:txBody>
      </p:sp>
      <p:sp>
        <p:nvSpPr>
          <p:cNvPr id="27652" name="灯片编号占位符 3">
            <a:extLst>
              <a:ext uri="{FF2B5EF4-FFF2-40B4-BE49-F238E27FC236}">
                <a16:creationId xmlns:a16="http://schemas.microsoft.com/office/drawing/2014/main" id="{16378E33-B8C7-4102-8928-049AA6E400E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20</a:t>
            </a:fld>
            <a:endParaRPr lang="en-US" altLang="zh-CN" sz="1000">
              <a:solidFill>
                <a:srgbClr val="000000"/>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AE5E7D42-CE4F-478C-A57E-48F0A92A25AD}"/>
              </a:ext>
            </a:extLst>
          </p:cNvPr>
          <p:cNvSpPr>
            <a:spLocks noGrp="1"/>
          </p:cNvSpPr>
          <p:nvPr>
            <p:ph type="title"/>
          </p:nvPr>
        </p:nvSpPr>
        <p:spPr/>
        <p:txBody>
          <a:bodyPr/>
          <a:lstStyle/>
          <a:p>
            <a:r>
              <a:rPr lang="en-US" altLang="zh-CN" sz="2800" dirty="0"/>
              <a:t>Binding Operations</a:t>
            </a:r>
            <a:endParaRPr lang="zh-CN" altLang="en-US" sz="2800" dirty="0"/>
          </a:p>
        </p:txBody>
      </p:sp>
      <p:sp>
        <p:nvSpPr>
          <p:cNvPr id="3" name="内容占位符 2">
            <a:extLst>
              <a:ext uri="{FF2B5EF4-FFF2-40B4-BE49-F238E27FC236}">
                <a16:creationId xmlns:a16="http://schemas.microsoft.com/office/drawing/2014/main" id="{D4204E96-8B23-4276-B729-A7249A962AD1}"/>
              </a:ext>
            </a:extLst>
          </p:cNvPr>
          <p:cNvSpPr>
            <a:spLocks noGrp="1"/>
          </p:cNvSpPr>
          <p:nvPr>
            <p:ph idx="1"/>
          </p:nvPr>
        </p:nvSpPr>
        <p:spPr/>
        <p:txBody>
          <a:bodyPr>
            <a:normAutofit fontScale="70000" lnSpcReduction="20000"/>
          </a:bodyPr>
          <a:lstStyle/>
          <a:p>
            <a:pPr>
              <a:lnSpc>
                <a:spcPct val="170000"/>
              </a:lnSpc>
              <a:defRPr/>
            </a:pPr>
            <a:r>
              <a:rPr lang="en-US" altLang="zh-CN" sz="3500" dirty="0"/>
              <a:t>A binding </a:t>
            </a:r>
            <a:r>
              <a:rPr lang="en-US" altLang="zh-CN" sz="3500" dirty="0">
                <a:hlinkClick r:id="rId3"/>
              </a:rPr>
              <a:t>operation</a:t>
            </a:r>
            <a:r>
              <a:rPr lang="en-US" altLang="zh-CN" sz="3500" dirty="0"/>
              <a:t> describes a concrete binding of an interface operation to a concrete message format</a:t>
            </a:r>
          </a:p>
          <a:p>
            <a:pPr>
              <a:lnSpc>
                <a:spcPct val="170000"/>
              </a:lnSpc>
              <a:defRPr/>
            </a:pPr>
            <a:r>
              <a:rPr lang="en-US" altLang="zh-CN" sz="3500" dirty="0"/>
              <a:t>An interface </a:t>
            </a:r>
            <a:r>
              <a:rPr lang="en-US" altLang="zh-CN" sz="3500" dirty="0">
                <a:hlinkClick r:id="rId4" action="ppaction://hlinkpres?slideindex=1&amp;slidetitle="/>
              </a:rPr>
              <a:t>operation </a:t>
            </a:r>
            <a:r>
              <a:rPr lang="en-US" altLang="zh-CN" sz="3500" dirty="0"/>
              <a:t>is uniquely identified by the WSDL 2.0 target namespace of the interface and the name of the operation within that interface, via the required </a:t>
            </a:r>
            <a:r>
              <a:rPr lang="en-US" altLang="zh-CN" sz="3500" dirty="0">
                <a:hlinkClick r:id="rId3"/>
              </a:rPr>
              <a:t>ref</a:t>
            </a:r>
            <a:r>
              <a:rPr lang="en-US" altLang="zh-CN" sz="3500" dirty="0"/>
              <a:t> attribute of binding </a:t>
            </a:r>
            <a:r>
              <a:rPr lang="en-US" altLang="zh-CN" sz="3500" dirty="0">
                <a:hlinkClick r:id="rId3"/>
              </a:rPr>
              <a:t>operation</a:t>
            </a:r>
            <a:endParaRPr lang="en-US" altLang="zh-CN" sz="3500" dirty="0"/>
          </a:p>
          <a:p>
            <a:pPr>
              <a:lnSpc>
                <a:spcPct val="170000"/>
              </a:lnSpc>
              <a:defRPr/>
            </a:pPr>
            <a:r>
              <a:rPr lang="en-US" altLang="zh-CN" sz="3500" dirty="0"/>
              <a:t>As with faults, for each </a:t>
            </a:r>
            <a:r>
              <a:rPr lang="en-US" altLang="zh-CN" sz="3500" dirty="0">
                <a:hlinkClick r:id="rId3"/>
              </a:rPr>
              <a:t>operation</a:t>
            </a:r>
            <a:r>
              <a:rPr lang="en-US" altLang="zh-CN" sz="3500" dirty="0"/>
              <a:t> within a </a:t>
            </a:r>
            <a:r>
              <a:rPr lang="en-US" altLang="zh-CN" sz="3500" dirty="0">
                <a:hlinkClick r:id="rId3"/>
              </a:rPr>
              <a:t>binding</a:t>
            </a:r>
            <a:r>
              <a:rPr lang="en-US" altLang="zh-CN" sz="3500" dirty="0"/>
              <a:t>, the value of the </a:t>
            </a:r>
            <a:r>
              <a:rPr lang="en-US" altLang="zh-CN" sz="3500" dirty="0">
                <a:hlinkClick r:id="rId3"/>
              </a:rPr>
              <a:t>ref</a:t>
            </a:r>
            <a:r>
              <a:rPr lang="en-US" altLang="zh-CN" sz="3500" dirty="0"/>
              <a:t> attribute must be unique</a:t>
            </a:r>
          </a:p>
        </p:txBody>
      </p:sp>
      <p:sp>
        <p:nvSpPr>
          <p:cNvPr id="29700" name="灯片编号占位符 3">
            <a:extLst>
              <a:ext uri="{FF2B5EF4-FFF2-40B4-BE49-F238E27FC236}">
                <a16:creationId xmlns:a16="http://schemas.microsoft.com/office/drawing/2014/main" id="{A5977268-DCE2-4C07-B5E3-C092A1F2406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21</a:t>
            </a:fld>
            <a:endParaRPr lang="en-US" altLang="zh-CN" sz="1000">
              <a:solidFill>
                <a:srgbClr val="000000"/>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ECC5A9DF-92BD-4B37-BAD4-65170A31E3F0}"/>
              </a:ext>
            </a:extLst>
          </p:cNvPr>
          <p:cNvSpPr>
            <a:spLocks noGrp="1"/>
          </p:cNvSpPr>
          <p:nvPr>
            <p:ph type="title"/>
          </p:nvPr>
        </p:nvSpPr>
        <p:spPr/>
        <p:txBody>
          <a:bodyPr/>
          <a:lstStyle/>
          <a:p>
            <a:r>
              <a:rPr lang="en-US" altLang="zh-CN" sz="2800" dirty="0"/>
              <a:t>The SOAP Binding Extension</a:t>
            </a:r>
            <a:endParaRPr lang="zh-CN" altLang="en-US" sz="2800" dirty="0"/>
          </a:p>
        </p:txBody>
      </p:sp>
      <p:sp>
        <p:nvSpPr>
          <p:cNvPr id="3" name="内容占位符 2">
            <a:extLst>
              <a:ext uri="{FF2B5EF4-FFF2-40B4-BE49-F238E27FC236}">
                <a16:creationId xmlns:a16="http://schemas.microsoft.com/office/drawing/2014/main" id="{0B385C2A-F5EE-499E-8A9C-474AFA9762A3}"/>
              </a:ext>
            </a:extLst>
          </p:cNvPr>
          <p:cNvSpPr>
            <a:spLocks noGrp="1"/>
          </p:cNvSpPr>
          <p:nvPr>
            <p:ph idx="1"/>
          </p:nvPr>
        </p:nvSpPr>
        <p:spPr/>
        <p:txBody>
          <a:bodyPr>
            <a:normAutofit fontScale="92500" lnSpcReduction="10000"/>
          </a:bodyPr>
          <a:lstStyle/>
          <a:p>
            <a:pPr>
              <a:lnSpc>
                <a:spcPct val="120000"/>
              </a:lnSpc>
              <a:defRPr/>
            </a:pPr>
            <a:r>
              <a:rPr lang="en-US" altLang="zh-CN" sz="2400" dirty="0"/>
              <a:t>The WSDL 2.0 SOAP Binding Extension was primarily designed to support the features of SOAP 1.2. However, for backwards compatibility, it also provides some support for SOAP 1.1</a:t>
            </a:r>
          </a:p>
          <a:p>
            <a:pPr>
              <a:lnSpc>
                <a:spcPct val="120000"/>
              </a:lnSpc>
              <a:defRPr/>
            </a:pPr>
            <a:r>
              <a:rPr lang="en-US" altLang="zh-CN" sz="2400" dirty="0"/>
              <a:t>The WSDL 2.0 SOAP Binding Extension defines a set of default rules, so that bindings can be specified at the interface level or at the operation level (or both), with the operation level taking precedence </a:t>
            </a:r>
          </a:p>
          <a:p>
            <a:pPr lvl="1">
              <a:lnSpc>
                <a:spcPct val="120000"/>
              </a:lnSpc>
              <a:defRPr/>
            </a:pPr>
            <a:r>
              <a:rPr lang="en-US" altLang="zh-CN" sz="1900" dirty="0"/>
              <a:t>However, it does not define default binding rules for faults. Thus, if a given interface defines any faults, then corresponding binding information must be explicitly provided for each such fault</a:t>
            </a:r>
          </a:p>
          <a:p>
            <a:pPr>
              <a:lnSpc>
                <a:spcPct val="120000"/>
              </a:lnSpc>
              <a:defRPr/>
            </a:pPr>
            <a:r>
              <a:rPr lang="en-US" altLang="zh-CN" sz="2400" dirty="0"/>
              <a:t>If HTTP is used as the underlying protocol, then the binding can (and should) control whether each operation will use HTTP </a:t>
            </a:r>
            <a:r>
              <a:rPr lang="en-US" altLang="zh-CN" sz="2400" dirty="0">
                <a:solidFill>
                  <a:srgbClr val="FF0000"/>
                </a:solidFill>
              </a:rPr>
              <a:t>GET</a:t>
            </a:r>
            <a:r>
              <a:rPr lang="en-US" altLang="zh-CN" sz="2400" dirty="0"/>
              <a:t> or </a:t>
            </a:r>
            <a:r>
              <a:rPr lang="en-US" altLang="zh-CN" sz="2400" dirty="0">
                <a:solidFill>
                  <a:srgbClr val="FF0000"/>
                </a:solidFill>
              </a:rPr>
              <a:t>POST</a:t>
            </a:r>
            <a:endParaRPr lang="en-US" altLang="zh-CN" sz="2400" dirty="0"/>
          </a:p>
        </p:txBody>
      </p:sp>
      <p:sp>
        <p:nvSpPr>
          <p:cNvPr id="31748" name="灯片编号占位符 3">
            <a:extLst>
              <a:ext uri="{FF2B5EF4-FFF2-40B4-BE49-F238E27FC236}">
                <a16:creationId xmlns:a16="http://schemas.microsoft.com/office/drawing/2014/main" id="{E743147B-847F-4F1B-90A5-D9D853DDADE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22</a:t>
            </a:fld>
            <a:endParaRPr lang="en-US" altLang="zh-CN" sz="1000">
              <a:solidFill>
                <a:srgbClr val="000000"/>
              </a:solidFil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B5016F54-336A-4541-B194-B529D60025C4}"/>
              </a:ext>
            </a:extLst>
          </p:cNvPr>
          <p:cNvSpPr>
            <a:spLocks noGrp="1"/>
          </p:cNvSpPr>
          <p:nvPr>
            <p:ph type="title"/>
          </p:nvPr>
        </p:nvSpPr>
        <p:spPr/>
        <p:txBody>
          <a:bodyPr>
            <a:normAutofit fontScale="90000"/>
          </a:bodyPr>
          <a:lstStyle/>
          <a:p>
            <a:pPr>
              <a:defRPr/>
            </a:pPr>
            <a:r>
              <a:rPr lang="en-US" altLang="zh-CN" dirty="0"/>
              <a:t>SOAP 1.2 and SOAP 1.1 Bindings (1/2)</a:t>
            </a:r>
            <a:endParaRPr lang="zh-CN" altLang="en-US" dirty="0"/>
          </a:p>
        </p:txBody>
      </p:sp>
      <p:sp>
        <p:nvSpPr>
          <p:cNvPr id="33795" name="灯片编号占位符 3">
            <a:extLst>
              <a:ext uri="{FF2B5EF4-FFF2-40B4-BE49-F238E27FC236}">
                <a16:creationId xmlns:a16="http://schemas.microsoft.com/office/drawing/2014/main" id="{B1299065-C3BD-4D65-A083-C3DB4840B54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23</a:t>
            </a:fld>
            <a:endParaRPr lang="en-US" altLang="zh-CN" sz="1000">
              <a:solidFill>
                <a:srgbClr val="000000"/>
              </a:solidFill>
            </a:endParaRPr>
          </a:p>
        </p:txBody>
      </p:sp>
      <p:sp>
        <p:nvSpPr>
          <p:cNvPr id="5" name="Text Box 4">
            <a:extLst>
              <a:ext uri="{FF2B5EF4-FFF2-40B4-BE49-F238E27FC236}">
                <a16:creationId xmlns:a16="http://schemas.microsoft.com/office/drawing/2014/main" id="{552C2A05-A6CA-4B8B-B420-85FABB2DC45D}"/>
              </a:ext>
            </a:extLst>
          </p:cNvPr>
          <p:cNvSpPr txBox="1">
            <a:spLocks noChangeArrowheads="1"/>
          </p:cNvSpPr>
          <p:nvPr/>
        </p:nvSpPr>
        <p:spPr bwMode="auto">
          <a:xfrm>
            <a:off x="496332" y="1711330"/>
            <a:ext cx="8219256" cy="4765670"/>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encoding="utf-8" ?&gt;</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targetNamespace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http://greath.example.com/2004/wsdl/resSvc</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xmlns:tns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http://greath.example.com/2004/wsdl/resSvc</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xmlns:ghns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http://greath.example.com/2004/schemas/resSvc</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xmlns:wsoap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xmlns:soap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http://www.w3.org/2003/05/soap-envelope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xmlns:soap11</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http://schemas.xmlsoap.org/soap/envelope/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8080"/>
                </a:solidFill>
                <a:highlight>
                  <a:srgbClr val="FFFFFF"/>
                </a:highlight>
                <a:latin typeface="Arial"/>
              </a:rPr>
              <a:t> SOAP 1.2 Binding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reservationSOAPBinding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tns:reservationInterface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wsoap:protocol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http://www.w3.org/2003/05/soap/bindings/HTTP/</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tns:opCheckAvailability</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wsoap:mep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http://www.w3.org/2003/05/soap/mep/request-response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fault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tns:invalidDataFault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wsoap:code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soap:Sender</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5F15D8FF-20F5-4622-803C-4229D25688D5}"/>
              </a:ext>
            </a:extLst>
          </p:cNvPr>
          <p:cNvSpPr>
            <a:spLocks noChangeShapeType="1"/>
          </p:cNvSpPr>
          <p:nvPr/>
        </p:nvSpPr>
        <p:spPr bwMode="auto">
          <a:xfrm flipH="1">
            <a:off x="4500563" y="2565400"/>
            <a:ext cx="1439862" cy="7921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26953F00-FB57-4F10-8A49-D5B5089796D9}"/>
              </a:ext>
            </a:extLst>
          </p:cNvPr>
          <p:cNvSpPr txBox="1">
            <a:spLocks noChangeArrowheads="1"/>
          </p:cNvSpPr>
          <p:nvPr/>
        </p:nvSpPr>
        <p:spPr bwMode="auto">
          <a:xfrm>
            <a:off x="5922963" y="2211388"/>
            <a:ext cx="25304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Namespace for SOAP 1.1 &amp; 1.2</a:t>
            </a:r>
          </a:p>
        </p:txBody>
      </p:sp>
      <p:sp>
        <p:nvSpPr>
          <p:cNvPr id="10" name="Line 15">
            <a:extLst>
              <a:ext uri="{FF2B5EF4-FFF2-40B4-BE49-F238E27FC236}">
                <a16:creationId xmlns:a16="http://schemas.microsoft.com/office/drawing/2014/main" id="{82B34783-E63D-40D1-8293-89E09CD3262F}"/>
              </a:ext>
            </a:extLst>
          </p:cNvPr>
          <p:cNvSpPr>
            <a:spLocks noChangeShapeType="1"/>
          </p:cNvSpPr>
          <p:nvPr/>
        </p:nvSpPr>
        <p:spPr bwMode="auto">
          <a:xfrm flipH="1">
            <a:off x="4652963" y="2565400"/>
            <a:ext cx="1287462" cy="9445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6">
            <a:extLst>
              <a:ext uri="{FF2B5EF4-FFF2-40B4-BE49-F238E27FC236}">
                <a16:creationId xmlns:a16="http://schemas.microsoft.com/office/drawing/2014/main" id="{623BCEBF-3F03-4965-BA93-C8A973616DF6}"/>
              </a:ext>
            </a:extLst>
          </p:cNvPr>
          <p:cNvSpPr txBox="1">
            <a:spLocks noChangeArrowheads="1"/>
          </p:cNvSpPr>
          <p:nvPr/>
        </p:nvSpPr>
        <p:spPr bwMode="auto">
          <a:xfrm>
            <a:off x="5905500" y="3408363"/>
            <a:ext cx="2698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Underlying transmission protocol</a:t>
            </a:r>
            <a:endParaRPr lang="en-US" altLang="zh-CN" sz="2000">
              <a:solidFill>
                <a:srgbClr val="000000"/>
              </a:solidFill>
            </a:endParaRPr>
          </a:p>
        </p:txBody>
      </p:sp>
      <p:sp>
        <p:nvSpPr>
          <p:cNvPr id="12" name="Line 15">
            <a:extLst>
              <a:ext uri="{FF2B5EF4-FFF2-40B4-BE49-F238E27FC236}">
                <a16:creationId xmlns:a16="http://schemas.microsoft.com/office/drawing/2014/main" id="{C76D3782-B893-40B7-852E-934B25CB7985}"/>
              </a:ext>
            </a:extLst>
          </p:cNvPr>
          <p:cNvSpPr>
            <a:spLocks noChangeShapeType="1"/>
          </p:cNvSpPr>
          <p:nvPr/>
        </p:nvSpPr>
        <p:spPr bwMode="auto">
          <a:xfrm flipH="1">
            <a:off x="4572000" y="3762375"/>
            <a:ext cx="1350963" cy="10350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3A9683FF-0ED6-4174-ADA4-618B0783C439}"/>
              </a:ext>
            </a:extLst>
          </p:cNvPr>
          <p:cNvSpPr>
            <a:spLocks noGrp="1"/>
          </p:cNvSpPr>
          <p:nvPr>
            <p:ph type="title"/>
          </p:nvPr>
        </p:nvSpPr>
        <p:spPr/>
        <p:txBody>
          <a:bodyPr>
            <a:normAutofit fontScale="90000"/>
          </a:bodyPr>
          <a:lstStyle/>
          <a:p>
            <a:pPr>
              <a:defRPr/>
            </a:pPr>
            <a:r>
              <a:rPr lang="en-US" altLang="zh-CN" dirty="0"/>
              <a:t>SOAP 1.2 and SOAP 1.1 Bindings (2/2)</a:t>
            </a:r>
            <a:endParaRPr lang="zh-CN" altLang="en-US" dirty="0"/>
          </a:p>
        </p:txBody>
      </p:sp>
      <p:sp>
        <p:nvSpPr>
          <p:cNvPr id="35843" name="灯片编号占位符 3">
            <a:extLst>
              <a:ext uri="{FF2B5EF4-FFF2-40B4-BE49-F238E27FC236}">
                <a16:creationId xmlns:a16="http://schemas.microsoft.com/office/drawing/2014/main" id="{3D23520A-8C97-4D15-A2D8-EAC70BB92E6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24</a:t>
            </a:fld>
            <a:endParaRPr lang="en-US" altLang="zh-CN" sz="1000">
              <a:solidFill>
                <a:srgbClr val="000000"/>
              </a:solidFill>
            </a:endParaRPr>
          </a:p>
        </p:txBody>
      </p:sp>
      <p:sp>
        <p:nvSpPr>
          <p:cNvPr id="5" name="Text Box 4">
            <a:extLst>
              <a:ext uri="{FF2B5EF4-FFF2-40B4-BE49-F238E27FC236}">
                <a16:creationId xmlns:a16="http://schemas.microsoft.com/office/drawing/2014/main" id="{17F590A9-7BF6-472A-BED5-3448F534A4FA}"/>
              </a:ext>
            </a:extLst>
          </p:cNvPr>
          <p:cNvSpPr txBox="1">
            <a:spLocks noChangeArrowheads="1"/>
          </p:cNvSpPr>
          <p:nvPr/>
        </p:nvSpPr>
        <p:spPr bwMode="auto">
          <a:xfrm>
            <a:off x="457200" y="1331821"/>
            <a:ext cx="8229600" cy="5373779"/>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8080"/>
                </a:solidFill>
                <a:highlight>
                  <a:srgbClr val="FFFFFF"/>
                </a:highlight>
                <a:latin typeface="Arial"/>
              </a:rPr>
              <a:t> SOAP 1.1 Binding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reservationSOAP11Binding</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tns:reservationInterface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http://www.w3.org/ns/wsdl/soap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wsoap:version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1.1</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wsoap:protocol</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http://www.w3.org/2006/01/soap11/bindings/HTTP/</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tns:opCheckAvailability</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fault</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tns:invalidDataFault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wsoap:code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soap11:Client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service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reservationService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8080"/>
                </a:solidFill>
                <a:highlight>
                  <a:srgbClr val="FFFFFF"/>
                </a:highlight>
                <a:latin typeface="Arial"/>
              </a:rPr>
              <a:t> SOAP 1.2 End Point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endpoint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reservationEndpoint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binding</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tns:reservationSOAPBinding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address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http://greath.example.com/2004/reservation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8080"/>
                </a:solidFill>
                <a:highlight>
                  <a:srgbClr val="FFFFFF"/>
                </a:highlight>
                <a:latin typeface="Arial"/>
              </a:rPr>
              <a:t> SOAP 1.1 End Point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endpoint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reservationEndpoint2</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binding</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tns:reservationSOAP11Binding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address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http://greath.example.com/2004/reservation</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service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F194AB6F-4ED3-4966-A36C-E462F24E948C}"/>
              </a:ext>
            </a:extLst>
          </p:cNvPr>
          <p:cNvSpPr>
            <a:spLocks noChangeShapeType="1"/>
          </p:cNvSpPr>
          <p:nvPr/>
        </p:nvSpPr>
        <p:spPr bwMode="auto">
          <a:xfrm flipH="1" flipV="1">
            <a:off x="2195513" y="2565400"/>
            <a:ext cx="3744912"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C1A9B2BF-1241-4EA5-AEBC-D8F841C3F0EF}"/>
              </a:ext>
            </a:extLst>
          </p:cNvPr>
          <p:cNvSpPr txBox="1">
            <a:spLocks noChangeArrowheads="1"/>
          </p:cNvSpPr>
          <p:nvPr/>
        </p:nvSpPr>
        <p:spPr bwMode="auto">
          <a:xfrm>
            <a:off x="5922963" y="2211388"/>
            <a:ext cx="25304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The SOAP version. “1.2” for default</a:t>
            </a:r>
          </a:p>
        </p:txBody>
      </p:sp>
      <p:sp>
        <p:nvSpPr>
          <p:cNvPr id="8" name="Line 15">
            <a:extLst>
              <a:ext uri="{FF2B5EF4-FFF2-40B4-BE49-F238E27FC236}">
                <a16:creationId xmlns:a16="http://schemas.microsoft.com/office/drawing/2014/main" id="{B19527C5-5479-4BB7-80E4-AB59123D7C2F}"/>
              </a:ext>
            </a:extLst>
          </p:cNvPr>
          <p:cNvSpPr>
            <a:spLocks noChangeShapeType="1"/>
          </p:cNvSpPr>
          <p:nvPr/>
        </p:nvSpPr>
        <p:spPr bwMode="auto">
          <a:xfrm flipH="1" flipV="1">
            <a:off x="4067175" y="2919413"/>
            <a:ext cx="1873250" cy="113188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9FB17934-F671-428C-9C7D-54CBA19F49AD}"/>
              </a:ext>
            </a:extLst>
          </p:cNvPr>
          <p:cNvSpPr txBox="1">
            <a:spLocks noChangeArrowheads="1"/>
          </p:cNvSpPr>
          <p:nvPr/>
        </p:nvSpPr>
        <p:spPr bwMode="auto">
          <a:xfrm>
            <a:off x="5922724" y="3697092"/>
            <a:ext cx="253067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defRPr/>
            </a:pPr>
            <a:r>
              <a:rPr lang="en-US" altLang="zh-CN" sz="2000" dirty="0">
                <a:solidFill>
                  <a:srgbClr val="000000"/>
                </a:solidFill>
              </a:rPr>
              <a:t>No </a:t>
            </a:r>
            <a:r>
              <a:rPr lang="en-US" altLang="zh-CN" sz="2000" dirty="0" err="1">
                <a:solidFill>
                  <a:srgbClr val="FF0000"/>
                </a:solidFill>
                <a:highlight>
                  <a:srgbClr val="FFFFFF"/>
                </a:highlight>
                <a:latin typeface="Arial"/>
              </a:rPr>
              <a:t>wsoap:mep</a:t>
            </a:r>
            <a:r>
              <a:rPr lang="en-US" altLang="zh-CN" sz="2000" dirty="0">
                <a:solidFill>
                  <a:srgbClr val="FF0000"/>
                </a:solidFill>
                <a:highlight>
                  <a:srgbClr val="FFFFFF"/>
                </a:highlight>
                <a:latin typeface="Arial"/>
              </a:rPr>
              <a:t> </a:t>
            </a:r>
            <a:r>
              <a:rPr lang="en-US" altLang="zh-CN" sz="2000" dirty="0">
                <a:solidFill>
                  <a:srgbClr val="000000"/>
                </a:solidFill>
                <a:highlight>
                  <a:srgbClr val="FFFFFF"/>
                </a:highlight>
              </a:rPr>
              <a:t>for 1.1 binding</a:t>
            </a:r>
            <a:endParaRPr lang="en-US" altLang="zh-CN" sz="2000" dirty="0">
              <a:solidFill>
                <a:srgbClr val="000000"/>
              </a:solidFill>
            </a:endParaRPr>
          </a:p>
        </p:txBody>
      </p:sp>
      <p:sp>
        <p:nvSpPr>
          <p:cNvPr id="11" name="Line 15">
            <a:extLst>
              <a:ext uri="{FF2B5EF4-FFF2-40B4-BE49-F238E27FC236}">
                <a16:creationId xmlns:a16="http://schemas.microsoft.com/office/drawing/2014/main" id="{EC6673A4-3E15-42A5-9360-04EFC5CEE3B5}"/>
              </a:ext>
            </a:extLst>
          </p:cNvPr>
          <p:cNvSpPr>
            <a:spLocks noChangeShapeType="1"/>
          </p:cNvSpPr>
          <p:nvPr/>
        </p:nvSpPr>
        <p:spPr bwMode="auto">
          <a:xfrm flipH="1" flipV="1">
            <a:off x="2803525" y="3525838"/>
            <a:ext cx="1871663" cy="11334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16">
            <a:extLst>
              <a:ext uri="{FF2B5EF4-FFF2-40B4-BE49-F238E27FC236}">
                <a16:creationId xmlns:a16="http://schemas.microsoft.com/office/drawing/2014/main" id="{E5D017C0-3CFC-47FE-9BAC-4CD1DCCB7EB0}"/>
              </a:ext>
            </a:extLst>
          </p:cNvPr>
          <p:cNvSpPr txBox="1">
            <a:spLocks noChangeArrowheads="1"/>
          </p:cNvSpPr>
          <p:nvPr/>
        </p:nvSpPr>
        <p:spPr bwMode="auto">
          <a:xfrm>
            <a:off x="4657725" y="4478338"/>
            <a:ext cx="2530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Different in 1.1</a:t>
            </a:r>
          </a:p>
        </p:txBody>
      </p:sp>
      <p:sp>
        <p:nvSpPr>
          <p:cNvPr id="13" name="Line 15">
            <a:extLst>
              <a:ext uri="{FF2B5EF4-FFF2-40B4-BE49-F238E27FC236}">
                <a16:creationId xmlns:a16="http://schemas.microsoft.com/office/drawing/2014/main" id="{B26589C5-EFD6-4E17-A3D6-E86CDE428453}"/>
              </a:ext>
            </a:extLst>
          </p:cNvPr>
          <p:cNvSpPr>
            <a:spLocks noChangeShapeType="1"/>
          </p:cNvSpPr>
          <p:nvPr/>
        </p:nvSpPr>
        <p:spPr bwMode="auto">
          <a:xfrm flipH="1" flipV="1">
            <a:off x="3492500" y="5011738"/>
            <a:ext cx="2087563" cy="968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16">
            <a:extLst>
              <a:ext uri="{FF2B5EF4-FFF2-40B4-BE49-F238E27FC236}">
                <a16:creationId xmlns:a16="http://schemas.microsoft.com/office/drawing/2014/main" id="{9284CD0F-9698-4090-8F04-E2EB26F68F98}"/>
              </a:ext>
            </a:extLst>
          </p:cNvPr>
          <p:cNvSpPr txBox="1">
            <a:spLocks noChangeArrowheads="1"/>
          </p:cNvSpPr>
          <p:nvPr/>
        </p:nvSpPr>
        <p:spPr bwMode="auto">
          <a:xfrm>
            <a:off x="5489575" y="4910138"/>
            <a:ext cx="2951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Referenced by QNAME </a:t>
            </a:r>
          </a:p>
        </p:txBody>
      </p:sp>
      <p:sp>
        <p:nvSpPr>
          <p:cNvPr id="15" name="Line 15">
            <a:extLst>
              <a:ext uri="{FF2B5EF4-FFF2-40B4-BE49-F238E27FC236}">
                <a16:creationId xmlns:a16="http://schemas.microsoft.com/office/drawing/2014/main" id="{9A14E5CB-068D-40EE-B688-A1354FC14873}"/>
              </a:ext>
            </a:extLst>
          </p:cNvPr>
          <p:cNvSpPr>
            <a:spLocks noChangeShapeType="1"/>
          </p:cNvSpPr>
          <p:nvPr/>
        </p:nvSpPr>
        <p:spPr bwMode="auto">
          <a:xfrm flipH="1">
            <a:off x="3635375" y="5108575"/>
            <a:ext cx="1944688" cy="7905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96AD9C96-AF68-41F2-91E2-A7F0EC83518E}"/>
              </a:ext>
            </a:extLst>
          </p:cNvPr>
          <p:cNvSpPr>
            <a:spLocks noGrp="1"/>
          </p:cNvSpPr>
          <p:nvPr>
            <p:ph type="title"/>
          </p:nvPr>
        </p:nvSpPr>
        <p:spPr/>
        <p:txBody>
          <a:bodyPr/>
          <a:lstStyle/>
          <a:p>
            <a:r>
              <a:rPr lang="en-US" altLang="zh-CN"/>
              <a:t>The HTTP Binding Extension</a:t>
            </a:r>
            <a:endParaRPr lang="zh-CN" altLang="en-US"/>
          </a:p>
        </p:txBody>
      </p:sp>
      <p:sp>
        <p:nvSpPr>
          <p:cNvPr id="3" name="内容占位符 2">
            <a:extLst>
              <a:ext uri="{FF2B5EF4-FFF2-40B4-BE49-F238E27FC236}">
                <a16:creationId xmlns:a16="http://schemas.microsoft.com/office/drawing/2014/main" id="{2A0E8D95-EFD6-43E7-96C0-5C232EC63FF7}"/>
              </a:ext>
            </a:extLst>
          </p:cNvPr>
          <p:cNvSpPr>
            <a:spLocks noGrp="1"/>
          </p:cNvSpPr>
          <p:nvPr>
            <p:ph idx="1"/>
          </p:nvPr>
        </p:nvSpPr>
        <p:spPr/>
        <p:txBody>
          <a:bodyPr>
            <a:normAutofit/>
          </a:bodyPr>
          <a:lstStyle/>
          <a:p>
            <a:pPr>
              <a:lnSpc>
                <a:spcPct val="120000"/>
              </a:lnSpc>
              <a:defRPr/>
            </a:pPr>
            <a:r>
              <a:rPr lang="en-US" altLang="zh-CN" sz="2000" dirty="0">
                <a:hlinkClick r:id="rId3" action="ppaction://hlinkfile"/>
              </a:rPr>
              <a:t>WSDL 2.0 Part 2</a:t>
            </a:r>
            <a:r>
              <a:rPr lang="en-US" altLang="zh-CN" sz="2000" dirty="0"/>
              <a:t> also defines a binding extension for HTTP 1.1 and HTTPS so that these protocols can be used natively to send and receive messages</a:t>
            </a:r>
          </a:p>
          <a:p>
            <a:pPr>
              <a:lnSpc>
                <a:spcPct val="120000"/>
              </a:lnSpc>
              <a:defRPr/>
            </a:pPr>
            <a:r>
              <a:rPr lang="en-US" altLang="zh-CN" sz="2000" dirty="0"/>
              <a:t>The HTTP binding extension provides many features to control:</a:t>
            </a:r>
          </a:p>
          <a:p>
            <a:pPr lvl="1">
              <a:lnSpc>
                <a:spcPct val="120000"/>
              </a:lnSpc>
              <a:defRPr/>
            </a:pPr>
            <a:r>
              <a:rPr lang="en-US" altLang="zh-CN" sz="1600" dirty="0"/>
              <a:t>Which HTTP operation (GET, PUT, POST, DELETE, and others) will be used</a:t>
            </a:r>
          </a:p>
          <a:p>
            <a:pPr lvl="1">
              <a:lnSpc>
                <a:spcPct val="120000"/>
              </a:lnSpc>
              <a:defRPr/>
            </a:pPr>
            <a:r>
              <a:rPr lang="en-US" altLang="zh-CN" sz="1600" dirty="0"/>
              <a:t>Input, output and fault serialization</a:t>
            </a:r>
          </a:p>
          <a:p>
            <a:pPr lvl="1">
              <a:lnSpc>
                <a:spcPct val="120000"/>
              </a:lnSpc>
              <a:defRPr/>
            </a:pPr>
            <a:r>
              <a:rPr lang="en-US" altLang="zh-CN" sz="1600" dirty="0"/>
              <a:t>Transfer </a:t>
            </a:r>
            <a:r>
              <a:rPr lang="en-US" altLang="zh-CN" sz="1600" dirty="0" err="1"/>
              <a:t>codings</a:t>
            </a:r>
            <a:endParaRPr lang="en-US" altLang="zh-CN" sz="1600" dirty="0"/>
          </a:p>
          <a:p>
            <a:pPr lvl="1">
              <a:lnSpc>
                <a:spcPct val="120000"/>
              </a:lnSpc>
              <a:defRPr/>
            </a:pPr>
            <a:r>
              <a:rPr lang="en-US" altLang="zh-CN" sz="1600" dirty="0"/>
              <a:t>Authentication requirements</a:t>
            </a:r>
          </a:p>
          <a:p>
            <a:pPr lvl="1">
              <a:lnSpc>
                <a:spcPct val="120000"/>
              </a:lnSpc>
              <a:defRPr/>
            </a:pPr>
            <a:r>
              <a:rPr lang="en-US" altLang="zh-CN" sz="1600" dirty="0"/>
              <a:t>Cookies</a:t>
            </a:r>
          </a:p>
          <a:p>
            <a:pPr lvl="1">
              <a:lnSpc>
                <a:spcPct val="120000"/>
              </a:lnSpc>
              <a:defRPr/>
            </a:pPr>
            <a:r>
              <a:rPr lang="en-US" altLang="zh-CN" sz="1600" dirty="0"/>
              <a:t>HTTP over TLS (https)</a:t>
            </a:r>
          </a:p>
          <a:p>
            <a:pPr>
              <a:lnSpc>
                <a:spcPct val="120000"/>
              </a:lnSpc>
              <a:defRPr/>
            </a:pPr>
            <a:r>
              <a:rPr lang="en-US" altLang="zh-CN" sz="2000" dirty="0"/>
              <a:t>The HTTP binding extension also provides defaulting rules to permit binding information to be specified at the interface level and used by default for each operation in the affected interface, however, defaulting rules are not provided for binding faults</a:t>
            </a:r>
          </a:p>
        </p:txBody>
      </p:sp>
      <p:sp>
        <p:nvSpPr>
          <p:cNvPr id="37892" name="灯片编号占位符 3">
            <a:extLst>
              <a:ext uri="{FF2B5EF4-FFF2-40B4-BE49-F238E27FC236}">
                <a16:creationId xmlns:a16="http://schemas.microsoft.com/office/drawing/2014/main" id="{B1BF5A56-38ED-4A31-BF9C-206E50FB4A8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25</a:t>
            </a:fld>
            <a:endParaRPr lang="en-US" altLang="zh-CN" sz="1000">
              <a:solidFill>
                <a:srgbClr val="000000"/>
              </a:solidFil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D94F8E7D-0389-4CB8-BB5A-CB3388BB1611}"/>
              </a:ext>
            </a:extLst>
          </p:cNvPr>
          <p:cNvSpPr>
            <a:spLocks noGrp="1"/>
          </p:cNvSpPr>
          <p:nvPr>
            <p:ph type="title"/>
          </p:nvPr>
        </p:nvSpPr>
        <p:spPr/>
        <p:txBody>
          <a:bodyPr>
            <a:noAutofit/>
          </a:bodyPr>
          <a:lstStyle/>
          <a:p>
            <a:r>
              <a:rPr lang="en-US" altLang="zh-CN" sz="2800" dirty="0"/>
              <a:t>Serialization for GET (1/3)</a:t>
            </a:r>
            <a:endParaRPr lang="zh-CN" altLang="en-US" sz="2800" dirty="0"/>
          </a:p>
        </p:txBody>
      </p:sp>
      <p:sp>
        <p:nvSpPr>
          <p:cNvPr id="39939" name="内容占位符 2">
            <a:extLst>
              <a:ext uri="{FF2B5EF4-FFF2-40B4-BE49-F238E27FC236}">
                <a16:creationId xmlns:a16="http://schemas.microsoft.com/office/drawing/2014/main" id="{35D697A0-BE14-48F2-A786-222B55B30100}"/>
              </a:ext>
            </a:extLst>
          </p:cNvPr>
          <p:cNvSpPr>
            <a:spLocks noGrp="1"/>
          </p:cNvSpPr>
          <p:nvPr>
            <p:ph idx="1"/>
          </p:nvPr>
        </p:nvSpPr>
        <p:spPr/>
        <p:txBody>
          <a:bodyPr/>
          <a:lstStyle/>
          <a:p>
            <a:r>
              <a:rPr lang="en-US" altLang="zh-CN" sz="2000"/>
              <a:t>The default input serialization for GET is </a:t>
            </a:r>
            <a:r>
              <a:rPr lang="en-US" altLang="zh-CN" sz="2000">
                <a:hlinkClick r:id="rId2" action="ppaction://hlinkfile"/>
              </a:rPr>
              <a:t>application/x-www-form-urlencoded</a:t>
            </a:r>
            <a:endParaRPr lang="en-US" altLang="zh-CN" sz="2000"/>
          </a:p>
          <a:p>
            <a:r>
              <a:rPr lang="en-US" altLang="zh-CN" sz="2000"/>
              <a:t>Curly braces are used to specify the name of a schema type in the input message schema, which determines what input instance data will be inserted into the path component of the request URI. The curly brace-enclosed name will be replaced with instance data in constructing the path component</a:t>
            </a:r>
          </a:p>
          <a:p>
            <a:r>
              <a:rPr lang="en-US" altLang="zh-CN" sz="2000"/>
              <a:t>The input instance data (not specified by </a:t>
            </a:r>
            <a:r>
              <a:rPr lang="en-US" altLang="zh-CN" sz="2000">
                <a:hlinkClick r:id="rId2" action="ppaction://hlinkfile"/>
              </a:rPr>
              <a:t>whttp:location</a:t>
            </a:r>
            <a:r>
              <a:rPr lang="en-US" altLang="zh-CN" sz="2000"/>
              <a:t>) will either be serialized into the query string portion of the URI or into the message body, </a:t>
            </a:r>
          </a:p>
          <a:p>
            <a:pPr lvl="1"/>
            <a:r>
              <a:rPr lang="en-US" altLang="zh-CN" sz="1800"/>
              <a:t>If a "/" is appended to a curly brace-enclosed type name, then any remaining input message instance data will be serialized into the message body</a:t>
            </a:r>
          </a:p>
          <a:p>
            <a:pPr lvl="1"/>
            <a:r>
              <a:rPr lang="en-US" altLang="zh-CN" sz="1800"/>
              <a:t>Otherwise it will be serialized into query parameters</a:t>
            </a:r>
          </a:p>
        </p:txBody>
      </p:sp>
      <p:sp>
        <p:nvSpPr>
          <p:cNvPr id="39940" name="灯片编号占位符 3">
            <a:extLst>
              <a:ext uri="{FF2B5EF4-FFF2-40B4-BE49-F238E27FC236}">
                <a16:creationId xmlns:a16="http://schemas.microsoft.com/office/drawing/2014/main" id="{06651F3C-2EE1-451A-8893-647D523C822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26</a:t>
            </a:fld>
            <a:endParaRPr lang="en-US" altLang="zh-CN" sz="1000">
              <a:solidFill>
                <a:srgbClr val="000000"/>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FBF63D93-B67D-4FED-B016-295C2378D8B6}"/>
              </a:ext>
            </a:extLst>
          </p:cNvPr>
          <p:cNvSpPr>
            <a:spLocks noGrp="1"/>
          </p:cNvSpPr>
          <p:nvPr>
            <p:ph type="title"/>
          </p:nvPr>
        </p:nvSpPr>
        <p:spPr/>
        <p:txBody>
          <a:bodyPr/>
          <a:lstStyle/>
          <a:p>
            <a:r>
              <a:rPr lang="en-US" altLang="zh-CN" sz="2800" dirty="0"/>
              <a:t>Serialization for GET (2/3)</a:t>
            </a:r>
            <a:endParaRPr lang="zh-CN" altLang="en-US" sz="2800" dirty="0"/>
          </a:p>
        </p:txBody>
      </p:sp>
      <p:sp>
        <p:nvSpPr>
          <p:cNvPr id="40963" name="灯片编号占位符 3">
            <a:extLst>
              <a:ext uri="{FF2B5EF4-FFF2-40B4-BE49-F238E27FC236}">
                <a16:creationId xmlns:a16="http://schemas.microsoft.com/office/drawing/2014/main" id="{8EA0943C-241C-437C-A186-222C56C6CC9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27</a:t>
            </a:fld>
            <a:endParaRPr lang="en-US" altLang="zh-CN" sz="1000">
              <a:solidFill>
                <a:srgbClr val="000000"/>
              </a:solidFill>
            </a:endParaRPr>
          </a:p>
        </p:txBody>
      </p:sp>
      <p:sp>
        <p:nvSpPr>
          <p:cNvPr id="5" name="Text Box 4">
            <a:extLst>
              <a:ext uri="{FF2B5EF4-FFF2-40B4-BE49-F238E27FC236}">
                <a16:creationId xmlns:a16="http://schemas.microsoft.com/office/drawing/2014/main" id="{84817256-D138-4697-BA7D-EB2327B319CF}"/>
              </a:ext>
            </a:extLst>
          </p:cNvPr>
          <p:cNvSpPr txBox="1">
            <a:spLocks noChangeArrowheads="1"/>
          </p:cNvSpPr>
          <p:nvPr/>
        </p:nvSpPr>
        <p:spPr bwMode="auto">
          <a:xfrm>
            <a:off x="457200" y="1484784"/>
            <a:ext cx="8229600" cy="49305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encoding="utf-8" ?&gt;</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FF0000"/>
                </a:solidFill>
                <a:highlight>
                  <a:srgbClr val="FFFFFF"/>
                </a:highlight>
                <a:latin typeface="Arial"/>
              </a:rPr>
              <a:t>      </a:t>
            </a:r>
            <a:r>
              <a:rPr lang="en-US" altLang="zh-CN" sz="1200" dirty="0">
                <a:solidFill>
                  <a:srgbClr val="FF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xmlns:whttp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http://www.w3.org/ns/wsdl/http</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reservationHTTPBinding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tns:reservationInterface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type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http://www.w3.org/ns/wsdl/http</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whttp:methodDefault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GET</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operation</a:t>
            </a:r>
            <a:r>
              <a:rPr lang="en-US" altLang="zh-CN" sz="1200" dirty="0">
                <a:solidFill>
                  <a:srgbClr val="FF0000"/>
                </a:solidFill>
                <a:highlight>
                  <a:srgbClr val="FFFFFF"/>
                </a:highlight>
                <a:latin typeface="Arial"/>
              </a:rPr>
              <a:t> ref</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tns:opCheckAvailability</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whttp:location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a:t>
            </a:r>
            <a:r>
              <a:rPr lang="en-US" altLang="zh-CN" sz="1200" dirty="0" err="1">
                <a:solidFill>
                  <a:srgbClr val="000000"/>
                </a:solidFill>
                <a:highlight>
                  <a:srgbClr val="FFFFFF"/>
                </a:highlight>
                <a:latin typeface="Arial"/>
              </a:rPr>
              <a:t>checkInDate</a:t>
            </a:r>
            <a:r>
              <a:rPr lang="en-US" altLang="zh-CN" sz="1200" dirty="0">
                <a:solidFill>
                  <a:srgbClr val="000000"/>
                </a:solidFill>
                <a:highlight>
                  <a:srgbClr val="FFFFFF"/>
                </a:highlight>
                <a:latin typeface="Arial"/>
              </a:rPr>
              <a:t>}</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binding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service</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reservationService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interface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tns:reservationInterface</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8080"/>
                </a:solidFill>
                <a:highlight>
                  <a:srgbClr val="FFFFFF"/>
                </a:highlight>
                <a:latin typeface="Arial"/>
              </a:rPr>
              <a:t> HTTP 1.1 GET End Point </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endpoint</a:t>
            </a:r>
            <a:r>
              <a:rPr lang="en-US" altLang="zh-CN" sz="1200" dirty="0">
                <a:solidFill>
                  <a:srgbClr val="FF0000"/>
                </a:solidFill>
                <a:highlight>
                  <a:srgbClr val="FFFFFF"/>
                </a:highlight>
                <a:latin typeface="Arial"/>
              </a:rPr>
              <a:t> name</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reservationEndpoint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binding</a:t>
            </a:r>
            <a:r>
              <a:rPr lang="en-US" altLang="zh-CN" sz="1200" dirty="0">
                <a:solidFill>
                  <a:srgbClr val="0000FF"/>
                </a:solidFill>
                <a:highlight>
                  <a:srgbClr val="FFFFFF"/>
                </a:highlight>
                <a:latin typeface="Arial"/>
              </a:rPr>
              <a:t>="</a:t>
            </a:r>
            <a:r>
              <a:rPr lang="en-US" altLang="zh-CN" sz="1200" dirty="0" err="1">
                <a:solidFill>
                  <a:srgbClr val="000000"/>
                </a:solidFill>
                <a:highlight>
                  <a:srgbClr val="FFFFFF"/>
                </a:highlight>
                <a:latin typeface="Arial"/>
              </a:rPr>
              <a:t>tns:reservationHTTPBinding</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address</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http://greath.example.com/2004/checkAvailability/</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service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description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70B8AFDD-0051-4084-A3B5-B6678B85EE76}"/>
              </a:ext>
            </a:extLst>
          </p:cNvPr>
          <p:cNvSpPr>
            <a:spLocks noChangeShapeType="1"/>
          </p:cNvSpPr>
          <p:nvPr/>
        </p:nvSpPr>
        <p:spPr bwMode="auto">
          <a:xfrm flipH="1" flipV="1">
            <a:off x="3995738" y="2349500"/>
            <a:ext cx="1873250" cy="11318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22E692CC-4037-48F2-94E1-9702CBEB5E66}"/>
              </a:ext>
            </a:extLst>
          </p:cNvPr>
          <p:cNvSpPr txBox="1">
            <a:spLocks noChangeArrowheads="1"/>
          </p:cNvSpPr>
          <p:nvPr/>
        </p:nvSpPr>
        <p:spPr bwMode="auto">
          <a:xfrm>
            <a:off x="5851525" y="3125788"/>
            <a:ext cx="25304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The namespace of HTTP binding</a:t>
            </a:r>
          </a:p>
        </p:txBody>
      </p:sp>
      <p:sp>
        <p:nvSpPr>
          <p:cNvPr id="8" name="Line 15">
            <a:extLst>
              <a:ext uri="{FF2B5EF4-FFF2-40B4-BE49-F238E27FC236}">
                <a16:creationId xmlns:a16="http://schemas.microsoft.com/office/drawing/2014/main" id="{D5896E67-2E66-4B86-96B3-B265760D61AD}"/>
              </a:ext>
            </a:extLst>
          </p:cNvPr>
          <p:cNvSpPr>
            <a:spLocks noChangeShapeType="1"/>
          </p:cNvSpPr>
          <p:nvPr/>
        </p:nvSpPr>
        <p:spPr bwMode="auto">
          <a:xfrm flipH="1" flipV="1">
            <a:off x="3419475" y="3213100"/>
            <a:ext cx="1873250" cy="11318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EE78A677-9689-4EA2-AAE8-397ADD2739A4}"/>
              </a:ext>
            </a:extLst>
          </p:cNvPr>
          <p:cNvSpPr txBox="1">
            <a:spLocks noChangeArrowheads="1"/>
          </p:cNvSpPr>
          <p:nvPr/>
        </p:nvSpPr>
        <p:spPr bwMode="auto">
          <a:xfrm>
            <a:off x="5302250" y="4144963"/>
            <a:ext cx="3230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URI defines HTTP binding</a:t>
            </a:r>
          </a:p>
        </p:txBody>
      </p:sp>
      <p:sp>
        <p:nvSpPr>
          <p:cNvPr id="10" name="Line 15">
            <a:extLst>
              <a:ext uri="{FF2B5EF4-FFF2-40B4-BE49-F238E27FC236}">
                <a16:creationId xmlns:a16="http://schemas.microsoft.com/office/drawing/2014/main" id="{C1886AF5-BE48-4FFF-AB4C-C8D9E9FD303F}"/>
              </a:ext>
            </a:extLst>
          </p:cNvPr>
          <p:cNvSpPr>
            <a:spLocks noChangeShapeType="1"/>
          </p:cNvSpPr>
          <p:nvPr/>
        </p:nvSpPr>
        <p:spPr bwMode="auto">
          <a:xfrm flipH="1" flipV="1">
            <a:off x="2771775" y="3413125"/>
            <a:ext cx="1873250" cy="11318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6">
            <a:extLst>
              <a:ext uri="{FF2B5EF4-FFF2-40B4-BE49-F238E27FC236}">
                <a16:creationId xmlns:a16="http://schemas.microsoft.com/office/drawing/2014/main" id="{F461F695-E0A9-4C08-8A75-580676327C0C}"/>
              </a:ext>
            </a:extLst>
          </p:cNvPr>
          <p:cNvSpPr txBox="1">
            <a:spLocks noChangeArrowheads="1"/>
          </p:cNvSpPr>
          <p:nvPr/>
        </p:nvSpPr>
        <p:spPr bwMode="auto">
          <a:xfrm>
            <a:off x="4654550" y="4344988"/>
            <a:ext cx="29797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Default method uses HTTP GET</a:t>
            </a:r>
            <a:endParaRPr lang="en-US" altLang="zh-CN" sz="2000">
              <a:solidFill>
                <a:srgbClr val="000000"/>
              </a:solidFill>
            </a:endParaRPr>
          </a:p>
        </p:txBody>
      </p:sp>
      <p:sp>
        <p:nvSpPr>
          <p:cNvPr id="12" name="Line 15">
            <a:extLst>
              <a:ext uri="{FF2B5EF4-FFF2-40B4-BE49-F238E27FC236}">
                <a16:creationId xmlns:a16="http://schemas.microsoft.com/office/drawing/2014/main" id="{2756447B-2E44-4E5A-844F-5F868EEFF9AE}"/>
              </a:ext>
            </a:extLst>
          </p:cNvPr>
          <p:cNvSpPr>
            <a:spLocks noChangeShapeType="1"/>
          </p:cNvSpPr>
          <p:nvPr/>
        </p:nvSpPr>
        <p:spPr bwMode="auto">
          <a:xfrm flipH="1" flipV="1">
            <a:off x="3122613" y="3821113"/>
            <a:ext cx="1898650" cy="11906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16">
            <a:extLst>
              <a:ext uri="{FF2B5EF4-FFF2-40B4-BE49-F238E27FC236}">
                <a16:creationId xmlns:a16="http://schemas.microsoft.com/office/drawing/2014/main" id="{425F285A-9782-478E-A153-F78EBDFEA3BD}"/>
              </a:ext>
            </a:extLst>
          </p:cNvPr>
          <p:cNvSpPr txBox="1">
            <a:spLocks noChangeArrowheads="1"/>
          </p:cNvSpPr>
          <p:nvPr/>
        </p:nvSpPr>
        <p:spPr bwMode="auto">
          <a:xfrm>
            <a:off x="5021263" y="4148138"/>
            <a:ext cx="382111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Pattern for serializing input message instance data into the path component of the request URI</a:t>
            </a:r>
            <a:r>
              <a:rPr lang="zh-CN" altLang="en-US" sz="2000"/>
              <a:t> </a:t>
            </a:r>
            <a:r>
              <a:rPr lang="en-US" altLang="zh-CN" sz="2000"/>
              <a:t>(without “/” appended)</a:t>
            </a:r>
          </a:p>
        </p:txBody>
      </p:sp>
      <p:sp>
        <p:nvSpPr>
          <p:cNvPr id="14" name="Text Box 16">
            <a:extLst>
              <a:ext uri="{FF2B5EF4-FFF2-40B4-BE49-F238E27FC236}">
                <a16:creationId xmlns:a16="http://schemas.microsoft.com/office/drawing/2014/main" id="{4360DF1C-852B-4F80-9D27-FE6D255B1B1F}"/>
              </a:ext>
            </a:extLst>
          </p:cNvPr>
          <p:cNvSpPr txBox="1">
            <a:spLocks noChangeArrowheads="1"/>
          </p:cNvSpPr>
          <p:nvPr/>
        </p:nvSpPr>
        <p:spPr bwMode="auto">
          <a:xfrm>
            <a:off x="3779838" y="3302000"/>
            <a:ext cx="5272087"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lvl="1" eaLnBrk="1" hangingPunct="1">
              <a:spcBef>
                <a:spcPct val="50000"/>
              </a:spcBef>
              <a:buClrTx/>
              <a:buFont typeface="Wingdings" panose="05000000000000000000" pitchFamily="2" charset="2"/>
              <a:buNone/>
            </a:pPr>
            <a:r>
              <a:rPr lang="en-US" altLang="zh-CN" sz="2000"/>
              <a:t>Element </a:t>
            </a:r>
            <a:r>
              <a:rPr lang="en-US" altLang="zh-CN" sz="2000">
                <a:solidFill>
                  <a:srgbClr val="FF0000"/>
                </a:solidFill>
              </a:rPr>
              <a:t>checkOutDate </a:t>
            </a:r>
            <a:r>
              <a:rPr lang="en-US" altLang="zh-CN" sz="2000"/>
              <a:t>and</a:t>
            </a:r>
            <a:r>
              <a:rPr lang="en-US" altLang="zh-CN" sz="2000">
                <a:solidFill>
                  <a:srgbClr val="FF0000"/>
                </a:solidFill>
              </a:rPr>
              <a:t> roomType </a:t>
            </a:r>
            <a:r>
              <a:rPr lang="en-US" altLang="zh-CN" sz="2000"/>
              <a:t>are serialized into query parameters. </a:t>
            </a:r>
          </a:p>
          <a:p>
            <a:pPr marL="0" lvl="1" eaLnBrk="1" hangingPunct="1">
              <a:spcBef>
                <a:spcPct val="50000"/>
              </a:spcBef>
              <a:buClrTx/>
              <a:buFont typeface="Wingdings" panose="05000000000000000000" pitchFamily="2" charset="2"/>
              <a:buNone/>
            </a:pPr>
            <a:r>
              <a:rPr lang="en-US" altLang="zh-CN" sz="2000"/>
              <a:t>The resulting URL may be </a:t>
            </a:r>
            <a:r>
              <a:rPr lang="en-US" altLang="zh-CN" sz="1800">
                <a:solidFill>
                  <a:srgbClr val="FF0000"/>
                </a:solidFill>
              </a:rPr>
              <a:t>http://greath.example.com/2004/checkAvailability/5-5-5?checkOutDate=6-6-5&amp;roomType=foo</a:t>
            </a:r>
            <a:endParaRPr lang="en-US" altLang="zh-CN" sz="1800"/>
          </a:p>
          <a:p>
            <a:pPr eaLnBrk="1" hangingPunct="1">
              <a:spcBef>
                <a:spcPct val="50000"/>
              </a:spcBef>
              <a:buClrTx/>
              <a:buFontTx/>
              <a:buNone/>
            </a:pPr>
            <a:r>
              <a:rPr lang="en-US" altLang="zh-CN" sz="2000"/>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B8F48C95-FB5F-48AD-B81B-43365A4A408F}"/>
              </a:ext>
            </a:extLst>
          </p:cNvPr>
          <p:cNvSpPr>
            <a:spLocks noGrp="1"/>
          </p:cNvSpPr>
          <p:nvPr>
            <p:ph type="title"/>
          </p:nvPr>
        </p:nvSpPr>
        <p:spPr/>
        <p:txBody>
          <a:bodyPr/>
          <a:lstStyle/>
          <a:p>
            <a:r>
              <a:rPr lang="en-US" altLang="zh-CN" sz="2800" dirty="0"/>
              <a:t>Serialization for GET (3/3)</a:t>
            </a:r>
            <a:endParaRPr lang="zh-CN" altLang="en-US" sz="2800" dirty="0"/>
          </a:p>
        </p:txBody>
      </p:sp>
      <p:sp>
        <p:nvSpPr>
          <p:cNvPr id="3" name="内容占位符 2">
            <a:extLst>
              <a:ext uri="{FF2B5EF4-FFF2-40B4-BE49-F238E27FC236}">
                <a16:creationId xmlns:a16="http://schemas.microsoft.com/office/drawing/2014/main" id="{BD2872EC-1CBF-4CCD-906F-BCD4B9885B06}"/>
              </a:ext>
            </a:extLst>
          </p:cNvPr>
          <p:cNvSpPr>
            <a:spLocks noGrp="1"/>
          </p:cNvSpPr>
          <p:nvPr>
            <p:ph idx="1"/>
          </p:nvPr>
        </p:nvSpPr>
        <p:spPr>
          <a:xfrm>
            <a:off x="595313" y="1628775"/>
            <a:ext cx="8229600" cy="1004888"/>
          </a:xfrm>
        </p:spPr>
        <p:txBody>
          <a:bodyPr>
            <a:normAutofit fontScale="70000" lnSpcReduction="20000"/>
          </a:bodyPr>
          <a:lstStyle/>
          <a:p>
            <a:pPr>
              <a:defRPr/>
            </a:pPr>
            <a:r>
              <a:rPr lang="en-US" altLang="zh-CN" dirty="0"/>
              <a:t>Here is an alternate example that appends "/" to the type name in order to serialize the remaining instance data into the message body</a:t>
            </a:r>
          </a:p>
        </p:txBody>
      </p:sp>
      <p:sp>
        <p:nvSpPr>
          <p:cNvPr id="43012" name="灯片编号占位符 3">
            <a:extLst>
              <a:ext uri="{FF2B5EF4-FFF2-40B4-BE49-F238E27FC236}">
                <a16:creationId xmlns:a16="http://schemas.microsoft.com/office/drawing/2014/main" id="{EBA11026-7F37-48B7-A5F1-A3B6256D911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28</a:t>
            </a:fld>
            <a:endParaRPr lang="en-US" altLang="zh-CN" sz="1000">
              <a:solidFill>
                <a:srgbClr val="000000"/>
              </a:solidFill>
            </a:endParaRPr>
          </a:p>
        </p:txBody>
      </p:sp>
      <p:sp>
        <p:nvSpPr>
          <p:cNvPr id="5" name="Text Box 4">
            <a:extLst>
              <a:ext uri="{FF2B5EF4-FFF2-40B4-BE49-F238E27FC236}">
                <a16:creationId xmlns:a16="http://schemas.microsoft.com/office/drawing/2014/main" id="{71E2F3A0-711C-472C-BEBB-E6831E0E89C2}"/>
              </a:ext>
            </a:extLst>
          </p:cNvPr>
          <p:cNvSpPr txBox="1">
            <a:spLocks noChangeArrowheads="1"/>
          </p:cNvSpPr>
          <p:nvPr/>
        </p:nvSpPr>
        <p:spPr bwMode="auto">
          <a:xfrm>
            <a:off x="595034" y="3074881"/>
            <a:ext cx="8229600" cy="136652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80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800">
                <a:solidFill>
                  <a:srgbClr val="0000FF"/>
                </a:solidFill>
                <a:highlight>
                  <a:srgbClr val="FFFFFF"/>
                </a:highlight>
                <a:latin typeface="Arial"/>
              </a:rPr>
              <a:t>&lt;</a:t>
            </a:r>
            <a:r>
              <a:rPr lang="en-US" altLang="zh-CN" sz="1800">
                <a:solidFill>
                  <a:srgbClr val="800000"/>
                </a:solidFill>
                <a:highlight>
                  <a:srgbClr val="FFFFFF"/>
                </a:highlight>
                <a:latin typeface="Arial"/>
              </a:rPr>
              <a:t>operation</a:t>
            </a:r>
            <a:r>
              <a:rPr lang="en-US" altLang="zh-CN" sz="1800">
                <a:solidFill>
                  <a:srgbClr val="FF0000"/>
                </a:solidFill>
                <a:highlight>
                  <a:srgbClr val="FFFFFF"/>
                </a:highlight>
                <a:latin typeface="Arial"/>
              </a:rPr>
              <a:t> ref</a:t>
            </a:r>
            <a:r>
              <a:rPr lang="en-US" altLang="zh-CN" sz="1800">
                <a:solidFill>
                  <a:srgbClr val="0000FF"/>
                </a:solidFill>
                <a:highlight>
                  <a:srgbClr val="FFFFFF"/>
                </a:highlight>
                <a:latin typeface="Arial"/>
              </a:rPr>
              <a:t>="</a:t>
            </a:r>
            <a:r>
              <a:rPr lang="en-US" altLang="zh-CN" sz="1800">
                <a:solidFill>
                  <a:srgbClr val="000000"/>
                </a:solidFill>
                <a:highlight>
                  <a:srgbClr val="FFFFFF"/>
                </a:highlight>
                <a:latin typeface="Arial"/>
              </a:rPr>
              <a:t>tns:opCheckAvailability</a:t>
            </a:r>
            <a:r>
              <a:rPr lang="en-US" altLang="zh-CN" sz="1800">
                <a:solidFill>
                  <a:srgbClr val="0000FF"/>
                </a:solidFill>
                <a:highlight>
                  <a:srgbClr val="FFFFFF"/>
                </a:highlight>
                <a:latin typeface="Arial"/>
              </a:rPr>
              <a:t>"</a:t>
            </a:r>
            <a:endParaRPr lang="en-US" altLang="zh-CN" sz="180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a:solidFill>
                  <a:srgbClr val="FF0000"/>
                </a:solidFill>
                <a:highlight>
                  <a:srgbClr val="FFFFFF"/>
                </a:highlight>
                <a:latin typeface="Arial"/>
              </a:rPr>
              <a:t>    whttp:location</a:t>
            </a:r>
            <a:r>
              <a:rPr lang="en-US" altLang="zh-CN" sz="1800">
                <a:solidFill>
                  <a:srgbClr val="0000FF"/>
                </a:solidFill>
                <a:highlight>
                  <a:srgbClr val="FFFFFF"/>
                </a:highlight>
                <a:latin typeface="Arial"/>
              </a:rPr>
              <a:t>="</a:t>
            </a:r>
            <a:r>
              <a:rPr lang="en-US" altLang="zh-CN" sz="1800">
                <a:solidFill>
                  <a:srgbClr val="000000"/>
                </a:solidFill>
                <a:highlight>
                  <a:srgbClr val="FFFFFF"/>
                </a:highlight>
                <a:latin typeface="Arial"/>
              </a:rPr>
              <a:t>bycheckInDate/{checkInDate/}</a:t>
            </a:r>
            <a:r>
              <a:rPr lang="en-US" altLang="zh-CN" sz="1800">
                <a:solidFill>
                  <a:srgbClr val="0000FF"/>
                </a:solidFill>
                <a:highlight>
                  <a:srgbClr val="FFFFFF"/>
                </a:highlight>
                <a:latin typeface="Arial"/>
              </a:rPr>
              <a:t>"</a:t>
            </a:r>
            <a:r>
              <a:rPr lang="en-US" altLang="zh-CN" sz="1800">
                <a:solidFill>
                  <a:srgbClr val="FF0000"/>
                </a:solidFill>
                <a:highlight>
                  <a:srgbClr val="FFFFFF"/>
                </a:highlight>
                <a:latin typeface="Arial"/>
              </a:rPr>
              <a:t>  </a:t>
            </a:r>
            <a:r>
              <a:rPr lang="en-US" altLang="zh-CN" sz="1800">
                <a:solidFill>
                  <a:srgbClr val="0000FF"/>
                </a:solidFill>
                <a:highlight>
                  <a:srgbClr val="FFFFFF"/>
                </a:highlight>
                <a:latin typeface="Arial"/>
              </a:rPr>
              <a:t>&gt;</a:t>
            </a:r>
            <a:endParaRPr lang="en-US" altLang="zh-CN" sz="180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a:solidFill>
                  <a:srgbClr val="000000"/>
                </a:solidFill>
                <a:highlight>
                  <a:srgbClr val="FFFFFF"/>
                </a:highlight>
                <a:latin typeface="Arial"/>
              </a:rPr>
              <a:t>. . .</a:t>
            </a:r>
            <a:endParaRPr lang="en-US" altLang="zh-CN" sz="1800" dirty="0">
              <a:solidFill>
                <a:srgbClr val="000000"/>
              </a:solidFill>
              <a:highlight>
                <a:srgbClr val="FFFFFF"/>
              </a:highlight>
              <a:latin typeface="Arial"/>
            </a:endParaRPr>
          </a:p>
        </p:txBody>
      </p:sp>
      <p:sp>
        <p:nvSpPr>
          <p:cNvPr id="7" name="Text Box 16">
            <a:extLst>
              <a:ext uri="{FF2B5EF4-FFF2-40B4-BE49-F238E27FC236}">
                <a16:creationId xmlns:a16="http://schemas.microsoft.com/office/drawing/2014/main" id="{43FF0E6E-1E7F-4AE8-9E1B-39186ACE73B4}"/>
              </a:ext>
            </a:extLst>
          </p:cNvPr>
          <p:cNvSpPr txBox="1">
            <a:spLocks noChangeArrowheads="1"/>
          </p:cNvSpPr>
          <p:nvPr/>
        </p:nvSpPr>
        <p:spPr bwMode="auto">
          <a:xfrm>
            <a:off x="3276600" y="4652963"/>
            <a:ext cx="5270500"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lvl="1" eaLnBrk="1" hangingPunct="1">
              <a:spcBef>
                <a:spcPct val="50000"/>
              </a:spcBef>
              <a:buClrTx/>
              <a:buFont typeface="Wingdings" panose="05000000000000000000" pitchFamily="2" charset="2"/>
              <a:buNone/>
            </a:pPr>
            <a:r>
              <a:rPr lang="en-US" altLang="zh-CN" sz="2000"/>
              <a:t>The resulting URL may be </a:t>
            </a:r>
            <a:r>
              <a:rPr lang="en-US" altLang="zh-CN" sz="1800">
                <a:solidFill>
                  <a:srgbClr val="FF0000"/>
                </a:solidFill>
              </a:rPr>
              <a:t>http://greath.example.com/2004/checkAvailability/bycheckInDate/5-5-5</a:t>
            </a:r>
            <a:endParaRPr lang="en-US" altLang="zh-CN" sz="1800"/>
          </a:p>
          <a:p>
            <a:pPr marL="0" lvl="1" eaLnBrk="1" hangingPunct="1">
              <a:spcBef>
                <a:spcPct val="50000"/>
              </a:spcBef>
              <a:buClrTx/>
              <a:buFont typeface="Wingdings" panose="05000000000000000000" pitchFamily="2" charset="2"/>
              <a:buNone/>
            </a:pPr>
            <a:r>
              <a:rPr lang="en-US" altLang="zh-CN" sz="1800"/>
              <a:t>The rest of the message content would go to the HTTP GET message body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5FD1AF86-19F0-4A35-BA55-BF704524A0F5}"/>
              </a:ext>
            </a:extLst>
          </p:cNvPr>
          <p:cNvSpPr>
            <a:spLocks noGrp="1"/>
          </p:cNvSpPr>
          <p:nvPr>
            <p:ph type="title"/>
          </p:nvPr>
        </p:nvSpPr>
        <p:spPr/>
        <p:txBody>
          <a:bodyPr>
            <a:normAutofit fontScale="90000"/>
          </a:bodyPr>
          <a:lstStyle/>
          <a:p>
            <a:r>
              <a:rPr lang="en-US" altLang="zh-CN" dirty="0"/>
              <a:t>HTTP GET Versus POST</a:t>
            </a:r>
            <a:endParaRPr lang="zh-CN" altLang="en-US" dirty="0"/>
          </a:p>
        </p:txBody>
      </p:sp>
      <p:sp>
        <p:nvSpPr>
          <p:cNvPr id="3" name="内容占位符 2">
            <a:extLst>
              <a:ext uri="{FF2B5EF4-FFF2-40B4-BE49-F238E27FC236}">
                <a16:creationId xmlns:a16="http://schemas.microsoft.com/office/drawing/2014/main" id="{0BDAFB06-B11D-4309-8FCB-486090CA4835}"/>
              </a:ext>
            </a:extLst>
          </p:cNvPr>
          <p:cNvSpPr>
            <a:spLocks noGrp="1"/>
          </p:cNvSpPr>
          <p:nvPr>
            <p:ph idx="1"/>
          </p:nvPr>
        </p:nvSpPr>
        <p:spPr/>
        <p:txBody>
          <a:bodyPr>
            <a:normAutofit lnSpcReduction="10000"/>
          </a:bodyPr>
          <a:lstStyle/>
          <a:p>
            <a:pPr>
              <a:lnSpc>
                <a:spcPct val="120000"/>
              </a:lnSpc>
              <a:defRPr/>
            </a:pPr>
            <a:r>
              <a:rPr lang="en-US" altLang="zh-CN" sz="2400" dirty="0"/>
              <a:t>When a binding using HTTP is specified for an operation, the WSDL 2.0 author must decide which HTTP method is appropriate to </a:t>
            </a:r>
          </a:p>
          <a:p>
            <a:pPr>
              <a:lnSpc>
                <a:spcPct val="120000"/>
              </a:lnSpc>
              <a:defRPr/>
            </a:pPr>
            <a:r>
              <a:rPr lang="en-US" altLang="zh-CN" sz="2400" dirty="0"/>
              <a:t>In the context of the Web as a whole, the W3C Technical Architecture Group (TAG) has addressed the question of when it is appropriate to use </a:t>
            </a:r>
            <a:r>
              <a:rPr lang="en-US" altLang="zh-CN" sz="2400" dirty="0">
                <a:solidFill>
                  <a:srgbClr val="FF0000"/>
                </a:solidFill>
              </a:rPr>
              <a:t>GET</a:t>
            </a:r>
            <a:r>
              <a:rPr lang="en-US" altLang="zh-CN" sz="2400" dirty="0"/>
              <a:t>, versus when to use </a:t>
            </a:r>
            <a:r>
              <a:rPr lang="en-US" altLang="zh-CN" sz="2400" dirty="0">
                <a:solidFill>
                  <a:srgbClr val="FF0000"/>
                </a:solidFill>
              </a:rPr>
              <a:t>POST</a:t>
            </a:r>
            <a:r>
              <a:rPr lang="en-US" altLang="zh-CN" sz="2400" dirty="0"/>
              <a:t>, in a finding entitled </a:t>
            </a:r>
            <a:r>
              <a:rPr lang="en-US" altLang="zh-CN" sz="2400" i="1" dirty="0"/>
              <a:t>URIs, Addressability, and the use of HTTP GET and POST</a:t>
            </a:r>
            <a:r>
              <a:rPr lang="en-US" altLang="zh-CN" sz="2400" dirty="0"/>
              <a:t>:</a:t>
            </a:r>
          </a:p>
          <a:p>
            <a:pPr lvl="1">
              <a:lnSpc>
                <a:spcPct val="120000"/>
              </a:lnSpc>
              <a:defRPr/>
            </a:pPr>
            <a:r>
              <a:rPr lang="en-US" altLang="zh-CN" sz="1800" dirty="0"/>
              <a:t>"</a:t>
            </a:r>
            <a:r>
              <a:rPr lang="en-US" altLang="zh-CN" sz="1800" i="1" dirty="0"/>
              <a:t>. . . designers should adopt GET for </a:t>
            </a:r>
            <a:r>
              <a:rPr lang="en-US" altLang="zh-CN" sz="1800" i="1" dirty="0">
                <a:solidFill>
                  <a:srgbClr val="FF0000"/>
                </a:solidFill>
              </a:rPr>
              <a:t>safe</a:t>
            </a:r>
            <a:r>
              <a:rPr lang="en-US" altLang="zh-CN" sz="1800" i="1" dirty="0"/>
              <a:t> operations such as simple queries. POST is appropriate for other types of applications where a user request has the potential to change the state of the resource (or of related resources). The finding explains how to choose between HTTP GET and POST for an application taking into account architectural, security, and practical considerations.</a:t>
            </a:r>
            <a:r>
              <a:rPr lang="en-US" altLang="zh-CN" sz="1800" dirty="0"/>
              <a:t>"</a:t>
            </a:r>
          </a:p>
        </p:txBody>
      </p:sp>
      <p:sp>
        <p:nvSpPr>
          <p:cNvPr id="45060" name="灯片编号占位符 3">
            <a:extLst>
              <a:ext uri="{FF2B5EF4-FFF2-40B4-BE49-F238E27FC236}">
                <a16:creationId xmlns:a16="http://schemas.microsoft.com/office/drawing/2014/main" id="{582002DD-01E1-434E-9803-6A16616F997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29</a:t>
            </a:fld>
            <a:endParaRPr lang="en-US" altLang="zh-CN" sz="1000">
              <a:solidFill>
                <a:srgbClr val="000000"/>
              </a:solidFill>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F5F55DA6-FABA-4708-AF06-0AAEBF81B59A}"/>
              </a:ext>
            </a:extLst>
          </p:cNvPr>
          <p:cNvSpPr>
            <a:spLocks noGrp="1"/>
          </p:cNvSpPr>
          <p:nvPr>
            <p:ph type="title"/>
          </p:nvPr>
        </p:nvSpPr>
        <p:spPr/>
        <p:txBody>
          <a:bodyPr/>
          <a:lstStyle/>
          <a:p>
            <a:r>
              <a:rPr lang="en-US" altLang="zh-CN" sz="2800" dirty="0"/>
              <a:t>Using GET with </a:t>
            </a:r>
            <a:r>
              <a:rPr lang="en-US" altLang="zh-CN" sz="2800" dirty="0" err="1">
                <a:hlinkClick r:id="rId3" action="ppaction://hlinkfile"/>
              </a:rPr>
              <a:t>wsdlx:safe</a:t>
            </a:r>
            <a:r>
              <a:rPr lang="en-US" altLang="zh-CN" sz="2800" dirty="0"/>
              <a:t> (1/2)</a:t>
            </a:r>
            <a:endParaRPr lang="zh-CN" altLang="en-US" sz="2800" dirty="0"/>
          </a:p>
        </p:txBody>
      </p:sp>
      <p:sp>
        <p:nvSpPr>
          <p:cNvPr id="47107" name="内容占位符 2">
            <a:extLst>
              <a:ext uri="{FF2B5EF4-FFF2-40B4-BE49-F238E27FC236}">
                <a16:creationId xmlns:a16="http://schemas.microsoft.com/office/drawing/2014/main" id="{29863921-DE16-4588-945C-A55C4EAADF86}"/>
              </a:ext>
            </a:extLst>
          </p:cNvPr>
          <p:cNvSpPr>
            <a:spLocks noGrp="1"/>
          </p:cNvSpPr>
          <p:nvPr>
            <p:ph idx="1"/>
          </p:nvPr>
        </p:nvSpPr>
        <p:spPr/>
        <p:txBody>
          <a:bodyPr/>
          <a:lstStyle/>
          <a:p>
            <a:r>
              <a:rPr lang="en-US" altLang="zh-CN" sz="1800"/>
              <a:t>Although the </a:t>
            </a:r>
            <a:r>
              <a:rPr lang="en-US" altLang="zh-CN" sz="1800">
                <a:hlinkClick r:id="rId3" action="ppaction://hlinkfile"/>
              </a:rPr>
              <a:t>wsdlx:safe</a:t>
            </a:r>
            <a:r>
              <a:rPr lang="en-US" altLang="zh-CN" sz="1800"/>
              <a:t> attribute of an interface operation indicates that the abstract operation is safe, it does not automatically cause </a:t>
            </a:r>
            <a:r>
              <a:rPr lang="en-US" altLang="zh-CN" sz="1800">
                <a:solidFill>
                  <a:srgbClr val="FF0000"/>
                </a:solidFill>
              </a:rPr>
              <a:t>GET</a:t>
            </a:r>
            <a:r>
              <a:rPr lang="en-US" altLang="zh-CN" sz="1800"/>
              <a:t> to be used at the HTTP level when the binding is specified. It is determined at the binding level:</a:t>
            </a:r>
          </a:p>
          <a:p>
            <a:pPr lvl="1"/>
            <a:r>
              <a:rPr lang="en-US" altLang="zh-CN" sz="1600"/>
              <a:t>If the WSDL 2.0 SOAP binding extension is used , with HTTP as the underlying transport protocol, then </a:t>
            </a:r>
            <a:r>
              <a:rPr lang="en-US" altLang="zh-CN" sz="1600">
                <a:solidFill>
                  <a:srgbClr val="FF0000"/>
                </a:solidFill>
              </a:rPr>
              <a:t>GET</a:t>
            </a:r>
            <a:r>
              <a:rPr lang="en-US" altLang="zh-CN" sz="1600"/>
              <a:t> may be specified by setting:</a:t>
            </a:r>
          </a:p>
          <a:p>
            <a:pPr lvl="2"/>
            <a:r>
              <a:rPr lang="en-US" altLang="zh-CN" sz="1500">
                <a:hlinkClick r:id="rId3" action="ppaction://hlinkfile"/>
              </a:rPr>
              <a:t>wsoap:protocol="http://www.w3.org/2003/05/soap/bindings/HTTP/"</a:t>
            </a:r>
            <a:r>
              <a:rPr lang="en-US" altLang="zh-CN" sz="1500"/>
              <a:t> on the </a:t>
            </a:r>
            <a:r>
              <a:rPr lang="en-US" altLang="zh-CN" sz="1500">
                <a:hlinkClick r:id="rId3" action="ppaction://hlinkfile"/>
              </a:rPr>
              <a:t>binding</a:t>
            </a:r>
            <a:r>
              <a:rPr lang="en-US" altLang="zh-CN" sz="1500"/>
              <a:t> element; and </a:t>
            </a:r>
            <a:r>
              <a:rPr lang="en-US" altLang="zh-CN" sz="1500">
                <a:hlinkClick r:id="rId3" action="ppaction://hlinkfile"/>
              </a:rPr>
              <a:t>wsoap:mep="http://www.w3.org/2003/05/soap/mep/soap-response/" </a:t>
            </a:r>
            <a:endParaRPr lang="en-US" altLang="zh-CN" sz="1500"/>
          </a:p>
          <a:p>
            <a:pPr lvl="2">
              <a:buFont typeface="Wingdings" panose="05000000000000000000" pitchFamily="2" charset="2"/>
              <a:buNone/>
            </a:pPr>
            <a:r>
              <a:rPr lang="en-US" altLang="zh-CN" sz="1500"/>
              <a:t>	on the binding </a:t>
            </a:r>
            <a:r>
              <a:rPr lang="en-US" altLang="zh-CN" sz="1500">
                <a:hlinkClick r:id="rId3" action="ppaction://hlinkfile"/>
              </a:rPr>
              <a:t>operation</a:t>
            </a:r>
            <a:r>
              <a:rPr lang="en-US" altLang="zh-CN" sz="1500"/>
              <a:t> element, which causes </a:t>
            </a:r>
            <a:r>
              <a:rPr lang="en-US" altLang="zh-CN" sz="1500">
                <a:solidFill>
                  <a:srgbClr val="FF0000"/>
                </a:solidFill>
              </a:rPr>
              <a:t>GET</a:t>
            </a:r>
            <a:r>
              <a:rPr lang="en-US" altLang="zh-CN" sz="1500"/>
              <a:t> to be used by default</a:t>
            </a:r>
          </a:p>
          <a:p>
            <a:pPr lvl="1"/>
            <a:r>
              <a:rPr lang="en-US" altLang="zh-CN" sz="1600"/>
              <a:t>If the WSDL 2.0 HTTP binding extension is used directly, </a:t>
            </a:r>
            <a:r>
              <a:rPr lang="en-US" altLang="zh-CN" sz="1600">
                <a:solidFill>
                  <a:srgbClr val="FF0000"/>
                </a:solidFill>
              </a:rPr>
              <a:t>GET</a:t>
            </a:r>
            <a:r>
              <a:rPr lang="en-US" altLang="zh-CN" sz="1600"/>
              <a:t> may be specified by setting either:</a:t>
            </a:r>
          </a:p>
          <a:p>
            <a:pPr lvl="2"/>
            <a:r>
              <a:rPr lang="en-US" altLang="zh-CN" sz="1500">
                <a:hlinkClick r:id="rId3" action="ppaction://hlinkfile"/>
              </a:rPr>
              <a:t>whttp:methodDefault="GET" </a:t>
            </a:r>
            <a:r>
              <a:rPr lang="en-US" altLang="zh-CN" sz="1500"/>
              <a:t>on the </a:t>
            </a:r>
            <a:r>
              <a:rPr lang="en-US" altLang="zh-CN" sz="1500">
                <a:hlinkClick r:id="rId3" action="ppaction://hlinkfile"/>
              </a:rPr>
              <a:t>binding</a:t>
            </a:r>
            <a:r>
              <a:rPr lang="en-US" altLang="zh-CN" sz="1500"/>
              <a:t> element; or</a:t>
            </a:r>
          </a:p>
          <a:p>
            <a:pPr lvl="2"/>
            <a:r>
              <a:rPr lang="en-US" altLang="zh-CN" sz="1500">
                <a:hlinkClick r:id="rId3" action="ppaction://hlinkfile"/>
              </a:rPr>
              <a:t>whttp:method="GET" </a:t>
            </a:r>
            <a:r>
              <a:rPr lang="en-US" altLang="zh-CN" sz="1500"/>
              <a:t>on the binding </a:t>
            </a:r>
            <a:r>
              <a:rPr lang="en-US" altLang="zh-CN" sz="1500">
                <a:hlinkClick r:id="rId4" action="ppaction://hlinkfile"/>
              </a:rPr>
              <a:t>operation </a:t>
            </a:r>
            <a:r>
              <a:rPr lang="en-US" altLang="zh-CN" sz="1500"/>
              <a:t>element, which overrides </a:t>
            </a:r>
            <a:r>
              <a:rPr lang="en-US" altLang="zh-CN" sz="1500">
                <a:hlinkClick r:id="rId3" action="ppaction://hlinkfile"/>
              </a:rPr>
              <a:t>whttp:methodDefault </a:t>
            </a:r>
            <a:r>
              <a:rPr lang="en-US" altLang="zh-CN" sz="1500"/>
              <a:t>if set on the </a:t>
            </a:r>
            <a:r>
              <a:rPr lang="en-US" altLang="zh-CN" sz="1500">
                <a:hlinkClick r:id="rId3" action="ppaction://hlinkfile"/>
              </a:rPr>
              <a:t>binding</a:t>
            </a:r>
            <a:r>
              <a:rPr lang="en-US" altLang="zh-CN" sz="1500"/>
              <a:t> element; or</a:t>
            </a:r>
          </a:p>
          <a:p>
            <a:pPr lvl="2"/>
            <a:r>
              <a:rPr lang="en-US" altLang="zh-CN" sz="1500">
                <a:hlinkClick r:id="rId3" action="ppaction://hlinkfile"/>
              </a:rPr>
              <a:t>wsdlx:safe="true" </a:t>
            </a:r>
            <a:r>
              <a:rPr lang="en-US" altLang="zh-CN" sz="1500"/>
              <a:t> on the bound interface </a:t>
            </a:r>
            <a:r>
              <a:rPr lang="en-US" altLang="zh-CN" sz="1500">
                <a:hlinkClick r:id="rId3" action="ppaction://hlinkfile"/>
              </a:rPr>
              <a:t>operation </a:t>
            </a:r>
            <a:r>
              <a:rPr lang="en-US" altLang="zh-CN" sz="1500"/>
              <a:t>. When the above two items are not explicitly set, and when the bound interface operation is marked safe, the HTTP Binding will by default set the method to </a:t>
            </a:r>
            <a:r>
              <a:rPr lang="en-US" altLang="zh-CN" sz="1500">
                <a:solidFill>
                  <a:srgbClr val="FF0000"/>
                </a:solidFill>
              </a:rPr>
              <a:t>GET</a:t>
            </a:r>
            <a:endParaRPr lang="en-US" altLang="zh-CN" sz="1500"/>
          </a:p>
        </p:txBody>
      </p:sp>
      <p:sp>
        <p:nvSpPr>
          <p:cNvPr id="47108" name="灯片编号占位符 3">
            <a:extLst>
              <a:ext uri="{FF2B5EF4-FFF2-40B4-BE49-F238E27FC236}">
                <a16:creationId xmlns:a16="http://schemas.microsoft.com/office/drawing/2014/main" id="{5962F2E7-77D8-42C9-A4D7-F83BB9DBB9E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30</a:t>
            </a:fld>
            <a:endParaRPr lang="en-US" altLang="zh-CN" sz="1000">
              <a:solidFill>
                <a:srgbClr val="000000"/>
              </a:solidFill>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68FAB6CE-0E45-4908-A7D1-854E3E184E93}"/>
              </a:ext>
            </a:extLst>
          </p:cNvPr>
          <p:cNvSpPr>
            <a:spLocks noGrp="1"/>
          </p:cNvSpPr>
          <p:nvPr>
            <p:ph type="title"/>
          </p:nvPr>
        </p:nvSpPr>
        <p:spPr/>
        <p:txBody>
          <a:bodyPr/>
          <a:lstStyle/>
          <a:p>
            <a:r>
              <a:rPr lang="en-US" altLang="zh-CN" sz="2800" dirty="0"/>
              <a:t>Using GET with </a:t>
            </a:r>
            <a:r>
              <a:rPr lang="en-US" altLang="zh-CN" sz="2800" dirty="0" err="1">
                <a:hlinkClick r:id="rId3" action="ppaction://hlinkfile"/>
              </a:rPr>
              <a:t>wsdlx:safe</a:t>
            </a:r>
            <a:r>
              <a:rPr lang="en-US" altLang="zh-CN" sz="2800" dirty="0"/>
              <a:t> (2/2)</a:t>
            </a:r>
            <a:endParaRPr lang="zh-CN" altLang="en-US" sz="2800" dirty="0"/>
          </a:p>
        </p:txBody>
      </p:sp>
      <p:sp>
        <p:nvSpPr>
          <p:cNvPr id="111619" name="内容占位符 2">
            <a:extLst>
              <a:ext uri="{FF2B5EF4-FFF2-40B4-BE49-F238E27FC236}">
                <a16:creationId xmlns:a16="http://schemas.microsoft.com/office/drawing/2014/main" id="{57E40520-BABF-483B-A809-E19AEF115472}"/>
              </a:ext>
            </a:extLst>
          </p:cNvPr>
          <p:cNvSpPr>
            <a:spLocks noGrp="1"/>
          </p:cNvSpPr>
          <p:nvPr>
            <p:ph idx="1"/>
          </p:nvPr>
        </p:nvSpPr>
        <p:spPr>
          <a:xfrm>
            <a:off x="457200" y="1600200"/>
            <a:ext cx="8229600" cy="1468438"/>
          </a:xfrm>
        </p:spPr>
        <p:txBody>
          <a:bodyPr>
            <a:normAutofit fontScale="70000" lnSpcReduction="20000"/>
          </a:bodyPr>
          <a:lstStyle/>
          <a:p>
            <a:pPr>
              <a:lnSpc>
                <a:spcPct val="120000"/>
              </a:lnSpc>
              <a:defRPr/>
            </a:pPr>
            <a:r>
              <a:rPr lang="en-US" altLang="zh-CN" dirty="0"/>
              <a:t>For example, the </a:t>
            </a:r>
            <a:r>
              <a:rPr lang="en-US" altLang="zh-CN" sz="3100" dirty="0" err="1">
                <a:hlinkClick r:id="rId4" action="ppaction://hlinkfile"/>
              </a:rPr>
              <a:t>wsdlx:safe</a:t>
            </a:r>
            <a:r>
              <a:rPr lang="en-US" altLang="zh-CN" dirty="0"/>
              <a:t> attribute of operation </a:t>
            </a:r>
            <a:r>
              <a:rPr lang="en-US" altLang="zh-CN" dirty="0">
                <a:solidFill>
                  <a:srgbClr val="000000"/>
                </a:solidFill>
                <a:highlight>
                  <a:srgbClr val="FFFFFF"/>
                </a:highlight>
                <a:hlinkClick r:id="rId5" action="ppaction://hlinkfile"/>
              </a:rPr>
              <a:t>tns:opCheckAvailability</a:t>
            </a:r>
            <a:r>
              <a:rPr lang="en-US" altLang="zh-CN" dirty="0">
                <a:solidFill>
                  <a:srgbClr val="000000"/>
                </a:solidFill>
                <a:highlight>
                  <a:srgbClr val="FFFFFF"/>
                </a:highlight>
              </a:rPr>
              <a:t> </a:t>
            </a:r>
            <a:r>
              <a:rPr lang="en-US" altLang="zh-CN" dirty="0"/>
              <a:t>is set to "</a:t>
            </a:r>
            <a:r>
              <a:rPr lang="en-US" altLang="zh-CN" dirty="0">
                <a:solidFill>
                  <a:srgbClr val="FF0000"/>
                </a:solidFill>
              </a:rPr>
              <a:t>true</a:t>
            </a:r>
            <a:r>
              <a:rPr lang="en-US" altLang="zh-CN" dirty="0"/>
              <a:t>". The HTTP binding definition in may take advantage of that and be simplified as below and still have the http method set to </a:t>
            </a:r>
            <a:r>
              <a:rPr lang="en-US" altLang="zh-CN" dirty="0">
                <a:solidFill>
                  <a:srgbClr val="FF0000"/>
                </a:solidFill>
              </a:rPr>
              <a:t>GET</a:t>
            </a:r>
            <a:r>
              <a:rPr lang="en-US" altLang="zh-CN" dirty="0"/>
              <a:t> by default:</a:t>
            </a:r>
          </a:p>
          <a:p>
            <a:pPr>
              <a:defRPr/>
            </a:pPr>
            <a:endParaRPr lang="zh-CN" altLang="en-US" dirty="0"/>
          </a:p>
        </p:txBody>
      </p:sp>
      <p:sp>
        <p:nvSpPr>
          <p:cNvPr id="49156" name="灯片编号占位符 3">
            <a:extLst>
              <a:ext uri="{FF2B5EF4-FFF2-40B4-BE49-F238E27FC236}">
                <a16:creationId xmlns:a16="http://schemas.microsoft.com/office/drawing/2014/main" id="{1CA5C901-54DA-4C24-9BA2-63E1F55AB8B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lr>
                <a:schemeClr val="accent1"/>
              </a:buClr>
              <a:buFont typeface="Wingdings" panose="05000000000000000000" pitchFamily="2" charset="2"/>
              <a:buChar char="l"/>
              <a:defRPr sz="10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buFont typeface="Wingdings" panose="05000000000000000000" pitchFamily="2" charset="2"/>
              <a:buNone/>
            </a:pPr>
            <a:fld id="{48B8B31A-C2A0-41A3-AD7A-398C3FB5044A}" type="slidenum">
              <a:rPr lang="en-US" altLang="zh-CN" smtClean="0"/>
              <a:pPr/>
              <a:t>31</a:t>
            </a:fld>
            <a:endParaRPr lang="en-US" altLang="zh-CN" sz="1000">
              <a:solidFill>
                <a:srgbClr val="000000"/>
              </a:solidFill>
            </a:endParaRPr>
          </a:p>
        </p:txBody>
      </p:sp>
      <p:sp>
        <p:nvSpPr>
          <p:cNvPr id="5" name="Text Box 4">
            <a:extLst>
              <a:ext uri="{FF2B5EF4-FFF2-40B4-BE49-F238E27FC236}">
                <a16:creationId xmlns:a16="http://schemas.microsoft.com/office/drawing/2014/main" id="{FE2E679D-CCDC-490F-A1BE-3D8BEDC6EB19}"/>
              </a:ext>
            </a:extLst>
          </p:cNvPr>
          <p:cNvSpPr txBox="1">
            <a:spLocks noChangeArrowheads="1"/>
          </p:cNvSpPr>
          <p:nvPr/>
        </p:nvSpPr>
        <p:spPr bwMode="auto">
          <a:xfrm>
            <a:off x="539552" y="3429000"/>
            <a:ext cx="8229600" cy="181588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8080"/>
                </a:solidFill>
                <a:highlight>
                  <a:srgbClr val="FFFFFF"/>
                </a:highlight>
                <a:latin typeface="Arial"/>
              </a:rPr>
              <a:t>&lt;?xml version="1.0" encoding="utf-8" ?&gt;</a:t>
            </a:r>
            <a:r>
              <a:rPr lang="en-US" altLang="zh-CN" sz="1600" dirty="0">
                <a:solidFill>
                  <a:srgbClr val="000000"/>
                </a:solidFill>
                <a:highlight>
                  <a:srgbClr val="FFFFFF"/>
                </a:highlight>
                <a:latin typeface="Arial"/>
              </a:rPr>
              <a:t>  </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binding</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reservationHTTPBinding</a:t>
            </a:r>
            <a:r>
              <a:rPr lang="en-US" altLang="zh-CN" sz="1600" dirty="0">
                <a:solidFill>
                  <a:srgbClr val="0000FF"/>
                </a:solidFill>
                <a:highlight>
                  <a:srgbClr val="FFFFFF"/>
                </a:highlight>
                <a:latin typeface="Arial"/>
              </a:rPr>
              <a:t>"</a:t>
            </a:r>
            <a:r>
              <a:rPr lang="zh-CN" altLang="en-US" sz="1600" dirty="0">
                <a:solidFill>
                  <a:srgbClr val="FF0000"/>
                </a:solidFill>
                <a:highlight>
                  <a:srgbClr val="FFFFFF"/>
                </a:highlight>
                <a:latin typeface="Arial"/>
              </a:rPr>
              <a:t> </a:t>
            </a:r>
            <a:r>
              <a:rPr lang="en-US" altLang="zh-CN" sz="1600" dirty="0">
                <a:solidFill>
                  <a:srgbClr val="FF0000"/>
                </a:solidFill>
                <a:highlight>
                  <a:srgbClr val="FFFFFF"/>
                </a:highlight>
                <a:latin typeface="Arial"/>
              </a:rPr>
              <a:t> interface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tns:reservationInterface</a:t>
            </a:r>
            <a:r>
              <a:rPr lang="en-US" altLang="zh-CN" sz="1600" dirty="0">
                <a:solidFill>
                  <a:srgbClr val="0000FF"/>
                </a:solidFill>
                <a:highlight>
                  <a:srgbClr val="FFFFFF"/>
                </a:highlight>
                <a:latin typeface="Arial"/>
              </a:rPr>
              <a:t>"</a:t>
            </a:r>
            <a:endParaRPr lang="zh-CN" altLang="en-US" sz="16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rPr>
              <a:t>      type</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http://www.w3.org/ns/wsdl/http</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a:solidFill>
                  <a:srgbClr val="0000FF"/>
                </a:solidFill>
                <a:highlight>
                  <a:srgbClr val="FFFFFF"/>
                </a:highlight>
                <a:latin typeface="Arial"/>
              </a:rPr>
              <a:t>&gt;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operation</a:t>
            </a:r>
            <a:r>
              <a:rPr lang="en-US" altLang="zh-CN" sz="1600" dirty="0">
                <a:solidFill>
                  <a:srgbClr val="FF0000"/>
                </a:solidFill>
                <a:highlight>
                  <a:srgbClr val="FFFFFF"/>
                </a:highlight>
                <a:latin typeface="Arial"/>
              </a:rPr>
              <a:t> ref</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tns:opCheckAvailability</a:t>
            </a:r>
            <a:r>
              <a:rPr lang="en-US" altLang="zh-CN" sz="1600" dirty="0">
                <a:solidFill>
                  <a:srgbClr val="0000FF"/>
                </a:solidFill>
                <a:highlight>
                  <a:srgbClr val="FFFFFF"/>
                </a:highlight>
                <a:latin typeface="Arial"/>
              </a:rPr>
              <a:t>"</a:t>
            </a:r>
            <a:endParaRPr lang="zh-CN" altLang="en-US" sz="16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whttp:location</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a:t>
            </a:r>
            <a:r>
              <a:rPr lang="en-US" altLang="zh-CN" sz="1600" dirty="0" err="1">
                <a:solidFill>
                  <a:srgbClr val="000000"/>
                </a:solidFill>
                <a:highlight>
                  <a:srgbClr val="FFFFFF"/>
                </a:highlight>
                <a:latin typeface="Arial"/>
              </a:rPr>
              <a:t>checkInDate</a:t>
            </a:r>
            <a:r>
              <a:rPr lang="en-US" altLang="zh-CN" sz="1600" dirty="0">
                <a:solidFill>
                  <a:srgbClr val="000000"/>
                </a:solidFill>
                <a:highlight>
                  <a:srgbClr val="FFFFFF"/>
                </a:highlight>
                <a:latin typeface="Arial"/>
              </a:rPr>
              <a:t>}</a:t>
            </a:r>
            <a:r>
              <a:rPr lang="en-US" altLang="zh-CN" sz="1600" dirty="0">
                <a:solidFill>
                  <a:srgbClr val="0000FF"/>
                </a:solidFill>
                <a:highlight>
                  <a:srgbClr val="FFFFFF"/>
                </a:highlight>
                <a:latin typeface="Arial"/>
              </a:rPr>
              <a:t>"/&gt;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binding</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p:txBody>
      </p:sp>
    </p:spTree>
  </p:cSld>
  <p:clrMapOvr>
    <a:masterClrMapping/>
  </p:clrMapOvr>
  <p:transition/>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17278</TotalTime>
  <Words>4650</Words>
  <Application>Microsoft Office PowerPoint</Application>
  <PresentationFormat>全屏显示(4:3)</PresentationFormat>
  <Paragraphs>386</Paragraphs>
  <Slides>31</Slides>
  <Notes>30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31</vt:i4>
      </vt:variant>
    </vt:vector>
  </HeadingPairs>
  <TitlesOfParts>
    <vt:vector size="35" baseType="lpstr">
      <vt:lpstr>Arial</vt:lpstr>
      <vt:lpstr>Verdana</vt:lpstr>
      <vt:lpstr>Wingdings</vt:lpstr>
      <vt:lpstr>software</vt:lpstr>
      <vt:lpstr>WSDL Interface &amp; Binding Service-Oriented Software Engineering</vt:lpstr>
      <vt:lpstr>Interface Syntax</vt:lpstr>
      <vt:lpstr>Interface Inheritance (1/2)</vt:lpstr>
      <vt:lpstr>Interface Inheritance (2/2)</vt:lpstr>
      <vt:lpstr>Interface Faults (1/2)</vt:lpstr>
      <vt:lpstr>Interface Faults (2/2)</vt:lpstr>
      <vt:lpstr>Interface Operations</vt:lpstr>
      <vt:lpstr>Operation Attributes</vt:lpstr>
      <vt:lpstr>Operation Attributes (Extended)</vt:lpstr>
      <vt:lpstr>Operation Message References</vt:lpstr>
      <vt:lpstr>The element Attribute</vt:lpstr>
      <vt:lpstr>Message Exchange Patterns (MEPs) (1/5)</vt:lpstr>
      <vt:lpstr>Message Exchange Patterns (MEPs) (2/5)</vt:lpstr>
      <vt:lpstr>Message Exchange Patterns (MEPs) (3/5)</vt:lpstr>
      <vt:lpstr>Message Exchange Patterns (MEPs) (4/5)</vt:lpstr>
      <vt:lpstr>Message Exchange Patterns (MEPs) (5/5)</vt:lpstr>
      <vt:lpstr>Bindings</vt:lpstr>
      <vt:lpstr>Syntax Summary for Bindings</vt:lpstr>
      <vt:lpstr>Reusable Bindings</vt:lpstr>
      <vt:lpstr>Binding Faults</vt:lpstr>
      <vt:lpstr>Binding Operations</vt:lpstr>
      <vt:lpstr>The SOAP Binding Extension</vt:lpstr>
      <vt:lpstr>SOAP 1.2 and SOAP 1.1 Bindings (1/2)</vt:lpstr>
      <vt:lpstr>SOAP 1.2 and SOAP 1.1 Bindings (2/2)</vt:lpstr>
      <vt:lpstr>The HTTP Binding Extension</vt:lpstr>
      <vt:lpstr>Serialization for GET (1/3)</vt:lpstr>
      <vt:lpstr>Serialization for GET (2/3)</vt:lpstr>
      <vt:lpstr>Serialization for GET (3/3)</vt:lpstr>
      <vt:lpstr>HTTP GET Versus POST</vt:lpstr>
      <vt:lpstr>Using GET with wsdlx:safe (1/2)</vt:lpstr>
      <vt:lpstr>Using GET with wsdlx:safe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252</cp:revision>
  <dcterms:created xsi:type="dcterms:W3CDTF">2008-04-16T11:36:22Z</dcterms:created>
  <dcterms:modified xsi:type="dcterms:W3CDTF">2023-10-19T05:03:28Z</dcterms:modified>
</cp:coreProperties>
</file>