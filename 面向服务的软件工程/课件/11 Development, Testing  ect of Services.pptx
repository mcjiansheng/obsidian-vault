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76" r:id="rId1"/>
  </p:sldMasterIdLst>
  <p:notesMasterIdLst>
    <p:notesMasterId r:id="rId16"/>
  </p:notesMasterIdLst>
  <p:sldIdLst>
    <p:sldId id="256" r:id="rId2"/>
    <p:sldId id="330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8" autoAdjust="0"/>
    <p:restoredTop sz="95773" autoAdjust="0"/>
  </p:normalViewPr>
  <p:slideViewPr>
    <p:cSldViewPr>
      <p:cViewPr varScale="1">
        <p:scale>
          <a:sx n="110" d="100"/>
          <a:sy n="110" d="100"/>
        </p:scale>
        <p:origin x="1536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6310D4-8D37-43C0-8C61-B18EAA360DF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52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F9C7794-BB97-4528-90CE-62825E8EB6D3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043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3212D0D-D09F-4DE5-8038-0EAD479A8E90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65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6BAD07B-F0E8-4FD4-A914-A24D51D36FBB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136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62FC157-7389-49BD-87C4-929C1A2DD03D}" type="slidenum">
              <a:rPr lang="en-US" altLang="zh-CN" smtClean="0"/>
              <a:pPr eaLnBrk="1" hangingPunct="1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0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D455A51-9EF8-41A8-865E-86D2729B9269}" type="slidenum">
              <a:rPr lang="en-US" altLang="zh-CN" smtClean="0"/>
              <a:pPr eaLnBrk="1" hangingPunct="1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610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5412945-131B-4B06-BCAC-53FCC7011CC0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98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DA435F2-2949-4A0B-BDC5-8C0847366901}" type="slidenum">
              <a:rPr lang="en-US" altLang="zh-CN" smtClean="0"/>
              <a:pPr eaLnBrk="1" hangingPunct="1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6888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A9166ED-7D46-45CA-85DE-47EBC4375ABA}" type="slidenum">
              <a:rPr lang="en-US" altLang="zh-CN" smtClean="0"/>
              <a:pPr eaLnBrk="1" hangingPunct="1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0683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E4E810B-793B-4207-92A9-709D552EC119}" type="slidenum">
              <a:rPr lang="en-US" altLang="zh-CN" smtClean="0"/>
              <a:pPr eaLnBrk="1" hangingPunct="1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271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0767DB4-B95E-448A-A4E9-1E77D1FAAF99}" type="slidenum">
              <a:rPr lang="en-US" altLang="zh-CN" smtClean="0"/>
              <a:pPr eaLnBrk="1" hangingPunct="1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942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358CA71-BCC4-4433-A9A4-D0BBA721AF57}" type="slidenum">
              <a:rPr lang="en-US" altLang="zh-CN" smtClean="0"/>
              <a:pPr eaLnBrk="1" hangingPunct="1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4570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B1087FC-380A-4C00-ABF1-9E53A365A9F2}" type="slidenum">
              <a:rPr lang="en-US" altLang="zh-CN" smtClean="0"/>
              <a:pPr eaLnBrk="1" hangingPunct="1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6998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66F758A-9791-4168-84AD-B376FAF402F3}" type="slidenum">
              <a:rPr lang="en-US" altLang="zh-CN" smtClean="0"/>
              <a:pPr eaLnBrk="1" hangingPunct="1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2637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56591-9A23-4920-921C-36F5C7BCF8D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0CA15-C36D-4EB1-A976-7144C029A4F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E6D0D-8D5E-41CE-9248-5230BD8EE20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D34A4-4895-475E-82C3-1F1B1158FE8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36E37-9AEC-49F3-AC3E-08E47D57A08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A1358-B64A-4B63-AD1A-3CE3FACF8D9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38E45-46E9-41EF-8077-0B903345ED6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83A67-0574-4763-9DD8-57EDEC7307B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2EEA9-0ED5-4786-9D0A-881FEB2E8448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AEFEC2-5A12-47F5-81B3-B2B2B1CD4D86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78DB6-A6A7-4BBD-AC24-311694D1011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9DFD2-9DC9-40FE-9EF3-2884807082F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29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5C4F9A97-2618-4BB4-ABEB-9B165A10110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7" r:id="rId1"/>
    <p:sldLayoutId id="2147484078" r:id="rId2"/>
    <p:sldLayoutId id="2147484079" r:id="rId3"/>
    <p:sldLayoutId id="2147484080" r:id="rId4"/>
    <p:sldLayoutId id="2147484081" r:id="rId5"/>
    <p:sldLayoutId id="2147484082" r:id="rId6"/>
    <p:sldLayoutId id="2147484083" r:id="rId7"/>
    <p:sldLayoutId id="2147484084" r:id="rId8"/>
    <p:sldLayoutId id="2147484085" r:id="rId9"/>
    <p:sldLayoutId id="2147484086" r:id="rId10"/>
    <p:sldLayoutId id="2147484087" r:id="rId11"/>
    <p:sldLayoutId id="2147484088" r:id="rId12"/>
    <p:sldLayoutId id="2147484089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202.119.47.8:8080/opac/item.php?marc_no=0003487777" TargetMode="External"/><Relationship Id="rId2" Type="http://schemas.openxmlformats.org/officeDocument/2006/relationships/hyperlink" Target="http://202.119.47.8:8080/opac/item.php?marc_no=000327527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000">
                <a:solidFill>
                  <a:srgbClr val="595959"/>
                </a:solidFill>
                <a:ea typeface="宋体" pitchFamily="2" charset="-122"/>
              </a:rPr>
              <a:t>Software Institute</a:t>
            </a:r>
          </a:p>
          <a:p>
            <a:r>
              <a:rPr lang="en-US" altLang="zh-CN" sz="2000">
                <a:solidFill>
                  <a:srgbClr val="595959"/>
                </a:solidFill>
                <a:ea typeface="宋体" pitchFamily="2" charset="-122"/>
              </a:rPr>
              <a:t>Nanjing University</a:t>
            </a:r>
          </a:p>
          <a:p>
            <a:r>
              <a:rPr lang="en-US" altLang="zh-CN" sz="2000">
                <a:solidFill>
                  <a:srgbClr val="595959"/>
                </a:solidFill>
                <a:ea typeface="宋体" pitchFamily="2" charset="-122"/>
              </a:rPr>
              <a:t>Bei Jia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 sz="quarter"/>
          </p:nvPr>
        </p:nvSpPr>
        <p:spPr>
          <a:gradFill rotWithShape="0"/>
        </p:spPr>
        <p:txBody>
          <a:bodyPr/>
          <a:lstStyle/>
          <a:p>
            <a:r>
              <a:rPr lang="en-US" altLang="zh-CN" sz="2800" dirty="0">
                <a:ea typeface="宋体" pitchFamily="2" charset="-122"/>
              </a:rPr>
              <a:t>Development, Testing, Deployment and management of Services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sz="2000" dirty="0">
                <a:solidFill>
                  <a:srgbClr val="FFFFFF"/>
                </a:solidFill>
                <a:ea typeface="宋体" charset="-122"/>
              </a:rPr>
              <a:t>Service-Oriented Software Engineering</a:t>
            </a:r>
            <a:endParaRPr lang="en-US" altLang="zh-CN" sz="2000" dirty="0">
              <a:ea typeface="宋体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面向服务的生命周期的基本阶段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面向服务的分析</a:t>
            </a:r>
            <a:endParaRPr lang="en-US" altLang="zh-CN"/>
          </a:p>
          <a:p>
            <a:r>
              <a:rPr lang="zh-CN" altLang="en-US"/>
              <a:t>面向服务的设计</a:t>
            </a:r>
            <a:endParaRPr lang="en-US" altLang="zh-CN"/>
          </a:p>
          <a:p>
            <a:r>
              <a:rPr lang="zh-CN" altLang="en-US"/>
              <a:t>服务的开发</a:t>
            </a:r>
            <a:endParaRPr lang="en-US" altLang="zh-CN"/>
          </a:p>
          <a:p>
            <a:r>
              <a:rPr lang="zh-CN" altLang="en-US"/>
              <a:t>服务的测试</a:t>
            </a:r>
            <a:endParaRPr lang="en-US" altLang="zh-CN"/>
          </a:p>
          <a:p>
            <a:r>
              <a:rPr lang="zh-CN" altLang="en-US"/>
              <a:t>服务的部署</a:t>
            </a:r>
            <a:endParaRPr lang="en-US" altLang="zh-CN"/>
          </a:p>
          <a:p>
            <a:r>
              <a:rPr lang="zh-CN" altLang="en-US"/>
              <a:t>服务的管理</a:t>
            </a:r>
            <a:endParaRPr lang="zh-CN" altLang="en-US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C2278A6-69F9-427E-9310-4D4D1FC580B7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服务的开发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在具体开发平台上，使用特定语言</a:t>
            </a:r>
            <a:endParaRPr lang="en-US" altLang="zh-CN" dirty="0"/>
          </a:p>
          <a:p>
            <a:pPr lvl="1"/>
            <a:r>
              <a:rPr lang="zh-CN" altLang="en-US" dirty="0"/>
              <a:t>开发定制服务</a:t>
            </a:r>
            <a:endParaRPr lang="en-US" altLang="zh-CN" dirty="0"/>
          </a:p>
          <a:p>
            <a:pPr lvl="1"/>
            <a:r>
              <a:rPr lang="zh-CN" altLang="en-US" dirty="0"/>
              <a:t>包装遗留系统</a:t>
            </a:r>
            <a:endParaRPr lang="en-US" altLang="zh-CN" dirty="0"/>
          </a:p>
          <a:p>
            <a:pPr lvl="1"/>
            <a:r>
              <a:rPr lang="zh-CN" altLang="en-US" dirty="0"/>
              <a:t>构建应用系统</a:t>
            </a:r>
            <a:endParaRPr lang="en-US" altLang="zh-CN" dirty="0"/>
          </a:p>
          <a:p>
            <a:r>
              <a:rPr lang="zh-CN" altLang="en-US" dirty="0"/>
              <a:t>平台</a:t>
            </a:r>
            <a:endParaRPr lang="en-US" altLang="zh-CN" dirty="0"/>
          </a:p>
          <a:p>
            <a:pPr lvl="1"/>
            <a:r>
              <a:rPr lang="en-US" altLang="zh-CN" dirty="0"/>
              <a:t>Java EE </a:t>
            </a:r>
          </a:p>
          <a:p>
            <a:pPr lvl="1"/>
            <a:r>
              <a:rPr lang="en-US" altLang="zh-CN" dirty="0"/>
              <a:t>.NET</a:t>
            </a:r>
          </a:p>
          <a:p>
            <a:r>
              <a:rPr lang="zh-CN" altLang="en-US" dirty="0"/>
              <a:t>厂商</a:t>
            </a:r>
            <a:endParaRPr lang="en-US" altLang="zh-CN" dirty="0"/>
          </a:p>
          <a:p>
            <a:pPr lvl="1"/>
            <a:r>
              <a:rPr lang="en-US" altLang="zh-CN" dirty="0"/>
              <a:t>Microsoft</a:t>
            </a:r>
          </a:p>
          <a:p>
            <a:pPr lvl="1"/>
            <a:r>
              <a:rPr lang="en-US" altLang="zh-CN" dirty="0"/>
              <a:t>IBM</a:t>
            </a:r>
          </a:p>
          <a:p>
            <a:pPr lvl="1"/>
            <a:r>
              <a:rPr lang="en-US" altLang="zh-CN" dirty="0"/>
              <a:t>Oracle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9164207-616F-4624-99B2-B16DC681B77F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服务的测试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sz="2400" dirty="0"/>
              <a:t>服务的潜在访问者有哪些类型？</a:t>
            </a:r>
            <a:endParaRPr lang="en-US" altLang="zh-CN" sz="2400" dirty="0"/>
          </a:p>
          <a:p>
            <a:r>
              <a:rPr lang="zh-CN" altLang="en-US" sz="2400" dirty="0"/>
              <a:t>能够满足所有的服务策略断言吗？</a:t>
            </a:r>
            <a:endParaRPr lang="en-US" altLang="zh-CN" sz="2400" dirty="0"/>
          </a:p>
          <a:p>
            <a:r>
              <a:rPr lang="zh-CN" altLang="en-US" sz="2400" dirty="0"/>
              <a:t>服务可能会面临怎样的异常情况？</a:t>
            </a:r>
            <a:endParaRPr lang="en-US" altLang="zh-CN" sz="2400" dirty="0"/>
          </a:p>
          <a:p>
            <a:r>
              <a:rPr lang="zh-CN" altLang="en-US" sz="2400" dirty="0"/>
              <a:t>服务描述在多大程度上良好表达了服务语义？</a:t>
            </a:r>
            <a:endParaRPr lang="en-US" altLang="zh-CN" sz="2400" dirty="0"/>
          </a:p>
          <a:p>
            <a:r>
              <a:rPr lang="zh-CN" altLang="en-US" sz="2400" dirty="0"/>
              <a:t>修订后的服务描述有否改变或扩展了前一版本？</a:t>
            </a:r>
            <a:endParaRPr lang="en-US" altLang="zh-CN" sz="2400" dirty="0"/>
          </a:p>
          <a:p>
            <a:r>
              <a:rPr lang="zh-CN" altLang="en-US" sz="2400" dirty="0"/>
              <a:t>服务被组合的简易程度有多高？</a:t>
            </a:r>
            <a:endParaRPr lang="en-US" altLang="zh-CN" sz="2400" dirty="0"/>
          </a:p>
          <a:p>
            <a:r>
              <a:rPr lang="zh-CN" altLang="en-US" sz="2400" dirty="0"/>
              <a:t>服务描述被发现的简易程度有多高？</a:t>
            </a:r>
            <a:endParaRPr lang="en-US" altLang="zh-CN" sz="2400" dirty="0"/>
          </a:p>
          <a:p>
            <a:r>
              <a:rPr lang="zh-CN" altLang="en-US" sz="2400" dirty="0"/>
              <a:t>是否遵循</a:t>
            </a:r>
            <a:r>
              <a:rPr lang="en-US" altLang="zh-CN" sz="2400" dirty="0"/>
              <a:t>WS-I</a:t>
            </a:r>
            <a:r>
              <a:rPr lang="zh-CN" altLang="en-US" sz="2400" dirty="0"/>
              <a:t>概要的要求？</a:t>
            </a:r>
            <a:endParaRPr lang="en-US" altLang="zh-CN" sz="2400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会出现什么与数据类型相关的问题？</a:t>
            </a:r>
            <a:endParaRPr lang="en-US" altLang="zh-CN" dirty="0"/>
          </a:p>
          <a:p>
            <a:r>
              <a:rPr lang="zh-CN" altLang="en-US" dirty="0"/>
              <a:t>是否已经提出了所有可能的服务活动和服务组合？</a:t>
            </a:r>
            <a:endParaRPr lang="en-US" altLang="zh-CN" dirty="0"/>
          </a:p>
          <a:p>
            <a:r>
              <a:rPr lang="zh-CN" altLang="en-US" dirty="0"/>
              <a:t>补偿过程是否已经被充分测试？</a:t>
            </a:r>
            <a:endParaRPr lang="en-US" altLang="zh-CN" dirty="0"/>
          </a:p>
          <a:p>
            <a:r>
              <a:rPr lang="zh-CN" altLang="en-US" dirty="0"/>
              <a:t>在补偿过程中出现异常时，会发生什么？</a:t>
            </a:r>
            <a:endParaRPr lang="en-US" altLang="zh-CN" dirty="0"/>
          </a:p>
          <a:p>
            <a:r>
              <a:rPr lang="zh-CN" altLang="en-US" dirty="0"/>
              <a:t>新的服务是否遵循了已有的设计规范？</a:t>
            </a:r>
            <a:endParaRPr lang="en-US" altLang="zh-CN" dirty="0"/>
          </a:p>
          <a:p>
            <a:r>
              <a:rPr lang="zh-CN" altLang="en-US" dirty="0"/>
              <a:t>新服务是否引入了定制的</a:t>
            </a:r>
            <a:r>
              <a:rPr lang="en-US" altLang="zh-CN" dirty="0"/>
              <a:t>SOAP</a:t>
            </a:r>
            <a:r>
              <a:rPr lang="zh-CN" altLang="en-US" dirty="0"/>
              <a:t>头？如果有，是否所有的潜在调用者（包括中间节点）也需要引入，并对它们进行理解和处理？</a:t>
            </a:r>
            <a:endParaRPr lang="en-US" altLang="zh-CN" dirty="0"/>
          </a:p>
          <a:p>
            <a:r>
              <a:rPr lang="zh-CN" altLang="en-US" dirty="0"/>
              <a:t>新服务是否引入了当前架构不支持的功能或</a:t>
            </a:r>
            <a:r>
              <a:rPr lang="en-US" altLang="zh-CN" dirty="0" err="1"/>
              <a:t>QoS</a:t>
            </a:r>
            <a:r>
              <a:rPr lang="zh-CN" altLang="en-US" dirty="0"/>
              <a:t>需求？</a:t>
            </a:r>
          </a:p>
        </p:txBody>
      </p:sp>
      <p:sp>
        <p:nvSpPr>
          <p:cNvPr id="71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912F265-5B06-446D-977E-55F51CC2EB73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面向服务的测试的特点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基于规约的测试</a:t>
            </a:r>
            <a:endParaRPr lang="en-US" altLang="zh-CN" dirty="0"/>
          </a:p>
          <a:p>
            <a:pPr lvl="1"/>
            <a:r>
              <a:rPr lang="zh-CN" altLang="en-US" dirty="0"/>
              <a:t>服务用户可能没看到或看不到源码</a:t>
            </a:r>
            <a:endParaRPr lang="en-US" altLang="zh-CN" dirty="0"/>
          </a:p>
          <a:p>
            <a:pPr lvl="1"/>
            <a:r>
              <a:rPr lang="zh-CN" altLang="en-US" dirty="0"/>
              <a:t>服务提供者虽然看的见源码，可是不知道源码会被谁使用以及如何使用</a:t>
            </a:r>
            <a:endParaRPr lang="en-US" altLang="zh-CN" dirty="0"/>
          </a:p>
          <a:p>
            <a:pPr lvl="1"/>
            <a:r>
              <a:rPr lang="zh-CN" altLang="en-US" dirty="0"/>
              <a:t>服务代理了解服务规约，但是依然不知道具体的使用方法和源码</a:t>
            </a:r>
            <a:endParaRPr lang="en-US" altLang="zh-CN" dirty="0"/>
          </a:p>
          <a:p>
            <a:r>
              <a:rPr lang="zh-CN" altLang="en-US" dirty="0"/>
              <a:t>动态性测试</a:t>
            </a:r>
            <a:endParaRPr lang="en-US" altLang="zh-CN" dirty="0"/>
          </a:p>
          <a:p>
            <a:r>
              <a:rPr lang="zh-CN" altLang="en-US" dirty="0"/>
              <a:t>协同测试</a:t>
            </a:r>
            <a:endParaRPr lang="en-US" altLang="zh-CN" dirty="0"/>
          </a:p>
          <a:p>
            <a:pPr lvl="1"/>
            <a:r>
              <a:rPr lang="zh-CN" altLang="en-US" dirty="0"/>
              <a:t>协同验证与确认（</a:t>
            </a:r>
            <a:r>
              <a:rPr lang="en-US" altLang="zh-CN" dirty="0"/>
              <a:t>CV&amp;V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独立验证与确认（</a:t>
            </a:r>
            <a:r>
              <a:rPr lang="en-US" altLang="zh-CN" dirty="0"/>
              <a:t>IV&amp;V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95452C3-A24C-4E84-839A-4B2B12BAB57A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面向服务的测试方法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608664"/>
              </p:ext>
            </p:extLst>
          </p:nvPr>
        </p:nvGraphicFramePr>
        <p:xfrm>
          <a:off x="107503" y="1484784"/>
          <a:ext cx="8928993" cy="4673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4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测试方法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如何测试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应用范围</a:t>
                      </a:r>
                    </a:p>
                  </a:txBody>
                  <a:tcPr marT="45704" marB="4570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不测试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不做任何测试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一些对计算可信性要求不高的个人或小型应用</a:t>
                      </a:r>
                    </a:p>
                  </a:txBody>
                  <a:tcPr marT="45704" marB="457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86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“相信我，没错的！”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用公司信誉作服务质量担保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对日常的许多应用都是可以的，但不适用于对计算可信性较高的应用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使用信誉或法律来保障服务软件的质量</a:t>
                      </a:r>
                    </a:p>
                  </a:txBody>
                  <a:tcPr marT="45704" marB="4570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050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“统统告诉我‘代码’”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测试一些可能的组合，仅使用那些通过测试的组合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服务提供者愿意提供源代码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评估比较客观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真正进行测试以确保软件质量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由于需要测试所有组合，且组合总数十分庞大，代价很昂贵</a:t>
                      </a:r>
                    </a:p>
                  </a:txBody>
                  <a:tcPr marT="45704" marB="4570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32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CV&amp;V</a:t>
                      </a:r>
                      <a:endParaRPr lang="zh-CN" altLang="en-US" sz="1800" dirty="0"/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用户选择进过排名的服务</a:t>
                      </a:r>
                    </a:p>
                  </a:txBody>
                  <a:tcPr marT="45704" marB="4570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en-US" altLang="zh-CN" sz="1800" dirty="0"/>
                        <a:t>SOA</a:t>
                      </a:r>
                      <a:r>
                        <a:rPr lang="zh-CN" altLang="en-US" sz="1800" dirty="0"/>
                        <a:t>框架中的每一方（服务用户、服务中介和服务提供者）都需要参与到</a:t>
                      </a:r>
                      <a:r>
                        <a:rPr lang="en-US" altLang="zh-CN" sz="1800" dirty="0"/>
                        <a:t>CV&amp;V</a:t>
                      </a:r>
                      <a:r>
                        <a:rPr lang="zh-CN" altLang="en-US" sz="1800" dirty="0"/>
                        <a:t>过程中来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评估比较客观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真正进行测试以确保软件的质量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dirty="0"/>
                        <a:t>可以对新组合的应用程序进行运行时的测试</a:t>
                      </a:r>
                    </a:p>
                  </a:txBody>
                  <a:tcPr marT="45704" marB="4570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4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9E8E855-5D59-4458-9177-4DE14424130D}" type="slidenum">
              <a:rPr lang="en-US" altLang="zh-CN"/>
              <a:pPr/>
              <a:t>6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CV&amp;V</a:t>
            </a:r>
            <a:r>
              <a:rPr lang="zh-CN" altLang="en-US">
                <a:ea typeface="宋体" pitchFamily="2" charset="-122"/>
              </a:rPr>
              <a:t>（</a:t>
            </a:r>
            <a:r>
              <a:rPr lang="en-US" altLang="zh-CN">
                <a:ea typeface="宋体" pitchFamily="2" charset="-122"/>
              </a:rPr>
              <a:t>1/2</a:t>
            </a:r>
            <a:r>
              <a:rPr lang="zh-CN" altLang="en-US">
                <a:ea typeface="宋体" pitchFamily="2" charset="-122"/>
              </a:rPr>
              <a:t>）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803057"/>
              </p:ext>
            </p:extLst>
          </p:nvPr>
        </p:nvGraphicFramePr>
        <p:xfrm>
          <a:off x="107505" y="1268760"/>
          <a:ext cx="8928992" cy="5038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比较项目</a:t>
                      </a:r>
                    </a:p>
                  </a:txBody>
                  <a:tcPr marL="91436" marR="91436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IV&amp;V</a:t>
                      </a:r>
                      <a:endParaRPr lang="zh-CN" altLang="en-US" sz="1800" dirty="0"/>
                    </a:p>
                  </a:txBody>
                  <a:tcPr marL="91436" marR="91436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CV&amp;V</a:t>
                      </a:r>
                      <a:endParaRPr lang="zh-CN" altLang="en-US" sz="1800" dirty="0"/>
                    </a:p>
                  </a:txBody>
                  <a:tcPr marL="91436" marR="91436"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91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方法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软件验证和确认小组通常独立于开发小组，以保证测试的客观性和全面性。软件的验证和确认大多由软件提供商完成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验证和确认是通过服务提供商、客户和独立的服务代理协同完成的，它强调实时、在线的测试和利用动态收集的数据进行评估</a:t>
                      </a:r>
                    </a:p>
                  </a:txBody>
                  <a:tcPr marL="91436" marR="91436" marT="45707" marB="457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1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测试的地理位置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集中的多步测试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分布式、远程的、多代理和多步骤的测试</a:t>
                      </a:r>
                    </a:p>
                  </a:txBody>
                  <a:tcPr marL="91436" marR="91436" marT="45707" marB="457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3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操作性测试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离线的领域测试和仿真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在应用程序环境下的在线即时测试</a:t>
                      </a:r>
                    </a:p>
                  </a:txBody>
                  <a:tcPr marL="91436" marR="91436" marT="45707" marB="457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1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回归测试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离线的回归测试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利用动态收集的数据进行在线的回归测试</a:t>
                      </a:r>
                    </a:p>
                  </a:txBody>
                  <a:tcPr marL="91436" marR="91436" marT="45707" marB="457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1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集成测试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静态的配置信息和系统必须在集成测试前链接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动态的配置和系统在运行时被链接和验证</a:t>
                      </a:r>
                    </a:p>
                  </a:txBody>
                  <a:tcPr marL="91436" marR="91436" marT="45707" marB="457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31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测试覆盖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输入范围、结构性（白盒）和功能性（黑盒）覆盖</a:t>
                      </a:r>
                    </a:p>
                  </a:txBody>
                  <a:tcPr marL="91436" marR="91436" marT="45707" marB="4570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服务提供商可以使用全部的传统覆盖，服务中介和用户只能使用黑盒覆盖（如</a:t>
                      </a:r>
                      <a:r>
                        <a:rPr lang="en-US" altLang="zh-CN" sz="1800" dirty="0"/>
                        <a:t>WSDL</a:t>
                      </a:r>
                      <a:r>
                        <a:rPr lang="zh-CN" altLang="en-US" sz="1800" dirty="0"/>
                        <a:t>定义的服务规约）</a:t>
                      </a:r>
                    </a:p>
                  </a:txBody>
                  <a:tcPr marL="91436" marR="91436" marT="45707" marB="457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77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7FFB848-75D8-4703-86CB-6FFDA69EFA7A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CV&amp;V</a:t>
            </a:r>
            <a:r>
              <a:rPr lang="zh-CN" altLang="en-US">
                <a:ea typeface="宋体" pitchFamily="2" charset="-122"/>
              </a:rPr>
              <a:t>（</a:t>
            </a:r>
            <a:r>
              <a:rPr lang="en-US" altLang="zh-CN">
                <a:ea typeface="宋体" pitchFamily="2" charset="-122"/>
              </a:rPr>
              <a:t>2/2</a:t>
            </a:r>
            <a:r>
              <a:rPr lang="zh-CN" altLang="en-US">
                <a:ea typeface="宋体" pitchFamily="2" charset="-122"/>
              </a:rPr>
              <a:t>）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731440"/>
              </p:ext>
            </p:extLst>
          </p:nvPr>
        </p:nvGraphicFramePr>
        <p:xfrm>
          <a:off x="179512" y="1916832"/>
          <a:ext cx="8712968" cy="3673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0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比较项目</a:t>
                      </a:r>
                    </a:p>
                  </a:txBody>
                  <a:tcPr marL="91436" marR="91436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IV&amp;V</a:t>
                      </a:r>
                      <a:endParaRPr lang="zh-CN" altLang="en-US" sz="1800" dirty="0"/>
                    </a:p>
                  </a:txBody>
                  <a:tcPr marL="91436" marR="91436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CV&amp;V</a:t>
                      </a:r>
                      <a:endParaRPr lang="zh-CN" altLang="en-US" sz="1800" dirty="0"/>
                    </a:p>
                  </a:txBody>
                  <a:tcPr marL="91436" marR="91436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9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测试用例记录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静态记录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利用分散</a:t>
                      </a:r>
                      <a:r>
                        <a:rPr lang="zh-CN" altLang="en-US" sz="1800"/>
                        <a:t>的代理收集的</a:t>
                      </a:r>
                      <a:r>
                        <a:rPr lang="zh-CN" altLang="en-US" sz="1800" dirty="0"/>
                        <a:t>数据进行动态记录</a:t>
                      </a:r>
                    </a:p>
                  </a:txBody>
                  <a:tcPr marL="91436" marR="91436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9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可靠性建模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基于输入域的可靠性增长模型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基于动态记录和社团测试的可靠性模型</a:t>
                      </a:r>
                    </a:p>
                  </a:txBody>
                  <a:tcPr marL="91436" marR="91436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0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服务资格证明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静态服务资格证明中心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基于服务历史的动态资格证明</a:t>
                      </a:r>
                    </a:p>
                  </a:txBody>
                  <a:tcPr marL="91436" marR="91436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0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测试用例仓库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静态维护的仓库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动态扩展的仓库</a:t>
                      </a:r>
                    </a:p>
                  </a:txBody>
                  <a:tcPr marL="91436" marR="91436" marT="45728" marB="45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9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模型验证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在源代码和状态模型上实施的模型检验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在描述文档和服务规约及组装上实施的即时动态模型验证</a:t>
                      </a:r>
                    </a:p>
                  </a:txBody>
                  <a:tcPr marL="91436" marR="91436" marT="45728" marB="457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9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仿真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描述文档和模型被模拟执行以验证设计或源代码</a:t>
                      </a:r>
                    </a:p>
                  </a:txBody>
                  <a:tcPr marL="91436" marR="91436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/>
                        <a:t>组合服务的即时动态仿真</a:t>
                      </a:r>
                    </a:p>
                  </a:txBody>
                  <a:tcPr marL="91436" marR="91436" marT="45728" marB="457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301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89227DA-DFF2-48BB-AEE2-7BBAB6E33728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WebStrar</a:t>
            </a:r>
            <a:r>
              <a:rPr lang="zh-CN" altLang="en-US"/>
              <a:t>（</a:t>
            </a:r>
            <a:r>
              <a:rPr lang="en-US" altLang="zh-CN"/>
              <a:t>1/2</a:t>
            </a:r>
            <a:r>
              <a:rPr lang="zh-CN" altLang="en-US"/>
              <a:t>）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WebStrar</a:t>
            </a:r>
            <a:r>
              <a:rPr lang="zh-CN" altLang="en-US"/>
              <a:t>（</a:t>
            </a:r>
            <a:r>
              <a:rPr lang="en-US" altLang="zh-CN"/>
              <a:t>Web Service Testing Ranking with Automated test oracle generation and test case Ranking</a:t>
            </a:r>
            <a:r>
              <a:rPr lang="zh-CN" altLang="en-US"/>
              <a:t>）用以发布与服务相关的测试资产，如测试用例、测试用例的排名方法、测试生成方法、测试生成方法的排名方法、软件可靠性模型、软件可靠性模型的排名方法</a:t>
            </a:r>
            <a:endParaRPr lang="en-US" altLang="zh-CN"/>
          </a:p>
          <a:p>
            <a:r>
              <a:rPr lang="zh-CN" altLang="en-US"/>
              <a:t>用以提供服务排名、测试用例排名、测试方法排名、可靠性模型排名</a:t>
            </a:r>
            <a:endParaRPr lang="en-US" altLang="zh-CN" dirty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7FB6D26-2095-4E62-AD34-AAB7330B052C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WebStrar</a:t>
            </a:r>
            <a:r>
              <a:rPr lang="zh-CN" altLang="en-US">
                <a:ea typeface="宋体" pitchFamily="2" charset="-122"/>
              </a:rPr>
              <a:t>（</a:t>
            </a:r>
            <a:r>
              <a:rPr lang="en-US" altLang="zh-CN">
                <a:ea typeface="宋体" pitchFamily="2" charset="-122"/>
              </a:rPr>
              <a:t>2/2</a:t>
            </a:r>
            <a:r>
              <a:rPr lang="zh-CN" altLang="en-US">
                <a:ea typeface="宋体" pitchFamily="2" charset="-122"/>
              </a:rPr>
              <a:t>）</a:t>
            </a:r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664" y="1556792"/>
            <a:ext cx="5643562" cy="4706938"/>
          </a:xfrm>
          <a:noFill/>
        </p:spPr>
      </p:pic>
      <p:sp>
        <p:nvSpPr>
          <p:cNvPr id="1331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EE73EC-556E-4552-A561-DF64E3A3B405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可信的中介服务</a:t>
            </a:r>
          </a:p>
        </p:txBody>
      </p:sp>
      <p:pic>
        <p:nvPicPr>
          <p:cNvPr id="1433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5938" y="1214438"/>
            <a:ext cx="5376862" cy="5400675"/>
          </a:xfrm>
          <a:noFill/>
        </p:spPr>
      </p:pic>
      <p:sp>
        <p:nvSpPr>
          <p:cNvPr id="1434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5432829-84D8-46B7-BCC5-A61CF77AD60C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服务的部署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服务如何分布？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基础设施是否能适应满足所有服务的处理需求？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引入新服务将如何影响现有的服务和应用？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如何定位和部署在多个解决方案中复用的服务？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引入所需要的中间件将如何影响现有环境？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在服务引入新版本的服务描述时，是否需要和现有版本一起部署？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需要怎样的安全设置和账号？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为适应计划中或不可预见的扩展性需求，如何维护服务池？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如何维护和监管具有性能和可靠性限制的包装遗留系统？</a:t>
            </a:r>
            <a:endParaRPr lang="en-US" altLang="zh-CN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AB67357-EB47-4301-BCD1-555AFC45BCEE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服务的管理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如何监管服务的使用</a:t>
            </a:r>
            <a:endParaRPr lang="en-US" altLang="zh-CN"/>
          </a:p>
          <a:p>
            <a:r>
              <a:rPr lang="zh-CN" altLang="en-US"/>
              <a:t>为了管理服务描述文档，需要何种形式的版本控制？</a:t>
            </a:r>
            <a:endParaRPr lang="en-US" altLang="zh-CN"/>
          </a:p>
          <a:p>
            <a:r>
              <a:rPr lang="zh-CN" altLang="en-US"/>
              <a:t>如何跟踪和管理消息？</a:t>
            </a:r>
            <a:endParaRPr lang="en-US" altLang="zh-CN"/>
          </a:p>
          <a:p>
            <a:r>
              <a:rPr lang="zh-CN" altLang="en-US"/>
              <a:t>如何检测性能瓶颈？</a:t>
            </a:r>
            <a:endParaRPr lang="en-US" altLang="zh-CN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FFC7F1E-B1F5-4397-B7C3-3B5453CF5152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Read More…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zh-CN" dirty="0"/>
          </a:p>
          <a:p>
            <a:r>
              <a:rPr lang="zh-CN" altLang="en-US" sz="2800" dirty="0"/>
              <a:t>题名</a:t>
            </a:r>
            <a:r>
              <a:rPr lang="en-US" altLang="zh-CN" sz="2800" dirty="0"/>
              <a:t>/</a:t>
            </a:r>
            <a:r>
              <a:rPr lang="zh-CN" altLang="en-US" sz="2800" dirty="0"/>
              <a:t>责任者</a:t>
            </a:r>
            <a:r>
              <a:rPr lang="en-US" altLang="zh-CN" sz="2800" dirty="0"/>
              <a:t>:SOA</a:t>
            </a:r>
            <a:r>
              <a:rPr lang="zh-CN" altLang="en-US" sz="2800" dirty="0"/>
              <a:t>概念、技术与设计</a:t>
            </a:r>
            <a:r>
              <a:rPr lang="en-US" altLang="zh-CN" sz="2800" dirty="0"/>
              <a:t>/(</a:t>
            </a:r>
            <a:r>
              <a:rPr lang="zh-CN" altLang="en-US" sz="2800" dirty="0"/>
              <a:t>美</a:t>
            </a:r>
            <a:r>
              <a:rPr lang="en-US" altLang="zh-CN" sz="2800" dirty="0"/>
              <a:t>) Thomas </a:t>
            </a:r>
            <a:r>
              <a:rPr lang="en-US" altLang="zh-CN" sz="2800" dirty="0" err="1"/>
              <a:t>Erl</a:t>
            </a:r>
            <a:r>
              <a:rPr lang="zh-CN" altLang="en-US" sz="2800" dirty="0"/>
              <a:t>著 王满红</a:t>
            </a:r>
            <a:r>
              <a:rPr lang="en-US" altLang="zh-CN" sz="2800" dirty="0"/>
              <a:t>, </a:t>
            </a:r>
            <a:r>
              <a:rPr lang="zh-CN" altLang="en-US" sz="2800" dirty="0"/>
              <a:t>陈荣华译</a:t>
            </a:r>
            <a:endParaRPr lang="en-US" altLang="zh-CN" sz="2800" dirty="0"/>
          </a:p>
          <a:p>
            <a:r>
              <a:rPr lang="zh-CN" altLang="en-US" sz="2800" dirty="0"/>
              <a:t>出版发行项</a:t>
            </a:r>
            <a:r>
              <a:rPr lang="en-US" altLang="zh-CN" sz="2800" dirty="0"/>
              <a:t>:</a:t>
            </a:r>
            <a:r>
              <a:rPr lang="zh-CN" altLang="en-US" sz="2800" dirty="0"/>
              <a:t>北京</a:t>
            </a:r>
            <a:r>
              <a:rPr lang="en-US" altLang="zh-CN" sz="2800" dirty="0"/>
              <a:t>:</a:t>
            </a:r>
            <a:r>
              <a:rPr lang="zh-CN" altLang="en-US" sz="2800" dirty="0"/>
              <a:t>机械工业出版社</a:t>
            </a:r>
            <a:r>
              <a:rPr lang="en-US" altLang="zh-CN" sz="2800" dirty="0"/>
              <a:t>,2007</a:t>
            </a:r>
          </a:p>
          <a:p>
            <a:r>
              <a:rPr lang="en-US" altLang="zh-CN" sz="2800" dirty="0"/>
              <a:t>ISBN</a:t>
            </a:r>
            <a:r>
              <a:rPr lang="zh-CN" altLang="en-US" sz="2800" dirty="0"/>
              <a:t>及定价</a:t>
            </a:r>
            <a:r>
              <a:rPr lang="en-US" altLang="zh-CN" sz="2800" dirty="0"/>
              <a:t>:7-111-19727-5/CNY56.00</a:t>
            </a:r>
          </a:p>
          <a:p>
            <a:r>
              <a:rPr lang="en-US" altLang="zh-CN" sz="2800" dirty="0">
                <a:hlinkClick r:id="rId2"/>
              </a:rPr>
              <a:t>URL:http://202.119.47.8:8080/opac/item.php?marc_no=0003275270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题名</a:t>
            </a:r>
            <a:r>
              <a:rPr lang="en-US" altLang="zh-CN" sz="2800" dirty="0"/>
              <a:t>/</a:t>
            </a:r>
            <a:r>
              <a:rPr lang="zh-CN" altLang="en-US" sz="2800" dirty="0"/>
              <a:t>责任者</a:t>
            </a:r>
            <a:r>
              <a:rPr lang="en-US" altLang="zh-CN" sz="2800" dirty="0"/>
              <a:t>:</a:t>
            </a:r>
            <a:r>
              <a:rPr lang="zh-CN" altLang="en-US" sz="2800" dirty="0"/>
              <a:t>浅谈深析面向服务的软件工程</a:t>
            </a:r>
            <a:r>
              <a:rPr lang="en-US" altLang="zh-CN" sz="2800" dirty="0"/>
              <a:t>/</a:t>
            </a:r>
            <a:r>
              <a:rPr lang="zh-CN" altLang="en-US" sz="2800" dirty="0"/>
              <a:t>蔡维德</a:t>
            </a:r>
            <a:r>
              <a:rPr lang="en-US" altLang="zh-CN" sz="2800" dirty="0"/>
              <a:t>, </a:t>
            </a:r>
            <a:r>
              <a:rPr lang="zh-CN" altLang="en-US" sz="2800" dirty="0"/>
              <a:t>白晓颖</a:t>
            </a:r>
            <a:r>
              <a:rPr lang="en-US" altLang="zh-CN" sz="2800" dirty="0"/>
              <a:t>, </a:t>
            </a:r>
            <a:r>
              <a:rPr lang="zh-CN" altLang="en-US" sz="2800" dirty="0"/>
              <a:t>陈以农著</a:t>
            </a:r>
          </a:p>
          <a:p>
            <a:r>
              <a:rPr lang="zh-CN" altLang="en-US" sz="2800" dirty="0"/>
              <a:t>出版发行项</a:t>
            </a:r>
            <a:r>
              <a:rPr lang="en-US" altLang="zh-CN" sz="2800" dirty="0"/>
              <a:t>:</a:t>
            </a:r>
            <a:r>
              <a:rPr lang="zh-CN" altLang="en-US" sz="2800" dirty="0"/>
              <a:t>北京</a:t>
            </a:r>
            <a:r>
              <a:rPr lang="en-US" altLang="zh-CN" sz="2800" dirty="0"/>
              <a:t>:</a:t>
            </a:r>
            <a:r>
              <a:rPr lang="zh-CN" altLang="en-US" sz="2800" dirty="0"/>
              <a:t>清华大学出版社</a:t>
            </a:r>
            <a:r>
              <a:rPr lang="en-US" altLang="zh-CN" sz="2800" dirty="0"/>
              <a:t>,2008</a:t>
            </a:r>
          </a:p>
          <a:p>
            <a:r>
              <a:rPr lang="en-US" altLang="zh-CN" sz="2800" dirty="0"/>
              <a:t>ISBN</a:t>
            </a:r>
            <a:r>
              <a:rPr lang="zh-CN" altLang="en-US" sz="2800" dirty="0"/>
              <a:t>及定价</a:t>
            </a:r>
            <a:r>
              <a:rPr lang="en-US" altLang="zh-CN" sz="2800" dirty="0"/>
              <a:t>:978-7-302-17221-5/CNY29.00</a:t>
            </a:r>
          </a:p>
          <a:p>
            <a:r>
              <a:rPr lang="en-US" altLang="zh-CN" sz="2800" dirty="0">
                <a:hlinkClick r:id="rId3"/>
              </a:rPr>
              <a:t>URL:http://202.119.47.8:8080/opac/item.php?marc_no=0003487777</a:t>
            </a:r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505200" y="6461125"/>
            <a:ext cx="2133600" cy="3206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5E2893E-1C56-4F7E-897F-1FA1E5A4D06E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081259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SOSE</Template>
  <TotalTime>9671</TotalTime>
  <Words>1190</Words>
  <Application>Microsoft Office PowerPoint</Application>
  <PresentationFormat>全屏显示(4:3)</PresentationFormat>
  <Paragraphs>172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Verdana</vt:lpstr>
      <vt:lpstr>Wingdings</vt:lpstr>
      <vt:lpstr>software</vt:lpstr>
      <vt:lpstr>Development, Testing, Deployment and management of Services Service-Oriented Software Engineering</vt:lpstr>
      <vt:lpstr>面向服务的生命周期的基本阶段</vt:lpstr>
      <vt:lpstr>服务的开发</vt:lpstr>
      <vt:lpstr>服务的测试</vt:lpstr>
      <vt:lpstr>面向服务的测试的特点</vt:lpstr>
      <vt:lpstr>面向服务的测试方法</vt:lpstr>
      <vt:lpstr>CV&amp;V（1/2）</vt:lpstr>
      <vt:lpstr>CV&amp;V（2/2）</vt:lpstr>
      <vt:lpstr>WebStrar（1/2）</vt:lpstr>
      <vt:lpstr>WebStrar（2/2）</vt:lpstr>
      <vt:lpstr>可信的中介服务</vt:lpstr>
      <vt:lpstr>服务的部署</vt:lpstr>
      <vt:lpstr>服务的管理</vt:lpstr>
      <vt:lpstr>Read More…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贝佳</dc:creator>
  <cp:lastModifiedBy>jia bei</cp:lastModifiedBy>
  <cp:revision>138</cp:revision>
  <dcterms:created xsi:type="dcterms:W3CDTF">2008-04-16T11:36:22Z</dcterms:created>
  <dcterms:modified xsi:type="dcterms:W3CDTF">2023-12-11T04:19:48Z</dcterms:modified>
</cp:coreProperties>
</file>