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2" r:id="rId1"/>
  </p:sldMasterIdLst>
  <p:notesMasterIdLst>
    <p:notesMasterId r:id="rId40"/>
  </p:notesMasterIdLst>
  <p:sldIdLst>
    <p:sldId id="256" r:id="rId2"/>
    <p:sldId id="314" r:id="rId3"/>
    <p:sldId id="316" r:id="rId4"/>
    <p:sldId id="331" r:id="rId5"/>
    <p:sldId id="319" r:id="rId6"/>
    <p:sldId id="315" r:id="rId7"/>
    <p:sldId id="320" r:id="rId8"/>
    <p:sldId id="323" r:id="rId9"/>
    <p:sldId id="322" r:id="rId10"/>
    <p:sldId id="324" r:id="rId11"/>
    <p:sldId id="326" r:id="rId12"/>
    <p:sldId id="325" r:id="rId13"/>
    <p:sldId id="327" r:id="rId14"/>
    <p:sldId id="328" r:id="rId15"/>
    <p:sldId id="330" r:id="rId16"/>
    <p:sldId id="368" r:id="rId17"/>
    <p:sldId id="367" r:id="rId18"/>
    <p:sldId id="423" r:id="rId19"/>
    <p:sldId id="369" r:id="rId20"/>
    <p:sldId id="402" r:id="rId21"/>
    <p:sldId id="373" r:id="rId22"/>
    <p:sldId id="375" r:id="rId23"/>
    <p:sldId id="404" r:id="rId24"/>
    <p:sldId id="405" r:id="rId25"/>
    <p:sldId id="424" r:id="rId26"/>
    <p:sldId id="426" r:id="rId27"/>
    <p:sldId id="406" r:id="rId28"/>
    <p:sldId id="377" r:id="rId29"/>
    <p:sldId id="380" r:id="rId30"/>
    <p:sldId id="410" r:id="rId31"/>
    <p:sldId id="411" r:id="rId32"/>
    <p:sldId id="382" r:id="rId33"/>
    <p:sldId id="430" r:id="rId34"/>
    <p:sldId id="385" r:id="rId35"/>
    <p:sldId id="413" r:id="rId36"/>
    <p:sldId id="387" r:id="rId37"/>
    <p:sldId id="414" r:id="rId38"/>
    <p:sldId id="415" r:id="rId3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8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3" autoAdjust="0"/>
    <p:restoredTop sz="94639" autoAdjust="0"/>
  </p:normalViewPr>
  <p:slideViewPr>
    <p:cSldViewPr>
      <p:cViewPr varScale="1">
        <p:scale>
          <a:sx n="109" d="100"/>
          <a:sy n="109" d="100"/>
        </p:scale>
        <p:origin x="1749"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2262B14-ADD9-4EF4-8894-95364EC9DDD0}" type="slidenum">
              <a:rPr lang="en-US" altLang="zh-CN"/>
              <a:pPr>
                <a:defRPr/>
              </a:pPr>
              <a:t>‹#›</a:t>
            </a:fld>
            <a:endParaRPr lang="en-US" altLang="zh-CN"/>
          </a:p>
        </p:txBody>
      </p:sp>
    </p:spTree>
    <p:extLst>
      <p:ext uri="{BB962C8B-B14F-4D97-AF65-F5344CB8AC3E}">
        <p14:creationId xmlns:p14="http://schemas.microsoft.com/office/powerpoint/2010/main" val="1346057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B73E74F-837B-4786-B3B6-E0D8EFDAEAC0}" type="slidenum">
              <a:rPr lang="en-US" altLang="zh-CN" smtClean="0"/>
              <a:pPr eaLnBrk="1" hangingPunct="1"/>
              <a:t>1</a:t>
            </a:fld>
            <a:endParaRPr lang="en-US" altLang="zh-CN"/>
          </a:p>
        </p:txBody>
      </p:sp>
    </p:spTree>
    <p:extLst>
      <p:ext uri="{BB962C8B-B14F-4D97-AF65-F5344CB8AC3E}">
        <p14:creationId xmlns:p14="http://schemas.microsoft.com/office/powerpoint/2010/main" val="396052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9024DC0E-4858-468F-95B9-0017471C58F0}"/>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0D0C96F6-1444-4EA6-B4DB-28AF3CDE36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0EDEB207-B630-46D5-9D60-6500E282EF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99E1F9C-0544-4CA9-AED5-9C2D78B25EC1}" type="slidenum">
              <a:rPr lang="en-US" altLang="zh-CN"/>
              <a:pPr>
                <a:spcBef>
                  <a:spcPct val="0"/>
                </a:spcBef>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8823EFE4-81E1-4B03-A49A-4DD37681FBA9}"/>
              </a:ext>
            </a:extLst>
          </p:cNvPr>
          <p:cNvSpPr>
            <a:spLocks noGrp="1" noRot="1" noChangeAspect="1" noTextEdit="1"/>
          </p:cNvSpPr>
          <p:nvPr>
            <p:ph type="sldImg"/>
          </p:nvPr>
        </p:nvSpPr>
        <p:spPr>
          <a:ln/>
        </p:spPr>
      </p:sp>
      <p:sp>
        <p:nvSpPr>
          <p:cNvPr id="9219" name="备注占位符 2">
            <a:extLst>
              <a:ext uri="{FF2B5EF4-FFF2-40B4-BE49-F238E27FC236}">
                <a16:creationId xmlns:a16="http://schemas.microsoft.com/office/drawing/2014/main" id="{604F8775-7981-4004-A9B5-69999927103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220" name="灯片编号占位符 3">
            <a:extLst>
              <a:ext uri="{FF2B5EF4-FFF2-40B4-BE49-F238E27FC236}">
                <a16:creationId xmlns:a16="http://schemas.microsoft.com/office/drawing/2014/main" id="{90F306D0-E22D-47F4-AF47-3A51899A375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DDB51BE-84E8-4BCE-8A47-CD9D578FB29C}" type="slidenum">
              <a:rPr lang="en-US" altLang="zh-CN"/>
              <a:pPr>
                <a:spcBef>
                  <a:spcPct val="0"/>
                </a:spcBef>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6AC42386-99B8-49F2-8A18-EBB837045007}"/>
              </a:ext>
            </a:extLst>
          </p:cNvPr>
          <p:cNvSpPr>
            <a:spLocks noGrp="1" noRot="1" noChangeAspect="1" noTextEdit="1"/>
          </p:cNvSpPr>
          <p:nvPr>
            <p:ph type="sldImg"/>
          </p:nvPr>
        </p:nvSpPr>
        <p:spPr>
          <a:ln/>
        </p:spPr>
      </p:sp>
      <p:sp>
        <p:nvSpPr>
          <p:cNvPr id="12291" name="备注占位符 2">
            <a:extLst>
              <a:ext uri="{FF2B5EF4-FFF2-40B4-BE49-F238E27FC236}">
                <a16:creationId xmlns:a16="http://schemas.microsoft.com/office/drawing/2014/main" id="{495DBB2A-FFA8-4667-B883-F069E93E878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2292" name="灯片编号占位符 3">
            <a:extLst>
              <a:ext uri="{FF2B5EF4-FFF2-40B4-BE49-F238E27FC236}">
                <a16:creationId xmlns:a16="http://schemas.microsoft.com/office/drawing/2014/main" id="{5FD1CCDB-EF95-49DE-B3B0-B3D4271388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E486D6D-5CA6-4DAD-8354-EEE77C44BBA9}" type="slidenum">
              <a:rPr lang="en-US" altLang="zh-CN"/>
              <a:pPr>
                <a:spcBef>
                  <a:spcPct val="0"/>
                </a:spcBef>
              </a:pPr>
              <a:t>5</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7C14E8F3-19C5-42C4-960E-4C4C86F8720C}"/>
              </a:ext>
            </a:extLst>
          </p:cNvPr>
          <p:cNvSpPr>
            <a:spLocks noGrp="1" noRot="1" noChangeAspect="1" noTextEdit="1"/>
          </p:cNvSpPr>
          <p:nvPr>
            <p:ph type="sldImg"/>
          </p:nvPr>
        </p:nvSpPr>
        <p:spPr>
          <a:ln/>
        </p:spPr>
      </p:sp>
      <p:sp>
        <p:nvSpPr>
          <p:cNvPr id="14339" name="备注占位符 2">
            <a:extLst>
              <a:ext uri="{FF2B5EF4-FFF2-40B4-BE49-F238E27FC236}">
                <a16:creationId xmlns:a16="http://schemas.microsoft.com/office/drawing/2014/main" id="{33EA2BD7-6369-4F91-9A0A-9CA54F2B21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4340" name="灯片编号占位符 3">
            <a:extLst>
              <a:ext uri="{FF2B5EF4-FFF2-40B4-BE49-F238E27FC236}">
                <a16:creationId xmlns:a16="http://schemas.microsoft.com/office/drawing/2014/main" id="{F9A5B781-BAB4-428D-8638-C8440BE665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5DCAF03-873E-48CD-B562-94D552B7E86D}" type="slidenum">
              <a:rPr lang="en-US" altLang="zh-CN"/>
              <a:pPr>
                <a:spcBef>
                  <a:spcPct val="0"/>
                </a:spcBef>
              </a:pPr>
              <a:t>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a:extLst>
              <a:ext uri="{FF2B5EF4-FFF2-40B4-BE49-F238E27FC236}">
                <a16:creationId xmlns:a16="http://schemas.microsoft.com/office/drawing/2014/main" id="{24A5ACBD-9A03-4602-80C3-87DCAE0193DC}"/>
              </a:ext>
            </a:extLst>
          </p:cNvPr>
          <p:cNvSpPr>
            <a:spLocks noGrp="1" noRot="1" noChangeAspect="1" noTextEdit="1"/>
          </p:cNvSpPr>
          <p:nvPr>
            <p:ph type="sldImg"/>
          </p:nvPr>
        </p:nvSpPr>
        <p:spPr>
          <a:ln/>
        </p:spPr>
      </p:sp>
      <p:sp>
        <p:nvSpPr>
          <p:cNvPr id="16387" name="备注占位符 2">
            <a:extLst>
              <a:ext uri="{FF2B5EF4-FFF2-40B4-BE49-F238E27FC236}">
                <a16:creationId xmlns:a16="http://schemas.microsoft.com/office/drawing/2014/main" id="{F2F1DC0D-6B0F-4774-AF43-9DECD1D6E0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6388" name="灯片编号占位符 3">
            <a:extLst>
              <a:ext uri="{FF2B5EF4-FFF2-40B4-BE49-F238E27FC236}">
                <a16:creationId xmlns:a16="http://schemas.microsoft.com/office/drawing/2014/main" id="{51085D40-D901-42E2-89C0-DA475640E1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E269D9A-1518-464D-92C8-DA83EA6A1244}" type="slidenum">
              <a:rPr lang="en-US" altLang="zh-CN"/>
              <a:pPr>
                <a:spcBef>
                  <a:spcPct val="0"/>
                </a:spcBef>
              </a:pPr>
              <a:t>7</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A2091363-E052-4063-ACFD-3FCE2221DB7B}"/>
              </a:ext>
            </a:extLst>
          </p:cNvPr>
          <p:cNvSpPr>
            <a:spLocks noGrp="1" noRot="1" noChangeAspect="1" noTextEdit="1"/>
          </p:cNvSpPr>
          <p:nvPr>
            <p:ph type="sldImg"/>
          </p:nvPr>
        </p:nvSpPr>
        <p:spPr>
          <a:ln/>
        </p:spPr>
      </p:sp>
      <p:sp>
        <p:nvSpPr>
          <p:cNvPr id="18435" name="备注占位符 2">
            <a:extLst>
              <a:ext uri="{FF2B5EF4-FFF2-40B4-BE49-F238E27FC236}">
                <a16:creationId xmlns:a16="http://schemas.microsoft.com/office/drawing/2014/main" id="{04FFCE33-6640-4564-B2DE-3270A4A81F2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8436" name="灯片编号占位符 3">
            <a:extLst>
              <a:ext uri="{FF2B5EF4-FFF2-40B4-BE49-F238E27FC236}">
                <a16:creationId xmlns:a16="http://schemas.microsoft.com/office/drawing/2014/main" id="{505E9264-60F8-438B-854F-132E83F392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1B99775-18B1-403D-99ED-158424CB29BE}" type="slidenum">
              <a:rPr lang="en-US" altLang="zh-CN"/>
              <a:pPr>
                <a:spcBef>
                  <a:spcPct val="0"/>
                </a:spcBef>
              </a:pPr>
              <a:t>8</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E6BC4502-6195-492F-A13E-0BC651945BF3}"/>
              </a:ext>
            </a:extLst>
          </p:cNvPr>
          <p:cNvSpPr>
            <a:spLocks noGrp="1" noRot="1" noChangeAspect="1" noTextEdit="1"/>
          </p:cNvSpPr>
          <p:nvPr>
            <p:ph type="sldImg"/>
          </p:nvPr>
        </p:nvSpPr>
        <p:spPr>
          <a:ln/>
        </p:spPr>
      </p:sp>
      <p:sp>
        <p:nvSpPr>
          <p:cNvPr id="20483" name="备注占位符 2">
            <a:extLst>
              <a:ext uri="{FF2B5EF4-FFF2-40B4-BE49-F238E27FC236}">
                <a16:creationId xmlns:a16="http://schemas.microsoft.com/office/drawing/2014/main" id="{0091F93C-2B63-4AEB-AC35-C283949107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0484" name="灯片编号占位符 3">
            <a:extLst>
              <a:ext uri="{FF2B5EF4-FFF2-40B4-BE49-F238E27FC236}">
                <a16:creationId xmlns:a16="http://schemas.microsoft.com/office/drawing/2014/main" id="{1110A1FD-A718-47FF-8796-1293A7FB21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6A1CBDE-738A-4635-97B4-D54475B0E21B}" type="slidenum">
              <a:rPr lang="en-US" altLang="zh-CN"/>
              <a:pPr>
                <a:spcBef>
                  <a:spcPct val="0"/>
                </a:spcBef>
              </a:pPr>
              <a:t>9</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AECB724B-C97C-4EA4-BFE3-A9F8B2A25EC1}"/>
              </a:ext>
            </a:extLst>
          </p:cNvPr>
          <p:cNvSpPr>
            <a:spLocks noGrp="1" noRot="1" noChangeAspect="1" noTextEdit="1"/>
          </p:cNvSpPr>
          <p:nvPr>
            <p:ph type="sldImg"/>
          </p:nvPr>
        </p:nvSpPr>
        <p:spPr>
          <a:ln/>
        </p:spPr>
      </p:sp>
      <p:sp>
        <p:nvSpPr>
          <p:cNvPr id="22531" name="备注占位符 2">
            <a:extLst>
              <a:ext uri="{FF2B5EF4-FFF2-40B4-BE49-F238E27FC236}">
                <a16:creationId xmlns:a16="http://schemas.microsoft.com/office/drawing/2014/main" id="{106A9635-1D4C-416D-B288-45863340A2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2" name="灯片编号占位符 3">
            <a:extLst>
              <a:ext uri="{FF2B5EF4-FFF2-40B4-BE49-F238E27FC236}">
                <a16:creationId xmlns:a16="http://schemas.microsoft.com/office/drawing/2014/main" id="{3CC386E3-5418-4FE7-BBAA-B0A169B67C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C673B49-CB92-4AA0-B55E-1028149CE1D1}" type="slidenum">
              <a:rPr lang="en-US" altLang="zh-CN"/>
              <a:pPr>
                <a:spcBef>
                  <a:spcPct val="0"/>
                </a:spcBef>
              </a:pPr>
              <a:t>10</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E40DE045-5D7E-40B0-8099-0E44E953615A}"/>
              </a:ext>
            </a:extLst>
          </p:cNvPr>
          <p:cNvSpPr>
            <a:spLocks noGrp="1" noRot="1" noChangeAspect="1" noTextEdit="1"/>
          </p:cNvSpPr>
          <p:nvPr>
            <p:ph type="sldImg"/>
          </p:nvPr>
        </p:nvSpPr>
        <p:spPr>
          <a:ln/>
        </p:spPr>
      </p:sp>
      <p:sp>
        <p:nvSpPr>
          <p:cNvPr id="24579" name="备注占位符 2">
            <a:extLst>
              <a:ext uri="{FF2B5EF4-FFF2-40B4-BE49-F238E27FC236}">
                <a16:creationId xmlns:a16="http://schemas.microsoft.com/office/drawing/2014/main" id="{DF9745D8-AFC8-4D2C-81A4-AF7A9BAED1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1D38EA70-C39C-48E2-AE9A-272CD3F4726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5E8FE6E-B71B-4C27-B3DD-16C401FE5ABA}" type="slidenum">
              <a:rPr lang="en-US" altLang="zh-CN"/>
              <a:pPr>
                <a:spcBef>
                  <a:spcPct val="0"/>
                </a:spcBef>
              </a:pPr>
              <a:t>11</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50B8B0DF-521B-4848-88C2-639C17A957AC}"/>
              </a:ext>
            </a:extLst>
          </p:cNvPr>
          <p:cNvSpPr>
            <a:spLocks noGrp="1" noRot="1" noChangeAspect="1" noTextEdit="1"/>
          </p:cNvSpPr>
          <p:nvPr>
            <p:ph type="sldImg"/>
          </p:nvPr>
        </p:nvSpPr>
        <p:spPr>
          <a:ln/>
        </p:spPr>
      </p:sp>
      <p:sp>
        <p:nvSpPr>
          <p:cNvPr id="26627" name="备注占位符 2">
            <a:extLst>
              <a:ext uri="{FF2B5EF4-FFF2-40B4-BE49-F238E27FC236}">
                <a16:creationId xmlns:a16="http://schemas.microsoft.com/office/drawing/2014/main" id="{709C8F5B-8A4F-4A31-90FC-659FA9135A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628" name="灯片编号占位符 3">
            <a:extLst>
              <a:ext uri="{FF2B5EF4-FFF2-40B4-BE49-F238E27FC236}">
                <a16:creationId xmlns:a16="http://schemas.microsoft.com/office/drawing/2014/main" id="{0C26054D-E9AF-430C-ADDB-CA495A58ED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691ADCA-7015-4274-A577-D9FC91E6F85F}" type="slidenum">
              <a:rPr lang="en-US" altLang="zh-CN"/>
              <a:pPr>
                <a:spcBef>
                  <a:spcPct val="0"/>
                </a:spcBef>
              </a:pPr>
              <a:t>12</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BD24C9F3-EA01-4672-9AB2-30334FB011AD}"/>
              </a:ext>
            </a:extLst>
          </p:cNvPr>
          <p:cNvSpPr>
            <a:spLocks noGrp="1" noRot="1" noChangeAspect="1" noTextEdit="1"/>
          </p:cNvSpPr>
          <p:nvPr>
            <p:ph type="sldImg"/>
          </p:nvPr>
        </p:nvSpPr>
        <p:spPr>
          <a:ln/>
        </p:spPr>
      </p:sp>
      <p:sp>
        <p:nvSpPr>
          <p:cNvPr id="28675" name="备注占位符 2">
            <a:extLst>
              <a:ext uri="{FF2B5EF4-FFF2-40B4-BE49-F238E27FC236}">
                <a16:creationId xmlns:a16="http://schemas.microsoft.com/office/drawing/2014/main" id="{ABDD5021-0944-41C8-89F5-4D27CAB8C3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8676" name="灯片编号占位符 3">
            <a:extLst>
              <a:ext uri="{FF2B5EF4-FFF2-40B4-BE49-F238E27FC236}">
                <a16:creationId xmlns:a16="http://schemas.microsoft.com/office/drawing/2014/main" id="{8CD662AC-92EC-4C6F-BBC7-E580953B756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6145BB8-48F4-4BDB-8731-AF8E765C3495}" type="slidenum">
              <a:rPr lang="en-US" altLang="zh-CN"/>
              <a:pPr>
                <a:spcBef>
                  <a:spcPct val="0"/>
                </a:spcBef>
              </a:pPr>
              <a:t>13</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A2B2F181-EF7F-4A76-8C5D-87C0A7C3AC9D}"/>
              </a:ext>
            </a:extLst>
          </p:cNvPr>
          <p:cNvSpPr>
            <a:spLocks noGrp="1" noRot="1" noChangeAspect="1" noTextEdit="1"/>
          </p:cNvSpPr>
          <p:nvPr>
            <p:ph type="sldImg"/>
          </p:nvPr>
        </p:nvSpPr>
        <p:spPr>
          <a:ln/>
        </p:spPr>
      </p:sp>
      <p:sp>
        <p:nvSpPr>
          <p:cNvPr id="30723" name="备注占位符 2">
            <a:extLst>
              <a:ext uri="{FF2B5EF4-FFF2-40B4-BE49-F238E27FC236}">
                <a16:creationId xmlns:a16="http://schemas.microsoft.com/office/drawing/2014/main" id="{2CD94612-ECC6-429E-A612-8798EF4ACB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0724" name="灯片编号占位符 3">
            <a:extLst>
              <a:ext uri="{FF2B5EF4-FFF2-40B4-BE49-F238E27FC236}">
                <a16:creationId xmlns:a16="http://schemas.microsoft.com/office/drawing/2014/main" id="{D9373BF7-8B59-4899-BFA4-81A1317198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2B1D86C-37DB-4185-BD9C-EB1641A37607}" type="slidenum">
              <a:rPr lang="en-US" altLang="zh-CN"/>
              <a:pPr>
                <a:spcBef>
                  <a:spcPct val="0"/>
                </a:spcBef>
              </a:pPr>
              <a:t>14</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51131C6D-C16B-4396-B8FC-7199D404124C}"/>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3D523171-B4EC-40C3-9700-D45EF53AC5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B08B158D-3D08-4912-A83E-8ABC873DA4C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E4511A5-655D-4246-BA74-24EE54CAE0D1}" type="slidenum">
              <a:rPr lang="en-US" altLang="zh-CN"/>
              <a:pPr>
                <a:spcBef>
                  <a:spcPct val="0"/>
                </a:spcBef>
              </a:pPr>
              <a:t>15</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86B6EF47-5E91-4174-9474-FCF8D118FDFA}"/>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7129FED2-138A-4E1B-B037-FB428A1412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A44A98F7-8575-486A-A21A-BDF6F88ED8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584816A-E1FB-47E2-A69C-20C344161516}" type="slidenum">
              <a:rPr lang="en-US" altLang="zh-CN"/>
              <a:pPr>
                <a:spcBef>
                  <a:spcPct val="0"/>
                </a:spcBef>
              </a:pPr>
              <a:t>16</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7CB50FC4-90C7-4501-B5D9-AF86850A44D1}"/>
              </a:ext>
            </a:extLst>
          </p:cNvPr>
          <p:cNvSpPr>
            <a:spLocks noGrp="1" noRot="1" noChangeAspect="1" noTextEdit="1"/>
          </p:cNvSpPr>
          <p:nvPr>
            <p:ph type="sldImg"/>
          </p:nvPr>
        </p:nvSpPr>
        <p:spPr>
          <a:ln/>
        </p:spPr>
      </p:sp>
      <p:sp>
        <p:nvSpPr>
          <p:cNvPr id="9219" name="备注占位符 2">
            <a:extLst>
              <a:ext uri="{FF2B5EF4-FFF2-40B4-BE49-F238E27FC236}">
                <a16:creationId xmlns:a16="http://schemas.microsoft.com/office/drawing/2014/main" id="{1D36E184-A9B5-415E-8FA7-704F340D253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220" name="灯片编号占位符 3">
            <a:extLst>
              <a:ext uri="{FF2B5EF4-FFF2-40B4-BE49-F238E27FC236}">
                <a16:creationId xmlns:a16="http://schemas.microsoft.com/office/drawing/2014/main" id="{6C67145B-96F1-4F3B-923E-1223C65610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D82392F-EEFD-4A48-ACDB-3E22FAA089AD}" type="slidenum">
              <a:rPr lang="en-US" altLang="zh-CN"/>
              <a:pPr>
                <a:spcBef>
                  <a:spcPct val="0"/>
                </a:spcBef>
              </a:pPr>
              <a:t>17</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825C08B2-9770-4B59-BFE3-FE207E600B25}"/>
              </a:ext>
            </a:extLst>
          </p:cNvPr>
          <p:cNvSpPr>
            <a:spLocks noGrp="1" noRot="1" noChangeAspect="1" noTextEdit="1"/>
          </p:cNvSpPr>
          <p:nvPr>
            <p:ph type="sldImg"/>
          </p:nvPr>
        </p:nvSpPr>
        <p:spPr>
          <a:ln/>
        </p:spPr>
      </p:sp>
      <p:sp>
        <p:nvSpPr>
          <p:cNvPr id="11267" name="备注占位符 2">
            <a:extLst>
              <a:ext uri="{FF2B5EF4-FFF2-40B4-BE49-F238E27FC236}">
                <a16:creationId xmlns:a16="http://schemas.microsoft.com/office/drawing/2014/main" id="{8857B247-3CF0-4578-AE3D-02FF89A15D8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1268" name="灯片编号占位符 3">
            <a:extLst>
              <a:ext uri="{FF2B5EF4-FFF2-40B4-BE49-F238E27FC236}">
                <a16:creationId xmlns:a16="http://schemas.microsoft.com/office/drawing/2014/main" id="{7BC92275-5D0F-4694-9370-159F05A1F0B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C6E60C0-6030-4B00-A20B-223E42E656CE}" type="slidenum">
              <a:rPr lang="en-US" altLang="zh-CN"/>
              <a:pPr>
                <a:spcBef>
                  <a:spcPct val="0"/>
                </a:spcBef>
              </a:pPr>
              <a:t>18</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660B593D-E3AA-4837-8914-BFB45E3BA906}"/>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B2638E98-BB1E-4DE4-BA0A-A399F4F4FD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DB1FEFDD-AB19-40DF-B5F8-81748A192B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C4EAB50-331A-4035-869E-6509DAF6B0DF}" type="slidenum">
              <a:rPr lang="en-US" altLang="zh-CN"/>
              <a:pPr>
                <a:spcBef>
                  <a:spcPct val="0"/>
                </a:spcBef>
              </a:pPr>
              <a:t>19</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88867970-2A58-4FDC-B1CE-A81F38190A18}"/>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CD3042D2-F500-4D81-8CCA-D0B9156224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368BE22E-206E-40FB-9DD9-45168A7FB8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8808F2C-134C-4A1D-9851-5BA260C204AF}" type="slidenum">
              <a:rPr lang="en-US" altLang="zh-CN"/>
              <a:pPr>
                <a:spcBef>
                  <a:spcPct val="0"/>
                </a:spcBef>
              </a:pPr>
              <a:t>20</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927E84A8-5CE9-4619-A82A-79925A78DEAA}"/>
              </a:ext>
            </a:extLst>
          </p:cNvPr>
          <p:cNvSpPr>
            <a:spLocks noGrp="1" noRot="1" noChangeAspect="1" noTextEdit="1"/>
          </p:cNvSpPr>
          <p:nvPr>
            <p:ph type="sldImg"/>
          </p:nvPr>
        </p:nvSpPr>
        <p:spPr>
          <a:ln/>
        </p:spPr>
      </p:sp>
      <p:sp>
        <p:nvSpPr>
          <p:cNvPr id="7171" name="备注占位符 2">
            <a:extLst>
              <a:ext uri="{FF2B5EF4-FFF2-40B4-BE49-F238E27FC236}">
                <a16:creationId xmlns:a16="http://schemas.microsoft.com/office/drawing/2014/main" id="{E6969467-ECAE-44F7-A534-CA00FEB40E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172" name="灯片编号占位符 3">
            <a:extLst>
              <a:ext uri="{FF2B5EF4-FFF2-40B4-BE49-F238E27FC236}">
                <a16:creationId xmlns:a16="http://schemas.microsoft.com/office/drawing/2014/main" id="{A786893E-A036-426E-AF9E-022638DB3D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CA49939-9037-4D4C-8201-10C1B20520DB}" type="slidenum">
              <a:rPr lang="en-US" altLang="zh-CN"/>
              <a:pPr>
                <a:spcBef>
                  <a:spcPct val="0"/>
                </a:spcBef>
              </a:pPr>
              <a:t>21</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D5DD2F52-E594-4BDD-BFFC-6550FE8C2EDE}"/>
              </a:ext>
            </a:extLst>
          </p:cNvPr>
          <p:cNvSpPr>
            <a:spLocks noGrp="1" noRot="1" noChangeAspect="1" noTextEdit="1"/>
          </p:cNvSpPr>
          <p:nvPr>
            <p:ph type="sldImg"/>
          </p:nvPr>
        </p:nvSpPr>
        <p:spPr>
          <a:ln/>
        </p:spPr>
      </p:sp>
      <p:sp>
        <p:nvSpPr>
          <p:cNvPr id="9219" name="备注占位符 2">
            <a:extLst>
              <a:ext uri="{FF2B5EF4-FFF2-40B4-BE49-F238E27FC236}">
                <a16:creationId xmlns:a16="http://schemas.microsoft.com/office/drawing/2014/main" id="{BF8B0575-DE0D-413F-9E10-3D06EE0260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220" name="灯片编号占位符 3">
            <a:extLst>
              <a:ext uri="{FF2B5EF4-FFF2-40B4-BE49-F238E27FC236}">
                <a16:creationId xmlns:a16="http://schemas.microsoft.com/office/drawing/2014/main" id="{5755D33B-7F0A-414F-9A0F-DEF6FBF253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4DFB408-8B4A-4E56-BDD3-39CF0E871BD5}" type="slidenum">
              <a:rPr lang="en-US" altLang="zh-CN"/>
              <a:pPr>
                <a:spcBef>
                  <a:spcPct val="0"/>
                </a:spcBef>
              </a:pPr>
              <a:t>22</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5EA64886-365F-402E-A8B0-E11739F6B9C8}"/>
              </a:ext>
            </a:extLst>
          </p:cNvPr>
          <p:cNvSpPr>
            <a:spLocks noGrp="1" noRot="1" noChangeAspect="1" noTextEdit="1"/>
          </p:cNvSpPr>
          <p:nvPr>
            <p:ph type="sldImg"/>
          </p:nvPr>
        </p:nvSpPr>
        <p:spPr>
          <a:ln/>
        </p:spPr>
      </p:sp>
      <p:sp>
        <p:nvSpPr>
          <p:cNvPr id="11267" name="备注占位符 2">
            <a:extLst>
              <a:ext uri="{FF2B5EF4-FFF2-40B4-BE49-F238E27FC236}">
                <a16:creationId xmlns:a16="http://schemas.microsoft.com/office/drawing/2014/main" id="{C12A092E-AC90-46E5-95BF-9A6896A3D4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1268" name="灯片编号占位符 3">
            <a:extLst>
              <a:ext uri="{FF2B5EF4-FFF2-40B4-BE49-F238E27FC236}">
                <a16:creationId xmlns:a16="http://schemas.microsoft.com/office/drawing/2014/main" id="{0C5B859D-388A-4F96-945F-E08A4CCBDA3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99F3465-05E2-40C4-84C9-965735FFA53F}" type="slidenum">
              <a:rPr lang="en-US" altLang="zh-CN"/>
              <a:pPr>
                <a:spcBef>
                  <a:spcPct val="0"/>
                </a:spcBef>
              </a:pPr>
              <a:t>23</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00DFE848-39EC-4F28-A36E-47AAE84F7EB6}"/>
              </a:ext>
            </a:extLst>
          </p:cNvPr>
          <p:cNvSpPr>
            <a:spLocks noGrp="1" noRot="1" noChangeAspect="1" noTextEdit="1"/>
          </p:cNvSpPr>
          <p:nvPr>
            <p:ph type="sldImg"/>
          </p:nvPr>
        </p:nvSpPr>
        <p:spPr>
          <a:ln/>
        </p:spPr>
      </p:sp>
      <p:sp>
        <p:nvSpPr>
          <p:cNvPr id="13315" name="备注占位符 2">
            <a:extLst>
              <a:ext uri="{FF2B5EF4-FFF2-40B4-BE49-F238E27FC236}">
                <a16:creationId xmlns:a16="http://schemas.microsoft.com/office/drawing/2014/main" id="{61D376A4-1813-4900-B425-5FA235D299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316" name="灯片编号占位符 3">
            <a:extLst>
              <a:ext uri="{FF2B5EF4-FFF2-40B4-BE49-F238E27FC236}">
                <a16:creationId xmlns:a16="http://schemas.microsoft.com/office/drawing/2014/main" id="{F270C211-E253-4BBB-B0E2-11357A2B70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1B93EC6-8DB3-4979-A918-7295F8EBE21D}" type="slidenum">
              <a:rPr lang="en-US" altLang="zh-CN"/>
              <a:pPr>
                <a:spcBef>
                  <a:spcPct val="0"/>
                </a:spcBef>
              </a:pPr>
              <a:t>24</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799A3647-B0DD-43FA-AFCC-0C8D7E05B3C7}"/>
              </a:ext>
            </a:extLst>
          </p:cNvPr>
          <p:cNvSpPr>
            <a:spLocks noGrp="1" noRot="1" noChangeAspect="1" noTextEdit="1"/>
          </p:cNvSpPr>
          <p:nvPr>
            <p:ph type="sldImg"/>
          </p:nvPr>
        </p:nvSpPr>
        <p:spPr>
          <a:ln/>
        </p:spPr>
      </p:sp>
      <p:sp>
        <p:nvSpPr>
          <p:cNvPr id="15363" name="备注占位符 2">
            <a:extLst>
              <a:ext uri="{FF2B5EF4-FFF2-40B4-BE49-F238E27FC236}">
                <a16:creationId xmlns:a16="http://schemas.microsoft.com/office/drawing/2014/main" id="{A8F9A544-39F3-4171-9A2A-F8F203B0128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D30E9E48-8599-4751-A370-5C77CDE039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414C84A-1EB1-4727-8BCB-57AC0A1CBAA4}" type="slidenum">
              <a:rPr lang="en-US" altLang="zh-CN"/>
              <a:pPr>
                <a:spcBef>
                  <a:spcPct val="0"/>
                </a:spcBef>
              </a:pPr>
              <a:t>25</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BE499CA2-660B-4904-BB7B-751DE5429226}"/>
              </a:ext>
            </a:extLst>
          </p:cNvPr>
          <p:cNvSpPr>
            <a:spLocks noGrp="1" noRot="1" noChangeAspect="1" noTextEdit="1"/>
          </p:cNvSpPr>
          <p:nvPr>
            <p:ph type="sldImg"/>
          </p:nvPr>
        </p:nvSpPr>
        <p:spPr>
          <a:ln/>
        </p:spPr>
      </p:sp>
      <p:sp>
        <p:nvSpPr>
          <p:cNvPr id="17411" name="备注占位符 2">
            <a:extLst>
              <a:ext uri="{FF2B5EF4-FFF2-40B4-BE49-F238E27FC236}">
                <a16:creationId xmlns:a16="http://schemas.microsoft.com/office/drawing/2014/main" id="{257FF6A1-1225-4EBB-90CA-2F165C4ABA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7412" name="灯片编号占位符 3">
            <a:extLst>
              <a:ext uri="{FF2B5EF4-FFF2-40B4-BE49-F238E27FC236}">
                <a16:creationId xmlns:a16="http://schemas.microsoft.com/office/drawing/2014/main" id="{2DAE98FF-6196-46F4-AC43-5079CEC0FD8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F42BEAC-6A42-4E0E-9CC7-98A39AF6737B}" type="slidenum">
              <a:rPr lang="en-US" altLang="zh-CN"/>
              <a:pPr>
                <a:spcBef>
                  <a:spcPct val="0"/>
                </a:spcBef>
              </a:pPr>
              <a:t>26</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0B2B5FF5-2808-4E2B-9848-30EF11660E61}"/>
              </a:ext>
            </a:extLst>
          </p:cNvPr>
          <p:cNvSpPr>
            <a:spLocks noGrp="1" noRot="1" noChangeAspect="1" noTextEdit="1"/>
          </p:cNvSpPr>
          <p:nvPr>
            <p:ph type="sldImg"/>
          </p:nvPr>
        </p:nvSpPr>
        <p:spPr>
          <a:ln/>
        </p:spPr>
      </p:sp>
      <p:sp>
        <p:nvSpPr>
          <p:cNvPr id="19459" name="备注占位符 2">
            <a:extLst>
              <a:ext uri="{FF2B5EF4-FFF2-40B4-BE49-F238E27FC236}">
                <a16:creationId xmlns:a16="http://schemas.microsoft.com/office/drawing/2014/main" id="{6267B971-BBF3-4283-96C8-6CD439577B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9460" name="灯片编号占位符 3">
            <a:extLst>
              <a:ext uri="{FF2B5EF4-FFF2-40B4-BE49-F238E27FC236}">
                <a16:creationId xmlns:a16="http://schemas.microsoft.com/office/drawing/2014/main" id="{8F5F65D0-E314-414C-AE15-3FDBDDED90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65B8444-A967-4D31-8D59-32FAEDA086CF}" type="slidenum">
              <a:rPr lang="en-US" altLang="zh-CN"/>
              <a:pPr>
                <a:spcBef>
                  <a:spcPct val="0"/>
                </a:spcBef>
              </a:pPr>
              <a:t>27</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8DD5FB42-D42C-41E6-9DCC-4AF437488292}"/>
              </a:ext>
            </a:extLst>
          </p:cNvPr>
          <p:cNvSpPr>
            <a:spLocks noGrp="1" noRot="1" noChangeAspect="1" noTextEdit="1"/>
          </p:cNvSpPr>
          <p:nvPr>
            <p:ph type="sldImg"/>
          </p:nvPr>
        </p:nvSpPr>
        <p:spPr>
          <a:ln/>
        </p:spPr>
      </p:sp>
      <p:sp>
        <p:nvSpPr>
          <p:cNvPr id="21507" name="备注占位符 2">
            <a:extLst>
              <a:ext uri="{FF2B5EF4-FFF2-40B4-BE49-F238E27FC236}">
                <a16:creationId xmlns:a16="http://schemas.microsoft.com/office/drawing/2014/main" id="{94A9B3FF-C307-47F9-965D-1427B4B7D0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1508" name="灯片编号占位符 3">
            <a:extLst>
              <a:ext uri="{FF2B5EF4-FFF2-40B4-BE49-F238E27FC236}">
                <a16:creationId xmlns:a16="http://schemas.microsoft.com/office/drawing/2014/main" id="{1E4AC674-AC5B-4FCD-B6B8-4CC57C1CE0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42CE238-1663-43C4-AB24-D5E6A036C95E}" type="slidenum">
              <a:rPr lang="en-US" altLang="zh-CN"/>
              <a:pPr>
                <a:spcBef>
                  <a:spcPct val="0"/>
                </a:spcBef>
              </a:pPr>
              <a:t>28</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7ADCAB34-D96C-43BE-820B-DB707E14C05E}"/>
              </a:ext>
            </a:extLst>
          </p:cNvPr>
          <p:cNvSpPr>
            <a:spLocks noGrp="1" noRot="1" noChangeAspect="1" noTextEdit="1"/>
          </p:cNvSpPr>
          <p:nvPr>
            <p:ph type="sldImg"/>
          </p:nvPr>
        </p:nvSpPr>
        <p:spPr>
          <a:ln/>
        </p:spPr>
      </p:sp>
      <p:sp>
        <p:nvSpPr>
          <p:cNvPr id="23555" name="备注占位符 2">
            <a:extLst>
              <a:ext uri="{FF2B5EF4-FFF2-40B4-BE49-F238E27FC236}">
                <a16:creationId xmlns:a16="http://schemas.microsoft.com/office/drawing/2014/main" id="{C2539CD7-EE82-42BC-8DDF-C3D783EC44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3556" name="灯片编号占位符 3">
            <a:extLst>
              <a:ext uri="{FF2B5EF4-FFF2-40B4-BE49-F238E27FC236}">
                <a16:creationId xmlns:a16="http://schemas.microsoft.com/office/drawing/2014/main" id="{E531821D-4C95-438E-94AB-9E6D7FFB0C5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8080461-AF99-4FB1-8C11-E685250D089E}" type="slidenum">
              <a:rPr lang="en-US" altLang="zh-CN"/>
              <a:pPr>
                <a:spcBef>
                  <a:spcPct val="0"/>
                </a:spcBef>
              </a:pPr>
              <a:t>29</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6CCBD8BC-74E3-449A-B4F2-D2F9956221D7}"/>
              </a:ext>
            </a:extLst>
          </p:cNvPr>
          <p:cNvSpPr>
            <a:spLocks noGrp="1" noRot="1" noChangeAspect="1" noTextEdit="1"/>
          </p:cNvSpPr>
          <p:nvPr>
            <p:ph type="sldImg"/>
          </p:nvPr>
        </p:nvSpPr>
        <p:spPr>
          <a:ln/>
        </p:spPr>
      </p:sp>
      <p:sp>
        <p:nvSpPr>
          <p:cNvPr id="25603" name="备注占位符 2">
            <a:extLst>
              <a:ext uri="{FF2B5EF4-FFF2-40B4-BE49-F238E27FC236}">
                <a16:creationId xmlns:a16="http://schemas.microsoft.com/office/drawing/2014/main" id="{F014BDE9-7AA6-483D-8F4E-F73A26183E6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5604" name="灯片编号占位符 3">
            <a:extLst>
              <a:ext uri="{FF2B5EF4-FFF2-40B4-BE49-F238E27FC236}">
                <a16:creationId xmlns:a16="http://schemas.microsoft.com/office/drawing/2014/main" id="{FBFD94AC-9E06-45A0-9639-C48D2961D8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C9D4B8A-F3F2-41FD-AA51-5316B2892D43}" type="slidenum">
              <a:rPr lang="en-US" altLang="zh-CN"/>
              <a:pPr>
                <a:spcBef>
                  <a:spcPct val="0"/>
                </a:spcBef>
              </a:pPr>
              <a:t>30</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04CC6635-646B-4212-B2F7-1F2C0002FEB2}"/>
              </a:ext>
            </a:extLst>
          </p:cNvPr>
          <p:cNvSpPr>
            <a:spLocks noGrp="1" noRot="1" noChangeAspect="1" noTextEdit="1"/>
          </p:cNvSpPr>
          <p:nvPr>
            <p:ph type="sldImg"/>
          </p:nvPr>
        </p:nvSpPr>
        <p:spPr>
          <a:ln/>
        </p:spPr>
      </p:sp>
      <p:sp>
        <p:nvSpPr>
          <p:cNvPr id="27651" name="备注占位符 2">
            <a:extLst>
              <a:ext uri="{FF2B5EF4-FFF2-40B4-BE49-F238E27FC236}">
                <a16:creationId xmlns:a16="http://schemas.microsoft.com/office/drawing/2014/main" id="{5E31EF86-047D-4F48-B937-85C510F68F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7652" name="灯片编号占位符 3">
            <a:extLst>
              <a:ext uri="{FF2B5EF4-FFF2-40B4-BE49-F238E27FC236}">
                <a16:creationId xmlns:a16="http://schemas.microsoft.com/office/drawing/2014/main" id="{8393C8D2-13F5-44D5-A460-29956404199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4FF602F-88AF-4463-936E-EF4FB734619D}" type="slidenum">
              <a:rPr lang="en-US" altLang="zh-CN"/>
              <a:pPr>
                <a:spcBef>
                  <a:spcPct val="0"/>
                </a:spcBef>
              </a:pPr>
              <a:t>31</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938A3B15-E87D-424D-B5B6-13F342F6B18A}"/>
              </a:ext>
            </a:extLst>
          </p:cNvPr>
          <p:cNvSpPr>
            <a:spLocks noGrp="1" noRot="1" noChangeAspect="1" noTextEdit="1"/>
          </p:cNvSpPr>
          <p:nvPr>
            <p:ph type="sldImg"/>
          </p:nvPr>
        </p:nvSpPr>
        <p:spPr>
          <a:ln/>
        </p:spPr>
      </p:sp>
      <p:sp>
        <p:nvSpPr>
          <p:cNvPr id="29699" name="备注占位符 2">
            <a:extLst>
              <a:ext uri="{FF2B5EF4-FFF2-40B4-BE49-F238E27FC236}">
                <a16:creationId xmlns:a16="http://schemas.microsoft.com/office/drawing/2014/main" id="{174DE58D-A13C-47E8-AC4C-0724CBD2FDD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9700" name="灯片编号占位符 3">
            <a:extLst>
              <a:ext uri="{FF2B5EF4-FFF2-40B4-BE49-F238E27FC236}">
                <a16:creationId xmlns:a16="http://schemas.microsoft.com/office/drawing/2014/main" id="{B0395012-F100-4FA7-87BD-D178D7742A3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1D999EE-7E7B-4C4B-8F2D-33BB2D8B7FBE}" type="slidenum">
              <a:rPr lang="en-US" altLang="zh-CN"/>
              <a:pPr>
                <a:spcBef>
                  <a:spcPct val="0"/>
                </a:spcBef>
              </a:pPr>
              <a:t>32</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2A8D788D-40A1-4748-8027-0A6F52D83DEB}"/>
              </a:ext>
            </a:extLst>
          </p:cNvPr>
          <p:cNvSpPr>
            <a:spLocks noGrp="1" noRot="1" noChangeAspect="1" noTextEdit="1"/>
          </p:cNvSpPr>
          <p:nvPr>
            <p:ph type="sldImg"/>
          </p:nvPr>
        </p:nvSpPr>
        <p:spPr>
          <a:ln/>
        </p:spPr>
      </p:sp>
      <p:sp>
        <p:nvSpPr>
          <p:cNvPr id="32771" name="备注占位符 2">
            <a:extLst>
              <a:ext uri="{FF2B5EF4-FFF2-40B4-BE49-F238E27FC236}">
                <a16:creationId xmlns:a16="http://schemas.microsoft.com/office/drawing/2014/main" id="{FEE0F130-4111-4F2F-AF1C-A8CF74DC1D6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2772" name="灯片编号占位符 3">
            <a:extLst>
              <a:ext uri="{FF2B5EF4-FFF2-40B4-BE49-F238E27FC236}">
                <a16:creationId xmlns:a16="http://schemas.microsoft.com/office/drawing/2014/main" id="{F8C28394-9C03-41EB-9464-DDF1DC4437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E62D3CD-D106-411B-9BC0-C430DBDE3680}" type="slidenum">
              <a:rPr lang="en-US" altLang="zh-CN"/>
              <a:pPr>
                <a:spcBef>
                  <a:spcPct val="0"/>
                </a:spcBef>
              </a:pPr>
              <a:t>34</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B27AADDB-DA39-40A9-97EB-81C3A44FA8E8}"/>
              </a:ext>
            </a:extLst>
          </p:cNvPr>
          <p:cNvSpPr>
            <a:spLocks noGrp="1" noRot="1" noChangeAspect="1" noTextEdit="1"/>
          </p:cNvSpPr>
          <p:nvPr>
            <p:ph type="sldImg"/>
          </p:nvPr>
        </p:nvSpPr>
        <p:spPr>
          <a:ln/>
        </p:spPr>
      </p:sp>
      <p:sp>
        <p:nvSpPr>
          <p:cNvPr id="34819" name="备注占位符 2">
            <a:extLst>
              <a:ext uri="{FF2B5EF4-FFF2-40B4-BE49-F238E27FC236}">
                <a16:creationId xmlns:a16="http://schemas.microsoft.com/office/drawing/2014/main" id="{5E45F490-4818-453A-A20F-390D9E251AA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4820" name="灯片编号占位符 3">
            <a:extLst>
              <a:ext uri="{FF2B5EF4-FFF2-40B4-BE49-F238E27FC236}">
                <a16:creationId xmlns:a16="http://schemas.microsoft.com/office/drawing/2014/main" id="{2560A51D-A3DA-45F8-B843-09D36FE5DCB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25A8C06-E08E-481D-A92A-95AF4CCE8687}" type="slidenum">
              <a:rPr lang="en-US" altLang="zh-CN"/>
              <a:pPr>
                <a:spcBef>
                  <a:spcPct val="0"/>
                </a:spcBef>
              </a:pPr>
              <a:t>35</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7033DD74-ECA3-4453-8327-3CCDD8BE9BED}"/>
              </a:ext>
            </a:extLst>
          </p:cNvPr>
          <p:cNvSpPr>
            <a:spLocks noGrp="1" noRot="1" noChangeAspect="1" noTextEdit="1"/>
          </p:cNvSpPr>
          <p:nvPr>
            <p:ph type="sldImg"/>
          </p:nvPr>
        </p:nvSpPr>
        <p:spPr>
          <a:ln/>
        </p:spPr>
      </p:sp>
      <p:sp>
        <p:nvSpPr>
          <p:cNvPr id="36867" name="备注占位符 2">
            <a:extLst>
              <a:ext uri="{FF2B5EF4-FFF2-40B4-BE49-F238E27FC236}">
                <a16:creationId xmlns:a16="http://schemas.microsoft.com/office/drawing/2014/main" id="{EED16191-D53C-4A06-8664-1AB5E3BA08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DC88DCAA-7367-4677-BA98-D1C1D88DD2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370246-9D87-428A-BE5B-D2DDE0EE967C}" type="slidenum">
              <a:rPr lang="en-US" altLang="zh-CN"/>
              <a:pPr>
                <a:spcBef>
                  <a:spcPct val="0"/>
                </a:spcBef>
              </a:pPr>
              <a:t>36</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B7812217-0CD8-430A-84E5-15E593F4A0B8}"/>
              </a:ext>
            </a:extLst>
          </p:cNvPr>
          <p:cNvSpPr>
            <a:spLocks noGrp="1" noRot="1" noChangeAspect="1" noTextEdit="1"/>
          </p:cNvSpPr>
          <p:nvPr>
            <p:ph type="sldImg"/>
          </p:nvPr>
        </p:nvSpPr>
        <p:spPr>
          <a:ln/>
        </p:spPr>
      </p:sp>
      <p:sp>
        <p:nvSpPr>
          <p:cNvPr id="38915" name="备注占位符 2">
            <a:extLst>
              <a:ext uri="{FF2B5EF4-FFF2-40B4-BE49-F238E27FC236}">
                <a16:creationId xmlns:a16="http://schemas.microsoft.com/office/drawing/2014/main" id="{A676138B-495C-49EA-A442-EE076C4526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8916" name="灯片编号占位符 3">
            <a:extLst>
              <a:ext uri="{FF2B5EF4-FFF2-40B4-BE49-F238E27FC236}">
                <a16:creationId xmlns:a16="http://schemas.microsoft.com/office/drawing/2014/main" id="{B6D99F97-E153-4C56-B484-571A571F2EE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6875A78-57D7-48C1-8BF0-C0F5090A0C12}" type="slidenum">
              <a:rPr lang="en-US" altLang="zh-CN"/>
              <a:pPr>
                <a:spcBef>
                  <a:spcPct val="0"/>
                </a:spcBef>
              </a:pPr>
              <a:t>37</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a:extLst>
              <a:ext uri="{FF2B5EF4-FFF2-40B4-BE49-F238E27FC236}">
                <a16:creationId xmlns:a16="http://schemas.microsoft.com/office/drawing/2014/main" id="{B322AFF6-D06D-4BBD-B18B-6199EC1450CF}"/>
              </a:ext>
            </a:extLst>
          </p:cNvPr>
          <p:cNvSpPr>
            <a:spLocks noGrp="1" noRot="1" noChangeAspect="1" noTextEdit="1"/>
          </p:cNvSpPr>
          <p:nvPr>
            <p:ph type="sldImg"/>
          </p:nvPr>
        </p:nvSpPr>
        <p:spPr>
          <a:ln/>
        </p:spPr>
      </p:sp>
      <p:sp>
        <p:nvSpPr>
          <p:cNvPr id="40963" name="备注占位符 2">
            <a:extLst>
              <a:ext uri="{FF2B5EF4-FFF2-40B4-BE49-F238E27FC236}">
                <a16:creationId xmlns:a16="http://schemas.microsoft.com/office/drawing/2014/main" id="{662A2217-C8C4-427D-95BE-32D587CDB7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0964" name="灯片编号占位符 3">
            <a:extLst>
              <a:ext uri="{FF2B5EF4-FFF2-40B4-BE49-F238E27FC236}">
                <a16:creationId xmlns:a16="http://schemas.microsoft.com/office/drawing/2014/main" id="{4685D004-4A61-4DA5-9B52-BA2A5969F4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BFDF6EF-2D95-4F56-89A9-EE2FCAE60375}" type="slidenum">
              <a:rPr lang="en-US" altLang="zh-CN"/>
              <a:pPr>
                <a:spcBef>
                  <a:spcPct val="0"/>
                </a:spcBef>
              </a:pPr>
              <a:t>38</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06847082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lgn="l">
              <a:defRPr>
                <a:solidFill>
                  <a:srgbClr val="00708E"/>
                </a:solidFill>
              </a:defRPr>
            </a:lvl1pPr>
            <a:lvl2pPr algn="l">
              <a:buClr>
                <a:srgbClr val="00607A"/>
              </a:buClr>
              <a:defRPr>
                <a:solidFill>
                  <a:srgbClr val="00708E"/>
                </a:solidFill>
                <a:latin typeface="+mn-ea"/>
                <a:ea typeface="+mn-ea"/>
              </a:defRPr>
            </a:lvl2pPr>
            <a:lvl3pPr algn="l">
              <a:buClr>
                <a:srgbClr val="00607A"/>
              </a:buClr>
              <a:defRPr>
                <a:solidFill>
                  <a:srgbClr val="00708E"/>
                </a:solidFill>
                <a:latin typeface="+mn-ea"/>
                <a:ea typeface="+mn-ea"/>
              </a:defRPr>
            </a:lvl3pPr>
            <a:lvl4pPr algn="l">
              <a:defRPr>
                <a:solidFill>
                  <a:srgbClr val="00708E"/>
                </a:solidFill>
                <a:latin typeface="+mn-ea"/>
                <a:ea typeface="+mn-ea"/>
              </a:defRPr>
            </a:lvl4pPr>
            <a:lvl5pPr algn="l">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C2FAFEC3-FCF9-4793-BD53-13ACF2C4D1E4}" type="slidenum">
              <a:rPr lang="en-US" altLang="zh-CN"/>
              <a:pPr>
                <a:defRPr/>
              </a:pPr>
              <a:t>‹#›</a:t>
            </a:fld>
            <a:endParaRPr lang="en-US" altLang="zh-CN" dirty="0"/>
          </a:p>
        </p:txBody>
      </p:sp>
    </p:spTree>
    <p:extLst>
      <p:ext uri="{BB962C8B-B14F-4D97-AF65-F5344CB8AC3E}">
        <p14:creationId xmlns:p14="http://schemas.microsoft.com/office/powerpoint/2010/main" val="334787294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1874B12-3BD3-4C39-BF0E-BF8A9539BB9C}" type="slidenum">
              <a:rPr lang="en-US" altLang="zh-CN"/>
              <a:pPr>
                <a:defRPr/>
              </a:pPr>
              <a:t>‹#›</a:t>
            </a:fld>
            <a:endParaRPr lang="en-US" altLang="zh-CN"/>
          </a:p>
        </p:txBody>
      </p:sp>
    </p:spTree>
    <p:extLst>
      <p:ext uri="{BB962C8B-B14F-4D97-AF65-F5344CB8AC3E}">
        <p14:creationId xmlns:p14="http://schemas.microsoft.com/office/powerpoint/2010/main" val="220081053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4FD21B5-0BC5-4C4A-925A-9CA4DDE9DFCF}" type="slidenum">
              <a:rPr lang="en-US" altLang="zh-CN"/>
              <a:pPr>
                <a:defRPr/>
              </a:pPr>
              <a:t>‹#›</a:t>
            </a:fld>
            <a:endParaRPr lang="en-US" altLang="zh-CN"/>
          </a:p>
        </p:txBody>
      </p:sp>
    </p:spTree>
    <p:extLst>
      <p:ext uri="{BB962C8B-B14F-4D97-AF65-F5344CB8AC3E}">
        <p14:creationId xmlns:p14="http://schemas.microsoft.com/office/powerpoint/2010/main" val="152885660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9D738D31-8EED-425A-B617-D3D8B1C55F32}" type="slidenum">
              <a:rPr lang="en-US" altLang="zh-CN"/>
              <a:pPr>
                <a:defRPr/>
              </a:pPr>
              <a:t>‹#›</a:t>
            </a:fld>
            <a:endParaRPr lang="en-US" altLang="zh-CN"/>
          </a:p>
        </p:txBody>
      </p:sp>
    </p:spTree>
    <p:extLst>
      <p:ext uri="{BB962C8B-B14F-4D97-AF65-F5344CB8AC3E}">
        <p14:creationId xmlns:p14="http://schemas.microsoft.com/office/powerpoint/2010/main" val="33116816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3C5CA553-975E-450D-81D4-CB823086BDE2}" type="slidenum">
              <a:rPr lang="en-US" altLang="zh-CN"/>
              <a:pPr>
                <a:defRPr/>
              </a:pPr>
              <a:t>‹#›</a:t>
            </a:fld>
            <a:endParaRPr lang="en-US" altLang="zh-CN" dirty="0"/>
          </a:p>
        </p:txBody>
      </p:sp>
    </p:spTree>
    <p:extLst>
      <p:ext uri="{BB962C8B-B14F-4D97-AF65-F5344CB8AC3E}">
        <p14:creationId xmlns:p14="http://schemas.microsoft.com/office/powerpoint/2010/main" val="320480927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21DDC60-5961-4053-83B8-C0116183DEFD}" type="slidenum">
              <a:rPr lang="en-US" altLang="zh-CN"/>
              <a:pPr>
                <a:defRPr/>
              </a:pPr>
              <a:t>‹#›</a:t>
            </a:fld>
            <a:endParaRPr lang="en-US" altLang="zh-CN"/>
          </a:p>
        </p:txBody>
      </p:sp>
    </p:spTree>
    <p:extLst>
      <p:ext uri="{BB962C8B-B14F-4D97-AF65-F5344CB8AC3E}">
        <p14:creationId xmlns:p14="http://schemas.microsoft.com/office/powerpoint/2010/main" val="28966074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71C95EA6-4527-48FB-83CD-F4BD91AE8F02}" type="slidenum">
              <a:rPr lang="en-US" altLang="zh-CN"/>
              <a:pPr>
                <a:defRPr/>
              </a:pPr>
              <a:t>‹#›</a:t>
            </a:fld>
            <a:endParaRPr lang="en-US" altLang="zh-CN"/>
          </a:p>
        </p:txBody>
      </p:sp>
    </p:spTree>
    <p:extLst>
      <p:ext uri="{BB962C8B-B14F-4D97-AF65-F5344CB8AC3E}">
        <p14:creationId xmlns:p14="http://schemas.microsoft.com/office/powerpoint/2010/main" val="39522965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1828800" y="184482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5" name="Rectangle 6"/>
          <p:cNvSpPr>
            <a:spLocks noGrp="1" noChangeArrowheads="1"/>
          </p:cNvSpPr>
          <p:nvPr>
            <p:ph type="sldNum" sz="quarter" idx="10"/>
          </p:nvPr>
        </p:nvSpPr>
        <p:spPr>
          <a:ln/>
        </p:spPr>
        <p:txBody>
          <a:bodyPr/>
          <a:lstStyle>
            <a:lvl1pPr>
              <a:defRPr/>
            </a:lvl1pPr>
          </a:lstStyle>
          <a:p>
            <a:pPr>
              <a:defRPr/>
            </a:pPr>
            <a:fld id="{3610D5DC-5696-4A07-8349-2A517564EAB6}" type="slidenum">
              <a:rPr lang="en-US" altLang="zh-CN"/>
              <a:pPr>
                <a:defRPr/>
              </a:pPr>
              <a:t>‹#›</a:t>
            </a:fld>
            <a:endParaRPr lang="en-US" altLang="zh-CN"/>
          </a:p>
        </p:txBody>
      </p:sp>
    </p:spTree>
    <p:extLst>
      <p:ext uri="{BB962C8B-B14F-4D97-AF65-F5344CB8AC3E}">
        <p14:creationId xmlns:p14="http://schemas.microsoft.com/office/powerpoint/2010/main" val="35263464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E5E8FD3-EDE5-4EC3-94E3-1C754301C081}" type="slidenum">
              <a:rPr lang="en-US" altLang="zh-CN"/>
              <a:pPr>
                <a:defRPr/>
              </a:pPr>
              <a:t>‹#›</a:t>
            </a:fld>
            <a:endParaRPr lang="en-US" altLang="zh-CN"/>
          </a:p>
        </p:txBody>
      </p:sp>
    </p:spTree>
    <p:extLst>
      <p:ext uri="{BB962C8B-B14F-4D97-AF65-F5344CB8AC3E}">
        <p14:creationId xmlns:p14="http://schemas.microsoft.com/office/powerpoint/2010/main" val="9468136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4C1ECC8-739C-4170-B0ED-4174C943E5E6}" type="slidenum">
              <a:rPr lang="en-US" altLang="zh-CN"/>
              <a:pPr>
                <a:defRPr/>
              </a:pPr>
              <a:t>‹#›</a:t>
            </a:fld>
            <a:endParaRPr lang="en-US" altLang="zh-CN"/>
          </a:p>
        </p:txBody>
      </p:sp>
    </p:spTree>
    <p:extLst>
      <p:ext uri="{BB962C8B-B14F-4D97-AF65-F5344CB8AC3E}">
        <p14:creationId xmlns:p14="http://schemas.microsoft.com/office/powerpoint/2010/main" val="368152386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EC4490AA-E879-42CB-B964-307DC817647D}" type="slidenum">
              <a:rPr lang="en-US" altLang="zh-CN"/>
              <a:pPr>
                <a:defRPr/>
              </a:pPr>
              <a:t>‹#›</a:t>
            </a:fld>
            <a:endParaRPr lang="en-US" altLang="zh-CN"/>
          </a:p>
        </p:txBody>
      </p:sp>
    </p:spTree>
    <p:extLst>
      <p:ext uri="{BB962C8B-B14F-4D97-AF65-F5344CB8AC3E}">
        <p14:creationId xmlns:p14="http://schemas.microsoft.com/office/powerpoint/2010/main" val="7976836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7"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8" name="Rectangle 11"/>
          <p:cNvSpPr>
            <a:spLocks noGrp="1" noChangeArrowheads="1"/>
          </p:cNvSpPr>
          <p:nvPr>
            <p:ph type="sldNum" sz="quarter" idx="12"/>
          </p:nvPr>
        </p:nvSpPr>
        <p:spPr/>
        <p:txBody>
          <a:bodyPr/>
          <a:lstStyle>
            <a:lvl1pPr>
              <a:defRPr/>
            </a:lvl1pPr>
          </a:lstStyle>
          <a:p>
            <a:pPr>
              <a:defRPr/>
            </a:pPr>
            <a:fld id="{C02672C6-A66C-4A23-877B-AF8E4660A64F}" type="slidenum">
              <a:rPr lang="en-US" altLang="zh-CN"/>
              <a:pPr>
                <a:defRPr/>
              </a:pPr>
              <a:t>‹#›</a:t>
            </a:fld>
            <a:endParaRPr lang="en-US" altLang="zh-CN"/>
          </a:p>
        </p:txBody>
      </p:sp>
    </p:spTree>
    <p:extLst>
      <p:ext uri="{BB962C8B-B14F-4D97-AF65-F5344CB8AC3E}">
        <p14:creationId xmlns:p14="http://schemas.microsoft.com/office/powerpoint/2010/main" val="3622606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sldNum" sz="quarter" idx="12"/>
          </p:nvPr>
        </p:nvSpPr>
        <p:spPr/>
        <p:txBody>
          <a:bodyPr/>
          <a:lstStyle>
            <a:lvl1pPr>
              <a:defRPr/>
            </a:lvl1pPr>
          </a:lstStyle>
          <a:p>
            <a:pPr>
              <a:defRPr/>
            </a:pPr>
            <a:fld id="{6B528C79-012F-4666-B6B9-2F1EF291DD5A}" type="slidenum">
              <a:rPr lang="en-US" altLang="zh-CN"/>
              <a:pPr>
                <a:defRPr/>
              </a:pPr>
              <a:t>‹#›</a:t>
            </a:fld>
            <a:endParaRPr lang="en-US" altLang="zh-CN"/>
          </a:p>
        </p:txBody>
      </p:sp>
    </p:spTree>
    <p:extLst>
      <p:ext uri="{BB962C8B-B14F-4D97-AF65-F5344CB8AC3E}">
        <p14:creationId xmlns:p14="http://schemas.microsoft.com/office/powerpoint/2010/main" val="3309142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76F7B25D-5EBC-4A23-B073-187DA5FB4EA0}"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6"/>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41"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2" r:id="rId13"/>
    <p:sldLayoutId id="2147483943" r:id="rId14"/>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w3.org/TR/2007/REC-soap12-part1-20070427/#concept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w3.org/2003/05/soap-envelope/role/next" TargetMode="External"/><Relationship Id="rId2" Type="http://schemas.openxmlformats.org/officeDocument/2006/relationships/hyperlink" Target="http://www.w3.org/2003/05/soap-envelope/role/none" TargetMode="External"/><Relationship Id="rId1" Type="http://schemas.openxmlformats.org/officeDocument/2006/relationships/slideLayout" Target="../slideLayouts/slideLayout2.xml"/><Relationship Id="rId4" Type="http://schemas.openxmlformats.org/officeDocument/2006/relationships/hyperlink" Target="http://www.w3.org/2003/05/soap-envelope/role/ultimateReceiver"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www.w3.org/TR/2007/REC-soap12-part1-20070427/#concept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w3.org/TR/2007/REC-soap12-part1-20070427/#concept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w3.org/TR/2007/REC-soap12-part1-20070427/#concept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w3.org/TR/2007/REC-soap12-part1-20070427/#soapmu"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w3.org/TR/2007/REC-soap12-part1-20070427/#concept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w3.org/TR/2007/REC-soap12-part1-20070427/#soaprelay"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Example11"/></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w3.org/TR/2007/REC-soap12-part1-20070427/#forwardinter"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www.w3.org/TR/2007/REC-soap12-part1-20070427/#activeinter"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w3.org/TR/2007/REC-soap12-part1-20070427/#forwardinter"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www.w3.org/TR/2007/REC-soap12-part1-20070427/#activeinter"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w3.org/TR/2004/REC-xmlschema-2-20041028/#base64Binary"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L3410"/></Relationships>
</file>

<file path=ppt/slides/_rels/slide22.xml.rels><?xml version="1.0" encoding="UTF-8" standalone="yes"?>
<Relationships xmlns="http://schemas.openxmlformats.org/package/2006/relationships"><Relationship Id="rId3" Type="http://schemas.openxmlformats.org/officeDocument/2006/relationships/hyperlink" Target="http://www.w3.org/TR/2004/REC-xmlschema-2-20041028/#base64Binary"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w3.org/TR/2004/REC-xmlschema-2-20041028/#base64Binary"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w3.org/TR/2004/REC-xmlschema-2-20041028/#base64Binary"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L9527"/><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L9527"/><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www.w3.org/TR/2004/REC-xmlschema-2-20041028/#base64Binary" TargetMode="External"/><Relationship Id="rId4" Type="http://schemas.openxmlformats.org/officeDocument/2006/relationships/hyperlink" Target="http://www.w3.org/TR/2005/REC-soap12-mtom-20050125/#feature"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R8"/><Relationship Id="rId5" Type="http://schemas.openxmlformats.org/officeDocument/2006/relationships/hyperlink" Target="#L3777"/><Relationship Id="rId4" Type="http://schemas.openxmlformats.org/officeDocument/2006/relationships/hyperlink" Target="http://www.w3.org/TR/2005/REC-soap12-mtom-20050125/#feature"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L9527"/><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L3362"/><Relationship Id="rId5" Type="http://schemas.openxmlformats.org/officeDocument/2006/relationships/hyperlink" Target="http://www.w3.org/TR/2005/REC-xop10-20050125/#xop_include" TargetMode="External"/><Relationship Id="rId4" Type="http://schemas.openxmlformats.org/officeDocument/2006/relationships/hyperlink" Target="#L3777"/></Relationships>
</file>

<file path=ppt/slides/_rels/slide29.xml.rels><?xml version="1.0" encoding="UTF-8" standalone="yes"?>
<Relationships xmlns="http://schemas.openxmlformats.org/package/2006/relationships"><Relationship Id="rId3" Type="http://schemas.openxmlformats.org/officeDocument/2006/relationships/hyperlink" Target="http://www.iana.org/assignments/media-types/application/xop+xm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www.w3.org/TR/2005/REC-soap12-rep-20050125/#rep-representation" TargetMode="External"/><Relationship Id="rId2" Type="http://schemas.openxmlformats.org/officeDocument/2006/relationships/hyperlink" Target="#L4299"/><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L9527"/></Relationships>
</file>

<file path=ppt/slides/_rels/slide37.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hyperlink" Target="#L9527"/></Relationships>
</file>

<file path=ppt/slides/_rels/slide38.xml.rels><?xml version="1.0" encoding="UTF-8" standalone="yes"?>
<Relationships xmlns="http://schemas.openxmlformats.org/package/2006/relationships"><Relationship Id="rId3" Type="http://schemas.openxmlformats.org/officeDocument/2006/relationships/hyperlink" Target="123"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L9527"/></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subTitle" idx="1"/>
          </p:nvPr>
        </p:nvSpPr>
        <p:spPr/>
        <p:txBody>
          <a:bodyPr/>
          <a:lstStyle/>
          <a:p>
            <a:r>
              <a:rPr lang="en-US" altLang="zh-CN" sz="2000">
                <a:solidFill>
                  <a:srgbClr val="595959"/>
                </a:solidFill>
                <a:ea typeface="宋体" pitchFamily="2" charset="-122"/>
              </a:rPr>
              <a:t>Software Institute</a:t>
            </a:r>
          </a:p>
          <a:p>
            <a:r>
              <a:rPr lang="en-US" altLang="zh-CN" sz="2000">
                <a:solidFill>
                  <a:srgbClr val="595959"/>
                </a:solidFill>
                <a:ea typeface="宋体" pitchFamily="2" charset="-122"/>
              </a:rPr>
              <a:t>Nanjing University</a:t>
            </a:r>
          </a:p>
          <a:p>
            <a:r>
              <a:rPr lang="en-US" altLang="zh-CN" sz="2000">
                <a:solidFill>
                  <a:srgbClr val="595959"/>
                </a:solidFill>
                <a:ea typeface="宋体" pitchFamily="2" charset="-122"/>
              </a:rPr>
              <a:t>Bei Jia</a:t>
            </a:r>
          </a:p>
        </p:txBody>
      </p:sp>
      <p:sp>
        <p:nvSpPr>
          <p:cNvPr id="5123" name="Rectangle 2"/>
          <p:cNvSpPr>
            <a:spLocks noGrp="1" noChangeArrowheads="1"/>
          </p:cNvSpPr>
          <p:nvPr>
            <p:ph type="ctrTitle" sz="quarter"/>
          </p:nvPr>
        </p:nvSpPr>
        <p:spPr>
          <a:gradFill rotWithShape="0"/>
        </p:spPr>
        <p:txBody>
          <a:bodyPr>
            <a:normAutofit/>
          </a:bodyPr>
          <a:lstStyle/>
          <a:p>
            <a:r>
              <a:rPr lang="en-US" altLang="zh-CN" sz="2800" dirty="0"/>
              <a:t>SOAP Extension</a:t>
            </a:r>
            <a:br>
              <a:rPr lang="en-US" altLang="zh-CN" sz="2800" dirty="0"/>
            </a:br>
            <a:r>
              <a:rPr lang="en-US" altLang="zh-CN" sz="2000" dirty="0">
                <a:solidFill>
                  <a:srgbClr val="FFFFFF"/>
                </a:solidFill>
              </a:rPr>
              <a:t>Service-Oriented Software Engineering</a:t>
            </a:r>
            <a:endParaRPr lang="en-US" altLang="zh-CN" sz="2000" dirty="0">
              <a:ea typeface="宋体"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13AA1DBF-497C-4D4B-8AE1-55765C9AFAE5}"/>
              </a:ext>
            </a:extLst>
          </p:cNvPr>
          <p:cNvSpPr>
            <a:spLocks noGrp="1"/>
          </p:cNvSpPr>
          <p:nvPr>
            <p:ph type="title"/>
          </p:nvPr>
        </p:nvSpPr>
        <p:spPr/>
        <p:txBody>
          <a:bodyPr>
            <a:normAutofit fontScale="90000"/>
          </a:bodyPr>
          <a:lstStyle/>
          <a:p>
            <a:r>
              <a:rPr lang="en-US" altLang="zh-CN" dirty="0"/>
              <a:t>SOAP Processing Model</a:t>
            </a:r>
            <a:endParaRPr lang="zh-CN" altLang="en-US" dirty="0"/>
          </a:p>
        </p:txBody>
      </p:sp>
      <p:sp>
        <p:nvSpPr>
          <p:cNvPr id="3" name="内容占位符 2">
            <a:extLst>
              <a:ext uri="{FF2B5EF4-FFF2-40B4-BE49-F238E27FC236}">
                <a16:creationId xmlns:a16="http://schemas.microsoft.com/office/drawing/2014/main" id="{D25E62E6-F391-4456-B04B-66AC1C69521B}"/>
              </a:ext>
            </a:extLst>
          </p:cNvPr>
          <p:cNvSpPr>
            <a:spLocks noGrp="1"/>
          </p:cNvSpPr>
          <p:nvPr>
            <p:ph idx="1"/>
          </p:nvPr>
        </p:nvSpPr>
        <p:spPr>
          <a:xfrm>
            <a:off x="457200" y="1600200"/>
            <a:ext cx="8229600" cy="1131888"/>
          </a:xfrm>
        </p:spPr>
        <p:txBody>
          <a:bodyPr>
            <a:normAutofit fontScale="92500"/>
          </a:bodyPr>
          <a:lstStyle/>
          <a:p>
            <a:pPr>
              <a:lnSpc>
                <a:spcPct val="120000"/>
              </a:lnSpc>
              <a:defRPr/>
            </a:pPr>
            <a:r>
              <a:rPr lang="en-US" altLang="zh-CN" sz="2400" dirty="0"/>
              <a:t>The SOAP processing model describes the (logical) actions taken by a SOAP node on receiving a SOAP message</a:t>
            </a:r>
          </a:p>
        </p:txBody>
      </p:sp>
      <p:sp>
        <p:nvSpPr>
          <p:cNvPr id="6148" name="灯片编号占位符 3">
            <a:extLst>
              <a:ext uri="{FF2B5EF4-FFF2-40B4-BE49-F238E27FC236}">
                <a16:creationId xmlns:a16="http://schemas.microsoft.com/office/drawing/2014/main" id="{B5BAB5D9-A023-4867-A6AA-FCEAAB8792F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2</a:t>
            </a:fld>
            <a:endParaRPr lang="en-US" altLang="zh-CN" sz="1000"/>
          </a:p>
        </p:txBody>
      </p:sp>
      <p:sp>
        <p:nvSpPr>
          <p:cNvPr id="6149" name="圆角矩形 3">
            <a:extLst>
              <a:ext uri="{FF2B5EF4-FFF2-40B4-BE49-F238E27FC236}">
                <a16:creationId xmlns:a16="http://schemas.microsoft.com/office/drawing/2014/main" id="{91172305-9E58-4ABD-9768-FBDAAA97015F}"/>
              </a:ext>
            </a:extLst>
          </p:cNvPr>
          <p:cNvSpPr>
            <a:spLocks noChangeArrowheads="1"/>
          </p:cNvSpPr>
          <p:nvPr/>
        </p:nvSpPr>
        <p:spPr bwMode="auto">
          <a:xfrm>
            <a:off x="2468563" y="5362575"/>
            <a:ext cx="1871662" cy="100806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0" name="圆角矩形 4">
            <a:extLst>
              <a:ext uri="{FF2B5EF4-FFF2-40B4-BE49-F238E27FC236}">
                <a16:creationId xmlns:a16="http://schemas.microsoft.com/office/drawing/2014/main" id="{EF15A410-CEEF-456E-A154-BBB1E0E19A03}"/>
              </a:ext>
            </a:extLst>
          </p:cNvPr>
          <p:cNvSpPr>
            <a:spLocks noChangeArrowheads="1"/>
          </p:cNvSpPr>
          <p:nvPr/>
        </p:nvSpPr>
        <p:spPr bwMode="auto">
          <a:xfrm>
            <a:off x="2971800" y="5156200"/>
            <a:ext cx="2160588" cy="10795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 name="圆角矩形 7">
            <a:extLst>
              <a:ext uri="{FF2B5EF4-FFF2-40B4-BE49-F238E27FC236}">
                <a16:creationId xmlns:a16="http://schemas.microsoft.com/office/drawing/2014/main" id="{F7319DA7-AF9A-408D-8456-88B365F6E884}"/>
              </a:ext>
            </a:extLst>
          </p:cNvPr>
          <p:cNvSpPr>
            <a:spLocks noChangeArrowheads="1"/>
          </p:cNvSpPr>
          <p:nvPr/>
        </p:nvSpPr>
        <p:spPr bwMode="auto">
          <a:xfrm>
            <a:off x="3621088" y="5372100"/>
            <a:ext cx="2159000" cy="86360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2400"/>
              <a:t>SOAP Intermediate</a:t>
            </a:r>
          </a:p>
        </p:txBody>
      </p:sp>
      <p:sp>
        <p:nvSpPr>
          <p:cNvPr id="9" name="右箭头 8">
            <a:extLst>
              <a:ext uri="{FF2B5EF4-FFF2-40B4-BE49-F238E27FC236}">
                <a16:creationId xmlns:a16="http://schemas.microsoft.com/office/drawing/2014/main" id="{ECB19C0A-DBE2-4675-AB65-3832AAB062F9}"/>
              </a:ext>
            </a:extLst>
          </p:cNvPr>
          <p:cNvSpPr>
            <a:spLocks noChangeArrowheads="1"/>
          </p:cNvSpPr>
          <p:nvPr/>
        </p:nvSpPr>
        <p:spPr bwMode="auto">
          <a:xfrm>
            <a:off x="884238" y="5588000"/>
            <a:ext cx="2736850" cy="360363"/>
          </a:xfrm>
          <a:prstGeom prst="rightArrow">
            <a:avLst>
              <a:gd name="adj1" fmla="val 50000"/>
              <a:gd name="adj2" fmla="val 49963"/>
            </a:avLst>
          </a:prstGeom>
          <a:solidFill>
            <a:srgbClr val="FFFF00"/>
          </a:solidFill>
          <a:ln w="12700" algn="ctr">
            <a:solidFill>
              <a:schemeClr val="tx1"/>
            </a:solidFill>
            <a:round/>
            <a:headEnd/>
            <a:tailEnd/>
          </a:ln>
        </p:spPr>
        <p:txBody>
          <a:bodyPr/>
          <a:lstStyle>
            <a:lvl1pPr marL="342900" indent="-3429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 name="右箭头 9">
            <a:extLst>
              <a:ext uri="{FF2B5EF4-FFF2-40B4-BE49-F238E27FC236}">
                <a16:creationId xmlns:a16="http://schemas.microsoft.com/office/drawing/2014/main" id="{D1E77C97-1981-4D0B-A1D4-054C8D68C851}"/>
              </a:ext>
            </a:extLst>
          </p:cNvPr>
          <p:cNvSpPr>
            <a:spLocks noChangeArrowheads="1"/>
          </p:cNvSpPr>
          <p:nvPr/>
        </p:nvSpPr>
        <p:spPr bwMode="auto">
          <a:xfrm>
            <a:off x="5791200" y="5583238"/>
            <a:ext cx="2592388" cy="358775"/>
          </a:xfrm>
          <a:prstGeom prst="rightArrow">
            <a:avLst>
              <a:gd name="adj1" fmla="val 50000"/>
              <a:gd name="adj2" fmla="val 50178"/>
            </a:avLst>
          </a:prstGeom>
          <a:solidFill>
            <a:srgbClr val="92D050"/>
          </a:solidFill>
          <a:ln w="12700" algn="ctr">
            <a:solidFill>
              <a:schemeClr val="tx1"/>
            </a:solidFill>
            <a:round/>
            <a:headEnd/>
            <a:tailEnd/>
          </a:ln>
        </p:spPr>
        <p:txBody>
          <a:bodyPr/>
          <a:lstStyle>
            <a:lvl1pPr marL="342900" indent="-342900">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 name="文本框 10">
            <a:extLst>
              <a:ext uri="{FF2B5EF4-FFF2-40B4-BE49-F238E27FC236}">
                <a16:creationId xmlns:a16="http://schemas.microsoft.com/office/drawing/2014/main" id="{802F79DD-A310-4911-A6E7-48660EA24883}"/>
              </a:ext>
            </a:extLst>
          </p:cNvPr>
          <p:cNvSpPr txBox="1">
            <a:spLocks noChangeArrowheads="1"/>
          </p:cNvSpPr>
          <p:nvPr/>
        </p:nvSpPr>
        <p:spPr bwMode="auto">
          <a:xfrm>
            <a:off x="1100138" y="5280025"/>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t>SOAP Message A</a:t>
            </a:r>
            <a:endParaRPr lang="zh-CN" altLang="en-US" sz="2000"/>
          </a:p>
        </p:txBody>
      </p:sp>
      <p:sp>
        <p:nvSpPr>
          <p:cNvPr id="12" name="文本框 11">
            <a:extLst>
              <a:ext uri="{FF2B5EF4-FFF2-40B4-BE49-F238E27FC236}">
                <a16:creationId xmlns:a16="http://schemas.microsoft.com/office/drawing/2014/main" id="{A64F8BA8-209D-4FEB-ADC7-3059065DF897}"/>
              </a:ext>
            </a:extLst>
          </p:cNvPr>
          <p:cNvSpPr txBox="1">
            <a:spLocks noChangeArrowheads="1"/>
          </p:cNvSpPr>
          <p:nvPr/>
        </p:nvSpPr>
        <p:spPr bwMode="auto">
          <a:xfrm>
            <a:off x="5780088" y="5280025"/>
            <a:ext cx="25923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t>SOAP Message B</a:t>
            </a:r>
          </a:p>
        </p:txBody>
      </p:sp>
      <p:sp>
        <p:nvSpPr>
          <p:cNvPr id="6" name="云形标注 5">
            <a:extLst>
              <a:ext uri="{FF2B5EF4-FFF2-40B4-BE49-F238E27FC236}">
                <a16:creationId xmlns:a16="http://schemas.microsoft.com/office/drawing/2014/main" id="{93298B53-2A1A-4AEC-988D-AB7CC7CA2CD4}"/>
              </a:ext>
            </a:extLst>
          </p:cNvPr>
          <p:cNvSpPr/>
          <p:nvPr/>
        </p:nvSpPr>
        <p:spPr bwMode="auto">
          <a:xfrm>
            <a:off x="3924300" y="2914650"/>
            <a:ext cx="2376488" cy="2090738"/>
          </a:xfrm>
          <a:prstGeom prst="cloudCallout">
            <a:avLst/>
          </a:prstGeom>
          <a:noFill/>
          <a:ln w="12700" cap="flat" cmpd="sng" algn="ctr">
            <a:solidFill>
              <a:schemeClr val="tx1"/>
            </a:solidFill>
            <a:prstDash val="solid"/>
            <a:round/>
            <a:headEnd type="none" w="med" len="med"/>
            <a:tailEnd type="none" w="med" len="med"/>
          </a:ln>
          <a:effectLst/>
        </p:spPr>
        <p:txBody>
          <a:bodyPr/>
          <a:lstStyle/>
          <a:p>
            <a:pPr eaLnBrk="1" hangingPunct="1">
              <a:spcBef>
                <a:spcPct val="20000"/>
              </a:spcBef>
              <a:buClr>
                <a:schemeClr val="accent1"/>
              </a:buClr>
              <a:defRPr/>
            </a:pPr>
            <a:r>
              <a:rPr lang="en-US" altLang="zh-CN" sz="1600" dirty="0">
                <a:latin typeface="Arial" charset="0"/>
              </a:rPr>
              <a:t>I am acting as:</a:t>
            </a:r>
          </a:p>
          <a:p>
            <a:pPr marL="342900" indent="-342900" eaLnBrk="1" hangingPunct="1">
              <a:spcBef>
                <a:spcPct val="20000"/>
              </a:spcBef>
              <a:buClr>
                <a:schemeClr val="accent1"/>
              </a:buClr>
              <a:buFontTx/>
              <a:buAutoNum type="arabicPeriod"/>
              <a:defRPr/>
            </a:pPr>
            <a:r>
              <a:rPr lang="en-US" altLang="zh-CN" sz="1600" dirty="0">
                <a:latin typeface="Arial" charset="0"/>
              </a:rPr>
              <a:t>Next</a:t>
            </a:r>
          </a:p>
          <a:p>
            <a:pPr marL="342900" indent="-342900" eaLnBrk="1" hangingPunct="1">
              <a:spcBef>
                <a:spcPct val="20000"/>
              </a:spcBef>
              <a:buClr>
                <a:schemeClr val="accent1"/>
              </a:buClr>
              <a:buFontTx/>
              <a:buAutoNum type="arabicPeriod"/>
              <a:defRPr/>
            </a:pPr>
            <a:r>
              <a:rPr lang="en-US" altLang="zh-CN" sz="1600" dirty="0">
                <a:latin typeface="Arial" charset="0"/>
              </a:rPr>
              <a:t>Log</a:t>
            </a:r>
          </a:p>
          <a:p>
            <a:pPr marL="342900" indent="-342900" eaLnBrk="1" hangingPunct="1">
              <a:spcBef>
                <a:spcPct val="20000"/>
              </a:spcBef>
              <a:buClr>
                <a:schemeClr val="accent1"/>
              </a:buClr>
              <a:buFontTx/>
              <a:buAutoNum type="arabicPeriod"/>
              <a:defRPr/>
            </a:pPr>
            <a:r>
              <a:rPr lang="en-US" altLang="zh-CN" sz="1600" dirty="0">
                <a:latin typeface="Arial" charset="0"/>
              </a:rPr>
              <a:t>Director</a:t>
            </a:r>
          </a:p>
          <a:p>
            <a:pPr marL="342900" indent="-342900" eaLnBrk="1" hangingPunct="1">
              <a:spcBef>
                <a:spcPct val="20000"/>
              </a:spcBef>
              <a:buClr>
                <a:schemeClr val="accent1"/>
              </a:buClr>
              <a:buFontTx/>
              <a:buAutoNum type="arabicPeriod"/>
              <a:defRPr/>
            </a:pPr>
            <a:r>
              <a:rPr lang="en-US" altLang="zh-CN" sz="1600" dirty="0">
                <a:latin typeface="Arial" charset="0"/>
              </a:rPr>
              <a:t>Adviser…</a:t>
            </a:r>
          </a:p>
          <a:p>
            <a:pPr marL="342900" indent="-342900" eaLnBrk="1" hangingPunct="1">
              <a:spcBef>
                <a:spcPct val="20000"/>
              </a:spcBef>
              <a:buClr>
                <a:schemeClr val="accent1"/>
              </a:buClr>
              <a:buFont typeface="Wingdings" pitchFamily="2" charset="2"/>
              <a:buChar char="l"/>
              <a:defRPr/>
            </a:pPr>
            <a:endParaRPr lang="zh-CN" altLang="en-US" dirty="0">
              <a:latin typeface="Arial" charset="0"/>
            </a:endParaRPr>
          </a:p>
        </p:txBody>
      </p:sp>
      <p:sp>
        <p:nvSpPr>
          <p:cNvPr id="16" name="云形标注 15">
            <a:extLst>
              <a:ext uri="{FF2B5EF4-FFF2-40B4-BE49-F238E27FC236}">
                <a16:creationId xmlns:a16="http://schemas.microsoft.com/office/drawing/2014/main" id="{CE8F4DB8-CE59-4F90-88B1-C797DCCA9E20}"/>
              </a:ext>
            </a:extLst>
          </p:cNvPr>
          <p:cNvSpPr/>
          <p:nvPr/>
        </p:nvSpPr>
        <p:spPr bwMode="auto">
          <a:xfrm>
            <a:off x="1012825" y="3679825"/>
            <a:ext cx="2911475" cy="1422400"/>
          </a:xfrm>
          <a:prstGeom prst="cloudCallout">
            <a:avLst>
              <a:gd name="adj1" fmla="val 43379"/>
              <a:gd name="adj2" fmla="val 64372"/>
            </a:avLst>
          </a:prstGeom>
          <a:noFill/>
          <a:ln w="12700" cap="flat" cmpd="sng" algn="ctr">
            <a:solidFill>
              <a:schemeClr val="tx1"/>
            </a:solidFill>
            <a:prstDash val="solid"/>
            <a:round/>
            <a:headEnd type="none" w="med" len="med"/>
            <a:tailEnd type="none" w="med" len="med"/>
          </a:ln>
          <a:effectLst/>
        </p:spPr>
        <p:txBody>
          <a:bodyPr/>
          <a:lstStyle/>
          <a:p>
            <a:pPr eaLnBrk="1" hangingPunct="1">
              <a:spcBef>
                <a:spcPct val="20000"/>
              </a:spcBef>
              <a:buClr>
                <a:schemeClr val="accent1"/>
              </a:buClr>
              <a:defRPr/>
            </a:pPr>
            <a:r>
              <a:rPr lang="en-US" altLang="zh-CN" sz="1600" dirty="0">
                <a:latin typeface="Arial" charset="0"/>
              </a:rPr>
              <a:t>Does this message confirm to SOAP XML </a:t>
            </a:r>
            <a:r>
              <a:rPr lang="en-US" altLang="zh-CN" sz="1600" dirty="0" err="1">
                <a:latin typeface="Arial" charset="0"/>
              </a:rPr>
              <a:t>infoSet</a:t>
            </a:r>
            <a:r>
              <a:rPr lang="zh-CN" altLang="en-US" sz="1600" dirty="0">
                <a:latin typeface="Arial" charset="0"/>
              </a:rPr>
              <a:t>？</a:t>
            </a:r>
            <a:endParaRPr lang="en-US" altLang="zh-CN" sz="1600" dirty="0">
              <a:latin typeface="Arial" charset="0"/>
            </a:endParaRPr>
          </a:p>
          <a:p>
            <a:pPr marL="342900" indent="-342900" eaLnBrk="1" hangingPunct="1">
              <a:spcBef>
                <a:spcPct val="20000"/>
              </a:spcBef>
              <a:buClr>
                <a:schemeClr val="accent1"/>
              </a:buClr>
              <a:buFont typeface="Wingdings" pitchFamily="2" charset="2"/>
              <a:buChar char="l"/>
              <a:defRPr/>
            </a:pPr>
            <a:endParaRPr lang="zh-CN" altLang="en-US" dirty="0">
              <a:latin typeface="Arial" charset="0"/>
            </a:endParaRPr>
          </a:p>
        </p:txBody>
      </p:sp>
      <p:sp>
        <p:nvSpPr>
          <p:cNvPr id="17" name="云形标注 16">
            <a:extLst>
              <a:ext uri="{FF2B5EF4-FFF2-40B4-BE49-F238E27FC236}">
                <a16:creationId xmlns:a16="http://schemas.microsoft.com/office/drawing/2014/main" id="{036C75A9-472A-4F9A-AB5C-00E182DE4FB5}"/>
              </a:ext>
            </a:extLst>
          </p:cNvPr>
          <p:cNvSpPr/>
          <p:nvPr/>
        </p:nvSpPr>
        <p:spPr bwMode="auto">
          <a:xfrm>
            <a:off x="6122988" y="4067175"/>
            <a:ext cx="2160587" cy="1120775"/>
          </a:xfrm>
          <a:prstGeom prst="cloudCallout">
            <a:avLst>
              <a:gd name="adj1" fmla="val -67663"/>
              <a:gd name="adj2" fmla="val 60747"/>
            </a:avLst>
          </a:prstGeom>
          <a:noFill/>
          <a:ln w="12700" cap="flat" cmpd="sng" algn="ctr">
            <a:solidFill>
              <a:schemeClr val="tx1"/>
            </a:solidFill>
            <a:prstDash val="solid"/>
            <a:round/>
            <a:headEnd type="none" w="med" len="med"/>
            <a:tailEnd type="none" w="med" len="med"/>
          </a:ln>
          <a:effectLst/>
        </p:spPr>
        <p:txBody>
          <a:bodyPr/>
          <a:lstStyle/>
          <a:p>
            <a:pPr eaLnBrk="1" hangingPunct="1">
              <a:spcBef>
                <a:spcPct val="20000"/>
              </a:spcBef>
              <a:buClr>
                <a:schemeClr val="accent1"/>
              </a:buClr>
              <a:defRPr/>
            </a:pPr>
            <a:r>
              <a:rPr lang="en-US" altLang="zh-CN" sz="1600" dirty="0">
                <a:latin typeface="Arial" charset="0"/>
              </a:rPr>
              <a:t>And I am going to do something ……</a:t>
            </a:r>
          </a:p>
          <a:p>
            <a:pPr marL="342900" indent="-342900" eaLnBrk="1" hangingPunct="1">
              <a:spcBef>
                <a:spcPct val="20000"/>
              </a:spcBef>
              <a:buClr>
                <a:schemeClr val="accent1"/>
              </a:buClr>
              <a:buFont typeface="Wingdings" pitchFamily="2" charset="2"/>
              <a:buChar char="l"/>
              <a:defRPr/>
            </a:pPr>
            <a:endParaRPr lang="zh-CN" altLang="en-US" dirty="0">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p:bldP spid="6" grpId="0" animBg="1"/>
      <p:bldP spid="16"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1F5177D4-0269-41B2-90FA-7D0016A6289E}"/>
              </a:ext>
            </a:extLst>
          </p:cNvPr>
          <p:cNvSpPr>
            <a:spLocks noGrp="1"/>
          </p:cNvSpPr>
          <p:nvPr>
            <p:ph type="title"/>
          </p:nvPr>
        </p:nvSpPr>
        <p:spPr/>
        <p:txBody>
          <a:bodyPr>
            <a:normAutofit fontScale="90000"/>
          </a:bodyPr>
          <a:lstStyle/>
          <a:p>
            <a:r>
              <a:rPr lang="en-US" altLang="zh-CN" dirty="0"/>
              <a:t>The "role" Attribute</a:t>
            </a:r>
            <a:endParaRPr lang="zh-CN" altLang="en-US" dirty="0"/>
          </a:p>
        </p:txBody>
      </p:sp>
      <p:sp>
        <p:nvSpPr>
          <p:cNvPr id="3" name="内容占位符 2">
            <a:extLst>
              <a:ext uri="{FF2B5EF4-FFF2-40B4-BE49-F238E27FC236}">
                <a16:creationId xmlns:a16="http://schemas.microsoft.com/office/drawing/2014/main" id="{5645BB4C-A046-432E-95DA-F04EBE7FF373}"/>
              </a:ext>
            </a:extLst>
          </p:cNvPr>
          <p:cNvSpPr>
            <a:spLocks noGrp="1"/>
          </p:cNvSpPr>
          <p:nvPr>
            <p:ph idx="1"/>
          </p:nvPr>
        </p:nvSpPr>
        <p:spPr/>
        <p:txBody>
          <a:bodyPr>
            <a:normAutofit/>
          </a:bodyPr>
          <a:lstStyle/>
          <a:p>
            <a:pPr>
              <a:lnSpc>
                <a:spcPct val="110000"/>
              </a:lnSpc>
              <a:defRPr/>
            </a:pPr>
            <a:r>
              <a:rPr lang="en-US" altLang="zh-CN" sz="2400" dirty="0"/>
              <a:t>SOAP defines the (optional) </a:t>
            </a:r>
            <a:r>
              <a:rPr lang="en-US" altLang="zh-CN" sz="2400" dirty="0" err="1">
                <a:hlinkClick r:id="rId3"/>
              </a:rPr>
              <a:t>env:role</a:t>
            </a:r>
            <a:r>
              <a:rPr lang="en-US" altLang="zh-CN" sz="2400" dirty="0"/>
              <a:t> attribute (syntactically, </a:t>
            </a:r>
            <a:r>
              <a:rPr lang="en-US" altLang="zh-CN" sz="2400" dirty="0" err="1">
                <a:hlinkClick r:id="rId3"/>
              </a:rPr>
              <a:t>xs:anyURI</a:t>
            </a:r>
            <a:r>
              <a:rPr lang="en-US" altLang="zh-CN" sz="2400" dirty="0"/>
              <a:t>) that may be present in a header block, which identifies the role played by the intended target of that header block</a:t>
            </a:r>
          </a:p>
          <a:p>
            <a:pPr>
              <a:lnSpc>
                <a:spcPct val="110000"/>
              </a:lnSpc>
              <a:defRPr/>
            </a:pPr>
            <a:r>
              <a:rPr lang="en-US" altLang="zh-CN" sz="2400" dirty="0"/>
              <a:t>A SOAP node is required to process a header block if it assumes the role identified by the value of the URI</a:t>
            </a:r>
          </a:p>
          <a:p>
            <a:pPr lvl="1">
              <a:lnSpc>
                <a:spcPct val="110000"/>
              </a:lnSpc>
              <a:defRPr/>
            </a:pPr>
            <a:r>
              <a:rPr lang="en-US" altLang="zh-CN" sz="1900" dirty="0"/>
              <a:t>But how a SOAP node assumes a particular role is not a part of the SOAP specifications</a:t>
            </a:r>
          </a:p>
          <a:p>
            <a:pPr>
              <a:lnSpc>
                <a:spcPct val="110000"/>
              </a:lnSpc>
              <a:defRPr/>
            </a:pPr>
            <a:r>
              <a:rPr lang="en-US" altLang="zh-CN" sz="2400" dirty="0"/>
              <a:t>If the </a:t>
            </a:r>
            <a:r>
              <a:rPr lang="en-US" altLang="zh-CN" sz="2400" dirty="0" err="1">
                <a:hlinkClick r:id="rId3"/>
              </a:rPr>
              <a:t>env:role</a:t>
            </a:r>
            <a:r>
              <a:rPr lang="en-US" altLang="zh-CN" sz="2400" dirty="0"/>
              <a:t> attribute has an empty value, i.e., </a:t>
            </a:r>
            <a:r>
              <a:rPr lang="en-US" altLang="zh-CN" sz="2400" dirty="0" err="1">
                <a:hlinkClick r:id="rId3"/>
              </a:rPr>
              <a:t>env:role</a:t>
            </a:r>
            <a:r>
              <a:rPr lang="en-US" altLang="zh-CN" sz="2400" dirty="0"/>
              <a:t>="", it means that the relative URI identifying the role is resolved to the base URI for the SOAP message in question</a:t>
            </a:r>
          </a:p>
        </p:txBody>
      </p:sp>
      <p:sp>
        <p:nvSpPr>
          <p:cNvPr id="8196" name="灯片编号占位符 3">
            <a:extLst>
              <a:ext uri="{FF2B5EF4-FFF2-40B4-BE49-F238E27FC236}">
                <a16:creationId xmlns:a16="http://schemas.microsoft.com/office/drawing/2014/main" id="{F0787B4B-D6CA-4CA2-840A-72BCD1E2828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3</a:t>
            </a:fld>
            <a:endParaRPr lang="en-US" altLang="zh-CN" sz="10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8222A2FC-C97B-44DC-BCDD-E1DF25E61DE3}"/>
              </a:ext>
            </a:extLst>
          </p:cNvPr>
          <p:cNvSpPr>
            <a:spLocks noGrp="1"/>
          </p:cNvSpPr>
          <p:nvPr>
            <p:ph type="title"/>
          </p:nvPr>
        </p:nvSpPr>
        <p:spPr/>
        <p:txBody>
          <a:bodyPr>
            <a:normAutofit fontScale="90000"/>
          </a:bodyPr>
          <a:lstStyle/>
          <a:p>
            <a:r>
              <a:rPr lang="en-US" altLang="zh-CN" sz="3600" dirty="0"/>
              <a:t>Standardized Roles (1/2)</a:t>
            </a:r>
            <a:endParaRPr lang="zh-CN" altLang="en-US" sz="3600" dirty="0"/>
          </a:p>
        </p:txBody>
      </p:sp>
      <p:sp>
        <p:nvSpPr>
          <p:cNvPr id="3" name="内容占位符 2">
            <a:extLst>
              <a:ext uri="{FF2B5EF4-FFF2-40B4-BE49-F238E27FC236}">
                <a16:creationId xmlns:a16="http://schemas.microsoft.com/office/drawing/2014/main" id="{CF59B07A-B648-4853-B3C6-7979180ACB4E}"/>
              </a:ext>
            </a:extLst>
          </p:cNvPr>
          <p:cNvSpPr>
            <a:spLocks noGrp="1"/>
          </p:cNvSpPr>
          <p:nvPr>
            <p:ph idx="1"/>
          </p:nvPr>
        </p:nvSpPr>
        <p:spPr>
          <a:xfrm>
            <a:off x="457200" y="1052513"/>
            <a:ext cx="8229600" cy="3168575"/>
          </a:xfrm>
        </p:spPr>
        <p:txBody>
          <a:bodyPr/>
          <a:lstStyle/>
          <a:p>
            <a:pPr>
              <a:defRPr/>
            </a:pPr>
            <a:r>
              <a:rPr lang="en-US" altLang="zh-CN" sz="2400" dirty="0"/>
              <a:t>Three standardized roles have been defined, which are</a:t>
            </a:r>
          </a:p>
          <a:p>
            <a:pPr lvl="1">
              <a:defRPr/>
            </a:pPr>
            <a:r>
              <a:rPr lang="en-US" altLang="zh-CN" sz="1900" dirty="0">
                <a:hlinkClick r:id="rId2"/>
              </a:rPr>
              <a:t>http://www.w3.org/2003/05/soap-envelope/role/none</a:t>
            </a:r>
            <a:r>
              <a:rPr lang="en-US" altLang="zh-CN" sz="1900" dirty="0"/>
              <a:t> (</a:t>
            </a:r>
            <a:r>
              <a:rPr lang="en-US" altLang="zh-CN" sz="1900" dirty="0">
                <a:solidFill>
                  <a:srgbClr val="FF0000"/>
                </a:solidFill>
              </a:rPr>
              <a:t>none</a:t>
            </a:r>
            <a:r>
              <a:rPr lang="en-US" altLang="zh-CN" sz="1900" dirty="0">
                <a:solidFill>
                  <a:schemeClr val="tx1">
                    <a:lumMod val="95000"/>
                    <a:lumOff val="5000"/>
                  </a:schemeClr>
                </a:solidFill>
              </a:rPr>
              <a:t>) </a:t>
            </a:r>
          </a:p>
          <a:p>
            <a:pPr lvl="1">
              <a:defRPr/>
            </a:pPr>
            <a:r>
              <a:rPr lang="en-US" altLang="zh-CN" sz="1900" dirty="0">
                <a:hlinkClick r:id="rId3"/>
              </a:rPr>
              <a:t>http://www.w3.org/2003/05/soap-envelope/role/next</a:t>
            </a:r>
            <a:r>
              <a:rPr lang="en-US" altLang="zh-CN" sz="1900" dirty="0"/>
              <a:t> (</a:t>
            </a:r>
            <a:r>
              <a:rPr lang="en-US" altLang="zh-CN" sz="1900" dirty="0">
                <a:solidFill>
                  <a:srgbClr val="FF0000"/>
                </a:solidFill>
              </a:rPr>
              <a:t>next</a:t>
            </a:r>
            <a:r>
              <a:rPr lang="en-US" altLang="zh-CN" sz="1900" dirty="0">
                <a:solidFill>
                  <a:schemeClr val="tx1">
                    <a:lumMod val="95000"/>
                    <a:lumOff val="5000"/>
                  </a:schemeClr>
                </a:solidFill>
              </a:rPr>
              <a:t>) </a:t>
            </a:r>
          </a:p>
          <a:p>
            <a:pPr lvl="1">
              <a:defRPr/>
            </a:pPr>
            <a:r>
              <a:rPr lang="en-US" altLang="zh-CN" sz="1900" dirty="0">
                <a:hlinkClick r:id="rId4"/>
              </a:rPr>
              <a:t>http://www.w3.org/2003/05/soap-envelope/role/ultimateReceiver</a:t>
            </a:r>
            <a:r>
              <a:rPr lang="en-US" altLang="zh-CN" sz="1900" dirty="0"/>
              <a:t> (</a:t>
            </a:r>
            <a:r>
              <a:rPr lang="en-US" altLang="zh-CN" sz="1900" dirty="0" err="1">
                <a:solidFill>
                  <a:srgbClr val="FF0000"/>
                </a:solidFill>
              </a:rPr>
              <a:t>ultimateReceiver</a:t>
            </a:r>
            <a:r>
              <a:rPr lang="en-US" altLang="zh-CN" sz="1900" dirty="0"/>
              <a:t>)</a:t>
            </a:r>
          </a:p>
          <a:p>
            <a:pPr>
              <a:defRPr/>
            </a:pPr>
            <a:endParaRPr lang="zh-CN" altLang="en-US" dirty="0"/>
          </a:p>
        </p:txBody>
      </p:sp>
      <p:sp>
        <p:nvSpPr>
          <p:cNvPr id="10244" name="灯片编号占位符 3">
            <a:extLst>
              <a:ext uri="{FF2B5EF4-FFF2-40B4-BE49-F238E27FC236}">
                <a16:creationId xmlns:a16="http://schemas.microsoft.com/office/drawing/2014/main" id="{F3577A0B-AD59-4720-840A-A5377362409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4</a:t>
            </a:fld>
            <a:endParaRPr lang="en-US" altLang="zh-CN" sz="1000"/>
          </a:p>
        </p:txBody>
      </p:sp>
      <p:graphicFrame>
        <p:nvGraphicFramePr>
          <p:cNvPr id="5" name="内容占位符 4">
            <a:extLst>
              <a:ext uri="{FF2B5EF4-FFF2-40B4-BE49-F238E27FC236}">
                <a16:creationId xmlns:a16="http://schemas.microsoft.com/office/drawing/2014/main" id="{9F3B77D0-EF32-484B-A16C-AB6A902322FF}"/>
              </a:ext>
            </a:extLst>
          </p:cNvPr>
          <p:cNvGraphicFramePr>
            <a:graphicFrameLocks/>
          </p:cNvGraphicFramePr>
          <p:nvPr>
            <p:extLst>
              <p:ext uri="{D42A27DB-BD31-4B8C-83A1-F6EECF244321}">
                <p14:modId xmlns:p14="http://schemas.microsoft.com/office/powerpoint/2010/main" val="3261313025"/>
              </p:ext>
            </p:extLst>
          </p:nvPr>
        </p:nvGraphicFramePr>
        <p:xfrm>
          <a:off x="143669" y="3501008"/>
          <a:ext cx="8856662" cy="2498725"/>
        </p:xfrm>
        <a:graphic>
          <a:graphicData uri="http://schemas.openxmlformats.org/drawingml/2006/table">
            <a:tbl>
              <a:tblPr firstRow="1" bandRow="1">
                <a:tableStyleId>{5C22544A-7EE6-4342-B048-85BDC9FD1C3A}</a:tableStyleId>
              </a:tblPr>
              <a:tblGrid>
                <a:gridCol w="1736259">
                  <a:extLst>
                    <a:ext uri="{9D8B030D-6E8A-4147-A177-3AD203B41FA5}">
                      <a16:colId xmlns:a16="http://schemas.microsoft.com/office/drawing/2014/main" val="20000"/>
                    </a:ext>
                  </a:extLst>
                </a:gridCol>
                <a:gridCol w="1502405">
                  <a:extLst>
                    <a:ext uri="{9D8B030D-6E8A-4147-A177-3AD203B41FA5}">
                      <a16:colId xmlns:a16="http://schemas.microsoft.com/office/drawing/2014/main" val="20001"/>
                    </a:ext>
                  </a:extLst>
                </a:gridCol>
                <a:gridCol w="1502405">
                  <a:extLst>
                    <a:ext uri="{9D8B030D-6E8A-4147-A177-3AD203B41FA5}">
                      <a16:colId xmlns:a16="http://schemas.microsoft.com/office/drawing/2014/main" val="20002"/>
                    </a:ext>
                  </a:extLst>
                </a:gridCol>
                <a:gridCol w="1502405">
                  <a:extLst>
                    <a:ext uri="{9D8B030D-6E8A-4147-A177-3AD203B41FA5}">
                      <a16:colId xmlns:a16="http://schemas.microsoft.com/office/drawing/2014/main" val="20003"/>
                    </a:ext>
                  </a:extLst>
                </a:gridCol>
                <a:gridCol w="2613188">
                  <a:extLst>
                    <a:ext uri="{9D8B030D-6E8A-4147-A177-3AD203B41FA5}">
                      <a16:colId xmlns:a16="http://schemas.microsoft.com/office/drawing/2014/main" val="20004"/>
                    </a:ext>
                  </a:extLst>
                </a:gridCol>
              </a:tblGrid>
              <a:tr h="700880">
                <a:tc>
                  <a:txBody>
                    <a:bodyPr/>
                    <a:lstStyle/>
                    <a:p>
                      <a:pPr algn="ctr"/>
                      <a:r>
                        <a:rPr lang="en-US" sz="1800" i="1" dirty="0"/>
                        <a:t>Role</a:t>
                      </a:r>
                    </a:p>
                    <a:p>
                      <a:pPr algn="ctr"/>
                      <a:r>
                        <a:rPr lang="en-US" sz="1800" i="1" baseline="0" dirty="0"/>
                        <a:t> </a:t>
                      </a:r>
                      <a:r>
                        <a:rPr lang="en-US" altLang="zh-CN" sz="1800" i="1" dirty="0"/>
                        <a:t>Node</a:t>
                      </a:r>
                      <a:endParaRPr lang="en-US" sz="1800" dirty="0"/>
                    </a:p>
                  </a:txBody>
                  <a:tcPr marL="91442" marR="91442" marT="45645" marB="45645" anchor="ctr"/>
                </a:tc>
                <a:tc>
                  <a:txBody>
                    <a:bodyPr/>
                    <a:lstStyle/>
                    <a:p>
                      <a:pPr algn="ctr"/>
                      <a:r>
                        <a:rPr lang="en-US" sz="1800" dirty="0"/>
                        <a:t>absent</a:t>
                      </a:r>
                    </a:p>
                  </a:txBody>
                  <a:tcPr marL="91442" marR="91442" marT="45645" marB="45645" anchor="ctr"/>
                </a:tc>
                <a:tc>
                  <a:txBody>
                    <a:bodyPr/>
                    <a:lstStyle/>
                    <a:p>
                      <a:pPr algn="ctr"/>
                      <a:r>
                        <a:rPr lang="en-US" sz="1800" dirty="0"/>
                        <a:t>"none"</a:t>
                      </a:r>
                    </a:p>
                  </a:txBody>
                  <a:tcPr marL="91442" marR="91442" marT="45645" marB="45645" anchor="ctr"/>
                </a:tc>
                <a:tc>
                  <a:txBody>
                    <a:bodyPr/>
                    <a:lstStyle/>
                    <a:p>
                      <a:pPr algn="ctr"/>
                      <a:r>
                        <a:rPr lang="en-US" sz="1800"/>
                        <a:t>"next"</a:t>
                      </a:r>
                    </a:p>
                  </a:txBody>
                  <a:tcPr marL="91442" marR="91442" marT="45645" marB="45645" anchor="ctr"/>
                </a:tc>
                <a:tc>
                  <a:txBody>
                    <a:bodyPr/>
                    <a:lstStyle/>
                    <a:p>
                      <a:pPr algn="ctr"/>
                      <a:r>
                        <a:rPr lang="en-US" sz="1800" dirty="0"/>
                        <a:t>"ultimate Receiver"</a:t>
                      </a:r>
                    </a:p>
                  </a:txBody>
                  <a:tcPr marL="91442" marR="91442" marT="45645" marB="45645" anchor="ctr"/>
                </a:tc>
                <a:extLst>
                  <a:ext uri="{0D108BD9-81ED-4DB2-BD59-A6C34878D82A}">
                    <a16:rowId xmlns:a16="http://schemas.microsoft.com/office/drawing/2014/main" val="10000"/>
                  </a:ext>
                </a:extLst>
              </a:tr>
              <a:tr h="700880">
                <a:tc>
                  <a:txBody>
                    <a:bodyPr/>
                    <a:lstStyle/>
                    <a:p>
                      <a:pPr algn="ctr"/>
                      <a:r>
                        <a:rPr lang="en-US" sz="1800" dirty="0"/>
                        <a:t>initial sender</a:t>
                      </a:r>
                    </a:p>
                  </a:txBody>
                  <a:tcPr marL="91442" marR="91442" marT="45645" marB="45645" anchor="ctr"/>
                </a:tc>
                <a:tc>
                  <a:txBody>
                    <a:bodyPr/>
                    <a:lstStyle/>
                    <a:p>
                      <a:pPr algn="ctr"/>
                      <a:r>
                        <a:rPr lang="en-US" sz="1800"/>
                        <a:t>not applicable</a:t>
                      </a:r>
                    </a:p>
                  </a:txBody>
                  <a:tcPr marL="91442" marR="91442" marT="45645" marB="45645" anchor="ctr"/>
                </a:tc>
                <a:tc>
                  <a:txBody>
                    <a:bodyPr/>
                    <a:lstStyle/>
                    <a:p>
                      <a:pPr algn="ctr"/>
                      <a:r>
                        <a:rPr lang="en-US" sz="1800" dirty="0"/>
                        <a:t>not applicable</a:t>
                      </a:r>
                    </a:p>
                  </a:txBody>
                  <a:tcPr marL="91442" marR="91442" marT="45645" marB="45645" anchor="ctr"/>
                </a:tc>
                <a:tc>
                  <a:txBody>
                    <a:bodyPr/>
                    <a:lstStyle/>
                    <a:p>
                      <a:pPr algn="ctr"/>
                      <a:r>
                        <a:rPr lang="en-US" sz="1800" dirty="0"/>
                        <a:t>not applicable</a:t>
                      </a:r>
                    </a:p>
                  </a:txBody>
                  <a:tcPr marL="91442" marR="91442" marT="45645" marB="45645" anchor="ctr"/>
                </a:tc>
                <a:tc>
                  <a:txBody>
                    <a:bodyPr/>
                    <a:lstStyle/>
                    <a:p>
                      <a:pPr algn="ctr"/>
                      <a:r>
                        <a:rPr lang="en-US" sz="1800" dirty="0"/>
                        <a:t>not applicable</a:t>
                      </a:r>
                    </a:p>
                  </a:txBody>
                  <a:tcPr marL="91442" marR="91442" marT="45645" marB="45645" anchor="ctr"/>
                </a:tc>
                <a:extLst>
                  <a:ext uri="{0D108BD9-81ED-4DB2-BD59-A6C34878D82A}">
                    <a16:rowId xmlns:a16="http://schemas.microsoft.com/office/drawing/2014/main" val="10001"/>
                  </a:ext>
                </a:extLst>
              </a:tr>
              <a:tr h="396085">
                <a:tc>
                  <a:txBody>
                    <a:bodyPr/>
                    <a:lstStyle/>
                    <a:p>
                      <a:pPr algn="ctr"/>
                      <a:r>
                        <a:rPr lang="en-US" sz="1800" dirty="0"/>
                        <a:t>intermediary</a:t>
                      </a:r>
                    </a:p>
                  </a:txBody>
                  <a:tcPr marL="91442" marR="91442" marT="45645" marB="45645" anchor="ctr"/>
                </a:tc>
                <a:tc>
                  <a:txBody>
                    <a:bodyPr/>
                    <a:lstStyle/>
                    <a:p>
                      <a:pPr algn="ctr"/>
                      <a:r>
                        <a:rPr lang="en-US" sz="1800"/>
                        <a:t>no</a:t>
                      </a:r>
                    </a:p>
                  </a:txBody>
                  <a:tcPr marL="91442" marR="91442" marT="45645" marB="45645" anchor="ctr"/>
                </a:tc>
                <a:tc>
                  <a:txBody>
                    <a:bodyPr/>
                    <a:lstStyle/>
                    <a:p>
                      <a:pPr algn="ctr"/>
                      <a:r>
                        <a:rPr lang="en-US" sz="1800" dirty="0"/>
                        <a:t>no</a:t>
                      </a:r>
                    </a:p>
                  </a:txBody>
                  <a:tcPr marL="91442" marR="91442" marT="45645" marB="45645" anchor="ctr"/>
                </a:tc>
                <a:tc>
                  <a:txBody>
                    <a:bodyPr/>
                    <a:lstStyle/>
                    <a:p>
                      <a:pPr algn="ctr"/>
                      <a:r>
                        <a:rPr lang="en-US" sz="1800" dirty="0"/>
                        <a:t>yes</a:t>
                      </a:r>
                    </a:p>
                  </a:txBody>
                  <a:tcPr marL="91442" marR="91442" marT="45645" marB="45645" anchor="ctr"/>
                </a:tc>
                <a:tc>
                  <a:txBody>
                    <a:bodyPr/>
                    <a:lstStyle/>
                    <a:p>
                      <a:pPr algn="ctr"/>
                      <a:r>
                        <a:rPr lang="en-US" sz="1800" dirty="0"/>
                        <a:t>no</a:t>
                      </a:r>
                    </a:p>
                  </a:txBody>
                  <a:tcPr marL="91442" marR="91442" marT="45645" marB="45645" anchor="ctr"/>
                </a:tc>
                <a:extLst>
                  <a:ext uri="{0D108BD9-81ED-4DB2-BD59-A6C34878D82A}">
                    <a16:rowId xmlns:a16="http://schemas.microsoft.com/office/drawing/2014/main" val="10002"/>
                  </a:ext>
                </a:extLst>
              </a:tr>
              <a:tr h="700880">
                <a:tc>
                  <a:txBody>
                    <a:bodyPr/>
                    <a:lstStyle/>
                    <a:p>
                      <a:pPr algn="ctr"/>
                      <a:r>
                        <a:rPr lang="en-US" sz="1800" dirty="0"/>
                        <a:t>ultimate receiver</a:t>
                      </a:r>
                    </a:p>
                  </a:txBody>
                  <a:tcPr marL="91442" marR="91442" marT="45645" marB="45645" anchor="ctr"/>
                </a:tc>
                <a:tc>
                  <a:txBody>
                    <a:bodyPr/>
                    <a:lstStyle/>
                    <a:p>
                      <a:pPr algn="ctr"/>
                      <a:r>
                        <a:rPr lang="en-US" sz="1800"/>
                        <a:t>yes</a:t>
                      </a:r>
                    </a:p>
                  </a:txBody>
                  <a:tcPr marL="91442" marR="91442" marT="45645" marB="45645" anchor="ctr"/>
                </a:tc>
                <a:tc>
                  <a:txBody>
                    <a:bodyPr/>
                    <a:lstStyle/>
                    <a:p>
                      <a:pPr algn="ctr"/>
                      <a:r>
                        <a:rPr lang="en-US" sz="1800" dirty="0"/>
                        <a:t>no</a:t>
                      </a:r>
                    </a:p>
                  </a:txBody>
                  <a:tcPr marL="91442" marR="91442" marT="45645" marB="45645" anchor="ctr"/>
                </a:tc>
                <a:tc>
                  <a:txBody>
                    <a:bodyPr/>
                    <a:lstStyle/>
                    <a:p>
                      <a:pPr algn="ctr"/>
                      <a:r>
                        <a:rPr lang="en-US" sz="1800"/>
                        <a:t>yes</a:t>
                      </a:r>
                    </a:p>
                  </a:txBody>
                  <a:tcPr marL="91442" marR="91442" marT="45645" marB="45645" anchor="ctr"/>
                </a:tc>
                <a:tc>
                  <a:txBody>
                    <a:bodyPr/>
                    <a:lstStyle/>
                    <a:p>
                      <a:pPr algn="ctr"/>
                      <a:r>
                        <a:rPr lang="en-US" sz="1800" dirty="0"/>
                        <a:t>yes</a:t>
                      </a:r>
                    </a:p>
                  </a:txBody>
                  <a:tcPr marL="91442" marR="91442" marT="45645" marB="45645" anchor="ct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DBAF3856-AE34-4485-98FF-FA70151B4D4F}"/>
              </a:ext>
            </a:extLst>
          </p:cNvPr>
          <p:cNvSpPr>
            <a:spLocks noGrp="1"/>
          </p:cNvSpPr>
          <p:nvPr>
            <p:ph type="title"/>
          </p:nvPr>
        </p:nvSpPr>
        <p:spPr/>
        <p:txBody>
          <a:bodyPr>
            <a:normAutofit fontScale="90000"/>
          </a:bodyPr>
          <a:lstStyle/>
          <a:p>
            <a:r>
              <a:rPr lang="en-US" altLang="zh-CN" sz="3600" dirty="0"/>
              <a:t>Standardized Roles </a:t>
            </a:r>
            <a:r>
              <a:rPr lang="en-US" altLang="zh-CN" dirty="0"/>
              <a:t>(2/2)</a:t>
            </a:r>
            <a:endParaRPr lang="zh-CN" altLang="en-US" dirty="0"/>
          </a:p>
        </p:txBody>
      </p:sp>
      <p:sp>
        <p:nvSpPr>
          <p:cNvPr id="3" name="内容占位符 2">
            <a:extLst>
              <a:ext uri="{FF2B5EF4-FFF2-40B4-BE49-F238E27FC236}">
                <a16:creationId xmlns:a16="http://schemas.microsoft.com/office/drawing/2014/main" id="{CCF43A23-2CBB-49F6-AEA0-FBFC95CFD488}"/>
              </a:ext>
            </a:extLst>
          </p:cNvPr>
          <p:cNvSpPr>
            <a:spLocks noGrp="1"/>
          </p:cNvSpPr>
          <p:nvPr>
            <p:ph idx="1"/>
          </p:nvPr>
        </p:nvSpPr>
        <p:spPr/>
        <p:txBody>
          <a:bodyPr>
            <a:normAutofit fontScale="92500" lnSpcReduction="10000"/>
          </a:bodyPr>
          <a:lstStyle/>
          <a:p>
            <a:pPr>
              <a:lnSpc>
                <a:spcPct val="120000"/>
              </a:lnSpc>
              <a:defRPr/>
            </a:pPr>
            <a:r>
              <a:rPr lang="en-US" altLang="zh-CN" sz="2400" dirty="0"/>
              <a:t>Every SOAP node receiving a message with a header block that has a </a:t>
            </a:r>
            <a:r>
              <a:rPr lang="en-US" altLang="zh-CN" sz="2400" dirty="0" err="1">
                <a:hlinkClick r:id="rId3"/>
              </a:rPr>
              <a:t>env:role</a:t>
            </a:r>
            <a:r>
              <a:rPr lang="en-US" altLang="zh-CN" sz="2400" dirty="0"/>
              <a:t> attribute of "</a:t>
            </a:r>
            <a:r>
              <a:rPr lang="en-US" altLang="zh-CN" sz="2400" dirty="0">
                <a:solidFill>
                  <a:srgbClr val="FF0000"/>
                </a:solidFill>
              </a:rPr>
              <a:t>next</a:t>
            </a:r>
            <a:r>
              <a:rPr lang="en-US" altLang="zh-CN" sz="2400" dirty="0"/>
              <a:t>" must be capable of processing the contents of the element, as this is a standardized role that every SOAP node must be willing to assume</a:t>
            </a:r>
          </a:p>
          <a:p>
            <a:pPr>
              <a:lnSpc>
                <a:spcPct val="120000"/>
              </a:lnSpc>
              <a:defRPr/>
            </a:pPr>
            <a:r>
              <a:rPr lang="en-US" altLang="zh-CN" sz="2400" dirty="0"/>
              <a:t>If a header block does not have the </a:t>
            </a:r>
            <a:r>
              <a:rPr lang="en-US" altLang="zh-CN" sz="2400" dirty="0" err="1">
                <a:hlinkClick r:id="rId3"/>
              </a:rPr>
              <a:t>env:role</a:t>
            </a:r>
            <a:r>
              <a:rPr lang="en-US" altLang="zh-CN" sz="2400" dirty="0"/>
              <a:t> attribute or its </a:t>
            </a:r>
            <a:r>
              <a:rPr lang="en-US" altLang="zh-CN" sz="2400" dirty="0" err="1">
                <a:hlinkClick r:id="rId3"/>
              </a:rPr>
              <a:t>env:role</a:t>
            </a:r>
            <a:r>
              <a:rPr lang="en-US" altLang="zh-CN" sz="2400" dirty="0"/>
              <a:t> is defined with “</a:t>
            </a:r>
            <a:r>
              <a:rPr lang="en-US" altLang="zh-CN" sz="2400" dirty="0" err="1">
                <a:solidFill>
                  <a:srgbClr val="FF0000"/>
                </a:solidFill>
              </a:rPr>
              <a:t>ultimateReceiver</a:t>
            </a:r>
            <a:r>
              <a:rPr lang="en-US" altLang="zh-CN" sz="2400" dirty="0">
                <a:solidFill>
                  <a:srgbClr val="FF0000"/>
                </a:solidFill>
              </a:rPr>
              <a:t>”</a:t>
            </a:r>
            <a:r>
              <a:rPr lang="en-US" altLang="zh-CN" sz="2400" dirty="0"/>
              <a:t>. It is targeted at a SOAP node which assumes the "</a:t>
            </a:r>
            <a:r>
              <a:rPr lang="en-US" altLang="zh-CN" sz="2400" dirty="0" err="1">
                <a:solidFill>
                  <a:srgbClr val="FF0000"/>
                </a:solidFill>
              </a:rPr>
              <a:t>ultimateReceiver</a:t>
            </a:r>
            <a:r>
              <a:rPr lang="en-US" altLang="zh-CN" sz="2400" dirty="0"/>
              <a:t>" role</a:t>
            </a:r>
          </a:p>
          <a:p>
            <a:pPr>
              <a:lnSpc>
                <a:spcPct val="120000"/>
              </a:lnSpc>
              <a:defRPr/>
            </a:pPr>
            <a:r>
              <a:rPr lang="en-US" altLang="zh-CN" sz="2400" dirty="0"/>
              <a:t>If a header element has the standardized </a:t>
            </a:r>
            <a:r>
              <a:rPr lang="en-US" altLang="zh-CN" sz="2400" dirty="0" err="1">
                <a:hlinkClick r:id="rId3"/>
              </a:rPr>
              <a:t>env:role</a:t>
            </a:r>
            <a:r>
              <a:rPr lang="en-US" altLang="zh-CN" sz="2400" dirty="0"/>
              <a:t> attribute with value "</a:t>
            </a:r>
            <a:r>
              <a:rPr lang="en-US" altLang="zh-CN" sz="2400" dirty="0">
                <a:solidFill>
                  <a:srgbClr val="FF0000"/>
                </a:solidFill>
              </a:rPr>
              <a:t>none</a:t>
            </a:r>
            <a:r>
              <a:rPr lang="en-US" altLang="zh-CN" sz="2400" dirty="0"/>
              <a:t>", it means that no SOAP node should process the contents, although a node may need to examine it if the content are data referenced by another header element that is targeted at the particular SOAP node</a:t>
            </a:r>
          </a:p>
        </p:txBody>
      </p:sp>
      <p:sp>
        <p:nvSpPr>
          <p:cNvPr id="11268" name="灯片编号占位符 3">
            <a:extLst>
              <a:ext uri="{FF2B5EF4-FFF2-40B4-BE49-F238E27FC236}">
                <a16:creationId xmlns:a16="http://schemas.microsoft.com/office/drawing/2014/main" id="{EBFA4BFE-616F-4659-8834-A2F8B4C4682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5</a:t>
            </a:fld>
            <a:endParaRPr lang="en-US" altLang="zh-CN" sz="10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5E372-9DE4-40BA-9AF8-3A516FFBF614}"/>
              </a:ext>
            </a:extLst>
          </p:cNvPr>
          <p:cNvSpPr>
            <a:spLocks noGrp="1"/>
          </p:cNvSpPr>
          <p:nvPr>
            <p:ph type="title"/>
          </p:nvPr>
        </p:nvSpPr>
        <p:spPr/>
        <p:txBody>
          <a:bodyPr>
            <a:normAutofit fontScale="90000"/>
          </a:bodyPr>
          <a:lstStyle/>
          <a:p>
            <a:pPr>
              <a:defRPr/>
            </a:pPr>
            <a:r>
              <a:rPr lang="en-US" altLang="zh-CN" dirty="0"/>
              <a:t>SOAP Message with </a:t>
            </a:r>
            <a:br>
              <a:rPr lang="en-US" altLang="zh-CN" dirty="0"/>
            </a:br>
            <a:r>
              <a:rPr lang="en-US" altLang="zh-CN" dirty="0"/>
              <a:t>Multiple Header Blocks</a:t>
            </a:r>
            <a:endParaRPr lang="zh-CN" altLang="en-US" dirty="0"/>
          </a:p>
        </p:txBody>
      </p:sp>
      <p:sp>
        <p:nvSpPr>
          <p:cNvPr id="13315" name="灯片编号占位符 3">
            <a:extLst>
              <a:ext uri="{FF2B5EF4-FFF2-40B4-BE49-F238E27FC236}">
                <a16:creationId xmlns:a16="http://schemas.microsoft.com/office/drawing/2014/main" id="{F1B24E91-B575-4B95-B7C7-CA96B4591AE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6</a:t>
            </a:fld>
            <a:endParaRPr lang="en-US" altLang="zh-CN" sz="1000"/>
          </a:p>
        </p:txBody>
      </p:sp>
      <p:sp>
        <p:nvSpPr>
          <p:cNvPr id="5" name="Text Box 4">
            <a:extLst>
              <a:ext uri="{FF2B5EF4-FFF2-40B4-BE49-F238E27FC236}">
                <a16:creationId xmlns:a16="http://schemas.microsoft.com/office/drawing/2014/main" id="{43D72C7E-02EF-403D-9550-03D9EB857A49}"/>
              </a:ext>
            </a:extLst>
          </p:cNvPr>
          <p:cNvSpPr txBox="1">
            <a:spLocks noChangeArrowheads="1"/>
          </p:cNvSpPr>
          <p:nvPr/>
        </p:nvSpPr>
        <p:spPr bwMode="auto">
          <a:xfrm>
            <a:off x="251520" y="1628801"/>
            <a:ext cx="8498656" cy="4659737"/>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xmlns:env</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p:oneBlock</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env:role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http://example.com/Log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p:oneBlock</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q:anotherBlock</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xmlns:q</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env:role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http://www.w3.org/2003/05/soap-envelope/role/next</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q:anotherBlock</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r:aThirdBlock</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xmlns:r</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r:aThirdBlock</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6" name="Line 6">
            <a:extLst>
              <a:ext uri="{FF2B5EF4-FFF2-40B4-BE49-F238E27FC236}">
                <a16:creationId xmlns:a16="http://schemas.microsoft.com/office/drawing/2014/main" id="{6BD84006-7672-4814-AAA3-272C6D737092}"/>
              </a:ext>
            </a:extLst>
          </p:cNvPr>
          <p:cNvSpPr>
            <a:spLocks noChangeShapeType="1"/>
          </p:cNvSpPr>
          <p:nvPr/>
        </p:nvSpPr>
        <p:spPr bwMode="auto">
          <a:xfrm flipH="1">
            <a:off x="6300788" y="2133600"/>
            <a:ext cx="863600" cy="3587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0805E5E9-B65E-4017-ABAD-17F0F720868A}"/>
              </a:ext>
            </a:extLst>
          </p:cNvPr>
          <p:cNvSpPr txBox="1">
            <a:spLocks noChangeArrowheads="1"/>
          </p:cNvSpPr>
          <p:nvPr/>
        </p:nvSpPr>
        <p:spPr bwMode="auto">
          <a:xfrm>
            <a:off x="6359525" y="1835150"/>
            <a:ext cx="2100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Customized role</a:t>
            </a:r>
          </a:p>
        </p:txBody>
      </p:sp>
      <p:sp>
        <p:nvSpPr>
          <p:cNvPr id="8" name="Line 6">
            <a:extLst>
              <a:ext uri="{FF2B5EF4-FFF2-40B4-BE49-F238E27FC236}">
                <a16:creationId xmlns:a16="http://schemas.microsoft.com/office/drawing/2014/main" id="{D6421E02-795F-48F4-B7F5-B10F3375B3CD}"/>
              </a:ext>
            </a:extLst>
          </p:cNvPr>
          <p:cNvSpPr>
            <a:spLocks noChangeShapeType="1"/>
          </p:cNvSpPr>
          <p:nvPr/>
        </p:nvSpPr>
        <p:spPr bwMode="auto">
          <a:xfrm flipH="1">
            <a:off x="6453188" y="2852738"/>
            <a:ext cx="863600" cy="3603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7">
            <a:extLst>
              <a:ext uri="{FF2B5EF4-FFF2-40B4-BE49-F238E27FC236}">
                <a16:creationId xmlns:a16="http://schemas.microsoft.com/office/drawing/2014/main" id="{DB5A0B8D-96C1-4ABB-B8E3-A7E7757FAE98}"/>
              </a:ext>
            </a:extLst>
          </p:cNvPr>
          <p:cNvSpPr txBox="1">
            <a:spLocks noChangeArrowheads="1"/>
          </p:cNvSpPr>
          <p:nvPr/>
        </p:nvSpPr>
        <p:spPr bwMode="auto">
          <a:xfrm>
            <a:off x="6511925" y="2555875"/>
            <a:ext cx="21002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Standard role </a:t>
            </a:r>
          </a:p>
        </p:txBody>
      </p:sp>
      <p:sp>
        <p:nvSpPr>
          <p:cNvPr id="10" name="Line 6">
            <a:extLst>
              <a:ext uri="{FF2B5EF4-FFF2-40B4-BE49-F238E27FC236}">
                <a16:creationId xmlns:a16="http://schemas.microsoft.com/office/drawing/2014/main" id="{05855EB6-641B-456B-B890-6C40431B8694}"/>
              </a:ext>
            </a:extLst>
          </p:cNvPr>
          <p:cNvSpPr>
            <a:spLocks noChangeShapeType="1"/>
          </p:cNvSpPr>
          <p:nvPr/>
        </p:nvSpPr>
        <p:spPr bwMode="auto">
          <a:xfrm flipH="1">
            <a:off x="4440238" y="3905250"/>
            <a:ext cx="865187" cy="3603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7">
            <a:extLst>
              <a:ext uri="{FF2B5EF4-FFF2-40B4-BE49-F238E27FC236}">
                <a16:creationId xmlns:a16="http://schemas.microsoft.com/office/drawing/2014/main" id="{40372BD2-2892-4207-9BE9-D56887606CC5}"/>
              </a:ext>
            </a:extLst>
          </p:cNvPr>
          <p:cNvSpPr txBox="1">
            <a:spLocks noChangeArrowheads="1"/>
          </p:cNvSpPr>
          <p:nvPr/>
        </p:nvSpPr>
        <p:spPr bwMode="auto">
          <a:xfrm>
            <a:off x="5324475" y="3635375"/>
            <a:ext cx="2816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If absence, default role as ultimateReceiver,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24" presetID="3"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BA5DE365-3A6F-4BFE-BA29-CEAE31294F27}"/>
              </a:ext>
            </a:extLst>
          </p:cNvPr>
          <p:cNvSpPr>
            <a:spLocks noGrp="1"/>
          </p:cNvSpPr>
          <p:nvPr>
            <p:ph type="title"/>
          </p:nvPr>
        </p:nvSpPr>
        <p:spPr/>
        <p:txBody>
          <a:bodyPr>
            <a:normAutofit fontScale="90000"/>
          </a:bodyPr>
          <a:lstStyle/>
          <a:p>
            <a:r>
              <a:rPr lang="en-US" altLang="zh-CN" dirty="0"/>
              <a:t> The Body “Role”</a:t>
            </a:r>
            <a:endParaRPr lang="zh-CN" altLang="en-US" dirty="0"/>
          </a:p>
        </p:txBody>
      </p:sp>
      <p:sp>
        <p:nvSpPr>
          <p:cNvPr id="15363" name="内容占位符 2">
            <a:extLst>
              <a:ext uri="{FF2B5EF4-FFF2-40B4-BE49-F238E27FC236}">
                <a16:creationId xmlns:a16="http://schemas.microsoft.com/office/drawing/2014/main" id="{61F76747-5685-4339-B217-AD422CBC8458}"/>
              </a:ext>
            </a:extLst>
          </p:cNvPr>
          <p:cNvSpPr>
            <a:spLocks noGrp="1"/>
          </p:cNvSpPr>
          <p:nvPr>
            <p:ph idx="1"/>
          </p:nvPr>
        </p:nvSpPr>
        <p:spPr/>
        <p:txBody>
          <a:bodyPr/>
          <a:lstStyle/>
          <a:p>
            <a:r>
              <a:rPr lang="en-US" altLang="zh-CN" sz="2400"/>
              <a:t>The </a:t>
            </a:r>
            <a:r>
              <a:rPr lang="en-US" altLang="zh-CN" sz="2400">
                <a:hlinkClick r:id="rId3"/>
              </a:rPr>
              <a:t>env:Body </a:t>
            </a:r>
            <a:r>
              <a:rPr lang="en-US" altLang="zh-CN" sz="2400"/>
              <a:t>element does not have a </a:t>
            </a:r>
            <a:r>
              <a:rPr lang="en-US" altLang="zh-CN" sz="2400">
                <a:hlinkClick r:id="rId3"/>
              </a:rPr>
              <a:t>env:role</a:t>
            </a:r>
            <a:r>
              <a:rPr lang="en-US" altLang="zh-CN" sz="2400"/>
              <a:t> attribute and is </a:t>
            </a:r>
            <a:r>
              <a:rPr lang="en-US" altLang="zh-CN" sz="2400" i="1"/>
              <a:t>always</a:t>
            </a:r>
            <a:r>
              <a:rPr lang="en-US" altLang="zh-CN" sz="2400"/>
              <a:t> targeted at the SOAP node that assumes the "</a:t>
            </a:r>
            <a:r>
              <a:rPr lang="en-US" altLang="zh-CN" sz="2400">
                <a:solidFill>
                  <a:srgbClr val="FF0000"/>
                </a:solidFill>
              </a:rPr>
              <a:t>ultimateReceiver</a:t>
            </a:r>
            <a:r>
              <a:rPr lang="en-US" altLang="zh-CN" sz="2400"/>
              <a:t>" role</a:t>
            </a:r>
          </a:p>
          <a:p>
            <a:r>
              <a:rPr lang="en-US" altLang="zh-CN" sz="2400"/>
              <a:t>In that sense, the body element is just like a header block targeted at the ultimate receiver, but it has been distinguished to allow for SOAP nodes (typically SOAP intermediaries) to skip over it if they assume roles other than that of the ultimate receiver</a:t>
            </a:r>
          </a:p>
          <a:p>
            <a:r>
              <a:rPr lang="en-US" altLang="zh-CN" sz="2400"/>
              <a:t>SOAP does not prescribe any structure for the </a:t>
            </a:r>
            <a:r>
              <a:rPr lang="en-US" altLang="zh-CN" sz="2400">
                <a:hlinkClick r:id="rId3"/>
              </a:rPr>
              <a:t>env:Body</a:t>
            </a:r>
            <a:r>
              <a:rPr lang="en-US" altLang="zh-CN" sz="2400"/>
              <a:t> element, except that it recommends that any sub-elements be XML namespace qualified</a:t>
            </a:r>
          </a:p>
        </p:txBody>
      </p:sp>
      <p:sp>
        <p:nvSpPr>
          <p:cNvPr id="15364" name="灯片编号占位符 3">
            <a:extLst>
              <a:ext uri="{FF2B5EF4-FFF2-40B4-BE49-F238E27FC236}">
                <a16:creationId xmlns:a16="http://schemas.microsoft.com/office/drawing/2014/main" id="{92C9932E-99DA-4603-A2F4-E08D4DAB86E2}"/>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7</a:t>
            </a:fld>
            <a:endParaRPr lang="en-US" altLang="zh-CN" sz="10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4AACDCEF-1873-426C-81D2-006AA8E5B384}"/>
              </a:ext>
            </a:extLst>
          </p:cNvPr>
          <p:cNvSpPr>
            <a:spLocks noGrp="1"/>
          </p:cNvSpPr>
          <p:nvPr>
            <p:ph type="title"/>
          </p:nvPr>
        </p:nvSpPr>
        <p:spPr/>
        <p:txBody>
          <a:bodyPr>
            <a:normAutofit fontScale="90000"/>
          </a:bodyPr>
          <a:lstStyle/>
          <a:p>
            <a:r>
              <a:rPr lang="en-US" altLang="zh-CN"/>
              <a:t>The "mustUnderstand" Attribute</a:t>
            </a:r>
            <a:endParaRPr lang="zh-CN" altLang="en-US" dirty="0"/>
          </a:p>
        </p:txBody>
      </p:sp>
      <p:sp>
        <p:nvSpPr>
          <p:cNvPr id="71683" name="内容占位符 2">
            <a:extLst>
              <a:ext uri="{FF2B5EF4-FFF2-40B4-BE49-F238E27FC236}">
                <a16:creationId xmlns:a16="http://schemas.microsoft.com/office/drawing/2014/main" id="{B747D6C6-F7AC-4A12-AE4F-4BAE2B729970}"/>
              </a:ext>
            </a:extLst>
          </p:cNvPr>
          <p:cNvSpPr>
            <a:spLocks noGrp="1"/>
          </p:cNvSpPr>
          <p:nvPr>
            <p:ph idx="1"/>
          </p:nvPr>
        </p:nvSpPr>
        <p:spPr>
          <a:xfrm>
            <a:off x="457200" y="1124744"/>
            <a:ext cx="8229600" cy="5417344"/>
          </a:xfrm>
        </p:spPr>
        <p:txBody>
          <a:bodyPr>
            <a:normAutofit fontScale="92500"/>
          </a:bodyPr>
          <a:lstStyle/>
          <a:p>
            <a:pPr>
              <a:defRPr/>
            </a:pPr>
            <a:r>
              <a:rPr lang="en-US" altLang="zh-CN" sz="2400" dirty="0"/>
              <a:t>SOAP header blocks also provide for the additional optional attribute, </a:t>
            </a:r>
            <a:r>
              <a:rPr lang="en-US" altLang="zh-CN" sz="2400" dirty="0" err="1">
                <a:hlinkClick r:id="rId3"/>
              </a:rPr>
              <a:t>env:mustUnderstand</a:t>
            </a:r>
            <a:r>
              <a:rPr lang="en-US" altLang="zh-CN" sz="2400" dirty="0"/>
              <a:t>, which, if "true", means that the targeted SOAP node  must process the header with the semantics described in that header's specification, or else generate a SOAP fault. Such a block is colloquially referred to as a </a:t>
            </a:r>
            <a:r>
              <a:rPr lang="en-US" altLang="zh-CN" sz="2400" dirty="0">
                <a:solidFill>
                  <a:srgbClr val="FF0000"/>
                </a:solidFill>
              </a:rPr>
              <a:t>mandatory header block</a:t>
            </a:r>
          </a:p>
          <a:p>
            <a:pPr>
              <a:defRPr/>
            </a:pPr>
            <a:endParaRPr lang="en-US" altLang="zh-CN" sz="2400" dirty="0">
              <a:solidFill>
                <a:srgbClr val="FF0000"/>
              </a:solidFill>
            </a:endParaRPr>
          </a:p>
          <a:p>
            <a:pPr>
              <a:defRPr/>
            </a:pPr>
            <a:endParaRPr lang="en-US" altLang="zh-CN" sz="2400" dirty="0">
              <a:solidFill>
                <a:srgbClr val="FF0000"/>
              </a:solidFill>
            </a:endParaRPr>
          </a:p>
          <a:p>
            <a:pPr>
              <a:defRPr/>
            </a:pPr>
            <a:endParaRPr lang="en-US" altLang="zh-CN" sz="2400" dirty="0">
              <a:solidFill>
                <a:srgbClr val="FF0000"/>
              </a:solidFill>
            </a:endParaRPr>
          </a:p>
          <a:p>
            <a:pPr>
              <a:defRPr/>
            </a:pPr>
            <a:endParaRPr lang="en-US" altLang="zh-CN" sz="2400" dirty="0">
              <a:solidFill>
                <a:srgbClr val="FF0000"/>
              </a:solidFill>
            </a:endParaRPr>
          </a:p>
          <a:p>
            <a:pPr>
              <a:defRPr/>
            </a:pPr>
            <a:endParaRPr lang="en-US" altLang="zh-CN" sz="2400" dirty="0">
              <a:solidFill>
                <a:srgbClr val="FF0000"/>
              </a:solidFill>
            </a:endParaRPr>
          </a:p>
          <a:p>
            <a:pPr>
              <a:defRPr/>
            </a:pPr>
            <a:r>
              <a:rPr lang="en-US" altLang="zh-CN" sz="2400" dirty="0"/>
              <a:t>The </a:t>
            </a:r>
            <a:r>
              <a:rPr lang="en-US" altLang="zh-CN" sz="2400" dirty="0" err="1">
                <a:hlinkClick r:id="rId3"/>
              </a:rPr>
              <a:t>env:Body</a:t>
            </a:r>
            <a:r>
              <a:rPr lang="en-US" altLang="zh-CN" sz="2400" dirty="0"/>
              <a:t> element has no </a:t>
            </a:r>
            <a:r>
              <a:rPr lang="en-US" altLang="zh-CN" sz="2400" dirty="0" err="1">
                <a:hlinkClick r:id="rId3"/>
              </a:rPr>
              <a:t>env:mustUnderstand</a:t>
            </a:r>
            <a:r>
              <a:rPr lang="en-US" altLang="zh-CN" sz="2400" dirty="0"/>
              <a:t> attribute but it must be processed by the ultimate recipient</a:t>
            </a:r>
          </a:p>
        </p:txBody>
      </p:sp>
      <p:sp>
        <p:nvSpPr>
          <p:cNvPr id="17412" name="灯片编号占位符 3">
            <a:extLst>
              <a:ext uri="{FF2B5EF4-FFF2-40B4-BE49-F238E27FC236}">
                <a16:creationId xmlns:a16="http://schemas.microsoft.com/office/drawing/2014/main" id="{83106ECD-C441-45D2-ABA7-8C30C583A6CF}"/>
              </a:ext>
            </a:extLst>
          </p:cNvPr>
          <p:cNvSpPr>
            <a:spLocks noGrp="1"/>
          </p:cNvSpPr>
          <p:nvPr>
            <p:ph type="sldNum" sz="quarter" idx="4294967295"/>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8</a:t>
            </a:fld>
            <a:endParaRPr lang="en-US" altLang="zh-CN" sz="1000"/>
          </a:p>
        </p:txBody>
      </p:sp>
      <p:graphicFrame>
        <p:nvGraphicFramePr>
          <p:cNvPr id="5" name="内容占位符 4">
            <a:extLst>
              <a:ext uri="{FF2B5EF4-FFF2-40B4-BE49-F238E27FC236}">
                <a16:creationId xmlns:a16="http://schemas.microsoft.com/office/drawing/2014/main" id="{26B843B0-4495-4315-8529-E5F0FEF32B59}"/>
              </a:ext>
            </a:extLst>
          </p:cNvPr>
          <p:cNvGraphicFramePr>
            <a:graphicFrameLocks/>
          </p:cNvGraphicFramePr>
          <p:nvPr>
            <p:extLst>
              <p:ext uri="{D42A27DB-BD31-4B8C-83A1-F6EECF244321}">
                <p14:modId xmlns:p14="http://schemas.microsoft.com/office/powerpoint/2010/main" val="3448309376"/>
              </p:ext>
            </p:extLst>
          </p:nvPr>
        </p:nvGraphicFramePr>
        <p:xfrm>
          <a:off x="900112" y="3573016"/>
          <a:ext cx="7343775" cy="1889125"/>
        </p:xfrm>
        <a:graphic>
          <a:graphicData uri="http://schemas.openxmlformats.org/drawingml/2006/table">
            <a:tbl>
              <a:tblPr firstRow="1" bandRow="1">
                <a:tableStyleId>{5C22544A-7EE6-4342-B048-85BDC9FD1C3A}</a:tableStyleId>
              </a:tblPr>
              <a:tblGrid>
                <a:gridCol w="2637222">
                  <a:extLst>
                    <a:ext uri="{9D8B030D-6E8A-4147-A177-3AD203B41FA5}">
                      <a16:colId xmlns:a16="http://schemas.microsoft.com/office/drawing/2014/main" val="20000"/>
                    </a:ext>
                  </a:extLst>
                </a:gridCol>
                <a:gridCol w="2069065">
                  <a:extLst>
                    <a:ext uri="{9D8B030D-6E8A-4147-A177-3AD203B41FA5}">
                      <a16:colId xmlns:a16="http://schemas.microsoft.com/office/drawing/2014/main" val="20001"/>
                    </a:ext>
                  </a:extLst>
                </a:gridCol>
                <a:gridCol w="2637488">
                  <a:extLst>
                    <a:ext uri="{9D8B030D-6E8A-4147-A177-3AD203B41FA5}">
                      <a16:colId xmlns:a16="http://schemas.microsoft.com/office/drawing/2014/main" val="20002"/>
                    </a:ext>
                  </a:extLst>
                </a:gridCol>
              </a:tblGrid>
              <a:tr h="700879">
                <a:tc>
                  <a:txBody>
                    <a:bodyPr/>
                    <a:lstStyle/>
                    <a:p>
                      <a:pPr algn="ctr"/>
                      <a:r>
                        <a:rPr lang="en-US" sz="1800" i="1" dirty="0"/>
                        <a:t>Node</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i="1" dirty="0" err="1"/>
                        <a:t>mustUnderstand</a:t>
                      </a:r>
                      <a:endParaRPr lang="zh-CN" altLang="en-US" sz="1800" dirty="0"/>
                    </a:p>
                  </a:txBody>
                  <a:tcPr marT="45643" marB="45643" anchor="ctr"/>
                </a:tc>
                <a:tc>
                  <a:txBody>
                    <a:bodyPr/>
                    <a:lstStyle/>
                    <a:p>
                      <a:pPr algn="ctr"/>
                      <a:r>
                        <a:rPr lang="en-US" sz="1800" dirty="0"/>
                        <a:t>intermediary</a:t>
                      </a:r>
                    </a:p>
                  </a:txBody>
                  <a:tcPr marT="45643" marB="45643" anchor="ctr"/>
                </a:tc>
                <a:tc>
                  <a:txBody>
                    <a:bodyPr/>
                    <a:lstStyle/>
                    <a:p>
                      <a:pPr algn="ctr"/>
                      <a:r>
                        <a:rPr lang="en-US" sz="1800" dirty="0"/>
                        <a:t>ultimate receiver</a:t>
                      </a:r>
                    </a:p>
                  </a:txBody>
                  <a:tcPr marT="45643" marB="45643" anchor="ctr"/>
                </a:tc>
                <a:extLst>
                  <a:ext uri="{0D108BD9-81ED-4DB2-BD59-A6C34878D82A}">
                    <a16:rowId xmlns:a16="http://schemas.microsoft.com/office/drawing/2014/main" val="10000"/>
                  </a:ext>
                </a:extLst>
              </a:tr>
              <a:tr h="396082">
                <a:tc>
                  <a:txBody>
                    <a:bodyPr/>
                    <a:lstStyle/>
                    <a:p>
                      <a:r>
                        <a:rPr lang="en-US" sz="1800" dirty="0"/>
                        <a:t>"true"</a:t>
                      </a:r>
                    </a:p>
                  </a:txBody>
                  <a:tcPr marT="45643" marB="45643" anchor="ctr"/>
                </a:tc>
                <a:tc>
                  <a:txBody>
                    <a:bodyPr/>
                    <a:lstStyle/>
                    <a:p>
                      <a:pPr algn="ctr"/>
                      <a:r>
                        <a:rPr lang="en-US" sz="1800" dirty="0"/>
                        <a:t>must process</a:t>
                      </a:r>
                    </a:p>
                  </a:txBody>
                  <a:tcPr marT="45643" marB="45643" anchor="ctr"/>
                </a:tc>
                <a:tc>
                  <a:txBody>
                    <a:bodyPr/>
                    <a:lstStyle/>
                    <a:p>
                      <a:pPr algn="ctr"/>
                      <a:r>
                        <a:rPr lang="en-US" sz="1800"/>
                        <a:t>must process</a:t>
                      </a:r>
                    </a:p>
                  </a:txBody>
                  <a:tcPr marT="45643" marB="45643" anchor="ctr"/>
                </a:tc>
                <a:extLst>
                  <a:ext uri="{0D108BD9-81ED-4DB2-BD59-A6C34878D82A}">
                    <a16:rowId xmlns:a16="http://schemas.microsoft.com/office/drawing/2014/main" val="10001"/>
                  </a:ext>
                </a:extLst>
              </a:tr>
              <a:tr h="396082">
                <a:tc>
                  <a:txBody>
                    <a:bodyPr/>
                    <a:lstStyle/>
                    <a:p>
                      <a:r>
                        <a:rPr lang="en-US" sz="1800"/>
                        <a:t>"false"</a:t>
                      </a:r>
                    </a:p>
                  </a:txBody>
                  <a:tcPr marT="45643" marB="45643" anchor="ctr"/>
                </a:tc>
                <a:tc>
                  <a:txBody>
                    <a:bodyPr/>
                    <a:lstStyle/>
                    <a:p>
                      <a:pPr algn="ctr"/>
                      <a:r>
                        <a:rPr lang="en-US" sz="1800" dirty="0"/>
                        <a:t>may process</a:t>
                      </a:r>
                    </a:p>
                  </a:txBody>
                  <a:tcPr marT="45643" marB="45643" anchor="ctr"/>
                </a:tc>
                <a:tc>
                  <a:txBody>
                    <a:bodyPr/>
                    <a:lstStyle/>
                    <a:p>
                      <a:pPr algn="ctr"/>
                      <a:r>
                        <a:rPr lang="en-US" sz="1800" dirty="0"/>
                        <a:t>may process</a:t>
                      </a:r>
                    </a:p>
                  </a:txBody>
                  <a:tcPr marT="45643" marB="45643" anchor="ctr"/>
                </a:tc>
                <a:extLst>
                  <a:ext uri="{0D108BD9-81ED-4DB2-BD59-A6C34878D82A}">
                    <a16:rowId xmlns:a16="http://schemas.microsoft.com/office/drawing/2014/main" val="10002"/>
                  </a:ext>
                </a:extLst>
              </a:tr>
              <a:tr h="396082">
                <a:tc>
                  <a:txBody>
                    <a:bodyPr/>
                    <a:lstStyle/>
                    <a:p>
                      <a:r>
                        <a:rPr lang="en-US" sz="1800"/>
                        <a:t>absent</a:t>
                      </a:r>
                    </a:p>
                  </a:txBody>
                  <a:tcPr marT="45643" marB="45643" anchor="ctr"/>
                </a:tc>
                <a:tc>
                  <a:txBody>
                    <a:bodyPr/>
                    <a:lstStyle/>
                    <a:p>
                      <a:pPr algn="ctr"/>
                      <a:r>
                        <a:rPr lang="en-US" sz="1800" dirty="0"/>
                        <a:t>may process</a:t>
                      </a:r>
                    </a:p>
                  </a:txBody>
                  <a:tcPr marT="45643" marB="45643" anchor="ctr"/>
                </a:tc>
                <a:tc>
                  <a:txBody>
                    <a:bodyPr/>
                    <a:lstStyle/>
                    <a:p>
                      <a:pPr algn="ctr"/>
                      <a:r>
                        <a:rPr lang="en-US" sz="1800" dirty="0"/>
                        <a:t>may process</a:t>
                      </a:r>
                    </a:p>
                  </a:txBody>
                  <a:tcPr marT="45643" marB="45643" anchor="ct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00199C-44A8-4588-8EFD-E7DD653FEDCF}"/>
              </a:ext>
            </a:extLst>
          </p:cNvPr>
          <p:cNvSpPr>
            <a:spLocks noGrp="1"/>
          </p:cNvSpPr>
          <p:nvPr>
            <p:ph type="title"/>
          </p:nvPr>
        </p:nvSpPr>
        <p:spPr/>
        <p:txBody>
          <a:bodyPr>
            <a:noAutofit/>
          </a:bodyPr>
          <a:lstStyle/>
          <a:p>
            <a:pPr>
              <a:defRPr/>
            </a:pPr>
            <a:r>
              <a:rPr lang="en-US" altLang="zh-CN" sz="2800" dirty="0"/>
              <a:t>SOAP with </a:t>
            </a:r>
            <a:r>
              <a:rPr lang="en-US" altLang="zh-CN" sz="2800" dirty="0" err="1">
                <a:hlinkClick r:id="rId3"/>
              </a:rPr>
              <a:t>env:mustUnderstand</a:t>
            </a:r>
            <a:r>
              <a:rPr lang="en-US" altLang="zh-CN" sz="2800" dirty="0"/>
              <a:t> attribute</a:t>
            </a:r>
            <a:endParaRPr lang="zh-CN" altLang="en-US" sz="2800" dirty="0"/>
          </a:p>
        </p:txBody>
      </p:sp>
      <p:sp>
        <p:nvSpPr>
          <p:cNvPr id="19459" name="灯片编号占位符 3">
            <a:extLst>
              <a:ext uri="{FF2B5EF4-FFF2-40B4-BE49-F238E27FC236}">
                <a16:creationId xmlns:a16="http://schemas.microsoft.com/office/drawing/2014/main" id="{245C8895-5816-414E-84DB-906047A5871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9</a:t>
            </a:fld>
            <a:endParaRPr lang="en-US" altLang="zh-CN" sz="1000"/>
          </a:p>
        </p:txBody>
      </p:sp>
      <p:sp>
        <p:nvSpPr>
          <p:cNvPr id="5" name="Text Box 4">
            <a:extLst>
              <a:ext uri="{FF2B5EF4-FFF2-40B4-BE49-F238E27FC236}">
                <a16:creationId xmlns:a16="http://schemas.microsoft.com/office/drawing/2014/main" id="{A872C5C5-3822-4E83-9914-2A3A20B8D77E}"/>
              </a:ext>
            </a:extLst>
          </p:cNvPr>
          <p:cNvSpPr txBox="1">
            <a:spLocks noChangeArrowheads="1"/>
          </p:cNvSpPr>
          <p:nvPr/>
        </p:nvSpPr>
        <p:spPr bwMode="auto">
          <a:xfrm>
            <a:off x="322672" y="1157174"/>
            <a:ext cx="8498656" cy="555844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600" dirty="0">
                <a:solidFill>
                  <a:srgbClr val="008080"/>
                </a:solidFill>
                <a:highlight>
                  <a:srgbClr val="FFFFFF"/>
                </a:highlight>
                <a:latin typeface="Arial"/>
              </a:rPr>
              <a:t>&lt;?xml version="1.0"?&gt;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env:Envelope</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xmlns:env</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http://www.w3.org/2003/05/soap-envelope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env:Header</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p:oneBlock</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xmlns:p</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http://example.com</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env:role</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http://example.com/Log</a:t>
            </a:r>
            <a:r>
              <a:rPr lang="en-US" altLang="zh-CN" sz="1600" dirty="0">
                <a:solidFill>
                  <a:srgbClr val="0000FF"/>
                </a:solidFill>
                <a:highlight>
                  <a:srgbClr val="FFFFFF"/>
                </a:highlight>
                <a:latin typeface="Arial"/>
              </a:rPr>
              <a:t>" 	</a:t>
            </a:r>
            <a:r>
              <a:rPr lang="en-US" altLang="zh-CN" sz="1600" dirty="0" err="1">
                <a:solidFill>
                  <a:srgbClr val="FF0000"/>
                </a:solidFill>
                <a:highlight>
                  <a:srgbClr val="FFFFFF"/>
                </a:highlight>
                <a:latin typeface="Arial"/>
              </a:rPr>
              <a:t>env:mustUnderstand</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true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600" dirty="0">
                <a:solidFill>
                  <a:srgbClr val="000000"/>
                </a:solidFill>
                <a:highlight>
                  <a:srgbClr val="FFFFFF"/>
                </a:highlight>
                <a:latin typeface="Arial"/>
              </a:rPr>
              <a:t>     </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p:oneBlock</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q:anotherBlock</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xmlns:q</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http://example.com</a:t>
            </a:r>
            <a:r>
              <a:rPr lang="en-US" altLang="zh-CN" sz="1600" dirty="0">
                <a:solidFill>
                  <a:srgbClr val="0000FF"/>
                </a:solidFill>
                <a:highlight>
                  <a:srgbClr val="FFFFFF"/>
                </a:highlight>
                <a:latin typeface="Arial"/>
              </a:rPr>
              <a:t>"</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env:role</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http://www.w3.org/2003/05/soap-envelope/role/next</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600" dirty="0">
                <a:solidFill>
                  <a:srgbClr val="000000"/>
                </a:solidFill>
                <a:highlight>
                  <a:srgbClr val="FFFFFF"/>
                </a:highlight>
                <a:latin typeface="Arial"/>
              </a:rPr>
              <a:t>     </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q:anotherBlock</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r:aThirdBlock</a:t>
            </a:r>
            <a:r>
              <a:rPr lang="en-US" altLang="zh-CN" sz="1600" dirty="0">
                <a:solidFill>
                  <a:srgbClr val="FF0000"/>
                </a:solidFill>
                <a:highlight>
                  <a:srgbClr val="FFFFFF"/>
                </a:highlight>
                <a:latin typeface="Arial"/>
              </a:rPr>
              <a:t> </a:t>
            </a:r>
            <a:r>
              <a:rPr lang="en-US" altLang="zh-CN" sz="1600" dirty="0" err="1">
                <a:solidFill>
                  <a:srgbClr val="FF0000"/>
                </a:solidFill>
                <a:highlight>
                  <a:srgbClr val="FFFFFF"/>
                </a:highlight>
                <a:latin typeface="Arial"/>
              </a:rPr>
              <a:t>xmlns:r</a:t>
            </a:r>
            <a:r>
              <a:rPr lang="en-US" altLang="zh-CN" sz="1600" dirty="0">
                <a:solidFill>
                  <a:srgbClr val="0000FF"/>
                </a:solidFill>
                <a:highlight>
                  <a:srgbClr val="FFFFFF"/>
                </a:highlight>
                <a:latin typeface="Arial"/>
              </a:rPr>
              <a:t>="</a:t>
            </a:r>
            <a:r>
              <a:rPr lang="en-US" altLang="zh-CN" sz="1600" dirty="0">
                <a:solidFill>
                  <a:srgbClr val="000000"/>
                </a:solidFill>
                <a:highlight>
                  <a:srgbClr val="FFFFFF"/>
                </a:highlight>
                <a:latin typeface="Arial"/>
              </a:rPr>
              <a:t>http://example.com</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600" dirty="0">
                <a:solidFill>
                  <a:srgbClr val="000000"/>
                </a:solidFill>
                <a:highlight>
                  <a:srgbClr val="FFFFFF"/>
                </a:highlight>
                <a:latin typeface="Arial"/>
              </a:rPr>
              <a:t>     </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a:solidFill>
                  <a:srgbClr val="800000"/>
                </a:solidFill>
                <a:highlight>
                  <a:srgbClr val="FFFFFF"/>
                </a:highlight>
                <a:latin typeface="Arial"/>
              </a:rPr>
              <a:t>r:aThirdBlock</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env:Header</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env:Body</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600" dirty="0">
                <a:solidFill>
                  <a:srgbClr val="000000"/>
                </a:solidFill>
                <a:highlight>
                  <a:srgbClr val="FFFFFF"/>
                </a:highlight>
                <a:latin typeface="Arial"/>
              </a:rPr>
              <a:t>     </a:t>
            </a:r>
            <a:r>
              <a:rPr lang="en-US" altLang="zh-CN" sz="16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600" dirty="0">
                <a:solidFill>
                  <a:srgbClr val="000000"/>
                </a:solidFill>
                <a:highlight>
                  <a:srgbClr val="FFFFFF"/>
                </a:highlight>
                <a:latin typeface="Arial"/>
              </a:rPr>
              <a:t>   </a:t>
            </a: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env:Body</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600" dirty="0">
                <a:solidFill>
                  <a:srgbClr val="0000FF"/>
                </a:solidFill>
                <a:highlight>
                  <a:srgbClr val="FFFFFF"/>
                </a:highlight>
                <a:latin typeface="Arial"/>
              </a:rPr>
              <a:t>&lt;/</a:t>
            </a:r>
            <a:r>
              <a:rPr lang="en-US" altLang="zh-CN" sz="1600" dirty="0" err="1">
                <a:solidFill>
                  <a:srgbClr val="800000"/>
                </a:solidFill>
                <a:highlight>
                  <a:srgbClr val="FFFFFF"/>
                </a:highlight>
                <a:latin typeface="Arial"/>
              </a:rPr>
              <a:t>env:Envelope</a:t>
            </a:r>
            <a:r>
              <a:rPr lang="en-US" altLang="zh-CN" sz="1600" dirty="0">
                <a:solidFill>
                  <a:srgbClr val="0000FF"/>
                </a:solidFill>
                <a:highlight>
                  <a:srgbClr val="FFFFFF"/>
                </a:highlight>
                <a:latin typeface="Arial"/>
              </a:rPr>
              <a:t>&gt;</a:t>
            </a:r>
            <a:endParaRPr lang="en-US" altLang="zh-CN" sz="1600" dirty="0">
              <a:solidFill>
                <a:srgbClr val="000000"/>
              </a:solidFill>
              <a:highlight>
                <a:srgbClr val="FFFFFF"/>
              </a:highlight>
              <a:latin typeface="Arial"/>
            </a:endParaRPr>
          </a:p>
        </p:txBody>
      </p:sp>
      <p:sp>
        <p:nvSpPr>
          <p:cNvPr id="6" name="Line 6">
            <a:extLst>
              <a:ext uri="{FF2B5EF4-FFF2-40B4-BE49-F238E27FC236}">
                <a16:creationId xmlns:a16="http://schemas.microsoft.com/office/drawing/2014/main" id="{B10B8453-1162-43DA-AC15-92CA69ADCF58}"/>
              </a:ext>
            </a:extLst>
          </p:cNvPr>
          <p:cNvSpPr>
            <a:spLocks noChangeShapeType="1"/>
          </p:cNvSpPr>
          <p:nvPr/>
        </p:nvSpPr>
        <p:spPr bwMode="auto">
          <a:xfrm flipH="1" flipV="1">
            <a:off x="3708400" y="2565400"/>
            <a:ext cx="431800" cy="3603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F33FA443-6A11-4276-91F6-E0E2A6706BE0}"/>
              </a:ext>
            </a:extLst>
          </p:cNvPr>
          <p:cNvSpPr>
            <a:spLocks noGrp="1"/>
          </p:cNvSpPr>
          <p:nvPr>
            <p:ph type="title"/>
          </p:nvPr>
        </p:nvSpPr>
        <p:spPr/>
        <p:txBody>
          <a:bodyPr>
            <a:normAutofit fontScale="90000"/>
          </a:bodyPr>
          <a:lstStyle/>
          <a:p>
            <a:r>
              <a:rPr lang="en-US" altLang="zh-CN" dirty="0"/>
              <a:t>SOAP Processing (1/3)</a:t>
            </a:r>
            <a:endParaRPr lang="zh-CN" altLang="en-US" dirty="0"/>
          </a:p>
        </p:txBody>
      </p:sp>
      <p:sp>
        <p:nvSpPr>
          <p:cNvPr id="21507" name="内容占位符 2">
            <a:extLst>
              <a:ext uri="{FF2B5EF4-FFF2-40B4-BE49-F238E27FC236}">
                <a16:creationId xmlns:a16="http://schemas.microsoft.com/office/drawing/2014/main" id="{87875FEB-F4BB-4B01-AD8F-0F416F099282}"/>
              </a:ext>
            </a:extLst>
          </p:cNvPr>
          <p:cNvSpPr>
            <a:spLocks noGrp="1"/>
          </p:cNvSpPr>
          <p:nvPr>
            <p:ph idx="1"/>
          </p:nvPr>
        </p:nvSpPr>
        <p:spPr/>
        <p:txBody>
          <a:bodyPr>
            <a:normAutofit fontScale="70000" lnSpcReduction="20000"/>
          </a:bodyPr>
          <a:lstStyle/>
          <a:p>
            <a:pPr>
              <a:lnSpc>
                <a:spcPct val="120000"/>
              </a:lnSpc>
              <a:defRPr/>
            </a:pPr>
            <a:r>
              <a:rPr lang="en-US" altLang="zh-CN" dirty="0"/>
              <a:t>The role(s) a SOAP node plays when processing a SOAP message can be determined by many factors</a:t>
            </a:r>
          </a:p>
          <a:p>
            <a:pPr lvl="1">
              <a:lnSpc>
                <a:spcPct val="120000"/>
              </a:lnSpc>
              <a:defRPr/>
            </a:pPr>
            <a:r>
              <a:rPr lang="en-US" altLang="zh-CN" sz="2900" dirty="0"/>
              <a:t>The role could be known a priori</a:t>
            </a:r>
          </a:p>
          <a:p>
            <a:pPr lvl="1">
              <a:lnSpc>
                <a:spcPct val="120000"/>
              </a:lnSpc>
              <a:defRPr/>
            </a:pPr>
            <a:r>
              <a:rPr lang="en-US" altLang="zh-CN" sz="2900" dirty="0"/>
              <a:t>or set by some out-of-band means</a:t>
            </a:r>
          </a:p>
          <a:p>
            <a:pPr lvl="1">
              <a:lnSpc>
                <a:spcPct val="120000"/>
              </a:lnSpc>
              <a:defRPr/>
            </a:pPr>
            <a:r>
              <a:rPr lang="en-US" altLang="zh-CN" sz="2900" dirty="0"/>
              <a:t>or a node can inspect all parts of a received message to determine which roles it will assume before processing the message</a:t>
            </a:r>
          </a:p>
          <a:p>
            <a:pPr>
              <a:lnSpc>
                <a:spcPct val="120000"/>
              </a:lnSpc>
              <a:defRPr/>
            </a:pPr>
            <a:r>
              <a:rPr lang="en-US" altLang="zh-CN" dirty="0"/>
              <a:t>When a SOAP node decides its role(s), it must appear as though the role(s) had been known from the start of the processing of the message</a:t>
            </a:r>
          </a:p>
          <a:p>
            <a:pPr lvl="1">
              <a:lnSpc>
                <a:spcPct val="120000"/>
              </a:lnSpc>
              <a:defRPr/>
            </a:pPr>
            <a:r>
              <a:rPr lang="en-US" altLang="zh-CN" sz="2900" dirty="0"/>
              <a:t>In particular, the external appearance must be that the </a:t>
            </a:r>
            <a:r>
              <a:rPr lang="en-US" altLang="zh-CN" sz="2900" dirty="0" err="1">
                <a:hlinkClick r:id="rId3"/>
              </a:rPr>
              <a:t>env:mustUnderstand</a:t>
            </a:r>
            <a:r>
              <a:rPr lang="en-US" altLang="zh-CN" sz="2900" dirty="0"/>
              <a:t> checking of any headers with those additional roles assumed was performed before any processing began. The SOAP node must ensure that it is prepared to do everything that the specifications for those roles require</a:t>
            </a:r>
          </a:p>
        </p:txBody>
      </p:sp>
      <p:sp>
        <p:nvSpPr>
          <p:cNvPr id="21508" name="灯片编号占位符 3">
            <a:extLst>
              <a:ext uri="{FF2B5EF4-FFF2-40B4-BE49-F238E27FC236}">
                <a16:creationId xmlns:a16="http://schemas.microsoft.com/office/drawing/2014/main" id="{439FB7C2-6BA4-4AD2-B047-FBFD3A28E4E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10</a:t>
            </a:fld>
            <a:endParaRPr lang="en-US" altLang="zh-CN" sz="10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C53B1ABE-4158-4272-B99A-3408B780274E}"/>
              </a:ext>
            </a:extLst>
          </p:cNvPr>
          <p:cNvSpPr>
            <a:spLocks noGrp="1"/>
          </p:cNvSpPr>
          <p:nvPr>
            <p:ph type="title"/>
          </p:nvPr>
        </p:nvSpPr>
        <p:spPr/>
        <p:txBody>
          <a:bodyPr>
            <a:normAutofit fontScale="90000"/>
          </a:bodyPr>
          <a:lstStyle/>
          <a:p>
            <a:r>
              <a:rPr lang="en-US" altLang="zh-CN" dirty="0"/>
              <a:t>SOAP Processing (2/3)</a:t>
            </a:r>
            <a:endParaRPr lang="zh-CN" altLang="en-US" dirty="0"/>
          </a:p>
        </p:txBody>
      </p:sp>
      <p:sp>
        <p:nvSpPr>
          <p:cNvPr id="3" name="内容占位符 2">
            <a:extLst>
              <a:ext uri="{FF2B5EF4-FFF2-40B4-BE49-F238E27FC236}">
                <a16:creationId xmlns:a16="http://schemas.microsoft.com/office/drawing/2014/main" id="{1FB6029E-62D9-411E-9399-3E2CFE361843}"/>
              </a:ext>
            </a:extLst>
          </p:cNvPr>
          <p:cNvSpPr>
            <a:spLocks noGrp="1"/>
          </p:cNvSpPr>
          <p:nvPr>
            <p:ph idx="1"/>
          </p:nvPr>
        </p:nvSpPr>
        <p:spPr/>
        <p:txBody>
          <a:bodyPr>
            <a:normAutofit fontScale="77500" lnSpcReduction="20000"/>
          </a:bodyPr>
          <a:lstStyle/>
          <a:p>
            <a:pPr>
              <a:lnSpc>
                <a:spcPct val="120000"/>
              </a:lnSpc>
              <a:defRPr/>
            </a:pPr>
            <a:r>
              <a:rPr lang="en-US" altLang="zh-CN" dirty="0"/>
              <a:t>Processing the header appropriately may include</a:t>
            </a:r>
          </a:p>
          <a:p>
            <a:pPr lvl="1">
              <a:lnSpc>
                <a:spcPct val="120000"/>
              </a:lnSpc>
              <a:defRPr/>
            </a:pPr>
            <a:r>
              <a:rPr lang="en-US" altLang="zh-CN" dirty="0"/>
              <a:t>Removing the header from any generated SOAP message</a:t>
            </a:r>
          </a:p>
          <a:p>
            <a:pPr lvl="1">
              <a:lnSpc>
                <a:spcPct val="120000"/>
              </a:lnSpc>
              <a:defRPr/>
            </a:pPr>
            <a:r>
              <a:rPr lang="en-US" altLang="zh-CN" dirty="0"/>
              <a:t>Reinserting the header with the same or altered value</a:t>
            </a:r>
          </a:p>
          <a:p>
            <a:pPr lvl="1">
              <a:lnSpc>
                <a:spcPct val="120000"/>
              </a:lnSpc>
              <a:defRPr/>
            </a:pPr>
            <a:r>
              <a:rPr lang="en-US" altLang="zh-CN" dirty="0"/>
              <a:t>Or inserting a new header. </a:t>
            </a:r>
          </a:p>
          <a:p>
            <a:pPr>
              <a:lnSpc>
                <a:spcPct val="120000"/>
              </a:lnSpc>
              <a:defRPr/>
            </a:pPr>
            <a:r>
              <a:rPr lang="en-US" altLang="zh-CN" dirty="0"/>
              <a:t>The inability to process a mandatory header requires that all further processing of the SOAP message cease, and a SOAP fault be generated. The message is not forwarded any further</a:t>
            </a:r>
          </a:p>
          <a:p>
            <a:pPr>
              <a:lnSpc>
                <a:spcPct val="120000"/>
              </a:lnSpc>
              <a:defRPr/>
            </a:pPr>
            <a:r>
              <a:rPr lang="en-US" altLang="zh-CN" dirty="0"/>
              <a:t>As a result of processing a SOAP message, a SOAP node may generate a single SOAP fault if it fails to process a message, or, depending on the application, generate additional SOAP messages for consumption at other SOAP nodes</a:t>
            </a:r>
          </a:p>
        </p:txBody>
      </p:sp>
      <p:sp>
        <p:nvSpPr>
          <p:cNvPr id="23556" name="灯片编号占位符 3">
            <a:extLst>
              <a:ext uri="{FF2B5EF4-FFF2-40B4-BE49-F238E27FC236}">
                <a16:creationId xmlns:a16="http://schemas.microsoft.com/office/drawing/2014/main" id="{26A0F40A-D4AD-4A1F-91AC-46ACD522975D}"/>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11</a:t>
            </a:fld>
            <a:endParaRPr lang="en-US" altLang="zh-CN" sz="10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1292EB70-99A2-4FD4-BD22-07D4C203E730}"/>
              </a:ext>
            </a:extLst>
          </p:cNvPr>
          <p:cNvSpPr>
            <a:spLocks noGrp="1"/>
          </p:cNvSpPr>
          <p:nvPr>
            <p:ph type="title"/>
          </p:nvPr>
        </p:nvSpPr>
        <p:spPr/>
        <p:txBody>
          <a:bodyPr>
            <a:normAutofit fontScale="90000"/>
          </a:bodyPr>
          <a:lstStyle/>
          <a:p>
            <a:r>
              <a:rPr lang="en-US" altLang="zh-CN" dirty="0"/>
              <a:t>SOAP Processing (3/3)</a:t>
            </a:r>
            <a:endParaRPr lang="zh-CN" altLang="en-US" dirty="0"/>
          </a:p>
        </p:txBody>
      </p:sp>
      <p:sp>
        <p:nvSpPr>
          <p:cNvPr id="3" name="内容占位符 2">
            <a:extLst>
              <a:ext uri="{FF2B5EF4-FFF2-40B4-BE49-F238E27FC236}">
                <a16:creationId xmlns:a16="http://schemas.microsoft.com/office/drawing/2014/main" id="{C142BAC7-C6C5-4AED-A98A-D50939340A5B}"/>
              </a:ext>
            </a:extLst>
          </p:cNvPr>
          <p:cNvSpPr>
            <a:spLocks noGrp="1"/>
          </p:cNvSpPr>
          <p:nvPr>
            <p:ph idx="1"/>
          </p:nvPr>
        </p:nvSpPr>
        <p:spPr/>
        <p:txBody>
          <a:bodyPr>
            <a:normAutofit fontScale="92500" lnSpcReduction="10000"/>
          </a:bodyPr>
          <a:lstStyle/>
          <a:p>
            <a:pPr>
              <a:lnSpc>
                <a:spcPct val="120000"/>
              </a:lnSpc>
              <a:defRPr/>
            </a:pPr>
            <a:r>
              <a:rPr lang="en-US" altLang="zh-CN" sz="2800" dirty="0"/>
              <a:t>SOAP makes a distinction between generating a fault and ensuring that the fault is returned to the originator of the message or to another appropriate node which can benefit from this information</a:t>
            </a:r>
          </a:p>
          <a:p>
            <a:pPr>
              <a:lnSpc>
                <a:spcPct val="120000"/>
              </a:lnSpc>
              <a:defRPr/>
            </a:pPr>
            <a:r>
              <a:rPr lang="en-US" altLang="zh-CN" sz="2800" dirty="0"/>
              <a:t>However, whether a generated fault can be propagated appropriately depends on the underlying protocol binding chosen for the SOAP message exchange. The specification does not define what happens if faults are generated during the propagation of one-way messages</a:t>
            </a:r>
          </a:p>
          <a:p>
            <a:pPr lvl="1">
              <a:lnSpc>
                <a:spcPct val="120000"/>
              </a:lnSpc>
              <a:defRPr/>
            </a:pPr>
            <a:r>
              <a:rPr lang="en-US" altLang="zh-CN" sz="2000" dirty="0"/>
              <a:t>The SOAP HTTP binding offers the HTTP response as a means for reporting a fault in the incoming SOAP message</a:t>
            </a:r>
            <a:endParaRPr lang="zh-CN" altLang="en-US" sz="1600" dirty="0"/>
          </a:p>
        </p:txBody>
      </p:sp>
      <p:sp>
        <p:nvSpPr>
          <p:cNvPr id="25604" name="灯片编号占位符 3">
            <a:extLst>
              <a:ext uri="{FF2B5EF4-FFF2-40B4-BE49-F238E27FC236}">
                <a16:creationId xmlns:a16="http://schemas.microsoft.com/office/drawing/2014/main" id="{043BD79F-DA07-475E-90D5-2849687B71E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12</a:t>
            </a:fld>
            <a:endParaRPr lang="en-US" altLang="zh-CN" sz="100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DD7DC4AB-EB48-43E4-962A-39F504513088}"/>
              </a:ext>
            </a:extLst>
          </p:cNvPr>
          <p:cNvSpPr>
            <a:spLocks noGrp="1"/>
          </p:cNvSpPr>
          <p:nvPr>
            <p:ph type="title"/>
          </p:nvPr>
        </p:nvSpPr>
        <p:spPr/>
        <p:txBody>
          <a:bodyPr>
            <a:normAutofit fontScale="90000"/>
          </a:bodyPr>
          <a:lstStyle/>
          <a:p>
            <a:r>
              <a:rPr lang="en-US" altLang="zh-CN" dirty="0"/>
              <a:t>The "relay" Attribute (1/3)</a:t>
            </a:r>
            <a:endParaRPr lang="zh-CN" altLang="en-US" dirty="0"/>
          </a:p>
        </p:txBody>
      </p:sp>
      <p:sp>
        <p:nvSpPr>
          <p:cNvPr id="60419" name="内容占位符 2">
            <a:extLst>
              <a:ext uri="{FF2B5EF4-FFF2-40B4-BE49-F238E27FC236}">
                <a16:creationId xmlns:a16="http://schemas.microsoft.com/office/drawing/2014/main" id="{45315A58-6B79-4774-9417-9828554821CE}"/>
              </a:ext>
            </a:extLst>
          </p:cNvPr>
          <p:cNvSpPr>
            <a:spLocks noGrp="1"/>
          </p:cNvSpPr>
          <p:nvPr>
            <p:ph idx="1"/>
          </p:nvPr>
        </p:nvSpPr>
        <p:spPr/>
        <p:txBody>
          <a:bodyPr>
            <a:normAutofit fontScale="92500" lnSpcReduction="20000"/>
          </a:bodyPr>
          <a:lstStyle/>
          <a:p>
            <a:pPr>
              <a:lnSpc>
                <a:spcPct val="120000"/>
              </a:lnSpc>
              <a:defRPr/>
            </a:pPr>
            <a:r>
              <a:rPr lang="en-US" altLang="zh-CN" sz="2800" dirty="0"/>
              <a:t>If a header block </a:t>
            </a:r>
            <a:r>
              <a:rPr lang="en-US" altLang="zh-CN" sz="2800" i="1" dirty="0">
                <a:solidFill>
                  <a:srgbClr val="FF0000"/>
                </a:solidFill>
              </a:rPr>
              <a:t>is</a:t>
            </a:r>
            <a:r>
              <a:rPr lang="en-US" altLang="zh-CN" sz="2800" dirty="0"/>
              <a:t> processed, the SOAP processing rules requires that it be removed from the outbound message</a:t>
            </a:r>
          </a:p>
          <a:p>
            <a:pPr lvl="1">
              <a:lnSpc>
                <a:spcPct val="120000"/>
              </a:lnSpc>
              <a:defRPr/>
            </a:pPr>
            <a:r>
              <a:rPr lang="en-US" altLang="zh-CN" sz="2400" dirty="0"/>
              <a:t>However, the header block may be reinserted, either unchanged or with its contents altered, if the processing of other header blocks determines that the header block be retained in the forwarded message</a:t>
            </a:r>
          </a:p>
          <a:p>
            <a:pPr>
              <a:lnSpc>
                <a:spcPct val="120000"/>
              </a:lnSpc>
              <a:defRPr/>
            </a:pPr>
            <a:r>
              <a:rPr lang="en-US" altLang="zh-CN" sz="2800" dirty="0"/>
              <a:t>The default behavior for an </a:t>
            </a:r>
            <a:r>
              <a:rPr lang="en-US" altLang="zh-CN" sz="2800" i="1" dirty="0">
                <a:solidFill>
                  <a:srgbClr val="FF0000"/>
                </a:solidFill>
              </a:rPr>
              <a:t>un</a:t>
            </a:r>
            <a:r>
              <a:rPr lang="en-US" altLang="zh-CN" sz="2800" dirty="0"/>
              <a:t>processed header block targeted at a role played by a SOAP intermediary is that it must be removed before the message is relayed</a:t>
            </a:r>
          </a:p>
          <a:p>
            <a:pPr lvl="1">
              <a:lnSpc>
                <a:spcPct val="120000"/>
              </a:lnSpc>
              <a:defRPr/>
            </a:pPr>
            <a:r>
              <a:rPr lang="en-US" altLang="zh-CN" sz="2400" dirty="0"/>
              <a:t>That is because certain header blocks represent </a:t>
            </a:r>
            <a:r>
              <a:rPr lang="en-US" altLang="zh-CN" sz="2400" dirty="0">
                <a:solidFill>
                  <a:srgbClr val="FF0000"/>
                </a:solidFill>
              </a:rPr>
              <a:t>hop-by-hop</a:t>
            </a:r>
            <a:r>
              <a:rPr lang="en-US" altLang="zh-CN" sz="2400" dirty="0"/>
              <a:t> features, and it is not safe to propagate it </a:t>
            </a:r>
            <a:r>
              <a:rPr lang="en-US" altLang="zh-CN" sz="2400" dirty="0">
                <a:solidFill>
                  <a:srgbClr val="FF0000"/>
                </a:solidFill>
              </a:rPr>
              <a:t>end-to-end</a:t>
            </a:r>
            <a:endParaRPr lang="en-US" altLang="zh-CN" sz="2400" dirty="0"/>
          </a:p>
        </p:txBody>
      </p:sp>
      <p:sp>
        <p:nvSpPr>
          <p:cNvPr id="27652" name="灯片编号占位符 3">
            <a:extLst>
              <a:ext uri="{FF2B5EF4-FFF2-40B4-BE49-F238E27FC236}">
                <a16:creationId xmlns:a16="http://schemas.microsoft.com/office/drawing/2014/main" id="{24E9A470-1531-4C78-8F72-F0CBA0EC550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13</a:t>
            </a:fld>
            <a:endParaRPr lang="en-US" altLang="zh-CN" sz="100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B8603F52-E453-43D7-AF1A-1947912CC9F2}"/>
              </a:ext>
            </a:extLst>
          </p:cNvPr>
          <p:cNvSpPr>
            <a:spLocks noGrp="1"/>
          </p:cNvSpPr>
          <p:nvPr>
            <p:ph type="title"/>
          </p:nvPr>
        </p:nvSpPr>
        <p:spPr/>
        <p:txBody>
          <a:bodyPr>
            <a:normAutofit fontScale="90000"/>
          </a:bodyPr>
          <a:lstStyle/>
          <a:p>
            <a:r>
              <a:rPr lang="en-US" altLang="zh-CN" dirty="0"/>
              <a:t>The "relay" Attribute (2/3)</a:t>
            </a:r>
            <a:endParaRPr lang="zh-CN" altLang="en-US" dirty="0"/>
          </a:p>
        </p:txBody>
      </p:sp>
      <p:sp>
        <p:nvSpPr>
          <p:cNvPr id="81923" name="内容占位符 2">
            <a:extLst>
              <a:ext uri="{FF2B5EF4-FFF2-40B4-BE49-F238E27FC236}">
                <a16:creationId xmlns:a16="http://schemas.microsoft.com/office/drawing/2014/main" id="{69EDCE8F-5A8B-43F6-B5B4-D37A5B75C504}"/>
              </a:ext>
            </a:extLst>
          </p:cNvPr>
          <p:cNvSpPr>
            <a:spLocks noGrp="1"/>
          </p:cNvSpPr>
          <p:nvPr>
            <p:ph idx="1"/>
          </p:nvPr>
        </p:nvSpPr>
        <p:spPr/>
        <p:txBody>
          <a:bodyPr>
            <a:normAutofit fontScale="85000" lnSpcReduction="10000"/>
          </a:bodyPr>
          <a:lstStyle/>
          <a:p>
            <a:pPr>
              <a:lnSpc>
                <a:spcPct val="120000"/>
              </a:lnSpc>
              <a:defRPr/>
            </a:pPr>
            <a:r>
              <a:rPr lang="en-US" altLang="zh-CN" sz="2400" dirty="0"/>
              <a:t>To circumvent the default, an optional attribute for header blocks, </a:t>
            </a:r>
            <a:r>
              <a:rPr lang="en-US" altLang="zh-CN" sz="2400" dirty="0" err="1">
                <a:hlinkClick r:id="rId3"/>
              </a:rPr>
              <a:t>env:relay</a:t>
            </a:r>
            <a:r>
              <a:rPr lang="en-US" altLang="zh-CN" sz="2400" dirty="0"/>
              <a:t>, is used to indicate if a header block targeted at a SOAP intermediary must be relayed if it is </a:t>
            </a:r>
            <a:r>
              <a:rPr lang="en-US" altLang="zh-CN" sz="2400" dirty="0">
                <a:solidFill>
                  <a:srgbClr val="FF0000"/>
                </a:solidFill>
              </a:rPr>
              <a:t>not</a:t>
            </a:r>
            <a:r>
              <a:rPr lang="en-US" altLang="zh-CN" sz="2400" dirty="0"/>
              <a:t> processed</a:t>
            </a:r>
          </a:p>
          <a:p>
            <a:pPr>
              <a:lnSpc>
                <a:spcPct val="120000"/>
              </a:lnSpc>
              <a:defRPr/>
            </a:pPr>
            <a:r>
              <a:rPr lang="en-US" altLang="zh-CN" sz="2400" dirty="0"/>
              <a:t>Marking such a “relay” header block with </a:t>
            </a:r>
            <a:r>
              <a:rPr lang="en-US" altLang="zh-CN" sz="2400" dirty="0" err="1">
                <a:hlinkClick r:id="rId4" action="ppaction://hlinkfile"/>
              </a:rPr>
              <a:t>env:mustUnderstand</a:t>
            </a:r>
            <a:r>
              <a:rPr lang="en-US" altLang="zh-CN" sz="2400" dirty="0"/>
              <a:t> = "</a:t>
            </a:r>
            <a:r>
              <a:rPr lang="en-US" altLang="zh-CN" sz="2400" i="1" dirty="0">
                <a:solidFill>
                  <a:srgbClr val="FF0000"/>
                </a:solidFill>
              </a:rPr>
              <a:t>false</a:t>
            </a:r>
            <a:r>
              <a:rPr lang="en-US" altLang="zh-CN" sz="2400" dirty="0"/>
              <a:t>" is obviously needed, so that intermediaries that have not implemented the feature do not generate a fault</a:t>
            </a:r>
          </a:p>
          <a:p>
            <a:pPr>
              <a:lnSpc>
                <a:spcPct val="120000"/>
              </a:lnSpc>
              <a:defRPr/>
            </a:pPr>
            <a:r>
              <a:rPr lang="en-US" altLang="zh-CN" sz="2400" dirty="0"/>
              <a:t>Such a “relay” header block would be available to those intermediaries that "understood" it, but ignored and relayed onwards by those that did not. It is useful to introduce new optional function along the SOAP message path</a:t>
            </a:r>
          </a:p>
          <a:p>
            <a:pPr lvl="1">
              <a:lnSpc>
                <a:spcPct val="120000"/>
              </a:lnSpc>
              <a:defRPr/>
            </a:pPr>
            <a:r>
              <a:rPr lang="en-US" altLang="zh-CN" sz="1800" dirty="0"/>
              <a:t>Targeting the header block at the role "</a:t>
            </a:r>
            <a:r>
              <a:rPr lang="en-US" altLang="zh-CN" sz="1800" dirty="0">
                <a:solidFill>
                  <a:srgbClr val="FF0000"/>
                </a:solidFill>
              </a:rPr>
              <a:t>next</a:t>
            </a:r>
            <a:r>
              <a:rPr lang="en-US" altLang="zh-CN" sz="1800" dirty="0"/>
              <a:t>" together with the </a:t>
            </a:r>
            <a:r>
              <a:rPr lang="en-US" altLang="zh-CN" sz="1800" dirty="0" err="1">
                <a:hlinkClick r:id="rId4" action="ppaction://hlinkfile"/>
              </a:rPr>
              <a:t>env:relay</a:t>
            </a:r>
            <a:r>
              <a:rPr lang="en-US" altLang="zh-CN" sz="1800" dirty="0"/>
              <a:t> attribute set to "</a:t>
            </a:r>
            <a:r>
              <a:rPr lang="en-US" altLang="zh-CN" sz="1800" i="1" dirty="0">
                <a:solidFill>
                  <a:srgbClr val="FF0000"/>
                </a:solidFill>
              </a:rPr>
              <a:t>true</a:t>
            </a:r>
            <a:r>
              <a:rPr lang="en-US" altLang="zh-CN" sz="1800" dirty="0"/>
              <a:t>" can always serve to ensure that each intermediary has a chance to examine the header</a:t>
            </a:r>
          </a:p>
          <a:p>
            <a:pPr lvl="1">
              <a:lnSpc>
                <a:spcPct val="120000"/>
              </a:lnSpc>
              <a:defRPr/>
            </a:pPr>
            <a:r>
              <a:rPr lang="en-US" altLang="zh-CN" sz="1800" dirty="0"/>
              <a:t>The</a:t>
            </a:r>
            <a:r>
              <a:rPr lang="zh-CN" altLang="en-US" sz="1800" dirty="0"/>
              <a:t> </a:t>
            </a:r>
            <a:r>
              <a:rPr lang="en-US" altLang="zh-CN" sz="1800" dirty="0"/>
              <a:t>application designer can also define a custom role that allows </a:t>
            </a:r>
            <a:r>
              <a:rPr lang="en-US" altLang="zh-CN" sz="1800" dirty="0" err="1"/>
              <a:t>targetting</a:t>
            </a:r>
            <a:r>
              <a:rPr lang="en-US" altLang="zh-CN" sz="1800" dirty="0"/>
              <a:t> at specific intermediaries that assume this role</a:t>
            </a:r>
          </a:p>
        </p:txBody>
      </p:sp>
      <p:sp>
        <p:nvSpPr>
          <p:cNvPr id="29700" name="灯片编号占位符 3">
            <a:extLst>
              <a:ext uri="{FF2B5EF4-FFF2-40B4-BE49-F238E27FC236}">
                <a16:creationId xmlns:a16="http://schemas.microsoft.com/office/drawing/2014/main" id="{E39CF0AB-6BD5-4E6D-B57B-738CB8EB98B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14</a:t>
            </a:fld>
            <a:endParaRPr lang="en-US" altLang="zh-CN" sz="100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C6751BA2-ABC4-4515-993E-C3B8F33F1261}"/>
              </a:ext>
            </a:extLst>
          </p:cNvPr>
          <p:cNvSpPr>
            <a:spLocks noGrp="1"/>
          </p:cNvSpPr>
          <p:nvPr>
            <p:ph type="title"/>
          </p:nvPr>
        </p:nvSpPr>
        <p:spPr/>
        <p:txBody>
          <a:bodyPr>
            <a:normAutofit fontScale="90000"/>
          </a:bodyPr>
          <a:lstStyle/>
          <a:p>
            <a:r>
              <a:rPr lang="en-US" altLang="zh-CN" dirty="0"/>
              <a:t>The "relay" Attribute (3/3)</a:t>
            </a:r>
            <a:endParaRPr lang="zh-CN" altLang="en-US" dirty="0"/>
          </a:p>
        </p:txBody>
      </p:sp>
      <p:sp>
        <p:nvSpPr>
          <p:cNvPr id="31747" name="灯片编号占位符 3">
            <a:extLst>
              <a:ext uri="{FF2B5EF4-FFF2-40B4-BE49-F238E27FC236}">
                <a16:creationId xmlns:a16="http://schemas.microsoft.com/office/drawing/2014/main" id="{9317AC93-49D8-4315-90BF-4ABAFE2E7F0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0C3EFAFE-093D-4303-9D3F-B8864239B94A}" type="slidenum">
              <a:rPr lang="en-US" altLang="zh-CN" smtClean="0"/>
              <a:pPr/>
              <a:t>15</a:t>
            </a:fld>
            <a:endParaRPr lang="en-US" altLang="zh-CN" sz="1000"/>
          </a:p>
        </p:txBody>
      </p:sp>
      <p:sp>
        <p:nvSpPr>
          <p:cNvPr id="5" name="Text Box 4">
            <a:extLst>
              <a:ext uri="{FF2B5EF4-FFF2-40B4-BE49-F238E27FC236}">
                <a16:creationId xmlns:a16="http://schemas.microsoft.com/office/drawing/2014/main" id="{846AB687-52AD-4671-9E17-F5C04506B7F9}"/>
              </a:ext>
            </a:extLst>
          </p:cNvPr>
          <p:cNvSpPr txBox="1">
            <a:spLocks noChangeArrowheads="1"/>
          </p:cNvSpPr>
          <p:nvPr/>
        </p:nvSpPr>
        <p:spPr bwMode="auto">
          <a:xfrm>
            <a:off x="323528" y="1412776"/>
            <a:ext cx="8498656" cy="487518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xmlns:env</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p:oneBlock</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env:role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http://example.com/Log</a:t>
            </a:r>
            <a:r>
              <a:rPr lang="en-US" altLang="zh-CN" sz="1400" dirty="0">
                <a:solidFill>
                  <a:srgbClr val="0000FF"/>
                </a:solidFill>
                <a:highlight>
                  <a:srgbClr val="FFFFFF"/>
                </a:highlight>
                <a:latin typeface="Arial"/>
              </a:rPr>
              <a:t>" 	</a:t>
            </a:r>
            <a:r>
              <a:rPr lang="en-US" altLang="zh-CN" sz="1400" dirty="0" err="1">
                <a:solidFill>
                  <a:srgbClr val="FF0000"/>
                </a:solidFill>
                <a:highlight>
                  <a:srgbClr val="FFFFFF"/>
                </a:highlight>
                <a:latin typeface="Arial"/>
              </a:rPr>
              <a:t>env:mustUnderstand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true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p:oneBlock</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q:anotherBlock</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xmlns:q</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env:role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http://www.w3.org/2003/05/soap-envelope/role/next</a:t>
            </a:r>
            <a:r>
              <a:rPr lang="en-US" altLang="zh-CN" sz="1400" dirty="0">
                <a:solidFill>
                  <a:srgbClr val="0000FF"/>
                </a:solidFill>
                <a:highlight>
                  <a:srgbClr val="FFFFFF"/>
                </a:highlight>
                <a:latin typeface="Arial"/>
              </a:rPr>
              <a:t>" </a:t>
            </a:r>
            <a:r>
              <a:rPr lang="en-US" altLang="zh-CN" sz="1400" dirty="0" err="1">
                <a:solidFill>
                  <a:srgbClr val="FF0000"/>
                </a:solidFill>
                <a:highlight>
                  <a:srgbClr val="FFFFFF"/>
                </a:highlight>
                <a:latin typeface="Arial"/>
              </a:rPr>
              <a:t>env:relay</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true</a:t>
            </a:r>
            <a:r>
              <a:rPr lang="en-US" altLang="zh-CN" sz="1400" dirty="0">
                <a:solidFill>
                  <a:srgbClr val="0000FF"/>
                </a:solidFill>
                <a:highlight>
                  <a:srgbClr val="FFFFFF"/>
                </a:highlight>
                <a:latin typeface="Arial"/>
              </a:rPr>
              <a:t>"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q:anotherBlock</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r:aThirdBlock</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xmlns:r</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http://example.com</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r:aThirdBlock</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p:txBody>
      </p:sp>
      <p:sp>
        <p:nvSpPr>
          <p:cNvPr id="7" name="Line 6">
            <a:extLst>
              <a:ext uri="{FF2B5EF4-FFF2-40B4-BE49-F238E27FC236}">
                <a16:creationId xmlns:a16="http://schemas.microsoft.com/office/drawing/2014/main" id="{3F93CA0D-EA7D-4026-BA97-83BB8F341574}"/>
              </a:ext>
            </a:extLst>
          </p:cNvPr>
          <p:cNvSpPr>
            <a:spLocks noChangeShapeType="1"/>
          </p:cNvSpPr>
          <p:nvPr/>
        </p:nvSpPr>
        <p:spPr bwMode="auto">
          <a:xfrm flipH="1" flipV="1">
            <a:off x="3743325" y="3644900"/>
            <a:ext cx="1500188" cy="5619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Text Box 7">
            <a:extLst>
              <a:ext uri="{FF2B5EF4-FFF2-40B4-BE49-F238E27FC236}">
                <a16:creationId xmlns:a16="http://schemas.microsoft.com/office/drawing/2014/main" id="{7053B3E7-B947-493B-98AB-6B5DFEF9502B}"/>
              </a:ext>
            </a:extLst>
          </p:cNvPr>
          <p:cNvSpPr txBox="1">
            <a:spLocks noChangeArrowheads="1"/>
          </p:cNvSpPr>
          <p:nvPr/>
        </p:nvSpPr>
        <p:spPr bwMode="auto">
          <a:xfrm>
            <a:off x="5222875" y="3716338"/>
            <a:ext cx="3851275"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If understood by node, processing defined by application</a:t>
            </a:r>
          </a:p>
          <a:p>
            <a:pPr eaLnBrk="1" hangingPunct="1">
              <a:buFont typeface="Wingdings" panose="05000000000000000000" pitchFamily="2" charset="2"/>
              <a:buNone/>
            </a:pPr>
            <a:r>
              <a:rPr lang="en-US" altLang="zh-CN" sz="1800"/>
              <a:t>If not, it will be forwarded</a:t>
            </a:r>
          </a:p>
        </p:txBody>
      </p:sp>
      <p:sp>
        <p:nvSpPr>
          <p:cNvPr id="9" name="Line 6">
            <a:extLst>
              <a:ext uri="{FF2B5EF4-FFF2-40B4-BE49-F238E27FC236}">
                <a16:creationId xmlns:a16="http://schemas.microsoft.com/office/drawing/2014/main" id="{8967C70F-11E7-42E7-8365-755D6813C717}"/>
              </a:ext>
            </a:extLst>
          </p:cNvPr>
          <p:cNvSpPr>
            <a:spLocks noChangeShapeType="1"/>
          </p:cNvSpPr>
          <p:nvPr/>
        </p:nvSpPr>
        <p:spPr bwMode="auto">
          <a:xfrm flipH="1" flipV="1">
            <a:off x="3743325" y="2566988"/>
            <a:ext cx="1476375" cy="4000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7">
            <a:extLst>
              <a:ext uri="{FF2B5EF4-FFF2-40B4-BE49-F238E27FC236}">
                <a16:creationId xmlns:a16="http://schemas.microsoft.com/office/drawing/2014/main" id="{A4838C18-D574-449E-83E9-D378C358F0CB}"/>
              </a:ext>
            </a:extLst>
          </p:cNvPr>
          <p:cNvSpPr txBox="1">
            <a:spLocks noChangeArrowheads="1"/>
          </p:cNvSpPr>
          <p:nvPr/>
        </p:nvSpPr>
        <p:spPr bwMode="auto">
          <a:xfrm>
            <a:off x="5243513" y="2370138"/>
            <a:ext cx="4175125"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If understood by node, processing defined by application</a:t>
            </a:r>
          </a:p>
          <a:p>
            <a:pPr eaLnBrk="1" hangingPunct="1">
              <a:buFont typeface="Wingdings" panose="05000000000000000000" pitchFamily="2" charset="2"/>
              <a:buNone/>
            </a:pPr>
            <a:r>
              <a:rPr lang="en-US" altLang="zh-CN" sz="1800"/>
              <a:t>If not, a fault will be generated</a:t>
            </a:r>
          </a:p>
        </p:txBody>
      </p:sp>
      <p:sp>
        <p:nvSpPr>
          <p:cNvPr id="11" name="Line 6">
            <a:extLst>
              <a:ext uri="{FF2B5EF4-FFF2-40B4-BE49-F238E27FC236}">
                <a16:creationId xmlns:a16="http://schemas.microsoft.com/office/drawing/2014/main" id="{6087F55D-8512-49FC-8E35-C4899F67D38C}"/>
              </a:ext>
            </a:extLst>
          </p:cNvPr>
          <p:cNvSpPr>
            <a:spLocks noChangeShapeType="1"/>
          </p:cNvSpPr>
          <p:nvPr/>
        </p:nvSpPr>
        <p:spPr bwMode="auto">
          <a:xfrm flipH="1" flipV="1">
            <a:off x="2627313" y="4459288"/>
            <a:ext cx="1317625" cy="9144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7">
            <a:extLst>
              <a:ext uri="{FF2B5EF4-FFF2-40B4-BE49-F238E27FC236}">
                <a16:creationId xmlns:a16="http://schemas.microsoft.com/office/drawing/2014/main" id="{0FB1F926-A544-4648-8447-48C8770F8601}"/>
              </a:ext>
            </a:extLst>
          </p:cNvPr>
          <p:cNvSpPr txBox="1">
            <a:spLocks noChangeArrowheads="1"/>
          </p:cNvSpPr>
          <p:nvPr/>
        </p:nvSpPr>
        <p:spPr bwMode="auto">
          <a:xfrm>
            <a:off x="3962400" y="5256213"/>
            <a:ext cx="2447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For ultimate receiver?</a:t>
            </a:r>
          </a:p>
        </p:txBody>
      </p:sp>
      <p:sp>
        <p:nvSpPr>
          <p:cNvPr id="13" name="Text Box 7">
            <a:extLst>
              <a:ext uri="{FF2B5EF4-FFF2-40B4-BE49-F238E27FC236}">
                <a16:creationId xmlns:a16="http://schemas.microsoft.com/office/drawing/2014/main" id="{0AA86337-1CF2-437F-9165-4914B4F1E3BD}"/>
              </a:ext>
            </a:extLst>
          </p:cNvPr>
          <p:cNvSpPr txBox="1">
            <a:spLocks noChangeArrowheads="1"/>
          </p:cNvSpPr>
          <p:nvPr/>
        </p:nvSpPr>
        <p:spPr bwMode="auto">
          <a:xfrm>
            <a:off x="3962400" y="5580063"/>
            <a:ext cx="2447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It’s meaningless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24" presetID="3" presetClass="entr" presetSubtype="1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linds(horizontal)">
                                      <p:cBhvr>
                                        <p:cTn id="2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linds(horizontal)">
                                      <p:cBhvr>
                                        <p:cTn id="31"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F45E018B-3E8C-49F9-9B68-65F818E9148D}"/>
              </a:ext>
            </a:extLst>
          </p:cNvPr>
          <p:cNvSpPr>
            <a:spLocks noGrp="1"/>
          </p:cNvSpPr>
          <p:nvPr>
            <p:ph type="title"/>
          </p:nvPr>
        </p:nvSpPr>
        <p:spPr/>
        <p:txBody>
          <a:bodyPr>
            <a:normAutofit fontScale="90000"/>
          </a:bodyPr>
          <a:lstStyle/>
          <a:p>
            <a:r>
              <a:rPr lang="en-US" altLang="zh-CN" dirty="0"/>
              <a:t>Intermediaries in SOAP 1.2</a:t>
            </a:r>
            <a:endParaRPr lang="zh-CN" altLang="en-US" dirty="0"/>
          </a:p>
        </p:txBody>
      </p:sp>
      <p:sp>
        <p:nvSpPr>
          <p:cNvPr id="3" name="内容占位符 2">
            <a:extLst>
              <a:ext uri="{FF2B5EF4-FFF2-40B4-BE49-F238E27FC236}">
                <a16:creationId xmlns:a16="http://schemas.microsoft.com/office/drawing/2014/main" id="{530AA1FC-313F-4931-8846-170C9DACAA12}"/>
              </a:ext>
            </a:extLst>
          </p:cNvPr>
          <p:cNvSpPr>
            <a:spLocks noGrp="1"/>
          </p:cNvSpPr>
          <p:nvPr>
            <p:ph idx="1"/>
          </p:nvPr>
        </p:nvSpPr>
        <p:spPr/>
        <p:txBody>
          <a:bodyPr>
            <a:normAutofit lnSpcReduction="10000"/>
          </a:bodyPr>
          <a:lstStyle/>
          <a:p>
            <a:pPr>
              <a:defRPr/>
            </a:pPr>
            <a:r>
              <a:rPr lang="en-US" altLang="zh-CN" sz="2000" dirty="0"/>
              <a:t>A </a:t>
            </a:r>
            <a:r>
              <a:rPr lang="en-US" altLang="zh-CN" sz="2000" dirty="0">
                <a:hlinkClick r:id="rId3"/>
              </a:rPr>
              <a:t>forwarding intermediary</a:t>
            </a:r>
            <a:r>
              <a:rPr lang="en-US" altLang="zh-CN" sz="2000" dirty="0"/>
              <a:t> is a SOAP node, which based on the semantics of a header block in a received SOAP message or based on the MEP in use, forwards the SOAP message to another SOAP node</a:t>
            </a:r>
          </a:p>
          <a:p>
            <a:pPr lvl="1">
              <a:defRPr/>
            </a:pPr>
            <a:r>
              <a:rPr lang="en-US" altLang="zh-CN" sz="1700" dirty="0"/>
              <a:t>e.	g. processing a "routing" header block in an incoming SOAP message may dictate that it be forwarded to another SOAP node identified by data in that header block</a:t>
            </a:r>
          </a:p>
          <a:p>
            <a:pPr lvl="1">
              <a:defRPr/>
            </a:pPr>
            <a:r>
              <a:rPr lang="en-US" altLang="zh-CN" sz="1700" dirty="0"/>
              <a:t>The format of the SOAP header of the outbound SOAP message, i.e., the placement of inserted or reinserted header blocks, is determined by the overall processing at this forwarding intermediary based on the semantics of the processed header blocks</a:t>
            </a:r>
          </a:p>
          <a:p>
            <a:pPr>
              <a:defRPr/>
            </a:pPr>
            <a:r>
              <a:rPr lang="en-US" altLang="zh-CN" sz="2000" dirty="0"/>
              <a:t>An </a:t>
            </a:r>
            <a:r>
              <a:rPr lang="en-US" altLang="zh-CN" sz="2000" dirty="0">
                <a:hlinkClick r:id="rId4"/>
              </a:rPr>
              <a:t>active intermediary</a:t>
            </a:r>
            <a:r>
              <a:rPr lang="en-US" altLang="zh-CN" sz="2000" dirty="0"/>
              <a:t> is one that does additional processing on an incoming SOAP message before forwarding the message using criteria that are not described by incoming header blocks, or by the MEP in use</a:t>
            </a:r>
          </a:p>
          <a:p>
            <a:pPr lvl="1">
              <a:defRPr/>
            </a:pPr>
            <a:r>
              <a:rPr lang="en-US" altLang="zh-CN" sz="1700" dirty="0"/>
              <a:t>e.g. encrypting some parts of a SOAP message and providing the information on the cipher key in a header block</a:t>
            </a:r>
          </a:p>
          <a:p>
            <a:pPr lvl="1">
              <a:defRPr/>
            </a:pPr>
            <a:r>
              <a:rPr lang="en-US" altLang="zh-CN" sz="1700" dirty="0"/>
              <a:t>Including some additional information in a new header block in the outbound message providing a timestamp or an annotation</a:t>
            </a:r>
          </a:p>
        </p:txBody>
      </p:sp>
      <p:sp>
        <p:nvSpPr>
          <p:cNvPr id="6148" name="灯片编号占位符 3">
            <a:extLst>
              <a:ext uri="{FF2B5EF4-FFF2-40B4-BE49-F238E27FC236}">
                <a16:creationId xmlns:a16="http://schemas.microsoft.com/office/drawing/2014/main" id="{E04301C2-6FCC-4301-AE3D-2A727EA1C9E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611A8F04-B697-431F-A8DB-08061C77CBD6}" type="slidenum">
              <a:rPr lang="en-US" altLang="zh-CN" smtClean="0"/>
              <a:pPr/>
              <a:t>16</a:t>
            </a:fld>
            <a:endParaRPr lang="en-US" altLang="zh-CN" sz="100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D363F957-60F3-4D22-82EB-DA3640EB120E}"/>
              </a:ext>
            </a:extLst>
          </p:cNvPr>
          <p:cNvSpPr>
            <a:spLocks noGrp="1"/>
          </p:cNvSpPr>
          <p:nvPr>
            <p:ph type="title"/>
          </p:nvPr>
        </p:nvSpPr>
        <p:spPr/>
        <p:txBody>
          <a:bodyPr>
            <a:normAutofit/>
          </a:bodyPr>
          <a:lstStyle/>
          <a:p>
            <a:r>
              <a:rPr lang="en-US" altLang="zh-CN" sz="2900" dirty="0"/>
              <a:t>Active intermediary Operation </a:t>
            </a:r>
            <a:endParaRPr lang="zh-CN" altLang="en-US" sz="2900" dirty="0"/>
          </a:p>
        </p:txBody>
      </p:sp>
      <p:sp>
        <p:nvSpPr>
          <p:cNvPr id="3" name="内容占位符 2">
            <a:extLst>
              <a:ext uri="{FF2B5EF4-FFF2-40B4-BE49-F238E27FC236}">
                <a16:creationId xmlns:a16="http://schemas.microsoft.com/office/drawing/2014/main" id="{0FE7FC72-4FDD-49C6-B3F8-4D38CB021E3F}"/>
              </a:ext>
            </a:extLst>
          </p:cNvPr>
          <p:cNvSpPr>
            <a:spLocks noGrp="1"/>
          </p:cNvSpPr>
          <p:nvPr>
            <p:ph idx="1"/>
          </p:nvPr>
        </p:nvSpPr>
        <p:spPr/>
        <p:txBody>
          <a:bodyPr>
            <a:normAutofit fontScale="92500" lnSpcReduction="20000"/>
          </a:bodyPr>
          <a:lstStyle/>
          <a:p>
            <a:pPr>
              <a:lnSpc>
                <a:spcPct val="120000"/>
              </a:lnSpc>
              <a:defRPr/>
            </a:pPr>
            <a:r>
              <a:rPr lang="en-US" altLang="zh-CN" sz="2400" dirty="0"/>
              <a:t>An active intermediary can describe the modifications performed on a message, by inserting header blocks into the outbound SOAP message</a:t>
            </a:r>
          </a:p>
          <a:p>
            <a:pPr>
              <a:lnSpc>
                <a:spcPct val="120000"/>
              </a:lnSpc>
              <a:defRPr/>
            </a:pPr>
            <a:r>
              <a:rPr lang="en-US" altLang="zh-CN" sz="2400" dirty="0"/>
              <a:t>These header blocks can inform downstream SOAP nodes acting in roles whose correct operation depends on receiving such notification</a:t>
            </a:r>
          </a:p>
          <a:p>
            <a:pPr>
              <a:lnSpc>
                <a:spcPct val="120000"/>
              </a:lnSpc>
              <a:defRPr/>
            </a:pPr>
            <a:r>
              <a:rPr lang="en-US" altLang="zh-CN" sz="2400" dirty="0"/>
              <a:t>In this case, the semantics of such inserted header blocks should also call for either the same or other header blocks to be (re)inserted at subsequent intermediaries as necessary to ensure that the message can be safely processed by nodes yet further downstream</a:t>
            </a:r>
          </a:p>
          <a:p>
            <a:pPr lvl="1">
              <a:lnSpc>
                <a:spcPct val="120000"/>
              </a:lnSpc>
              <a:defRPr/>
            </a:pPr>
            <a:r>
              <a:rPr lang="en-US" altLang="zh-CN" sz="1900" dirty="0"/>
              <a:t>For example, if a message with header blocks removed for encryption passes through a second intermediary (without the original header blocks being decrypted and reconstructed), then indication that the encryption has occurred must be retained in the second relayed message</a:t>
            </a:r>
          </a:p>
        </p:txBody>
      </p:sp>
      <p:sp>
        <p:nvSpPr>
          <p:cNvPr id="8196" name="灯片编号占位符 3">
            <a:extLst>
              <a:ext uri="{FF2B5EF4-FFF2-40B4-BE49-F238E27FC236}">
                <a16:creationId xmlns:a16="http://schemas.microsoft.com/office/drawing/2014/main" id="{4491DA97-A441-40F5-A195-0527F4E8A29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611A8F04-B697-431F-A8DB-08061C77CBD6}" type="slidenum">
              <a:rPr lang="en-US" altLang="zh-CN" smtClean="0"/>
              <a:pPr/>
              <a:t>17</a:t>
            </a:fld>
            <a:endParaRPr lang="en-US" altLang="zh-CN" sz="10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1B06C496-0F39-4DAB-B4A5-15E0EC5BD154}"/>
              </a:ext>
            </a:extLst>
          </p:cNvPr>
          <p:cNvSpPr>
            <a:spLocks noGrp="1"/>
          </p:cNvSpPr>
          <p:nvPr>
            <p:ph type="title"/>
          </p:nvPr>
        </p:nvSpPr>
        <p:spPr/>
        <p:txBody>
          <a:bodyPr>
            <a:normAutofit fontScale="90000"/>
          </a:bodyPr>
          <a:lstStyle/>
          <a:p>
            <a:r>
              <a:rPr lang="en-US" altLang="zh-CN" dirty="0"/>
              <a:t>Using SOAP Intermediaries (1/3)</a:t>
            </a:r>
            <a:endParaRPr lang="zh-CN" altLang="en-US" dirty="0"/>
          </a:p>
        </p:txBody>
      </p:sp>
      <p:sp>
        <p:nvSpPr>
          <p:cNvPr id="3" name="内容占位符 2">
            <a:extLst>
              <a:ext uri="{FF2B5EF4-FFF2-40B4-BE49-F238E27FC236}">
                <a16:creationId xmlns:a16="http://schemas.microsoft.com/office/drawing/2014/main" id="{F8CC33BD-9AF5-4CEE-B672-B8D82759E58D}"/>
              </a:ext>
            </a:extLst>
          </p:cNvPr>
          <p:cNvSpPr>
            <a:spLocks noGrp="1"/>
          </p:cNvSpPr>
          <p:nvPr>
            <p:ph idx="1"/>
          </p:nvPr>
        </p:nvSpPr>
        <p:spPr/>
        <p:txBody>
          <a:bodyPr>
            <a:normAutofit fontScale="70000" lnSpcReduction="20000"/>
          </a:bodyPr>
          <a:lstStyle/>
          <a:p>
            <a:pPr>
              <a:lnSpc>
                <a:spcPct val="120000"/>
              </a:lnSpc>
              <a:defRPr/>
            </a:pPr>
            <a:r>
              <a:rPr lang="en-US" altLang="zh-CN" dirty="0"/>
              <a:t>In the following example, SOAP nodes are introduced in the message path</a:t>
            </a:r>
          </a:p>
          <a:p>
            <a:pPr lvl="1">
              <a:lnSpc>
                <a:spcPct val="120000"/>
              </a:lnSpc>
              <a:defRPr/>
            </a:pPr>
            <a:r>
              <a:rPr lang="en-US" altLang="zh-CN" dirty="0"/>
              <a:t>The </a:t>
            </a:r>
            <a:r>
              <a:rPr lang="en-US" altLang="zh-CN" dirty="0">
                <a:hlinkClick r:id="rId3"/>
              </a:rPr>
              <a:t>forwarding intermediary</a:t>
            </a:r>
            <a:r>
              <a:rPr lang="en-US" altLang="zh-CN" dirty="0"/>
              <a:t> may log all travel requests for off-line review by a corporate travel office</a:t>
            </a:r>
          </a:p>
          <a:p>
            <a:pPr lvl="2">
              <a:lnSpc>
                <a:spcPct val="120000"/>
              </a:lnSpc>
              <a:defRPr/>
            </a:pPr>
            <a:r>
              <a:rPr lang="en-US" altLang="zh-CN" dirty="0"/>
              <a:t>A logging specification for such header blocks might simply require that various details of the message be recorded at every node that receives such a message, and that the message be relayed along the message path unchanged</a:t>
            </a:r>
          </a:p>
          <a:p>
            <a:pPr lvl="2">
              <a:lnSpc>
                <a:spcPct val="120000"/>
              </a:lnSpc>
              <a:defRPr/>
            </a:pPr>
            <a:r>
              <a:rPr lang="en-US" altLang="zh-CN" dirty="0"/>
              <a:t>Note that the specifications of the header blocks must require that the same header blocks be reinserted in the outbound message, because otherwise, the SOAP processing model would require that they be removed</a:t>
            </a:r>
          </a:p>
          <a:p>
            <a:pPr lvl="1">
              <a:lnSpc>
                <a:spcPct val="120000"/>
              </a:lnSpc>
              <a:defRPr/>
            </a:pPr>
            <a:r>
              <a:rPr lang="en-US" altLang="zh-CN" dirty="0"/>
              <a:t>The </a:t>
            </a:r>
            <a:r>
              <a:rPr lang="en-US" altLang="zh-CN" dirty="0">
                <a:hlinkClick r:id="rId4"/>
              </a:rPr>
              <a:t>active intermediary</a:t>
            </a:r>
            <a:r>
              <a:rPr lang="en-US" altLang="zh-CN" dirty="0"/>
              <a:t> (a corporate travel application) insert an additional header block, intended for the ultimate recipient which includes information that qualifies the application-level processing of this travel request</a:t>
            </a:r>
          </a:p>
        </p:txBody>
      </p:sp>
      <p:sp>
        <p:nvSpPr>
          <p:cNvPr id="10244" name="灯片编号占位符 3">
            <a:extLst>
              <a:ext uri="{FF2B5EF4-FFF2-40B4-BE49-F238E27FC236}">
                <a16:creationId xmlns:a16="http://schemas.microsoft.com/office/drawing/2014/main" id="{C1E654CC-7F6D-4A90-9B4A-51BB503E047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611A8F04-B697-431F-A8DB-08061C77CBD6}" type="slidenum">
              <a:rPr lang="en-US" altLang="zh-CN" smtClean="0"/>
              <a:pPr/>
              <a:t>18</a:t>
            </a:fld>
            <a:endParaRPr lang="en-US" altLang="zh-CN" sz="100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AC398A1F-F29B-4C3B-BC2F-02B19D54F92B}"/>
              </a:ext>
            </a:extLst>
          </p:cNvPr>
          <p:cNvSpPr>
            <a:spLocks noGrp="1"/>
          </p:cNvSpPr>
          <p:nvPr>
            <p:ph type="title"/>
          </p:nvPr>
        </p:nvSpPr>
        <p:spPr/>
        <p:txBody>
          <a:bodyPr>
            <a:normAutofit fontScale="90000"/>
          </a:bodyPr>
          <a:lstStyle/>
          <a:p>
            <a:r>
              <a:rPr lang="en-US" altLang="zh-CN" dirty="0"/>
              <a:t>Using SOAP Intermediaries (2/3)</a:t>
            </a:r>
            <a:endParaRPr lang="zh-CN" altLang="en-US" dirty="0"/>
          </a:p>
        </p:txBody>
      </p:sp>
      <p:sp>
        <p:nvSpPr>
          <p:cNvPr id="12291" name="灯片编号占位符 3">
            <a:extLst>
              <a:ext uri="{FF2B5EF4-FFF2-40B4-BE49-F238E27FC236}">
                <a16:creationId xmlns:a16="http://schemas.microsoft.com/office/drawing/2014/main" id="{063105A7-CC4C-41FD-B66C-B5BF1BFCAA3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611A8F04-B697-431F-A8DB-08061C77CBD6}" type="slidenum">
              <a:rPr lang="en-US" altLang="zh-CN" smtClean="0"/>
              <a:pPr/>
              <a:t>19</a:t>
            </a:fld>
            <a:endParaRPr lang="en-US" altLang="zh-CN" sz="1000"/>
          </a:p>
        </p:txBody>
      </p:sp>
      <p:sp>
        <p:nvSpPr>
          <p:cNvPr id="5" name="Text Box 4">
            <a:extLst>
              <a:ext uri="{FF2B5EF4-FFF2-40B4-BE49-F238E27FC236}">
                <a16:creationId xmlns:a16="http://schemas.microsoft.com/office/drawing/2014/main" id="{4789C0D8-EA31-4BD8-B6C5-8B6BCC281E81}"/>
              </a:ext>
            </a:extLst>
          </p:cNvPr>
          <p:cNvSpPr txBox="1">
            <a:spLocks noGrp="1" noChangeArrowheads="1"/>
          </p:cNvSpPr>
          <p:nvPr>
            <p:ph idx="1"/>
          </p:nvPr>
        </p:nvSpPr>
        <p:spPr>
          <a:xfrm>
            <a:off x="251520" y="1484784"/>
            <a:ext cx="8712968" cy="5152180"/>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200" dirty="0">
                <a:solidFill>
                  <a:srgbClr val="008080"/>
                </a:solidFill>
                <a:highlight>
                  <a:srgbClr val="FFFFFF"/>
                </a:highlight>
              </a:rPr>
              <a:t>&lt;?xml version='1.0' ?&gt;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env:Envelope</a:t>
            </a: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xmlns:env</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http://www.w3.org/2003/05/soap-envelope</a:t>
            </a:r>
            <a:r>
              <a:rPr lang="en-US" altLang="zh-CN" sz="1200" dirty="0">
                <a:solidFill>
                  <a:srgbClr val="0000FF"/>
                </a:solidFill>
                <a:highlight>
                  <a:srgbClr val="FFFFFF"/>
                </a:highlight>
              </a:rPr>
              <a:t>"&gt;</a:t>
            </a:r>
            <a:r>
              <a:rPr lang="en-US" altLang="zh-CN" sz="1200" dirty="0">
                <a:solidFill>
                  <a:srgbClr val="000000"/>
                </a:solidFill>
                <a:highlight>
                  <a:srgbClr val="FFFFFF"/>
                </a:highlight>
              </a:rPr>
              <a:t> </a:t>
            </a: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env:Header</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m:reservation</a:t>
            </a: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xmlns:m</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http://travelcompany.example.org/reservation</a:t>
            </a:r>
            <a:r>
              <a:rPr lang="en-US" altLang="zh-CN" sz="1200" dirty="0">
                <a:solidFill>
                  <a:srgbClr val="0000FF"/>
                </a:solidFill>
                <a:highlight>
                  <a:srgbClr val="FFFFFF"/>
                </a:highlight>
              </a:rPr>
              <a:t>"</a:t>
            </a:r>
            <a:r>
              <a:rPr lang="en-US" altLang="zh-CN" sz="1200" dirty="0">
                <a:solidFill>
                  <a:srgbClr val="FF0000"/>
                </a:solidFill>
                <a:highlight>
                  <a:srgbClr val="FFFFFF"/>
                </a:highlight>
              </a:rPr>
              <a:t> </a:t>
            </a: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env:role</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http://www.w3.org/2003/05/soap-envelope/role/next</a:t>
            </a:r>
            <a:r>
              <a:rPr lang="en-US" altLang="zh-CN" sz="1200" dirty="0">
                <a:solidFill>
                  <a:srgbClr val="0000FF"/>
                </a:solidFill>
                <a:highlight>
                  <a:srgbClr val="FFFFFF"/>
                </a:highlight>
              </a:rPr>
              <a:t>"</a:t>
            </a:r>
            <a:endParaRPr lang="en-US" altLang="zh-CN" sz="1200" dirty="0">
              <a:solidFill>
                <a:srgbClr val="FF0000"/>
              </a:solidFill>
              <a:highlight>
                <a:srgbClr val="FFFFFF"/>
              </a:highlight>
            </a:endParaRP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env:mustUnderstand</a:t>
            </a:r>
            <a:r>
              <a:rPr lang="en-US" altLang="zh-CN" sz="1200" dirty="0">
                <a:solidFill>
                  <a:srgbClr val="0000FF"/>
                </a:solidFill>
                <a:highlight>
                  <a:srgbClr val="FFFFFF"/>
                </a:highlight>
              </a:rPr>
              <a:t>="</a:t>
            </a:r>
            <a:r>
              <a:rPr lang="en-US" altLang="zh-CN" sz="1200" dirty="0">
                <a:solidFill>
                  <a:srgbClr val="000000"/>
                </a:solidFill>
                <a:highlight>
                  <a:srgbClr val="FFFFFF"/>
                </a:highlight>
              </a:rPr>
              <a:t>true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m:reference</a:t>
            </a:r>
            <a:r>
              <a:rPr lang="en-US" altLang="zh-CN" sz="1200" dirty="0">
                <a:solidFill>
                  <a:srgbClr val="0000FF"/>
                </a:solidFill>
                <a:highlight>
                  <a:srgbClr val="FFFFFF"/>
                </a:highlight>
              </a:rPr>
              <a:t>&gt;</a:t>
            </a:r>
            <a:r>
              <a:rPr lang="en-US" altLang="zh-CN" sz="1200" dirty="0">
                <a:solidFill>
                  <a:srgbClr val="000000"/>
                </a:solidFill>
                <a:highlight>
                  <a:srgbClr val="FFFFFF"/>
                </a:highlight>
              </a:rPr>
              <a:t>uuid:093a2da1-q345-739r-ba5d-pqff98fe8j7d</a:t>
            </a:r>
            <a:r>
              <a:rPr lang="en-US" altLang="zh-CN" sz="1200" dirty="0">
                <a:solidFill>
                  <a:srgbClr val="0000FF"/>
                </a:solidFill>
                <a:highlight>
                  <a:srgbClr val="FFFFFF"/>
                </a:highlight>
              </a:rPr>
              <a:t>&lt;/</a:t>
            </a:r>
            <a:r>
              <a:rPr lang="en-US" altLang="zh-CN" sz="1200" dirty="0">
                <a:solidFill>
                  <a:srgbClr val="800000"/>
                </a:solidFill>
                <a:highlight>
                  <a:srgbClr val="FFFFFF"/>
                </a:highlight>
              </a:rPr>
              <a:t>m:reference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m:dateAndTime</a:t>
            </a:r>
            <a:r>
              <a:rPr lang="en-US" altLang="zh-CN" sz="1200" dirty="0">
                <a:solidFill>
                  <a:srgbClr val="0000FF"/>
                </a:solidFill>
                <a:highlight>
                  <a:srgbClr val="FFFFFF"/>
                </a:highlight>
              </a:rPr>
              <a:t>&gt;</a:t>
            </a:r>
            <a:r>
              <a:rPr lang="en-US" altLang="zh-CN" sz="1200" dirty="0">
                <a:solidFill>
                  <a:srgbClr val="000000"/>
                </a:solidFill>
                <a:highlight>
                  <a:srgbClr val="FFFFFF"/>
                </a:highlight>
              </a:rPr>
              <a:t>2001-11-29T13:20:00.000-05:00</a:t>
            </a:r>
            <a:r>
              <a:rPr lang="en-US" altLang="zh-CN" sz="1200" dirty="0">
                <a:solidFill>
                  <a:srgbClr val="0000FF"/>
                </a:solidFill>
                <a:highlight>
                  <a:srgbClr val="FFFFFF"/>
                </a:highlight>
              </a:rPr>
              <a:t>&lt;/</a:t>
            </a:r>
            <a:r>
              <a:rPr lang="en-US" altLang="zh-CN" sz="1200" dirty="0">
                <a:solidFill>
                  <a:srgbClr val="800000"/>
                </a:solidFill>
                <a:highlight>
                  <a:srgbClr val="FFFFFF"/>
                </a:highlight>
              </a:rPr>
              <a:t>m:dateAndTime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m:reservation</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n:passenger</a:t>
            </a: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xmlns:n</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http://mycompany.example.com/employees</a:t>
            </a:r>
            <a:r>
              <a:rPr lang="en-US" altLang="zh-CN" sz="1200" dirty="0">
                <a:solidFill>
                  <a:srgbClr val="0000FF"/>
                </a:solidFill>
                <a:highlight>
                  <a:srgbClr val="FFFFFF"/>
                </a:highlight>
              </a:rPr>
              <a:t>"</a:t>
            </a:r>
            <a:endParaRPr lang="en-US" altLang="zh-CN" sz="1200" dirty="0">
              <a:solidFill>
                <a:srgbClr val="FF0000"/>
              </a:solidFill>
              <a:highlight>
                <a:srgbClr val="FFFFFF"/>
              </a:highlight>
            </a:endParaRP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env:role</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http://www.w3.org/2003/05/soap-envelope/role/next</a:t>
            </a:r>
            <a:r>
              <a:rPr lang="en-US" altLang="zh-CN" sz="1200" dirty="0">
                <a:solidFill>
                  <a:srgbClr val="0000FF"/>
                </a:solidFill>
                <a:highlight>
                  <a:srgbClr val="FFFFFF"/>
                </a:highlight>
              </a:rPr>
              <a:t>"</a:t>
            </a:r>
            <a:endParaRPr lang="en-US" altLang="zh-CN" sz="1200" dirty="0">
              <a:solidFill>
                <a:srgbClr val="FF0000"/>
              </a:solidFill>
              <a:highlight>
                <a:srgbClr val="FFFFFF"/>
              </a:highlight>
            </a:endParaRP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env:mustUnderstand</a:t>
            </a:r>
            <a:r>
              <a:rPr lang="en-US" altLang="zh-CN" sz="1200" dirty="0">
                <a:solidFill>
                  <a:srgbClr val="0000FF"/>
                </a:solidFill>
                <a:highlight>
                  <a:srgbClr val="FFFFFF"/>
                </a:highlight>
              </a:rPr>
              <a:t>="</a:t>
            </a:r>
            <a:r>
              <a:rPr lang="en-US" altLang="zh-CN" sz="1200" dirty="0">
                <a:solidFill>
                  <a:srgbClr val="000000"/>
                </a:solidFill>
                <a:highlight>
                  <a:srgbClr val="FFFFFF"/>
                </a:highlight>
              </a:rPr>
              <a:t>true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n:name</a:t>
            </a:r>
            <a:r>
              <a:rPr lang="en-US" altLang="zh-CN" sz="1200" dirty="0">
                <a:solidFill>
                  <a:srgbClr val="0000FF"/>
                </a:solidFill>
                <a:highlight>
                  <a:srgbClr val="FFFFFF"/>
                </a:highlight>
              </a:rPr>
              <a:t>&gt;</a:t>
            </a:r>
            <a:r>
              <a:rPr lang="en-US" altLang="zh-CN" sz="1200" dirty="0" err="1">
                <a:solidFill>
                  <a:srgbClr val="000000"/>
                </a:solidFill>
                <a:highlight>
                  <a:srgbClr val="FFFFFF"/>
                </a:highlight>
              </a:rPr>
              <a:t>Åke</a:t>
            </a:r>
            <a:r>
              <a:rPr lang="en-US" altLang="zh-CN" sz="1200" dirty="0">
                <a:solidFill>
                  <a:srgbClr val="000000"/>
                </a:solidFill>
                <a:highlight>
                  <a:srgbClr val="FFFFFF"/>
                </a:highlight>
              </a:rPr>
              <a:t> </a:t>
            </a:r>
            <a:r>
              <a:rPr lang="en-US" altLang="zh-CN" sz="1200" dirty="0" err="1">
                <a:solidFill>
                  <a:srgbClr val="000000"/>
                </a:solidFill>
                <a:highlight>
                  <a:srgbClr val="FFFFFF"/>
                </a:highlight>
              </a:rPr>
              <a:t>Jógvan</a:t>
            </a:r>
            <a:r>
              <a:rPr lang="en-US" altLang="zh-CN" sz="1200" dirty="0">
                <a:solidFill>
                  <a:srgbClr val="000000"/>
                </a:solidFill>
                <a:highlight>
                  <a:srgbClr val="FFFFFF"/>
                </a:highlight>
              </a:rPr>
              <a:t> </a:t>
            </a:r>
            <a:r>
              <a:rPr lang="en-US" altLang="zh-CN" sz="1200" dirty="0" err="1">
                <a:solidFill>
                  <a:srgbClr val="000000"/>
                </a:solidFill>
                <a:highlight>
                  <a:srgbClr val="FFFFFF"/>
                </a:highlight>
              </a:rPr>
              <a:t>Øyvind</a:t>
            </a:r>
            <a:r>
              <a:rPr lang="en-US" altLang="zh-CN" sz="1200" dirty="0">
                <a:solidFill>
                  <a:srgbClr val="0000FF"/>
                </a:solidFill>
                <a:highlight>
                  <a:srgbClr val="FFFFFF"/>
                </a:highlight>
              </a:rPr>
              <a:t>&lt;/</a:t>
            </a:r>
            <a:r>
              <a:rPr lang="en-US" altLang="zh-CN" sz="1200" dirty="0">
                <a:solidFill>
                  <a:srgbClr val="800000"/>
                </a:solidFill>
                <a:highlight>
                  <a:srgbClr val="FFFFFF"/>
                </a:highlight>
              </a:rPr>
              <a:t>n:name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n:passenger</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z:travelPolicy</a:t>
            </a:r>
            <a:r>
              <a:rPr lang="en-US" altLang="zh-CN" sz="1200" dirty="0">
                <a:solidFill>
                  <a:srgbClr val="FF0000"/>
                </a:solidFill>
                <a:highlight>
                  <a:srgbClr val="FFFFFF"/>
                </a:highlight>
              </a:rPr>
              <a:t> </a:t>
            </a: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xmlns:z</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http://mycompany.example.com/policies</a:t>
            </a:r>
            <a:r>
              <a:rPr lang="en-US" altLang="zh-CN" sz="1200" dirty="0">
                <a:solidFill>
                  <a:srgbClr val="0000FF"/>
                </a:solidFill>
                <a:highlight>
                  <a:srgbClr val="FFFFFF"/>
                </a:highlight>
              </a:rPr>
              <a:t>"</a:t>
            </a:r>
            <a:r>
              <a:rPr lang="en-US" altLang="zh-CN" sz="1200" dirty="0">
                <a:solidFill>
                  <a:srgbClr val="FF0000"/>
                </a:solidFill>
                <a:highlight>
                  <a:srgbClr val="FFFFFF"/>
                </a:highlight>
              </a:rPr>
              <a:t> </a:t>
            </a: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env:mustUnderstand</a:t>
            </a:r>
            <a:r>
              <a:rPr lang="en-US" altLang="zh-CN" sz="1200" dirty="0">
                <a:solidFill>
                  <a:srgbClr val="0000FF"/>
                </a:solidFill>
                <a:highlight>
                  <a:srgbClr val="FFFFFF"/>
                </a:highlight>
              </a:rPr>
              <a:t>="</a:t>
            </a:r>
            <a:r>
              <a:rPr lang="en-US" altLang="zh-CN" sz="1200" dirty="0">
                <a:solidFill>
                  <a:srgbClr val="000000"/>
                </a:solidFill>
                <a:highlight>
                  <a:srgbClr val="FFFFFF"/>
                </a:highlight>
              </a:rPr>
              <a:t>true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z:class</a:t>
            </a:r>
            <a:r>
              <a:rPr lang="en-US" altLang="zh-CN" sz="1200" dirty="0">
                <a:solidFill>
                  <a:srgbClr val="0000FF"/>
                </a:solidFill>
                <a:highlight>
                  <a:srgbClr val="FFFFFF"/>
                </a:highlight>
              </a:rPr>
              <a:t>&gt;</a:t>
            </a:r>
            <a:r>
              <a:rPr lang="en-US" altLang="zh-CN" sz="1200" dirty="0">
                <a:solidFill>
                  <a:srgbClr val="000000"/>
                </a:solidFill>
                <a:highlight>
                  <a:srgbClr val="FFFFFF"/>
                </a:highlight>
              </a:rPr>
              <a:t>economy</a:t>
            </a:r>
            <a:r>
              <a:rPr lang="en-US" altLang="zh-CN" sz="1200" dirty="0">
                <a:solidFill>
                  <a:srgbClr val="0000FF"/>
                </a:solidFill>
                <a:highlight>
                  <a:srgbClr val="FFFFFF"/>
                </a:highlight>
              </a:rPr>
              <a:t>&lt;/</a:t>
            </a:r>
            <a:r>
              <a:rPr lang="en-US" altLang="zh-CN" sz="1200" dirty="0">
                <a:solidFill>
                  <a:srgbClr val="800000"/>
                </a:solidFill>
                <a:highlight>
                  <a:srgbClr val="FFFFFF"/>
                </a:highlight>
              </a:rPr>
              <a:t>z:class</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z:fareBasis</a:t>
            </a:r>
            <a:r>
              <a:rPr lang="en-US" altLang="zh-CN" sz="1200" dirty="0">
                <a:solidFill>
                  <a:srgbClr val="0000FF"/>
                </a:solidFill>
                <a:highlight>
                  <a:srgbClr val="FFFFFF"/>
                </a:highlight>
              </a:rPr>
              <a:t>&gt;</a:t>
            </a:r>
            <a:r>
              <a:rPr lang="en-US" altLang="zh-CN" sz="1200" dirty="0">
                <a:solidFill>
                  <a:srgbClr val="000000"/>
                </a:solidFill>
                <a:highlight>
                  <a:srgbClr val="FFFFFF"/>
                </a:highlight>
              </a:rPr>
              <a:t>non-refundable</a:t>
            </a:r>
            <a:r>
              <a:rPr lang="en-US" altLang="zh-CN" sz="1200" dirty="0">
                <a:solidFill>
                  <a:srgbClr val="0000FF"/>
                </a:solidFill>
                <a:highlight>
                  <a:srgbClr val="FFFFFF"/>
                </a:highlight>
              </a:rPr>
              <a:t>&lt;</a:t>
            </a:r>
            <a:r>
              <a:rPr lang="en-US" altLang="zh-CN" sz="1200" dirty="0">
                <a:solidFill>
                  <a:srgbClr val="800000"/>
                </a:solidFill>
                <a:highlight>
                  <a:srgbClr val="FFFFFF"/>
                </a:highlight>
              </a:rPr>
              <a:t>z:fareBasis</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z:exceptions</a:t>
            </a:r>
            <a:r>
              <a:rPr lang="en-US" altLang="zh-CN" sz="1200" dirty="0">
                <a:solidFill>
                  <a:srgbClr val="0000FF"/>
                </a:solidFill>
                <a:highlight>
                  <a:srgbClr val="FFFFFF"/>
                </a:highlight>
              </a:rPr>
              <a:t>&gt;</a:t>
            </a:r>
            <a:r>
              <a:rPr lang="en-US" altLang="zh-CN" sz="1200" dirty="0">
                <a:solidFill>
                  <a:srgbClr val="000000"/>
                </a:solidFill>
                <a:highlight>
                  <a:srgbClr val="FFFFFF"/>
                </a:highlight>
              </a:rPr>
              <a:t>none</a:t>
            </a:r>
            <a:r>
              <a:rPr lang="en-US" altLang="zh-CN" sz="1200" dirty="0">
                <a:solidFill>
                  <a:srgbClr val="0000FF"/>
                </a:solidFill>
                <a:highlight>
                  <a:srgbClr val="FFFFFF"/>
                </a:highlight>
              </a:rPr>
              <a:t>&lt;/</a:t>
            </a:r>
            <a:r>
              <a:rPr lang="en-US" altLang="zh-CN" sz="1200" dirty="0">
                <a:solidFill>
                  <a:srgbClr val="800000"/>
                </a:solidFill>
                <a:highlight>
                  <a:srgbClr val="FFFFFF"/>
                </a:highlight>
              </a:rPr>
              <a:t>z:exceptions</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z:travelPolicy</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env:Header</a:t>
            </a:r>
            <a:r>
              <a:rPr lang="en-US" altLang="zh-CN" sz="1200" dirty="0">
                <a:solidFill>
                  <a:srgbClr val="0000FF"/>
                </a:solidFill>
                <a:highlight>
                  <a:srgbClr val="FFFFFF"/>
                </a:highlight>
              </a:rPr>
              <a:t>&gt;</a:t>
            </a:r>
          </a:p>
          <a:p>
            <a:pPr>
              <a:buFont typeface="Wingdings" panose="05000000000000000000" pitchFamily="2" charset="2"/>
              <a:buNone/>
              <a:defRPr/>
            </a:pPr>
            <a:r>
              <a:rPr lang="en-US" altLang="zh-CN" sz="1200" dirty="0">
                <a:solidFill>
                  <a:srgbClr val="0000FF"/>
                </a:solidFill>
                <a:highlight>
                  <a:srgbClr val="FFFFFF"/>
                </a:highlight>
              </a:rPr>
              <a:t>……</a:t>
            </a:r>
            <a:endParaRPr lang="en-US" altLang="zh-CN" sz="1200" dirty="0">
              <a:solidFill>
                <a:srgbClr val="000000"/>
              </a:solidFill>
              <a:highlight>
                <a:srgbClr val="FFFFFF"/>
              </a:highlight>
            </a:endParaRPr>
          </a:p>
        </p:txBody>
      </p:sp>
      <p:sp>
        <p:nvSpPr>
          <p:cNvPr id="11" name="Line 6">
            <a:extLst>
              <a:ext uri="{FF2B5EF4-FFF2-40B4-BE49-F238E27FC236}">
                <a16:creationId xmlns:a16="http://schemas.microsoft.com/office/drawing/2014/main" id="{F64C4944-37D0-417F-8CA0-5486DD04836F}"/>
              </a:ext>
            </a:extLst>
          </p:cNvPr>
          <p:cNvSpPr>
            <a:spLocks noChangeShapeType="1"/>
          </p:cNvSpPr>
          <p:nvPr/>
        </p:nvSpPr>
        <p:spPr bwMode="auto">
          <a:xfrm flipH="1">
            <a:off x="2700338" y="2276475"/>
            <a:ext cx="3311525" cy="4318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7">
            <a:extLst>
              <a:ext uri="{FF2B5EF4-FFF2-40B4-BE49-F238E27FC236}">
                <a16:creationId xmlns:a16="http://schemas.microsoft.com/office/drawing/2014/main" id="{0DFA96F5-BC00-42E1-B44E-CE9FA4E9D2CD}"/>
              </a:ext>
            </a:extLst>
          </p:cNvPr>
          <p:cNvSpPr txBox="1">
            <a:spLocks noChangeArrowheads="1"/>
          </p:cNvSpPr>
          <p:nvPr/>
        </p:nvSpPr>
        <p:spPr bwMode="auto">
          <a:xfrm>
            <a:off x="5981700" y="1679575"/>
            <a:ext cx="298291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All “next” node must have knowledge (through an external specification of the header blocks' semantics) of what to do </a:t>
            </a:r>
          </a:p>
        </p:txBody>
      </p:sp>
      <p:sp>
        <p:nvSpPr>
          <p:cNvPr id="13" name="Line 6">
            <a:extLst>
              <a:ext uri="{FF2B5EF4-FFF2-40B4-BE49-F238E27FC236}">
                <a16:creationId xmlns:a16="http://schemas.microsoft.com/office/drawing/2014/main" id="{85942D8E-C39C-4F43-959C-D1520DF60EAD}"/>
              </a:ext>
            </a:extLst>
          </p:cNvPr>
          <p:cNvSpPr>
            <a:spLocks noChangeShapeType="1"/>
          </p:cNvSpPr>
          <p:nvPr/>
        </p:nvSpPr>
        <p:spPr bwMode="auto">
          <a:xfrm flipH="1">
            <a:off x="2555875" y="2276475"/>
            <a:ext cx="3467100" cy="17287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7">
            <a:extLst>
              <a:ext uri="{FF2B5EF4-FFF2-40B4-BE49-F238E27FC236}">
                <a16:creationId xmlns:a16="http://schemas.microsoft.com/office/drawing/2014/main" id="{B5CFAA03-C944-433E-8742-9F5CBA5DB9B4}"/>
              </a:ext>
            </a:extLst>
          </p:cNvPr>
          <p:cNvSpPr txBox="1">
            <a:spLocks noChangeArrowheads="1"/>
          </p:cNvSpPr>
          <p:nvPr/>
        </p:nvSpPr>
        <p:spPr bwMode="auto">
          <a:xfrm>
            <a:off x="5746750" y="4197350"/>
            <a:ext cx="29829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Inserted by active intermediary, it should be processed by ultimate receiver</a:t>
            </a:r>
          </a:p>
        </p:txBody>
      </p:sp>
      <p:sp>
        <p:nvSpPr>
          <p:cNvPr id="15" name="Line 6">
            <a:extLst>
              <a:ext uri="{FF2B5EF4-FFF2-40B4-BE49-F238E27FC236}">
                <a16:creationId xmlns:a16="http://schemas.microsoft.com/office/drawing/2014/main" id="{3C57AFC3-E365-47AE-89F3-6C3E329DDA87}"/>
              </a:ext>
            </a:extLst>
          </p:cNvPr>
          <p:cNvSpPr>
            <a:spLocks noChangeShapeType="1"/>
          </p:cNvSpPr>
          <p:nvPr/>
        </p:nvSpPr>
        <p:spPr bwMode="auto">
          <a:xfrm flipH="1">
            <a:off x="3995738" y="4724400"/>
            <a:ext cx="1716087" cy="2889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par>
                                <p:cTn id="11" presetID="3" presetClass="entr" presetSubtype="1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linds(horizontal)">
                                      <p:cBhvr>
                                        <p:cTn id="13"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par>
                                <p:cTn id="19" presetID="3" presetClass="entr" presetSubtype="1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E637242D-62A7-45A7-BE5A-64B08279141A}"/>
              </a:ext>
            </a:extLst>
          </p:cNvPr>
          <p:cNvSpPr>
            <a:spLocks noGrp="1"/>
          </p:cNvSpPr>
          <p:nvPr>
            <p:ph type="title"/>
          </p:nvPr>
        </p:nvSpPr>
        <p:spPr/>
        <p:txBody>
          <a:bodyPr>
            <a:normAutofit fontScale="90000"/>
          </a:bodyPr>
          <a:lstStyle/>
          <a:p>
            <a:r>
              <a:rPr lang="en-US" altLang="zh-CN" dirty="0"/>
              <a:t>Using SOAP Intermediaries (3/3)</a:t>
            </a:r>
            <a:endParaRPr lang="zh-CN" altLang="en-US" dirty="0"/>
          </a:p>
        </p:txBody>
      </p:sp>
      <p:sp>
        <p:nvSpPr>
          <p:cNvPr id="14339" name="灯片编号占位符 3">
            <a:extLst>
              <a:ext uri="{FF2B5EF4-FFF2-40B4-BE49-F238E27FC236}">
                <a16:creationId xmlns:a16="http://schemas.microsoft.com/office/drawing/2014/main" id="{CA43920B-EC28-4758-987D-A2BC1E39C2CF}"/>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611A8F04-B697-431F-A8DB-08061C77CBD6}" type="slidenum">
              <a:rPr lang="en-US" altLang="zh-CN" smtClean="0"/>
              <a:pPr/>
              <a:t>20</a:t>
            </a:fld>
            <a:endParaRPr lang="en-US" altLang="zh-CN" sz="1000"/>
          </a:p>
        </p:txBody>
      </p:sp>
      <p:sp>
        <p:nvSpPr>
          <p:cNvPr id="5" name="Text Box 4">
            <a:extLst>
              <a:ext uri="{FF2B5EF4-FFF2-40B4-BE49-F238E27FC236}">
                <a16:creationId xmlns:a16="http://schemas.microsoft.com/office/drawing/2014/main" id="{213986CF-1F6F-4B9C-A221-D33D1439E328}"/>
              </a:ext>
            </a:extLst>
          </p:cNvPr>
          <p:cNvSpPr txBox="1">
            <a:spLocks noGrp="1" noChangeArrowheads="1"/>
          </p:cNvSpPr>
          <p:nvPr>
            <p:ph idx="1"/>
          </p:nvPr>
        </p:nvSpPr>
        <p:spPr>
          <a:xfrm>
            <a:off x="395536" y="1196752"/>
            <a:ext cx="8229600" cy="5595378"/>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200" dirty="0">
                <a:solidFill>
                  <a:srgbClr val="000000"/>
                </a:solidFill>
                <a:highlight>
                  <a:srgbClr val="FFFFFF"/>
                </a:highlight>
              </a:rPr>
              <a:t>……</a:t>
            </a: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env:Body</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p:itinerary</a:t>
            </a:r>
            <a:r>
              <a:rPr lang="en-US" altLang="zh-CN" sz="1200" dirty="0">
                <a:solidFill>
                  <a:srgbClr val="FF0000"/>
                </a:solidFill>
                <a:highlight>
                  <a:srgbClr val="FFFFFF"/>
                </a:highlight>
              </a:rPr>
              <a:t> </a:t>
            </a: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xmlns:p</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http://travelcompany.example.org/reservation/travel</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p:departing</a:t>
            </a:r>
            <a:r>
              <a:rPr lang="en-US" altLang="zh-CN" sz="1200" dirty="0">
                <a:solidFill>
                  <a:srgbClr val="0000FF"/>
                </a:solidFill>
                <a:highlight>
                  <a:srgbClr val="FFFFFF"/>
                </a:highlight>
              </a:rPr>
              <a:t>&gt;</a:t>
            </a:r>
            <a:r>
              <a:rPr lang="en-US" altLang="zh-CN" sz="1200" dirty="0">
                <a:solidFill>
                  <a:srgbClr val="000000"/>
                </a:solidFill>
                <a:highlight>
                  <a:srgbClr val="FFFFFF"/>
                </a:highlight>
              </a:rPr>
              <a:t>New York</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p:arriving</a:t>
            </a:r>
            <a:r>
              <a:rPr lang="en-US" altLang="zh-CN" sz="1200" dirty="0">
                <a:solidFill>
                  <a:srgbClr val="0000FF"/>
                </a:solidFill>
                <a:highlight>
                  <a:srgbClr val="FFFFFF"/>
                </a:highlight>
              </a:rPr>
              <a:t>&gt;</a:t>
            </a:r>
            <a:r>
              <a:rPr lang="en-US" altLang="zh-CN" sz="1200" dirty="0">
                <a:solidFill>
                  <a:srgbClr val="000000"/>
                </a:solidFill>
                <a:highlight>
                  <a:srgbClr val="FFFFFF"/>
                </a:highlight>
              </a:rPr>
              <a:t>Los Angeles</a:t>
            </a:r>
            <a:r>
              <a:rPr lang="en-US" altLang="zh-CN" sz="1200" dirty="0">
                <a:solidFill>
                  <a:srgbClr val="0000FF"/>
                </a:solidFill>
                <a:highlight>
                  <a:srgbClr val="FFFFFF"/>
                </a:highlight>
              </a:rPr>
              <a:t>&lt;/</a:t>
            </a:r>
            <a:r>
              <a:rPr lang="en-US" altLang="zh-CN" sz="1200" dirty="0">
                <a:solidFill>
                  <a:srgbClr val="800000"/>
                </a:solidFill>
                <a:highlight>
                  <a:srgbClr val="FFFFFF"/>
                </a:highlight>
              </a:rPr>
              <a:t>p:arriving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p:departureDate</a:t>
            </a:r>
            <a:r>
              <a:rPr lang="en-US" altLang="zh-CN" sz="1200" dirty="0">
                <a:solidFill>
                  <a:srgbClr val="0000FF"/>
                </a:solidFill>
                <a:highlight>
                  <a:srgbClr val="FFFFFF"/>
                </a:highlight>
              </a:rPr>
              <a:t>&gt;</a:t>
            </a:r>
            <a:r>
              <a:rPr lang="en-US" altLang="zh-CN" sz="1200" dirty="0">
                <a:solidFill>
                  <a:srgbClr val="000000"/>
                </a:solidFill>
                <a:highlight>
                  <a:srgbClr val="FFFFFF"/>
                </a:highlight>
              </a:rPr>
              <a:t>2001-12-14</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p:departureDate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p:departureTime</a:t>
            </a:r>
            <a:r>
              <a:rPr lang="en-US" altLang="zh-CN" sz="1200" dirty="0">
                <a:solidFill>
                  <a:srgbClr val="0000FF"/>
                </a:solidFill>
                <a:highlight>
                  <a:srgbClr val="FFFFFF"/>
                </a:highlight>
              </a:rPr>
              <a:t>&gt;</a:t>
            </a:r>
            <a:r>
              <a:rPr lang="en-US" altLang="zh-CN" sz="1200" dirty="0">
                <a:solidFill>
                  <a:srgbClr val="000000"/>
                </a:solidFill>
                <a:highlight>
                  <a:srgbClr val="FFFFFF"/>
                </a:highlight>
              </a:rPr>
              <a:t>late afternoon</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p:departureTime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p:seatPreference</a:t>
            </a:r>
            <a:r>
              <a:rPr lang="en-US" altLang="zh-CN" sz="1200" dirty="0">
                <a:solidFill>
                  <a:srgbClr val="0000FF"/>
                </a:solidFill>
                <a:highlight>
                  <a:srgbClr val="FFFFFF"/>
                </a:highlight>
              </a:rPr>
              <a:t>&gt;</a:t>
            </a:r>
            <a:r>
              <a:rPr lang="en-US" altLang="zh-CN" sz="1200" dirty="0">
                <a:solidFill>
                  <a:srgbClr val="000000"/>
                </a:solidFill>
                <a:highlight>
                  <a:srgbClr val="FFFFFF"/>
                </a:highlight>
              </a:rPr>
              <a:t>aisle</a:t>
            </a:r>
            <a:r>
              <a:rPr lang="en-US" altLang="zh-CN" sz="1200" dirty="0">
                <a:solidFill>
                  <a:srgbClr val="0000FF"/>
                </a:solidFill>
                <a:highlight>
                  <a:srgbClr val="FFFFFF"/>
                </a:highlight>
              </a:rPr>
              <a:t>&lt;/</a:t>
            </a:r>
            <a:r>
              <a:rPr lang="en-US" altLang="zh-CN" sz="1200" dirty="0">
                <a:solidFill>
                  <a:srgbClr val="800000"/>
                </a:solidFill>
                <a:highlight>
                  <a:srgbClr val="FFFFFF"/>
                </a:highlight>
              </a:rPr>
              <a:t>p:seatPreference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p:return</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p:departing</a:t>
            </a:r>
            <a:r>
              <a:rPr lang="en-US" altLang="zh-CN" sz="1200" dirty="0">
                <a:solidFill>
                  <a:srgbClr val="0000FF"/>
                </a:solidFill>
                <a:highlight>
                  <a:srgbClr val="FFFFFF"/>
                </a:highlight>
              </a:rPr>
              <a:t>&gt;</a:t>
            </a:r>
            <a:r>
              <a:rPr lang="en-US" altLang="zh-CN" sz="1200" dirty="0">
                <a:solidFill>
                  <a:srgbClr val="000000"/>
                </a:solidFill>
                <a:highlight>
                  <a:srgbClr val="FFFFFF"/>
                </a:highlight>
              </a:rPr>
              <a:t>Los Angeles</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p:arriving</a:t>
            </a:r>
            <a:r>
              <a:rPr lang="en-US" altLang="zh-CN" sz="1200" dirty="0">
                <a:solidFill>
                  <a:srgbClr val="0000FF"/>
                </a:solidFill>
                <a:highlight>
                  <a:srgbClr val="FFFFFF"/>
                </a:highlight>
              </a:rPr>
              <a:t>&gt;</a:t>
            </a:r>
            <a:r>
              <a:rPr lang="en-US" altLang="zh-CN" sz="1200" dirty="0">
                <a:solidFill>
                  <a:srgbClr val="000000"/>
                </a:solidFill>
                <a:highlight>
                  <a:srgbClr val="FFFFFF"/>
                </a:highlight>
              </a:rPr>
              <a:t>New York</a:t>
            </a:r>
            <a:r>
              <a:rPr lang="en-US" altLang="zh-CN" sz="1200" dirty="0">
                <a:solidFill>
                  <a:srgbClr val="0000FF"/>
                </a:solidFill>
                <a:highlight>
                  <a:srgbClr val="FFFFFF"/>
                </a:highlight>
              </a:rPr>
              <a:t>&lt;/</a:t>
            </a:r>
            <a:r>
              <a:rPr lang="en-US" altLang="zh-CN" sz="1200" dirty="0">
                <a:solidFill>
                  <a:srgbClr val="800000"/>
                </a:solidFill>
                <a:highlight>
                  <a:srgbClr val="FFFFFF"/>
                </a:highlight>
              </a:rPr>
              <a:t>p:arriving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p:departureDate</a:t>
            </a:r>
            <a:r>
              <a:rPr lang="en-US" altLang="zh-CN" sz="1200" dirty="0">
                <a:solidFill>
                  <a:srgbClr val="0000FF"/>
                </a:solidFill>
                <a:highlight>
                  <a:srgbClr val="FFFFFF"/>
                </a:highlight>
              </a:rPr>
              <a:t>&gt;</a:t>
            </a:r>
            <a:r>
              <a:rPr lang="en-US" altLang="zh-CN" sz="1200" dirty="0">
                <a:solidFill>
                  <a:srgbClr val="000000"/>
                </a:solidFill>
                <a:highlight>
                  <a:srgbClr val="FFFFFF"/>
                </a:highlight>
              </a:rPr>
              <a:t>2001-12-20</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p:departureDate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p:departureTime</a:t>
            </a:r>
            <a:r>
              <a:rPr lang="en-US" altLang="zh-CN" sz="1200" dirty="0">
                <a:solidFill>
                  <a:srgbClr val="0000FF"/>
                </a:solidFill>
                <a:highlight>
                  <a:srgbClr val="FFFFFF"/>
                </a:highlight>
              </a:rPr>
              <a:t>&gt;</a:t>
            </a:r>
            <a:r>
              <a:rPr lang="en-US" altLang="zh-CN" sz="1200" dirty="0">
                <a:solidFill>
                  <a:srgbClr val="000000"/>
                </a:solidFill>
                <a:highlight>
                  <a:srgbClr val="FFFFFF"/>
                </a:highlight>
              </a:rPr>
              <a:t>mid morning</a:t>
            </a:r>
            <a:r>
              <a:rPr lang="en-US" altLang="zh-CN" sz="1200" dirty="0">
                <a:solidFill>
                  <a:srgbClr val="0000FF"/>
                </a:solidFill>
                <a:highlight>
                  <a:srgbClr val="FFFFFF"/>
                </a:highlight>
              </a:rPr>
              <a:t>&lt;/</a:t>
            </a:r>
            <a:r>
              <a:rPr lang="en-US" altLang="zh-CN" sz="1200" dirty="0">
                <a:solidFill>
                  <a:srgbClr val="800000"/>
                </a:solidFill>
                <a:highlight>
                  <a:srgbClr val="FFFFFF"/>
                </a:highlight>
              </a:rPr>
              <a:t>p:departureTime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p:seatPreference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p:return</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p:itinerary</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q:lodging</a:t>
            </a:r>
            <a:r>
              <a:rPr lang="en-US" altLang="zh-CN" sz="1200" dirty="0">
                <a:solidFill>
                  <a:srgbClr val="FF0000"/>
                </a:solidFill>
                <a:highlight>
                  <a:srgbClr val="FFFFFF"/>
                </a:highlight>
              </a:rPr>
              <a:t> </a:t>
            </a: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xmlns:q</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http://travelcompany.example.org/reservation/hotels</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q:preference</a:t>
            </a:r>
            <a:r>
              <a:rPr lang="en-US" altLang="zh-CN" sz="1200" dirty="0">
                <a:solidFill>
                  <a:srgbClr val="0000FF"/>
                </a:solidFill>
                <a:highlight>
                  <a:srgbClr val="FFFFFF"/>
                </a:highlight>
              </a:rPr>
              <a:t>&gt;</a:t>
            </a:r>
            <a:r>
              <a:rPr lang="en-US" altLang="zh-CN" sz="1200" dirty="0">
                <a:solidFill>
                  <a:srgbClr val="000000"/>
                </a:solidFill>
                <a:highlight>
                  <a:srgbClr val="FFFFFF"/>
                </a:highlight>
              </a:rPr>
              <a:t>none</a:t>
            </a:r>
            <a:r>
              <a:rPr lang="en-US" altLang="zh-CN" sz="1200" dirty="0">
                <a:solidFill>
                  <a:srgbClr val="0000FF"/>
                </a:solidFill>
                <a:highlight>
                  <a:srgbClr val="FFFFFF"/>
                </a:highlight>
              </a:rPr>
              <a:t>&lt;/</a:t>
            </a:r>
            <a:r>
              <a:rPr lang="en-US" altLang="zh-CN" sz="1200" dirty="0">
                <a:solidFill>
                  <a:srgbClr val="800000"/>
                </a:solidFill>
                <a:highlight>
                  <a:srgbClr val="FFFFFF"/>
                </a:highlight>
              </a:rPr>
              <a:t>q:preference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q:lodging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env:Body</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env:Envelope</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2E38C968-40EE-44CE-B222-8A28CEEC1BB3}"/>
              </a:ext>
            </a:extLst>
          </p:cNvPr>
          <p:cNvSpPr>
            <a:spLocks noGrp="1"/>
          </p:cNvSpPr>
          <p:nvPr>
            <p:ph type="title"/>
          </p:nvPr>
        </p:nvSpPr>
        <p:spPr/>
        <p:txBody>
          <a:bodyPr>
            <a:normAutofit fontScale="90000"/>
          </a:bodyPr>
          <a:lstStyle/>
          <a:p>
            <a:r>
              <a:rPr lang="en-US" altLang="zh-CN" dirty="0"/>
              <a:t>Binary data in SOAP messages</a:t>
            </a:r>
            <a:endParaRPr lang="zh-CN" altLang="en-US" dirty="0"/>
          </a:p>
        </p:txBody>
      </p:sp>
      <p:sp>
        <p:nvSpPr>
          <p:cNvPr id="27651" name="内容占位符 2">
            <a:extLst>
              <a:ext uri="{FF2B5EF4-FFF2-40B4-BE49-F238E27FC236}">
                <a16:creationId xmlns:a16="http://schemas.microsoft.com/office/drawing/2014/main" id="{EA89DD54-944F-4778-AF45-2FCAE79F3CBE}"/>
              </a:ext>
            </a:extLst>
          </p:cNvPr>
          <p:cNvSpPr>
            <a:spLocks noGrp="1"/>
          </p:cNvSpPr>
          <p:nvPr>
            <p:ph idx="1"/>
          </p:nvPr>
        </p:nvSpPr>
        <p:spPr/>
        <p:txBody>
          <a:bodyPr>
            <a:normAutofit fontScale="92500" lnSpcReduction="10000"/>
          </a:bodyPr>
          <a:lstStyle/>
          <a:p>
            <a:pPr>
              <a:lnSpc>
                <a:spcPct val="120000"/>
              </a:lnSpc>
              <a:defRPr/>
            </a:pPr>
            <a:r>
              <a:rPr lang="en-US" altLang="zh-CN" sz="2400" dirty="0"/>
              <a:t>There are many use cases where it is necessary for an application to send a large amount of binary (i.e., non-textual) data (e.g., a JPEG image, binary executable etc.) in a SOAP message</a:t>
            </a:r>
          </a:p>
          <a:p>
            <a:pPr>
              <a:lnSpc>
                <a:spcPct val="120000"/>
              </a:lnSpc>
              <a:defRPr/>
            </a:pPr>
            <a:r>
              <a:rPr lang="en-US" altLang="zh-CN" sz="2400" dirty="0"/>
              <a:t>The conventional way of conveying binary data in an XML document, such as the SOAP </a:t>
            </a:r>
            <a:r>
              <a:rPr lang="en-US" altLang="zh-CN" sz="2400" dirty="0" err="1">
                <a:hlinkClick r:id="rId3"/>
              </a:rPr>
              <a:t>env:Envelope</a:t>
            </a:r>
            <a:r>
              <a:rPr lang="en-US" altLang="zh-CN" sz="2400" dirty="0"/>
              <a:t>, is to transform the binary data into a character representation of type </a:t>
            </a:r>
            <a:r>
              <a:rPr lang="en-US" altLang="zh-CN" sz="2400" dirty="0">
                <a:hlinkClick r:id="rId3"/>
              </a:rPr>
              <a:t>xs:base64Binary</a:t>
            </a:r>
            <a:r>
              <a:rPr lang="en-US" altLang="zh-CN" sz="2400" dirty="0"/>
              <a:t> using the Base64 content-transfer-encoding scheme defined in </a:t>
            </a:r>
            <a:r>
              <a:rPr lang="en-US" altLang="zh-CN" sz="2400" dirty="0">
                <a:hlinkClick r:id="rId4" action="ppaction://hlinkfile"/>
              </a:rPr>
              <a:t>[RFC 2045]</a:t>
            </a:r>
            <a:endParaRPr lang="en-US" altLang="zh-CN" sz="2400" dirty="0"/>
          </a:p>
          <a:p>
            <a:pPr lvl="1">
              <a:lnSpc>
                <a:spcPct val="120000"/>
              </a:lnSpc>
              <a:defRPr/>
            </a:pPr>
            <a:r>
              <a:rPr lang="en-US" altLang="zh-CN" sz="1600" dirty="0"/>
              <a:t>While small amounts of binary data can be placed in a SOAP message using the base64 encoding without incurring the performance overheads noted earlier</a:t>
            </a:r>
          </a:p>
          <a:p>
            <a:pPr lvl="1">
              <a:lnSpc>
                <a:spcPct val="120000"/>
              </a:lnSpc>
              <a:defRPr/>
            </a:pPr>
            <a:r>
              <a:rPr lang="en-US" altLang="zh-CN" sz="1600" dirty="0"/>
              <a:t>The disadvantages of this approach are that there is a significant increase in message size, as well as a potential processing overhead in encoding/decoding the binary data to/from its character representation, which may create throughput problems in case of message transmission over low bandwidth links or SOAP nodes with low processing power</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750D45E3-5248-4B65-900D-5D828CA99388}"/>
              </a:ext>
            </a:extLst>
          </p:cNvPr>
          <p:cNvSpPr>
            <a:spLocks noGrp="1"/>
          </p:cNvSpPr>
          <p:nvPr>
            <p:ph type="title"/>
          </p:nvPr>
        </p:nvSpPr>
        <p:spPr/>
        <p:txBody>
          <a:bodyPr>
            <a:normAutofit/>
          </a:bodyPr>
          <a:lstStyle/>
          <a:p>
            <a:pPr>
              <a:defRPr/>
            </a:pPr>
            <a:r>
              <a:rPr lang="en-US" altLang="zh-CN" sz="2800" dirty="0">
                <a:hlinkClick r:id="rId3"/>
              </a:rPr>
              <a:t>xs:base64Binary</a:t>
            </a:r>
            <a:r>
              <a:rPr lang="en-US" altLang="zh-CN" sz="2800" dirty="0"/>
              <a:t> in SOAP messages (1/3)</a:t>
            </a:r>
            <a:endParaRPr lang="zh-CN" altLang="en-US" sz="2800" dirty="0"/>
          </a:p>
        </p:txBody>
      </p:sp>
      <p:sp>
        <p:nvSpPr>
          <p:cNvPr id="8195" name="灯片编号占位符 3">
            <a:extLst>
              <a:ext uri="{FF2B5EF4-FFF2-40B4-BE49-F238E27FC236}">
                <a16:creationId xmlns:a16="http://schemas.microsoft.com/office/drawing/2014/main" id="{AE0C83D8-C452-4E11-9AD2-9A64B1D7385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22</a:t>
            </a:fld>
            <a:endParaRPr lang="en-US" altLang="zh-CN" sz="1000"/>
          </a:p>
        </p:txBody>
      </p:sp>
      <p:sp>
        <p:nvSpPr>
          <p:cNvPr id="5" name="Text Box 4">
            <a:extLst>
              <a:ext uri="{FF2B5EF4-FFF2-40B4-BE49-F238E27FC236}">
                <a16:creationId xmlns:a16="http://schemas.microsoft.com/office/drawing/2014/main" id="{0E7E3710-9865-4E37-A8DA-4A6427855542}"/>
              </a:ext>
            </a:extLst>
          </p:cNvPr>
          <p:cNvSpPr txBox="1">
            <a:spLocks noChangeArrowheads="1"/>
          </p:cNvSpPr>
          <p:nvPr/>
        </p:nvSpPr>
        <p:spPr bwMode="auto">
          <a:xfrm>
            <a:off x="539552" y="1722764"/>
            <a:ext cx="8229600" cy="4961358"/>
          </a:xfrm>
          <a:prstGeom prst="rect">
            <a:avLst/>
          </a:prstGeom>
          <a:noFill/>
          <a:ln w="19050">
            <a:solidFill>
              <a:schemeClr val="tx1"/>
            </a:solidFill>
            <a:miter lim="800000"/>
            <a:headEnd/>
            <a:tailEnd/>
          </a:ln>
        </p:spPr>
        <p:txBody>
          <a:bodyPr>
            <a:spAutoFit/>
          </a:bodyPr>
          <a:lstStyle/>
          <a:p>
            <a:pPr marL="342900" indent="-342900">
              <a:spcBef>
                <a:spcPct val="20000"/>
              </a:spcBef>
              <a:buClr>
                <a:schemeClr val="accent1"/>
              </a:buClr>
              <a:buFont typeface="Wingdings" panose="05000000000000000000" pitchFamily="2" charset="2"/>
              <a:buNone/>
              <a:defRPr/>
            </a:pPr>
            <a:r>
              <a:rPr lang="en-US" altLang="zh-CN" sz="1400" kern="0" dirty="0">
                <a:latin typeface="Courier New" pitchFamily="49" charset="0"/>
                <a:ea typeface="+mn-ea"/>
                <a:cs typeface="Courier New" pitchFamily="49" charset="0"/>
              </a:rPr>
              <a:t>HTTP/1.1 200 OK </a:t>
            </a:r>
          </a:p>
          <a:p>
            <a:pPr marL="342900" indent="-342900">
              <a:spcBef>
                <a:spcPct val="20000"/>
              </a:spcBef>
              <a:buClr>
                <a:schemeClr val="accent1"/>
              </a:buClr>
              <a:buFont typeface="Wingdings" panose="05000000000000000000" pitchFamily="2" charset="2"/>
              <a:buNone/>
              <a:defRPr/>
            </a:pPr>
            <a:r>
              <a:rPr lang="en-US" altLang="zh-CN" sz="1400" kern="0" dirty="0">
                <a:latin typeface="Courier New" pitchFamily="49" charset="0"/>
                <a:ea typeface="+mn-ea"/>
                <a:cs typeface="Courier New" pitchFamily="49" charset="0"/>
              </a:rPr>
              <a:t>Content-Type: application/</a:t>
            </a:r>
            <a:r>
              <a:rPr lang="en-US" altLang="zh-CN" sz="1400" kern="0" dirty="0" err="1">
                <a:latin typeface="Courier New" pitchFamily="49" charset="0"/>
                <a:ea typeface="+mn-ea"/>
                <a:cs typeface="Courier New" pitchFamily="49" charset="0"/>
              </a:rPr>
              <a:t>soap+xml</a:t>
            </a:r>
            <a:r>
              <a:rPr lang="en-US" altLang="zh-CN" sz="1400" kern="0" dirty="0">
                <a:latin typeface="Courier New" pitchFamily="49" charset="0"/>
                <a:ea typeface="+mn-ea"/>
                <a:cs typeface="Courier New" pitchFamily="49" charset="0"/>
              </a:rPr>
              <a:t>; </a:t>
            </a:r>
            <a:r>
              <a:rPr lang="en-US" altLang="zh-CN" sz="1400" kern="0" dirty="0" err="1">
                <a:latin typeface="Courier New" pitchFamily="49" charset="0"/>
                <a:ea typeface="+mn-ea"/>
                <a:cs typeface="Courier New" pitchFamily="49" charset="0"/>
              </a:rPr>
              <a:t>charset</a:t>
            </a:r>
            <a:r>
              <a:rPr lang="en-US" altLang="zh-CN" sz="1400" kern="0" dirty="0">
                <a:latin typeface="Courier New" pitchFamily="49" charset="0"/>
                <a:ea typeface="+mn-ea"/>
                <a:cs typeface="Courier New" pitchFamily="49" charset="0"/>
              </a:rPr>
              <a:t>="utf-8" </a:t>
            </a:r>
          </a:p>
          <a:p>
            <a:pPr marL="342900" indent="-342900">
              <a:spcBef>
                <a:spcPct val="20000"/>
              </a:spcBef>
              <a:buClr>
                <a:schemeClr val="accent1"/>
              </a:buClr>
              <a:buFont typeface="Wingdings" panose="05000000000000000000" pitchFamily="2" charset="2"/>
              <a:buNone/>
              <a:defRPr/>
            </a:pPr>
            <a:r>
              <a:rPr lang="en-US" altLang="zh-CN" sz="1400" kern="0" dirty="0">
                <a:latin typeface="Courier New" pitchFamily="49" charset="0"/>
                <a:ea typeface="+mn-ea"/>
                <a:cs typeface="Courier New" pitchFamily="49" charset="0"/>
              </a:rPr>
              <a:t>Content-Length: </a:t>
            </a:r>
            <a:r>
              <a:rPr lang="en-US" altLang="zh-CN" sz="1400" i="1" kern="0" dirty="0" err="1">
                <a:latin typeface="Courier New" pitchFamily="49" charset="0"/>
                <a:ea typeface="+mn-ea"/>
                <a:cs typeface="Courier New" pitchFamily="49" charset="0"/>
              </a:rPr>
              <a:t>nnnn</a:t>
            </a:r>
            <a:r>
              <a:rPr lang="en-US" altLang="zh-CN" sz="1400" i="1" kern="0" dirty="0">
                <a:latin typeface="Courier New" pitchFamily="49" charset="0"/>
                <a:ea typeface="+mn-ea"/>
                <a:cs typeface="Courier New" pitchFamily="49" charset="0"/>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8080"/>
                </a:solidFill>
                <a:highlight>
                  <a:srgbClr val="FFFFFF"/>
                </a:highlight>
                <a:latin typeface="Arial"/>
              </a:rPr>
              <a:t>&lt;?xml version='1.0' ?&gt;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xmlns:env</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m:reservation</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xmlns:m</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http://travelcompany.example.org/reservation</a:t>
            </a:r>
            <a:r>
              <a:rPr lang="en-US" altLang="zh-CN" sz="1400" dirty="0">
                <a:solidFill>
                  <a:srgbClr val="0000FF"/>
                </a:solidFill>
                <a:highlight>
                  <a:srgbClr val="FFFFFF"/>
                </a:highlight>
                <a:latin typeface="Arial"/>
              </a:rPr>
              <a:t>"</a:t>
            </a:r>
            <a:r>
              <a:rPr lang="en-US" altLang="zh-CN" sz="14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env:role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http://www.w3.org/2003/05/soap-envelope/role/next</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env:mustUnderstand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true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m:reservation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n:passenger</a:t>
            </a: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xmlns:n</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http://mycompany.example.com/employees</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env:role</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http://www.w3.org/2003/05/soap-envelope/role/next</a:t>
            </a:r>
            <a:r>
              <a:rPr lang="en-US" altLang="zh-CN" sz="1400" dirty="0">
                <a:solidFill>
                  <a:srgbClr val="0000FF"/>
                </a:solidFill>
                <a:highlight>
                  <a:srgbClr val="FFFFFF"/>
                </a:highlight>
                <a:latin typeface="Arial"/>
              </a:rPr>
              <a:t>"</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env:mustUnderstand</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true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n:passenger</a:t>
            </a:r>
            <a:r>
              <a:rPr lang="en-US" altLang="zh-CN" sz="14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env:Header</a:t>
            </a:r>
            <a:r>
              <a:rPr lang="en-US" altLang="zh-CN" sz="14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A80A900B-9286-4386-8F3D-FA3B65EF2214}"/>
              </a:ext>
            </a:extLst>
          </p:cNvPr>
          <p:cNvSpPr>
            <a:spLocks noGrp="1"/>
          </p:cNvSpPr>
          <p:nvPr>
            <p:ph type="title"/>
          </p:nvPr>
        </p:nvSpPr>
        <p:spPr/>
        <p:txBody>
          <a:bodyPr>
            <a:normAutofit/>
          </a:bodyPr>
          <a:lstStyle/>
          <a:p>
            <a:pPr>
              <a:defRPr/>
            </a:pPr>
            <a:r>
              <a:rPr lang="en-US" altLang="zh-CN" sz="2800" dirty="0">
                <a:hlinkClick r:id="rId3"/>
              </a:rPr>
              <a:t>xs:base64Binary</a:t>
            </a:r>
            <a:r>
              <a:rPr lang="en-US" altLang="zh-CN" sz="2800" dirty="0"/>
              <a:t> in SOAP messages (2/3)</a:t>
            </a:r>
            <a:endParaRPr lang="zh-CN" altLang="en-US" sz="2800" dirty="0"/>
          </a:p>
        </p:txBody>
      </p:sp>
      <p:sp>
        <p:nvSpPr>
          <p:cNvPr id="10243" name="灯片编号占位符 3">
            <a:extLst>
              <a:ext uri="{FF2B5EF4-FFF2-40B4-BE49-F238E27FC236}">
                <a16:creationId xmlns:a16="http://schemas.microsoft.com/office/drawing/2014/main" id="{6008C973-32BC-431D-BAB8-25239E356AE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23</a:t>
            </a:fld>
            <a:endParaRPr lang="en-US" altLang="zh-CN" sz="1000"/>
          </a:p>
        </p:txBody>
      </p:sp>
      <p:sp>
        <p:nvSpPr>
          <p:cNvPr id="5" name="Text Box 4">
            <a:extLst>
              <a:ext uri="{FF2B5EF4-FFF2-40B4-BE49-F238E27FC236}">
                <a16:creationId xmlns:a16="http://schemas.microsoft.com/office/drawing/2014/main" id="{FEDC8780-E337-46C3-8069-9F7E46827AF9}"/>
              </a:ext>
            </a:extLst>
          </p:cNvPr>
          <p:cNvSpPr txBox="1">
            <a:spLocks noChangeArrowheads="1"/>
          </p:cNvSpPr>
          <p:nvPr/>
        </p:nvSpPr>
        <p:spPr bwMode="auto">
          <a:xfrm>
            <a:off x="457200" y="1504681"/>
            <a:ext cx="8229600" cy="5176802"/>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pt-BR" altLang="zh-CN" sz="1400" dirty="0">
                <a:solidFill>
                  <a:srgbClr val="000000"/>
                </a:solidFill>
                <a:highlight>
                  <a:srgbClr val="FFFFFF"/>
                </a:highlight>
                <a:latin typeface="Arial"/>
              </a:rPr>
              <a:t>  </a:t>
            </a:r>
            <a:r>
              <a:rPr lang="pt-BR" altLang="zh-CN" sz="1400" dirty="0">
                <a:solidFill>
                  <a:srgbClr val="0000FF"/>
                </a:solidFill>
                <a:highlight>
                  <a:srgbClr val="FFFFFF"/>
                </a:highlight>
                <a:latin typeface="Arial"/>
              </a:rPr>
              <a:t>&lt;</a:t>
            </a:r>
            <a:r>
              <a:rPr lang="pt-BR" altLang="zh-CN" sz="1400" dirty="0">
                <a:solidFill>
                  <a:srgbClr val="800000"/>
                </a:solidFill>
                <a:highlight>
                  <a:srgbClr val="FFFFFF"/>
                </a:highlight>
                <a:latin typeface="Arial"/>
              </a:rPr>
              <a:t>o:travelAgencyLogo</a:t>
            </a:r>
            <a:r>
              <a:rPr lang="pt-BR" altLang="zh-CN" sz="1400" dirty="0">
                <a:solidFill>
                  <a:srgbClr val="FF0000"/>
                </a:solidFill>
                <a:highlight>
                  <a:srgbClr val="FFFFFF"/>
                </a:highlight>
                <a:latin typeface="Arial"/>
              </a:rPr>
              <a:t> xmlns:o</a:t>
            </a:r>
            <a:r>
              <a:rPr lang="pt-BR" altLang="zh-CN" sz="1400" dirty="0">
                <a:solidFill>
                  <a:srgbClr val="0000FF"/>
                </a:solidFill>
                <a:highlight>
                  <a:srgbClr val="FFFFFF"/>
                </a:highlight>
                <a:latin typeface="Arial"/>
              </a:rPr>
              <a:t>="</a:t>
            </a:r>
            <a:r>
              <a:rPr lang="pt-BR" altLang="zh-CN" sz="1400" dirty="0">
                <a:solidFill>
                  <a:srgbClr val="000000"/>
                </a:solidFill>
                <a:highlight>
                  <a:srgbClr val="FFFFFF"/>
                </a:highlight>
                <a:latin typeface="Arial"/>
              </a:rPr>
              <a:t>http://travelcompany.example.org/images</a:t>
            </a:r>
            <a:r>
              <a:rPr lang="pt-BR" altLang="zh-CN" sz="1400" dirty="0">
                <a:solidFill>
                  <a:srgbClr val="0000FF"/>
                </a:solidFill>
                <a:highlight>
                  <a:srgbClr val="FFFFFF"/>
                </a:highlight>
                <a:latin typeface="Arial"/>
              </a:rPr>
              <a:t>"&gt;</a:t>
            </a:r>
            <a:r>
              <a:rPr lang="pt-BR" altLang="zh-CN" sz="1400" dirty="0">
                <a:solidFill>
                  <a:srgbClr val="000000"/>
                </a:solidFill>
                <a:highlight>
                  <a:srgbClr val="FFFFFF"/>
                </a:highlight>
                <a:latin typeface="Arial"/>
              </a:rPr>
              <a:t>HlkR4cT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YvAQLAcOAAAAAAQCAAgEAA0GAAEJAAYLAAoNAA8PAAAAJAQCJAgEJA0GJAEJJAYLJAoNJ</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A8PJAAASAQCSAgESA0GSAEJSAYLSAoNSA8PSAAQbAQSbAgUbA0WbAEZbAYbbAodbA8fbAAQkAQSk</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AgUkA0WkAEZkAYbkAodkA8fkAAgtAQitAgktA0mtAEptAYrtAottA8vtAAg2AQi2Agk2A0m2AEp2</a:t>
            </a: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qG4dSiwpp2eK4LZLr6tuqTWump4H4xSz6G1dioPCqT5eWq5EtdUdJSSoYLAMjqasWYLZYmTOrz+o</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7aJOt+aM9rWrxut4DAArILM9t0kShRgCFJaUk+uvAgshVRaPlXebGyv67APwKb9qw/r0di/a6Cxn</a:t>
            </a:r>
          </a:p>
          <a:p>
            <a:pPr eaLnBrk="1" hangingPunct="1">
              <a:spcBef>
                <a:spcPct val="20000"/>
              </a:spcBef>
              <a:buClr>
                <a:schemeClr val="accent1"/>
              </a:buClr>
              <a:buFont typeface="Wingdings" panose="05000000000000000000" pitchFamily="2" charset="2"/>
              <a:buNone/>
              <a:defRPr/>
            </a:pPr>
            <a:r>
              <a:rPr lang="en-US" altLang="zh-CN" sz="1400" dirty="0" err="1">
                <a:solidFill>
                  <a:srgbClr val="000000"/>
                </a:solidFill>
                <a:highlight>
                  <a:srgbClr val="FFFFFF"/>
                </a:highlight>
                <a:latin typeface="Arial"/>
              </a:rPr>
              <a:t>lELvZYABAsD</a:t>
            </a:r>
            <a:r>
              <a:rPr lang="en-US" altLang="zh-CN" sz="1400" dirty="0">
                <a:solidFill>
                  <a:srgbClr val="000000"/>
                </a:solidFill>
                <a:highlight>
                  <a:srgbClr val="FFFFFF"/>
                </a:highlight>
                <a:latin typeface="Arial"/>
              </a:rPr>
              <a:t>==</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o:travelAgencyLogo</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p:itinerary</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xmlns:p</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http://travelcompany.example.org/reservation/travel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p:departure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p:departure</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p:return</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p:return</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p:itinerary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kern="100" dirty="0">
                <a:latin typeface="Calibri"/>
                <a:ea typeface="宋体"/>
                <a:cs typeface="Times New Roman"/>
              </a:rPr>
              <a:t>……</a:t>
            </a:r>
            <a:endParaRPr lang="zh-CN" altLang="zh-CN" sz="1400" kern="100" dirty="0">
              <a:latin typeface="Calibri"/>
              <a:ea typeface="宋体"/>
              <a:cs typeface="Times New Roman"/>
            </a:endParaRPr>
          </a:p>
        </p:txBody>
      </p:sp>
      <p:sp>
        <p:nvSpPr>
          <p:cNvPr id="6" name="Line 6">
            <a:extLst>
              <a:ext uri="{FF2B5EF4-FFF2-40B4-BE49-F238E27FC236}">
                <a16:creationId xmlns:a16="http://schemas.microsoft.com/office/drawing/2014/main" id="{7A199F72-87B4-429D-9474-D485F3A80115}"/>
              </a:ext>
            </a:extLst>
          </p:cNvPr>
          <p:cNvSpPr>
            <a:spLocks noChangeShapeType="1"/>
          </p:cNvSpPr>
          <p:nvPr/>
        </p:nvSpPr>
        <p:spPr bwMode="auto">
          <a:xfrm flipH="1" flipV="1">
            <a:off x="4932363" y="3860800"/>
            <a:ext cx="347662" cy="2889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6583A4C9-2CD8-4489-83D2-E4E75B7485E0}"/>
              </a:ext>
            </a:extLst>
          </p:cNvPr>
          <p:cNvSpPr txBox="1">
            <a:spLocks noChangeArrowheads="1"/>
          </p:cNvSpPr>
          <p:nvPr/>
        </p:nvSpPr>
        <p:spPr bwMode="auto">
          <a:xfrm>
            <a:off x="5276850" y="3960813"/>
            <a:ext cx="3543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Base64 encoding of binary data</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BC683B3F-4BB7-4331-9C35-D0C5C3241A21}"/>
              </a:ext>
            </a:extLst>
          </p:cNvPr>
          <p:cNvSpPr>
            <a:spLocks noGrp="1"/>
          </p:cNvSpPr>
          <p:nvPr>
            <p:ph type="title"/>
          </p:nvPr>
        </p:nvSpPr>
        <p:spPr/>
        <p:txBody>
          <a:bodyPr>
            <a:normAutofit/>
          </a:bodyPr>
          <a:lstStyle/>
          <a:p>
            <a:pPr>
              <a:defRPr/>
            </a:pPr>
            <a:r>
              <a:rPr lang="en-US" altLang="zh-CN" sz="2800" dirty="0">
                <a:hlinkClick r:id="rId3"/>
              </a:rPr>
              <a:t>xs:base64Binary</a:t>
            </a:r>
            <a:r>
              <a:rPr lang="en-US" altLang="zh-CN" sz="2800" dirty="0"/>
              <a:t> in SOAP messages (3/3)</a:t>
            </a:r>
            <a:endParaRPr lang="zh-CN" altLang="en-US" sz="2800" dirty="0"/>
          </a:p>
        </p:txBody>
      </p:sp>
      <p:sp>
        <p:nvSpPr>
          <p:cNvPr id="12291" name="灯片编号占位符 3">
            <a:extLst>
              <a:ext uri="{FF2B5EF4-FFF2-40B4-BE49-F238E27FC236}">
                <a16:creationId xmlns:a16="http://schemas.microsoft.com/office/drawing/2014/main" id="{7CC53B30-DCBE-423F-925E-3D2A5F0854F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24</a:t>
            </a:fld>
            <a:endParaRPr lang="en-US" altLang="zh-CN" sz="1000"/>
          </a:p>
        </p:txBody>
      </p:sp>
      <p:sp>
        <p:nvSpPr>
          <p:cNvPr id="5" name="Text Box 4">
            <a:extLst>
              <a:ext uri="{FF2B5EF4-FFF2-40B4-BE49-F238E27FC236}">
                <a16:creationId xmlns:a16="http://schemas.microsoft.com/office/drawing/2014/main" id="{CFE933DA-0AFF-406C-9BDC-742DC08CB704}"/>
              </a:ext>
            </a:extLst>
          </p:cNvPr>
          <p:cNvSpPr txBox="1">
            <a:spLocks noChangeArrowheads="1"/>
          </p:cNvSpPr>
          <p:nvPr/>
        </p:nvSpPr>
        <p:spPr bwMode="auto">
          <a:xfrm>
            <a:off x="215516" y="1628800"/>
            <a:ext cx="8712968" cy="418576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q:lodging</a:t>
            </a:r>
            <a:endParaRPr lang="en-US" altLang="zh-CN" sz="14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FF0000"/>
                </a:solidFill>
                <a:highlight>
                  <a:srgbClr val="FFFFFF"/>
                </a:highlight>
                <a:latin typeface="Arial"/>
              </a:rPr>
              <a:t>   </a:t>
            </a:r>
            <a:r>
              <a:rPr lang="en-US" altLang="zh-CN" sz="1400" dirty="0" err="1">
                <a:solidFill>
                  <a:srgbClr val="FF0000"/>
                </a:solidFill>
                <a:highlight>
                  <a:srgbClr val="FFFFFF"/>
                </a:highlight>
                <a:latin typeface="Arial"/>
              </a:rPr>
              <a:t>xmlns:q</a:t>
            </a:r>
            <a:r>
              <a:rPr lang="en-US" altLang="zh-CN" sz="1400" dirty="0">
                <a:solidFill>
                  <a:srgbClr val="0000FF"/>
                </a:solidFill>
                <a:highlight>
                  <a:srgbClr val="FFFFFF"/>
                </a:highlight>
                <a:latin typeface="Arial"/>
              </a:rPr>
              <a:t>="</a:t>
            </a:r>
            <a:r>
              <a:rPr lang="en-US" altLang="zh-CN" sz="1400" dirty="0">
                <a:solidFill>
                  <a:srgbClr val="000000"/>
                </a:solidFill>
                <a:highlight>
                  <a:srgbClr val="FFFFFF"/>
                </a:highlight>
                <a:latin typeface="Arial"/>
              </a:rPr>
              <a:t>http://travelcompany.example.org/reservation/hotels</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hotel</a:t>
            </a:r>
            <a:r>
              <a:rPr lang="en-US" altLang="zh-CN" sz="1400" dirty="0">
                <a:solidFill>
                  <a:srgbClr val="0000FF"/>
                </a:solidFill>
                <a:highlight>
                  <a:srgbClr val="FFFFFF"/>
                </a:highlight>
                <a:latin typeface="Arial"/>
              </a:rPr>
              <a:t>&gt;</a:t>
            </a:r>
            <a:r>
              <a:rPr lang="en-US" altLang="zh-CN" sz="14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hotel</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pt-BR" altLang="zh-CN" sz="1400" dirty="0">
                <a:solidFill>
                  <a:srgbClr val="000000"/>
                </a:solidFill>
                <a:highlight>
                  <a:srgbClr val="FFFFFF"/>
                </a:highlight>
                <a:latin typeface="Arial"/>
              </a:rPr>
              <a:t>   </a:t>
            </a:r>
            <a:r>
              <a:rPr lang="pt-BR" altLang="zh-CN" sz="1400" dirty="0">
                <a:solidFill>
                  <a:srgbClr val="0000FF"/>
                </a:solidFill>
                <a:highlight>
                  <a:srgbClr val="FFFFFF"/>
                </a:highlight>
                <a:latin typeface="Arial"/>
              </a:rPr>
              <a:t>&lt;</a:t>
            </a:r>
            <a:r>
              <a:rPr lang="pt-BR" altLang="zh-CN" sz="1400" dirty="0">
                <a:solidFill>
                  <a:srgbClr val="800000"/>
                </a:solidFill>
                <a:highlight>
                  <a:srgbClr val="FFFFFF"/>
                </a:highlight>
                <a:latin typeface="Arial"/>
              </a:rPr>
              <a:t>r:areaMap</a:t>
            </a:r>
            <a:r>
              <a:rPr lang="pt-BR" altLang="zh-CN" sz="1400" dirty="0">
                <a:solidFill>
                  <a:srgbClr val="FF0000"/>
                </a:solidFill>
                <a:highlight>
                  <a:srgbClr val="FFFFFF"/>
                </a:highlight>
                <a:latin typeface="Arial"/>
              </a:rPr>
              <a:t> xmlns:r</a:t>
            </a:r>
            <a:r>
              <a:rPr lang="pt-BR" altLang="zh-CN" sz="1400" dirty="0">
                <a:solidFill>
                  <a:srgbClr val="0000FF"/>
                </a:solidFill>
                <a:highlight>
                  <a:srgbClr val="FFFFFF"/>
                </a:highlight>
                <a:latin typeface="Arial"/>
              </a:rPr>
              <a:t>="</a:t>
            </a:r>
            <a:r>
              <a:rPr lang="pt-BR" altLang="zh-CN" sz="1400" dirty="0">
                <a:solidFill>
                  <a:srgbClr val="000000"/>
                </a:solidFill>
                <a:highlight>
                  <a:srgbClr val="FFFFFF"/>
                </a:highlight>
                <a:latin typeface="Arial"/>
              </a:rPr>
              <a:t>http://travelcompany.example.org/maps</a:t>
            </a:r>
            <a:r>
              <a:rPr lang="pt-BR" altLang="zh-CN" sz="1400" dirty="0">
                <a:solidFill>
                  <a:srgbClr val="0000FF"/>
                </a:solidFill>
                <a:highlight>
                  <a:srgbClr val="FFFFFF"/>
                </a:highlight>
                <a:latin typeface="Arial"/>
              </a:rPr>
              <a:t>"&gt;</a:t>
            </a:r>
            <a:r>
              <a:rPr lang="pt-BR" altLang="zh-CN" sz="1400" dirty="0">
                <a:solidFill>
                  <a:srgbClr val="000000"/>
                </a:solidFill>
                <a:highlight>
                  <a:srgbClr val="FFFFFF"/>
                </a:highlight>
                <a:latin typeface="Arial"/>
              </a:rPr>
              <a:t>HlkR4kTYMCgoAQMAAAA</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AA8///ru6q/8zPzMzM/7v/CLsw6pne+4jPCIgACHcwFWYhBFUQBEQABDM</a:t>
            </a:r>
          </a:p>
          <a:p>
            <a:pPr eaLnBrk="1" hangingPunct="1">
              <a:spcBef>
                <a:spcPct val="20000"/>
              </a:spcBef>
              <a:buClr>
                <a:schemeClr val="accent1"/>
              </a:buClr>
              <a:buFont typeface="Wingdings" panose="05000000000000000000" pitchFamily="2" charset="2"/>
              <a:buNone/>
              <a:defRPr/>
            </a:pPr>
            <a:r>
              <a:rPr lang="en-US" altLang="zh-CN" sz="1400" dirty="0" err="1">
                <a:solidFill>
                  <a:srgbClr val="000000"/>
                </a:solidFill>
                <a:highlight>
                  <a:srgbClr val="FFFFFF"/>
                </a:highlight>
                <a:latin typeface="Arial"/>
              </a:rPr>
              <a:t>AEBAsAAAAAAjAIKAAUw</a:t>
            </a:r>
            <a:r>
              <a:rPr lang="en-US" altLang="zh-CN" sz="1400" dirty="0">
                <a:solidFill>
                  <a:srgbClr val="000000"/>
                </a:solidFill>
                <a:highlight>
                  <a:srgbClr val="FFFFFF"/>
                </a:highlight>
                <a:latin typeface="Arial"/>
              </a:rPr>
              <a:t>/gRRCFlmnopqrFHJvvNyyLw2Ji56789+/ADKcHia3OiMpSEoEobgKHDnS</a:t>
            </a:r>
          </a:p>
          <a:p>
            <a:pPr eaLnBrk="1" hangingPunct="1">
              <a:spcBef>
                <a:spcPct val="20000"/>
              </a:spcBef>
              <a:buClr>
                <a:schemeClr val="accent1"/>
              </a:buClr>
              <a:buFont typeface="Wingdings" panose="05000000000000000000" pitchFamily="2" charset="2"/>
              <a:buNone/>
              <a:defRPr/>
            </a:pPr>
            <a:r>
              <a:rPr lang="zh-CN" altLang="en-US" sz="1400" dirty="0">
                <a:solidFill>
                  <a:srgbClr val="000000"/>
                </a:solidFill>
                <a:highlight>
                  <a:srgbClr val="FFFFFF"/>
                </a:highlight>
                <a:latin typeface="Arial"/>
              </a:rPr>
              <a:t>             </a:t>
            </a:r>
            <a:r>
              <a:rPr lang="en-US" altLang="zh-CN" sz="14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w83hCNkr0gECT1bgEaJigpDmwFEvYOkDCgYQLMus1QDgFUYOoGGN+gtPdYYgOMDZLhwyA+BHyDMR</a:t>
            </a: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qweAJoAgAcYHvzTQktoAsODhl4LYBIDMevgtHPUDiAmg5gSQTUB8ETxO1HKAJRj4OI70AMeKgriF</a:t>
            </a:r>
          </a:p>
          <a:p>
            <a:pPr eaLnBrk="1" hangingPunct="1">
              <a:spcBef>
                <a:spcPct val="20000"/>
              </a:spcBef>
              <a:buClr>
                <a:schemeClr val="accent1"/>
              </a:buClr>
              <a:buFont typeface="Wingdings" panose="05000000000000000000" pitchFamily="2" charset="2"/>
              <a:buNone/>
              <a:defRPr/>
            </a:pPr>
            <a:r>
              <a:rPr lang="en-US" altLang="zh-CN" sz="1400" dirty="0" err="1">
                <a:solidFill>
                  <a:srgbClr val="000000"/>
                </a:solidFill>
                <a:highlight>
                  <a:srgbClr val="FFFFFF"/>
                </a:highlight>
                <a:latin typeface="Arial"/>
              </a:rPr>
              <a:t>LOECAAwO</a:t>
            </a:r>
            <a:r>
              <a:rPr lang="en-US" altLang="zh-CN" sz="1400" dirty="0">
                <a:solidFill>
                  <a:srgbClr val="000000"/>
                </a:solidFill>
                <a:highlight>
                  <a:srgbClr val="FFFFFF"/>
                </a:highlight>
                <a:latin typeface="Arial"/>
              </a:rPr>
              <a:t>=</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r:areaMap</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a:solidFill>
                  <a:srgbClr val="800000"/>
                </a:solidFill>
                <a:highlight>
                  <a:srgbClr val="FFFFFF"/>
                </a:highlight>
                <a:latin typeface="Arial"/>
              </a:rPr>
              <a:t>q:lodging</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00"/>
                </a:solidFill>
                <a:highlight>
                  <a:srgbClr val="FFFFFF"/>
                </a:highlight>
                <a:latin typeface="Arial"/>
              </a:rPr>
              <a:t> </a:t>
            </a: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env:Body</a:t>
            </a:r>
            <a:r>
              <a:rPr lang="en-US" altLang="zh-CN" sz="1400" dirty="0">
                <a:solidFill>
                  <a:srgbClr val="0000FF"/>
                </a:solidFill>
                <a:highlight>
                  <a:srgbClr val="FFFFFF"/>
                </a:highlight>
                <a:latin typeface="Arial"/>
              </a:rPr>
              <a:t>&gt;</a:t>
            </a:r>
            <a:endParaRPr lang="en-US" altLang="zh-CN" sz="14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400" dirty="0">
                <a:solidFill>
                  <a:srgbClr val="0000FF"/>
                </a:solidFill>
                <a:highlight>
                  <a:srgbClr val="FFFFFF"/>
                </a:highlight>
                <a:latin typeface="Arial"/>
              </a:rPr>
              <a:t>&lt;/</a:t>
            </a:r>
            <a:r>
              <a:rPr lang="en-US" altLang="zh-CN" sz="1400" dirty="0" err="1">
                <a:solidFill>
                  <a:srgbClr val="800000"/>
                </a:solidFill>
                <a:highlight>
                  <a:srgbClr val="FFFFFF"/>
                </a:highlight>
                <a:latin typeface="Arial"/>
              </a:rPr>
              <a:t>env:Envelope</a:t>
            </a:r>
            <a:r>
              <a:rPr lang="en-US" altLang="zh-CN" sz="1400" dirty="0">
                <a:solidFill>
                  <a:srgbClr val="0000FF"/>
                </a:solidFill>
                <a:highlight>
                  <a:srgbClr val="FFFFFF"/>
                </a:highlight>
                <a:latin typeface="Arial"/>
              </a:rPr>
              <a:t>&gt;</a:t>
            </a:r>
            <a:endParaRPr lang="zh-CN" altLang="zh-CN" sz="1400" kern="100" dirty="0">
              <a:latin typeface="Calibri"/>
              <a:ea typeface="宋体"/>
              <a:cs typeface="Times New Roman"/>
            </a:endParaRPr>
          </a:p>
        </p:txBody>
      </p:sp>
      <p:sp>
        <p:nvSpPr>
          <p:cNvPr id="6" name="Line 6">
            <a:extLst>
              <a:ext uri="{FF2B5EF4-FFF2-40B4-BE49-F238E27FC236}">
                <a16:creationId xmlns:a16="http://schemas.microsoft.com/office/drawing/2014/main" id="{9ACA0284-CA08-49BE-A83D-F6F59E2245FB}"/>
              </a:ext>
            </a:extLst>
          </p:cNvPr>
          <p:cNvSpPr>
            <a:spLocks noChangeShapeType="1"/>
          </p:cNvSpPr>
          <p:nvPr/>
        </p:nvSpPr>
        <p:spPr bwMode="auto">
          <a:xfrm flipH="1" flipV="1">
            <a:off x="4356100" y="4797425"/>
            <a:ext cx="379413" cy="5778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F83D5143-F33F-4BB0-8D0F-E5A1B8169A25}"/>
              </a:ext>
            </a:extLst>
          </p:cNvPr>
          <p:cNvSpPr txBox="1">
            <a:spLocks noChangeArrowheads="1"/>
          </p:cNvSpPr>
          <p:nvPr/>
        </p:nvSpPr>
        <p:spPr bwMode="auto">
          <a:xfrm>
            <a:off x="4581525" y="5300663"/>
            <a:ext cx="3543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Base64 encoding of binary data</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F657A-849B-4113-BA08-22E87ED2DD41}"/>
              </a:ext>
            </a:extLst>
          </p:cNvPr>
          <p:cNvSpPr>
            <a:spLocks noGrp="1"/>
          </p:cNvSpPr>
          <p:nvPr>
            <p:ph type="title"/>
          </p:nvPr>
        </p:nvSpPr>
        <p:spPr/>
        <p:txBody>
          <a:bodyPr>
            <a:noAutofit/>
          </a:bodyPr>
          <a:lstStyle/>
          <a:p>
            <a:pPr>
              <a:defRPr/>
            </a:pPr>
            <a:r>
              <a:rPr lang="en-US" altLang="zh-CN" sz="2800" dirty="0"/>
              <a:t>Message Transmission Optimization Mechanism (MTOM) (1/3)</a:t>
            </a:r>
            <a:endParaRPr lang="zh-CN" altLang="en-US" sz="2800" dirty="0"/>
          </a:p>
        </p:txBody>
      </p:sp>
      <p:sp>
        <p:nvSpPr>
          <p:cNvPr id="29699" name="内容占位符 2">
            <a:extLst>
              <a:ext uri="{FF2B5EF4-FFF2-40B4-BE49-F238E27FC236}">
                <a16:creationId xmlns:a16="http://schemas.microsoft.com/office/drawing/2014/main" id="{6FBE9A3B-B839-4114-BC7F-A01E2D7EA674}"/>
              </a:ext>
            </a:extLst>
          </p:cNvPr>
          <p:cNvSpPr>
            <a:spLocks noGrp="1"/>
          </p:cNvSpPr>
          <p:nvPr>
            <p:ph idx="1"/>
          </p:nvPr>
        </p:nvSpPr>
        <p:spPr/>
        <p:txBody>
          <a:bodyPr>
            <a:normAutofit fontScale="92500"/>
          </a:bodyPr>
          <a:lstStyle/>
          <a:p>
            <a:pPr>
              <a:lnSpc>
                <a:spcPct val="110000"/>
              </a:lnSpc>
              <a:defRPr/>
            </a:pPr>
            <a:r>
              <a:rPr lang="en-US" altLang="zh-CN" sz="2800" dirty="0">
                <a:hlinkClick r:id="rId3" action="ppaction://hlinkfile"/>
              </a:rPr>
              <a:t>[MTOM]</a:t>
            </a:r>
            <a:r>
              <a:rPr lang="en-US" altLang="zh-CN" sz="2800" dirty="0"/>
              <a:t> offers an optimization that avoids the need to carry base64-encode large binary content</a:t>
            </a:r>
          </a:p>
          <a:p>
            <a:pPr lvl="1">
              <a:lnSpc>
                <a:spcPct val="110000"/>
              </a:lnSpc>
              <a:defRPr/>
            </a:pPr>
            <a:r>
              <a:rPr lang="en-US" altLang="zh-CN" sz="2200" dirty="0"/>
              <a:t>Note that SOAP nodes that do not implement [</a:t>
            </a:r>
            <a:r>
              <a:rPr lang="en-US" altLang="zh-CN" sz="2200" dirty="0">
                <a:hlinkClick r:id="rId3" action="ppaction://hlinkfile"/>
              </a:rPr>
              <a:t>MTOM</a:t>
            </a:r>
            <a:r>
              <a:rPr lang="en-US" altLang="zh-CN" sz="2200" dirty="0"/>
              <a:t>] have no choice but to carry binary data re-encoded in its base64 character representation</a:t>
            </a:r>
          </a:p>
          <a:p>
            <a:pPr>
              <a:lnSpc>
                <a:spcPct val="110000"/>
              </a:lnSpc>
              <a:defRPr/>
            </a:pPr>
            <a:r>
              <a:rPr lang="en-US" altLang="zh-CN" sz="2800" dirty="0"/>
              <a:t>[</a:t>
            </a:r>
            <a:r>
              <a:rPr lang="en-US" altLang="zh-CN" sz="2800" dirty="0">
                <a:hlinkClick r:id="rId3" action="ppaction://hlinkfile"/>
              </a:rPr>
              <a:t>MTOM</a:t>
            </a:r>
            <a:r>
              <a:rPr lang="en-US" altLang="zh-CN" sz="2800" dirty="0"/>
              <a:t>] works on the optimistic assumption that the sending and receiving applications will </a:t>
            </a:r>
            <a:r>
              <a:rPr lang="en-US" altLang="zh-CN" sz="2800" i="1" dirty="0">
                <a:solidFill>
                  <a:srgbClr val="FF0000"/>
                </a:solidFill>
              </a:rPr>
              <a:t>not actually </a:t>
            </a:r>
            <a:r>
              <a:rPr lang="en-US" altLang="zh-CN" sz="2800" dirty="0"/>
              <a:t>need the character-based representation of the binary value, and therefore there will be no real processing overhead in conversion between the binary value and its base64 encoding</a:t>
            </a:r>
          </a:p>
        </p:txBody>
      </p:sp>
      <p:sp>
        <p:nvSpPr>
          <p:cNvPr id="14340" name="灯片编号占位符 3">
            <a:extLst>
              <a:ext uri="{FF2B5EF4-FFF2-40B4-BE49-F238E27FC236}">
                <a16:creationId xmlns:a16="http://schemas.microsoft.com/office/drawing/2014/main" id="{AD6913E0-ADA9-4928-A130-F68F16364CF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25</a:t>
            </a:fld>
            <a:endParaRPr lang="en-US" altLang="zh-CN" sz="100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a:extLst>
              <a:ext uri="{FF2B5EF4-FFF2-40B4-BE49-F238E27FC236}">
                <a16:creationId xmlns:a16="http://schemas.microsoft.com/office/drawing/2014/main" id="{2CE3F530-F171-44A8-89CD-B46FF682ECA6}"/>
              </a:ext>
            </a:extLst>
          </p:cNvPr>
          <p:cNvSpPr>
            <a:spLocks noGrp="1"/>
          </p:cNvSpPr>
          <p:nvPr>
            <p:ph type="title"/>
          </p:nvPr>
        </p:nvSpPr>
        <p:spPr/>
        <p:txBody>
          <a:bodyPr>
            <a:noAutofit/>
          </a:bodyPr>
          <a:lstStyle/>
          <a:p>
            <a:pPr>
              <a:defRPr/>
            </a:pPr>
            <a:r>
              <a:rPr lang="en-US" altLang="zh-CN" sz="2800" dirty="0"/>
              <a:t>Message Transmission Optimization Mechanism (MTOM) (2/3)</a:t>
            </a:r>
            <a:endParaRPr lang="zh-CN" altLang="en-US" sz="2800" dirty="0"/>
          </a:p>
        </p:txBody>
      </p:sp>
      <p:sp>
        <p:nvSpPr>
          <p:cNvPr id="3" name="内容占位符 2">
            <a:extLst>
              <a:ext uri="{FF2B5EF4-FFF2-40B4-BE49-F238E27FC236}">
                <a16:creationId xmlns:a16="http://schemas.microsoft.com/office/drawing/2014/main" id="{696694D7-1C7F-47CE-922A-6C5F5D3465AB}"/>
              </a:ext>
            </a:extLst>
          </p:cNvPr>
          <p:cNvSpPr>
            <a:spLocks noGrp="1"/>
          </p:cNvSpPr>
          <p:nvPr>
            <p:ph idx="1"/>
          </p:nvPr>
        </p:nvSpPr>
        <p:spPr/>
        <p:txBody>
          <a:bodyPr>
            <a:normAutofit fontScale="70000" lnSpcReduction="20000"/>
          </a:bodyPr>
          <a:lstStyle/>
          <a:p>
            <a:pPr>
              <a:lnSpc>
                <a:spcPct val="120000"/>
              </a:lnSpc>
              <a:defRPr/>
            </a:pPr>
            <a:r>
              <a:rPr lang="en-US" altLang="zh-CN" sz="2900" dirty="0"/>
              <a:t>[</a:t>
            </a:r>
            <a:r>
              <a:rPr lang="en-US" altLang="zh-CN" sz="2900" dirty="0">
                <a:hlinkClick r:id="rId3" action="ppaction://hlinkfile"/>
              </a:rPr>
              <a:t>MTOM</a:t>
            </a:r>
            <a:r>
              <a:rPr lang="en-US" altLang="zh-CN" sz="2900" dirty="0"/>
              <a:t>] defines an </a:t>
            </a:r>
            <a:r>
              <a:rPr lang="en-US" altLang="zh-CN" sz="2900" dirty="0">
                <a:hlinkClick r:id="rId4"/>
              </a:rPr>
              <a:t>Abstract SOAP Transmission Optimization feature</a:t>
            </a:r>
            <a:r>
              <a:rPr lang="en-US" altLang="zh-CN" sz="2900" dirty="0"/>
              <a:t> to allow for independence from the underlying protocol binding, so that the optimization mechanism may be available over a variety of transports, as well as to retain the principal SOAP binding paradigm- that the SOAP message </a:t>
            </a:r>
            <a:r>
              <a:rPr lang="en-US" altLang="zh-CN" sz="2900" dirty="0" err="1"/>
              <a:t>infoset</a:t>
            </a:r>
            <a:r>
              <a:rPr lang="en-US" altLang="zh-CN" sz="2900" dirty="0"/>
              <a:t>, however serialized, be transmitted unchanged between adjacent nodes</a:t>
            </a:r>
          </a:p>
          <a:p>
            <a:pPr>
              <a:lnSpc>
                <a:spcPct val="120000"/>
              </a:lnSpc>
              <a:defRPr/>
            </a:pPr>
            <a:r>
              <a:rPr lang="en-US" altLang="zh-CN" sz="2900" dirty="0"/>
              <a:t>As with all features, [</a:t>
            </a:r>
            <a:r>
              <a:rPr lang="en-US" altLang="zh-CN" sz="2900" dirty="0">
                <a:hlinkClick r:id="rId3" action="ppaction://hlinkfile"/>
              </a:rPr>
              <a:t>MTOM</a:t>
            </a:r>
            <a:r>
              <a:rPr lang="en-US" altLang="zh-CN" sz="2900" dirty="0"/>
              <a:t>] needs a SOAP protocol binding to transfer the optimized serialization</a:t>
            </a:r>
          </a:p>
          <a:p>
            <a:pPr lvl="1">
              <a:lnSpc>
                <a:spcPct val="120000"/>
              </a:lnSpc>
              <a:defRPr/>
            </a:pPr>
            <a:r>
              <a:rPr lang="en-US" altLang="zh-CN" sz="2300" dirty="0"/>
              <a:t>An MTOM-aware binding is one where a sender can serialize a SOAP message </a:t>
            </a:r>
            <a:r>
              <a:rPr lang="en-US" altLang="zh-CN" sz="2300" dirty="0" err="1"/>
              <a:t>infoset</a:t>
            </a:r>
            <a:r>
              <a:rPr lang="en-US" altLang="zh-CN" sz="2300" dirty="0"/>
              <a:t> by transmitting the actual value (actual bits) of certain element information items known to be in the canonical lexical representation of type </a:t>
            </a:r>
            <a:r>
              <a:rPr lang="en-US" altLang="zh-CN" sz="2600" dirty="0">
                <a:hlinkClick r:id="rId5"/>
              </a:rPr>
              <a:t>xs:base64Binary</a:t>
            </a:r>
            <a:r>
              <a:rPr lang="en-US" altLang="zh-CN" sz="2300" dirty="0"/>
              <a:t> rather than their lexical character representation</a:t>
            </a:r>
          </a:p>
          <a:p>
            <a:pPr lvl="1">
              <a:lnSpc>
                <a:spcPct val="120000"/>
              </a:lnSpc>
              <a:defRPr/>
            </a:pPr>
            <a:r>
              <a:rPr lang="en-US" altLang="zh-CN" sz="2300" dirty="0"/>
              <a:t>A receiver supporting this binding can, from the received value, reconstruct, at least conceptually, the lexical character representation if that is required by the application</a:t>
            </a:r>
            <a:endParaRPr lang="en-US" altLang="zh-CN" sz="2000" dirty="0"/>
          </a:p>
        </p:txBody>
      </p:sp>
      <p:sp>
        <p:nvSpPr>
          <p:cNvPr id="16388" name="灯片编号占位符 3">
            <a:extLst>
              <a:ext uri="{FF2B5EF4-FFF2-40B4-BE49-F238E27FC236}">
                <a16:creationId xmlns:a16="http://schemas.microsoft.com/office/drawing/2014/main" id="{40CE92E4-9560-4D3A-8554-47ADDE01DF0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26</a:t>
            </a:fld>
            <a:endParaRPr lang="en-US" altLang="zh-CN" sz="100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0D7909D5-C0FD-4C96-A7E6-13955B4968C7}"/>
              </a:ext>
            </a:extLst>
          </p:cNvPr>
          <p:cNvSpPr>
            <a:spLocks noGrp="1"/>
          </p:cNvSpPr>
          <p:nvPr>
            <p:ph type="title"/>
          </p:nvPr>
        </p:nvSpPr>
        <p:spPr/>
        <p:txBody>
          <a:bodyPr>
            <a:noAutofit/>
          </a:bodyPr>
          <a:lstStyle/>
          <a:p>
            <a:pPr>
              <a:defRPr/>
            </a:pPr>
            <a:r>
              <a:rPr lang="en-US" altLang="zh-CN" sz="2800" dirty="0"/>
              <a:t>Message Transmission Optimization Mechanism (MTOM) (3/3)</a:t>
            </a:r>
            <a:endParaRPr lang="zh-CN" altLang="en-US" sz="2800" dirty="0"/>
          </a:p>
        </p:txBody>
      </p:sp>
      <p:sp>
        <p:nvSpPr>
          <p:cNvPr id="3" name="内容占位符 2">
            <a:extLst>
              <a:ext uri="{FF2B5EF4-FFF2-40B4-BE49-F238E27FC236}">
                <a16:creationId xmlns:a16="http://schemas.microsoft.com/office/drawing/2014/main" id="{CFE399DA-28E8-44E3-90D7-CA993E1068C6}"/>
              </a:ext>
            </a:extLst>
          </p:cNvPr>
          <p:cNvSpPr>
            <a:spLocks noGrp="1"/>
          </p:cNvSpPr>
          <p:nvPr>
            <p:ph idx="1"/>
          </p:nvPr>
        </p:nvSpPr>
        <p:spPr/>
        <p:txBody>
          <a:bodyPr>
            <a:normAutofit fontScale="32500" lnSpcReduction="20000"/>
          </a:bodyPr>
          <a:lstStyle/>
          <a:p>
            <a:pPr>
              <a:lnSpc>
                <a:spcPct val="120000"/>
              </a:lnSpc>
              <a:defRPr/>
            </a:pPr>
            <a:r>
              <a:rPr lang="en-US" altLang="zh-CN" sz="5500" dirty="0">
                <a:hlinkClick r:id="rId3" action="ppaction://hlinkfile"/>
              </a:rPr>
              <a:t>[MTOM] </a:t>
            </a:r>
            <a:r>
              <a:rPr lang="en-US" altLang="zh-CN" sz="5500" dirty="0"/>
              <a:t>provides an enhancement to the existing SOAP HTTP binding to provide an implementation of the </a:t>
            </a:r>
            <a:r>
              <a:rPr lang="en-US" altLang="zh-CN" sz="5500" dirty="0">
                <a:hlinkClick r:id="rId4"/>
              </a:rPr>
              <a:t>Abstract SOAP Transmission Optimization feature</a:t>
            </a:r>
            <a:r>
              <a:rPr lang="en-US" altLang="zh-CN" sz="5500" dirty="0"/>
              <a:t>. It uses the </a:t>
            </a:r>
            <a:r>
              <a:rPr lang="en-US" altLang="zh-CN" sz="5500" dirty="0">
                <a:hlinkClick r:id="rId5" action="ppaction://hlinkfile"/>
              </a:rPr>
              <a:t>[XOP]</a:t>
            </a:r>
            <a:r>
              <a:rPr lang="en-US" altLang="zh-CN" sz="5500" dirty="0"/>
              <a:t>-based inclusion, and places the resulting MIME Multipart/Related package in the body of a HTTP message.</a:t>
            </a:r>
          </a:p>
          <a:p>
            <a:pPr lvl="1">
              <a:lnSpc>
                <a:spcPct val="120000"/>
              </a:lnSpc>
              <a:defRPr/>
            </a:pPr>
            <a:r>
              <a:rPr lang="en-US" altLang="zh-CN" sz="4900" dirty="0"/>
              <a:t>Many applications will deal directly with the binary values and there is no implication that a base64 encoded character representation of the received value needs to be created, if there is no need to do so</a:t>
            </a:r>
          </a:p>
          <a:p>
            <a:pPr lvl="2">
              <a:lnSpc>
                <a:spcPct val="120000"/>
              </a:lnSpc>
              <a:defRPr/>
            </a:pPr>
            <a:r>
              <a:rPr lang="en-US" altLang="zh-CN" sz="4900" dirty="0"/>
              <a:t>However, there are instances when there may be a need to obtain the character representation, for example, at a SOAP intermediary which has to forward the message on a non-MTOM-aware binding</a:t>
            </a:r>
          </a:p>
          <a:p>
            <a:pPr lvl="1">
              <a:lnSpc>
                <a:spcPct val="120000"/>
              </a:lnSpc>
              <a:defRPr/>
            </a:pPr>
            <a:r>
              <a:rPr lang="en-US" altLang="zh-CN" sz="4900" dirty="0"/>
              <a:t>One important subtlety in ensuring that the original message </a:t>
            </a:r>
            <a:r>
              <a:rPr lang="en-US" altLang="zh-CN" sz="4900" dirty="0" err="1"/>
              <a:t>infoset</a:t>
            </a:r>
            <a:r>
              <a:rPr lang="en-US" altLang="zh-CN" sz="4900" dirty="0"/>
              <a:t> can be reconstructed faithfully is to mandate that the original base64 encoded characters be in their </a:t>
            </a:r>
            <a:r>
              <a:rPr lang="en-US" altLang="zh-CN" sz="4900" dirty="0">
                <a:solidFill>
                  <a:srgbClr val="FF0000"/>
                </a:solidFill>
              </a:rPr>
              <a:t>canonical form</a:t>
            </a:r>
            <a:r>
              <a:rPr lang="en-US" altLang="zh-CN" sz="4900" dirty="0"/>
              <a:t>, which permits a </a:t>
            </a:r>
            <a:r>
              <a:rPr lang="en-US" altLang="zh-CN" sz="4900" dirty="0">
                <a:solidFill>
                  <a:srgbClr val="FF0000"/>
                </a:solidFill>
              </a:rPr>
              <a:t>1-to-1</a:t>
            </a:r>
            <a:r>
              <a:rPr lang="en-US" altLang="zh-CN" sz="4900" dirty="0"/>
              <a:t> correspondence between a binary value and its </a:t>
            </a:r>
            <a:r>
              <a:rPr lang="en-US" altLang="zh-CN" sz="4900"/>
              <a:t>lexical representation</a:t>
            </a:r>
            <a:endParaRPr lang="en-US" altLang="zh-CN" sz="4900" dirty="0"/>
          </a:p>
          <a:p>
            <a:pPr lvl="2">
              <a:lnSpc>
                <a:spcPct val="120000"/>
              </a:lnSpc>
              <a:defRPr/>
            </a:pPr>
            <a:r>
              <a:rPr lang="en-US" altLang="zh-CN" sz="4500" dirty="0">
                <a:hlinkClick r:id="rId6" action="ppaction://hlinkfile"/>
              </a:rPr>
              <a:t>[XML Schema Part2]</a:t>
            </a:r>
            <a:r>
              <a:rPr lang="en-US" altLang="zh-CN" sz="4500" dirty="0"/>
              <a:t> allows for multiple lexical representations of the </a:t>
            </a:r>
            <a:r>
              <a:rPr lang="en-US" altLang="zh-CN" sz="4500" dirty="0">
                <a:hlinkClick r:id="rId6" action="ppaction://hlinkfile"/>
              </a:rPr>
              <a:t>xs:base64Binary</a:t>
            </a:r>
            <a:r>
              <a:rPr lang="en-US" altLang="zh-CN" sz="4500" dirty="0"/>
              <a:t> data type, mainly in the handling of white space</a:t>
            </a:r>
          </a:p>
          <a:p>
            <a:pPr>
              <a:defRPr/>
            </a:pPr>
            <a:endParaRPr lang="zh-CN" altLang="en-US" dirty="0"/>
          </a:p>
        </p:txBody>
      </p:sp>
      <p:sp>
        <p:nvSpPr>
          <p:cNvPr id="18436" name="灯片编号占位符 3">
            <a:extLst>
              <a:ext uri="{FF2B5EF4-FFF2-40B4-BE49-F238E27FC236}">
                <a16:creationId xmlns:a16="http://schemas.microsoft.com/office/drawing/2014/main" id="{23CCE694-7001-4CCB-96F2-059F03B6814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27</a:t>
            </a:fld>
            <a:endParaRPr lang="en-US" altLang="zh-CN" sz="100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619F73-FEB3-44D1-97D2-17AAA50ADCA9}"/>
              </a:ext>
            </a:extLst>
          </p:cNvPr>
          <p:cNvSpPr>
            <a:spLocks noGrp="1"/>
          </p:cNvSpPr>
          <p:nvPr>
            <p:ph type="title"/>
          </p:nvPr>
        </p:nvSpPr>
        <p:spPr/>
        <p:txBody>
          <a:bodyPr>
            <a:normAutofit fontScale="90000"/>
          </a:bodyPr>
          <a:lstStyle/>
          <a:p>
            <a:pPr>
              <a:defRPr/>
            </a:pPr>
            <a:r>
              <a:rPr lang="en-US" altLang="zh-CN" dirty="0"/>
              <a:t>The Optimized Transmission Serialization Format</a:t>
            </a:r>
            <a:endParaRPr lang="zh-CN" altLang="en-US" dirty="0"/>
          </a:p>
        </p:txBody>
      </p:sp>
      <p:sp>
        <p:nvSpPr>
          <p:cNvPr id="3" name="内容占位符 2">
            <a:extLst>
              <a:ext uri="{FF2B5EF4-FFF2-40B4-BE49-F238E27FC236}">
                <a16:creationId xmlns:a16="http://schemas.microsoft.com/office/drawing/2014/main" id="{306FC0F2-D388-4702-9849-8456EA5AA7E7}"/>
              </a:ext>
            </a:extLst>
          </p:cNvPr>
          <p:cNvSpPr>
            <a:spLocks noGrp="1"/>
          </p:cNvSpPr>
          <p:nvPr>
            <p:ph idx="1"/>
          </p:nvPr>
        </p:nvSpPr>
        <p:spPr/>
        <p:txBody>
          <a:bodyPr>
            <a:normAutofit/>
          </a:bodyPr>
          <a:lstStyle/>
          <a:p>
            <a:pPr>
              <a:defRPr/>
            </a:pPr>
            <a:r>
              <a:rPr lang="en-US" altLang="zh-CN" sz="1800" dirty="0"/>
              <a:t>The serialization technique is described in </a:t>
            </a:r>
            <a:r>
              <a:rPr lang="en-US" altLang="zh-CN" sz="1800" dirty="0">
                <a:hlinkClick r:id="rId3" action="ppaction://hlinkfile"/>
              </a:rPr>
              <a:t>[MTOM]</a:t>
            </a:r>
            <a:r>
              <a:rPr lang="en-US" altLang="zh-CN" sz="1800" dirty="0"/>
              <a:t> by making use of an "inclusion" technique specified in the XML-binary Optimized Packaging </a:t>
            </a:r>
            <a:r>
              <a:rPr lang="en-US" altLang="zh-CN" sz="1800" dirty="0">
                <a:hlinkClick r:id="rId4" action="ppaction://hlinkfile"/>
              </a:rPr>
              <a:t>[XOP]</a:t>
            </a:r>
            <a:r>
              <a:rPr lang="en-US" altLang="zh-CN" sz="1800" dirty="0"/>
              <a:t> specification together with a MIME Multipart/Related packaging</a:t>
            </a:r>
          </a:p>
          <a:p>
            <a:pPr>
              <a:defRPr/>
            </a:pPr>
            <a:r>
              <a:rPr lang="en-US" altLang="zh-CN" sz="1800" dirty="0">
                <a:hlinkClick r:id="rId4" action="ppaction://hlinkfile"/>
              </a:rPr>
              <a:t>[XOP]</a:t>
            </a:r>
            <a:r>
              <a:rPr lang="en-US" altLang="zh-CN" sz="1800" dirty="0"/>
              <a:t> defines an </a:t>
            </a:r>
            <a:r>
              <a:rPr lang="en-US" altLang="zh-CN" sz="1800" dirty="0" err="1">
                <a:hlinkClick r:id="rId5"/>
              </a:rPr>
              <a:t>xop:Include</a:t>
            </a:r>
            <a:r>
              <a:rPr lang="en-US" altLang="zh-CN" sz="1800" dirty="0"/>
              <a:t> element that ties, at a SOAP binding level, the binary content for an element to its </a:t>
            </a:r>
            <a:r>
              <a:rPr lang="en-US" altLang="zh-CN" sz="1800" dirty="0" err="1"/>
              <a:t>infoset</a:t>
            </a:r>
            <a:r>
              <a:rPr lang="en-US" altLang="zh-CN" sz="1800" dirty="0"/>
              <a:t> representation as base64-encoded character information items</a:t>
            </a:r>
          </a:p>
          <a:p>
            <a:pPr>
              <a:defRPr/>
            </a:pPr>
            <a:r>
              <a:rPr lang="en-US" altLang="zh-CN" sz="1800" dirty="0"/>
              <a:t>A SOAP binding that is capable of optimized serialization of an </a:t>
            </a:r>
            <a:r>
              <a:rPr lang="en-US" altLang="zh-CN" sz="1800" dirty="0" err="1"/>
              <a:t>infoset</a:t>
            </a:r>
            <a:r>
              <a:rPr lang="en-US" altLang="zh-CN" sz="1800" dirty="0"/>
              <a:t> containing such binary data represented by their character information items uses this </a:t>
            </a:r>
            <a:r>
              <a:rPr lang="en-US" altLang="zh-CN" sz="1800" dirty="0" err="1">
                <a:hlinkClick r:id="rId5"/>
              </a:rPr>
              <a:t>xop:Include</a:t>
            </a:r>
            <a:r>
              <a:rPr lang="en-US" altLang="zh-CN" sz="1800" dirty="0"/>
              <a:t> element in the SOAP envelope as a placeholder to link (using an </a:t>
            </a:r>
            <a:r>
              <a:rPr lang="en-US" altLang="zh-CN" sz="1800" dirty="0" err="1">
                <a:hlinkClick r:id="rId5"/>
              </a:rPr>
              <a:t>href</a:t>
            </a:r>
            <a:r>
              <a:rPr lang="en-US" altLang="zh-CN" sz="1800" dirty="0"/>
              <a:t> attribute) to the optimized (i.e., binary) data carried along with the SOAP envelope in an overall package</a:t>
            </a:r>
          </a:p>
          <a:p>
            <a:pPr>
              <a:defRPr/>
            </a:pPr>
            <a:r>
              <a:rPr lang="en-US" altLang="zh-CN" sz="1800" dirty="0"/>
              <a:t>The overall package chosen is the extensible MIME Multipart/Related </a:t>
            </a:r>
            <a:r>
              <a:rPr lang="en-US" altLang="zh-CN" sz="1800" dirty="0">
                <a:hlinkClick r:id="rId6" action="ppaction://hlinkfile"/>
              </a:rPr>
              <a:t>[RFC 2387]</a:t>
            </a:r>
            <a:r>
              <a:rPr lang="en-US" altLang="zh-CN" sz="1800" dirty="0"/>
              <a:t> format. The root body part of this MIME package contains the XML 1.0 serialization of the SOAP </a:t>
            </a:r>
            <a:r>
              <a:rPr lang="en-US" altLang="zh-CN" sz="1800" dirty="0" err="1">
                <a:hlinkClick r:id="rId4" action="ppaction://hlinkfile"/>
              </a:rPr>
              <a:t>env:Envelope</a:t>
            </a:r>
            <a:r>
              <a:rPr lang="en-US" altLang="zh-CN" sz="1800" dirty="0"/>
              <a:t>, modified by the presence of one (or more) </a:t>
            </a:r>
            <a:r>
              <a:rPr lang="en-US" altLang="zh-CN" sz="1800" dirty="0" err="1">
                <a:hlinkClick r:id="rId4" action="ppaction://hlinkfile"/>
              </a:rPr>
              <a:t>xop:Include</a:t>
            </a:r>
            <a:r>
              <a:rPr lang="en-US" altLang="zh-CN" sz="1800" dirty="0"/>
              <a:t> element(s), while the other (related) body part(s) of the MIME package contain the compact (</a:t>
            </a:r>
            <a:r>
              <a:rPr lang="en-US" altLang="zh-CN" sz="1800" dirty="0" err="1"/>
              <a:t>i.e</a:t>
            </a:r>
            <a:r>
              <a:rPr lang="en-US" altLang="zh-CN" sz="1800" dirty="0"/>
              <a:t>, binary) data referenced by the </a:t>
            </a:r>
            <a:r>
              <a:rPr lang="en-US" altLang="zh-CN" sz="1800" dirty="0" err="1">
                <a:hlinkClick r:id="rId4" action="ppaction://hlinkfile"/>
              </a:rPr>
              <a:t>xop:Include</a:t>
            </a:r>
            <a:r>
              <a:rPr lang="en-US" altLang="zh-CN" sz="1800" dirty="0"/>
              <a:t> element(s)</a:t>
            </a:r>
          </a:p>
        </p:txBody>
      </p:sp>
      <p:sp>
        <p:nvSpPr>
          <p:cNvPr id="20484" name="灯片编号占位符 3">
            <a:extLst>
              <a:ext uri="{FF2B5EF4-FFF2-40B4-BE49-F238E27FC236}">
                <a16:creationId xmlns:a16="http://schemas.microsoft.com/office/drawing/2014/main" id="{283922AF-9E3D-405D-93C4-68F1B68B9BB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28</a:t>
            </a:fld>
            <a:endParaRPr lang="en-US" altLang="zh-CN" sz="100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a:extLst>
              <a:ext uri="{FF2B5EF4-FFF2-40B4-BE49-F238E27FC236}">
                <a16:creationId xmlns:a16="http://schemas.microsoft.com/office/drawing/2014/main" id="{B3DF3872-C870-4CE5-9A8B-BB8274D15410}"/>
              </a:ext>
            </a:extLst>
          </p:cNvPr>
          <p:cNvSpPr>
            <a:spLocks noGrp="1"/>
          </p:cNvSpPr>
          <p:nvPr>
            <p:ph type="title"/>
          </p:nvPr>
        </p:nvSpPr>
        <p:spPr/>
        <p:txBody>
          <a:bodyPr>
            <a:normAutofit fontScale="90000"/>
          </a:bodyPr>
          <a:lstStyle/>
          <a:p>
            <a:pPr>
              <a:defRPr/>
            </a:pPr>
            <a:r>
              <a:rPr lang="en-US" altLang="zh-CN" dirty="0"/>
              <a:t>The Optimized Transmission Serialization Format Over HTTP (1/3)</a:t>
            </a:r>
            <a:endParaRPr lang="zh-CN" altLang="en-US" dirty="0"/>
          </a:p>
        </p:txBody>
      </p:sp>
      <p:sp>
        <p:nvSpPr>
          <p:cNvPr id="22531" name="灯片编号占位符 3">
            <a:extLst>
              <a:ext uri="{FF2B5EF4-FFF2-40B4-BE49-F238E27FC236}">
                <a16:creationId xmlns:a16="http://schemas.microsoft.com/office/drawing/2014/main" id="{A0028CE2-D6C9-484E-956C-152F2D79C553}"/>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29</a:t>
            </a:fld>
            <a:endParaRPr lang="en-US" altLang="zh-CN" sz="1000"/>
          </a:p>
        </p:txBody>
      </p:sp>
      <p:sp>
        <p:nvSpPr>
          <p:cNvPr id="5" name="Text Box 4">
            <a:extLst>
              <a:ext uri="{FF2B5EF4-FFF2-40B4-BE49-F238E27FC236}">
                <a16:creationId xmlns:a16="http://schemas.microsoft.com/office/drawing/2014/main" id="{FB2F8890-B9EA-44B1-926D-4A3F773DC6CC}"/>
              </a:ext>
            </a:extLst>
          </p:cNvPr>
          <p:cNvSpPr txBox="1">
            <a:spLocks noChangeArrowheads="1"/>
          </p:cNvSpPr>
          <p:nvPr/>
        </p:nvSpPr>
        <p:spPr bwMode="auto">
          <a:xfrm>
            <a:off x="467544" y="1451722"/>
            <a:ext cx="8229600" cy="4933658"/>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HTTP/1.1 200 OK</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Content-Type: Multipart/Related; boundary=example-boundary; </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  type=application/</a:t>
            </a:r>
            <a:r>
              <a:rPr lang="en-US" altLang="zh-CN" sz="1100" dirty="0" err="1">
                <a:solidFill>
                  <a:srgbClr val="000000"/>
                </a:solidFill>
                <a:highlight>
                  <a:srgbClr val="FFFFFF"/>
                </a:highlight>
                <a:latin typeface="Courier New" pitchFamily="49" charset="0"/>
                <a:cs typeface="Courier New" pitchFamily="49" charset="0"/>
              </a:rPr>
              <a:t>xop+xml</a:t>
            </a:r>
            <a:r>
              <a:rPr lang="en-US" altLang="zh-CN" sz="1100" dirty="0">
                <a:solidFill>
                  <a:srgbClr val="000000"/>
                </a:solidFill>
                <a:highlight>
                  <a:srgbClr val="FFFFFF"/>
                </a:highlight>
                <a:latin typeface="Courier New" pitchFamily="49" charset="0"/>
                <a:cs typeface="Courier New" pitchFamily="49" charset="0"/>
              </a:rPr>
              <a:t>; </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  start="</a:t>
            </a:r>
            <a:r>
              <a:rPr lang="en-US" altLang="zh-CN" sz="1100" dirty="0">
                <a:solidFill>
                  <a:srgbClr val="0000FF"/>
                </a:solidFill>
                <a:highlight>
                  <a:srgbClr val="FFFFFF"/>
                </a:highlight>
                <a:latin typeface="Courier New" pitchFamily="49" charset="0"/>
                <a:cs typeface="Courier New" pitchFamily="49" charset="0"/>
              </a:rPr>
              <a:t>&lt;</a:t>
            </a:r>
            <a:r>
              <a:rPr lang="en-US" altLang="zh-CN" sz="1100" dirty="0">
                <a:solidFill>
                  <a:srgbClr val="800000"/>
                </a:solidFill>
                <a:highlight>
                  <a:srgbClr val="FFFFFF"/>
                </a:highlight>
                <a:latin typeface="Courier New" pitchFamily="49" charset="0"/>
                <a:cs typeface="Courier New" pitchFamily="49" charset="0"/>
              </a:rPr>
              <a:t>itinerary123.xml@travelcompany.example.org</a:t>
            </a:r>
            <a:r>
              <a:rPr lang="en-US" altLang="zh-CN" sz="1100" dirty="0">
                <a:solidFill>
                  <a:srgbClr val="0000FF"/>
                </a:solidFill>
                <a:highlight>
                  <a:srgbClr val="FFFFFF"/>
                </a:highlight>
                <a:latin typeface="Courier New" pitchFamily="49" charset="0"/>
                <a:cs typeface="Courier New" pitchFamily="49" charset="0"/>
              </a:rPr>
              <a:t>&gt;</a:t>
            </a:r>
            <a:r>
              <a:rPr lang="en-US" altLang="zh-CN" sz="1100" dirty="0">
                <a:solidFill>
                  <a:srgbClr val="000000"/>
                </a:solidFill>
                <a:highlight>
                  <a:srgbClr val="FFFFFF"/>
                </a:highlight>
                <a:latin typeface="Courier New" pitchFamily="49" charset="0"/>
                <a:cs typeface="Courier New" pitchFamily="49" charset="0"/>
              </a:rPr>
              <a:t>";</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  </a:t>
            </a:r>
            <a:r>
              <a:rPr lang="en-US" altLang="zh-CN" sz="1100" dirty="0" err="1">
                <a:solidFill>
                  <a:srgbClr val="000000"/>
                </a:solidFill>
                <a:highlight>
                  <a:srgbClr val="FFFFFF"/>
                </a:highlight>
                <a:latin typeface="Courier New" pitchFamily="49" charset="0"/>
                <a:cs typeface="Courier New" pitchFamily="49" charset="0"/>
              </a:rPr>
              <a:t>startinfo</a:t>
            </a:r>
            <a:r>
              <a:rPr lang="en-US" altLang="zh-CN" sz="1100" dirty="0">
                <a:solidFill>
                  <a:srgbClr val="000000"/>
                </a:solidFill>
                <a:highlight>
                  <a:srgbClr val="FFFFFF"/>
                </a:highlight>
                <a:latin typeface="Courier New" pitchFamily="49" charset="0"/>
                <a:cs typeface="Courier New" pitchFamily="49" charset="0"/>
              </a:rPr>
              <a:t>="application/</a:t>
            </a:r>
            <a:r>
              <a:rPr lang="en-US" altLang="zh-CN" sz="1100" dirty="0" err="1">
                <a:solidFill>
                  <a:srgbClr val="000000"/>
                </a:solidFill>
                <a:highlight>
                  <a:srgbClr val="FFFFFF"/>
                </a:highlight>
                <a:latin typeface="Courier New" pitchFamily="49" charset="0"/>
                <a:cs typeface="Courier New" pitchFamily="49" charset="0"/>
              </a:rPr>
              <a:t>soap+xml;action</a:t>
            </a:r>
            <a:r>
              <a:rPr lang="en-US" altLang="zh-CN" sz="1100" dirty="0">
                <a:solidFill>
                  <a:srgbClr val="000000"/>
                </a:solidFill>
                <a:highlight>
                  <a:srgbClr val="FFFFFF"/>
                </a:highlight>
                <a:latin typeface="Courier New" pitchFamily="49" charset="0"/>
                <a:cs typeface="Courier New" pitchFamily="49" charset="0"/>
              </a:rPr>
              <a:t>=\"http://travelcompany.example.org/Process\""</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Content-Description: This is an example of an optimized SOAP message</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Content-Length: </a:t>
            </a:r>
            <a:r>
              <a:rPr lang="en-US" altLang="zh-CN" sz="1100" dirty="0" err="1">
                <a:solidFill>
                  <a:srgbClr val="000000"/>
                </a:solidFill>
                <a:highlight>
                  <a:srgbClr val="FFFFFF"/>
                </a:highlight>
                <a:latin typeface="Courier New" pitchFamily="49" charset="0"/>
                <a:cs typeface="Courier New" pitchFamily="49" charset="0"/>
              </a:rPr>
              <a:t>nnnn</a:t>
            </a:r>
            <a:endParaRPr lang="en-US" altLang="zh-CN" sz="1100" dirty="0">
              <a:solidFill>
                <a:srgbClr val="000000"/>
              </a:solidFill>
              <a:highlight>
                <a:srgbClr val="FFFFFF"/>
              </a:highlight>
              <a:latin typeface="Courier New" pitchFamily="49" charset="0"/>
              <a:cs typeface="Courier New" pitchFamily="49" charset="0"/>
            </a:endParaRPr>
          </a:p>
          <a:p>
            <a:pPr eaLnBrk="1" hangingPunct="1">
              <a:spcBef>
                <a:spcPct val="20000"/>
              </a:spcBef>
              <a:buClr>
                <a:schemeClr val="accent1"/>
              </a:buClr>
              <a:buFont typeface="Wingdings" panose="05000000000000000000" pitchFamily="2" charset="2"/>
              <a:buNone/>
              <a:defRPr/>
            </a:pPr>
            <a:endParaRPr lang="zh-CN" altLang="en-US" sz="1100" dirty="0">
              <a:solidFill>
                <a:srgbClr val="000000"/>
              </a:solidFill>
              <a:highlight>
                <a:srgbClr val="FFFFFF"/>
              </a:highlight>
              <a:latin typeface="Courier New" pitchFamily="49" charset="0"/>
              <a:cs typeface="Courier New" pitchFamily="49" charset="0"/>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--example-boundary</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Content-Type: application/</a:t>
            </a:r>
            <a:r>
              <a:rPr lang="en-US" altLang="zh-CN" sz="1100" dirty="0" err="1">
                <a:solidFill>
                  <a:srgbClr val="000000"/>
                </a:solidFill>
                <a:highlight>
                  <a:srgbClr val="FFFFFF"/>
                </a:highlight>
                <a:latin typeface="Courier New" pitchFamily="49" charset="0"/>
                <a:cs typeface="Courier New" pitchFamily="49" charset="0"/>
              </a:rPr>
              <a:t>xop+xml</a:t>
            </a:r>
            <a:r>
              <a:rPr lang="en-US" altLang="zh-CN" sz="1100" dirty="0">
                <a:solidFill>
                  <a:srgbClr val="000000"/>
                </a:solidFill>
                <a:highlight>
                  <a:srgbClr val="FFFFFF"/>
                </a:highlight>
                <a:latin typeface="Courier New" pitchFamily="49" charset="0"/>
                <a:cs typeface="Courier New" pitchFamily="49" charset="0"/>
              </a:rPr>
              <a:t>; </a:t>
            </a:r>
            <a:r>
              <a:rPr lang="en-US" altLang="zh-CN" sz="1100" dirty="0" err="1">
                <a:solidFill>
                  <a:srgbClr val="000000"/>
                </a:solidFill>
                <a:highlight>
                  <a:srgbClr val="FFFFFF"/>
                </a:highlight>
                <a:latin typeface="Courier New" pitchFamily="49" charset="0"/>
                <a:cs typeface="Courier New" pitchFamily="49" charset="0"/>
              </a:rPr>
              <a:t>charset</a:t>
            </a:r>
            <a:r>
              <a:rPr lang="en-US" altLang="zh-CN" sz="1100" dirty="0">
                <a:solidFill>
                  <a:srgbClr val="000000"/>
                </a:solidFill>
                <a:highlight>
                  <a:srgbClr val="FFFFFF"/>
                </a:highlight>
                <a:latin typeface="Courier New" pitchFamily="49" charset="0"/>
                <a:cs typeface="Courier New" pitchFamily="49" charset="0"/>
              </a:rPr>
              <a:t>=UTF-8</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type="application/</a:t>
            </a:r>
            <a:r>
              <a:rPr lang="en-US" altLang="zh-CN" sz="1100" dirty="0" err="1">
                <a:solidFill>
                  <a:srgbClr val="000000"/>
                </a:solidFill>
                <a:highlight>
                  <a:srgbClr val="FFFFFF"/>
                </a:highlight>
                <a:latin typeface="Courier New" pitchFamily="49" charset="0"/>
                <a:cs typeface="Courier New" pitchFamily="49" charset="0"/>
              </a:rPr>
              <a:t>soap+xml;action</a:t>
            </a:r>
            <a:r>
              <a:rPr lang="en-US" altLang="zh-CN" sz="1100" dirty="0">
                <a:solidFill>
                  <a:srgbClr val="000000"/>
                </a:solidFill>
                <a:highlight>
                  <a:srgbClr val="FFFFFF"/>
                </a:highlight>
                <a:latin typeface="Courier New" pitchFamily="49" charset="0"/>
                <a:cs typeface="Courier New" pitchFamily="49" charset="0"/>
              </a:rPr>
              <a:t>=\"http://travelcompany.example.org/Process\""</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Content-Transfer-Encoding: 8bit</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Courier New" pitchFamily="49" charset="0"/>
                <a:cs typeface="Courier New" pitchFamily="49" charset="0"/>
              </a:rPr>
              <a:t>Content-ID: </a:t>
            </a:r>
            <a:r>
              <a:rPr lang="en-US" altLang="zh-CN" sz="1100" dirty="0">
                <a:solidFill>
                  <a:srgbClr val="0000FF"/>
                </a:solidFill>
                <a:highlight>
                  <a:srgbClr val="FFFFFF"/>
                </a:highlight>
                <a:latin typeface="Courier New" pitchFamily="49" charset="0"/>
                <a:cs typeface="Courier New" pitchFamily="49" charset="0"/>
              </a:rPr>
              <a:t>&lt;</a:t>
            </a:r>
            <a:r>
              <a:rPr lang="en-US" altLang="zh-CN" sz="1100" dirty="0">
                <a:solidFill>
                  <a:srgbClr val="800000"/>
                </a:solidFill>
                <a:highlight>
                  <a:srgbClr val="FFFFFF"/>
                </a:highlight>
                <a:latin typeface="Courier New" pitchFamily="49" charset="0"/>
                <a:cs typeface="Courier New" pitchFamily="49" charset="0"/>
              </a:rPr>
              <a:t>itinerary123.xml@travelcompany.example.org</a:t>
            </a:r>
            <a:r>
              <a:rPr lang="en-US" altLang="zh-CN" sz="1100" dirty="0">
                <a:solidFill>
                  <a:srgbClr val="0000FF"/>
                </a:solidFill>
                <a:highlight>
                  <a:srgbClr val="FFFFFF"/>
                </a:highlight>
                <a:latin typeface="Courier New" pitchFamily="49" charset="0"/>
                <a:cs typeface="Courier New" pitchFamily="49" charset="0"/>
              </a:rPr>
              <a:t>&gt;</a:t>
            </a:r>
            <a:endParaRPr lang="en-US" altLang="zh-CN" sz="1100" dirty="0">
              <a:solidFill>
                <a:srgbClr val="000000"/>
              </a:solidFill>
              <a:highlight>
                <a:srgbClr val="FFFFFF"/>
              </a:highlight>
              <a:latin typeface="Courier New" pitchFamily="49" charset="0"/>
              <a:cs typeface="Courier New" pitchFamily="49" charset="0"/>
            </a:endParaRPr>
          </a:p>
          <a:p>
            <a:pPr eaLnBrk="1" hangingPunct="1">
              <a:spcBef>
                <a:spcPct val="20000"/>
              </a:spcBef>
              <a:buClr>
                <a:schemeClr val="accent1"/>
              </a:buClr>
              <a:buFont typeface="Wingdings" panose="05000000000000000000" pitchFamily="2" charset="2"/>
              <a:buNone/>
              <a:defRPr/>
            </a:pPr>
            <a:endParaRPr lang="zh-CN" altLang="en-US"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8080"/>
                </a:solidFill>
                <a:highlight>
                  <a:srgbClr val="FFFFFF"/>
                </a:highlight>
                <a:latin typeface="Arial"/>
              </a:rPr>
              <a:t>&lt;?xml version='1.0'?&gt;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env:Envelope</a:t>
            </a: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xmlns:env</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http://www.w3.org/2003/05/soap-envelope</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xmlns:xmime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http://www.w3.org/2004/06/xmlmime</a:t>
            </a:r>
            <a:r>
              <a:rPr lang="en-US" altLang="zh-CN" sz="1100" dirty="0">
                <a:solidFill>
                  <a:srgbClr val="0000FF"/>
                </a:solidFill>
                <a:highlight>
                  <a:srgbClr val="FFFFFF"/>
                </a:highlight>
                <a:latin typeface="Arial"/>
              </a:rPr>
              <a:t>'&gt;</a:t>
            </a:r>
            <a:r>
              <a:rPr lang="en-US" altLang="zh-CN" sz="11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env:Header</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m:reservation</a:t>
            </a: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xmlns:m</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http://travelcompany.example.org/reservation</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env:role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http://www.w3.org/2003/05/soap-envelope/role/next</a:t>
            </a:r>
            <a:r>
              <a:rPr lang="en-US" altLang="zh-CN" sz="1100" dirty="0">
                <a:solidFill>
                  <a:srgbClr val="0000FF"/>
                </a:solidFill>
                <a:highlight>
                  <a:srgbClr val="FFFFFF"/>
                </a:highlight>
                <a:latin typeface="Arial"/>
              </a:rPr>
              <a:t>"</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env:mustUnderstand</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true</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100" dirty="0">
                <a:solidFill>
                  <a:srgbClr val="000000"/>
                </a:solidFill>
                <a:highlight>
                  <a:srgbClr val="FFFFFF"/>
                </a:highlight>
                <a:latin typeface="Arial"/>
              </a:rPr>
              <a:t>   </a:t>
            </a:r>
            <a:r>
              <a:rPr lang="en-US" altLang="zh-CN" sz="11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m:reservation</a:t>
            </a:r>
            <a:r>
              <a:rPr lang="en-US" altLang="zh-CN" sz="11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100" dirty="0">
                <a:solidFill>
                  <a:srgbClr val="0000FF"/>
                </a:solidFill>
                <a:highlight>
                  <a:srgbClr val="FFFFFF"/>
                </a:highlight>
                <a:latin typeface="Arial"/>
              </a:rPr>
              <a:t>……</a:t>
            </a:r>
            <a:endParaRPr lang="en-US" altLang="zh-CN" sz="1100" dirty="0">
              <a:solidFill>
                <a:srgbClr val="000000"/>
              </a:solidFill>
              <a:highlight>
                <a:srgbClr val="FFFFFF"/>
              </a:highlight>
              <a:latin typeface="Arial"/>
            </a:endParaRPr>
          </a:p>
        </p:txBody>
      </p:sp>
      <p:sp>
        <p:nvSpPr>
          <p:cNvPr id="14" name="Line 6">
            <a:extLst>
              <a:ext uri="{FF2B5EF4-FFF2-40B4-BE49-F238E27FC236}">
                <a16:creationId xmlns:a16="http://schemas.microsoft.com/office/drawing/2014/main" id="{B19205F9-5C4C-476D-9DA6-29DBE65BC95B}"/>
              </a:ext>
            </a:extLst>
          </p:cNvPr>
          <p:cNvSpPr>
            <a:spLocks noChangeShapeType="1"/>
          </p:cNvSpPr>
          <p:nvPr/>
        </p:nvSpPr>
        <p:spPr bwMode="auto">
          <a:xfrm flipH="1" flipV="1">
            <a:off x="4211638" y="2276475"/>
            <a:ext cx="865187" cy="647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Text Box 7">
            <a:extLst>
              <a:ext uri="{FF2B5EF4-FFF2-40B4-BE49-F238E27FC236}">
                <a16:creationId xmlns:a16="http://schemas.microsoft.com/office/drawing/2014/main" id="{960FDC69-B753-412C-8A47-203ACD6547FE}"/>
              </a:ext>
            </a:extLst>
          </p:cNvPr>
          <p:cNvSpPr txBox="1">
            <a:spLocks noChangeArrowheads="1"/>
          </p:cNvSpPr>
          <p:nvPr/>
        </p:nvSpPr>
        <p:spPr bwMode="auto">
          <a:xfrm>
            <a:off x="5076825" y="2730500"/>
            <a:ext cx="30956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Used to link the body part that contains root object </a:t>
            </a:r>
          </a:p>
        </p:txBody>
      </p:sp>
      <p:sp>
        <p:nvSpPr>
          <p:cNvPr id="16" name="Line 6">
            <a:extLst>
              <a:ext uri="{FF2B5EF4-FFF2-40B4-BE49-F238E27FC236}">
                <a16:creationId xmlns:a16="http://schemas.microsoft.com/office/drawing/2014/main" id="{F6EE0477-31F3-4439-A981-22333EA1CF6E}"/>
              </a:ext>
            </a:extLst>
          </p:cNvPr>
          <p:cNvSpPr>
            <a:spLocks noChangeShapeType="1"/>
          </p:cNvSpPr>
          <p:nvPr/>
        </p:nvSpPr>
        <p:spPr bwMode="auto">
          <a:xfrm flipH="1">
            <a:off x="4643438" y="3284538"/>
            <a:ext cx="576262" cy="6096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6">
            <a:extLst>
              <a:ext uri="{FF2B5EF4-FFF2-40B4-BE49-F238E27FC236}">
                <a16:creationId xmlns:a16="http://schemas.microsoft.com/office/drawing/2014/main" id="{2B5863A6-E9B1-4101-9EA0-461BA55943D9}"/>
              </a:ext>
            </a:extLst>
          </p:cNvPr>
          <p:cNvSpPr>
            <a:spLocks noChangeShapeType="1"/>
          </p:cNvSpPr>
          <p:nvPr/>
        </p:nvSpPr>
        <p:spPr bwMode="auto">
          <a:xfrm flipH="1" flipV="1">
            <a:off x="2843213" y="1989138"/>
            <a:ext cx="2951162"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Text Box 7">
            <a:extLst>
              <a:ext uri="{FF2B5EF4-FFF2-40B4-BE49-F238E27FC236}">
                <a16:creationId xmlns:a16="http://schemas.microsoft.com/office/drawing/2014/main" id="{8AC04C34-F091-47DD-82B3-96C60BECE81B}"/>
              </a:ext>
            </a:extLst>
          </p:cNvPr>
          <p:cNvSpPr txBox="1">
            <a:spLocks noChangeArrowheads="1"/>
          </p:cNvSpPr>
          <p:nvPr/>
        </p:nvSpPr>
        <p:spPr bwMode="auto">
          <a:xfrm>
            <a:off x="5807075" y="1636713"/>
            <a:ext cx="32400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XML document serialized using the [</a:t>
            </a:r>
            <a:r>
              <a:rPr lang="en-US" altLang="zh-CN" sz="1800">
                <a:hlinkClick r:id="rId3"/>
              </a:rPr>
              <a:t>XOP</a:t>
            </a:r>
            <a:r>
              <a:rPr lang="en-US" altLang="zh-CN" sz="1800"/>
              <a:t>] format</a:t>
            </a:r>
          </a:p>
        </p:txBody>
      </p:sp>
      <p:sp>
        <p:nvSpPr>
          <p:cNvPr id="19" name="Line 6">
            <a:extLst>
              <a:ext uri="{FF2B5EF4-FFF2-40B4-BE49-F238E27FC236}">
                <a16:creationId xmlns:a16="http://schemas.microsoft.com/office/drawing/2014/main" id="{62CAC70A-9649-4FD4-8463-1E4898DA0E8F}"/>
              </a:ext>
            </a:extLst>
          </p:cNvPr>
          <p:cNvSpPr>
            <a:spLocks noChangeShapeType="1"/>
          </p:cNvSpPr>
          <p:nvPr/>
        </p:nvSpPr>
        <p:spPr bwMode="auto">
          <a:xfrm flipH="1">
            <a:off x="4821238" y="4937125"/>
            <a:ext cx="703262" cy="1682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Text Box 7">
            <a:extLst>
              <a:ext uri="{FF2B5EF4-FFF2-40B4-BE49-F238E27FC236}">
                <a16:creationId xmlns:a16="http://schemas.microsoft.com/office/drawing/2014/main" id="{C98524BF-1967-45E6-95FC-68E3BA227244}"/>
              </a:ext>
            </a:extLst>
          </p:cNvPr>
          <p:cNvSpPr txBox="1">
            <a:spLocks noChangeArrowheads="1"/>
          </p:cNvSpPr>
          <p:nvPr/>
        </p:nvSpPr>
        <p:spPr bwMode="auto">
          <a:xfrm>
            <a:off x="5524500" y="4419600"/>
            <a:ext cx="32400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Root part is the XML 1.0 serialization of the SOAP </a:t>
            </a:r>
            <a:r>
              <a:rPr lang="en-US" altLang="zh-CN" sz="1800">
                <a:hlinkClick r:id="rId3"/>
              </a:rPr>
              <a:t>env:Envelope</a:t>
            </a:r>
            <a:endParaRPr lang="en-US" altLang="zh-CN" sz="1800"/>
          </a:p>
        </p:txBody>
      </p:sp>
      <p:sp>
        <p:nvSpPr>
          <p:cNvPr id="21" name="Line 6">
            <a:extLst>
              <a:ext uri="{FF2B5EF4-FFF2-40B4-BE49-F238E27FC236}">
                <a16:creationId xmlns:a16="http://schemas.microsoft.com/office/drawing/2014/main" id="{FA12B11C-6B94-435D-8A89-1A5BC3E34D00}"/>
              </a:ext>
            </a:extLst>
          </p:cNvPr>
          <p:cNvSpPr>
            <a:spLocks noChangeShapeType="1"/>
          </p:cNvSpPr>
          <p:nvPr/>
        </p:nvSpPr>
        <p:spPr bwMode="auto">
          <a:xfrm flipH="1">
            <a:off x="3419475" y="1246188"/>
            <a:ext cx="2232025" cy="44291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Text Box 7">
            <a:extLst>
              <a:ext uri="{FF2B5EF4-FFF2-40B4-BE49-F238E27FC236}">
                <a16:creationId xmlns:a16="http://schemas.microsoft.com/office/drawing/2014/main" id="{59FE2CF0-5095-418E-89E2-ADE0FC133DE9}"/>
              </a:ext>
            </a:extLst>
          </p:cNvPr>
          <p:cNvSpPr txBox="1">
            <a:spLocks noChangeArrowheads="1"/>
          </p:cNvSpPr>
          <p:nvPr/>
        </p:nvSpPr>
        <p:spPr bwMode="auto">
          <a:xfrm>
            <a:off x="5600700" y="863600"/>
            <a:ext cx="3086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resultant MIME headers are sent as HTTP headers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linds(horizontal)">
                                      <p:cBhvr>
                                        <p:cTn id="15"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linds(horizontal)">
                                      <p:cBhvr>
                                        <p:cTn id="18"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par>
                                <p:cTn id="19" presetID="3" presetClass="entr" presetSubtype="1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blinds(horizontal)">
                                      <p:cBhvr>
                                        <p:cTn id="21"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linds(horizontal)">
                                      <p:cBhvr>
                                        <p:cTn id="26"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par>
                                <p:cTn id="27" presetID="3" presetClass="entr" presetSubtype="1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blinds(horizontal)">
                                      <p:cBhvr>
                                        <p:cTn id="29"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blinds(horizontal)">
                                      <p:cBhvr>
                                        <p:cTn id="34"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par>
                                <p:cTn id="35" presetID="3" presetClass="entr" presetSubtype="1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horizontal)">
                                      <p:cBhvr>
                                        <p:cTn id="37"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20" grpId="0"/>
      <p:bldP spid="2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a:extLst>
              <a:ext uri="{FF2B5EF4-FFF2-40B4-BE49-F238E27FC236}">
                <a16:creationId xmlns:a16="http://schemas.microsoft.com/office/drawing/2014/main" id="{C941D543-DB93-4EDF-81EF-30EB735034F9}"/>
              </a:ext>
            </a:extLst>
          </p:cNvPr>
          <p:cNvSpPr>
            <a:spLocks noGrp="1"/>
          </p:cNvSpPr>
          <p:nvPr>
            <p:ph type="title"/>
          </p:nvPr>
        </p:nvSpPr>
        <p:spPr/>
        <p:txBody>
          <a:bodyPr>
            <a:normAutofit fontScale="90000"/>
          </a:bodyPr>
          <a:lstStyle/>
          <a:p>
            <a:pPr>
              <a:defRPr/>
            </a:pPr>
            <a:r>
              <a:rPr lang="en-US" altLang="zh-CN" dirty="0"/>
              <a:t>The Optimized Transmission Serialization Format Over HTTP (2/3)</a:t>
            </a:r>
            <a:endParaRPr lang="zh-CN" altLang="en-US" dirty="0"/>
          </a:p>
        </p:txBody>
      </p:sp>
      <p:sp>
        <p:nvSpPr>
          <p:cNvPr id="24579" name="灯片编号占位符 3">
            <a:extLst>
              <a:ext uri="{FF2B5EF4-FFF2-40B4-BE49-F238E27FC236}">
                <a16:creationId xmlns:a16="http://schemas.microsoft.com/office/drawing/2014/main" id="{632D743E-273D-4C41-B245-4FE5F4F8B6B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30</a:t>
            </a:fld>
            <a:endParaRPr lang="en-US" altLang="zh-CN" sz="1000"/>
          </a:p>
        </p:txBody>
      </p:sp>
      <p:sp>
        <p:nvSpPr>
          <p:cNvPr id="5" name="Text Box 4">
            <a:extLst>
              <a:ext uri="{FF2B5EF4-FFF2-40B4-BE49-F238E27FC236}">
                <a16:creationId xmlns:a16="http://schemas.microsoft.com/office/drawing/2014/main" id="{95580CF0-C2E5-4501-A267-97834D710EA7}"/>
              </a:ext>
            </a:extLst>
          </p:cNvPr>
          <p:cNvSpPr txBox="1">
            <a:spLocks noChangeArrowheads="1"/>
          </p:cNvSpPr>
          <p:nvPr/>
        </p:nvSpPr>
        <p:spPr bwMode="auto">
          <a:xfrm>
            <a:off x="467544" y="1451722"/>
            <a:ext cx="8229600" cy="5339923"/>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100" dirty="0">
                <a:solidFill>
                  <a:srgbClr val="0000FF"/>
                </a:solidFill>
                <a:highlight>
                  <a:srgbClr val="FFFFFF"/>
                </a:highlight>
                <a:latin typeface="Arial"/>
              </a:rPr>
              <a: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n:passenger</a:t>
            </a: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xmlns:n</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http://mycompany.example.com/employees</a:t>
            </a:r>
            <a:r>
              <a:rPr lang="en-US" altLang="zh-CN" sz="1100" dirty="0">
                <a:solidFill>
                  <a:srgbClr val="0000FF"/>
                </a:solidFill>
                <a:highlight>
                  <a:srgbClr val="FFFFFF"/>
                </a:highlight>
                <a:latin typeface="Arial"/>
              </a:rPr>
              <a:t>"</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env:role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http://www.w3.org/2003/05/soap-envelope/role/next</a:t>
            </a:r>
            <a:r>
              <a:rPr lang="en-US" altLang="zh-CN" sz="1100" dirty="0">
                <a:solidFill>
                  <a:srgbClr val="0000FF"/>
                </a:solidFill>
                <a:highlight>
                  <a:srgbClr val="FFFFFF"/>
                </a:highlight>
                <a:latin typeface="Arial"/>
              </a:rPr>
              <a:t>"</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env:mustUnderstand</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true</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100" dirty="0">
                <a:solidFill>
                  <a:srgbClr val="000000"/>
                </a:solidFill>
                <a:highlight>
                  <a:srgbClr val="FFFFFF"/>
                </a:highlight>
                <a:latin typeface="Arial"/>
              </a:rPr>
              <a:t>   </a:t>
            </a:r>
            <a:r>
              <a:rPr lang="en-US" altLang="zh-CN" sz="11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n:passenger</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env:Header</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env:Body</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o:travelAgencyLogo</a:t>
            </a: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xmlns:o</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http://travelcompany.example.org/images</a:t>
            </a:r>
            <a:r>
              <a:rPr lang="en-US" altLang="zh-CN" sz="1100" dirty="0">
                <a:solidFill>
                  <a:srgbClr val="0000FF"/>
                </a:solidFill>
                <a:highlight>
                  <a:srgbClr val="FFFFFF"/>
                </a:highlight>
                <a:latin typeface="Arial"/>
              </a:rPr>
              <a:t>"</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xmime:contentType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image/jpg</a:t>
            </a:r>
            <a:r>
              <a:rPr lang="en-US" altLang="zh-CN" sz="1100" dirty="0">
                <a:solidFill>
                  <a:srgbClr val="0000FF"/>
                </a:solidFill>
                <a:highlight>
                  <a:srgbClr val="FFFFFF"/>
                </a:highlight>
                <a:latin typeface="Arial"/>
              </a:rPr>
              <a:t>'&gt;&lt;</a:t>
            </a:r>
            <a:r>
              <a:rPr lang="en-US" altLang="zh-CN" sz="1100" dirty="0" err="1">
                <a:solidFill>
                  <a:srgbClr val="800000"/>
                </a:solidFill>
                <a:highlight>
                  <a:srgbClr val="FFFFFF"/>
                </a:highlight>
                <a:latin typeface="Arial"/>
              </a:rPr>
              <a:t>xop:Include</a:t>
            </a: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xmlns:xop</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http://www.w3.org/2003/12/xop/include</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href</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cid:logo.gif@travelcompany.example.org</a:t>
            </a:r>
            <a:r>
              <a:rPr lang="en-US" altLang="zh-CN" sz="1100" dirty="0">
                <a:solidFill>
                  <a:srgbClr val="0000FF"/>
                </a:solidFill>
                <a:highlight>
                  <a:srgbClr val="FFFFFF"/>
                </a:highlight>
                <a:latin typeface="Arial"/>
              </a:rPr>
              <a:t>"/&gt;&lt;/</a:t>
            </a:r>
            <a:r>
              <a:rPr lang="en-US" altLang="zh-CN" sz="1100" dirty="0">
                <a:solidFill>
                  <a:srgbClr val="800000"/>
                </a:solidFill>
                <a:highlight>
                  <a:srgbClr val="FFFFFF"/>
                </a:highlight>
                <a:latin typeface="Arial"/>
              </a:rPr>
              <a:t>o:travelAgencyLogo</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p:itinerary</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xmlns:p</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http://travelcompany.example.org/reservation/travel</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p:departure</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100" dirty="0">
                <a:solidFill>
                  <a:srgbClr val="000000"/>
                </a:solidFill>
                <a:highlight>
                  <a:srgbClr val="FFFFFF"/>
                </a:highlight>
                <a:latin typeface="Arial"/>
              </a:rPr>
              <a:t>     </a:t>
            </a:r>
            <a:r>
              <a:rPr lang="en-US" altLang="zh-CN" sz="11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p:departure</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p:return</a:t>
            </a:r>
            <a:r>
              <a:rPr lang="en-US" altLang="zh-CN" sz="1100" dirty="0">
                <a:solidFill>
                  <a:srgbClr val="0000FF"/>
                </a:solidFill>
                <a:highlight>
                  <a:srgbClr val="FFFFFF"/>
                </a:highlight>
                <a:latin typeface="Arial"/>
              </a:rPr>
              <a:t>&gt;</a:t>
            </a:r>
            <a:r>
              <a:rPr lang="en-US" altLang="zh-CN" sz="11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zh-CN" altLang="en-US" sz="1100" dirty="0">
                <a:solidFill>
                  <a:srgbClr val="000000"/>
                </a:solidFill>
                <a:highlight>
                  <a:srgbClr val="FFFFFF"/>
                </a:highlight>
                <a:latin typeface="Arial"/>
              </a:rPr>
              <a:t>     </a:t>
            </a:r>
            <a:r>
              <a:rPr lang="en-US" altLang="zh-CN" sz="11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p:return</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p:itinerary</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q:lodging</a:t>
            </a:r>
            <a:endParaRPr lang="en-US" altLang="zh-CN" sz="11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xmlns:q</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http://travelcompany.example.org/reservation/hotels</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hotel</a:t>
            </a:r>
            <a:r>
              <a:rPr lang="en-US" altLang="zh-CN" sz="1100" dirty="0">
                <a:solidFill>
                  <a:srgbClr val="0000FF"/>
                </a:solidFill>
                <a:highlight>
                  <a:srgbClr val="FFFFFF"/>
                </a:highlight>
                <a:latin typeface="Arial"/>
              </a:rPr>
              <a:t>&gt;</a:t>
            </a:r>
            <a:r>
              <a:rPr lang="en-US" altLang="zh-CN" sz="11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zh-CN" altLang="en-US" sz="1100" dirty="0">
                <a:solidFill>
                  <a:srgbClr val="000000"/>
                </a:solidFill>
                <a:highlight>
                  <a:srgbClr val="FFFFFF"/>
                </a:highlight>
                <a:latin typeface="Arial"/>
              </a:rPr>
              <a:t>    </a:t>
            </a:r>
            <a:r>
              <a:rPr lang="en-US" altLang="zh-CN" sz="11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hotel</a:t>
            </a:r>
            <a:r>
              <a:rPr lang="en-US" altLang="zh-CN" sz="1100" dirty="0">
                <a:solidFill>
                  <a:srgbClr val="0000FF"/>
                </a:solidFill>
                <a:highlight>
                  <a:srgbClr val="FFFFFF"/>
                </a:highlight>
                <a:latin typeface="Arial"/>
              </a:rPr>
              <a:t>&gt;</a:t>
            </a:r>
          </a:p>
          <a:p>
            <a:pPr eaLnBrk="1" hangingPunct="1">
              <a:spcBef>
                <a:spcPct val="20000"/>
              </a:spcBef>
              <a:buClr>
                <a:schemeClr val="accent1"/>
              </a:buClr>
              <a:buFont typeface="Wingdings" panose="05000000000000000000" pitchFamily="2" charset="2"/>
              <a:buNone/>
              <a:defRPr/>
            </a:pPr>
            <a:r>
              <a:rPr lang="en-US" altLang="zh-CN" sz="1100" dirty="0">
                <a:solidFill>
                  <a:srgbClr val="0000FF"/>
                </a:solidFill>
                <a:highlight>
                  <a:srgbClr val="FFFFFF"/>
                </a:highlight>
                <a:latin typeface="Arial"/>
              </a:rPr>
              <a:t>……</a:t>
            </a:r>
            <a:endParaRPr lang="en-US" altLang="zh-CN" sz="1100" dirty="0">
              <a:solidFill>
                <a:srgbClr val="000000"/>
              </a:solidFill>
              <a:highlight>
                <a:srgbClr val="FFFFFF"/>
              </a:highlight>
              <a:latin typeface="Arial"/>
            </a:endParaRPr>
          </a:p>
        </p:txBody>
      </p:sp>
      <p:sp>
        <p:nvSpPr>
          <p:cNvPr id="13" name="Line 6">
            <a:extLst>
              <a:ext uri="{FF2B5EF4-FFF2-40B4-BE49-F238E27FC236}">
                <a16:creationId xmlns:a16="http://schemas.microsoft.com/office/drawing/2014/main" id="{C39A9A73-167C-40AF-94BD-81EAC93A58F3}"/>
              </a:ext>
            </a:extLst>
          </p:cNvPr>
          <p:cNvSpPr>
            <a:spLocks noChangeShapeType="1"/>
          </p:cNvSpPr>
          <p:nvPr/>
        </p:nvSpPr>
        <p:spPr bwMode="auto">
          <a:xfrm flipH="1" flipV="1">
            <a:off x="3492500" y="3573463"/>
            <a:ext cx="617538" cy="9350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7">
            <a:extLst>
              <a:ext uri="{FF2B5EF4-FFF2-40B4-BE49-F238E27FC236}">
                <a16:creationId xmlns:a16="http://schemas.microsoft.com/office/drawing/2014/main" id="{A39506DC-65C8-420E-85FF-1BF0A8B849EA}"/>
              </a:ext>
            </a:extLst>
          </p:cNvPr>
          <p:cNvSpPr txBox="1">
            <a:spLocks noChangeArrowheads="1"/>
          </p:cNvSpPr>
          <p:nvPr/>
        </p:nvSpPr>
        <p:spPr bwMode="auto">
          <a:xfrm>
            <a:off x="4110038" y="4221163"/>
            <a:ext cx="30241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Link to MIME body part contains the binary data</a:t>
            </a:r>
          </a:p>
        </p:txBody>
      </p:sp>
      <p:sp>
        <p:nvSpPr>
          <p:cNvPr id="15" name="Line 6">
            <a:extLst>
              <a:ext uri="{FF2B5EF4-FFF2-40B4-BE49-F238E27FC236}">
                <a16:creationId xmlns:a16="http://schemas.microsoft.com/office/drawing/2014/main" id="{87782420-8304-4DD1-8D07-700827B82817}"/>
              </a:ext>
            </a:extLst>
          </p:cNvPr>
          <p:cNvSpPr>
            <a:spLocks noChangeShapeType="1"/>
          </p:cNvSpPr>
          <p:nvPr/>
        </p:nvSpPr>
        <p:spPr bwMode="auto">
          <a:xfrm flipH="1">
            <a:off x="2555875" y="2492375"/>
            <a:ext cx="2016125" cy="8651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7">
            <a:extLst>
              <a:ext uri="{FF2B5EF4-FFF2-40B4-BE49-F238E27FC236}">
                <a16:creationId xmlns:a16="http://schemas.microsoft.com/office/drawing/2014/main" id="{A1DDD284-69DA-415A-A2D6-D171ED16BBB5}"/>
              </a:ext>
            </a:extLst>
          </p:cNvPr>
          <p:cNvSpPr txBox="1">
            <a:spLocks noChangeArrowheads="1"/>
          </p:cNvSpPr>
          <p:nvPr/>
        </p:nvSpPr>
        <p:spPr bwMode="auto">
          <a:xfrm>
            <a:off x="4500563" y="2305050"/>
            <a:ext cx="20526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media type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linds(horizontal)">
                                      <p:cBhvr>
                                        <p:cTn id="18"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a:extLst>
              <a:ext uri="{FF2B5EF4-FFF2-40B4-BE49-F238E27FC236}">
                <a16:creationId xmlns:a16="http://schemas.microsoft.com/office/drawing/2014/main" id="{E0C71DCA-DBB0-4D24-A92C-17A62EA80A54}"/>
              </a:ext>
            </a:extLst>
          </p:cNvPr>
          <p:cNvSpPr>
            <a:spLocks noGrp="1"/>
          </p:cNvSpPr>
          <p:nvPr>
            <p:ph type="title"/>
          </p:nvPr>
        </p:nvSpPr>
        <p:spPr/>
        <p:txBody>
          <a:bodyPr>
            <a:normAutofit fontScale="90000"/>
          </a:bodyPr>
          <a:lstStyle/>
          <a:p>
            <a:pPr>
              <a:defRPr/>
            </a:pPr>
            <a:r>
              <a:rPr lang="en-US" altLang="zh-CN" dirty="0"/>
              <a:t>The Optimized Transmission Serialization Format Over HTTP (3/3)</a:t>
            </a:r>
            <a:endParaRPr lang="zh-CN" altLang="en-US" dirty="0"/>
          </a:p>
        </p:txBody>
      </p:sp>
      <p:sp>
        <p:nvSpPr>
          <p:cNvPr id="26627" name="灯片编号占位符 3">
            <a:extLst>
              <a:ext uri="{FF2B5EF4-FFF2-40B4-BE49-F238E27FC236}">
                <a16:creationId xmlns:a16="http://schemas.microsoft.com/office/drawing/2014/main" id="{0B7C2607-A770-4E22-8234-ED5496D31079}"/>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31</a:t>
            </a:fld>
            <a:endParaRPr lang="en-US" altLang="zh-CN" sz="1000"/>
          </a:p>
        </p:txBody>
      </p:sp>
      <p:sp>
        <p:nvSpPr>
          <p:cNvPr id="5" name="Text Box 4">
            <a:extLst>
              <a:ext uri="{FF2B5EF4-FFF2-40B4-BE49-F238E27FC236}">
                <a16:creationId xmlns:a16="http://schemas.microsoft.com/office/drawing/2014/main" id="{F1A8AEF7-4F7A-4E06-9C32-20058640E1BB}"/>
              </a:ext>
            </a:extLst>
          </p:cNvPr>
          <p:cNvSpPr txBox="1">
            <a:spLocks noChangeArrowheads="1"/>
          </p:cNvSpPr>
          <p:nvPr/>
        </p:nvSpPr>
        <p:spPr bwMode="auto">
          <a:xfrm>
            <a:off x="467544" y="1451722"/>
            <a:ext cx="8229600" cy="4730526"/>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100" dirty="0">
                <a:solidFill>
                  <a:srgbClr val="0000FF"/>
                </a:solidFill>
                <a:highlight>
                  <a:srgbClr val="FFFFFF"/>
                </a:highlight>
                <a:latin typeface="Arial"/>
              </a:rPr>
              <a: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r:areaMap</a:t>
            </a: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xmlns:r</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http://travelcompany.example.org/maps</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xmime:contentType</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image/jpg</a:t>
            </a:r>
            <a:r>
              <a:rPr lang="en-US" altLang="zh-CN" sz="1100" dirty="0">
                <a:solidFill>
                  <a:srgbClr val="0000FF"/>
                </a:solidFill>
                <a:highlight>
                  <a:srgbClr val="FFFFFF"/>
                </a:highlight>
                <a:latin typeface="Arial"/>
              </a:rPr>
              <a:t>"&gt;&lt;</a:t>
            </a:r>
            <a:r>
              <a:rPr lang="en-US" altLang="zh-CN" sz="1100" dirty="0" err="1">
                <a:solidFill>
                  <a:srgbClr val="800000"/>
                </a:solidFill>
                <a:highlight>
                  <a:srgbClr val="FFFFFF"/>
                </a:highlight>
                <a:latin typeface="Arial"/>
              </a:rPr>
              <a:t>xop:Include</a:t>
            </a: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xmlns:xop</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http://www.w3.org/2003/12/xop/include</a:t>
            </a:r>
            <a:r>
              <a:rPr lang="en-US" altLang="zh-CN" sz="1100" dirty="0">
                <a:solidFill>
                  <a:srgbClr val="0000FF"/>
                </a:solidFill>
                <a:highlight>
                  <a:srgbClr val="FFFFFF"/>
                </a:highlight>
                <a:latin typeface="Arial"/>
              </a:rPr>
              <a:t>'</a:t>
            </a:r>
            <a:r>
              <a:rPr lang="en-US" altLang="zh-CN" sz="11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100" dirty="0">
                <a:solidFill>
                  <a:srgbClr val="FF0000"/>
                </a:solidFill>
                <a:highlight>
                  <a:srgbClr val="FFFFFF"/>
                </a:highlight>
                <a:latin typeface="Arial"/>
              </a:rPr>
              <a:t>         </a:t>
            </a:r>
            <a:r>
              <a:rPr lang="en-US" altLang="zh-CN" sz="1100" dirty="0" err="1">
                <a:solidFill>
                  <a:srgbClr val="FF0000"/>
                </a:solidFill>
                <a:highlight>
                  <a:srgbClr val="FFFFFF"/>
                </a:highlight>
                <a:latin typeface="Arial"/>
              </a:rPr>
              <a:t>href</a:t>
            </a:r>
            <a:r>
              <a:rPr lang="en-US" altLang="zh-CN" sz="1100" dirty="0">
                <a:solidFill>
                  <a:srgbClr val="0000FF"/>
                </a:solidFill>
                <a:highlight>
                  <a:srgbClr val="FFFFFF"/>
                </a:highlight>
                <a:latin typeface="Arial"/>
              </a:rPr>
              <a:t>="</a:t>
            </a:r>
            <a:r>
              <a:rPr lang="en-US" altLang="zh-CN" sz="1100" dirty="0">
                <a:solidFill>
                  <a:srgbClr val="000000"/>
                </a:solidFill>
                <a:highlight>
                  <a:srgbClr val="FFFFFF"/>
                </a:highlight>
                <a:latin typeface="Arial"/>
              </a:rPr>
              <a:t>cid:map123.jpg@travelcompany.example.org</a:t>
            </a:r>
            <a:r>
              <a:rPr lang="en-US" altLang="zh-CN" sz="1100" dirty="0">
                <a:solidFill>
                  <a:srgbClr val="0000FF"/>
                </a:solidFill>
                <a:highlight>
                  <a:srgbClr val="FFFFFF"/>
                </a:highlight>
                <a:latin typeface="Arial"/>
              </a:rPr>
              <a:t>"/&gt;&lt;/</a:t>
            </a:r>
            <a:r>
              <a:rPr lang="en-US" altLang="zh-CN" sz="1100" dirty="0">
                <a:solidFill>
                  <a:srgbClr val="800000"/>
                </a:solidFill>
                <a:highlight>
                  <a:srgbClr val="FFFFFF"/>
                </a:highlight>
                <a:latin typeface="Arial"/>
              </a:rPr>
              <a:t>r:areaMap</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q:lodging</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a:t>
            </a: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env:Body</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FF"/>
                </a:solidFill>
                <a:highlight>
                  <a:srgbClr val="FFFFFF"/>
                </a:highlight>
                <a:latin typeface="Arial"/>
              </a:rPr>
              <a:t>&lt;/</a:t>
            </a:r>
            <a:r>
              <a:rPr lang="en-US" altLang="zh-CN" sz="1100" dirty="0" err="1">
                <a:solidFill>
                  <a:srgbClr val="800000"/>
                </a:solidFill>
                <a:highlight>
                  <a:srgbClr val="FFFFFF"/>
                </a:highlight>
                <a:latin typeface="Arial"/>
              </a:rPr>
              <a:t>env:Envelope</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--example-boundary</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Content-Type: image/jpg</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Content-Transfer-Encoding: binary</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Content-ID: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logo.gif@travelcompany.example.org</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the binary data :::</a:t>
            </a:r>
          </a:p>
          <a:p>
            <a:pPr eaLnBrk="1" hangingPunct="1">
              <a:spcBef>
                <a:spcPct val="20000"/>
              </a:spcBef>
              <a:buClr>
                <a:schemeClr val="accent1"/>
              </a:buClr>
              <a:buFont typeface="Wingdings" panose="05000000000000000000" pitchFamily="2" charset="2"/>
              <a:buNone/>
              <a:defRPr/>
            </a:pPr>
            <a:endParaRPr lang="zh-CN" altLang="en-US"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--example-boundary</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Content-Type: image/jpg</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Content-Transfer-Encoding: binary</a:t>
            </a: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Content-ID: </a:t>
            </a:r>
            <a:r>
              <a:rPr lang="en-US" altLang="zh-CN" sz="1100" dirty="0">
                <a:solidFill>
                  <a:srgbClr val="0000FF"/>
                </a:solidFill>
                <a:highlight>
                  <a:srgbClr val="FFFFFF"/>
                </a:highlight>
                <a:latin typeface="Arial"/>
              </a:rPr>
              <a:t>&lt;</a:t>
            </a:r>
            <a:r>
              <a:rPr lang="en-US" altLang="zh-CN" sz="1100" dirty="0">
                <a:solidFill>
                  <a:srgbClr val="800000"/>
                </a:solidFill>
                <a:highlight>
                  <a:srgbClr val="FFFFFF"/>
                </a:highlight>
                <a:latin typeface="Arial"/>
              </a:rPr>
              <a:t>map123.jpg@travelcompany.example.org</a:t>
            </a:r>
            <a:r>
              <a:rPr lang="en-US" altLang="zh-CN" sz="1100" dirty="0">
                <a:solidFill>
                  <a:srgbClr val="0000FF"/>
                </a:solidFill>
                <a:highlight>
                  <a:srgbClr val="FFFFFF"/>
                </a:highlight>
                <a:latin typeface="Arial"/>
              </a:rPr>
              <a:t>&gt;</a:t>
            </a:r>
            <a:endParaRPr lang="en-US" altLang="zh-CN"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endParaRPr lang="zh-CN" altLang="en-US"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 the binary data :::</a:t>
            </a:r>
          </a:p>
          <a:p>
            <a:pPr eaLnBrk="1" hangingPunct="1">
              <a:spcBef>
                <a:spcPct val="20000"/>
              </a:spcBef>
              <a:buClr>
                <a:schemeClr val="accent1"/>
              </a:buClr>
              <a:buFont typeface="Wingdings" panose="05000000000000000000" pitchFamily="2" charset="2"/>
              <a:buNone/>
              <a:defRPr/>
            </a:pPr>
            <a:endParaRPr lang="zh-CN" altLang="en-US" sz="11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100" dirty="0">
                <a:solidFill>
                  <a:srgbClr val="000000"/>
                </a:solidFill>
                <a:highlight>
                  <a:srgbClr val="FFFFFF"/>
                </a:highlight>
                <a:latin typeface="Arial"/>
              </a:rPr>
              <a:t>--example-boundary--</a:t>
            </a:r>
          </a:p>
        </p:txBody>
      </p:sp>
      <p:sp>
        <p:nvSpPr>
          <p:cNvPr id="6" name="Line 6">
            <a:extLst>
              <a:ext uri="{FF2B5EF4-FFF2-40B4-BE49-F238E27FC236}">
                <a16:creationId xmlns:a16="http://schemas.microsoft.com/office/drawing/2014/main" id="{D0780C29-4C0F-464C-AE10-6550EE5A8CDE}"/>
              </a:ext>
            </a:extLst>
          </p:cNvPr>
          <p:cNvSpPr>
            <a:spLocks noChangeShapeType="1"/>
          </p:cNvSpPr>
          <p:nvPr/>
        </p:nvSpPr>
        <p:spPr bwMode="auto">
          <a:xfrm flipH="1" flipV="1">
            <a:off x="3708400" y="3644900"/>
            <a:ext cx="576263" cy="6477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160D46EC-5E77-4641-AF6A-2E61F01CEBC9}"/>
              </a:ext>
            </a:extLst>
          </p:cNvPr>
          <p:cNvSpPr txBox="1">
            <a:spLocks noChangeArrowheads="1"/>
          </p:cNvSpPr>
          <p:nvPr/>
        </p:nvSpPr>
        <p:spPr bwMode="auto">
          <a:xfrm>
            <a:off x="4356100" y="4000500"/>
            <a:ext cx="28082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Related MIME body parts</a:t>
            </a:r>
          </a:p>
          <a:p>
            <a:pPr eaLnBrk="1" hangingPunct="1">
              <a:buFont typeface="Wingdings" panose="05000000000000000000" pitchFamily="2" charset="2"/>
              <a:buNone/>
            </a:pPr>
            <a:r>
              <a:rPr lang="en-US" altLang="zh-CN" sz="1800"/>
              <a:t>placed in the HTTP body</a:t>
            </a:r>
          </a:p>
        </p:txBody>
      </p:sp>
      <p:sp>
        <p:nvSpPr>
          <p:cNvPr id="10" name="Line 6">
            <a:extLst>
              <a:ext uri="{FF2B5EF4-FFF2-40B4-BE49-F238E27FC236}">
                <a16:creationId xmlns:a16="http://schemas.microsoft.com/office/drawing/2014/main" id="{DD22590B-E075-4236-B3F7-55CFBC8FCBA8}"/>
              </a:ext>
            </a:extLst>
          </p:cNvPr>
          <p:cNvSpPr>
            <a:spLocks noChangeShapeType="1"/>
          </p:cNvSpPr>
          <p:nvPr/>
        </p:nvSpPr>
        <p:spPr bwMode="auto">
          <a:xfrm flipH="1">
            <a:off x="2700338" y="4292600"/>
            <a:ext cx="1584325" cy="6905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6">
            <a:extLst>
              <a:ext uri="{FF2B5EF4-FFF2-40B4-BE49-F238E27FC236}">
                <a16:creationId xmlns:a16="http://schemas.microsoft.com/office/drawing/2014/main" id="{A4995B23-6D79-466A-B951-33FEF9C1FF22}"/>
              </a:ext>
            </a:extLst>
          </p:cNvPr>
          <p:cNvSpPr>
            <a:spLocks noChangeShapeType="1"/>
          </p:cNvSpPr>
          <p:nvPr/>
        </p:nvSpPr>
        <p:spPr bwMode="auto">
          <a:xfrm flipH="1" flipV="1">
            <a:off x="4067175" y="2276475"/>
            <a:ext cx="714375" cy="52546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7">
            <a:extLst>
              <a:ext uri="{FF2B5EF4-FFF2-40B4-BE49-F238E27FC236}">
                <a16:creationId xmlns:a16="http://schemas.microsoft.com/office/drawing/2014/main" id="{EF1AE960-1E3B-4161-8C55-CD2DB42EA9F6}"/>
              </a:ext>
            </a:extLst>
          </p:cNvPr>
          <p:cNvSpPr txBox="1">
            <a:spLocks noChangeArrowheads="1"/>
          </p:cNvSpPr>
          <p:nvPr/>
        </p:nvSpPr>
        <p:spPr bwMode="auto">
          <a:xfrm>
            <a:off x="4810125" y="2673350"/>
            <a:ext cx="27146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Link to MIME body part contains the binary data</a:t>
            </a:r>
          </a:p>
        </p:txBody>
      </p:sp>
      <p:sp>
        <p:nvSpPr>
          <p:cNvPr id="12" name="Line 6">
            <a:extLst>
              <a:ext uri="{FF2B5EF4-FFF2-40B4-BE49-F238E27FC236}">
                <a16:creationId xmlns:a16="http://schemas.microsoft.com/office/drawing/2014/main" id="{B65BA10E-FA8A-467D-A041-5538C5DF14C3}"/>
              </a:ext>
            </a:extLst>
          </p:cNvPr>
          <p:cNvSpPr>
            <a:spLocks noChangeShapeType="1"/>
          </p:cNvSpPr>
          <p:nvPr/>
        </p:nvSpPr>
        <p:spPr bwMode="auto">
          <a:xfrm flipH="1" flipV="1">
            <a:off x="2700338" y="2065338"/>
            <a:ext cx="195262" cy="60801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7">
            <a:extLst>
              <a:ext uri="{FF2B5EF4-FFF2-40B4-BE49-F238E27FC236}">
                <a16:creationId xmlns:a16="http://schemas.microsoft.com/office/drawing/2014/main" id="{7BE7016E-973D-46D1-AABE-E50BB5C16FB0}"/>
              </a:ext>
            </a:extLst>
          </p:cNvPr>
          <p:cNvSpPr txBox="1">
            <a:spLocks noChangeArrowheads="1"/>
          </p:cNvSpPr>
          <p:nvPr/>
        </p:nvSpPr>
        <p:spPr bwMode="auto">
          <a:xfrm>
            <a:off x="1992313" y="2563813"/>
            <a:ext cx="20526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The media type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24" presetID="3" presetClass="entr" presetSubtype="1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27" presetID="3" presetClass="entr" presetSubtype="1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horizontal)">
                                      <p:cBhvr>
                                        <p:cTn id="29"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814D5E75-17E9-4608-A160-617238154F1E}"/>
              </a:ext>
            </a:extLst>
          </p:cNvPr>
          <p:cNvSpPr>
            <a:spLocks noGrp="1"/>
          </p:cNvSpPr>
          <p:nvPr>
            <p:ph type="title"/>
          </p:nvPr>
        </p:nvSpPr>
        <p:spPr/>
        <p:txBody>
          <a:bodyPr>
            <a:normAutofit fontScale="90000"/>
          </a:bodyPr>
          <a:lstStyle/>
          <a:p>
            <a:pPr>
              <a:defRPr/>
            </a:pPr>
            <a:r>
              <a:rPr lang="en-US" altLang="zh-CN" dirty="0"/>
              <a:t>Optimization including URI-based References</a:t>
            </a:r>
            <a:endParaRPr lang="zh-CN" altLang="en-US" dirty="0"/>
          </a:p>
        </p:txBody>
      </p:sp>
      <p:sp>
        <p:nvSpPr>
          <p:cNvPr id="3" name="内容占位符 2">
            <a:extLst>
              <a:ext uri="{FF2B5EF4-FFF2-40B4-BE49-F238E27FC236}">
                <a16:creationId xmlns:a16="http://schemas.microsoft.com/office/drawing/2014/main" id="{30048EDE-6DF8-4E7D-B827-6985D52B3B78}"/>
              </a:ext>
            </a:extLst>
          </p:cNvPr>
          <p:cNvSpPr>
            <a:spLocks noGrp="1"/>
          </p:cNvSpPr>
          <p:nvPr>
            <p:ph idx="1"/>
          </p:nvPr>
        </p:nvSpPr>
        <p:spPr>
          <a:xfrm>
            <a:off x="457200" y="1600200"/>
            <a:ext cx="8229600" cy="1560513"/>
          </a:xfrm>
        </p:spPr>
        <p:txBody>
          <a:bodyPr>
            <a:normAutofit fontScale="55000" lnSpcReduction="20000"/>
          </a:bodyPr>
          <a:lstStyle/>
          <a:p>
            <a:pPr>
              <a:defRPr/>
            </a:pPr>
            <a:r>
              <a:rPr lang="en-US" altLang="zh-CN" sz="3600" dirty="0"/>
              <a:t>Another optimization is to include URI-based references to Web resources in SOAP message from the sender to either the ultimate receiver or an intermediary</a:t>
            </a:r>
          </a:p>
          <a:p>
            <a:pPr lvl="1">
              <a:defRPr/>
            </a:pPr>
            <a:r>
              <a:rPr lang="en-US" altLang="zh-CN" sz="2900" dirty="0"/>
              <a:t>This helps in situations where the processing of the SOAP message depends on dereferencing the URIs. The gain is even greater if the same resource (e.g. the image of a logo) is referenced multiple times within the message</a:t>
            </a:r>
          </a:p>
          <a:p>
            <a:pPr>
              <a:defRPr/>
            </a:pPr>
            <a:endParaRPr lang="en-US" altLang="zh-CN" dirty="0"/>
          </a:p>
        </p:txBody>
      </p:sp>
      <p:sp>
        <p:nvSpPr>
          <p:cNvPr id="8" name="Text Box 4">
            <a:extLst>
              <a:ext uri="{FF2B5EF4-FFF2-40B4-BE49-F238E27FC236}">
                <a16:creationId xmlns:a16="http://schemas.microsoft.com/office/drawing/2014/main" id="{C2460783-9FC4-472F-9D83-73808270318B}"/>
              </a:ext>
            </a:extLst>
          </p:cNvPr>
          <p:cNvSpPr txBox="1">
            <a:spLocks noChangeArrowheads="1"/>
          </p:cNvSpPr>
          <p:nvPr/>
        </p:nvSpPr>
        <p:spPr bwMode="auto">
          <a:xfrm>
            <a:off x="457200" y="3155261"/>
            <a:ext cx="8229600" cy="3600986"/>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HTTP/1.1 200 OK</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Content-Type: application/</a:t>
            </a:r>
            <a:r>
              <a:rPr lang="en-US" altLang="zh-CN" sz="1200" dirty="0" err="1">
                <a:solidFill>
                  <a:srgbClr val="000000"/>
                </a:solidFill>
                <a:highlight>
                  <a:srgbClr val="FFFFFF"/>
                </a:highlight>
                <a:latin typeface="Courier New" pitchFamily="49" charset="0"/>
                <a:cs typeface="Courier New" pitchFamily="49" charset="0"/>
              </a:rPr>
              <a:t>soap+xml</a:t>
            </a:r>
            <a:r>
              <a:rPr lang="en-US" altLang="zh-CN" sz="1200" dirty="0">
                <a:solidFill>
                  <a:srgbClr val="000000"/>
                </a:solidFill>
                <a:highlight>
                  <a:srgbClr val="FFFFFF"/>
                </a:highlight>
                <a:latin typeface="Courier New" pitchFamily="49" charset="0"/>
                <a:cs typeface="Courier New" pitchFamily="49" charset="0"/>
              </a:rPr>
              <a:t>; </a:t>
            </a:r>
            <a:r>
              <a:rPr lang="en-US" altLang="zh-CN" sz="1200" dirty="0" err="1">
                <a:solidFill>
                  <a:srgbClr val="000000"/>
                </a:solidFill>
                <a:highlight>
                  <a:srgbClr val="FFFFFF"/>
                </a:highlight>
                <a:latin typeface="Courier New" pitchFamily="49" charset="0"/>
                <a:cs typeface="Courier New" pitchFamily="49" charset="0"/>
              </a:rPr>
              <a:t>charset</a:t>
            </a:r>
            <a:r>
              <a:rPr lang="en-US" altLang="zh-CN" sz="1200" dirty="0">
                <a:solidFill>
                  <a:srgbClr val="000000"/>
                </a:solidFill>
                <a:highlight>
                  <a:srgbClr val="FFFFFF"/>
                </a:highlight>
                <a:latin typeface="Courier New" pitchFamily="49" charset="0"/>
                <a:cs typeface="Courier New" pitchFamily="49" charset="0"/>
              </a:rPr>
              <a:t>="utf-8"</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Content-Length: </a:t>
            </a:r>
            <a:r>
              <a:rPr lang="en-US" altLang="zh-CN" sz="1200" dirty="0" err="1">
                <a:solidFill>
                  <a:srgbClr val="000000"/>
                </a:solidFill>
                <a:highlight>
                  <a:srgbClr val="FFFFFF"/>
                </a:highlight>
                <a:latin typeface="Courier New" pitchFamily="49" charset="0"/>
                <a:cs typeface="Courier New" pitchFamily="49" charset="0"/>
              </a:rPr>
              <a:t>nnnn</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env:Envelope</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xmlns:env</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http://www.w3.org/2003/05/soap-envelope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env:Header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env:Header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env:Body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o:travelAgencyLogo</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xmlns:o</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http://travelcompany.example.org/images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o:image</a:t>
            </a:r>
            <a:r>
              <a:rPr lang="en-US" altLang="zh-CN" sz="1200" dirty="0">
                <a:solidFill>
                  <a:srgbClr val="FF0000"/>
                </a:solidFill>
                <a:highlight>
                  <a:srgbClr val="FFFFFF"/>
                </a:highlight>
                <a:latin typeface="Arial"/>
              </a:rPr>
              <a:t> o:source</a:t>
            </a:r>
            <a:r>
              <a:rPr lang="en-US" altLang="zh-CN" sz="1200" dirty="0">
                <a:solidFill>
                  <a:srgbClr val="0000FF"/>
                </a:solidFill>
                <a:highlight>
                  <a:srgbClr val="FFFFFF"/>
                </a:highlight>
                <a:latin typeface="Arial"/>
              </a:rPr>
              <a:t>= "</a:t>
            </a:r>
            <a:r>
              <a:rPr lang="en-US" altLang="zh-CN" sz="1200" dirty="0">
                <a:solidFill>
                  <a:srgbClr val="000000"/>
                </a:solidFill>
                <a:highlight>
                  <a:srgbClr val="FFFFFF"/>
                </a:highlight>
                <a:latin typeface="Arial"/>
              </a:rPr>
              <a:t>http://travelcompany.example.org/images/logo.jpg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o:travelAgencyLogo</a:t>
            </a:r>
            <a:r>
              <a:rPr lang="en-US" altLang="zh-CN" sz="1200" dirty="0">
                <a:solidFill>
                  <a:srgbClr val="0000FF"/>
                </a:solidFill>
                <a:highlight>
                  <a:srgbClr val="FFFFFF"/>
                </a:highlight>
                <a:latin typeface="Arial"/>
              </a:rPr>
              <a:t>&gt;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env:Body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env:Envelope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p:txBody>
      </p:sp>
      <p:sp>
        <p:nvSpPr>
          <p:cNvPr id="9" name="Line 6">
            <a:extLst>
              <a:ext uri="{FF2B5EF4-FFF2-40B4-BE49-F238E27FC236}">
                <a16:creationId xmlns:a16="http://schemas.microsoft.com/office/drawing/2014/main" id="{72D729E9-0A27-4AB1-BB7A-27A7DC366B4B}"/>
              </a:ext>
            </a:extLst>
          </p:cNvPr>
          <p:cNvSpPr>
            <a:spLocks noChangeShapeType="1"/>
          </p:cNvSpPr>
          <p:nvPr/>
        </p:nvSpPr>
        <p:spPr bwMode="auto">
          <a:xfrm flipH="1" flipV="1">
            <a:off x="5076825" y="5589588"/>
            <a:ext cx="360363" cy="5016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7">
            <a:extLst>
              <a:ext uri="{FF2B5EF4-FFF2-40B4-BE49-F238E27FC236}">
                <a16:creationId xmlns:a16="http://schemas.microsoft.com/office/drawing/2014/main" id="{2457C361-ACBC-464D-A116-03601442B094}"/>
              </a:ext>
            </a:extLst>
          </p:cNvPr>
          <p:cNvSpPr txBox="1">
            <a:spLocks noChangeArrowheads="1"/>
          </p:cNvSpPr>
          <p:nvPr/>
        </p:nvSpPr>
        <p:spPr bwMode="auto">
          <a:xfrm>
            <a:off x="4083050" y="6091238"/>
            <a:ext cx="37290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600"/>
              <a:t>Where to find the logo, defined by URI</a:t>
            </a:r>
          </a:p>
        </p:txBody>
      </p:sp>
      <p:sp>
        <p:nvSpPr>
          <p:cNvPr id="28679" name="灯片编号占位符 3">
            <a:extLst>
              <a:ext uri="{FF2B5EF4-FFF2-40B4-BE49-F238E27FC236}">
                <a16:creationId xmlns:a16="http://schemas.microsoft.com/office/drawing/2014/main" id="{6B62A45A-FC95-4822-86FC-67F367ACD940}"/>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32</a:t>
            </a:fld>
            <a:endParaRPr lang="en-US" altLang="zh-CN" sz="1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1974D0-A019-49A9-B636-566A536DBE8B}"/>
              </a:ext>
            </a:extLst>
          </p:cNvPr>
          <p:cNvSpPr>
            <a:spLocks noGrp="1"/>
          </p:cNvSpPr>
          <p:nvPr>
            <p:ph type="title"/>
          </p:nvPr>
        </p:nvSpPr>
        <p:spPr/>
        <p:txBody>
          <a:bodyPr>
            <a:normAutofit fontScale="90000"/>
          </a:bodyPr>
          <a:lstStyle/>
          <a:p>
            <a:pPr>
              <a:defRPr/>
            </a:pPr>
            <a:r>
              <a:rPr lang="en-US" altLang="zh-CN" dirty="0"/>
              <a:t>Using the Resource Representation SOAP Header Block (1/3)</a:t>
            </a:r>
            <a:endParaRPr lang="zh-CN" altLang="en-US" dirty="0"/>
          </a:p>
        </p:txBody>
      </p:sp>
      <p:sp>
        <p:nvSpPr>
          <p:cNvPr id="3" name="内容占位符 2">
            <a:extLst>
              <a:ext uri="{FF2B5EF4-FFF2-40B4-BE49-F238E27FC236}">
                <a16:creationId xmlns:a16="http://schemas.microsoft.com/office/drawing/2014/main" id="{B05147E5-2B34-42C1-BA82-4F04B75D13E5}"/>
              </a:ext>
            </a:extLst>
          </p:cNvPr>
          <p:cNvSpPr>
            <a:spLocks noGrp="1"/>
          </p:cNvSpPr>
          <p:nvPr>
            <p:ph idx="1"/>
          </p:nvPr>
        </p:nvSpPr>
        <p:spPr/>
        <p:txBody>
          <a:bodyPr>
            <a:normAutofit fontScale="85000" lnSpcReduction="10000"/>
          </a:bodyPr>
          <a:lstStyle/>
          <a:p>
            <a:pPr>
              <a:lnSpc>
                <a:spcPct val="120000"/>
              </a:lnSpc>
              <a:defRPr/>
            </a:pPr>
            <a:r>
              <a:rPr lang="en-US" altLang="zh-CN" dirty="0"/>
              <a:t>If the receiver is not able or wishes to avoid the overhead of the network traffic needed to do so, the Optimization including URI-based References may not be possible</a:t>
            </a:r>
          </a:p>
          <a:p>
            <a:pPr>
              <a:lnSpc>
                <a:spcPct val="120000"/>
              </a:lnSpc>
              <a:defRPr/>
            </a:pPr>
            <a:r>
              <a:rPr lang="en-US" altLang="zh-CN" dirty="0"/>
              <a:t>The Resource Representation SOAP Header Block [</a:t>
            </a:r>
            <a:r>
              <a:rPr lang="en-US" altLang="zh-CN" dirty="0" err="1">
                <a:hlinkClick r:id="rId2" action="ppaction://hlinkfile"/>
              </a:rPr>
              <a:t>ResRep</a:t>
            </a:r>
            <a:r>
              <a:rPr lang="en-US" altLang="zh-CN" dirty="0"/>
              <a:t>] specification describes a SOAP header block, containing a </a:t>
            </a:r>
            <a:r>
              <a:rPr lang="en-US" altLang="zh-CN" dirty="0" err="1">
                <a:hlinkClick r:id="rId3"/>
              </a:rPr>
              <a:t>rep:Representation</a:t>
            </a:r>
            <a:r>
              <a:rPr lang="en-US" altLang="zh-CN" dirty="0"/>
              <a:t> element, which defines how URI-based representations of resources referenced within a SOAP message </a:t>
            </a:r>
            <a:r>
              <a:rPr lang="en-US" altLang="zh-CN" dirty="0" err="1"/>
              <a:t>infoset</a:t>
            </a:r>
            <a:r>
              <a:rPr lang="en-US" altLang="zh-CN" dirty="0"/>
              <a:t> may be carried and processed by an identified receiver</a:t>
            </a:r>
          </a:p>
          <a:p>
            <a:pPr>
              <a:lnSpc>
                <a:spcPct val="110000"/>
              </a:lnSpc>
              <a:defRPr/>
            </a:pPr>
            <a:endParaRPr lang="en-US" altLang="zh-CN" dirty="0"/>
          </a:p>
        </p:txBody>
      </p:sp>
      <p:sp>
        <p:nvSpPr>
          <p:cNvPr id="30724" name="灯片编号占位符 3">
            <a:extLst>
              <a:ext uri="{FF2B5EF4-FFF2-40B4-BE49-F238E27FC236}">
                <a16:creationId xmlns:a16="http://schemas.microsoft.com/office/drawing/2014/main" id="{2CC8FBFD-4FCA-4ED2-9383-7353F411239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33</a:t>
            </a:fld>
            <a:endParaRPr lang="en-US" altLang="zh-CN" sz="100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CAF12426-1533-4B48-93E8-7BD11D30A74E}"/>
              </a:ext>
            </a:extLst>
          </p:cNvPr>
          <p:cNvSpPr>
            <a:spLocks noGrp="1"/>
          </p:cNvSpPr>
          <p:nvPr>
            <p:ph type="title"/>
          </p:nvPr>
        </p:nvSpPr>
        <p:spPr/>
        <p:txBody>
          <a:bodyPr>
            <a:normAutofit fontScale="90000"/>
          </a:bodyPr>
          <a:lstStyle/>
          <a:p>
            <a:pPr>
              <a:defRPr/>
            </a:pPr>
            <a:r>
              <a:rPr lang="en-US" altLang="zh-CN" dirty="0"/>
              <a:t>Using the Resource Representation SOAP Header Block (2/2)</a:t>
            </a:r>
            <a:endParaRPr lang="zh-CN" altLang="en-US" dirty="0"/>
          </a:p>
        </p:txBody>
      </p:sp>
      <p:sp>
        <p:nvSpPr>
          <p:cNvPr id="31747" name="灯片编号占位符 3">
            <a:extLst>
              <a:ext uri="{FF2B5EF4-FFF2-40B4-BE49-F238E27FC236}">
                <a16:creationId xmlns:a16="http://schemas.microsoft.com/office/drawing/2014/main" id="{00B9BDF5-C030-450B-9C40-67C002FB80E8}"/>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34</a:t>
            </a:fld>
            <a:endParaRPr lang="en-US" altLang="zh-CN" sz="1000"/>
          </a:p>
        </p:txBody>
      </p:sp>
      <p:sp>
        <p:nvSpPr>
          <p:cNvPr id="5" name="Text Box 4">
            <a:extLst>
              <a:ext uri="{FF2B5EF4-FFF2-40B4-BE49-F238E27FC236}">
                <a16:creationId xmlns:a16="http://schemas.microsoft.com/office/drawing/2014/main" id="{7AC6A5E5-0731-4F24-8465-84EB3D07DF68}"/>
              </a:ext>
            </a:extLst>
          </p:cNvPr>
          <p:cNvSpPr txBox="1">
            <a:spLocks noGrp="1" noChangeArrowheads="1"/>
          </p:cNvSpPr>
          <p:nvPr>
            <p:ph idx="1"/>
          </p:nvPr>
        </p:nvSpPr>
        <p:spPr>
          <a:xfrm>
            <a:off x="457200" y="1412776"/>
            <a:ext cx="8229600" cy="4930581"/>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HTTP/1.1 200 OK</a:t>
            </a:r>
          </a:p>
          <a:p>
            <a:pP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Content-Type: application/</a:t>
            </a:r>
            <a:r>
              <a:rPr lang="en-US" altLang="zh-CN" sz="1200" dirty="0" err="1">
                <a:solidFill>
                  <a:srgbClr val="000000"/>
                </a:solidFill>
                <a:highlight>
                  <a:srgbClr val="FFFFFF"/>
                </a:highlight>
                <a:latin typeface="Courier New" pitchFamily="49" charset="0"/>
                <a:cs typeface="Courier New" pitchFamily="49" charset="0"/>
              </a:rPr>
              <a:t>soap+xml</a:t>
            </a:r>
            <a:r>
              <a:rPr lang="en-US" altLang="zh-CN" sz="1200" dirty="0">
                <a:solidFill>
                  <a:srgbClr val="000000"/>
                </a:solidFill>
                <a:highlight>
                  <a:srgbClr val="FFFFFF"/>
                </a:highlight>
                <a:latin typeface="Courier New" pitchFamily="49" charset="0"/>
                <a:cs typeface="Courier New" pitchFamily="49" charset="0"/>
              </a:rPr>
              <a:t>; </a:t>
            </a:r>
            <a:r>
              <a:rPr lang="en-US" altLang="zh-CN" sz="1200" dirty="0" err="1">
                <a:solidFill>
                  <a:srgbClr val="000000"/>
                </a:solidFill>
                <a:highlight>
                  <a:srgbClr val="FFFFFF"/>
                </a:highlight>
                <a:latin typeface="Courier New" pitchFamily="49" charset="0"/>
                <a:cs typeface="Courier New" pitchFamily="49" charset="0"/>
              </a:rPr>
              <a:t>charset</a:t>
            </a:r>
            <a:r>
              <a:rPr lang="en-US" altLang="zh-CN" sz="1200" dirty="0">
                <a:solidFill>
                  <a:srgbClr val="000000"/>
                </a:solidFill>
                <a:highlight>
                  <a:srgbClr val="FFFFFF"/>
                </a:highlight>
                <a:latin typeface="Courier New" pitchFamily="49" charset="0"/>
                <a:cs typeface="Courier New" pitchFamily="49" charset="0"/>
              </a:rPr>
              <a:t>="utf-8"</a:t>
            </a:r>
          </a:p>
          <a:p>
            <a:pP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Content-Length: </a:t>
            </a:r>
            <a:r>
              <a:rPr lang="en-US" altLang="zh-CN" sz="1200" dirty="0" err="1">
                <a:solidFill>
                  <a:srgbClr val="000000"/>
                </a:solidFill>
                <a:highlight>
                  <a:srgbClr val="FFFFFF"/>
                </a:highlight>
                <a:latin typeface="Courier New" pitchFamily="49" charset="0"/>
                <a:cs typeface="Courier New" pitchFamily="49" charset="0"/>
              </a:rPr>
              <a:t>nnnn</a:t>
            </a:r>
            <a:endParaRPr lang="en-US" altLang="zh-CN" sz="1200" dirty="0">
              <a:solidFill>
                <a:srgbClr val="000000"/>
              </a:solidFill>
              <a:highlight>
                <a:srgbClr val="FFFFFF"/>
              </a:highlight>
              <a:latin typeface="Courier New" pitchFamily="49" charset="0"/>
              <a:cs typeface="Courier New" pitchFamily="49" charset="0"/>
            </a:endParaRPr>
          </a:p>
          <a:p>
            <a:pPr>
              <a:buFont typeface="Wingdings" panose="05000000000000000000" pitchFamily="2" charset="2"/>
              <a:buNone/>
              <a:defRPr/>
            </a:pPr>
            <a:endParaRPr lang="zh-CN" altLang="en-US"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8080"/>
                </a:solidFill>
                <a:highlight>
                  <a:srgbClr val="FFFFFF"/>
                </a:highlight>
              </a:rPr>
              <a:t>&lt;?xml version='1.0' ?&gt;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env:Envelope</a:t>
            </a: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xmlns:env</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http://www.w3.org/2003/05/soap-envelope</a:t>
            </a:r>
            <a:r>
              <a:rPr lang="en-US" altLang="zh-CN" sz="1200" dirty="0">
                <a:solidFill>
                  <a:srgbClr val="0000FF"/>
                </a:solidFill>
                <a:highlight>
                  <a:srgbClr val="FFFFFF"/>
                </a:highlight>
              </a:rPr>
              <a:t>"</a:t>
            </a:r>
            <a:endParaRPr lang="en-US" altLang="zh-CN" sz="1200" dirty="0">
              <a:solidFill>
                <a:srgbClr val="FF0000"/>
              </a:solidFill>
              <a:highlight>
                <a:srgbClr val="FFFFFF"/>
              </a:highlight>
            </a:endParaRP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xmlns:rep</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http://www.w3.org/2004/02/representation</a:t>
            </a:r>
            <a:r>
              <a:rPr lang="en-US" altLang="zh-CN" sz="1200" dirty="0">
                <a:solidFill>
                  <a:srgbClr val="0000FF"/>
                </a:solidFill>
                <a:highlight>
                  <a:srgbClr val="FFFFFF"/>
                </a:highlight>
              </a:rPr>
              <a:t>'</a:t>
            </a:r>
            <a:endParaRPr lang="en-US" altLang="zh-CN" sz="1200" dirty="0">
              <a:solidFill>
                <a:srgbClr val="FF0000"/>
              </a:solidFill>
              <a:highlight>
                <a:srgbClr val="FFFFFF"/>
              </a:highlight>
            </a:endParaRPr>
          </a:p>
          <a:p>
            <a:pPr>
              <a:buFont typeface="Wingdings" panose="05000000000000000000" pitchFamily="2" charset="2"/>
              <a:buNone/>
              <a:defRPr/>
            </a:pP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xmlns:xmime</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http://www.w3.org/2004/06/xmlmime</a:t>
            </a:r>
            <a:r>
              <a:rPr lang="en-US" altLang="zh-CN" sz="1200" dirty="0">
                <a:solidFill>
                  <a:srgbClr val="0000FF"/>
                </a:solidFill>
                <a:highlight>
                  <a:srgbClr val="FFFFFF"/>
                </a:highlight>
              </a:rPr>
              <a:t>'&gt;</a:t>
            </a:r>
            <a:r>
              <a:rPr lang="en-US" altLang="zh-CN" sz="1200" dirty="0">
                <a:solidFill>
                  <a:srgbClr val="000000"/>
                </a:solidFill>
                <a:highlight>
                  <a:srgbClr val="FFFFFF"/>
                </a:highlight>
              </a:rPr>
              <a:t> </a:t>
            </a: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env:Header</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rep:Representation</a:t>
            </a:r>
            <a:r>
              <a:rPr lang="en-US" altLang="zh-CN" sz="1200" dirty="0">
                <a:solidFill>
                  <a:srgbClr val="FF0000"/>
                </a:solidFill>
                <a:highlight>
                  <a:srgbClr val="FFFFFF"/>
                </a:highlight>
              </a:rPr>
              <a:t> resource</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http://travelcompany.example.org/images/logo.jpg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rep:Data</a:t>
            </a: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xmime:contentType</a:t>
            </a:r>
            <a:r>
              <a:rPr lang="en-US" altLang="zh-CN" sz="1200" dirty="0">
                <a:solidFill>
                  <a:srgbClr val="0000FF"/>
                </a:solidFill>
                <a:highlight>
                  <a:srgbClr val="FFFFFF"/>
                </a:highlight>
              </a:rPr>
              <a:t>='</a:t>
            </a:r>
            <a:r>
              <a:rPr lang="en-US" altLang="zh-CN" sz="1200" dirty="0">
                <a:solidFill>
                  <a:srgbClr val="000000"/>
                </a:solidFill>
                <a:highlight>
                  <a:srgbClr val="FFFFFF"/>
                </a:highlight>
              </a:rPr>
              <a:t>image/jpg</a:t>
            </a:r>
            <a:r>
              <a:rPr lang="en-US" altLang="zh-CN" sz="1200" dirty="0">
                <a:solidFill>
                  <a:srgbClr val="0000FF"/>
                </a:solidFill>
                <a:highlight>
                  <a:srgbClr val="FFFFFF"/>
                </a:highlight>
              </a:rPr>
              <a:t>'&gt;</a:t>
            </a:r>
            <a:r>
              <a:rPr lang="en-US" altLang="zh-CN" sz="1200" dirty="0">
                <a:solidFill>
                  <a:srgbClr val="000000"/>
                </a:solidFill>
                <a:highlight>
                  <a:srgbClr val="FFFFFF"/>
                </a:highlight>
              </a:rPr>
              <a:t>HlkR4cTYvAQLAcOAAAAAAQCAAgEAA0GA</a:t>
            </a:r>
          </a:p>
          <a:p>
            <a:pPr>
              <a:buFont typeface="Wingdings" panose="05000000000000000000" pitchFamily="2" charset="2"/>
              <a:buNone/>
              <a:defRPr/>
            </a:pPr>
            <a:r>
              <a:rPr lang="en-US" altLang="zh-CN" sz="1200" dirty="0">
                <a:solidFill>
                  <a:srgbClr val="000000"/>
                </a:solidFill>
                <a:highlight>
                  <a:srgbClr val="FFFFFF"/>
                </a:highlight>
              </a:rPr>
              <a:t>AEJAAYLAAoNAA8PAAAAJAQCJAgEJA0GJAEJJAYLJAoNJA8PJAAASAQCSAgESA0GSAEJSAYLSAoNSA</a:t>
            </a:r>
          </a:p>
          <a:p>
            <a:pPr>
              <a:buFont typeface="Wingdings" panose="05000000000000000000" pitchFamily="2" charset="2"/>
              <a:buNone/>
              <a:defRPr/>
            </a:pPr>
            <a:r>
              <a:rPr lang="en-US" altLang="zh-CN" sz="1200" dirty="0">
                <a:solidFill>
                  <a:srgbClr val="000000"/>
                </a:solidFill>
                <a:highlight>
                  <a:srgbClr val="FFFFFF"/>
                </a:highlight>
              </a:rPr>
              <a:t>8PSAAQbAQSbAgUbA0WbAEZbAYbbAodbA8fbAAQkAQSkAgUkA0WkAEZkAYbkAodkA8fkAAgtAQitAgk</a:t>
            </a:r>
          </a:p>
          <a:p>
            <a:pPr>
              <a:buFont typeface="Wingdings" panose="05000000000000000000" pitchFamily="2" charset="2"/>
              <a:buNone/>
              <a:defRPr/>
            </a:pPr>
            <a:r>
              <a:rPr lang="zh-CN" altLang="en-US" sz="1200" dirty="0">
                <a:solidFill>
                  <a:srgbClr val="000000"/>
                </a:solidFill>
                <a:highlight>
                  <a:srgbClr val="FFFFFF"/>
                </a:highlight>
              </a:rPr>
              <a:t>              </a:t>
            </a:r>
            <a:r>
              <a:rPr lang="en-US" altLang="zh-CN" sz="1200" dirty="0">
                <a:solidFill>
                  <a:srgbClr val="000000"/>
                </a:solidFill>
                <a:highlight>
                  <a:srgbClr val="FFFFFF"/>
                </a:highlight>
              </a:rPr>
              <a:t>:::</a:t>
            </a:r>
          </a:p>
          <a:p>
            <a:pPr>
              <a:buFont typeface="Wingdings" panose="05000000000000000000" pitchFamily="2" charset="2"/>
              <a:buNone/>
              <a:defRPr/>
            </a:pPr>
            <a:r>
              <a:rPr lang="en-US" altLang="zh-CN" sz="1200" dirty="0">
                <a:solidFill>
                  <a:srgbClr val="000000"/>
                </a:solidFill>
                <a:highlight>
                  <a:srgbClr val="FFFFFF"/>
                </a:highlight>
              </a:rPr>
              <a:t>qG4dSiwpp2eK4LZLr6tuqTWump4H4xSz6G1dioPCqT5eWq5EtdUdJSSoYLAMjqasWYLZYmTOrz+o</a:t>
            </a:r>
          </a:p>
          <a:p>
            <a:pPr>
              <a:buFont typeface="Wingdings" panose="05000000000000000000" pitchFamily="2" charset="2"/>
              <a:buNone/>
              <a:defRPr/>
            </a:pPr>
            <a:r>
              <a:rPr lang="en-US" altLang="zh-CN" sz="1200" dirty="0">
                <a:solidFill>
                  <a:srgbClr val="000000"/>
                </a:solidFill>
                <a:highlight>
                  <a:srgbClr val="FFFFFF"/>
                </a:highlight>
              </a:rPr>
              <a:t>7aJOt+aM9rWrxut4DAArILM9t0kShRgCFJaUk+uvAgshVRaPlXebGyv67APwKb9qw/r0di/a6Cxn</a:t>
            </a:r>
          </a:p>
          <a:p>
            <a:pPr>
              <a:buFont typeface="Wingdings" panose="05000000000000000000" pitchFamily="2" charset="2"/>
              <a:buNone/>
              <a:defRPr/>
            </a:pPr>
            <a:r>
              <a:rPr lang="en-US" altLang="zh-CN" sz="1200" dirty="0" err="1">
                <a:solidFill>
                  <a:srgbClr val="000000"/>
                </a:solidFill>
                <a:highlight>
                  <a:srgbClr val="FFFFFF"/>
                </a:highlight>
              </a:rPr>
              <a:t>lELvZYABAsD</a:t>
            </a:r>
            <a:r>
              <a:rPr lang="en-US" altLang="zh-CN" sz="1200" dirty="0">
                <a:solidFill>
                  <a:srgbClr val="000000"/>
                </a:solidFill>
                <a:highlight>
                  <a:srgbClr val="FFFFFF"/>
                </a:highlight>
              </a:rPr>
              <a:t>==</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rep:Data</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rep:Representation</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zh-CN" altLang="en-US" sz="1200" dirty="0">
                <a:solidFill>
                  <a:srgbClr val="000000"/>
                </a:solidFill>
                <a:highlight>
                  <a:srgbClr val="FFFFFF"/>
                </a:highlight>
              </a:rPr>
              <a:t>   </a:t>
            </a:r>
            <a:r>
              <a:rPr lang="en-US" altLang="zh-CN" sz="1200" dirty="0">
                <a:solidFill>
                  <a:srgbClr val="000000"/>
                </a:solidFill>
                <a:highlight>
                  <a:srgbClr val="FFFFFF"/>
                </a:highlight>
              </a:rPr>
              <a:t>:::</a:t>
            </a: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env:Header</a:t>
            </a:r>
            <a:r>
              <a:rPr lang="en-US" altLang="zh-CN" sz="1200" dirty="0">
                <a:solidFill>
                  <a:srgbClr val="0000FF"/>
                </a:solidFill>
                <a:highlight>
                  <a:srgbClr val="FFFFFF"/>
                </a:highlight>
              </a:rPr>
              <a:t>&gt;</a:t>
            </a:r>
          </a:p>
          <a:p>
            <a:pPr>
              <a:buFont typeface="Wingdings" panose="05000000000000000000" pitchFamily="2" charset="2"/>
              <a:buNone/>
              <a:defRPr/>
            </a:pPr>
            <a:r>
              <a:rPr lang="en-US" altLang="zh-CN" sz="1200" dirty="0">
                <a:solidFill>
                  <a:srgbClr val="0000FF"/>
                </a:solidFill>
                <a:highlight>
                  <a:srgbClr val="FFFFFF"/>
                </a:highlight>
              </a:rPr>
              <a:t>……</a:t>
            </a:r>
            <a:endParaRPr lang="en-US" altLang="zh-CN" sz="1200" dirty="0">
              <a:solidFill>
                <a:srgbClr val="000000"/>
              </a:solidFill>
              <a:highlight>
                <a:srgbClr val="FFFFFF"/>
              </a:highlight>
            </a:endParaRPr>
          </a:p>
          <a:p>
            <a:pPr>
              <a:buFont typeface="Wingdings" panose="05000000000000000000" pitchFamily="2" charset="2"/>
              <a:buNone/>
              <a:defRPr/>
            </a:pPr>
            <a:endParaRPr lang="en-US" altLang="zh-CN" sz="1200" dirty="0">
              <a:solidFill>
                <a:srgbClr val="000000"/>
              </a:solidFill>
              <a:highlight>
                <a:srgbClr val="FFFFFF"/>
              </a:highlight>
            </a:endParaRPr>
          </a:p>
        </p:txBody>
      </p:sp>
      <p:sp>
        <p:nvSpPr>
          <p:cNvPr id="6" name="Line 6">
            <a:extLst>
              <a:ext uri="{FF2B5EF4-FFF2-40B4-BE49-F238E27FC236}">
                <a16:creationId xmlns:a16="http://schemas.microsoft.com/office/drawing/2014/main" id="{6F0E20BE-72FD-4C35-973D-F1740AC5B990}"/>
              </a:ext>
            </a:extLst>
          </p:cNvPr>
          <p:cNvSpPr>
            <a:spLocks noChangeShapeType="1"/>
          </p:cNvSpPr>
          <p:nvPr/>
        </p:nvSpPr>
        <p:spPr bwMode="auto">
          <a:xfrm flipH="1" flipV="1">
            <a:off x="4225925" y="4746625"/>
            <a:ext cx="493713" cy="35877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C6E4464A-9451-46FB-B6F9-46AC4C4BDE48}"/>
              </a:ext>
            </a:extLst>
          </p:cNvPr>
          <p:cNvSpPr txBox="1">
            <a:spLocks noChangeArrowheads="1"/>
          </p:cNvSpPr>
          <p:nvPr/>
        </p:nvSpPr>
        <p:spPr bwMode="auto">
          <a:xfrm>
            <a:off x="4067175" y="5157788"/>
            <a:ext cx="3543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If dereferencing URI were considered unacceptable, the base64-encoded representation of the resource is used</a:t>
            </a:r>
          </a:p>
        </p:txBody>
      </p:sp>
      <p:sp>
        <p:nvSpPr>
          <p:cNvPr id="8" name="Line 6">
            <a:extLst>
              <a:ext uri="{FF2B5EF4-FFF2-40B4-BE49-F238E27FC236}">
                <a16:creationId xmlns:a16="http://schemas.microsoft.com/office/drawing/2014/main" id="{E6839213-C606-461A-A24A-AFA83486CF9D}"/>
              </a:ext>
            </a:extLst>
          </p:cNvPr>
          <p:cNvSpPr>
            <a:spLocks noChangeShapeType="1"/>
          </p:cNvSpPr>
          <p:nvPr/>
        </p:nvSpPr>
        <p:spPr bwMode="auto">
          <a:xfrm flipH="1">
            <a:off x="4067175" y="3213100"/>
            <a:ext cx="1225550" cy="2301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7">
            <a:extLst>
              <a:ext uri="{FF2B5EF4-FFF2-40B4-BE49-F238E27FC236}">
                <a16:creationId xmlns:a16="http://schemas.microsoft.com/office/drawing/2014/main" id="{C83E318E-1B5D-40B9-89ED-906CDC8FE03F}"/>
              </a:ext>
            </a:extLst>
          </p:cNvPr>
          <p:cNvSpPr txBox="1">
            <a:spLocks noChangeArrowheads="1"/>
          </p:cNvSpPr>
          <p:nvPr/>
        </p:nvSpPr>
        <p:spPr bwMode="auto">
          <a:xfrm>
            <a:off x="5364163" y="2965450"/>
            <a:ext cx="2736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Mandatory</a:t>
            </a:r>
          </a:p>
        </p:txBody>
      </p:sp>
      <p:sp>
        <p:nvSpPr>
          <p:cNvPr id="10" name="Line 6">
            <a:extLst>
              <a:ext uri="{FF2B5EF4-FFF2-40B4-BE49-F238E27FC236}">
                <a16:creationId xmlns:a16="http://schemas.microsoft.com/office/drawing/2014/main" id="{CFC27C27-F5C5-460F-B6A9-3552D7B51B64}"/>
              </a:ext>
            </a:extLst>
          </p:cNvPr>
          <p:cNvSpPr>
            <a:spLocks noChangeShapeType="1"/>
          </p:cNvSpPr>
          <p:nvPr/>
        </p:nvSpPr>
        <p:spPr bwMode="auto">
          <a:xfrm flipH="1">
            <a:off x="3563938" y="3365500"/>
            <a:ext cx="1881187" cy="3508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7">
            <a:extLst>
              <a:ext uri="{FF2B5EF4-FFF2-40B4-BE49-F238E27FC236}">
                <a16:creationId xmlns:a16="http://schemas.microsoft.com/office/drawing/2014/main" id="{98A20DFA-B421-44F0-96F8-56CC381F0FE9}"/>
              </a:ext>
            </a:extLst>
          </p:cNvPr>
          <p:cNvSpPr txBox="1">
            <a:spLocks noChangeArrowheads="1"/>
          </p:cNvSpPr>
          <p:nvPr/>
        </p:nvSpPr>
        <p:spPr bwMode="auto">
          <a:xfrm>
            <a:off x="5516563" y="3117850"/>
            <a:ext cx="2736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Optional</a:t>
            </a:r>
          </a:p>
        </p:txBody>
      </p:sp>
      <p:sp>
        <p:nvSpPr>
          <p:cNvPr id="12" name="Text Box 7">
            <a:extLst>
              <a:ext uri="{FF2B5EF4-FFF2-40B4-BE49-F238E27FC236}">
                <a16:creationId xmlns:a16="http://schemas.microsoft.com/office/drawing/2014/main" id="{CD1D2129-B9B3-4830-9DFB-9DE3AE65CB59}"/>
              </a:ext>
            </a:extLst>
          </p:cNvPr>
          <p:cNvSpPr txBox="1">
            <a:spLocks noChangeArrowheads="1"/>
          </p:cNvSpPr>
          <p:nvPr/>
        </p:nvSpPr>
        <p:spPr bwMode="auto">
          <a:xfrm>
            <a:off x="5470525" y="1844675"/>
            <a:ext cx="30622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Other attributes or header blocks are permitted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par>
                                <p:cTn id="24" presetID="3"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A68FE2F2-7FA3-442E-9C8D-C13760223639}"/>
              </a:ext>
            </a:extLst>
          </p:cNvPr>
          <p:cNvSpPr>
            <a:spLocks noGrp="1"/>
          </p:cNvSpPr>
          <p:nvPr>
            <p:ph type="title"/>
          </p:nvPr>
        </p:nvSpPr>
        <p:spPr/>
        <p:txBody>
          <a:bodyPr>
            <a:normAutofit fontScale="90000"/>
          </a:bodyPr>
          <a:lstStyle/>
          <a:p>
            <a:pPr>
              <a:defRPr/>
            </a:pPr>
            <a:r>
              <a:rPr lang="en-US" altLang="zh-CN" dirty="0"/>
              <a:t>Using the Resource Representation SOAP Header Block (3/3)</a:t>
            </a:r>
            <a:endParaRPr lang="zh-CN" altLang="en-US" dirty="0"/>
          </a:p>
        </p:txBody>
      </p:sp>
      <p:sp>
        <p:nvSpPr>
          <p:cNvPr id="33795" name="灯片编号占位符 3">
            <a:extLst>
              <a:ext uri="{FF2B5EF4-FFF2-40B4-BE49-F238E27FC236}">
                <a16:creationId xmlns:a16="http://schemas.microsoft.com/office/drawing/2014/main" id="{55155384-59BD-4AE5-99A6-0325AFC8FA85}"/>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35</a:t>
            </a:fld>
            <a:endParaRPr lang="en-US" altLang="zh-CN" sz="1000"/>
          </a:p>
        </p:txBody>
      </p:sp>
      <p:sp>
        <p:nvSpPr>
          <p:cNvPr id="5" name="Text Box 4">
            <a:extLst>
              <a:ext uri="{FF2B5EF4-FFF2-40B4-BE49-F238E27FC236}">
                <a16:creationId xmlns:a16="http://schemas.microsoft.com/office/drawing/2014/main" id="{D014305F-539C-432B-B596-2FD48518146A}"/>
              </a:ext>
            </a:extLst>
          </p:cNvPr>
          <p:cNvSpPr txBox="1">
            <a:spLocks noGrp="1" noChangeArrowheads="1"/>
          </p:cNvSpPr>
          <p:nvPr>
            <p:ph idx="1"/>
          </p:nvPr>
        </p:nvSpPr>
        <p:spPr>
          <a:xfrm>
            <a:off x="467544" y="1772816"/>
            <a:ext cx="8229600" cy="2714589"/>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200" dirty="0">
                <a:solidFill>
                  <a:srgbClr val="0000FF"/>
                </a:solidFill>
                <a:highlight>
                  <a:srgbClr val="FFFFFF"/>
                </a:highlight>
              </a:rPr>
              <a: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env:Body</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o:travelAgencyLogo</a:t>
            </a:r>
            <a:r>
              <a:rPr lang="en-US" altLang="zh-CN" sz="1200" dirty="0">
                <a:solidFill>
                  <a:srgbClr val="FF0000"/>
                </a:solidFill>
                <a:highlight>
                  <a:srgbClr val="FFFFFF"/>
                </a:highlight>
              </a:rPr>
              <a:t> </a:t>
            </a:r>
            <a:r>
              <a:rPr lang="en-US" altLang="zh-CN" sz="1200" dirty="0" err="1">
                <a:solidFill>
                  <a:srgbClr val="FF0000"/>
                </a:solidFill>
                <a:highlight>
                  <a:srgbClr val="FFFFFF"/>
                </a:highlight>
              </a:rPr>
              <a:t>xmlns:o</a:t>
            </a:r>
            <a:r>
              <a:rPr lang="en-US" altLang="zh-CN" sz="1200" dirty="0">
                <a:solidFill>
                  <a:srgbClr val="0000FF"/>
                </a:solidFill>
                <a:highlight>
                  <a:srgbClr val="FFFFFF"/>
                </a:highlight>
              </a:rPr>
              <a:t>="</a:t>
            </a:r>
            <a:r>
              <a:rPr lang="en-US" altLang="zh-CN" sz="1200" dirty="0">
                <a:solidFill>
                  <a:srgbClr val="000000"/>
                </a:solidFill>
                <a:highlight>
                  <a:srgbClr val="FFFFFF"/>
                </a:highlight>
              </a:rPr>
              <a:t>http://travelcompany.example.org/images</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o:image</a:t>
            </a:r>
            <a:r>
              <a:rPr lang="en-US" altLang="zh-CN" sz="1200" dirty="0">
                <a:solidFill>
                  <a:srgbClr val="FF0000"/>
                </a:solidFill>
                <a:highlight>
                  <a:srgbClr val="FFFFFF"/>
                </a:highlight>
              </a:rPr>
              <a:t> o:source</a:t>
            </a:r>
            <a:r>
              <a:rPr lang="en-US" altLang="zh-CN" sz="1200" dirty="0">
                <a:solidFill>
                  <a:srgbClr val="0000FF"/>
                </a:solidFill>
                <a:highlight>
                  <a:srgbClr val="FFFFFF"/>
                </a:highlight>
              </a:rPr>
              <a:t>= "</a:t>
            </a:r>
            <a:r>
              <a:rPr lang="en-US" altLang="zh-CN" sz="1200" dirty="0">
                <a:solidFill>
                  <a:srgbClr val="000000"/>
                </a:solidFill>
                <a:highlight>
                  <a:srgbClr val="FFFFFF"/>
                </a:highlight>
              </a:rPr>
              <a:t>http://travelcompany.example.org/images/logo.jpg</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a:solidFill>
                  <a:srgbClr val="800000"/>
                </a:solidFill>
                <a:highlight>
                  <a:srgbClr val="FFFFFF"/>
                </a:highlight>
              </a:rPr>
              <a:t>o:travelAgencyLogo</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zh-CN" altLang="en-US" sz="1200" dirty="0">
                <a:solidFill>
                  <a:srgbClr val="000000"/>
                </a:solidFill>
                <a:highlight>
                  <a:srgbClr val="FFFFFF"/>
                </a:highlight>
              </a:rPr>
              <a:t>  </a:t>
            </a:r>
          </a:p>
          <a:p>
            <a:pPr>
              <a:buFont typeface="Wingdings" panose="05000000000000000000" pitchFamily="2" charset="2"/>
              <a:buNone/>
              <a:defRPr/>
            </a:pPr>
            <a:r>
              <a:rPr lang="zh-CN" altLang="en-US" sz="1200" dirty="0">
                <a:solidFill>
                  <a:srgbClr val="000000"/>
                </a:solidFill>
                <a:highlight>
                  <a:srgbClr val="FFFFFF"/>
                </a:highlight>
              </a:rPr>
              <a:t>     </a:t>
            </a:r>
            <a:r>
              <a:rPr lang="en-US" altLang="zh-CN" sz="1200" dirty="0">
                <a:solidFill>
                  <a:srgbClr val="000000"/>
                </a:solidFill>
                <a:highlight>
                  <a:srgbClr val="FFFFFF"/>
                </a:highlight>
              </a:rPr>
              <a:t>:::</a:t>
            </a:r>
          </a:p>
          <a:p>
            <a:pPr>
              <a:buFont typeface="Wingdings" panose="05000000000000000000" pitchFamily="2" charset="2"/>
              <a:buNone/>
              <a:defRPr/>
            </a:pPr>
            <a:r>
              <a:rPr lang="zh-CN" altLang="en-US" sz="1200" dirty="0">
                <a:solidFill>
                  <a:srgbClr val="000000"/>
                </a:solidFill>
                <a:highlight>
                  <a:srgbClr val="FFFFFF"/>
                </a:highlight>
              </a:rPr>
              <a:t>     </a:t>
            </a:r>
            <a:r>
              <a:rPr lang="en-US" altLang="zh-CN" sz="1200" dirty="0">
                <a:solidFill>
                  <a:srgbClr val="000000"/>
                </a:solidFill>
                <a:highlight>
                  <a:srgbClr val="FFFFFF"/>
                </a:highlight>
              </a:rPr>
              <a:t>:::</a:t>
            </a:r>
          </a:p>
          <a:p>
            <a:pPr>
              <a:buFont typeface="Wingdings" panose="05000000000000000000" pitchFamily="2" charset="2"/>
              <a:buNone/>
              <a:defRPr/>
            </a:pPr>
            <a:r>
              <a:rPr lang="zh-CN" altLang="en-US" sz="1200" dirty="0">
                <a:solidFill>
                  <a:srgbClr val="000000"/>
                </a:solidFill>
                <a:highlight>
                  <a:srgbClr val="FFFFFF"/>
                </a:highlight>
              </a:rPr>
              <a:t>     </a:t>
            </a:r>
          </a:p>
          <a:p>
            <a:pPr>
              <a:buFont typeface="Wingdings" panose="05000000000000000000" pitchFamily="2" charset="2"/>
              <a:buNone/>
              <a:defRPr/>
            </a:pPr>
            <a:r>
              <a:rPr lang="en-US" altLang="zh-CN" sz="1200" dirty="0">
                <a:solidFill>
                  <a:srgbClr val="000000"/>
                </a:solidFill>
                <a:highlight>
                  <a:srgbClr val="FFFFFF"/>
                </a:highlight>
              </a:rPr>
              <a:t> </a:t>
            </a: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env:Body</a:t>
            </a:r>
            <a:r>
              <a:rPr lang="en-US" altLang="zh-CN" sz="1200" dirty="0">
                <a:solidFill>
                  <a:srgbClr val="0000FF"/>
                </a:solidFill>
                <a:highlight>
                  <a:srgbClr val="FFFFFF"/>
                </a:highlight>
              </a:rPr>
              <a:t>&gt;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FF"/>
                </a:solidFill>
                <a:highlight>
                  <a:srgbClr val="FFFFFF"/>
                </a:highlight>
              </a:rPr>
              <a:t>&lt;/</a:t>
            </a:r>
            <a:r>
              <a:rPr lang="en-US" altLang="zh-CN" sz="1200" dirty="0" err="1">
                <a:solidFill>
                  <a:srgbClr val="800000"/>
                </a:solidFill>
                <a:highlight>
                  <a:srgbClr val="FFFFFF"/>
                </a:highlight>
              </a:rPr>
              <a:t>env:Envelope</a:t>
            </a:r>
            <a:r>
              <a:rPr lang="en-US" altLang="zh-CN" sz="1200" dirty="0">
                <a:solidFill>
                  <a:srgbClr val="0000FF"/>
                </a:solidFill>
                <a:highlight>
                  <a:srgbClr val="FFFFFF"/>
                </a:highlight>
              </a:rPr>
              <a:t>&gt;</a:t>
            </a:r>
          </a:p>
          <a:p>
            <a:pPr>
              <a:buFont typeface="Wingdings" panose="05000000000000000000" pitchFamily="2" charset="2"/>
              <a:buNone/>
              <a:defRPr/>
            </a:pPr>
            <a:r>
              <a:rPr lang="en-US" altLang="zh-CN" sz="1200" dirty="0">
                <a:solidFill>
                  <a:srgbClr val="0000FF"/>
                </a:solidFill>
                <a:highlight>
                  <a:srgbClr val="FFFFFF"/>
                </a:highlight>
              </a:rPr>
              <a:t>……</a:t>
            </a:r>
            <a:endParaRPr lang="en-US" altLang="zh-CN" sz="1200" dirty="0">
              <a:solidFill>
                <a:srgbClr val="000000"/>
              </a:solidFill>
              <a:highlight>
                <a:srgbClr val="FFFFFF"/>
              </a:highlight>
            </a:endParaRPr>
          </a:p>
        </p:txBody>
      </p:sp>
      <p:sp>
        <p:nvSpPr>
          <p:cNvPr id="6" name="Line 6">
            <a:extLst>
              <a:ext uri="{FF2B5EF4-FFF2-40B4-BE49-F238E27FC236}">
                <a16:creationId xmlns:a16="http://schemas.microsoft.com/office/drawing/2014/main" id="{6197B758-33EF-40FE-A59A-7C2A6894B84B}"/>
              </a:ext>
            </a:extLst>
          </p:cNvPr>
          <p:cNvSpPr>
            <a:spLocks noChangeShapeType="1"/>
          </p:cNvSpPr>
          <p:nvPr/>
        </p:nvSpPr>
        <p:spPr bwMode="auto">
          <a:xfrm flipH="1" flipV="1">
            <a:off x="3995738" y="2708275"/>
            <a:ext cx="863600" cy="7207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2FE0F554-DCFD-497B-B395-B840E4967068}"/>
              </a:ext>
            </a:extLst>
          </p:cNvPr>
          <p:cNvSpPr txBox="1">
            <a:spLocks noChangeArrowheads="1"/>
          </p:cNvSpPr>
          <p:nvPr/>
        </p:nvSpPr>
        <p:spPr bwMode="auto">
          <a:xfrm>
            <a:off x="3995738" y="3460750"/>
            <a:ext cx="3543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Resource Representation SOAP Header Block can be used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a:extLst>
              <a:ext uri="{FF2B5EF4-FFF2-40B4-BE49-F238E27FC236}">
                <a16:creationId xmlns:a16="http://schemas.microsoft.com/office/drawing/2014/main" id="{FE638F73-E15A-45C2-8F9E-1DFCF745EA49}"/>
              </a:ext>
            </a:extLst>
          </p:cNvPr>
          <p:cNvSpPr>
            <a:spLocks noGrp="1"/>
          </p:cNvSpPr>
          <p:nvPr>
            <p:ph type="title"/>
          </p:nvPr>
        </p:nvSpPr>
        <p:spPr/>
        <p:txBody>
          <a:bodyPr>
            <a:noAutofit/>
          </a:bodyPr>
          <a:lstStyle/>
          <a:p>
            <a:pPr>
              <a:defRPr/>
            </a:pPr>
            <a:r>
              <a:rPr lang="en-US" altLang="zh-CN" sz="2800" dirty="0">
                <a:hlinkClick r:id="rId3" action="ppaction://hlinkfile"/>
              </a:rPr>
              <a:t>rep:Representation </a:t>
            </a:r>
            <a:r>
              <a:rPr lang="en-US" altLang="zh-CN" sz="2800" dirty="0"/>
              <a:t>Optimized by </a:t>
            </a:r>
            <a:br>
              <a:rPr lang="en-US" altLang="zh-CN" sz="2800" dirty="0"/>
            </a:br>
            <a:r>
              <a:rPr lang="en-US" altLang="zh-CN" sz="2800" dirty="0">
                <a:hlinkClick r:id="rId4" action="ppaction://hlinkfile"/>
              </a:rPr>
              <a:t>[MTOM]</a:t>
            </a:r>
            <a:r>
              <a:rPr lang="en-US" altLang="zh-CN" sz="2800" dirty="0"/>
              <a:t> and </a:t>
            </a:r>
            <a:r>
              <a:rPr lang="en-US" altLang="zh-CN" sz="2800" dirty="0">
                <a:hlinkClick r:id="rId3" action="ppaction://hlinkfile"/>
              </a:rPr>
              <a:t>[XOP]</a:t>
            </a:r>
            <a:r>
              <a:rPr lang="en-US" altLang="zh-CN" sz="2800" dirty="0"/>
              <a:t> (1/3)</a:t>
            </a:r>
            <a:endParaRPr lang="zh-CN" altLang="en-US" sz="2800" dirty="0"/>
          </a:p>
        </p:txBody>
      </p:sp>
      <p:sp>
        <p:nvSpPr>
          <p:cNvPr id="5" name="Text Box 4">
            <a:extLst>
              <a:ext uri="{FF2B5EF4-FFF2-40B4-BE49-F238E27FC236}">
                <a16:creationId xmlns:a16="http://schemas.microsoft.com/office/drawing/2014/main" id="{0E670C75-C49F-47D5-AD8A-2C44966D8EA7}"/>
              </a:ext>
            </a:extLst>
          </p:cNvPr>
          <p:cNvSpPr txBox="1">
            <a:spLocks noChangeArrowheads="1"/>
          </p:cNvSpPr>
          <p:nvPr/>
        </p:nvSpPr>
        <p:spPr bwMode="auto">
          <a:xfrm>
            <a:off x="457200" y="2060848"/>
            <a:ext cx="8229600" cy="3822585"/>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HTTP/1.1 200 OK</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Content-Type: mime/multipart-related; </a:t>
            </a:r>
            <a:r>
              <a:rPr lang="en-US" altLang="zh-CN" sz="1200" dirty="0" err="1">
                <a:solidFill>
                  <a:srgbClr val="000000"/>
                </a:solidFill>
                <a:highlight>
                  <a:srgbClr val="FFFFFF"/>
                </a:highlight>
                <a:latin typeface="Courier New" pitchFamily="49" charset="0"/>
                <a:cs typeface="Courier New" pitchFamily="49" charset="0"/>
              </a:rPr>
              <a:t>charset</a:t>
            </a:r>
            <a:r>
              <a:rPr lang="en-US" altLang="zh-CN" sz="1200" dirty="0">
                <a:solidFill>
                  <a:srgbClr val="000000"/>
                </a:solidFill>
                <a:highlight>
                  <a:srgbClr val="FFFFFF"/>
                </a:highlight>
                <a:latin typeface="Courier New" pitchFamily="49" charset="0"/>
                <a:cs typeface="Courier New" pitchFamily="49" charset="0"/>
              </a:rPr>
              <a:t>="utf-8"</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Content-Length: </a:t>
            </a:r>
            <a:r>
              <a:rPr lang="en-US" altLang="zh-CN" sz="1200" dirty="0" err="1">
                <a:solidFill>
                  <a:srgbClr val="000000"/>
                </a:solidFill>
                <a:highlight>
                  <a:srgbClr val="FFFFFF"/>
                </a:highlight>
                <a:latin typeface="Courier New" pitchFamily="49" charset="0"/>
                <a:cs typeface="Courier New" pitchFamily="49" charset="0"/>
              </a:rPr>
              <a:t>nnnn</a:t>
            </a:r>
            <a:endParaRPr lang="en-US" altLang="zh-CN" sz="1200" dirty="0">
              <a:solidFill>
                <a:srgbClr val="000000"/>
              </a:solidFill>
              <a:highlight>
                <a:srgbClr val="FFFFFF"/>
              </a:highlight>
              <a:latin typeface="Courier New" pitchFamily="49" charset="0"/>
              <a:cs typeface="Courier New" pitchFamily="49" charset="0"/>
            </a:endParaRP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Courier New" pitchFamily="49" charset="0"/>
              <a:cs typeface="Courier New" pitchFamily="49" charset="0"/>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MIME-Version: 1.0</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Content-Type: Multipart/Related; boundary=example-boundary;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  type=application/</a:t>
            </a:r>
            <a:r>
              <a:rPr lang="en-US" altLang="zh-CN" sz="1200" dirty="0" err="1">
                <a:solidFill>
                  <a:srgbClr val="000000"/>
                </a:solidFill>
                <a:highlight>
                  <a:srgbClr val="FFFFFF"/>
                </a:highlight>
                <a:latin typeface="Courier New" pitchFamily="49" charset="0"/>
                <a:cs typeface="Courier New" pitchFamily="49" charset="0"/>
              </a:rPr>
              <a:t>xop+xml</a:t>
            </a:r>
            <a:r>
              <a:rPr lang="en-US" altLang="zh-CN" sz="1200" dirty="0">
                <a:solidFill>
                  <a:srgbClr val="000000"/>
                </a:solidFill>
                <a:highlight>
                  <a:srgbClr val="FFFFFF"/>
                </a:highlight>
                <a:latin typeface="Courier New" pitchFamily="49" charset="0"/>
                <a:cs typeface="Courier New" pitchFamily="49" charset="0"/>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  start="</a:t>
            </a:r>
            <a:r>
              <a:rPr lang="en-US" altLang="zh-CN" sz="1200" dirty="0">
                <a:solidFill>
                  <a:srgbClr val="0000FF"/>
                </a:solidFill>
                <a:highlight>
                  <a:srgbClr val="FFFFFF"/>
                </a:highlight>
                <a:latin typeface="Courier New" pitchFamily="49" charset="0"/>
                <a:cs typeface="Courier New" pitchFamily="49" charset="0"/>
              </a:rPr>
              <a:t>&lt;</a:t>
            </a:r>
            <a:r>
              <a:rPr lang="en-US" altLang="zh-CN" sz="1200" dirty="0">
                <a:solidFill>
                  <a:srgbClr val="800000"/>
                </a:solidFill>
                <a:highlight>
                  <a:srgbClr val="FFFFFF"/>
                </a:highlight>
                <a:latin typeface="Courier New" pitchFamily="49" charset="0"/>
                <a:cs typeface="Courier New" pitchFamily="49" charset="0"/>
              </a:rPr>
              <a:t>itinerary123.xml@travelcompany.example.org</a:t>
            </a:r>
            <a:r>
              <a:rPr lang="en-US" altLang="zh-CN" sz="1200" dirty="0">
                <a:solidFill>
                  <a:srgbClr val="0000FF"/>
                </a:solidFill>
                <a:highlight>
                  <a:srgbClr val="FFFFFF"/>
                </a:highlight>
                <a:latin typeface="Courier New" pitchFamily="49" charset="0"/>
                <a:cs typeface="Courier New" pitchFamily="49" charset="0"/>
              </a:rPr>
              <a:t>&gt;</a:t>
            </a:r>
            <a:r>
              <a:rPr lang="en-US" altLang="zh-CN" sz="1200" dirty="0">
                <a:solidFill>
                  <a:srgbClr val="000000"/>
                </a:solidFill>
                <a:highlight>
                  <a:srgbClr val="FFFFFF"/>
                </a:highlight>
                <a:latin typeface="Courier New" pitchFamily="49" charset="0"/>
                <a:cs typeface="Courier New" pitchFamily="49" charset="0"/>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  </a:t>
            </a:r>
            <a:r>
              <a:rPr lang="en-US" altLang="zh-CN" sz="1200" dirty="0" err="1">
                <a:solidFill>
                  <a:srgbClr val="000000"/>
                </a:solidFill>
                <a:highlight>
                  <a:srgbClr val="FFFFFF"/>
                </a:highlight>
                <a:latin typeface="Courier New" pitchFamily="49" charset="0"/>
                <a:cs typeface="Courier New" pitchFamily="49" charset="0"/>
              </a:rPr>
              <a:t>startinfo</a:t>
            </a:r>
            <a:r>
              <a:rPr lang="en-US" altLang="zh-CN" sz="1200" dirty="0">
                <a:solidFill>
                  <a:srgbClr val="000000"/>
                </a:solidFill>
                <a:highlight>
                  <a:srgbClr val="FFFFFF"/>
                </a:highlight>
                <a:latin typeface="Courier New" pitchFamily="49" charset="0"/>
                <a:cs typeface="Courier New" pitchFamily="49" charset="0"/>
              </a:rPr>
              <a:t>="application/</a:t>
            </a:r>
            <a:r>
              <a:rPr lang="en-US" altLang="zh-CN" sz="1200" dirty="0" err="1">
                <a:solidFill>
                  <a:srgbClr val="000000"/>
                </a:solidFill>
                <a:highlight>
                  <a:srgbClr val="FFFFFF"/>
                </a:highlight>
                <a:latin typeface="Courier New" pitchFamily="49" charset="0"/>
                <a:cs typeface="Courier New" pitchFamily="49" charset="0"/>
              </a:rPr>
              <a:t>soap+xml;action</a:t>
            </a:r>
            <a:r>
              <a:rPr lang="en-US" altLang="zh-CN" sz="1200" dirty="0">
                <a:solidFill>
                  <a:srgbClr val="000000"/>
                </a:solidFill>
                <a:highlight>
                  <a:srgbClr val="FFFFFF"/>
                </a:highlight>
                <a:latin typeface="Courier New" pitchFamily="49" charset="0"/>
                <a:cs typeface="Courier New" pitchFamily="49" charset="0"/>
              </a:rPr>
              <a:t>=\"http://travelcompany.example.org/Process\""</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Content-Description: This is an example of an optimized SOAP message</a:t>
            </a: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Courier New" pitchFamily="49" charset="0"/>
              <a:cs typeface="Courier New" pitchFamily="49" charset="0"/>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--example-boundary</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Content-Type: application/</a:t>
            </a:r>
            <a:r>
              <a:rPr lang="en-US" altLang="zh-CN" sz="1200" dirty="0" err="1">
                <a:solidFill>
                  <a:srgbClr val="000000"/>
                </a:solidFill>
                <a:highlight>
                  <a:srgbClr val="FFFFFF"/>
                </a:highlight>
                <a:latin typeface="Courier New" pitchFamily="49" charset="0"/>
                <a:cs typeface="Courier New" pitchFamily="49" charset="0"/>
              </a:rPr>
              <a:t>xop+xml</a:t>
            </a:r>
            <a:r>
              <a:rPr lang="en-US" altLang="zh-CN" sz="1200" dirty="0">
                <a:solidFill>
                  <a:srgbClr val="000000"/>
                </a:solidFill>
                <a:highlight>
                  <a:srgbClr val="FFFFFF"/>
                </a:highlight>
                <a:latin typeface="Courier New" pitchFamily="49" charset="0"/>
                <a:cs typeface="Courier New" pitchFamily="49" charset="0"/>
              </a:rPr>
              <a:t>; </a:t>
            </a:r>
            <a:r>
              <a:rPr lang="en-US" altLang="zh-CN" sz="1200" dirty="0" err="1">
                <a:solidFill>
                  <a:srgbClr val="000000"/>
                </a:solidFill>
                <a:highlight>
                  <a:srgbClr val="FFFFFF"/>
                </a:highlight>
                <a:latin typeface="Courier New" pitchFamily="49" charset="0"/>
                <a:cs typeface="Courier New" pitchFamily="49" charset="0"/>
              </a:rPr>
              <a:t>charset</a:t>
            </a:r>
            <a:r>
              <a:rPr lang="en-US" altLang="zh-CN" sz="1200" dirty="0">
                <a:solidFill>
                  <a:srgbClr val="000000"/>
                </a:solidFill>
                <a:highlight>
                  <a:srgbClr val="FFFFFF"/>
                </a:highlight>
                <a:latin typeface="Courier New" pitchFamily="49" charset="0"/>
                <a:cs typeface="Courier New" pitchFamily="49" charset="0"/>
              </a:rPr>
              <a:t>=UTF-8;</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type="application/</a:t>
            </a:r>
            <a:r>
              <a:rPr lang="en-US" altLang="zh-CN" sz="1200" dirty="0" err="1">
                <a:solidFill>
                  <a:srgbClr val="000000"/>
                </a:solidFill>
                <a:highlight>
                  <a:srgbClr val="FFFFFF"/>
                </a:highlight>
                <a:latin typeface="Courier New" pitchFamily="49" charset="0"/>
                <a:cs typeface="Courier New" pitchFamily="49" charset="0"/>
              </a:rPr>
              <a:t>soap+xml;action</a:t>
            </a:r>
            <a:r>
              <a:rPr lang="en-US" altLang="zh-CN" sz="1200" dirty="0">
                <a:solidFill>
                  <a:srgbClr val="000000"/>
                </a:solidFill>
                <a:highlight>
                  <a:srgbClr val="FFFFFF"/>
                </a:highlight>
                <a:latin typeface="Courier New" pitchFamily="49" charset="0"/>
                <a:cs typeface="Courier New" pitchFamily="49" charset="0"/>
              </a:rPr>
              <a:t>=\"http://travelcompany.example.org/Process\""</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Content-Transfer-Encoding: 8bit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Courier New" pitchFamily="49" charset="0"/>
                <a:cs typeface="Courier New" pitchFamily="49" charset="0"/>
              </a:rPr>
              <a:t>Content-ID: </a:t>
            </a:r>
            <a:r>
              <a:rPr lang="en-US" altLang="zh-CN" sz="1200" dirty="0">
                <a:solidFill>
                  <a:srgbClr val="0000FF"/>
                </a:solidFill>
                <a:highlight>
                  <a:srgbClr val="FFFFFF"/>
                </a:highlight>
                <a:latin typeface="Courier New" pitchFamily="49" charset="0"/>
                <a:cs typeface="Courier New" pitchFamily="49" charset="0"/>
              </a:rPr>
              <a:t>&lt;</a:t>
            </a:r>
            <a:r>
              <a:rPr lang="en-US" altLang="zh-CN" sz="1200" dirty="0">
                <a:solidFill>
                  <a:srgbClr val="800000"/>
                </a:solidFill>
                <a:highlight>
                  <a:srgbClr val="FFFFFF"/>
                </a:highlight>
                <a:latin typeface="Courier New" pitchFamily="49" charset="0"/>
                <a:cs typeface="Courier New" pitchFamily="49" charset="0"/>
              </a:rPr>
              <a:t>itinerary123.xml@travelcompany.example.org</a:t>
            </a:r>
            <a:r>
              <a:rPr lang="en-US" altLang="zh-CN" sz="1200" dirty="0">
                <a:solidFill>
                  <a:srgbClr val="0000FF"/>
                </a:solidFill>
                <a:highlight>
                  <a:srgbClr val="FFFFFF"/>
                </a:highlight>
                <a:latin typeface="Courier New" pitchFamily="49" charset="0"/>
                <a:cs typeface="Courier New" pitchFamily="49" charset="0"/>
              </a:rPr>
              <a:t>&gt;</a:t>
            </a:r>
            <a:endParaRPr lang="en-US" altLang="zh-CN" sz="1200" dirty="0">
              <a:solidFill>
                <a:srgbClr val="000000"/>
              </a:solidFill>
              <a:highlight>
                <a:srgbClr val="FFFFFF"/>
              </a:highlight>
              <a:latin typeface="Courier New" pitchFamily="49" charset="0"/>
              <a:cs typeface="Courier New" pitchFamily="49" charset="0"/>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p>
        </p:txBody>
      </p:sp>
      <p:sp>
        <p:nvSpPr>
          <p:cNvPr id="35844" name="灯片编号占位符 3">
            <a:extLst>
              <a:ext uri="{FF2B5EF4-FFF2-40B4-BE49-F238E27FC236}">
                <a16:creationId xmlns:a16="http://schemas.microsoft.com/office/drawing/2014/main" id="{83B90CA2-F07C-4178-ACEA-4B5423EC7736}"/>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36</a:t>
            </a:fld>
            <a:endParaRPr lang="en-US" altLang="zh-CN" sz="100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a:extLst>
              <a:ext uri="{FF2B5EF4-FFF2-40B4-BE49-F238E27FC236}">
                <a16:creationId xmlns:a16="http://schemas.microsoft.com/office/drawing/2014/main" id="{1718B476-6132-4293-B351-445C156FBE88}"/>
              </a:ext>
            </a:extLst>
          </p:cNvPr>
          <p:cNvSpPr>
            <a:spLocks noGrp="1"/>
          </p:cNvSpPr>
          <p:nvPr>
            <p:ph type="title"/>
          </p:nvPr>
        </p:nvSpPr>
        <p:spPr/>
        <p:txBody>
          <a:bodyPr>
            <a:normAutofit fontScale="90000"/>
          </a:bodyPr>
          <a:lstStyle/>
          <a:p>
            <a:pPr>
              <a:defRPr/>
            </a:pPr>
            <a:r>
              <a:rPr lang="en-US" altLang="zh-CN" sz="3200" dirty="0">
                <a:hlinkClick r:id="rId3" action="ppaction://hlinkfile"/>
              </a:rPr>
              <a:t>rep:Representation </a:t>
            </a:r>
            <a:r>
              <a:rPr lang="en-US" altLang="zh-CN" sz="3200" dirty="0"/>
              <a:t>Optimized by </a:t>
            </a:r>
            <a:br>
              <a:rPr lang="en-US" altLang="zh-CN" sz="3200" dirty="0"/>
            </a:br>
            <a:r>
              <a:rPr lang="en-US" altLang="zh-CN" sz="3200" dirty="0">
                <a:hlinkClick r:id="rId4" action="ppaction://hlinkfile"/>
              </a:rPr>
              <a:t>[MTOM]</a:t>
            </a:r>
            <a:r>
              <a:rPr lang="en-US" altLang="zh-CN" sz="3200" dirty="0"/>
              <a:t> and </a:t>
            </a:r>
            <a:r>
              <a:rPr lang="en-US" altLang="zh-CN" sz="3200" dirty="0">
                <a:hlinkClick r:id="rId3" action="ppaction://hlinkfile"/>
              </a:rPr>
              <a:t>[XOP]</a:t>
            </a:r>
            <a:r>
              <a:rPr lang="en-US" altLang="zh-CN" sz="3200" dirty="0"/>
              <a:t> (2/3)</a:t>
            </a:r>
            <a:endParaRPr lang="zh-CN" altLang="en-US" dirty="0"/>
          </a:p>
        </p:txBody>
      </p:sp>
      <p:sp>
        <p:nvSpPr>
          <p:cNvPr id="37891" name="灯片编号占位符 3">
            <a:extLst>
              <a:ext uri="{FF2B5EF4-FFF2-40B4-BE49-F238E27FC236}">
                <a16:creationId xmlns:a16="http://schemas.microsoft.com/office/drawing/2014/main" id="{BE61C81F-A87F-4E56-A64A-B01EFDCEED3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37</a:t>
            </a:fld>
            <a:endParaRPr lang="en-US" altLang="zh-CN" sz="1000"/>
          </a:p>
        </p:txBody>
      </p:sp>
      <p:sp>
        <p:nvSpPr>
          <p:cNvPr id="5" name="Text Box 4">
            <a:extLst>
              <a:ext uri="{FF2B5EF4-FFF2-40B4-BE49-F238E27FC236}">
                <a16:creationId xmlns:a16="http://schemas.microsoft.com/office/drawing/2014/main" id="{CEFCCAA4-D34C-4B70-B2F1-4065F7401672}"/>
              </a:ext>
            </a:extLst>
          </p:cNvPr>
          <p:cNvSpPr txBox="1">
            <a:spLocks noChangeArrowheads="1"/>
          </p:cNvSpPr>
          <p:nvPr/>
        </p:nvSpPr>
        <p:spPr bwMode="auto">
          <a:xfrm>
            <a:off x="467544" y="1600200"/>
            <a:ext cx="8229600" cy="4930581"/>
          </a:xfrm>
          <a:prstGeom prst="rect">
            <a:avLst/>
          </a:prstGeom>
          <a:noFill/>
          <a:ln w="19050">
            <a:solidFill>
              <a:schemeClr val="tx1"/>
            </a:solidFill>
            <a:miter lim="800000"/>
            <a:headEnd/>
            <a:tailEnd/>
          </a:ln>
        </p:spPr>
        <p:txBody>
          <a:bodyPr>
            <a:spAutoFit/>
          </a:bodyPr>
          <a:lstStyle/>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endParaRPr lang="zh-CN" altLang="en-US"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8080"/>
                </a:solidFill>
                <a:highlight>
                  <a:srgbClr val="FFFFFF"/>
                </a:highlight>
                <a:latin typeface="Arial"/>
              </a:rPr>
              <a:t>&lt;?xml version='1.0' ?&gt;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env:Envelope</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xmlns:env</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http://www.w3.org/2003/05/soap-envelope</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xmlns:rep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http://www.w3.org/2004/02/representation</a:t>
            </a:r>
            <a:r>
              <a:rPr lang="en-US" altLang="zh-CN" sz="1200" dirty="0">
                <a:solidFill>
                  <a:srgbClr val="0000FF"/>
                </a:solidFill>
                <a:highlight>
                  <a:srgbClr val="FFFFFF"/>
                </a:highlight>
                <a:latin typeface="Arial"/>
              </a:rPr>
              <a:t>'</a:t>
            </a:r>
            <a:endParaRPr lang="en-US" altLang="zh-CN" sz="1200" dirty="0">
              <a:solidFill>
                <a:srgbClr val="FF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xmlns:xmime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http://www.w3.org/2004/06/xmlmime</a:t>
            </a:r>
            <a:r>
              <a:rPr lang="en-US" altLang="zh-CN" sz="1200" dirty="0">
                <a:solidFill>
                  <a:srgbClr val="0000FF"/>
                </a:solidFill>
                <a:highlight>
                  <a:srgbClr val="FFFFFF"/>
                </a:highlight>
                <a:latin typeface="Arial"/>
              </a:rPr>
              <a:t>'&gt;</a:t>
            </a:r>
            <a:r>
              <a:rPr lang="en-US" altLang="zh-CN"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env:Header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rep:Representation</a:t>
            </a:r>
            <a:r>
              <a:rPr lang="en-US" altLang="zh-CN" sz="1200" dirty="0">
                <a:solidFill>
                  <a:srgbClr val="FF0000"/>
                </a:solidFill>
                <a:highlight>
                  <a:srgbClr val="FFFFFF"/>
                </a:highlight>
                <a:latin typeface="Arial"/>
              </a:rPr>
              <a:t> resource</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http://travelcompany.example.org/images/logo.jpg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xop:Include</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xmlns:xop</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http://www.w3.org/2003/12/xop/include</a:t>
            </a:r>
            <a:r>
              <a:rPr lang="en-US" altLang="zh-CN" sz="1200" dirty="0">
                <a:solidFill>
                  <a:srgbClr val="0000FF"/>
                </a:solidFill>
                <a:highlight>
                  <a:srgbClr val="FFFFFF"/>
                </a:highlight>
                <a:latin typeface="Arial"/>
              </a:rPr>
              <a:t>'</a:t>
            </a:r>
            <a:r>
              <a:rPr lang="en-US" altLang="zh-CN" sz="1200" dirty="0">
                <a:solidFill>
                  <a:srgbClr val="FF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href</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cid:logo.gif@travelcompany.example.org</a:t>
            </a:r>
            <a:r>
              <a:rPr lang="en-US" altLang="zh-CN" sz="1200" dirty="0">
                <a:solidFill>
                  <a:srgbClr val="0000FF"/>
                </a:solidFill>
                <a:highlight>
                  <a:srgbClr val="FFFFFF"/>
                </a:highlight>
                <a:latin typeface="Arial"/>
              </a:rPr>
              <a:t>"/&gt;&lt;/</a:t>
            </a:r>
            <a:r>
              <a:rPr lang="en-US" altLang="zh-CN" sz="1200" dirty="0" err="1">
                <a:solidFill>
                  <a:srgbClr val="800000"/>
                </a:solidFill>
                <a:highlight>
                  <a:srgbClr val="FFFFFF"/>
                </a:highlight>
                <a:latin typeface="Arial"/>
              </a:rPr>
              <a:t>rep:Representation</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env:Header</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env:Body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o:travelAgencyLogo</a:t>
            </a:r>
            <a:r>
              <a:rPr lang="en-US" altLang="zh-CN" sz="1200" dirty="0">
                <a:solidFill>
                  <a:srgbClr val="FF0000"/>
                </a:solidFill>
                <a:highlight>
                  <a:srgbClr val="FFFFFF"/>
                </a:highlight>
                <a:latin typeface="Arial"/>
              </a:rPr>
              <a:t> </a:t>
            </a:r>
            <a:r>
              <a:rPr lang="en-US" altLang="zh-CN" sz="1200" dirty="0" err="1">
                <a:solidFill>
                  <a:srgbClr val="FF0000"/>
                </a:solidFill>
                <a:highlight>
                  <a:srgbClr val="FFFFFF"/>
                </a:highlight>
                <a:latin typeface="Arial"/>
              </a:rPr>
              <a:t>xmlns:o</a:t>
            </a:r>
            <a:r>
              <a:rPr lang="en-US" altLang="zh-CN" sz="1200" dirty="0">
                <a:solidFill>
                  <a:srgbClr val="0000FF"/>
                </a:solidFill>
                <a:highlight>
                  <a:srgbClr val="FFFFFF"/>
                </a:highlight>
                <a:latin typeface="Arial"/>
              </a:rPr>
              <a:t>="</a:t>
            </a:r>
            <a:r>
              <a:rPr lang="en-US" altLang="zh-CN" sz="1200" dirty="0">
                <a:solidFill>
                  <a:srgbClr val="000000"/>
                </a:solidFill>
                <a:highlight>
                  <a:srgbClr val="FFFFFF"/>
                </a:highlight>
                <a:latin typeface="Arial"/>
              </a:rPr>
              <a:t>http://travelcompany.example.org/images</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o:image</a:t>
            </a:r>
            <a:r>
              <a:rPr lang="en-US" altLang="zh-CN" sz="1200" dirty="0">
                <a:solidFill>
                  <a:srgbClr val="FF0000"/>
                </a:solidFill>
                <a:highlight>
                  <a:srgbClr val="FFFFFF"/>
                </a:highlight>
                <a:latin typeface="Arial"/>
              </a:rPr>
              <a:t> o:source</a:t>
            </a:r>
            <a:r>
              <a:rPr lang="en-US" altLang="zh-CN" sz="1200" dirty="0">
                <a:solidFill>
                  <a:srgbClr val="0000FF"/>
                </a:solidFill>
                <a:highlight>
                  <a:srgbClr val="FFFFFF"/>
                </a:highlight>
                <a:latin typeface="Arial"/>
              </a:rPr>
              <a:t>= "</a:t>
            </a:r>
            <a:r>
              <a:rPr lang="en-US" altLang="zh-CN" sz="1200" dirty="0">
                <a:solidFill>
                  <a:srgbClr val="000000"/>
                </a:solidFill>
                <a:highlight>
                  <a:srgbClr val="FFFFFF"/>
                </a:highlight>
                <a:latin typeface="Arial"/>
              </a:rPr>
              <a:t>http://travelcompany.example.org/images/logo.jpg</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a:solidFill>
                  <a:srgbClr val="800000"/>
                </a:solidFill>
                <a:highlight>
                  <a:srgbClr val="FFFFFF"/>
                </a:highlight>
                <a:latin typeface="Arial"/>
              </a:rPr>
              <a:t>o:travelAgencyLogo</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r>
              <a:rPr lang="zh-CN" altLang="en-US" sz="1200" dirty="0">
                <a:solidFill>
                  <a:srgbClr val="000000"/>
                </a:solidFill>
                <a:highlight>
                  <a:srgbClr val="FFFFFF"/>
                </a:highlight>
                <a:latin typeface="Arial"/>
              </a:rPr>
              <a:t>     </a:t>
            </a:r>
            <a:r>
              <a:rPr lang="en-US" altLang="zh-CN" sz="1200" dirty="0">
                <a:solidFill>
                  <a:srgbClr val="000000"/>
                </a:solidFill>
                <a:highlight>
                  <a:srgbClr val="FFFFFF"/>
                </a:highlight>
                <a:latin typeface="Arial"/>
              </a:rPr>
              <a:t>:::     </a:t>
            </a: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 </a:t>
            </a: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env:Body</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FF"/>
                </a:solidFill>
                <a:highlight>
                  <a:srgbClr val="FFFFFF"/>
                </a:highlight>
                <a:latin typeface="Arial"/>
              </a:rPr>
              <a:t>&lt;/</a:t>
            </a:r>
            <a:r>
              <a:rPr lang="en-US" altLang="zh-CN" sz="1200" dirty="0" err="1">
                <a:solidFill>
                  <a:srgbClr val="800000"/>
                </a:solidFill>
                <a:highlight>
                  <a:srgbClr val="FFFFFF"/>
                </a:highlight>
                <a:latin typeface="Arial"/>
              </a:rPr>
              <a:t>env:Envelope</a:t>
            </a:r>
            <a:r>
              <a:rPr lang="en-US" altLang="zh-CN" sz="1200" dirty="0">
                <a:solidFill>
                  <a:srgbClr val="0000FF"/>
                </a:solidFill>
                <a:highlight>
                  <a:srgbClr val="FFFFFF"/>
                </a:highlight>
                <a:latin typeface="Arial"/>
              </a:rPr>
              <a:t>&gt;</a:t>
            </a:r>
            <a:endParaRPr lang="en-US" altLang="zh-CN" sz="1200" dirty="0">
              <a:solidFill>
                <a:srgbClr val="000000"/>
              </a:solidFill>
              <a:highlight>
                <a:srgbClr val="FFFFFF"/>
              </a:highlight>
              <a:latin typeface="Arial"/>
            </a:endParaRPr>
          </a:p>
          <a:p>
            <a:pPr eaLnBrk="1" hangingPunct="1">
              <a:spcBef>
                <a:spcPct val="20000"/>
              </a:spcBef>
              <a:buClr>
                <a:schemeClr val="accent1"/>
              </a:buClr>
              <a:buFont typeface="Wingdings" panose="05000000000000000000" pitchFamily="2" charset="2"/>
              <a:buNone/>
              <a:defRPr/>
            </a:pPr>
            <a:r>
              <a:rPr lang="en-US" altLang="zh-CN" sz="1200" dirty="0">
                <a:solidFill>
                  <a:srgbClr val="000000"/>
                </a:solidFill>
                <a:highlight>
                  <a:srgbClr val="FFFFFF"/>
                </a:highlight>
                <a:latin typeface="Arial"/>
              </a:rPr>
              <a:t>……</a:t>
            </a:r>
          </a:p>
          <a:p>
            <a:pPr eaLnBrk="1" hangingPunct="1">
              <a:spcBef>
                <a:spcPct val="20000"/>
              </a:spcBef>
              <a:buClr>
                <a:schemeClr val="accent1"/>
              </a:buClr>
              <a:buFont typeface="Wingdings" panose="05000000000000000000" pitchFamily="2" charset="2"/>
              <a:buNone/>
              <a:defRPr/>
            </a:pPr>
            <a:endParaRPr lang="en-US" altLang="zh-CN" sz="1200" dirty="0">
              <a:solidFill>
                <a:srgbClr val="000000"/>
              </a:solidFill>
              <a:highlight>
                <a:srgbClr val="FFFFFF"/>
              </a:highlight>
              <a:latin typeface="Arial"/>
            </a:endParaRPr>
          </a:p>
        </p:txBody>
      </p:sp>
      <p:sp>
        <p:nvSpPr>
          <p:cNvPr id="6" name="Line 6">
            <a:extLst>
              <a:ext uri="{FF2B5EF4-FFF2-40B4-BE49-F238E27FC236}">
                <a16:creationId xmlns:a16="http://schemas.microsoft.com/office/drawing/2014/main" id="{D64D3684-971D-4F86-9B65-184A581F2B90}"/>
              </a:ext>
            </a:extLst>
          </p:cNvPr>
          <p:cNvSpPr>
            <a:spLocks noChangeShapeType="1"/>
          </p:cNvSpPr>
          <p:nvPr/>
        </p:nvSpPr>
        <p:spPr bwMode="auto">
          <a:xfrm flipH="1" flipV="1">
            <a:off x="5148263" y="3525838"/>
            <a:ext cx="493712" cy="36036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a:extLst>
              <a:ext uri="{FF2B5EF4-FFF2-40B4-BE49-F238E27FC236}">
                <a16:creationId xmlns:a16="http://schemas.microsoft.com/office/drawing/2014/main" id="{1A60B1D7-C1DA-4B73-BCD0-044306AEA4D6}"/>
              </a:ext>
            </a:extLst>
          </p:cNvPr>
          <p:cNvSpPr txBox="1">
            <a:spLocks noChangeArrowheads="1"/>
          </p:cNvSpPr>
          <p:nvPr/>
        </p:nvSpPr>
        <p:spPr bwMode="auto">
          <a:xfrm>
            <a:off x="4989513" y="3937000"/>
            <a:ext cx="3543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a:t>Optimized by XOP</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854A74EF-4A02-46F5-AA9B-B1484CFA2C7D}"/>
              </a:ext>
            </a:extLst>
          </p:cNvPr>
          <p:cNvSpPr>
            <a:spLocks noGrp="1"/>
          </p:cNvSpPr>
          <p:nvPr>
            <p:ph type="title"/>
          </p:nvPr>
        </p:nvSpPr>
        <p:spPr/>
        <p:txBody>
          <a:bodyPr>
            <a:normAutofit fontScale="90000"/>
          </a:bodyPr>
          <a:lstStyle/>
          <a:p>
            <a:pPr>
              <a:defRPr/>
            </a:pPr>
            <a:r>
              <a:rPr lang="en-US" altLang="zh-CN" sz="3200" dirty="0">
                <a:hlinkClick r:id="rId3" action="ppaction://hlinkfile"/>
              </a:rPr>
              <a:t>rep:Representation </a:t>
            </a:r>
            <a:r>
              <a:rPr lang="en-US" altLang="zh-CN" sz="3200" dirty="0"/>
              <a:t>Optimized by </a:t>
            </a:r>
            <a:br>
              <a:rPr lang="en-US" altLang="zh-CN" sz="3200" dirty="0"/>
            </a:br>
            <a:r>
              <a:rPr lang="en-US" altLang="zh-CN" sz="3200" dirty="0">
                <a:hlinkClick r:id="rId4" action="ppaction://hlinkfile"/>
              </a:rPr>
              <a:t>[MTOM]</a:t>
            </a:r>
            <a:r>
              <a:rPr lang="en-US" altLang="zh-CN" sz="3200" dirty="0"/>
              <a:t> and </a:t>
            </a:r>
            <a:r>
              <a:rPr lang="en-US" altLang="zh-CN" sz="3200" dirty="0">
                <a:hlinkClick r:id="rId3" action="ppaction://hlinkfile"/>
              </a:rPr>
              <a:t>[XOP]</a:t>
            </a:r>
            <a:r>
              <a:rPr lang="en-US" altLang="zh-CN" sz="3200" dirty="0"/>
              <a:t> (3/3)</a:t>
            </a:r>
            <a:endParaRPr lang="zh-CN" altLang="en-US" dirty="0"/>
          </a:p>
        </p:txBody>
      </p:sp>
      <p:sp>
        <p:nvSpPr>
          <p:cNvPr id="39939" name="灯片编号占位符 3">
            <a:extLst>
              <a:ext uri="{FF2B5EF4-FFF2-40B4-BE49-F238E27FC236}">
                <a16:creationId xmlns:a16="http://schemas.microsoft.com/office/drawing/2014/main" id="{809EAF98-4877-45CC-8798-8CD67AE8E5B1}"/>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8A244E7B-2E9F-48B6-8B7D-AD6A575180B7}" type="slidenum">
              <a:rPr lang="en-US" altLang="zh-CN" smtClean="0"/>
              <a:pPr>
                <a:spcBef>
                  <a:spcPct val="0"/>
                </a:spcBef>
                <a:buClrTx/>
                <a:buFontTx/>
                <a:buNone/>
              </a:pPr>
              <a:t>38</a:t>
            </a:fld>
            <a:endParaRPr lang="en-US" altLang="zh-CN" sz="1000"/>
          </a:p>
        </p:txBody>
      </p:sp>
      <p:sp>
        <p:nvSpPr>
          <p:cNvPr id="5" name="Text Box 4">
            <a:extLst>
              <a:ext uri="{FF2B5EF4-FFF2-40B4-BE49-F238E27FC236}">
                <a16:creationId xmlns:a16="http://schemas.microsoft.com/office/drawing/2014/main" id="{72A892D4-BA9C-46FF-AA3E-76AC03E3A71D}"/>
              </a:ext>
            </a:extLst>
          </p:cNvPr>
          <p:cNvSpPr txBox="1">
            <a:spLocks noGrp="1" noChangeArrowheads="1"/>
          </p:cNvSpPr>
          <p:nvPr>
            <p:ph idx="1"/>
          </p:nvPr>
        </p:nvSpPr>
        <p:spPr>
          <a:xfrm>
            <a:off x="467544" y="1772816"/>
            <a:ext cx="8229600" cy="3157788"/>
          </a:xfrm>
          <a:ln w="19050">
            <a:solidFill>
              <a:schemeClr val="tx1"/>
            </a:solidFill>
            <a:miter lim="800000"/>
            <a:headEnd/>
            <a:tailEnd/>
          </a:ln>
        </p:spPr>
        <p:txBody>
          <a:bodyPr>
            <a:spAutoFit/>
          </a:bodyPr>
          <a:lstStyle/>
          <a:p>
            <a:pPr>
              <a:buFont typeface="Wingdings" panose="05000000000000000000" pitchFamily="2" charset="2"/>
              <a:buNone/>
              <a:defRPr/>
            </a:pPr>
            <a:r>
              <a:rPr lang="en-US" altLang="zh-CN" sz="1200" dirty="0">
                <a:solidFill>
                  <a:srgbClr val="0000FF"/>
                </a:solidFill>
                <a:highlight>
                  <a:srgbClr val="FFFFFF"/>
                </a:highlight>
              </a:rPr>
              <a:t>……</a:t>
            </a: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--example-boundary</a:t>
            </a:r>
          </a:p>
          <a:p>
            <a:pPr>
              <a:buFont typeface="Wingdings" panose="05000000000000000000" pitchFamily="2" charset="2"/>
              <a:buNone/>
              <a:defRPr/>
            </a:pPr>
            <a:r>
              <a:rPr lang="en-US" altLang="zh-CN" sz="1200" dirty="0">
                <a:solidFill>
                  <a:srgbClr val="000000"/>
                </a:solidFill>
                <a:highlight>
                  <a:srgbClr val="FFFFFF"/>
                </a:highlight>
              </a:rPr>
              <a:t>Content-Type: image/jpg </a:t>
            </a:r>
          </a:p>
          <a:p>
            <a:pPr>
              <a:buFont typeface="Wingdings" panose="05000000000000000000" pitchFamily="2" charset="2"/>
              <a:buNone/>
              <a:defRPr/>
            </a:pPr>
            <a:r>
              <a:rPr lang="en-US" altLang="zh-CN" sz="1200" dirty="0">
                <a:solidFill>
                  <a:srgbClr val="000000"/>
                </a:solidFill>
                <a:highlight>
                  <a:srgbClr val="FFFFFF"/>
                </a:highlight>
              </a:rPr>
              <a:t>Content-Transfer-Encoding: binary </a:t>
            </a:r>
          </a:p>
          <a:p>
            <a:pPr>
              <a:buFont typeface="Wingdings" panose="05000000000000000000" pitchFamily="2" charset="2"/>
              <a:buNone/>
              <a:defRPr/>
            </a:pPr>
            <a:r>
              <a:rPr lang="en-US" altLang="zh-CN" sz="1200" dirty="0">
                <a:solidFill>
                  <a:srgbClr val="000000"/>
                </a:solidFill>
                <a:highlight>
                  <a:srgbClr val="FFFFFF"/>
                </a:highlight>
              </a:rPr>
              <a:t>Content-ID: &lt;logo.gif@travelcompany.example.org&gt; </a:t>
            </a:r>
          </a:p>
          <a:p>
            <a:pPr>
              <a:buFont typeface="Wingdings" panose="05000000000000000000" pitchFamily="2" charset="2"/>
              <a:buNone/>
              <a:defRPr/>
            </a:pP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the binary data for the travel agency logo :::</a:t>
            </a:r>
          </a:p>
          <a:p>
            <a:pPr>
              <a:buFont typeface="Wingdings" panose="05000000000000000000" pitchFamily="2" charset="2"/>
              <a:buNone/>
              <a:defRPr/>
            </a:pP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 --example-boundary Content-Type: image/jpg</a:t>
            </a:r>
          </a:p>
          <a:p>
            <a:pPr>
              <a:buFont typeface="Wingdings" panose="05000000000000000000" pitchFamily="2" charset="2"/>
              <a:buNone/>
              <a:defRPr/>
            </a:pPr>
            <a:r>
              <a:rPr lang="en-US" altLang="zh-CN" sz="1200" dirty="0">
                <a:solidFill>
                  <a:srgbClr val="000000"/>
                </a:solidFill>
                <a:highlight>
                  <a:srgbClr val="FFFFFF"/>
                </a:highlight>
              </a:rPr>
              <a:t> Content-Transfer-Encoding: binary </a:t>
            </a:r>
          </a:p>
          <a:p>
            <a:pPr>
              <a:buFont typeface="Wingdings" panose="05000000000000000000" pitchFamily="2" charset="2"/>
              <a:buNone/>
              <a:defRPr/>
            </a:pPr>
            <a:r>
              <a:rPr lang="en-US" altLang="zh-CN" sz="1200" dirty="0">
                <a:solidFill>
                  <a:srgbClr val="000000"/>
                </a:solidFill>
                <a:highlight>
                  <a:srgbClr val="FFFFFF"/>
                </a:highlight>
              </a:rPr>
              <a:t>Content-ID: &lt;map123.jpg@travelcompany.example.org&gt;</a:t>
            </a:r>
          </a:p>
          <a:p>
            <a:pPr>
              <a:buFont typeface="Wingdings" panose="05000000000000000000" pitchFamily="2" charset="2"/>
              <a:buNone/>
              <a:defRPr/>
            </a:pPr>
            <a:r>
              <a:rPr lang="en-US" altLang="zh-CN" sz="1200" dirty="0">
                <a:solidFill>
                  <a:srgbClr val="000000"/>
                </a:solidFill>
                <a:highlight>
                  <a:srgbClr val="FFFFFF"/>
                </a:highlight>
              </a:rPr>
              <a:t> ::: the binary data ::: </a:t>
            </a:r>
          </a:p>
          <a:p>
            <a:pPr>
              <a:buFont typeface="Wingdings" panose="05000000000000000000" pitchFamily="2" charset="2"/>
              <a:buNone/>
              <a:defRPr/>
            </a:pPr>
            <a:endParaRPr lang="en-US" altLang="zh-CN" sz="1200" dirty="0">
              <a:solidFill>
                <a:srgbClr val="000000"/>
              </a:solidFill>
              <a:highlight>
                <a:srgbClr val="FFFFFF"/>
              </a:highlight>
            </a:endParaRPr>
          </a:p>
          <a:p>
            <a:pPr>
              <a:buFont typeface="Wingdings" panose="05000000000000000000" pitchFamily="2" charset="2"/>
              <a:buNone/>
              <a:defRPr/>
            </a:pPr>
            <a:r>
              <a:rPr lang="en-US" altLang="zh-CN" sz="1200" dirty="0">
                <a:solidFill>
                  <a:srgbClr val="000000"/>
                </a:solidFill>
                <a:highlight>
                  <a:srgbClr val="FFFFFF"/>
                </a:highlight>
              </a:rPr>
              <a:t>--example-boundary--</a:t>
            </a:r>
          </a:p>
        </p:txBody>
      </p:sp>
    </p:spTree>
  </p:cSld>
  <p:clrMapOvr>
    <a:masterClrMapping/>
  </p:clrMapOvr>
  <p:transition/>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17282</TotalTime>
  <Words>5951</Words>
  <Application>Microsoft Office PowerPoint</Application>
  <PresentationFormat>全屏显示(4:3)</PresentationFormat>
  <Paragraphs>599</Paragraphs>
  <Slides>38</Slides>
  <Notes>36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38</vt:i4>
      </vt:variant>
    </vt:vector>
  </HeadingPairs>
  <TitlesOfParts>
    <vt:vector size="44" baseType="lpstr">
      <vt:lpstr>Arial</vt:lpstr>
      <vt:lpstr>Calibri</vt:lpstr>
      <vt:lpstr>Courier New</vt:lpstr>
      <vt:lpstr>Verdana</vt:lpstr>
      <vt:lpstr>Wingdings</vt:lpstr>
      <vt:lpstr>software</vt:lpstr>
      <vt:lpstr>SOAP Extension Service-Oriented Software Engineering</vt:lpstr>
      <vt:lpstr>SOAP Processing Model</vt:lpstr>
      <vt:lpstr>The "role" Attribute</vt:lpstr>
      <vt:lpstr>Standardized Roles (1/2)</vt:lpstr>
      <vt:lpstr>Standardized Roles (2/2)</vt:lpstr>
      <vt:lpstr>SOAP Message with  Multiple Header Blocks</vt:lpstr>
      <vt:lpstr> The Body “Role”</vt:lpstr>
      <vt:lpstr>The "mustUnderstand" Attribute</vt:lpstr>
      <vt:lpstr>SOAP with env:mustUnderstand attribute</vt:lpstr>
      <vt:lpstr>SOAP Processing (1/3)</vt:lpstr>
      <vt:lpstr>SOAP Processing (2/3)</vt:lpstr>
      <vt:lpstr>SOAP Processing (3/3)</vt:lpstr>
      <vt:lpstr>The "relay" Attribute (1/3)</vt:lpstr>
      <vt:lpstr>The "relay" Attribute (2/3)</vt:lpstr>
      <vt:lpstr>The "relay" Attribute (3/3)</vt:lpstr>
      <vt:lpstr>Intermediaries in SOAP 1.2</vt:lpstr>
      <vt:lpstr>Active intermediary Operation </vt:lpstr>
      <vt:lpstr>Using SOAP Intermediaries (1/3)</vt:lpstr>
      <vt:lpstr>Using SOAP Intermediaries (2/3)</vt:lpstr>
      <vt:lpstr>Using SOAP Intermediaries (3/3)</vt:lpstr>
      <vt:lpstr>Binary data in SOAP messages</vt:lpstr>
      <vt:lpstr>xs:base64Binary in SOAP messages (1/3)</vt:lpstr>
      <vt:lpstr>xs:base64Binary in SOAP messages (2/3)</vt:lpstr>
      <vt:lpstr>xs:base64Binary in SOAP messages (3/3)</vt:lpstr>
      <vt:lpstr>Message Transmission Optimization Mechanism (MTOM) (1/3)</vt:lpstr>
      <vt:lpstr>Message Transmission Optimization Mechanism (MTOM) (2/3)</vt:lpstr>
      <vt:lpstr>Message Transmission Optimization Mechanism (MTOM) (3/3)</vt:lpstr>
      <vt:lpstr>The Optimized Transmission Serialization Format</vt:lpstr>
      <vt:lpstr>The Optimized Transmission Serialization Format Over HTTP (1/3)</vt:lpstr>
      <vt:lpstr>The Optimized Transmission Serialization Format Over HTTP (2/3)</vt:lpstr>
      <vt:lpstr>The Optimized Transmission Serialization Format Over HTTP (3/3)</vt:lpstr>
      <vt:lpstr>Optimization including URI-based References</vt:lpstr>
      <vt:lpstr>Using the Resource Representation SOAP Header Block (1/3)</vt:lpstr>
      <vt:lpstr>Using the Resource Representation SOAP Header Block (2/2)</vt:lpstr>
      <vt:lpstr>Using the Resource Representation SOAP Header Block (3/3)</vt:lpstr>
      <vt:lpstr>rep:Representation Optimized by  [MTOM] and [XOP] (1/3)</vt:lpstr>
      <vt:lpstr>rep:Representation Optimized by  [MTOM] and [XOP] (2/3)</vt:lpstr>
      <vt:lpstr>rep:Representation Optimized by  [MTOM] and [XOP] (3/3)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248</cp:revision>
  <dcterms:created xsi:type="dcterms:W3CDTF">2008-04-16T11:36:22Z</dcterms:created>
  <dcterms:modified xsi:type="dcterms:W3CDTF">2023-10-19T04:32:29Z</dcterms:modified>
</cp:coreProperties>
</file>