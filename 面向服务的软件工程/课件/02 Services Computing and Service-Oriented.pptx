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9.jpg" ContentType="image/gi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tags/tag2.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57" r:id="rId1"/>
  </p:sldMasterIdLst>
  <p:notesMasterIdLst>
    <p:notesMasterId r:id="rId63"/>
  </p:notesMasterIdLst>
  <p:sldIdLst>
    <p:sldId id="256" r:id="rId2"/>
    <p:sldId id="303" r:id="rId3"/>
    <p:sldId id="304" r:id="rId4"/>
    <p:sldId id="305" r:id="rId5"/>
    <p:sldId id="322" r:id="rId6"/>
    <p:sldId id="356" r:id="rId7"/>
    <p:sldId id="355" r:id="rId8"/>
    <p:sldId id="307" r:id="rId9"/>
    <p:sldId id="353" r:id="rId10"/>
    <p:sldId id="354" r:id="rId11"/>
    <p:sldId id="308" r:id="rId12"/>
    <p:sldId id="309" r:id="rId13"/>
    <p:sldId id="332" r:id="rId14"/>
    <p:sldId id="358" r:id="rId15"/>
    <p:sldId id="363" r:id="rId16"/>
    <p:sldId id="360" r:id="rId17"/>
    <p:sldId id="359" r:id="rId18"/>
    <p:sldId id="333" r:id="rId19"/>
    <p:sldId id="310" r:id="rId20"/>
    <p:sldId id="329" r:id="rId21"/>
    <p:sldId id="325" r:id="rId22"/>
    <p:sldId id="348" r:id="rId23"/>
    <p:sldId id="334" r:id="rId24"/>
    <p:sldId id="352" r:id="rId25"/>
    <p:sldId id="336" r:id="rId26"/>
    <p:sldId id="335" r:id="rId27"/>
    <p:sldId id="337" r:id="rId28"/>
    <p:sldId id="338" r:id="rId29"/>
    <p:sldId id="339" r:id="rId30"/>
    <p:sldId id="340" r:id="rId31"/>
    <p:sldId id="341" r:id="rId32"/>
    <p:sldId id="342" r:id="rId33"/>
    <p:sldId id="343" r:id="rId34"/>
    <p:sldId id="344" r:id="rId35"/>
    <p:sldId id="345" r:id="rId36"/>
    <p:sldId id="346" r:id="rId37"/>
    <p:sldId id="347" r:id="rId38"/>
    <p:sldId id="311" r:id="rId39"/>
    <p:sldId id="312" r:id="rId40"/>
    <p:sldId id="314" r:id="rId41"/>
    <p:sldId id="313" r:id="rId42"/>
    <p:sldId id="331" r:id="rId43"/>
    <p:sldId id="288" r:id="rId44"/>
    <p:sldId id="330" r:id="rId45"/>
    <p:sldId id="320" r:id="rId46"/>
    <p:sldId id="302" r:id="rId47"/>
    <p:sldId id="316" r:id="rId48"/>
    <p:sldId id="318" r:id="rId49"/>
    <p:sldId id="321" r:id="rId50"/>
    <p:sldId id="315" r:id="rId51"/>
    <p:sldId id="317" r:id="rId52"/>
    <p:sldId id="367" r:id="rId53"/>
    <p:sldId id="364" r:id="rId54"/>
    <p:sldId id="365" r:id="rId55"/>
    <p:sldId id="366" r:id="rId56"/>
    <p:sldId id="350" r:id="rId57"/>
    <p:sldId id="349" r:id="rId58"/>
    <p:sldId id="327" r:id="rId59"/>
    <p:sldId id="361" r:id="rId60"/>
    <p:sldId id="362" r:id="rId61"/>
    <p:sldId id="351" r:id="rId6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8" autoAdjust="0"/>
    <p:restoredTop sz="95773" autoAdjust="0"/>
  </p:normalViewPr>
  <p:slideViewPr>
    <p:cSldViewPr>
      <p:cViewPr varScale="1">
        <p:scale>
          <a:sx n="110" d="100"/>
          <a:sy n="110" d="100"/>
        </p:scale>
        <p:origin x="1536"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6" d="100"/>
          <a:sy n="76" d="100"/>
        </p:scale>
        <p:origin x="-2957"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327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78CB94F2-5B9F-4617-8D52-AAACACABBB8A}" type="slidenum">
              <a:rPr lang="en-US" altLang="zh-CN"/>
              <a:pPr>
                <a:defRPr/>
              </a:pPr>
              <a:t>‹#›</a:t>
            </a:fld>
            <a:endParaRPr lang="en-US" altLang="zh-CN" dirty="0"/>
          </a:p>
        </p:txBody>
      </p:sp>
    </p:spTree>
    <p:extLst>
      <p:ext uri="{BB962C8B-B14F-4D97-AF65-F5344CB8AC3E}">
        <p14:creationId xmlns:p14="http://schemas.microsoft.com/office/powerpoint/2010/main" val="391846597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37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320E13F-0E1D-467D-9DDC-94F5E55EAAB6}" type="slidenum">
              <a:rPr lang="en-US" altLang="zh-CN" smtClean="0"/>
              <a:pPr eaLnBrk="1" hangingPunct="1"/>
              <a:t>1</a:t>
            </a:fld>
            <a:endParaRPr lang="en-US" altLang="zh-CN"/>
          </a:p>
        </p:txBody>
      </p:sp>
    </p:spTree>
    <p:extLst>
      <p:ext uri="{BB962C8B-B14F-4D97-AF65-F5344CB8AC3E}">
        <p14:creationId xmlns:p14="http://schemas.microsoft.com/office/powerpoint/2010/main" val="1557634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48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76B9D7D-914A-4B82-A991-286769189A16}" type="slidenum">
              <a:rPr lang="en-US" altLang="zh-CN" smtClean="0"/>
              <a:pPr eaLnBrk="1" hangingPunct="1"/>
              <a:t>2</a:t>
            </a:fld>
            <a:endParaRPr lang="en-US" altLang="zh-CN"/>
          </a:p>
        </p:txBody>
      </p:sp>
    </p:spTree>
    <p:extLst>
      <p:ext uri="{BB962C8B-B14F-4D97-AF65-F5344CB8AC3E}">
        <p14:creationId xmlns:p14="http://schemas.microsoft.com/office/powerpoint/2010/main" val="3902294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58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8503B9F-BAB0-4A19-B4B2-C0B5D0B3EB04}" type="slidenum">
              <a:rPr lang="en-US" altLang="zh-CN" smtClean="0"/>
              <a:pPr eaLnBrk="1" hangingPunct="1"/>
              <a:t>3</a:t>
            </a:fld>
            <a:endParaRPr lang="en-US" altLang="zh-CN"/>
          </a:p>
        </p:txBody>
      </p:sp>
    </p:spTree>
    <p:extLst>
      <p:ext uri="{BB962C8B-B14F-4D97-AF65-F5344CB8AC3E}">
        <p14:creationId xmlns:p14="http://schemas.microsoft.com/office/powerpoint/2010/main" val="77189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a:ln/>
        </p:spPr>
      </p:sp>
      <p:sp>
        <p:nvSpPr>
          <p:cNvPr id="368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68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1BB902C-CE49-4D6D-A390-170D61B155FB}" type="slidenum">
              <a:rPr lang="en-US" altLang="zh-CN" smtClean="0"/>
              <a:pPr eaLnBrk="1" hangingPunct="1"/>
              <a:t>4</a:t>
            </a:fld>
            <a:endParaRPr lang="en-US" altLang="zh-CN"/>
          </a:p>
        </p:txBody>
      </p:sp>
    </p:spTree>
    <p:extLst>
      <p:ext uri="{BB962C8B-B14F-4D97-AF65-F5344CB8AC3E}">
        <p14:creationId xmlns:p14="http://schemas.microsoft.com/office/powerpoint/2010/main" val="4127955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a:ln/>
        </p:spPr>
      </p:sp>
      <p:sp>
        <p:nvSpPr>
          <p:cNvPr id="389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89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A3F7397-4F15-4678-9BF5-5CB517395797}" type="slidenum">
              <a:rPr lang="en-US" altLang="zh-CN" smtClean="0"/>
              <a:pPr eaLnBrk="1" hangingPunct="1"/>
              <a:t>5</a:t>
            </a:fld>
            <a:endParaRPr lang="en-US" altLang="zh-CN"/>
          </a:p>
        </p:txBody>
      </p:sp>
    </p:spTree>
    <p:extLst>
      <p:ext uri="{BB962C8B-B14F-4D97-AF65-F5344CB8AC3E}">
        <p14:creationId xmlns:p14="http://schemas.microsoft.com/office/powerpoint/2010/main" val="1025091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a:ln/>
        </p:spPr>
      </p:sp>
      <p:sp>
        <p:nvSpPr>
          <p:cNvPr id="378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78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978B9B6-E24C-45E3-91B2-456C0240E8E7}" type="slidenum">
              <a:rPr lang="en-US" altLang="zh-CN" smtClean="0"/>
              <a:pPr eaLnBrk="1" hangingPunct="1"/>
              <a:t>6</a:t>
            </a:fld>
            <a:endParaRPr lang="en-US" altLang="zh-CN"/>
          </a:p>
        </p:txBody>
      </p:sp>
    </p:spTree>
    <p:extLst>
      <p:ext uri="{BB962C8B-B14F-4D97-AF65-F5344CB8AC3E}">
        <p14:creationId xmlns:p14="http://schemas.microsoft.com/office/powerpoint/2010/main" val="3803592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p:cNvSpPr>
            <a:spLocks noGrp="1" noRot="1" noChangeAspect="1" noTextEdit="1"/>
          </p:cNvSpPr>
          <p:nvPr>
            <p:ph type="sldImg"/>
          </p:nvPr>
        </p:nvSpPr>
        <p:spPr>
          <a:ln/>
        </p:spPr>
      </p:sp>
      <p:sp>
        <p:nvSpPr>
          <p:cNvPr id="399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399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101BDD8-E9EA-46F4-AA81-75B8CAD45F87}" type="slidenum">
              <a:rPr lang="en-US" altLang="zh-CN" smtClean="0"/>
              <a:pPr eaLnBrk="1" hangingPunct="1"/>
              <a:t>8</a:t>
            </a:fld>
            <a:endParaRPr lang="en-US" altLang="zh-CN"/>
          </a:p>
        </p:txBody>
      </p:sp>
    </p:spTree>
    <p:extLst>
      <p:ext uri="{BB962C8B-B14F-4D97-AF65-F5344CB8AC3E}">
        <p14:creationId xmlns:p14="http://schemas.microsoft.com/office/powerpoint/2010/main" val="3541308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幻灯片图像占位符 1"/>
          <p:cNvSpPr>
            <a:spLocks noGrp="1" noRot="1" noChangeAspect="1" noTextEdit="1"/>
          </p:cNvSpPr>
          <p:nvPr>
            <p:ph type="sldImg"/>
          </p:nvPr>
        </p:nvSpPr>
        <p:spPr>
          <a:ln/>
        </p:spPr>
      </p:sp>
      <p:sp>
        <p:nvSpPr>
          <p:cNvPr id="409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09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1068A31-B04E-4806-80A4-5F8AB7A67BDA}" type="slidenum">
              <a:rPr lang="en-US" altLang="zh-CN" smtClean="0"/>
              <a:pPr eaLnBrk="1" hangingPunct="1"/>
              <a:t>11</a:t>
            </a:fld>
            <a:endParaRPr lang="en-US" altLang="zh-CN"/>
          </a:p>
        </p:txBody>
      </p:sp>
    </p:spTree>
    <p:extLst>
      <p:ext uri="{BB962C8B-B14F-4D97-AF65-F5344CB8AC3E}">
        <p14:creationId xmlns:p14="http://schemas.microsoft.com/office/powerpoint/2010/main" val="1688916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ln/>
        </p:spPr>
      </p:sp>
      <p:sp>
        <p:nvSpPr>
          <p:cNvPr id="419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19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259C407-A929-4AD9-A9F4-0E4F84D0F5E4}" type="slidenum">
              <a:rPr lang="en-US" altLang="zh-CN" smtClean="0"/>
              <a:pPr eaLnBrk="1" hangingPunct="1"/>
              <a:t>12</a:t>
            </a:fld>
            <a:endParaRPr lang="en-US" altLang="zh-CN"/>
          </a:p>
        </p:txBody>
      </p:sp>
    </p:spTree>
    <p:extLst>
      <p:ext uri="{BB962C8B-B14F-4D97-AF65-F5344CB8AC3E}">
        <p14:creationId xmlns:p14="http://schemas.microsoft.com/office/powerpoint/2010/main" val="41596034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93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54DA99F-A939-4276-9B05-7A9101990444}" type="slidenum">
              <a:rPr lang="en-US" altLang="zh-CN" smtClean="0"/>
              <a:pPr eaLnBrk="1" hangingPunct="1"/>
              <a:t>13</a:t>
            </a:fld>
            <a:endParaRPr lang="en-US" altLang="zh-CN"/>
          </a:p>
        </p:txBody>
      </p:sp>
    </p:spTree>
    <p:extLst>
      <p:ext uri="{BB962C8B-B14F-4D97-AF65-F5344CB8AC3E}">
        <p14:creationId xmlns:p14="http://schemas.microsoft.com/office/powerpoint/2010/main" val="31740490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TextEdit="1"/>
          </p:cNvSpPr>
          <p:nvPr>
            <p:ph type="sldImg"/>
          </p:nvPr>
        </p:nvSpPr>
        <p:spPr>
          <a:ln/>
        </p:spPr>
      </p:sp>
      <p:sp>
        <p:nvSpPr>
          <p:cNvPr id="604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604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62689BA-3B88-45F4-AF37-8FB939184F83}" type="slidenum">
              <a:rPr lang="en-US" altLang="zh-CN" smtClean="0"/>
              <a:pPr eaLnBrk="1" hangingPunct="1"/>
              <a:t>18</a:t>
            </a:fld>
            <a:endParaRPr lang="en-US" altLang="zh-CN"/>
          </a:p>
        </p:txBody>
      </p:sp>
    </p:spTree>
    <p:extLst>
      <p:ext uri="{BB962C8B-B14F-4D97-AF65-F5344CB8AC3E}">
        <p14:creationId xmlns:p14="http://schemas.microsoft.com/office/powerpoint/2010/main" val="1806231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ln/>
        </p:spPr>
      </p:sp>
      <p:sp>
        <p:nvSpPr>
          <p:cNvPr id="430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30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C2BB7E4-BFE2-44DF-B3E9-89115708FAD2}" type="slidenum">
              <a:rPr lang="en-US" altLang="zh-CN" smtClean="0"/>
              <a:pPr eaLnBrk="1" hangingPunct="1"/>
              <a:t>19</a:t>
            </a:fld>
            <a:endParaRPr lang="en-US" altLang="zh-CN"/>
          </a:p>
        </p:txBody>
      </p:sp>
    </p:spTree>
    <p:extLst>
      <p:ext uri="{BB962C8B-B14F-4D97-AF65-F5344CB8AC3E}">
        <p14:creationId xmlns:p14="http://schemas.microsoft.com/office/powerpoint/2010/main" val="11439753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TextEdit="1"/>
          </p:cNvSpPr>
          <p:nvPr>
            <p:ph type="sldImg"/>
          </p:nvPr>
        </p:nvSpPr>
        <p:spPr>
          <a:ln/>
        </p:spPr>
      </p:sp>
      <p:sp>
        <p:nvSpPr>
          <p:cNvPr id="440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40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644E59E-6CE3-4250-B580-067CA72683F7}" type="slidenum">
              <a:rPr lang="en-US" altLang="zh-CN" smtClean="0"/>
              <a:pPr eaLnBrk="1" hangingPunct="1"/>
              <a:t>20</a:t>
            </a:fld>
            <a:endParaRPr lang="en-US" altLang="zh-CN"/>
          </a:p>
        </p:txBody>
      </p:sp>
    </p:spTree>
    <p:extLst>
      <p:ext uri="{BB962C8B-B14F-4D97-AF65-F5344CB8AC3E}">
        <p14:creationId xmlns:p14="http://schemas.microsoft.com/office/powerpoint/2010/main" val="1885126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a:ln/>
        </p:spPr>
      </p:sp>
      <p:sp>
        <p:nvSpPr>
          <p:cNvPr id="450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50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673D753-D97C-4116-AA9B-B21CA879EEFD}" type="slidenum">
              <a:rPr lang="en-US" altLang="zh-CN" smtClean="0"/>
              <a:pPr eaLnBrk="1" hangingPunct="1"/>
              <a:t>21</a:t>
            </a:fld>
            <a:endParaRPr lang="en-US" altLang="zh-CN"/>
          </a:p>
        </p:txBody>
      </p:sp>
    </p:spTree>
    <p:extLst>
      <p:ext uri="{BB962C8B-B14F-4D97-AF65-F5344CB8AC3E}">
        <p14:creationId xmlns:p14="http://schemas.microsoft.com/office/powerpoint/2010/main" val="1578551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TextEdit="1"/>
          </p:cNvSpPr>
          <p:nvPr>
            <p:ph type="sldImg"/>
          </p:nvPr>
        </p:nvSpPr>
        <p:spPr>
          <a:ln/>
        </p:spPr>
      </p:sp>
      <p:sp>
        <p:nvSpPr>
          <p:cNvPr id="460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60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55944CA-516A-4044-AEAC-1FB5FAC02A24}" type="slidenum">
              <a:rPr lang="en-US" altLang="zh-CN" smtClean="0"/>
              <a:pPr eaLnBrk="1" hangingPunct="1"/>
              <a:t>38</a:t>
            </a:fld>
            <a:endParaRPr lang="en-US" altLang="zh-CN"/>
          </a:p>
        </p:txBody>
      </p:sp>
    </p:spTree>
    <p:extLst>
      <p:ext uri="{BB962C8B-B14F-4D97-AF65-F5344CB8AC3E}">
        <p14:creationId xmlns:p14="http://schemas.microsoft.com/office/powerpoint/2010/main" val="14329164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TextEdit="1"/>
          </p:cNvSpPr>
          <p:nvPr>
            <p:ph type="sldImg"/>
          </p:nvPr>
        </p:nvSpPr>
        <p:spPr>
          <a:ln/>
        </p:spPr>
      </p:sp>
      <p:sp>
        <p:nvSpPr>
          <p:cNvPr id="471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71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1D73DD4-6D3C-4B1C-9120-E1F648E0D568}" type="slidenum">
              <a:rPr lang="en-US" altLang="zh-CN" smtClean="0"/>
              <a:pPr eaLnBrk="1" hangingPunct="1"/>
              <a:t>39</a:t>
            </a:fld>
            <a:endParaRPr lang="en-US" altLang="zh-CN"/>
          </a:p>
        </p:txBody>
      </p:sp>
    </p:spTree>
    <p:extLst>
      <p:ext uri="{BB962C8B-B14F-4D97-AF65-F5344CB8AC3E}">
        <p14:creationId xmlns:p14="http://schemas.microsoft.com/office/powerpoint/2010/main" val="31679312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ln/>
        </p:spPr>
      </p:sp>
      <p:sp>
        <p:nvSpPr>
          <p:cNvPr id="481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81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0B46FE7-B204-48B9-8E56-AC5EDEBB97C5}" type="slidenum">
              <a:rPr lang="en-US" altLang="zh-CN" smtClean="0"/>
              <a:pPr eaLnBrk="1" hangingPunct="1"/>
              <a:t>40</a:t>
            </a:fld>
            <a:endParaRPr lang="en-US" altLang="zh-CN"/>
          </a:p>
        </p:txBody>
      </p:sp>
    </p:spTree>
    <p:extLst>
      <p:ext uri="{BB962C8B-B14F-4D97-AF65-F5344CB8AC3E}">
        <p14:creationId xmlns:p14="http://schemas.microsoft.com/office/powerpoint/2010/main" val="10700682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ln/>
        </p:spPr>
      </p:sp>
      <p:sp>
        <p:nvSpPr>
          <p:cNvPr id="491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491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CFB45E8-23B4-47D7-B670-A66C8CAE8D55}" type="slidenum">
              <a:rPr lang="en-US" altLang="zh-CN" smtClean="0"/>
              <a:pPr eaLnBrk="1" hangingPunct="1"/>
              <a:t>41</a:t>
            </a:fld>
            <a:endParaRPr lang="en-US" altLang="zh-CN"/>
          </a:p>
        </p:txBody>
      </p:sp>
    </p:spTree>
    <p:extLst>
      <p:ext uri="{BB962C8B-B14F-4D97-AF65-F5344CB8AC3E}">
        <p14:creationId xmlns:p14="http://schemas.microsoft.com/office/powerpoint/2010/main" val="22523529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ln/>
        </p:spPr>
      </p:sp>
      <p:sp>
        <p:nvSpPr>
          <p:cNvPr id="501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01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7BF1DF0-95F0-4AD0-999E-8D3DA83C85FE}" type="slidenum">
              <a:rPr lang="en-US" altLang="zh-CN" smtClean="0"/>
              <a:pPr eaLnBrk="1" hangingPunct="1"/>
              <a:t>43</a:t>
            </a:fld>
            <a:endParaRPr lang="en-US" altLang="zh-CN"/>
          </a:p>
        </p:txBody>
      </p:sp>
    </p:spTree>
    <p:extLst>
      <p:ext uri="{BB962C8B-B14F-4D97-AF65-F5344CB8AC3E}">
        <p14:creationId xmlns:p14="http://schemas.microsoft.com/office/powerpoint/2010/main" val="6245504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ln/>
        </p:spPr>
      </p:sp>
      <p:sp>
        <p:nvSpPr>
          <p:cNvPr id="522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22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C9C5B0F-41CC-431E-91B0-F550F6C1463A}" type="slidenum">
              <a:rPr lang="en-US" altLang="zh-CN" smtClean="0"/>
              <a:pPr eaLnBrk="1" hangingPunct="1"/>
              <a:t>45</a:t>
            </a:fld>
            <a:endParaRPr lang="en-US" altLang="zh-CN"/>
          </a:p>
        </p:txBody>
      </p:sp>
    </p:spTree>
    <p:extLst>
      <p:ext uri="{BB962C8B-B14F-4D97-AF65-F5344CB8AC3E}">
        <p14:creationId xmlns:p14="http://schemas.microsoft.com/office/powerpoint/2010/main" val="29474501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32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57EFE29-0326-48AE-B1C0-227DD0631F14}" type="slidenum">
              <a:rPr lang="en-US" altLang="zh-CN" smtClean="0"/>
              <a:pPr eaLnBrk="1" hangingPunct="1"/>
              <a:t>46</a:t>
            </a:fld>
            <a:endParaRPr lang="en-US" altLang="zh-CN"/>
          </a:p>
        </p:txBody>
      </p:sp>
    </p:spTree>
    <p:extLst>
      <p:ext uri="{BB962C8B-B14F-4D97-AF65-F5344CB8AC3E}">
        <p14:creationId xmlns:p14="http://schemas.microsoft.com/office/powerpoint/2010/main" val="842090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ln/>
        </p:spPr>
      </p:sp>
      <p:sp>
        <p:nvSpPr>
          <p:cNvPr id="542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42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D5FBD01-A89A-4C33-B1E7-8DCB30D8E30C}" type="slidenum">
              <a:rPr lang="en-US" altLang="zh-CN" smtClean="0"/>
              <a:pPr eaLnBrk="1" hangingPunct="1"/>
              <a:t>47</a:t>
            </a:fld>
            <a:endParaRPr lang="en-US" altLang="zh-CN"/>
          </a:p>
        </p:txBody>
      </p:sp>
    </p:spTree>
    <p:extLst>
      <p:ext uri="{BB962C8B-B14F-4D97-AF65-F5344CB8AC3E}">
        <p14:creationId xmlns:p14="http://schemas.microsoft.com/office/powerpoint/2010/main" val="2895427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ln/>
        </p:spPr>
      </p:sp>
      <p:sp>
        <p:nvSpPr>
          <p:cNvPr id="552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53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C7775AB-31BF-42FF-BB1C-9FB02C22B3FC}" type="slidenum">
              <a:rPr lang="en-US" altLang="zh-CN" smtClean="0"/>
              <a:pPr eaLnBrk="1" hangingPunct="1"/>
              <a:t>48</a:t>
            </a:fld>
            <a:endParaRPr lang="en-US" altLang="zh-CN"/>
          </a:p>
        </p:txBody>
      </p:sp>
    </p:spTree>
    <p:extLst>
      <p:ext uri="{BB962C8B-B14F-4D97-AF65-F5344CB8AC3E}">
        <p14:creationId xmlns:p14="http://schemas.microsoft.com/office/powerpoint/2010/main" val="11513811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63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A0BE74B-CC9C-4FBE-ADB5-772029143352}" type="slidenum">
              <a:rPr lang="en-US" altLang="zh-CN" smtClean="0"/>
              <a:pPr eaLnBrk="1" hangingPunct="1"/>
              <a:t>49</a:t>
            </a:fld>
            <a:endParaRPr lang="en-US" altLang="zh-CN"/>
          </a:p>
        </p:txBody>
      </p:sp>
    </p:spTree>
    <p:extLst>
      <p:ext uri="{BB962C8B-B14F-4D97-AF65-F5344CB8AC3E}">
        <p14:creationId xmlns:p14="http://schemas.microsoft.com/office/powerpoint/2010/main" val="1520897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73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AAC037C-868C-46A1-9B82-88BB7BC6CF46}" type="slidenum">
              <a:rPr lang="en-US" altLang="zh-CN" smtClean="0"/>
              <a:pPr eaLnBrk="1" hangingPunct="1"/>
              <a:t>50</a:t>
            </a:fld>
            <a:endParaRPr lang="en-US" altLang="zh-CN"/>
          </a:p>
        </p:txBody>
      </p:sp>
    </p:spTree>
    <p:extLst>
      <p:ext uri="{BB962C8B-B14F-4D97-AF65-F5344CB8AC3E}">
        <p14:creationId xmlns:p14="http://schemas.microsoft.com/office/powerpoint/2010/main" val="23877849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ln/>
        </p:spPr>
      </p:sp>
      <p:sp>
        <p:nvSpPr>
          <p:cNvPr id="583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583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1EAEA38-EE80-4472-A0D9-74EF5275EF52}" type="slidenum">
              <a:rPr lang="en-US" altLang="zh-CN" smtClean="0"/>
              <a:pPr eaLnBrk="1" hangingPunct="1"/>
              <a:t>51</a:t>
            </a:fld>
            <a:endParaRPr lang="en-US" altLang="zh-CN"/>
          </a:p>
        </p:txBody>
      </p:sp>
    </p:spTree>
    <p:extLst>
      <p:ext uri="{BB962C8B-B14F-4D97-AF65-F5344CB8AC3E}">
        <p14:creationId xmlns:p14="http://schemas.microsoft.com/office/powerpoint/2010/main" val="14704704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TextEdit="1"/>
          </p:cNvSpPr>
          <p:nvPr>
            <p:ph type="sldImg"/>
          </p:nvPr>
        </p:nvSpPr>
        <p:spPr>
          <a:ln/>
        </p:spPr>
      </p:sp>
      <p:sp>
        <p:nvSpPr>
          <p:cNvPr id="614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ea typeface="宋体" charset="-122"/>
            </a:endParaRPr>
          </a:p>
        </p:txBody>
      </p:sp>
      <p:sp>
        <p:nvSpPr>
          <p:cNvPr id="614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E75BAE7-3799-4B92-8324-3F1F3797A7AA}" type="slidenum">
              <a:rPr lang="en-US" altLang="zh-CN" smtClean="0"/>
              <a:pPr eaLnBrk="1" hangingPunct="1"/>
              <a:t>58</a:t>
            </a:fld>
            <a:endParaRPr lang="en-US" altLang="zh-CN"/>
          </a:p>
        </p:txBody>
      </p:sp>
    </p:spTree>
    <p:extLst>
      <p:ext uri="{BB962C8B-B14F-4D97-AF65-F5344CB8AC3E}">
        <p14:creationId xmlns:p14="http://schemas.microsoft.com/office/powerpoint/2010/main" val="39116708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 y="-2853"/>
            <a:ext cx="9144000" cy="5373688"/>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nchor="ctr"/>
          <a:lstStyle>
            <a:lvl1pPr algn="l">
              <a:defRPr>
                <a:solidFill>
                  <a:srgbClr val="00708E"/>
                </a:solidFill>
              </a:defRPr>
            </a:lvl1pPr>
            <a:lvl2pPr algn="l">
              <a:buClr>
                <a:srgbClr val="00607A"/>
              </a:buClr>
              <a:defRPr>
                <a:solidFill>
                  <a:srgbClr val="00708E"/>
                </a:solidFill>
                <a:latin typeface="+mn-ea"/>
                <a:ea typeface="+mn-ea"/>
              </a:defRPr>
            </a:lvl2pPr>
            <a:lvl3pPr algn="l">
              <a:buClr>
                <a:srgbClr val="00607A"/>
              </a:buClr>
              <a:defRPr>
                <a:solidFill>
                  <a:srgbClr val="00708E"/>
                </a:solidFill>
                <a:latin typeface="+mn-ea"/>
                <a:ea typeface="+mn-ea"/>
              </a:defRPr>
            </a:lvl3pPr>
            <a:lvl4pPr algn="l">
              <a:defRPr>
                <a:solidFill>
                  <a:srgbClr val="00708E"/>
                </a:solidFill>
                <a:latin typeface="+mn-ea"/>
                <a:ea typeface="+mn-ea"/>
              </a:defRPr>
            </a:lvl4pPr>
            <a:lvl5pPr algn="l">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pPr>
              <a:defRPr/>
            </a:pPr>
            <a:fld id="{35E2893E-1C56-4F7E-897F-1FA1E5A4D06E}" type="slidenum">
              <a:rPr lang="en-US" altLang="zh-CN" smtClean="0"/>
              <a:pPr>
                <a:defRPr/>
              </a:pPr>
              <a:t>‹#›</a:t>
            </a:fld>
            <a:endParaRPr lang="en-US" altLang="zh-CN" dirty="0"/>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pPr>
              <a:defRPr/>
            </a:pPr>
            <a:fld id="{103C83C1-5748-4F7F-9F4D-6494A8D4D468}" type="slidenum">
              <a:rPr lang="en-US" altLang="zh-CN" smtClean="0"/>
              <a:pPr>
                <a:defRPr/>
              </a:pPr>
              <a:t>‹#›</a:t>
            </a:fld>
            <a:endParaRPr lang="en-US" altLang="zh-CN" dirty="0"/>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pPr>
              <a:defRPr/>
            </a:pPr>
            <a:fld id="{E2CC5665-0B21-4888-845E-84DD8AE64671}" type="slidenum">
              <a:rPr lang="en-US" altLang="zh-CN" smtClean="0"/>
              <a:pPr>
                <a:defRPr/>
              </a:pPr>
              <a:t>‹#›</a:t>
            </a:fld>
            <a:endParaRPr lang="en-US" altLang="zh-CN" dirty="0"/>
          </a:p>
        </p:txBody>
      </p:sp>
    </p:spTree>
    <p:extLst>
      <p:ext uri="{BB962C8B-B14F-4D97-AF65-F5344CB8AC3E}">
        <p14:creationId xmlns:p14="http://schemas.microsoft.com/office/powerpoint/2010/main" val="388286200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pPr>
              <a:defRPr/>
            </a:pPr>
            <a:fld id="{B5EBA0EA-B476-4C5A-B665-02B0FD90BDE1}" type="slidenum">
              <a:rPr lang="en-US" altLang="zh-CN" smtClean="0"/>
              <a:pPr>
                <a:defRPr/>
              </a:pPr>
              <a:t>‹#›</a:t>
            </a:fld>
            <a:endParaRPr lang="en-US" altLang="zh-CN" dirty="0"/>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pPr>
              <a:defRPr/>
            </a:pPr>
            <a:fld id="{9BB312C8-3295-4FA7-AD45-10DC6302DF44}" type="slidenum">
              <a:rPr lang="en-US" altLang="zh-CN" smtClean="0"/>
              <a:pPr>
                <a:defRPr/>
              </a:pPr>
              <a:t>‹#›</a:t>
            </a:fld>
            <a:endParaRPr lang="en-US" altLang="zh-CN" dirty="0"/>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pPr>
              <a:defRPr/>
            </a:pPr>
            <a:fld id="{54824532-D6F5-427F-BC00-9E12FDE0586C}" type="slidenum">
              <a:rPr lang="en-US" altLang="zh-CN" smtClean="0"/>
              <a:pPr>
                <a:defRPr/>
              </a:pPr>
              <a:t>‹#›</a:t>
            </a:fld>
            <a:endParaRPr lang="en-US" altLang="zh-CN" dirty="0"/>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8F8599E7-99F6-4EA8-A8B3-5A8952AD0E7F}" type="slidenum">
              <a:rPr lang="en-US" altLang="zh-CN" smtClean="0"/>
              <a:pPr>
                <a:defRPr/>
              </a:pPr>
              <a:t>‹#›</a:t>
            </a:fld>
            <a:endParaRPr lang="en-US" altLang="zh-CN" dirty="0"/>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pPr>
              <a:defRPr/>
            </a:pPr>
            <a:fld id="{6E08C031-9F25-4F54-A691-600FEEB0B1E6}" type="slidenum">
              <a:rPr lang="en-US" altLang="zh-CN" smtClean="0"/>
              <a:pPr>
                <a:defRPr/>
              </a:pPr>
              <a:t>‹#›</a:t>
            </a:fld>
            <a:endParaRPr lang="en-US" altLang="zh-CN" dirty="0"/>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5D1B5C2A-2BB5-4145-BE88-E2E6F5B73483}" type="slidenum">
              <a:rPr lang="en-US" altLang="zh-CN" smtClean="0"/>
              <a:pPr>
                <a:defRPr/>
              </a:pPr>
              <a:t>‹#›</a:t>
            </a:fld>
            <a:endParaRPr lang="en-US" altLang="zh-CN" dirty="0"/>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pPr>
              <a:defRPr/>
            </a:pPr>
            <a:fld id="{4B04C711-9033-483E-8E65-15D93202E7A3}" type="slidenum">
              <a:rPr lang="en-US" altLang="zh-CN" smtClean="0"/>
              <a:pPr>
                <a:defRPr/>
              </a:pPr>
              <a:t>‹#›</a:t>
            </a:fld>
            <a:endParaRPr lang="en-US" altLang="zh-CN" dirty="0"/>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pPr>
              <a:defRPr/>
            </a:pPr>
            <a:fld id="{E2CC5665-0B21-4888-845E-84DD8AE64671}" type="slidenum">
              <a:rPr lang="en-US" altLang="zh-CN" smtClean="0"/>
              <a:pPr>
                <a:defRPr/>
              </a:pPr>
              <a:t>‹#›</a:t>
            </a:fld>
            <a:endParaRPr lang="en-US" altLang="zh-CN" dirty="0"/>
          </a:p>
        </p:txBody>
      </p:sp>
    </p:spTree>
    <p:extLst>
      <p:ext uri="{BB962C8B-B14F-4D97-AF65-F5344CB8AC3E}">
        <p14:creationId xmlns:p14="http://schemas.microsoft.com/office/powerpoint/2010/main" val="85858121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9"/>
          <p:cNvSpPr>
            <a:spLocks noGrp="1" noChangeArrowheads="1"/>
          </p:cNvSpPr>
          <p:nvPr>
            <p:ph type="dt" sz="half" idx="10"/>
          </p:nvPr>
        </p:nvSpPr>
        <p:spPr>
          <a:xfrm>
            <a:off x="457200" y="6248400"/>
            <a:ext cx="2133600" cy="457200"/>
          </a:xfrm>
          <a:prstGeom prst="rect">
            <a:avLst/>
          </a:prstGeom>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ED0DE5C7-153D-46A7-A722-94EDB96AD2BD}" type="slidenum">
              <a:rPr lang="en-US" altLang="zh-CN"/>
              <a:pPr>
                <a:defRPr/>
              </a:pPr>
              <a:t>‹#›</a:t>
            </a:fld>
            <a:endParaRPr lang="en-US" altLang="zh-CN" dirty="0"/>
          </a:p>
        </p:txBody>
      </p:sp>
    </p:spTree>
    <p:extLst>
      <p:ext uri="{BB962C8B-B14F-4D97-AF65-F5344CB8AC3E}">
        <p14:creationId xmlns:p14="http://schemas.microsoft.com/office/powerpoint/2010/main" val="455498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pPr>
              <a:defRPr/>
            </a:pPr>
            <a:fld id="{E2CC5665-0B21-4888-845E-84DD8AE64671}" type="slidenum">
              <a:rPr lang="en-US" altLang="zh-CN" smtClean="0"/>
              <a:pPr>
                <a:defRPr/>
              </a:pPr>
              <a:t>‹#›</a:t>
            </a:fld>
            <a:endParaRPr lang="en-US" altLang="zh-CN" dirty="0"/>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 id="2147483968" r:id="rId11"/>
    <p:sldLayoutId id="2147483969" r:id="rId12"/>
    <p:sldLayoutId id="2147483970" r:id="rId13"/>
  </p:sldLayoutIdLst>
  <p:hf hdr="0" ftr="0" dt="0"/>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emf"/><Relationship Id="rId4"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3.emf"/><Relationship Id="rId4"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4.emf"/><Relationship Id="rId4"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5.emf"/><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42.emf"/></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vmlDrawing" Target="../drawings/vmlDrawing9.vml"/><Relationship Id="rId6" Type="http://schemas.openxmlformats.org/officeDocument/2006/relationships/image" Target="../media/image43.emf"/><Relationship Id="rId5" Type="http://schemas.openxmlformats.org/officeDocument/2006/relationships/oleObject" Target="../embeddings/oleObject9.bin"/><Relationship Id="rId4" Type="http://schemas.openxmlformats.org/officeDocument/2006/relationships/notesSlide" Target="../notesSlides/notesSlide20.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46.emf"/><Relationship Id="rId4" Type="http://schemas.openxmlformats.org/officeDocument/2006/relationships/oleObject" Target="../embeddings/oleObject10.bin"/></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p:txBody>
          <a:bodyPr/>
          <a:lstStyle/>
          <a:p>
            <a:pPr lvl="0"/>
            <a:r>
              <a:rPr lang="en-US" altLang="zh-CN" sz="2000" dirty="0">
                <a:solidFill>
                  <a:srgbClr val="000000">
                    <a:lumMod val="65000"/>
                    <a:lumOff val="35000"/>
                  </a:srgbClr>
                </a:solidFill>
              </a:rPr>
              <a:t>Software Institute</a:t>
            </a:r>
          </a:p>
          <a:p>
            <a:pPr lvl="0"/>
            <a:r>
              <a:rPr lang="en-US" altLang="zh-CN" sz="2000" dirty="0">
                <a:solidFill>
                  <a:srgbClr val="000000">
                    <a:lumMod val="65000"/>
                    <a:lumOff val="35000"/>
                  </a:srgbClr>
                </a:solidFill>
              </a:rPr>
              <a:t>Nanjing University</a:t>
            </a:r>
          </a:p>
          <a:p>
            <a:pPr lvl="0"/>
            <a:r>
              <a:rPr lang="en-US" altLang="zh-CN" sz="2000" dirty="0" err="1">
                <a:solidFill>
                  <a:srgbClr val="000000">
                    <a:lumMod val="65000"/>
                    <a:lumOff val="35000"/>
                  </a:srgbClr>
                </a:solidFill>
              </a:rPr>
              <a:t>Bei</a:t>
            </a:r>
            <a:r>
              <a:rPr lang="en-US" altLang="zh-CN" sz="2000" dirty="0">
                <a:solidFill>
                  <a:srgbClr val="000000">
                    <a:lumMod val="65000"/>
                    <a:lumOff val="35000"/>
                  </a:srgbClr>
                </a:solidFill>
              </a:rPr>
              <a:t> </a:t>
            </a:r>
            <a:r>
              <a:rPr lang="en-US" altLang="zh-CN" sz="2000" dirty="0" err="1">
                <a:solidFill>
                  <a:srgbClr val="000000">
                    <a:lumMod val="65000"/>
                    <a:lumOff val="35000"/>
                  </a:srgbClr>
                </a:solidFill>
              </a:rPr>
              <a:t>Jia</a:t>
            </a:r>
            <a:endParaRPr lang="en-US" altLang="zh-CN" sz="2000" dirty="0">
              <a:solidFill>
                <a:srgbClr val="000000">
                  <a:lumMod val="65000"/>
                  <a:lumOff val="35000"/>
                </a:srgbClr>
              </a:solidFill>
            </a:endParaRPr>
          </a:p>
        </p:txBody>
      </p:sp>
      <p:sp>
        <p:nvSpPr>
          <p:cNvPr id="3074" name="Rectangle 2"/>
          <p:cNvSpPr>
            <a:spLocks noGrp="1" noChangeArrowheads="1"/>
          </p:cNvSpPr>
          <p:nvPr>
            <p:ph type="ctrTitle" sz="quarter"/>
          </p:nvPr>
        </p:nvSpPr>
        <p:spPr/>
        <p:txBody>
          <a:bodyPr/>
          <a:lstStyle/>
          <a:p>
            <a:pPr>
              <a:lnSpc>
                <a:spcPct val="125000"/>
              </a:lnSpc>
            </a:pPr>
            <a:r>
              <a:rPr lang="en-US" altLang="zh-CN" sz="2800" dirty="0"/>
              <a:t>Services computing and Service-Oriented</a:t>
            </a:r>
            <a:br>
              <a:rPr lang="en-US" altLang="zh-CN" sz="2000" dirty="0"/>
            </a:br>
            <a:r>
              <a:rPr lang="en-US" altLang="zh-CN" sz="2000" dirty="0" err="1"/>
              <a:t>Service-Oriented</a:t>
            </a:r>
            <a:r>
              <a:rPr lang="en-US" altLang="zh-CN" sz="2000" dirty="0"/>
              <a:t> Software Engineering</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a:t>软件的发展</a:t>
            </a:r>
          </a:p>
        </p:txBody>
      </p:sp>
      <p:sp>
        <p:nvSpPr>
          <p:cNvPr id="4099" name="内容占位符 2"/>
          <p:cNvSpPr>
            <a:spLocks noGrp="1"/>
          </p:cNvSpPr>
          <p:nvPr>
            <p:ph idx="1"/>
          </p:nvPr>
        </p:nvSpPr>
        <p:spPr/>
        <p:txBody>
          <a:bodyPr/>
          <a:lstStyle/>
          <a:p>
            <a:r>
              <a:rPr lang="zh-CN" altLang="en-US" dirty="0"/>
              <a:t>软件危机</a:t>
            </a:r>
            <a:endParaRPr lang="en-US" altLang="zh-CN" dirty="0"/>
          </a:p>
          <a:p>
            <a:pPr lvl="1"/>
            <a:r>
              <a:rPr lang="zh-CN" altLang="en-US" dirty="0"/>
              <a:t>用户需求不明确 </a:t>
            </a:r>
            <a:endParaRPr lang="en-US" altLang="zh-CN" dirty="0"/>
          </a:p>
          <a:p>
            <a:pPr lvl="1"/>
            <a:r>
              <a:rPr lang="zh-CN" altLang="en-US" dirty="0"/>
              <a:t>缺乏正确的理论指导</a:t>
            </a:r>
            <a:endParaRPr lang="en-US" altLang="zh-CN" dirty="0"/>
          </a:p>
          <a:p>
            <a:pPr lvl="1"/>
            <a:r>
              <a:rPr lang="zh-CN" altLang="en-US" dirty="0"/>
              <a:t>软件开发规模越来越大</a:t>
            </a:r>
            <a:endParaRPr lang="en-US" altLang="zh-CN" dirty="0"/>
          </a:p>
          <a:p>
            <a:pPr lvl="1"/>
            <a:r>
              <a:rPr lang="zh-CN" altLang="en-US" dirty="0"/>
              <a:t>软件开发复杂度越来越高</a:t>
            </a:r>
            <a:endParaRPr lang="en-US" altLang="zh-CN" dirty="0"/>
          </a:p>
          <a:p>
            <a:r>
              <a:rPr lang="zh-CN" altLang="en-US" dirty="0">
                <a:solidFill>
                  <a:srgbClr val="FF0000"/>
                </a:solidFill>
              </a:rPr>
              <a:t>服务系统的问题尤其突出</a:t>
            </a:r>
            <a:endParaRPr lang="en-US" altLang="zh-CN" dirty="0"/>
          </a:p>
          <a:p>
            <a:r>
              <a:rPr lang="zh-CN" altLang="en-US" dirty="0"/>
              <a:t>软件工程</a:t>
            </a:r>
            <a:endParaRPr lang="en-US" altLang="zh-CN" dirty="0"/>
          </a:p>
          <a:p>
            <a:pPr lvl="1"/>
            <a:r>
              <a:rPr lang="zh-CN" altLang="en-US" dirty="0"/>
              <a:t>软件过程及相关理论、方法和工具</a:t>
            </a:r>
            <a:endParaRPr lang="en-US" altLang="zh-CN" dirty="0"/>
          </a:p>
          <a:p>
            <a:pPr lvl="1"/>
            <a:r>
              <a:rPr lang="zh-CN" altLang="en-US" dirty="0"/>
              <a:t>软件产品簇、产品线</a:t>
            </a:r>
            <a:endParaRPr lang="en-US" altLang="zh-CN" dirty="0"/>
          </a:p>
          <a:p>
            <a:pPr lvl="1"/>
            <a:r>
              <a:rPr lang="zh-CN" altLang="en-US" dirty="0"/>
              <a:t>泛型</a:t>
            </a:r>
          </a:p>
        </p:txBody>
      </p:sp>
      <p:sp>
        <p:nvSpPr>
          <p:cNvPr id="410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7931AD2-CE6F-44F9-9D5B-AB9537A02FA3}" type="slidenum">
              <a:rPr lang="en-US" altLang="zh-CN" smtClean="0"/>
              <a:pPr eaLnBrk="1" hangingPunct="1"/>
              <a:t>2</a:t>
            </a:fld>
            <a:endParaRPr lang="en-US" altLang="zh-CN"/>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a:t>命令式（过程式）泛型</a:t>
            </a:r>
          </a:p>
        </p:txBody>
      </p:sp>
      <p:sp>
        <p:nvSpPr>
          <p:cNvPr id="5123" name="内容占位符 2"/>
          <p:cNvSpPr>
            <a:spLocks noGrp="1"/>
          </p:cNvSpPr>
          <p:nvPr>
            <p:ph idx="1"/>
          </p:nvPr>
        </p:nvSpPr>
        <p:spPr>
          <a:xfrm>
            <a:off x="457200" y="1052737"/>
            <a:ext cx="8229600" cy="2520279"/>
          </a:xfrm>
        </p:spPr>
        <p:txBody>
          <a:bodyPr/>
          <a:lstStyle/>
          <a:p>
            <a:r>
              <a:rPr lang="zh-CN" altLang="en-US" sz="2800" dirty="0"/>
              <a:t>用程序状态和改变程序状态的语句来描述计算</a:t>
            </a:r>
            <a:endParaRPr lang="en-US" altLang="zh-CN" sz="2800" dirty="0"/>
          </a:p>
          <a:p>
            <a:r>
              <a:rPr lang="zh-CN" altLang="en-US" sz="2800" dirty="0"/>
              <a:t>对冯</a:t>
            </a:r>
            <a:r>
              <a:rPr lang="en-US" altLang="zh-CN" sz="2800" dirty="0"/>
              <a:t>·</a:t>
            </a:r>
            <a:r>
              <a:rPr lang="zh-CN" altLang="en-US" sz="2800" dirty="0"/>
              <a:t>诺依曼式计算机的顺序执行机制的直接抽象</a:t>
            </a:r>
            <a:endParaRPr lang="en-US" altLang="zh-CN" sz="2800" dirty="0"/>
          </a:p>
          <a:p>
            <a:r>
              <a:rPr lang="zh-CN" altLang="en-US" sz="2800" dirty="0"/>
              <a:t>由过程完成复用</a:t>
            </a:r>
            <a:endParaRPr lang="en-US" altLang="zh-CN" sz="2800" dirty="0"/>
          </a:p>
          <a:p>
            <a:pPr>
              <a:buFont typeface="Wingdings" pitchFamily="2" charset="2"/>
              <a:buNone/>
            </a:pPr>
            <a:endParaRPr lang="zh-CN" altLang="en-US" dirty="0"/>
          </a:p>
        </p:txBody>
      </p:sp>
      <p:sp>
        <p:nvSpPr>
          <p:cNvPr id="512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A17DDC7-D0C6-4802-8E15-98C67E8165F8}" type="slidenum">
              <a:rPr lang="en-US" altLang="zh-CN" smtClean="0"/>
              <a:pPr eaLnBrk="1" hangingPunct="1"/>
              <a:t>3</a:t>
            </a:fld>
            <a:endParaRPr lang="en-US" altLang="zh-CN"/>
          </a:p>
        </p:txBody>
      </p:sp>
      <p:graphicFrame>
        <p:nvGraphicFramePr>
          <p:cNvPr id="5125" name="Object 6"/>
          <p:cNvGraphicFramePr>
            <a:graphicFrameLocks noChangeAspect="1"/>
          </p:cNvGraphicFramePr>
          <p:nvPr>
            <p:extLst>
              <p:ext uri="{D42A27DB-BD31-4B8C-83A1-F6EECF244321}">
                <p14:modId xmlns:p14="http://schemas.microsoft.com/office/powerpoint/2010/main" val="2567396601"/>
              </p:ext>
            </p:extLst>
          </p:nvPr>
        </p:nvGraphicFramePr>
        <p:xfrm>
          <a:off x="2339752" y="3068960"/>
          <a:ext cx="4375150" cy="3168650"/>
        </p:xfrm>
        <a:graphic>
          <a:graphicData uri="http://schemas.openxmlformats.org/presentationml/2006/ole">
            <mc:AlternateContent xmlns:mc="http://schemas.openxmlformats.org/markup-compatibility/2006">
              <mc:Choice xmlns:v="urn:schemas-microsoft-com:vml" Requires="v">
                <p:oleObj spid="_x0000_s5200" name="Visio" r:id="rId4" imgW="2482630" imgH="1798752" progId="Visio.Drawing.11">
                  <p:embed/>
                </p:oleObj>
              </mc:Choice>
              <mc:Fallback>
                <p:oleObj name="Visio" r:id="rId4" imgW="2482630" imgH="1798752"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752" y="3068960"/>
                        <a:ext cx="4375150" cy="316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a:t>面向对象的泛型</a:t>
            </a:r>
          </a:p>
        </p:txBody>
      </p:sp>
      <p:sp>
        <p:nvSpPr>
          <p:cNvPr id="6147" name="内容占位符 2"/>
          <p:cNvSpPr>
            <a:spLocks noGrp="1"/>
          </p:cNvSpPr>
          <p:nvPr>
            <p:ph idx="1"/>
          </p:nvPr>
        </p:nvSpPr>
        <p:spPr>
          <a:xfrm>
            <a:off x="467544" y="836713"/>
            <a:ext cx="8229600" cy="2664296"/>
          </a:xfrm>
        </p:spPr>
        <p:txBody>
          <a:bodyPr/>
          <a:lstStyle/>
          <a:p>
            <a:r>
              <a:rPr lang="zh-CN" altLang="en-US" dirty="0"/>
              <a:t>用封装了数据和操作的对象以及对象之间的消息传递描述计算</a:t>
            </a:r>
            <a:endParaRPr lang="en-US" altLang="zh-CN" dirty="0"/>
          </a:p>
          <a:p>
            <a:r>
              <a:rPr lang="zh-CN" altLang="en-US" dirty="0"/>
              <a:t>封装、继承、多态</a:t>
            </a:r>
            <a:endParaRPr lang="en-US" altLang="zh-CN" dirty="0"/>
          </a:p>
        </p:txBody>
      </p:sp>
      <p:sp>
        <p:nvSpPr>
          <p:cNvPr id="614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8C9A840-72D1-4687-AB2B-283775161EB4}" type="slidenum">
              <a:rPr lang="en-US" altLang="zh-CN" smtClean="0"/>
              <a:pPr eaLnBrk="1" hangingPunct="1"/>
              <a:t>4</a:t>
            </a:fld>
            <a:endParaRPr lang="en-US" altLang="zh-CN"/>
          </a:p>
        </p:txBody>
      </p:sp>
      <p:graphicFrame>
        <p:nvGraphicFramePr>
          <p:cNvPr id="6149" name="Object 7"/>
          <p:cNvGraphicFramePr>
            <a:graphicFrameLocks noChangeAspect="1"/>
          </p:cNvGraphicFramePr>
          <p:nvPr>
            <p:extLst>
              <p:ext uri="{D42A27DB-BD31-4B8C-83A1-F6EECF244321}">
                <p14:modId xmlns:p14="http://schemas.microsoft.com/office/powerpoint/2010/main" val="1286155054"/>
              </p:ext>
            </p:extLst>
          </p:nvPr>
        </p:nvGraphicFramePr>
        <p:xfrm>
          <a:off x="2267744" y="3095625"/>
          <a:ext cx="4176464" cy="3241675"/>
        </p:xfrm>
        <a:graphic>
          <a:graphicData uri="http://schemas.openxmlformats.org/presentationml/2006/ole">
            <mc:AlternateContent xmlns:mc="http://schemas.openxmlformats.org/markup-compatibility/2006">
              <mc:Choice xmlns:v="urn:schemas-microsoft-com:vml" Requires="v">
                <p:oleObj spid="_x0000_s6224" name="Visio" r:id="rId4" imgW="3131813" imgH="2367280" progId="Visio.Drawing.11">
                  <p:embed/>
                </p:oleObj>
              </mc:Choice>
              <mc:Fallback>
                <p:oleObj name="Visio" r:id="rId4" imgW="3131813" imgH="2367280" progId="Visio.Drawing.11">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3095625"/>
                        <a:ext cx="4176464" cy="3241675"/>
                      </a:xfrm>
                      <a:prstGeom prst="rect">
                        <a:avLst/>
                      </a:prstGeom>
                      <a:noFill/>
                      <a:ln>
                        <a:noFill/>
                      </a:ln>
                      <a:effectLst/>
                    </p:spPr>
                  </p:pic>
                </p:oleObj>
              </mc:Fallback>
            </mc:AlternateContent>
          </a:graphicData>
        </a:graphic>
      </p:graphicFrame>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a:t>为变化而设计</a:t>
            </a:r>
          </a:p>
        </p:txBody>
      </p:sp>
      <p:sp>
        <p:nvSpPr>
          <p:cNvPr id="8195" name="内容占位符 2"/>
          <p:cNvSpPr>
            <a:spLocks noGrp="1"/>
          </p:cNvSpPr>
          <p:nvPr>
            <p:ph idx="1"/>
          </p:nvPr>
        </p:nvSpPr>
        <p:spPr>
          <a:xfrm>
            <a:off x="457200" y="1052737"/>
            <a:ext cx="8229600" cy="5408388"/>
          </a:xfrm>
        </p:spPr>
        <p:txBody>
          <a:bodyPr/>
          <a:lstStyle/>
          <a:p>
            <a:r>
              <a:rPr lang="zh-CN" altLang="en-US" dirty="0"/>
              <a:t>自动售货机</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Design Pattern</a:t>
            </a:r>
          </a:p>
          <a:p>
            <a:pPr lvl="1"/>
            <a:r>
              <a:rPr lang="zh-CN" altLang="en-US" dirty="0"/>
              <a:t>与泛型无关</a:t>
            </a:r>
            <a:r>
              <a:rPr lang="en-US" altLang="zh-CN" dirty="0"/>
              <a:t>……</a:t>
            </a:r>
            <a:endParaRPr lang="zh-CN" altLang="en-US" dirty="0"/>
          </a:p>
        </p:txBody>
      </p:sp>
      <p:sp>
        <p:nvSpPr>
          <p:cNvPr id="819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2E3F0F1-D7E1-4C62-9993-687EE87C91EA}" type="slidenum">
              <a:rPr lang="en-US" altLang="zh-CN" smtClean="0"/>
              <a:pPr eaLnBrk="1" hangingPunct="1"/>
              <a:t>5</a:t>
            </a:fld>
            <a:endParaRPr lang="en-US" altLang="zh-CN"/>
          </a:p>
        </p:txBody>
      </p:sp>
      <p:graphicFrame>
        <p:nvGraphicFramePr>
          <p:cNvPr id="8197" name="Object 2"/>
          <p:cNvGraphicFramePr>
            <a:graphicFrameLocks noChangeAspect="1"/>
          </p:cNvGraphicFramePr>
          <p:nvPr>
            <p:extLst>
              <p:ext uri="{D42A27DB-BD31-4B8C-83A1-F6EECF244321}">
                <p14:modId xmlns:p14="http://schemas.microsoft.com/office/powerpoint/2010/main" val="1003656622"/>
              </p:ext>
            </p:extLst>
          </p:nvPr>
        </p:nvGraphicFramePr>
        <p:xfrm>
          <a:off x="2736056" y="2060848"/>
          <a:ext cx="3671887" cy="3856038"/>
        </p:xfrm>
        <a:graphic>
          <a:graphicData uri="http://schemas.openxmlformats.org/presentationml/2006/ole">
            <mc:AlternateContent xmlns:mc="http://schemas.openxmlformats.org/markup-compatibility/2006">
              <mc:Choice xmlns:v="urn:schemas-microsoft-com:vml" Requires="v">
                <p:oleObj spid="_x0000_s8272" name="Visio" r:id="rId4" imgW="1735766" imgH="1822747" progId="Visio.Drawing.11">
                  <p:embed/>
                </p:oleObj>
              </mc:Choice>
              <mc:Fallback>
                <p:oleObj name="Visio" r:id="rId4" imgW="1735766" imgH="1822747" progId="Visio.Drawing.11">
                  <p:embed/>
                  <p:pic>
                    <p:nvPicPr>
                      <p:cNvPr id="0" name="Object 2"/>
                      <p:cNvPicPr>
                        <a:picLocks noChangeAspect="1" noChangeArrowheads="1"/>
                      </p:cNvPicPr>
                      <p:nvPr/>
                    </p:nvPicPr>
                    <p:blipFill>
                      <a:blip r:embed="rId5"/>
                      <a:srcRect/>
                      <a:stretch>
                        <a:fillRect/>
                      </a:stretch>
                    </p:blipFill>
                    <p:spPr bwMode="auto">
                      <a:xfrm>
                        <a:off x="2736056" y="2060848"/>
                        <a:ext cx="3671887" cy="3856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dirty="0"/>
              <a:t>服务系统的全新挑战 </a:t>
            </a:r>
            <a:r>
              <a:rPr lang="en-US" altLang="zh-CN" dirty="0"/>
              <a:t>(Recall)</a:t>
            </a:r>
            <a:endParaRPr lang="zh-CN" altLang="en-US" dirty="0"/>
          </a:p>
        </p:txBody>
      </p:sp>
      <p:sp>
        <p:nvSpPr>
          <p:cNvPr id="7171" name="内容占位符 2"/>
          <p:cNvSpPr>
            <a:spLocks noGrp="1"/>
          </p:cNvSpPr>
          <p:nvPr>
            <p:ph idx="1"/>
          </p:nvPr>
        </p:nvSpPr>
        <p:spPr/>
        <p:txBody>
          <a:bodyPr>
            <a:normAutofit lnSpcReduction="10000"/>
          </a:bodyPr>
          <a:lstStyle/>
          <a:p>
            <a:r>
              <a:rPr lang="en-US" altLang="zh-CN" dirty="0"/>
              <a:t>The complexity of services system</a:t>
            </a:r>
          </a:p>
          <a:p>
            <a:r>
              <a:rPr lang="en-US" altLang="zh-CN" dirty="0"/>
              <a:t>The flexibility of services system</a:t>
            </a:r>
          </a:p>
          <a:p>
            <a:r>
              <a:rPr lang="en-US" altLang="zh-CN" dirty="0"/>
              <a:t>Specialization and outsourcing model</a:t>
            </a:r>
          </a:p>
          <a:p>
            <a:r>
              <a:rPr lang="en-US" altLang="zh-CN" dirty="0"/>
              <a:t>The evolvement of computing environment</a:t>
            </a:r>
          </a:p>
          <a:p>
            <a:r>
              <a:rPr lang="en-US" altLang="zh-CN" dirty="0"/>
              <a:t>The gap between IT specialists and business specialists</a:t>
            </a:r>
          </a:p>
          <a:p>
            <a:r>
              <a:rPr lang="en-US" altLang="zh-CN" dirty="0"/>
              <a:t>New values added and innovative functions</a:t>
            </a:r>
          </a:p>
          <a:p>
            <a:r>
              <a:rPr lang="en-US" altLang="zh-CN" dirty="0"/>
              <a:t>Series of services systems with slightly difference (product families, product line)</a:t>
            </a:r>
          </a:p>
        </p:txBody>
      </p:sp>
      <p:sp>
        <p:nvSpPr>
          <p:cNvPr id="717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14756A5-8162-40E6-98D6-DFC245C914F4}" type="slidenum">
              <a:rPr lang="en-US" altLang="zh-CN" smtClean="0"/>
              <a:pPr eaLnBrk="1" hangingPunct="1"/>
              <a:t>6</a:t>
            </a:fld>
            <a:endParaRPr lang="en-US" altLang="zh-CN"/>
          </a:p>
        </p:txBody>
      </p:sp>
    </p:spTree>
    <p:extLst>
      <p:ext uri="{BB962C8B-B14F-4D97-AF65-F5344CB8AC3E}">
        <p14:creationId xmlns:p14="http://schemas.microsoft.com/office/powerpoint/2010/main" val="2569779417"/>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Life of A Software Engineer</a:t>
            </a:r>
            <a:endParaRPr lang="zh-CN" altLang="en-US"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3390" y="1052513"/>
            <a:ext cx="7037219" cy="5348287"/>
          </a:xfrm>
        </p:spPr>
      </p:pic>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7</a:t>
            </a:fld>
            <a:endParaRPr lang="en-US" altLang="zh-CN" dirty="0"/>
          </a:p>
        </p:txBody>
      </p:sp>
    </p:spTree>
    <p:extLst>
      <p:ext uri="{BB962C8B-B14F-4D97-AF65-F5344CB8AC3E}">
        <p14:creationId xmlns:p14="http://schemas.microsoft.com/office/powerpoint/2010/main" val="2353202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基于构件的泛型</a:t>
            </a:r>
          </a:p>
        </p:txBody>
      </p:sp>
      <p:sp>
        <p:nvSpPr>
          <p:cNvPr id="9219" name="内容占位符 2"/>
          <p:cNvSpPr>
            <a:spLocks noGrp="1"/>
          </p:cNvSpPr>
          <p:nvPr>
            <p:ph idx="1"/>
          </p:nvPr>
        </p:nvSpPr>
        <p:spPr>
          <a:xfrm>
            <a:off x="457200" y="1052737"/>
            <a:ext cx="8229600" cy="3312367"/>
          </a:xfrm>
        </p:spPr>
        <p:txBody>
          <a:bodyPr/>
          <a:lstStyle/>
          <a:p>
            <a:r>
              <a:rPr lang="zh-CN" altLang="en-US" dirty="0"/>
              <a:t>构件：模块化的、可部署、可替换的软件系统组成部分，它封装了内部的具体实现并对外提供统一接口</a:t>
            </a:r>
            <a:endParaRPr lang="en-US" altLang="zh-CN" dirty="0"/>
          </a:p>
          <a:p>
            <a:r>
              <a:rPr lang="zh-CN" altLang="en-US" dirty="0"/>
              <a:t>以构件的创建、构件的管理以及复用已有构件组装形成应用为基本活动</a:t>
            </a:r>
          </a:p>
        </p:txBody>
      </p:sp>
      <p:sp>
        <p:nvSpPr>
          <p:cNvPr id="922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2FD9F25-C11A-40C4-86E3-E0F93B579016}" type="slidenum">
              <a:rPr lang="en-US" altLang="zh-CN" smtClean="0"/>
              <a:pPr eaLnBrk="1" hangingPunct="1"/>
              <a:t>8</a:t>
            </a:fld>
            <a:endParaRPr lang="en-US" altLang="zh-CN"/>
          </a:p>
        </p:txBody>
      </p:sp>
      <p:graphicFrame>
        <p:nvGraphicFramePr>
          <p:cNvPr id="9221" name="Object 2"/>
          <p:cNvGraphicFramePr>
            <a:graphicFrameLocks noChangeAspect="1"/>
          </p:cNvGraphicFramePr>
          <p:nvPr>
            <p:extLst>
              <p:ext uri="{D42A27DB-BD31-4B8C-83A1-F6EECF244321}">
                <p14:modId xmlns:p14="http://schemas.microsoft.com/office/powerpoint/2010/main" val="778143047"/>
              </p:ext>
            </p:extLst>
          </p:nvPr>
        </p:nvGraphicFramePr>
        <p:xfrm>
          <a:off x="755576" y="4221088"/>
          <a:ext cx="7666038" cy="1528762"/>
        </p:xfrm>
        <a:graphic>
          <a:graphicData uri="http://schemas.openxmlformats.org/presentationml/2006/ole">
            <mc:AlternateContent xmlns:mc="http://schemas.openxmlformats.org/markup-compatibility/2006">
              <mc:Choice xmlns:v="urn:schemas-microsoft-com:vml" Requires="v">
                <p:oleObj spid="_x0000_s9296" name="Visio" r:id="rId4" imgW="4721275" imgH="940773" progId="Visio.Drawing.11">
                  <p:embed/>
                </p:oleObj>
              </mc:Choice>
              <mc:Fallback>
                <p:oleObj name="Visio" r:id="rId4" imgW="4721275" imgH="940773"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6" y="4221088"/>
                        <a:ext cx="7666038" cy="152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构件 </a:t>
            </a:r>
            <a:r>
              <a:rPr lang="en-US" altLang="zh-CN" dirty="0"/>
              <a:t>vs </a:t>
            </a:r>
            <a:r>
              <a:rPr lang="zh-CN" altLang="en-US" dirty="0"/>
              <a:t>应用组装 （</a:t>
            </a:r>
            <a:r>
              <a:rPr lang="en-US" altLang="zh-CN" dirty="0"/>
              <a:t>1/2)</a:t>
            </a:r>
            <a:endParaRPr lang="zh-CN" altLang="en-US"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9</a:t>
            </a:fld>
            <a:endParaRPr lang="en-US" altLang="zh-CN"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484784"/>
            <a:ext cx="3019425" cy="3448050"/>
          </a:xfrm>
          <a:prstGeom prst="rect">
            <a:avLst/>
          </a:prstGeom>
        </p:spPr>
      </p:pic>
      <p:pic>
        <p:nvPicPr>
          <p:cNvPr id="6" name="图片 5"/>
          <p:cNvPicPr>
            <a:picLocks noChangeAspect="1"/>
          </p:cNvPicPr>
          <p:nvPr/>
        </p:nvPicPr>
        <p:blipFill>
          <a:blip r:embed="rId3"/>
          <a:stretch>
            <a:fillRect/>
          </a:stretch>
        </p:blipFill>
        <p:spPr>
          <a:xfrm>
            <a:off x="2507331" y="2924944"/>
            <a:ext cx="6646332" cy="3222674"/>
          </a:xfrm>
          <a:prstGeom prst="rect">
            <a:avLst/>
          </a:prstGeom>
        </p:spPr>
      </p:pic>
    </p:spTree>
    <p:extLst>
      <p:ext uri="{BB962C8B-B14F-4D97-AF65-F5344CB8AC3E}">
        <p14:creationId xmlns:p14="http://schemas.microsoft.com/office/powerpoint/2010/main" val="2525424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构件 </a:t>
            </a:r>
            <a:r>
              <a:rPr lang="en-US" altLang="zh-CN" dirty="0"/>
              <a:t>vs. </a:t>
            </a:r>
            <a:r>
              <a:rPr lang="zh-CN" altLang="en-US" dirty="0"/>
              <a:t>应用组装 （</a:t>
            </a:r>
            <a:r>
              <a:rPr lang="en-US" altLang="zh-CN" dirty="0"/>
              <a:t>2/2)</a:t>
            </a:r>
            <a:endParaRPr lang="zh-CN" altLang="en-US" dirty="0"/>
          </a:p>
        </p:txBody>
      </p:sp>
      <p:pic>
        <p:nvPicPr>
          <p:cNvPr id="5" name="内容占位符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1520" y="1608463"/>
            <a:ext cx="3639496" cy="4852662"/>
          </a:xfrm>
        </p:spPr>
      </p:pic>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10</a:t>
            </a:fld>
            <a:endParaRPr lang="en-US" altLang="zh-CN"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56" y="1196752"/>
            <a:ext cx="5553075" cy="4114800"/>
          </a:xfrm>
          <a:prstGeom prst="rect">
            <a:avLst/>
          </a:prstGeom>
        </p:spPr>
      </p:pic>
    </p:spTree>
    <p:extLst>
      <p:ext uri="{BB962C8B-B14F-4D97-AF65-F5344CB8AC3E}">
        <p14:creationId xmlns:p14="http://schemas.microsoft.com/office/powerpoint/2010/main" val="51599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a:t>基于构件 </a:t>
            </a:r>
            <a:r>
              <a:rPr lang="en-US" altLang="zh-CN"/>
              <a:t>vs. </a:t>
            </a:r>
            <a:r>
              <a:rPr lang="zh-CN" altLang="en-US"/>
              <a:t>面向对象</a:t>
            </a:r>
          </a:p>
        </p:txBody>
      </p:sp>
      <p:graphicFrame>
        <p:nvGraphicFramePr>
          <p:cNvPr id="7" name="内容占位符 6"/>
          <p:cNvGraphicFramePr>
            <a:graphicFrameLocks noGrp="1"/>
          </p:cNvGraphicFramePr>
          <p:nvPr>
            <p:ph idx="1"/>
            <p:extLst>
              <p:ext uri="{D42A27DB-BD31-4B8C-83A1-F6EECF244321}">
                <p14:modId xmlns:p14="http://schemas.microsoft.com/office/powerpoint/2010/main" val="2929622578"/>
              </p:ext>
            </p:extLst>
          </p:nvPr>
        </p:nvGraphicFramePr>
        <p:xfrm>
          <a:off x="611560" y="1196752"/>
          <a:ext cx="7637348" cy="2570480"/>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20000"/>
                    </a:ext>
                  </a:extLst>
                </a:gridCol>
                <a:gridCol w="3096344">
                  <a:extLst>
                    <a:ext uri="{9D8B030D-6E8A-4147-A177-3AD203B41FA5}">
                      <a16:colId xmlns:a16="http://schemas.microsoft.com/office/drawing/2014/main" val="20001"/>
                    </a:ext>
                  </a:extLst>
                </a:gridCol>
                <a:gridCol w="3028836">
                  <a:extLst>
                    <a:ext uri="{9D8B030D-6E8A-4147-A177-3AD203B41FA5}">
                      <a16:colId xmlns:a16="http://schemas.microsoft.com/office/drawing/2014/main" val="20002"/>
                    </a:ext>
                  </a:extLst>
                </a:gridCol>
              </a:tblGrid>
              <a:tr h="370840">
                <a:tc>
                  <a:txBody>
                    <a:bodyPr/>
                    <a:lstStyle/>
                    <a:p>
                      <a:pPr algn="ctr"/>
                      <a:endParaRPr lang="zh-CN" altLang="en-US" sz="1800" dirty="0"/>
                    </a:p>
                  </a:txBody>
                  <a:tcPr marL="91445" marR="91445"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t>基于构件</a:t>
                      </a:r>
                    </a:p>
                  </a:txBody>
                  <a:tcPr marL="91445" marR="91445"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dirty="0"/>
                        <a:t>面向对象</a:t>
                      </a:r>
                    </a:p>
                  </a:txBody>
                  <a:tcPr marL="91445" marR="91445" anchor="ctr"/>
                </a:tc>
                <a:extLst>
                  <a:ext uri="{0D108BD9-81ED-4DB2-BD59-A6C34878D82A}">
                    <a16:rowId xmlns:a16="http://schemas.microsoft.com/office/drawing/2014/main" val="10000"/>
                  </a:ext>
                </a:extLst>
              </a:tr>
              <a:tr h="370840">
                <a:tc>
                  <a:txBody>
                    <a:bodyPr/>
                    <a:lstStyle/>
                    <a:p>
                      <a:pPr algn="ctr"/>
                      <a:r>
                        <a:rPr lang="zh-CN" altLang="en-US" sz="1800" dirty="0">
                          <a:solidFill>
                            <a:srgbClr val="00708E"/>
                          </a:solidFill>
                        </a:rPr>
                        <a:t>抽象视角</a:t>
                      </a:r>
                    </a:p>
                  </a:txBody>
                  <a:tcPr marL="91445" marR="91445" anchor="ctr"/>
                </a:tc>
                <a:tc>
                  <a:txBody>
                    <a:bodyPr/>
                    <a:lstStyle/>
                    <a:p>
                      <a:pPr algn="ctr"/>
                      <a:r>
                        <a:rPr lang="zh-CN" altLang="en-US" sz="1800" dirty="0">
                          <a:solidFill>
                            <a:srgbClr val="00708E"/>
                          </a:solidFill>
                        </a:rPr>
                        <a:t>构件是对客观世界的实体或者实体联合能提供的功能和服务的建模；</a:t>
                      </a:r>
                      <a:endParaRPr lang="en-US" altLang="zh-CN" sz="1800" dirty="0">
                        <a:solidFill>
                          <a:srgbClr val="00708E"/>
                        </a:solidFill>
                      </a:endParaRPr>
                    </a:p>
                    <a:p>
                      <a:pPr algn="ctr"/>
                      <a:r>
                        <a:rPr lang="zh-CN" altLang="en-US" sz="1800" dirty="0">
                          <a:solidFill>
                            <a:srgbClr val="00708E"/>
                          </a:solidFill>
                        </a:rPr>
                        <a:t>仅仅关注实体的功能和服务</a:t>
                      </a:r>
                    </a:p>
                  </a:txBody>
                  <a:tcPr marL="91445" marR="91445" anchor="ctr"/>
                </a:tc>
                <a:tc>
                  <a:txBody>
                    <a:bodyPr/>
                    <a:lstStyle/>
                    <a:p>
                      <a:pPr algn="ctr"/>
                      <a:r>
                        <a:rPr lang="zh-CN" altLang="en-US" sz="1800" dirty="0">
                          <a:solidFill>
                            <a:srgbClr val="00708E"/>
                          </a:solidFill>
                        </a:rPr>
                        <a:t>对象是对客观世界基本实体的抽象，强调对实体的对应及对实体的建模；</a:t>
                      </a:r>
                      <a:endParaRPr lang="en-US" altLang="zh-CN" sz="1800" dirty="0">
                        <a:solidFill>
                          <a:srgbClr val="00708E"/>
                        </a:solidFill>
                      </a:endParaRPr>
                    </a:p>
                    <a:p>
                      <a:pPr algn="ctr"/>
                      <a:r>
                        <a:rPr lang="zh-CN" altLang="en-US" sz="1800" dirty="0">
                          <a:solidFill>
                            <a:srgbClr val="00708E"/>
                          </a:solidFill>
                        </a:rPr>
                        <a:t>涉及实体的静态属性特征</a:t>
                      </a:r>
                    </a:p>
                  </a:txBody>
                  <a:tcPr marL="91445" marR="91445" anchor="ctr"/>
                </a:tc>
                <a:extLst>
                  <a:ext uri="{0D108BD9-81ED-4DB2-BD59-A6C34878D82A}">
                    <a16:rowId xmlns:a16="http://schemas.microsoft.com/office/drawing/2014/main" val="10001"/>
                  </a:ext>
                </a:extLst>
              </a:tr>
              <a:tr h="370840">
                <a:tc>
                  <a:txBody>
                    <a:bodyPr/>
                    <a:lstStyle/>
                    <a:p>
                      <a:pPr algn="ctr"/>
                      <a:r>
                        <a:rPr lang="zh-CN" altLang="en-US" sz="1800" dirty="0">
                          <a:solidFill>
                            <a:srgbClr val="00708E"/>
                          </a:solidFill>
                        </a:rPr>
                        <a:t>可复用程度和复用机制</a:t>
                      </a:r>
                    </a:p>
                  </a:txBody>
                  <a:tcPr marL="91445" marR="91445" anchor="ctr"/>
                </a:tc>
                <a:tc>
                  <a:txBody>
                    <a:bodyPr/>
                    <a:lstStyle/>
                    <a:p>
                      <a:pPr algn="ctr"/>
                      <a:r>
                        <a:rPr lang="zh-CN" altLang="en-US" sz="1800" dirty="0">
                          <a:solidFill>
                            <a:srgbClr val="00708E"/>
                          </a:solidFill>
                        </a:rPr>
                        <a:t>以组合的方式实现复用</a:t>
                      </a:r>
                    </a:p>
                  </a:txBody>
                  <a:tcPr marL="91445" marR="91445" anchor="ctr"/>
                </a:tc>
                <a:tc>
                  <a:txBody>
                    <a:bodyPr/>
                    <a:lstStyle/>
                    <a:p>
                      <a:pPr algn="ctr"/>
                      <a:r>
                        <a:rPr lang="zh-CN" altLang="en-US" sz="1800" dirty="0">
                          <a:solidFill>
                            <a:srgbClr val="00708E"/>
                          </a:solidFill>
                        </a:rPr>
                        <a:t>以继承的方式实现复用</a:t>
                      </a:r>
                    </a:p>
                  </a:txBody>
                  <a:tcPr marL="91445" marR="91445" anchor="ctr"/>
                </a:tc>
                <a:extLst>
                  <a:ext uri="{0D108BD9-81ED-4DB2-BD59-A6C34878D82A}">
                    <a16:rowId xmlns:a16="http://schemas.microsoft.com/office/drawing/2014/main" val="10002"/>
                  </a:ext>
                </a:extLst>
              </a:tr>
              <a:tr h="370840">
                <a:tc>
                  <a:txBody>
                    <a:bodyPr/>
                    <a:lstStyle/>
                    <a:p>
                      <a:pPr algn="ctr"/>
                      <a:r>
                        <a:rPr lang="zh-CN" altLang="en-US" sz="1800" dirty="0">
                          <a:solidFill>
                            <a:srgbClr val="00708E"/>
                          </a:solidFill>
                        </a:rPr>
                        <a:t>粒度不同</a:t>
                      </a:r>
                    </a:p>
                  </a:txBody>
                  <a:tcPr marL="91445" marR="91445" anchor="ctr"/>
                </a:tc>
                <a:tc>
                  <a:txBody>
                    <a:bodyPr/>
                    <a:lstStyle/>
                    <a:p>
                      <a:pPr algn="ctr"/>
                      <a:r>
                        <a:rPr lang="zh-CN" altLang="en-US" sz="1800" dirty="0">
                          <a:solidFill>
                            <a:srgbClr val="00708E"/>
                          </a:solidFill>
                        </a:rPr>
                        <a:t>大</a:t>
                      </a:r>
                    </a:p>
                  </a:txBody>
                  <a:tcPr marL="91445" marR="91445" anchor="ctr"/>
                </a:tc>
                <a:tc>
                  <a:txBody>
                    <a:bodyPr/>
                    <a:lstStyle/>
                    <a:p>
                      <a:pPr algn="ctr"/>
                      <a:r>
                        <a:rPr lang="zh-CN" altLang="en-US" sz="1800" dirty="0">
                          <a:solidFill>
                            <a:srgbClr val="00708E"/>
                          </a:solidFill>
                        </a:rPr>
                        <a:t>小</a:t>
                      </a:r>
                    </a:p>
                  </a:txBody>
                  <a:tcPr marL="91445" marR="91445" anchor="ctr"/>
                </a:tc>
                <a:extLst>
                  <a:ext uri="{0D108BD9-81ED-4DB2-BD59-A6C34878D82A}">
                    <a16:rowId xmlns:a16="http://schemas.microsoft.com/office/drawing/2014/main" val="10003"/>
                  </a:ext>
                </a:extLst>
              </a:tr>
            </a:tbl>
          </a:graphicData>
        </a:graphic>
      </p:graphicFrame>
      <p:sp>
        <p:nvSpPr>
          <p:cNvPr id="10265"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D82B3F7-39C0-4D9F-AB88-0A1ED524DE05}" type="slidenum">
              <a:rPr lang="en-US" altLang="zh-CN" smtClean="0"/>
              <a:pPr eaLnBrk="1" hangingPunct="1"/>
              <a:t>11</a:t>
            </a:fld>
            <a:endParaRPr lang="en-US" altLang="zh-CN"/>
          </a:p>
        </p:txBody>
      </p:sp>
      <p:graphicFrame>
        <p:nvGraphicFramePr>
          <p:cNvPr id="10266" name="Object 2"/>
          <p:cNvGraphicFramePr>
            <a:graphicFrameLocks noChangeAspect="1"/>
          </p:cNvGraphicFramePr>
          <p:nvPr>
            <p:extLst>
              <p:ext uri="{D42A27DB-BD31-4B8C-83A1-F6EECF244321}">
                <p14:modId xmlns:p14="http://schemas.microsoft.com/office/powerpoint/2010/main" val="926684530"/>
              </p:ext>
            </p:extLst>
          </p:nvPr>
        </p:nvGraphicFramePr>
        <p:xfrm>
          <a:off x="1603375" y="3937000"/>
          <a:ext cx="6205538" cy="2878138"/>
        </p:xfrm>
        <a:graphic>
          <a:graphicData uri="http://schemas.openxmlformats.org/presentationml/2006/ole">
            <mc:AlternateContent xmlns:mc="http://schemas.openxmlformats.org/markup-compatibility/2006">
              <mc:Choice xmlns:v="urn:schemas-microsoft-com:vml" Requires="v">
                <p:oleObj spid="_x0000_s10341" name="Visio" r:id="rId4" imgW="5584680" imgH="2590620" progId="Visio.Drawing.11">
                  <p:embed/>
                </p:oleObj>
              </mc:Choice>
              <mc:Fallback>
                <p:oleObj name="Visio" r:id="rId4" imgW="5584680" imgH="2590620" progId="Visio.Drawing.11">
                  <p:embed/>
                  <p:pic>
                    <p:nvPicPr>
                      <p:cNvPr id="0" name="Object 2"/>
                      <p:cNvPicPr>
                        <a:picLocks noChangeAspect="1" noChangeArrowheads="1"/>
                      </p:cNvPicPr>
                      <p:nvPr/>
                    </p:nvPicPr>
                    <p:blipFill>
                      <a:blip r:embed="rId5"/>
                      <a:srcRect/>
                      <a:stretch>
                        <a:fillRect/>
                      </a:stretch>
                    </p:blipFill>
                    <p:spPr bwMode="auto">
                      <a:xfrm>
                        <a:off x="1603375" y="3937000"/>
                        <a:ext cx="6205538" cy="287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a:t>面向服务的泛型</a:t>
            </a:r>
          </a:p>
        </p:txBody>
      </p:sp>
      <p:sp>
        <p:nvSpPr>
          <p:cNvPr id="11267" name="内容占位符 2"/>
          <p:cNvSpPr>
            <a:spLocks noGrp="1"/>
          </p:cNvSpPr>
          <p:nvPr>
            <p:ph idx="1"/>
          </p:nvPr>
        </p:nvSpPr>
        <p:spPr>
          <a:xfrm>
            <a:off x="457200" y="1052737"/>
            <a:ext cx="8229600" cy="3348913"/>
          </a:xfrm>
        </p:spPr>
        <p:txBody>
          <a:bodyPr/>
          <a:lstStyle/>
          <a:p>
            <a:r>
              <a:rPr lang="zh-CN" altLang="en-US" dirty="0"/>
              <a:t>服务：是自治、开放、自描述、与实现无关的网络构件</a:t>
            </a:r>
            <a:endParaRPr lang="en-US" altLang="zh-CN" dirty="0"/>
          </a:p>
          <a:p>
            <a:r>
              <a:rPr lang="zh-CN" altLang="en-US" dirty="0"/>
              <a:t>以服务的创建、服务的管理以及复用已有服务组装形成应用为基本活动</a:t>
            </a:r>
            <a:endParaRPr lang="en-US" altLang="zh-CN" dirty="0"/>
          </a:p>
          <a:p>
            <a:r>
              <a:rPr lang="zh-CN" altLang="en-US"/>
              <a:t>通过</a:t>
            </a:r>
            <a:r>
              <a:rPr lang="zh-CN" altLang="en-US" dirty="0"/>
              <a:t>网络，使用标准方式互联</a:t>
            </a:r>
            <a:endParaRPr lang="en-US" altLang="zh-CN" dirty="0"/>
          </a:p>
        </p:txBody>
      </p:sp>
      <p:sp>
        <p:nvSpPr>
          <p:cNvPr id="1126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D44764D-168C-40D9-9489-0421918F7721}" type="slidenum">
              <a:rPr lang="en-US" altLang="zh-CN" smtClean="0"/>
              <a:pPr eaLnBrk="1" hangingPunct="1"/>
              <a:t>12</a:t>
            </a:fld>
            <a:endParaRPr lang="en-US" altLang="zh-CN"/>
          </a:p>
        </p:txBody>
      </p:sp>
      <p:graphicFrame>
        <p:nvGraphicFramePr>
          <p:cNvPr id="11269" name="Object 3"/>
          <p:cNvGraphicFramePr>
            <a:graphicFrameLocks noChangeAspect="1"/>
          </p:cNvGraphicFramePr>
          <p:nvPr>
            <p:extLst>
              <p:ext uri="{D42A27DB-BD31-4B8C-83A1-F6EECF244321}">
                <p14:modId xmlns:p14="http://schemas.microsoft.com/office/powerpoint/2010/main" val="698203655"/>
              </p:ext>
            </p:extLst>
          </p:nvPr>
        </p:nvGraphicFramePr>
        <p:xfrm>
          <a:off x="611560" y="4401650"/>
          <a:ext cx="8126412" cy="1609725"/>
        </p:xfrm>
        <a:graphic>
          <a:graphicData uri="http://schemas.openxmlformats.org/presentationml/2006/ole">
            <mc:AlternateContent xmlns:mc="http://schemas.openxmlformats.org/markup-compatibility/2006">
              <mc:Choice xmlns:v="urn:schemas-microsoft-com:vml" Requires="v">
                <p:oleObj spid="_x0000_s11345" name="Visio" r:id="rId4" imgW="4975200" imgH="985304" progId="Visio.Drawing.11">
                  <p:embed/>
                </p:oleObj>
              </mc:Choice>
              <mc:Fallback>
                <p:oleObj name="Visio" r:id="rId4" imgW="4975200" imgH="985304" progId="Visio.Drawing.11">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4401650"/>
                        <a:ext cx="8126412"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a:t>While things are Service-Oriented…</a:t>
            </a:r>
            <a:endParaRPr lang="zh-CN" altLang="en-US"/>
          </a:p>
        </p:txBody>
      </p:sp>
      <p:sp>
        <p:nvSpPr>
          <p:cNvPr id="28675" name="内容占位符 2"/>
          <p:cNvSpPr>
            <a:spLocks noGrp="1"/>
          </p:cNvSpPr>
          <p:nvPr>
            <p:ph idx="1"/>
          </p:nvPr>
        </p:nvSpPr>
        <p:spPr>
          <a:xfrm>
            <a:off x="457200" y="1052737"/>
            <a:ext cx="8229600" cy="3412156"/>
          </a:xfrm>
        </p:spPr>
        <p:txBody>
          <a:bodyPr numCol="2"/>
          <a:lstStyle/>
          <a:p>
            <a:r>
              <a:rPr lang="en-US" altLang="zh-CN" sz="2800" dirty="0"/>
              <a:t>Services (horizontal) are</a:t>
            </a:r>
          </a:p>
          <a:p>
            <a:pPr lvl="1"/>
            <a:r>
              <a:rPr lang="en-US" altLang="zh-CN" sz="2400" dirty="0"/>
              <a:t>Function-related</a:t>
            </a:r>
          </a:p>
          <a:p>
            <a:pPr lvl="1"/>
            <a:r>
              <a:rPr lang="en-US" altLang="zh-CN" sz="2400" dirty="0"/>
              <a:t>Simple and relative stable</a:t>
            </a:r>
          </a:p>
          <a:p>
            <a:pPr lvl="1"/>
            <a:r>
              <a:rPr lang="en-US" altLang="zh-CN" sz="2400" dirty="0"/>
              <a:t>Developed by IT specialist</a:t>
            </a:r>
          </a:p>
          <a:p>
            <a:pPr marL="363538" lvl="1" indent="0">
              <a:buNone/>
            </a:pPr>
            <a:endParaRPr lang="en-US" altLang="zh-CN" dirty="0"/>
          </a:p>
          <a:p>
            <a:r>
              <a:rPr lang="en-US" altLang="zh-CN" sz="2800" dirty="0"/>
              <a:t>Processes (vertical) are</a:t>
            </a:r>
          </a:p>
          <a:p>
            <a:pPr lvl="1"/>
            <a:r>
              <a:rPr lang="en-US" altLang="zh-CN" sz="2400" dirty="0"/>
              <a:t>Application-related</a:t>
            </a:r>
          </a:p>
          <a:p>
            <a:pPr lvl="1"/>
            <a:r>
              <a:rPr lang="en-US" altLang="zh-CN" sz="2400" dirty="0"/>
              <a:t>Complex and variable</a:t>
            </a:r>
          </a:p>
          <a:p>
            <a:pPr lvl="1"/>
            <a:r>
              <a:rPr lang="en-US" altLang="zh-CN" sz="2400" dirty="0"/>
              <a:t>Developed by business specialists</a:t>
            </a:r>
          </a:p>
          <a:p>
            <a:pPr lvl="1"/>
            <a:r>
              <a:rPr lang="en-US" altLang="zh-CN" sz="2400" dirty="0"/>
              <a:t>Can be wrapped as services</a:t>
            </a:r>
          </a:p>
        </p:txBody>
      </p:sp>
      <p:sp>
        <p:nvSpPr>
          <p:cNvPr id="2867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D87545C-EACC-4F46-A199-E348B7DD6389}" type="slidenum">
              <a:rPr lang="en-US" altLang="zh-CN" smtClean="0"/>
              <a:pPr eaLnBrk="1" hangingPunct="1"/>
              <a:t>13</a:t>
            </a:fld>
            <a:endParaRPr lang="en-US" altLang="zh-CN"/>
          </a:p>
        </p:txBody>
      </p:sp>
      <p:graphicFrame>
        <p:nvGraphicFramePr>
          <p:cNvPr id="28677" name="Object 4"/>
          <p:cNvGraphicFramePr>
            <a:graphicFrameLocks noChangeAspect="1"/>
          </p:cNvGraphicFramePr>
          <p:nvPr>
            <p:extLst>
              <p:ext uri="{D42A27DB-BD31-4B8C-83A1-F6EECF244321}">
                <p14:modId xmlns:p14="http://schemas.microsoft.com/office/powerpoint/2010/main" val="780205635"/>
              </p:ext>
            </p:extLst>
          </p:nvPr>
        </p:nvGraphicFramePr>
        <p:xfrm>
          <a:off x="567349" y="4464893"/>
          <a:ext cx="7747000" cy="2276475"/>
        </p:xfrm>
        <a:graphic>
          <a:graphicData uri="http://schemas.openxmlformats.org/presentationml/2006/ole">
            <mc:AlternateContent xmlns:mc="http://schemas.openxmlformats.org/markup-compatibility/2006">
              <mc:Choice xmlns:v="urn:schemas-microsoft-com:vml" Requires="v">
                <p:oleObj spid="_x0000_s79937" name="Visio" r:id="rId4" imgW="5353170" imgH="1573287" progId="Visio.Drawing.11">
                  <p:embed/>
                </p:oleObj>
              </mc:Choice>
              <mc:Fallback>
                <p:oleObj name="Visio" r:id="rId4" imgW="5353170" imgH="1573287"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349" y="4464893"/>
                        <a:ext cx="7747000" cy="2276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28864080"/>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en-US" altLang="zh-CN"/>
              <a:t>While things are Service-Oriented…</a:t>
            </a:r>
            <a:endParaRPr lang="zh-CN" altLang="en-US"/>
          </a:p>
        </p:txBody>
      </p:sp>
      <p:sp>
        <p:nvSpPr>
          <p:cNvPr id="11267" name="灯片编号占位符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130EECD7-7646-4FB3-A2BD-9A169C672DB4}" type="slidenum">
              <a:rPr lang="en-US" altLang="zh-CN" sz="1000" smtClean="0"/>
              <a:pPr>
                <a:spcBef>
                  <a:spcPct val="0"/>
                </a:spcBef>
                <a:buClrTx/>
                <a:buFontTx/>
                <a:buNone/>
              </a:pPr>
              <a:t>14</a:t>
            </a:fld>
            <a:endParaRPr lang="en-US" altLang="zh-CN" sz="1000"/>
          </a:p>
        </p:txBody>
      </p:sp>
      <p:pic>
        <p:nvPicPr>
          <p:cNvPr id="1126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17675"/>
            <a:ext cx="4267200" cy="423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8" y="1570038"/>
            <a:ext cx="4656137"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57604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Service inventory</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a:t>A service inventory is an independently standardized and governed collection of complementary services within a boundary that represents an enterprise or a meaningful segment of an enterprise</a:t>
            </a:r>
          </a:p>
          <a:p>
            <a:r>
              <a:rPr lang="en-US" altLang="zh-CN" dirty="0"/>
              <a:t>The inventory can be structured into layers according to the service models used</a:t>
            </a:r>
          </a:p>
          <a:p>
            <a:pPr lvl="1"/>
            <a:r>
              <a:rPr lang="en-US" altLang="zh-CN" dirty="0"/>
              <a:t>application service layer</a:t>
            </a:r>
          </a:p>
          <a:p>
            <a:pPr lvl="1"/>
            <a:r>
              <a:rPr lang="en-US" altLang="zh-CN" dirty="0"/>
              <a:t>business service layer (task-centric or entity-centric)</a:t>
            </a:r>
          </a:p>
          <a:p>
            <a:pPr lvl="1"/>
            <a:r>
              <a:rPr lang="en-US" altLang="zh-CN" dirty="0"/>
              <a:t>orchestration service layer</a:t>
            </a:r>
          </a:p>
          <a:p>
            <a:pPr marL="363538" lvl="1" indent="-363538">
              <a:buFont typeface="Wingdings" pitchFamily="2" charset="2"/>
              <a:buChar char="l"/>
            </a:pPr>
            <a:r>
              <a:rPr lang="en-US" altLang="zh-CN" sz="3200" dirty="0">
                <a:latin typeface="+mn-lt"/>
                <a:cs typeface="+mn-cs"/>
              </a:rPr>
              <a:t>Before built, the service inventory blueprint is given</a:t>
            </a:r>
          </a:p>
        </p:txBody>
      </p:sp>
      <p:sp>
        <p:nvSpPr>
          <p:cNvPr id="4" name="灯片编号占位符 3"/>
          <p:cNvSpPr>
            <a:spLocks noGrp="1"/>
          </p:cNvSpPr>
          <p:nvPr>
            <p:ph type="sldNum" sz="quarter" idx="11"/>
          </p:nvPr>
        </p:nvSpPr>
        <p:spPr/>
        <p:txBody>
          <a:bodyPr/>
          <a:lstStyle/>
          <a:p>
            <a:pPr>
              <a:defRPr/>
            </a:pPr>
            <a:fld id="{759762E9-AABD-478B-B116-8B8B54DC7F1E}" type="slidenum">
              <a:rPr lang="en-US" altLang="zh-CN" smtClean="0"/>
              <a:pPr>
                <a:defRPr/>
              </a:pPr>
              <a:t>15</a:t>
            </a:fld>
            <a:endParaRPr lang="en-US" altLang="zh-CN" dirty="0"/>
          </a:p>
        </p:txBody>
      </p:sp>
    </p:spTree>
    <p:extLst>
      <p:ext uri="{BB962C8B-B14F-4D97-AF65-F5344CB8AC3E}">
        <p14:creationId xmlns:p14="http://schemas.microsoft.com/office/powerpoint/2010/main" val="35989557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en-US" altLang="zh-CN"/>
              <a:t>Services models</a:t>
            </a:r>
            <a:endParaRPr lang="zh-CN" altLang="en-US"/>
          </a:p>
        </p:txBody>
      </p:sp>
      <p:pic>
        <p:nvPicPr>
          <p:cNvPr id="13315" name="内容占位符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646113" y="1465263"/>
            <a:ext cx="8066087" cy="2611437"/>
          </a:xfrm>
        </p:spPr>
      </p:pic>
      <p:sp>
        <p:nvSpPr>
          <p:cNvPr id="13316" name="灯片编号占位符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2F13422-08A1-46C7-92CB-3A7E4607F5FE}" type="slidenum">
              <a:rPr lang="en-US" altLang="zh-CN" sz="1000" smtClean="0"/>
              <a:pPr>
                <a:spcBef>
                  <a:spcPct val="0"/>
                </a:spcBef>
                <a:buClrTx/>
                <a:buFontTx/>
                <a:buNone/>
              </a:pPr>
              <a:t>16</a:t>
            </a:fld>
            <a:endParaRPr lang="en-US" altLang="zh-CN" sz="1000"/>
          </a:p>
        </p:txBody>
      </p:sp>
      <p:pic>
        <p:nvPicPr>
          <p:cNvPr id="13317" name="图片 5"/>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7100" y="4056063"/>
            <a:ext cx="2209800" cy="280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图片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39750" y="4056063"/>
            <a:ext cx="2671763" cy="249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图片 7"/>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746750" y="4005263"/>
            <a:ext cx="2965450" cy="270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7436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en-US" altLang="zh-CN"/>
              <a:t>Service inventory and composition </a:t>
            </a:r>
            <a:endParaRPr lang="zh-CN" altLang="en-US"/>
          </a:p>
        </p:txBody>
      </p:sp>
      <p:pic>
        <p:nvPicPr>
          <p:cNvPr id="12291" name="内容占位符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2079625"/>
            <a:ext cx="8229600" cy="3571875"/>
          </a:xfrm>
        </p:spPr>
      </p:pic>
      <p:sp>
        <p:nvSpPr>
          <p:cNvPr id="12292" name="灯片编号占位符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01E013F-834A-4FF9-A0FF-9DD83CA84359}" type="slidenum">
              <a:rPr lang="en-US" altLang="zh-CN" sz="1000" smtClean="0"/>
              <a:pPr>
                <a:spcBef>
                  <a:spcPct val="0"/>
                </a:spcBef>
                <a:buClrTx/>
                <a:buFontTx/>
                <a:buNone/>
              </a:pPr>
              <a:t>17</a:t>
            </a:fld>
            <a:endParaRPr lang="en-US" altLang="zh-CN" sz="1000"/>
          </a:p>
        </p:txBody>
      </p:sp>
    </p:spTree>
    <p:extLst>
      <p:ext uri="{BB962C8B-B14F-4D97-AF65-F5344CB8AC3E}">
        <p14:creationId xmlns:p14="http://schemas.microsoft.com/office/powerpoint/2010/main" val="2754824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a:t>龙卷风模型</a:t>
            </a:r>
          </a:p>
        </p:txBody>
      </p:sp>
      <p:pic>
        <p:nvPicPr>
          <p:cNvPr id="29700"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1560" y="1988840"/>
            <a:ext cx="7409152" cy="3817045"/>
          </a:xfrm>
          <a:noFill/>
        </p:spPr>
      </p:pic>
      <p:sp>
        <p:nvSpPr>
          <p:cNvPr id="2969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F345BC1-5AC5-4DE6-BDFE-5C8771066F3A}" type="slidenum">
              <a:rPr lang="en-US" altLang="zh-CN" smtClean="0"/>
              <a:pPr eaLnBrk="1" hangingPunct="1"/>
              <a:t>18</a:t>
            </a:fld>
            <a:endParaRPr lang="en-US" altLang="zh-CN"/>
          </a:p>
        </p:txBody>
      </p:sp>
    </p:spTree>
    <p:extLst>
      <p:ext uri="{BB962C8B-B14F-4D97-AF65-F5344CB8AC3E}">
        <p14:creationId xmlns:p14="http://schemas.microsoft.com/office/powerpoint/2010/main" val="2903792958"/>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a:t>面向服务 </a:t>
            </a:r>
            <a:r>
              <a:rPr lang="en-US" altLang="zh-CN"/>
              <a:t>vs. </a:t>
            </a:r>
            <a:r>
              <a:rPr lang="zh-CN" altLang="en-US"/>
              <a:t>面向对象 （</a:t>
            </a:r>
            <a:r>
              <a:rPr lang="en-US" altLang="zh-CN"/>
              <a:t>1/3</a:t>
            </a:r>
            <a:r>
              <a:rPr lang="zh-CN" altLang="en-US"/>
              <a:t>）</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517917048"/>
              </p:ext>
            </p:extLst>
          </p:nvPr>
        </p:nvGraphicFramePr>
        <p:xfrm>
          <a:off x="468313" y="1477963"/>
          <a:ext cx="8291512" cy="4879845"/>
        </p:xfrm>
        <a:graphic>
          <a:graphicData uri="http://schemas.openxmlformats.org/drawingml/2006/table">
            <a:tbl>
              <a:tblPr firstRow="1" bandRow="1">
                <a:tableStyleId>{5C22544A-7EE6-4342-B048-85BDC9FD1C3A}</a:tableStyleId>
              </a:tblPr>
              <a:tblGrid>
                <a:gridCol w="1162507">
                  <a:extLst>
                    <a:ext uri="{9D8B030D-6E8A-4147-A177-3AD203B41FA5}">
                      <a16:colId xmlns:a16="http://schemas.microsoft.com/office/drawing/2014/main" val="20000"/>
                    </a:ext>
                  </a:extLst>
                </a:gridCol>
                <a:gridCol w="3374133">
                  <a:extLst>
                    <a:ext uri="{9D8B030D-6E8A-4147-A177-3AD203B41FA5}">
                      <a16:colId xmlns:a16="http://schemas.microsoft.com/office/drawing/2014/main" val="20001"/>
                    </a:ext>
                  </a:extLst>
                </a:gridCol>
                <a:gridCol w="3754872">
                  <a:extLst>
                    <a:ext uri="{9D8B030D-6E8A-4147-A177-3AD203B41FA5}">
                      <a16:colId xmlns:a16="http://schemas.microsoft.com/office/drawing/2014/main" val="20002"/>
                    </a:ext>
                  </a:extLst>
                </a:gridCol>
              </a:tblGrid>
              <a:tr h="569410">
                <a:tc>
                  <a:txBody>
                    <a:bodyPr/>
                    <a:lstStyle/>
                    <a:p>
                      <a:pPr algn="ctr">
                        <a:spcAft>
                          <a:spcPts val="0"/>
                        </a:spcAft>
                      </a:pPr>
                      <a:r>
                        <a:rPr lang="zh-CN" sz="2000" kern="100" dirty="0">
                          <a:latin typeface="+mn-ea"/>
                          <a:ea typeface="+mn-ea"/>
                          <a:cs typeface="Times New Roman"/>
                        </a:rPr>
                        <a:t>特点</a:t>
                      </a:r>
                    </a:p>
                  </a:txBody>
                  <a:tcPr marL="68582" marR="68582" marT="0" marB="0" anchor="ctr"/>
                </a:tc>
                <a:tc>
                  <a:txBody>
                    <a:bodyPr/>
                    <a:lstStyle/>
                    <a:p>
                      <a:pPr algn="ctr">
                        <a:spcAft>
                          <a:spcPts val="0"/>
                        </a:spcAft>
                      </a:pPr>
                      <a:r>
                        <a:rPr lang="zh-CN" sz="2000" kern="100" dirty="0">
                          <a:latin typeface="+mn-ea"/>
                          <a:ea typeface="+mn-ea"/>
                          <a:cs typeface="Times New Roman"/>
                        </a:rPr>
                        <a:t>面向对象的计算</a:t>
                      </a:r>
                    </a:p>
                  </a:txBody>
                  <a:tcPr marL="68582" marR="68582" marT="0" marB="0" anchor="ctr"/>
                </a:tc>
                <a:tc>
                  <a:txBody>
                    <a:bodyPr/>
                    <a:lstStyle/>
                    <a:p>
                      <a:pPr algn="ctr">
                        <a:spcAft>
                          <a:spcPts val="0"/>
                        </a:spcAft>
                      </a:pPr>
                      <a:r>
                        <a:rPr lang="zh-CN" sz="2000" kern="100" dirty="0">
                          <a:latin typeface="+mn-ea"/>
                          <a:ea typeface="+mn-ea"/>
                          <a:cs typeface="Times New Roman"/>
                        </a:rPr>
                        <a:t>面向服务计算</a:t>
                      </a:r>
                    </a:p>
                  </a:txBody>
                  <a:tcPr marL="68582" marR="68582" marT="0" marB="0" anchor="ctr"/>
                </a:tc>
                <a:extLst>
                  <a:ext uri="{0D108BD9-81ED-4DB2-BD59-A6C34878D82A}">
                    <a16:rowId xmlns:a16="http://schemas.microsoft.com/office/drawing/2014/main" val="10000"/>
                  </a:ext>
                </a:extLst>
              </a:tr>
              <a:tr h="1872035">
                <a:tc>
                  <a:txBody>
                    <a:bodyPr/>
                    <a:lstStyle/>
                    <a:p>
                      <a:pPr algn="ctr">
                        <a:spcAft>
                          <a:spcPts val="0"/>
                        </a:spcAft>
                      </a:pPr>
                      <a:r>
                        <a:rPr lang="zh-CN" sz="2000" kern="100" dirty="0">
                          <a:solidFill>
                            <a:srgbClr val="00708E"/>
                          </a:solidFill>
                          <a:latin typeface="+mn-ea"/>
                          <a:ea typeface="+mn-ea"/>
                          <a:cs typeface="Times New Roman"/>
                        </a:rPr>
                        <a:t>方法论</a:t>
                      </a:r>
                    </a:p>
                  </a:txBody>
                  <a:tcPr marL="68582" marR="68582" marT="0" marB="0" anchor="ctr"/>
                </a:tc>
                <a:tc>
                  <a:txBody>
                    <a:bodyPr/>
                    <a:lstStyle/>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通过定义紧耦合的类来进行应用开发</a:t>
                      </a:r>
                      <a:endParaRPr lang="en-US" altLang="zh-CN" sz="2000" kern="100" dirty="0">
                        <a:solidFill>
                          <a:srgbClr val="00708E"/>
                        </a:solidFill>
                        <a:latin typeface="+mn-ea"/>
                        <a:ea typeface="+mn-ea"/>
                        <a:cs typeface="Times New Roman"/>
                      </a:endParaRPr>
                    </a:p>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应用架构为基于继承关系的层次式架构</a:t>
                      </a:r>
                      <a:endParaRPr lang="en-US" altLang="zh-CN" sz="2000" kern="100" dirty="0">
                        <a:solidFill>
                          <a:srgbClr val="00708E"/>
                        </a:solidFill>
                        <a:latin typeface="+mn-ea"/>
                        <a:ea typeface="+mn-ea"/>
                        <a:cs typeface="Times New Roman"/>
                      </a:endParaRPr>
                    </a:p>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2000" kern="100" dirty="0">
                          <a:solidFill>
                            <a:srgbClr val="00708E"/>
                          </a:solidFill>
                          <a:latin typeface="+mn-ea"/>
                          <a:ea typeface="+mn-ea"/>
                          <a:cs typeface="Times New Roman"/>
                        </a:rPr>
                        <a:t>从构造函数</a:t>
                      </a:r>
                      <a:r>
                        <a:rPr lang="en-US" altLang="zh-CN" sz="2000" kern="100" dirty="0">
                          <a:solidFill>
                            <a:srgbClr val="00708E"/>
                          </a:solidFill>
                          <a:latin typeface="+mn-ea"/>
                          <a:ea typeface="+mn-ea"/>
                          <a:cs typeface="Times New Roman"/>
                        </a:rPr>
                        <a:t>——</a:t>
                      </a:r>
                      <a:r>
                        <a:rPr lang="zh-CN" altLang="en-US" sz="2000" kern="100" dirty="0">
                          <a:solidFill>
                            <a:srgbClr val="00708E"/>
                          </a:solidFill>
                          <a:latin typeface="+mn-ea"/>
                          <a:ea typeface="+mn-ea"/>
                          <a:cs typeface="Times New Roman"/>
                        </a:rPr>
                        <a:t>通过类或模型</a:t>
                      </a:r>
                      <a:r>
                        <a:rPr lang="en-US" altLang="zh-CN" sz="2000" kern="100" dirty="0">
                          <a:solidFill>
                            <a:srgbClr val="00708E"/>
                          </a:solidFill>
                          <a:latin typeface="+mn-ea"/>
                          <a:ea typeface="+mn-ea"/>
                          <a:cs typeface="Times New Roman"/>
                        </a:rPr>
                        <a:t>——</a:t>
                      </a:r>
                      <a:r>
                        <a:rPr lang="zh-CN" altLang="en-US" sz="2000" kern="100" dirty="0">
                          <a:solidFill>
                            <a:srgbClr val="00708E"/>
                          </a:solidFill>
                          <a:latin typeface="+mn-ea"/>
                          <a:ea typeface="+mn-ea"/>
                          <a:cs typeface="Times New Roman"/>
                        </a:rPr>
                        <a:t>到系统设计</a:t>
                      </a:r>
                    </a:p>
                  </a:txBody>
                  <a:tcPr marL="68582" marR="68582" marT="0" marB="0" anchor="ctr"/>
                </a:tc>
                <a:tc>
                  <a:txBody>
                    <a:bodyPr/>
                    <a:lstStyle/>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通过定义松耦合的服务来进行应用开发，并将服务组装成可执行的应用</a:t>
                      </a:r>
                      <a:endParaRPr lang="en-US" altLang="zh-CN" sz="2000" kern="100" dirty="0">
                        <a:solidFill>
                          <a:srgbClr val="00708E"/>
                        </a:solidFill>
                        <a:latin typeface="+mn-ea"/>
                        <a:ea typeface="+mn-ea"/>
                        <a:cs typeface="Times New Roman"/>
                      </a:endParaRPr>
                    </a:p>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2000" kern="100" dirty="0">
                          <a:solidFill>
                            <a:srgbClr val="00708E"/>
                          </a:solidFill>
                          <a:latin typeface="+mn-ea"/>
                          <a:ea typeface="+mn-ea"/>
                          <a:cs typeface="Times New Roman"/>
                        </a:rPr>
                        <a:t>从系统模型到服务模块，从服务抽象定义到服务实现绑定</a:t>
                      </a:r>
                      <a:endParaRPr lang="en-US" altLang="zh-CN" sz="2000" kern="100" dirty="0">
                        <a:solidFill>
                          <a:srgbClr val="00708E"/>
                        </a:solidFill>
                        <a:latin typeface="+mn-ea"/>
                        <a:ea typeface="+mn-ea"/>
                        <a:cs typeface="Times New Roman"/>
                      </a:endParaRPr>
                    </a:p>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2000" kern="100" dirty="0">
                          <a:solidFill>
                            <a:srgbClr val="00708E"/>
                          </a:solidFill>
                          <a:latin typeface="+mn-ea"/>
                          <a:ea typeface="+mn-ea"/>
                          <a:cs typeface="Times New Roman"/>
                        </a:rPr>
                        <a:t>通过搜索获得可用的服务实现</a:t>
                      </a:r>
                    </a:p>
                  </a:txBody>
                  <a:tcPr marL="68582" marR="68582" marT="0" marB="0" anchor="ctr"/>
                </a:tc>
                <a:extLst>
                  <a:ext uri="{0D108BD9-81ED-4DB2-BD59-A6C34878D82A}">
                    <a16:rowId xmlns:a16="http://schemas.microsoft.com/office/drawing/2014/main" val="10001"/>
                  </a:ext>
                </a:extLst>
              </a:tr>
              <a:tr h="2246442">
                <a:tc>
                  <a:txBody>
                    <a:bodyPr/>
                    <a:lstStyle/>
                    <a:p>
                      <a:pPr algn="ctr">
                        <a:spcAft>
                          <a:spcPts val="0"/>
                        </a:spcAft>
                      </a:pPr>
                      <a:r>
                        <a:rPr lang="zh-CN" sz="2000" kern="100" dirty="0">
                          <a:solidFill>
                            <a:srgbClr val="00708E"/>
                          </a:solidFill>
                          <a:latin typeface="+mn-ea"/>
                          <a:ea typeface="+mn-ea"/>
                          <a:cs typeface="Times New Roman"/>
                        </a:rPr>
                        <a:t>抽象和协作层次</a:t>
                      </a:r>
                    </a:p>
                  </a:txBody>
                  <a:tcPr marL="68582" marR="68582" marT="0" marB="0" anchor="ctr"/>
                </a:tc>
                <a:tc>
                  <a:txBody>
                    <a:bodyPr/>
                    <a:lstStyle/>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往往由一个团队来负责应用的开发，并负责整个生命周期</a:t>
                      </a:r>
                      <a:endParaRPr lang="en-US" altLang="zh-CN" sz="2000" kern="100" dirty="0">
                        <a:solidFill>
                          <a:srgbClr val="00708E"/>
                        </a:solidFill>
                        <a:latin typeface="+mn-ea"/>
                        <a:ea typeface="+mn-ea"/>
                        <a:cs typeface="Times New Roman"/>
                      </a:endParaRPr>
                    </a:p>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开发者必须了解应用领域知识和编程</a:t>
                      </a:r>
                    </a:p>
                  </a:txBody>
                  <a:tcPr marL="68582" marR="68582" marT="0" marB="0" anchor="ctr"/>
                </a:tc>
                <a:tc>
                  <a:txBody>
                    <a:bodyPr/>
                    <a:lstStyle/>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开发任务由三个独立方承担：应用程序开发者，服务提供方和服务代理</a:t>
                      </a:r>
                      <a:endParaRPr lang="en-US" altLang="zh-CN" sz="2000" kern="100" dirty="0">
                        <a:solidFill>
                          <a:srgbClr val="00708E"/>
                        </a:solidFill>
                        <a:latin typeface="+mn-ea"/>
                        <a:ea typeface="+mn-ea"/>
                        <a:cs typeface="Times New Roman"/>
                      </a:endParaRPr>
                    </a:p>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其中，应用程序开发者需要了解应用逻辑，但不需要了解具体的服务是如何实现的</a:t>
                      </a:r>
                      <a:endParaRPr lang="en-US" altLang="zh-CN" sz="2000" kern="100" dirty="0">
                        <a:solidFill>
                          <a:srgbClr val="00708E"/>
                        </a:solidFill>
                        <a:latin typeface="+mn-ea"/>
                        <a:ea typeface="+mn-ea"/>
                        <a:cs typeface="Times New Roman"/>
                      </a:endParaRPr>
                    </a:p>
                    <a:p>
                      <a:pPr marL="0" indent="228600" algn="l" defTabSz="914400" rtl="0" eaLnBrk="1" latinLnBrk="0" hangingPunct="1">
                        <a:spcAft>
                          <a:spcPts val="0"/>
                        </a:spcAft>
                      </a:pPr>
                      <a:r>
                        <a:rPr lang="zh-CN" altLang="en-US" sz="2000" kern="100" dirty="0">
                          <a:solidFill>
                            <a:srgbClr val="00708E"/>
                          </a:solidFill>
                          <a:latin typeface="+mn-ea"/>
                          <a:ea typeface="+mn-ea"/>
                          <a:cs typeface="Times New Roman"/>
                        </a:rPr>
                        <a:t>服务提供者需要编程能力，但不必了解使用服务的应用</a:t>
                      </a:r>
                    </a:p>
                  </a:txBody>
                  <a:tcPr marL="68582" marR="68582" marT="0" marB="0" anchor="ctr"/>
                </a:tc>
                <a:extLst>
                  <a:ext uri="{0D108BD9-81ED-4DB2-BD59-A6C34878D82A}">
                    <a16:rowId xmlns:a16="http://schemas.microsoft.com/office/drawing/2014/main" val="10002"/>
                  </a:ext>
                </a:extLst>
              </a:tr>
            </a:tbl>
          </a:graphicData>
        </a:graphic>
      </p:graphicFrame>
      <p:sp>
        <p:nvSpPr>
          <p:cNvPr id="12309"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417F3B1-4BD3-4199-9F93-3F01FD6EE073}" type="slidenum">
              <a:rPr lang="en-US" altLang="zh-CN" smtClean="0"/>
              <a:pPr eaLnBrk="1" hangingPunct="1"/>
              <a:t>19</a:t>
            </a:fld>
            <a:endParaRPr lang="en-US" altLang="zh-CN"/>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面向服务 </a:t>
            </a:r>
            <a:r>
              <a:rPr lang="en-US" altLang="zh-CN"/>
              <a:t>vs. </a:t>
            </a:r>
            <a:r>
              <a:rPr lang="zh-CN" altLang="en-US"/>
              <a:t>面向对象 （</a:t>
            </a:r>
            <a:r>
              <a:rPr lang="en-US" altLang="zh-CN"/>
              <a:t>2/3</a:t>
            </a:r>
            <a:r>
              <a:rPr lang="zh-CN" altLang="en-US"/>
              <a:t>）</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746510366"/>
              </p:ext>
            </p:extLst>
          </p:nvPr>
        </p:nvGraphicFramePr>
        <p:xfrm>
          <a:off x="468313" y="1477963"/>
          <a:ext cx="8291512" cy="4943475"/>
        </p:xfrm>
        <a:graphic>
          <a:graphicData uri="http://schemas.openxmlformats.org/drawingml/2006/table">
            <a:tbl>
              <a:tblPr firstRow="1" bandRow="1">
                <a:tableStyleId>{5C22544A-7EE6-4342-B048-85BDC9FD1C3A}</a:tableStyleId>
              </a:tblPr>
              <a:tblGrid>
                <a:gridCol w="1223367">
                  <a:extLst>
                    <a:ext uri="{9D8B030D-6E8A-4147-A177-3AD203B41FA5}">
                      <a16:colId xmlns:a16="http://schemas.microsoft.com/office/drawing/2014/main" val="20000"/>
                    </a:ext>
                  </a:extLst>
                </a:gridCol>
                <a:gridCol w="3313273">
                  <a:extLst>
                    <a:ext uri="{9D8B030D-6E8A-4147-A177-3AD203B41FA5}">
                      <a16:colId xmlns:a16="http://schemas.microsoft.com/office/drawing/2014/main" val="20001"/>
                    </a:ext>
                  </a:extLst>
                </a:gridCol>
                <a:gridCol w="3754872">
                  <a:extLst>
                    <a:ext uri="{9D8B030D-6E8A-4147-A177-3AD203B41FA5}">
                      <a16:colId xmlns:a16="http://schemas.microsoft.com/office/drawing/2014/main" val="20002"/>
                    </a:ext>
                  </a:extLst>
                </a:gridCol>
              </a:tblGrid>
              <a:tr h="370888">
                <a:tc>
                  <a:txBody>
                    <a:bodyPr/>
                    <a:lstStyle/>
                    <a:p>
                      <a:pPr algn="ctr">
                        <a:spcAft>
                          <a:spcPts val="0"/>
                        </a:spcAft>
                      </a:pPr>
                      <a:r>
                        <a:rPr lang="zh-CN" sz="1800" kern="100" dirty="0">
                          <a:latin typeface="+mn-ea"/>
                          <a:ea typeface="+mn-ea"/>
                          <a:cs typeface="Times New Roman"/>
                        </a:rPr>
                        <a:t>特点</a:t>
                      </a:r>
                    </a:p>
                  </a:txBody>
                  <a:tcPr marL="68582" marR="68582" marT="0" marB="0" anchor="ctr"/>
                </a:tc>
                <a:tc>
                  <a:txBody>
                    <a:bodyPr/>
                    <a:lstStyle/>
                    <a:p>
                      <a:pPr algn="ctr">
                        <a:spcAft>
                          <a:spcPts val="0"/>
                        </a:spcAft>
                      </a:pPr>
                      <a:r>
                        <a:rPr lang="zh-CN" sz="1800" kern="100" dirty="0">
                          <a:latin typeface="+mn-ea"/>
                          <a:ea typeface="+mn-ea"/>
                          <a:cs typeface="Times New Roman"/>
                        </a:rPr>
                        <a:t>面向对象的计算</a:t>
                      </a:r>
                    </a:p>
                  </a:txBody>
                  <a:tcPr marL="68582" marR="68582" marT="0" marB="0" anchor="ctr"/>
                </a:tc>
                <a:tc>
                  <a:txBody>
                    <a:bodyPr/>
                    <a:lstStyle/>
                    <a:p>
                      <a:pPr algn="ctr">
                        <a:spcAft>
                          <a:spcPts val="0"/>
                        </a:spcAft>
                      </a:pPr>
                      <a:r>
                        <a:rPr lang="zh-CN" sz="1800" kern="100" dirty="0">
                          <a:latin typeface="+mn-ea"/>
                          <a:ea typeface="+mn-ea"/>
                          <a:cs typeface="Times New Roman"/>
                        </a:rPr>
                        <a:t>面向服务计算</a:t>
                      </a:r>
                    </a:p>
                  </a:txBody>
                  <a:tcPr marL="68582" marR="68582" marT="0" marB="0" anchor="ctr"/>
                </a:tc>
                <a:extLst>
                  <a:ext uri="{0D108BD9-81ED-4DB2-BD59-A6C34878D82A}">
                    <a16:rowId xmlns:a16="http://schemas.microsoft.com/office/drawing/2014/main" val="10000"/>
                  </a:ext>
                </a:extLst>
              </a:tr>
              <a:tr h="1371776">
                <a:tc>
                  <a:txBody>
                    <a:bodyPr/>
                    <a:lstStyle/>
                    <a:p>
                      <a:pPr algn="ctr">
                        <a:spcAft>
                          <a:spcPts val="0"/>
                        </a:spcAft>
                      </a:pPr>
                      <a:r>
                        <a:rPr lang="zh-CN" sz="1800" kern="100" dirty="0">
                          <a:solidFill>
                            <a:srgbClr val="00708E"/>
                          </a:solidFill>
                          <a:latin typeface="+mn-ea"/>
                          <a:ea typeface="+mn-ea"/>
                          <a:cs typeface="Times New Roman"/>
                        </a:rPr>
                        <a:t>代码共享和复用</a:t>
                      </a:r>
                    </a:p>
                  </a:txBody>
                  <a:tcPr marL="68582" marR="68582" marT="0" marB="0" anchor="ctr"/>
                </a:tc>
                <a:tc>
                  <a:txBody>
                    <a:bodyPr/>
                    <a:lstStyle/>
                    <a:p>
                      <a:pPr indent="228600" algn="l">
                        <a:spcAft>
                          <a:spcPts val="0"/>
                        </a:spcAft>
                      </a:pPr>
                      <a:r>
                        <a:rPr lang="zh-CN" altLang="en-US" sz="1800" kern="100" dirty="0">
                          <a:solidFill>
                            <a:srgbClr val="00708E"/>
                          </a:solidFill>
                          <a:latin typeface="+mn-ea"/>
                          <a:ea typeface="+mn-ea"/>
                          <a:cs typeface="Times New Roman"/>
                        </a:rPr>
                        <a:t>代码复用通过类成员的继承和库函数加以实现。其中库函数在编译时引入，且往往是平台相关的</a:t>
                      </a:r>
                    </a:p>
                  </a:txBody>
                  <a:tcPr marL="68582" marR="68582" marT="0" marB="0" anchor="ctr"/>
                </a:tc>
                <a:tc>
                  <a:txBody>
                    <a:bodyPr/>
                    <a:lstStyle/>
                    <a:p>
                      <a:pPr marL="0" indent="228600" algn="l" defTabSz="914400" rtl="0" eaLnBrk="1" latinLnBrk="0" hangingPunct="1">
                        <a:spcAft>
                          <a:spcPts val="0"/>
                        </a:spcAft>
                      </a:pPr>
                      <a:r>
                        <a:rPr lang="zh-CN" altLang="en-US" sz="1800" kern="100" dirty="0">
                          <a:solidFill>
                            <a:srgbClr val="00708E"/>
                          </a:solidFill>
                          <a:latin typeface="+mn-ea"/>
                          <a:ea typeface="+mn-ea"/>
                          <a:cs typeface="Times New Roman"/>
                        </a:rPr>
                        <a:t>代码在服务层次复用。服务使用标准的结构，并发布在</a:t>
                      </a:r>
                      <a:r>
                        <a:rPr lang="en-US" sz="1800" kern="100" dirty="0">
                          <a:solidFill>
                            <a:srgbClr val="00708E"/>
                          </a:solidFill>
                          <a:latin typeface="+mn-ea"/>
                          <a:ea typeface="+mn-ea"/>
                          <a:cs typeface="Times New Roman"/>
                        </a:rPr>
                        <a:t>Internet</a:t>
                      </a:r>
                      <a:r>
                        <a:rPr lang="zh-CN" altLang="en-US" sz="1800" kern="100" dirty="0">
                          <a:solidFill>
                            <a:srgbClr val="00708E"/>
                          </a:solidFill>
                          <a:latin typeface="+mn-ea"/>
                          <a:ea typeface="+mn-ea"/>
                          <a:cs typeface="Times New Roman"/>
                        </a:rPr>
                        <a:t>库中。服务是平台无关的，且能够被查找并远程调用。服务代理支持系统的服务共享</a:t>
                      </a:r>
                    </a:p>
                  </a:txBody>
                  <a:tcPr marL="68582" marR="68582" marT="0" marB="0" anchor="ctr"/>
                </a:tc>
                <a:extLst>
                  <a:ext uri="{0D108BD9-81ED-4DB2-BD59-A6C34878D82A}">
                    <a16:rowId xmlns:a16="http://schemas.microsoft.com/office/drawing/2014/main" val="10001"/>
                  </a:ext>
                </a:extLst>
              </a:tr>
              <a:tr h="1097421">
                <a:tc>
                  <a:txBody>
                    <a:bodyPr/>
                    <a:lstStyle/>
                    <a:p>
                      <a:pPr algn="ctr">
                        <a:spcAft>
                          <a:spcPts val="0"/>
                        </a:spcAft>
                      </a:pPr>
                      <a:r>
                        <a:rPr lang="zh-CN" sz="1800" kern="100" dirty="0">
                          <a:solidFill>
                            <a:srgbClr val="00708E"/>
                          </a:solidFill>
                          <a:latin typeface="+mn-ea"/>
                          <a:ea typeface="+mn-ea"/>
                          <a:cs typeface="Times New Roman"/>
                        </a:rPr>
                        <a:t>动态绑定和重新组合</a:t>
                      </a:r>
                    </a:p>
                  </a:txBody>
                  <a:tcPr marL="68582" marR="68582" marT="0" marB="0" anchor="ctr"/>
                </a:tc>
                <a:tc>
                  <a:txBody>
                    <a:bodyPr/>
                    <a:lstStyle/>
                    <a:p>
                      <a:pPr indent="228600" algn="l">
                        <a:spcAft>
                          <a:spcPts val="0"/>
                        </a:spcAft>
                      </a:pPr>
                      <a:r>
                        <a:rPr lang="zh-CN" altLang="en-US" sz="1800" kern="100" dirty="0">
                          <a:solidFill>
                            <a:srgbClr val="00708E"/>
                          </a:solidFill>
                          <a:latin typeface="+mn-ea"/>
                          <a:ea typeface="+mn-ea"/>
                          <a:cs typeface="Times New Roman"/>
                        </a:rPr>
                        <a:t>在运行时将名称和方法进行关联。方法必须在应用部署前链接到可执行的代码</a:t>
                      </a:r>
                    </a:p>
                  </a:txBody>
                  <a:tcPr marL="68582" marR="68582" marT="0" marB="0" anchor="ctr"/>
                </a:tc>
                <a:tc>
                  <a:txBody>
                    <a:bodyPr/>
                    <a:lstStyle/>
                    <a:p>
                      <a:pPr marL="0" indent="228600" algn="l" defTabSz="914400" rtl="0" eaLnBrk="1" latinLnBrk="0" hangingPunct="1">
                        <a:spcAft>
                          <a:spcPts val="0"/>
                        </a:spcAft>
                      </a:pPr>
                      <a:r>
                        <a:rPr lang="zh-CN" altLang="en-US" sz="1800" kern="100" dirty="0">
                          <a:solidFill>
                            <a:srgbClr val="00708E"/>
                          </a:solidFill>
                          <a:latin typeface="+mn-ea"/>
                          <a:ea typeface="+mn-ea"/>
                          <a:cs typeface="Times New Roman"/>
                        </a:rPr>
                        <a:t>在运行时将服务调用和服务进行绑定。可以在应用部署后，再进行服务选定。这一特色使得应用可以在运行时重组</a:t>
                      </a:r>
                    </a:p>
                  </a:txBody>
                  <a:tcPr marL="68582" marR="68582" marT="0" marB="0" anchor="ctr"/>
                </a:tc>
                <a:extLst>
                  <a:ext uri="{0D108BD9-81ED-4DB2-BD59-A6C34878D82A}">
                    <a16:rowId xmlns:a16="http://schemas.microsoft.com/office/drawing/2014/main" val="10002"/>
                  </a:ext>
                </a:extLst>
              </a:tr>
              <a:tr h="1188873">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重组</a:t>
                      </a:r>
                    </a:p>
                  </a:txBody>
                  <a:tcPr marL="91443" marR="91443" marT="45726" marB="45726" anchor="ctr"/>
                </a:tc>
                <a:tc>
                  <a:txBody>
                    <a:bodyPr/>
                    <a:lstStyle/>
                    <a:p>
                      <a:pPr algn="l"/>
                      <a:r>
                        <a:rPr lang="zh-CN" altLang="en-US" sz="1800" kern="100" dirty="0">
                          <a:solidFill>
                            <a:srgbClr val="00708E"/>
                          </a:solidFill>
                          <a:latin typeface="+mn-ea"/>
                          <a:ea typeface="+mn-ea"/>
                          <a:cs typeface="Times New Roman"/>
                        </a:rPr>
                        <a:t>多在设计时决定导入的组件</a:t>
                      </a:r>
                    </a:p>
                  </a:txBody>
                  <a:tcPr marL="91443" marR="91443"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mn-ea"/>
                          <a:ea typeface="+mn-ea"/>
                          <a:cs typeface="Times New Roman"/>
                        </a:rPr>
                        <a:t>可以动态改变应用系统中服务的组合关系，以及服务定义与服务实现之间的绑定关系，即实现动态地添加、修改、删除各个服务节点</a:t>
                      </a:r>
                    </a:p>
                  </a:txBody>
                  <a:tcPr marL="91443" marR="91443" marT="45726" marB="45726" anchor="ctr"/>
                </a:tc>
                <a:extLst>
                  <a:ext uri="{0D108BD9-81ED-4DB2-BD59-A6C34878D82A}">
                    <a16:rowId xmlns:a16="http://schemas.microsoft.com/office/drawing/2014/main" val="10003"/>
                  </a:ext>
                </a:extLst>
              </a:tr>
              <a:tr h="914517">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组件通讯和接口</a:t>
                      </a:r>
                    </a:p>
                  </a:txBody>
                  <a:tcPr marL="91443" marR="91443"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mn-ea"/>
                          <a:ea typeface="+mn-ea"/>
                          <a:cs typeface="Times New Roman"/>
                        </a:rPr>
                        <a:t>与平台和语言有关，例如</a:t>
                      </a:r>
                      <a:r>
                        <a:rPr lang="en-US" altLang="zh-CN" sz="1800" kern="100" dirty="0">
                          <a:solidFill>
                            <a:srgbClr val="00708E"/>
                          </a:solidFill>
                          <a:latin typeface="+mn-ea"/>
                          <a:ea typeface="+mn-ea"/>
                          <a:cs typeface="Times New Roman"/>
                        </a:rPr>
                        <a:t>C++</a:t>
                      </a:r>
                      <a:r>
                        <a:rPr lang="zh-CN" altLang="en-US" sz="1800" kern="100" dirty="0">
                          <a:solidFill>
                            <a:srgbClr val="00708E"/>
                          </a:solidFill>
                          <a:latin typeface="+mn-ea"/>
                          <a:ea typeface="+mn-ea"/>
                          <a:cs typeface="Times New Roman"/>
                        </a:rPr>
                        <a:t>程序难以直接和</a:t>
                      </a:r>
                      <a:r>
                        <a:rPr lang="en-US" altLang="zh-CN" sz="1800" kern="100" dirty="0">
                          <a:solidFill>
                            <a:srgbClr val="00708E"/>
                          </a:solidFill>
                          <a:latin typeface="+mn-ea"/>
                          <a:ea typeface="+mn-ea"/>
                          <a:cs typeface="Times New Roman"/>
                        </a:rPr>
                        <a:t>Java</a:t>
                      </a:r>
                      <a:r>
                        <a:rPr lang="zh-CN" altLang="en-US" sz="1800" kern="100" dirty="0">
                          <a:solidFill>
                            <a:srgbClr val="00708E"/>
                          </a:solidFill>
                          <a:latin typeface="+mn-ea"/>
                          <a:ea typeface="+mn-ea"/>
                          <a:cs typeface="Times New Roman"/>
                        </a:rPr>
                        <a:t>程序通信</a:t>
                      </a:r>
                    </a:p>
                  </a:txBody>
                  <a:tcPr marL="91443" marR="91443"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mn-ea"/>
                          <a:ea typeface="+mn-ea"/>
                          <a:cs typeface="Times New Roman"/>
                        </a:rPr>
                        <a:t>与平台和语言无关。组件间通过标准协议通信，如</a:t>
                      </a:r>
                      <a:r>
                        <a:rPr lang="en-US" altLang="zh-CN" sz="1800" kern="100" dirty="0">
                          <a:solidFill>
                            <a:srgbClr val="00708E"/>
                          </a:solidFill>
                          <a:latin typeface="+mn-ea"/>
                          <a:ea typeface="+mn-ea"/>
                          <a:cs typeface="Times New Roman"/>
                        </a:rPr>
                        <a:t>XML</a:t>
                      </a:r>
                      <a:r>
                        <a:rPr lang="zh-CN" altLang="en-US" sz="1800" kern="100" dirty="0">
                          <a:solidFill>
                            <a:srgbClr val="00708E"/>
                          </a:solidFill>
                          <a:latin typeface="+mn-ea"/>
                          <a:ea typeface="+mn-ea"/>
                          <a:cs typeface="Times New Roman"/>
                        </a:rPr>
                        <a:t>，</a:t>
                      </a:r>
                      <a:r>
                        <a:rPr lang="en-US" altLang="zh-CN" sz="1800" kern="100" dirty="0">
                          <a:solidFill>
                            <a:srgbClr val="00708E"/>
                          </a:solidFill>
                          <a:latin typeface="+mn-ea"/>
                          <a:ea typeface="+mn-ea"/>
                          <a:cs typeface="Times New Roman"/>
                        </a:rPr>
                        <a:t>WSDL</a:t>
                      </a:r>
                      <a:r>
                        <a:rPr lang="zh-CN" altLang="en-US" sz="1800" kern="100" dirty="0">
                          <a:solidFill>
                            <a:srgbClr val="00708E"/>
                          </a:solidFill>
                          <a:latin typeface="+mn-ea"/>
                          <a:ea typeface="+mn-ea"/>
                          <a:cs typeface="Times New Roman"/>
                        </a:rPr>
                        <a:t>和</a:t>
                      </a:r>
                      <a:r>
                        <a:rPr lang="en-US" altLang="zh-CN" sz="1800" kern="100" dirty="0">
                          <a:solidFill>
                            <a:srgbClr val="00708E"/>
                          </a:solidFill>
                          <a:latin typeface="+mn-ea"/>
                          <a:ea typeface="+mn-ea"/>
                          <a:cs typeface="Times New Roman"/>
                        </a:rPr>
                        <a:t>SOAP</a:t>
                      </a:r>
                      <a:endParaRPr lang="zh-CN" altLang="en-US" sz="1800" kern="100" dirty="0">
                        <a:solidFill>
                          <a:srgbClr val="00708E"/>
                        </a:solidFill>
                        <a:latin typeface="+mn-ea"/>
                        <a:ea typeface="+mn-ea"/>
                        <a:cs typeface="Times New Roman"/>
                      </a:endParaRPr>
                    </a:p>
                  </a:txBody>
                  <a:tcPr marL="91443" marR="91443" marT="45726" marB="45726" anchor="ctr"/>
                </a:tc>
                <a:extLst>
                  <a:ext uri="{0D108BD9-81ED-4DB2-BD59-A6C34878D82A}">
                    <a16:rowId xmlns:a16="http://schemas.microsoft.com/office/drawing/2014/main" val="10004"/>
                  </a:ext>
                </a:extLst>
              </a:tr>
            </a:tbl>
          </a:graphicData>
        </a:graphic>
      </p:graphicFrame>
      <p:sp>
        <p:nvSpPr>
          <p:cNvPr id="13341"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58DF43C-5E66-4EC4-AEF3-2AB57E29C3D2}" type="slidenum">
              <a:rPr lang="en-US" altLang="zh-CN" smtClean="0"/>
              <a:pPr eaLnBrk="1" hangingPunct="1"/>
              <a:t>20</a:t>
            </a:fld>
            <a:endParaRPr lang="en-US" altLang="zh-CN"/>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dirty="0"/>
              <a:t>面向服务 </a:t>
            </a:r>
            <a:r>
              <a:rPr lang="en-US" altLang="zh-CN" dirty="0"/>
              <a:t>vs. </a:t>
            </a:r>
            <a:r>
              <a:rPr lang="zh-CN" altLang="en-US" dirty="0"/>
              <a:t>面向对象 （</a:t>
            </a:r>
            <a:r>
              <a:rPr lang="en-US" altLang="zh-CN" dirty="0"/>
              <a:t>3/3</a:t>
            </a:r>
            <a:r>
              <a:rPr lang="zh-CN" altLang="en-US" dirty="0"/>
              <a:t>）</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3441789766"/>
              </p:ext>
            </p:extLst>
          </p:nvPr>
        </p:nvGraphicFramePr>
        <p:xfrm>
          <a:off x="419100" y="1484313"/>
          <a:ext cx="8329613" cy="4486274"/>
        </p:xfrm>
        <a:graphic>
          <a:graphicData uri="http://schemas.openxmlformats.org/drawingml/2006/table">
            <a:tbl>
              <a:tblPr firstRow="1" bandRow="1">
                <a:tableStyleId>{5C22544A-7EE6-4342-B048-85BDC9FD1C3A}</a:tableStyleId>
              </a:tblPr>
              <a:tblGrid>
                <a:gridCol w="1454579">
                  <a:extLst>
                    <a:ext uri="{9D8B030D-6E8A-4147-A177-3AD203B41FA5}">
                      <a16:colId xmlns:a16="http://schemas.microsoft.com/office/drawing/2014/main" val="20000"/>
                    </a:ext>
                  </a:extLst>
                </a:gridCol>
                <a:gridCol w="3274369">
                  <a:extLst>
                    <a:ext uri="{9D8B030D-6E8A-4147-A177-3AD203B41FA5}">
                      <a16:colId xmlns:a16="http://schemas.microsoft.com/office/drawing/2014/main" val="20001"/>
                    </a:ext>
                  </a:extLst>
                </a:gridCol>
                <a:gridCol w="3600665">
                  <a:extLst>
                    <a:ext uri="{9D8B030D-6E8A-4147-A177-3AD203B41FA5}">
                      <a16:colId xmlns:a16="http://schemas.microsoft.com/office/drawing/2014/main" val="20002"/>
                    </a:ext>
                  </a:extLst>
                </a:gridCol>
              </a:tblGrid>
              <a:tr h="370892">
                <a:tc>
                  <a:txBody>
                    <a:bodyPr/>
                    <a:lstStyle/>
                    <a:p>
                      <a:pPr algn="ctr"/>
                      <a:r>
                        <a:rPr lang="zh-CN" altLang="en-US" sz="1800" dirty="0">
                          <a:latin typeface="宋体" panose="02010600030101010101" pitchFamily="2" charset="-122"/>
                          <a:ea typeface="宋体" panose="02010600030101010101" pitchFamily="2" charset="-122"/>
                        </a:rPr>
                        <a:t>特点</a:t>
                      </a:r>
                    </a:p>
                  </a:txBody>
                  <a:tcPr marT="45726" marB="45726"/>
                </a:tc>
                <a:tc>
                  <a:txBody>
                    <a:bodyPr/>
                    <a:lstStyle/>
                    <a:p>
                      <a:pPr algn="ctr">
                        <a:spcAft>
                          <a:spcPts val="0"/>
                        </a:spcAft>
                      </a:pPr>
                      <a:r>
                        <a:rPr lang="zh-CN" altLang="zh-CN" sz="1800" kern="100" dirty="0">
                          <a:latin typeface="Times New Roman"/>
                          <a:ea typeface="+mn-ea"/>
                          <a:cs typeface="Times New Roman"/>
                        </a:rPr>
                        <a:t>面向对象的计算</a:t>
                      </a:r>
                      <a:endParaRPr lang="zh-CN" altLang="zh-CN" sz="1800" kern="100" dirty="0">
                        <a:latin typeface="Calibri"/>
                        <a:ea typeface="+mn-ea"/>
                        <a:cs typeface="Times New Roman"/>
                      </a:endParaRPr>
                    </a:p>
                  </a:txBody>
                  <a:tcPr marT="45726" marB="45726"/>
                </a:tc>
                <a:tc>
                  <a:txBody>
                    <a:bodyPr/>
                    <a:lstStyle/>
                    <a:p>
                      <a:pPr algn="ctr">
                        <a:spcAft>
                          <a:spcPts val="0"/>
                        </a:spcAft>
                      </a:pPr>
                      <a:r>
                        <a:rPr lang="zh-CN" altLang="zh-CN" sz="1800" kern="100" dirty="0">
                          <a:latin typeface="Times New Roman"/>
                          <a:ea typeface="+mn-ea"/>
                          <a:cs typeface="Times New Roman"/>
                        </a:rPr>
                        <a:t>面向服务计算</a:t>
                      </a:r>
                      <a:endParaRPr lang="zh-CN" altLang="zh-CN" sz="1800" kern="100" dirty="0">
                        <a:latin typeface="Calibri"/>
                        <a:ea typeface="+mn-ea"/>
                        <a:cs typeface="Times New Roman"/>
                      </a:endParaRPr>
                    </a:p>
                  </a:txBody>
                  <a:tcPr marT="45726" marB="45726"/>
                </a:tc>
                <a:extLst>
                  <a:ext uri="{0D108BD9-81ED-4DB2-BD59-A6C34878D82A}">
                    <a16:rowId xmlns:a16="http://schemas.microsoft.com/office/drawing/2014/main" val="10000"/>
                  </a:ext>
                </a:extLst>
              </a:tr>
              <a:tr h="1188888">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系统维护</a:t>
                      </a:r>
                    </a:p>
                  </a:txBody>
                  <a:tcPr marT="45726" marB="45726" anchor="ctr"/>
                </a:tc>
                <a:tc>
                  <a:txBody>
                    <a:bodyPr/>
                    <a:lstStyle/>
                    <a:p>
                      <a:pPr indent="228600" algn="l">
                        <a:spcAft>
                          <a:spcPts val="0"/>
                        </a:spcAft>
                      </a:pPr>
                      <a:r>
                        <a:rPr lang="zh-CN" altLang="zh-CN" sz="1800" kern="100" dirty="0">
                          <a:solidFill>
                            <a:srgbClr val="00708E"/>
                          </a:solidFill>
                          <a:latin typeface="宋体" panose="02010600030101010101" pitchFamily="2" charset="-122"/>
                          <a:ea typeface="宋体" panose="02010600030101010101" pitchFamily="2" charset="-122"/>
                          <a:cs typeface="Times New Roman"/>
                        </a:rPr>
                        <a:t>用户需要时常升级软件，且在执行升级时，应用必须停止</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通过互联网升级系统，因为服务多运行在远程服务器上，用户通过互联网进行访问。维护对用户透明</a:t>
                      </a:r>
                    </a:p>
                  </a:txBody>
                  <a:tcPr marT="45726" marB="45726" anchor="ctr"/>
                </a:tc>
                <a:extLst>
                  <a:ext uri="{0D108BD9-81ED-4DB2-BD59-A6C34878D82A}">
                    <a16:rowId xmlns:a16="http://schemas.microsoft.com/office/drawing/2014/main" val="10001"/>
                  </a:ext>
                </a:extLst>
              </a:tr>
              <a:tr h="1737606">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可靠性</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在设计时决定可靠性的方法</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对于服务提供者，每个服务相对简单，更加可靠。对于应用程序存在多个满足同一需求的服务，可用过将故障服务的节点断开并重新绑定到备选服务节点上，获得不间断的应用系统</a:t>
                      </a:r>
                    </a:p>
                  </a:txBody>
                  <a:tcPr marT="45726" marB="45726" anchor="ctr"/>
                </a:tc>
                <a:extLst>
                  <a:ext uri="{0D108BD9-81ED-4DB2-BD59-A6C34878D82A}">
                    <a16:rowId xmlns:a16="http://schemas.microsoft.com/office/drawing/2014/main" val="10002"/>
                  </a:ext>
                </a:extLst>
              </a:tr>
              <a:tr h="1188888">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软件拥有</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软件作为产品销售，为用户所拥有</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软件存在并执行于独立的服务提供商的设备上，用户按照每次对服务使用付费，而不是按照软件产品付费</a:t>
                      </a:r>
                    </a:p>
                  </a:txBody>
                  <a:tcPr marT="45726" marB="45726" anchor="ctr"/>
                </a:tc>
                <a:extLst>
                  <a:ext uri="{0D108BD9-81ED-4DB2-BD59-A6C34878D82A}">
                    <a16:rowId xmlns:a16="http://schemas.microsoft.com/office/drawing/2014/main" val="10003"/>
                  </a:ext>
                </a:extLst>
              </a:tr>
            </a:tbl>
          </a:graphicData>
        </a:graphic>
      </p:graphicFrame>
      <p:sp>
        <p:nvSpPr>
          <p:cNvPr id="14361"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1E9F494-7830-4B67-A682-32EF0322F1A4}" type="slidenum">
              <a:rPr lang="en-US" altLang="zh-CN" smtClean="0"/>
              <a:pPr eaLnBrk="1" hangingPunct="1"/>
              <a:t>21</a:t>
            </a:fld>
            <a:endParaRPr lang="en-US" altLang="zh-CN"/>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从设计角度</a:t>
            </a:r>
            <a:r>
              <a:rPr lang="en-US" altLang="zh-CN" dirty="0"/>
              <a:t>…</a:t>
            </a:r>
            <a:endParaRPr lang="zh-CN" altLang="en-US"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22</a:t>
            </a:fld>
            <a:endParaRPr lang="en-US" altLang="zh-CN" dirty="0"/>
          </a:p>
        </p:txBody>
      </p:sp>
      <p:graphicFrame>
        <p:nvGraphicFramePr>
          <p:cNvPr id="5" name="内容占位符 4"/>
          <p:cNvGraphicFramePr>
            <a:graphicFrameLocks/>
          </p:cNvGraphicFramePr>
          <p:nvPr>
            <p:extLst>
              <p:ext uri="{D42A27DB-BD31-4B8C-83A1-F6EECF244321}">
                <p14:modId xmlns:p14="http://schemas.microsoft.com/office/powerpoint/2010/main" val="2551387196"/>
              </p:ext>
            </p:extLst>
          </p:nvPr>
        </p:nvGraphicFramePr>
        <p:xfrm>
          <a:off x="433387" y="1052736"/>
          <a:ext cx="8329613" cy="5273630"/>
        </p:xfrm>
        <a:graphic>
          <a:graphicData uri="http://schemas.openxmlformats.org/drawingml/2006/table">
            <a:tbl>
              <a:tblPr firstRow="1" bandRow="1">
                <a:tableStyleId>{5C22544A-7EE6-4342-B048-85BDC9FD1C3A}</a:tableStyleId>
              </a:tblPr>
              <a:tblGrid>
                <a:gridCol w="1008112">
                  <a:extLst>
                    <a:ext uri="{9D8B030D-6E8A-4147-A177-3AD203B41FA5}">
                      <a16:colId xmlns:a16="http://schemas.microsoft.com/office/drawing/2014/main" val="20000"/>
                    </a:ext>
                  </a:extLst>
                </a:gridCol>
                <a:gridCol w="3937125">
                  <a:extLst>
                    <a:ext uri="{9D8B030D-6E8A-4147-A177-3AD203B41FA5}">
                      <a16:colId xmlns:a16="http://schemas.microsoft.com/office/drawing/2014/main" val="20001"/>
                    </a:ext>
                  </a:extLst>
                </a:gridCol>
                <a:gridCol w="3384376">
                  <a:extLst>
                    <a:ext uri="{9D8B030D-6E8A-4147-A177-3AD203B41FA5}">
                      <a16:colId xmlns:a16="http://schemas.microsoft.com/office/drawing/2014/main" val="20002"/>
                    </a:ext>
                  </a:extLst>
                </a:gridCol>
              </a:tblGrid>
              <a:tr h="340684">
                <a:tc>
                  <a:txBody>
                    <a:bodyPr/>
                    <a:lstStyle/>
                    <a:p>
                      <a:pPr algn="ctr"/>
                      <a:r>
                        <a:rPr lang="zh-CN" altLang="en-US" sz="1800" dirty="0">
                          <a:latin typeface="宋体" panose="02010600030101010101" pitchFamily="2" charset="-122"/>
                          <a:ea typeface="宋体" panose="02010600030101010101" pitchFamily="2" charset="-122"/>
                        </a:rPr>
                        <a:t>特点</a:t>
                      </a:r>
                    </a:p>
                  </a:txBody>
                  <a:tcPr marT="45726" marB="45726"/>
                </a:tc>
                <a:tc>
                  <a:txBody>
                    <a:bodyPr/>
                    <a:lstStyle/>
                    <a:p>
                      <a:pPr algn="ctr">
                        <a:spcAft>
                          <a:spcPts val="0"/>
                        </a:spcAft>
                      </a:pPr>
                      <a:r>
                        <a:rPr lang="zh-CN" altLang="zh-CN" sz="1800" kern="100" dirty="0">
                          <a:latin typeface="Times New Roman"/>
                          <a:ea typeface="+mn-ea"/>
                          <a:cs typeface="Times New Roman"/>
                        </a:rPr>
                        <a:t>面向对象的计算</a:t>
                      </a:r>
                      <a:endParaRPr lang="zh-CN" altLang="zh-CN" sz="1800" kern="100" dirty="0">
                        <a:latin typeface="Calibri"/>
                        <a:ea typeface="+mn-ea"/>
                        <a:cs typeface="Times New Roman"/>
                      </a:endParaRPr>
                    </a:p>
                  </a:txBody>
                  <a:tcPr marT="45726" marB="45726"/>
                </a:tc>
                <a:tc>
                  <a:txBody>
                    <a:bodyPr/>
                    <a:lstStyle/>
                    <a:p>
                      <a:pPr algn="ctr">
                        <a:spcAft>
                          <a:spcPts val="0"/>
                        </a:spcAft>
                      </a:pPr>
                      <a:r>
                        <a:rPr lang="zh-CN" altLang="zh-CN" sz="1800" kern="100" dirty="0">
                          <a:latin typeface="Times New Roman"/>
                          <a:ea typeface="+mn-ea"/>
                          <a:cs typeface="Times New Roman"/>
                        </a:rPr>
                        <a:t>面向服务计算</a:t>
                      </a:r>
                      <a:endParaRPr lang="zh-CN" altLang="zh-CN" sz="1800" kern="100" dirty="0">
                        <a:latin typeface="Calibri"/>
                        <a:ea typeface="+mn-ea"/>
                        <a:cs typeface="Times New Roman"/>
                      </a:endParaRPr>
                    </a:p>
                  </a:txBody>
                  <a:tcPr marT="45726" marB="45726"/>
                </a:tc>
                <a:extLst>
                  <a:ext uri="{0D108BD9-81ED-4DB2-BD59-A6C34878D82A}">
                    <a16:rowId xmlns:a16="http://schemas.microsoft.com/office/drawing/2014/main" val="10000"/>
                  </a:ext>
                </a:extLst>
              </a:tr>
              <a:tr h="850327">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耦合</a:t>
                      </a:r>
                    </a:p>
                  </a:txBody>
                  <a:tcPr marT="45726" marB="45726" anchor="ctr"/>
                </a:tc>
                <a:tc>
                  <a:txBody>
                    <a:bodyPr/>
                    <a:lstStyle/>
                    <a:p>
                      <a:pPr indent="228600" algn="l">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提倡重用和松耦合，但是预先定义的类依赖导致更多的对象紧密绑定</a:t>
                      </a:r>
                      <a:endParaRPr lang="zh-CN" altLang="zh-CN" sz="1800" kern="100" dirty="0">
                        <a:solidFill>
                          <a:srgbClr val="00708E"/>
                        </a:solidFill>
                        <a:latin typeface="宋体" panose="02010600030101010101" pitchFamily="2" charset="-122"/>
                        <a:ea typeface="宋体" panose="02010600030101010101" pitchFamily="2" charset="-122"/>
                        <a:cs typeface="Times New Roman"/>
                      </a:endParaRP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服务的松耦合由功能和服务合约给定</a:t>
                      </a:r>
                    </a:p>
                  </a:txBody>
                  <a:tcPr marT="45726" marB="45726" anchor="ctr"/>
                </a:tc>
                <a:extLst>
                  <a:ext uri="{0D108BD9-81ED-4DB2-BD59-A6C34878D82A}">
                    <a16:rowId xmlns:a16="http://schemas.microsoft.com/office/drawing/2014/main" val="10001"/>
                  </a:ext>
                </a:extLst>
              </a:tr>
              <a:tr h="882704">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粒度</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mn-ea"/>
                          <a:ea typeface="+mn-ea"/>
                          <a:cs typeface="Times New Roman"/>
                        </a:rPr>
                        <a:t>为支持不同规模的任务，支持细粒度接口（</a:t>
                      </a:r>
                      <a:r>
                        <a:rPr lang="en-US" altLang="zh-CN" sz="1800" kern="100" dirty="0">
                          <a:solidFill>
                            <a:srgbClr val="00708E"/>
                          </a:solidFill>
                          <a:latin typeface="+mn-ea"/>
                          <a:ea typeface="+mn-ea"/>
                          <a:cs typeface="Times New Roman"/>
                        </a:rPr>
                        <a:t>API</a:t>
                      </a:r>
                      <a:r>
                        <a:rPr lang="zh-CN" altLang="en-US" sz="1800" kern="100" dirty="0">
                          <a:solidFill>
                            <a:srgbClr val="00708E"/>
                          </a:solidFill>
                          <a:latin typeface="+mn-ea"/>
                          <a:ea typeface="+mn-ea"/>
                          <a:cs typeface="Times New Roman"/>
                        </a:rPr>
                        <a:t>）</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鼓励粗粒度的接口（服务描述），通讯消息中包含尽可能多的任务相关信息</a:t>
                      </a:r>
                    </a:p>
                  </a:txBody>
                  <a:tcPr marT="45726" marB="45726" anchor="ctr"/>
                </a:tc>
                <a:extLst>
                  <a:ext uri="{0D108BD9-81ED-4DB2-BD59-A6C34878D82A}">
                    <a16:rowId xmlns:a16="http://schemas.microsoft.com/office/drawing/2014/main" val="10002"/>
                  </a:ext>
                </a:extLst>
              </a:tr>
              <a:tr h="770877">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作用域</a:t>
                      </a:r>
                    </a:p>
                  </a:txBody>
                  <a:tcPr marT="45726" marB="45726" anchor="ctr"/>
                </a:tc>
                <a:tc>
                  <a:txBody>
                    <a:bodyPr/>
                    <a:lstStyle/>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1800" dirty="0">
                          <a:solidFill>
                            <a:srgbClr val="00708E"/>
                          </a:solidFill>
                          <a:latin typeface="宋体" panose="02010600030101010101" pitchFamily="2" charset="-122"/>
                          <a:ea typeface="宋体" panose="02010600030101010101" pitchFamily="2" charset="-122"/>
                        </a:rPr>
                        <a:t>对象作用域</a:t>
                      </a:r>
                      <a:r>
                        <a:rPr lang="zh-CN" altLang="en-US" sz="1800" kern="100" dirty="0">
                          <a:solidFill>
                            <a:srgbClr val="00708E"/>
                          </a:solidFill>
                          <a:latin typeface="宋体" panose="02010600030101010101" pitchFamily="2" charset="-122"/>
                          <a:ea typeface="宋体" panose="02010600030101010101" pitchFamily="2" charset="-122"/>
                          <a:cs typeface="Times New Roman"/>
                        </a:rPr>
                        <a:t>更小，更有针对性（往往基于一个软件系统）</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服务作用域显著不同（往往基于一个服务生态系统）</a:t>
                      </a:r>
                    </a:p>
                  </a:txBody>
                  <a:tcPr marT="45726" marB="45726" anchor="ctr"/>
                </a:tc>
                <a:extLst>
                  <a:ext uri="{0D108BD9-81ED-4DB2-BD59-A6C34878D82A}">
                    <a16:rowId xmlns:a16="http://schemas.microsoft.com/office/drawing/2014/main" val="10003"/>
                  </a:ext>
                </a:extLst>
              </a:tr>
              <a:tr h="587959">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前瞻性</a:t>
                      </a:r>
                    </a:p>
                  </a:txBody>
                  <a:tcPr marT="45726" marB="45726" anchor="ctr"/>
                </a:tc>
                <a:tc>
                  <a:txBody>
                    <a:bodyPr/>
                    <a:lstStyle/>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rgbClr val="00708E"/>
                          </a:solidFill>
                          <a:latin typeface="宋体" panose="02010600030101010101" pitchFamily="2" charset="-122"/>
                          <a:ea typeface="宋体" panose="02010600030101010101" pitchFamily="2" charset="-122"/>
                          <a:cs typeface="Times New Roman"/>
                        </a:rPr>
                        <a:t>鼓励处理逻辑与数据的绑定从而产生对象</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鼓励创建活动</a:t>
                      </a:r>
                      <a:r>
                        <a:rPr lang="en-US" altLang="zh-CN" sz="1800" kern="100" dirty="0">
                          <a:solidFill>
                            <a:srgbClr val="00708E"/>
                          </a:solidFill>
                          <a:latin typeface="宋体" panose="02010600030101010101" pitchFamily="2" charset="-122"/>
                          <a:ea typeface="宋体" panose="02010600030101010101" pitchFamily="2" charset="-122"/>
                          <a:cs typeface="Times New Roman"/>
                        </a:rPr>
                        <a:t>-</a:t>
                      </a:r>
                      <a:r>
                        <a:rPr lang="zh-CN" altLang="en-US" sz="1800" kern="100" dirty="0">
                          <a:solidFill>
                            <a:srgbClr val="00708E"/>
                          </a:solidFill>
                          <a:latin typeface="宋体" panose="02010600030101010101" pitchFamily="2" charset="-122"/>
                          <a:ea typeface="宋体" panose="02010600030101010101" pitchFamily="2" charset="-122"/>
                          <a:cs typeface="Times New Roman"/>
                        </a:rPr>
                        <a:t>无关的、由消息驱动的服务</a:t>
                      </a:r>
                    </a:p>
                  </a:txBody>
                  <a:tcPr marT="45726" marB="45726" anchor="ctr"/>
                </a:tc>
                <a:extLst>
                  <a:ext uri="{0D108BD9-81ED-4DB2-BD59-A6C34878D82A}">
                    <a16:rowId xmlns:a16="http://schemas.microsoft.com/office/drawing/2014/main" val="10004"/>
                  </a:ext>
                </a:extLst>
              </a:tr>
              <a:tr h="587959">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状态性</a:t>
                      </a:r>
                    </a:p>
                  </a:txBody>
                  <a:tcPr marT="45726" marB="45726" anchor="ctr"/>
                </a:tc>
                <a:tc>
                  <a:txBody>
                    <a:bodyPr/>
                    <a:lstStyle/>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rgbClr val="00708E"/>
                          </a:solidFill>
                          <a:latin typeface="宋体" panose="02010600030101010101" pitchFamily="2" charset="-122"/>
                          <a:ea typeface="宋体" panose="02010600030101010101" pitchFamily="2" charset="-122"/>
                          <a:cs typeface="Times New Roman"/>
                        </a:rPr>
                        <a:t>数据和逻辑的绑定，导致带状态的对象</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服务尽可能保持无状态性</a:t>
                      </a:r>
                    </a:p>
                  </a:txBody>
                  <a:tcPr marT="45726" marB="45726" anchor="ctr"/>
                </a:tc>
                <a:extLst>
                  <a:ext uri="{0D108BD9-81ED-4DB2-BD59-A6C34878D82A}">
                    <a16:rowId xmlns:a16="http://schemas.microsoft.com/office/drawing/2014/main" val="10005"/>
                  </a:ext>
                </a:extLst>
              </a:tr>
              <a:tr h="1092058">
                <a:tc>
                  <a:txBody>
                    <a:bodyPr/>
                    <a:lstStyle/>
                    <a:p>
                      <a:pPr algn="ctr"/>
                      <a:r>
                        <a:rPr lang="zh-CN" altLang="en-US" sz="1800" dirty="0">
                          <a:solidFill>
                            <a:srgbClr val="00708E"/>
                          </a:solidFill>
                          <a:latin typeface="宋体" panose="02010600030101010101" pitchFamily="2" charset="-122"/>
                          <a:ea typeface="宋体" panose="02010600030101010101" pitchFamily="2" charset="-122"/>
                        </a:rPr>
                        <a:t>组合</a:t>
                      </a:r>
                    </a:p>
                  </a:txBody>
                  <a:tcPr marT="45726" marB="45726" anchor="ctr"/>
                </a:tc>
                <a:tc>
                  <a:txBody>
                    <a:bodyPr/>
                    <a:lstStyle/>
                    <a:p>
                      <a:pPr marL="0" marR="0" indent="228600" algn="l" defTabSz="914400" rtl="0" eaLnBrk="1" fontAlgn="auto" latinLnBrk="0" hangingPunct="1">
                        <a:lnSpc>
                          <a:spcPct val="100000"/>
                        </a:lnSpc>
                        <a:spcBef>
                          <a:spcPts val="0"/>
                        </a:spcBef>
                        <a:spcAft>
                          <a:spcPts val="0"/>
                        </a:spcAft>
                        <a:buClrTx/>
                        <a:buSzTx/>
                        <a:buFontTx/>
                        <a:buNone/>
                        <a:tabLst/>
                        <a:defRPr/>
                      </a:pPr>
                      <a:r>
                        <a:rPr lang="zh-CN" altLang="en-US" sz="1800" kern="100" dirty="0">
                          <a:solidFill>
                            <a:srgbClr val="00708E"/>
                          </a:solidFill>
                          <a:latin typeface="宋体" panose="02010600030101010101" pitchFamily="2" charset="-122"/>
                          <a:ea typeface="宋体" panose="02010600030101010101" pitchFamily="2" charset="-122"/>
                          <a:cs typeface="Times New Roman"/>
                        </a:rPr>
                        <a:t>在支持对象组合的同时也支持对象的继承，从而导致紧耦合</a:t>
                      </a:r>
                    </a:p>
                  </a:txBody>
                  <a:tcPr marT="45726" marB="45726" anchor="ctr"/>
                </a:tc>
                <a:tc>
                  <a:txBody>
                    <a:bodyPr/>
                    <a:lstStyle/>
                    <a:p>
                      <a:pPr marL="0" indent="228600" algn="l" defTabSz="914400" rtl="0" eaLnBrk="1" latinLnBrk="0" hangingPunct="1">
                        <a:spcAft>
                          <a:spcPts val="0"/>
                        </a:spcAft>
                      </a:pPr>
                      <a:r>
                        <a:rPr lang="zh-CN" altLang="en-US" sz="1800" kern="100" dirty="0">
                          <a:solidFill>
                            <a:srgbClr val="00708E"/>
                          </a:solidFill>
                          <a:latin typeface="宋体" panose="02010600030101010101" pitchFamily="2" charset="-122"/>
                          <a:ea typeface="宋体" panose="02010600030101010101" pitchFamily="2" charset="-122"/>
                          <a:cs typeface="Times New Roman"/>
                        </a:rPr>
                        <a:t>支持松散耦合服务的组合</a:t>
                      </a:r>
                    </a:p>
                  </a:txBody>
                  <a:tcPr marT="45726" marB="45726"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10069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基本概念：对象</a:t>
            </a:r>
            <a:r>
              <a:rPr lang="en-US" altLang="zh-CN" dirty="0"/>
              <a:t>/</a:t>
            </a:r>
            <a:r>
              <a:rPr lang="zh-CN" altLang="en-US" dirty="0"/>
              <a:t>类、服务合约</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23</a:t>
            </a:fld>
            <a:endParaRPr lang="en-US" altLang="zh-CN" dirty="0"/>
          </a:p>
        </p:txBody>
      </p:sp>
      <p:pic>
        <p:nvPicPr>
          <p:cNvPr id="809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949466"/>
            <a:ext cx="7128792" cy="2336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Line 6"/>
          <p:cNvSpPr>
            <a:spLocks noChangeShapeType="1"/>
          </p:cNvSpPr>
          <p:nvPr/>
        </p:nvSpPr>
        <p:spPr bwMode="auto">
          <a:xfrm flipH="1" flipV="1">
            <a:off x="1979712" y="4093865"/>
            <a:ext cx="0" cy="84560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7"/>
          <p:cNvSpPr txBox="1">
            <a:spLocks noChangeArrowheads="1"/>
          </p:cNvSpPr>
          <p:nvPr/>
        </p:nvSpPr>
        <p:spPr bwMode="auto">
          <a:xfrm>
            <a:off x="683568" y="4931284"/>
            <a:ext cx="266429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t>“OO-Styled” class (with attribute and method)</a:t>
            </a:r>
          </a:p>
        </p:txBody>
      </p:sp>
      <p:sp>
        <p:nvSpPr>
          <p:cNvPr id="9" name="Line 6"/>
          <p:cNvSpPr>
            <a:spLocks noChangeShapeType="1"/>
          </p:cNvSpPr>
          <p:nvPr/>
        </p:nvSpPr>
        <p:spPr bwMode="auto">
          <a:xfrm flipH="1" flipV="1">
            <a:off x="4355976" y="4119270"/>
            <a:ext cx="0" cy="845602"/>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Text Box 7"/>
          <p:cNvSpPr txBox="1">
            <a:spLocks noChangeArrowheads="1"/>
          </p:cNvSpPr>
          <p:nvPr/>
        </p:nvSpPr>
        <p:spPr bwMode="auto">
          <a:xfrm>
            <a:off x="3059832" y="4956689"/>
            <a:ext cx="26642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t>“Service-Styled” class (without attribute)</a:t>
            </a:r>
          </a:p>
        </p:txBody>
      </p:sp>
      <p:sp>
        <p:nvSpPr>
          <p:cNvPr id="11" name="Line 6"/>
          <p:cNvSpPr>
            <a:spLocks noChangeShapeType="1"/>
          </p:cNvSpPr>
          <p:nvPr/>
        </p:nvSpPr>
        <p:spPr bwMode="auto">
          <a:xfrm flipV="1">
            <a:off x="7055224" y="4251037"/>
            <a:ext cx="0" cy="71717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Text Box 7"/>
          <p:cNvSpPr txBox="1">
            <a:spLocks noChangeArrowheads="1"/>
          </p:cNvSpPr>
          <p:nvPr/>
        </p:nvSpPr>
        <p:spPr bwMode="auto">
          <a:xfrm>
            <a:off x="5753962" y="5002219"/>
            <a:ext cx="26642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a:solidFill>
                  <a:schemeClr val="tx1"/>
                </a:solidFill>
                <a:latin typeface="Arial" panose="020B0604020202020204" pitchFamily="34" charset="0"/>
                <a:ea typeface="宋体" panose="02010600030101010101" pitchFamily="2" charset="-122"/>
              </a:defRPr>
            </a:lvl1pPr>
            <a:lvl2pPr marL="742950" indent="-285750" eaLnBrk="0" hangingPunct="0">
              <a:defRPr sz="3200">
                <a:solidFill>
                  <a:schemeClr val="tx1"/>
                </a:solidFill>
                <a:latin typeface="Arial" panose="020B0604020202020204" pitchFamily="34" charset="0"/>
                <a:ea typeface="宋体" panose="02010600030101010101" pitchFamily="2" charset="-122"/>
              </a:defRPr>
            </a:lvl2pPr>
            <a:lvl3pPr marL="1143000" indent="-228600" eaLnBrk="0" hangingPunct="0">
              <a:defRPr sz="3200">
                <a:solidFill>
                  <a:schemeClr val="tx1"/>
                </a:solidFill>
                <a:latin typeface="Arial" panose="020B0604020202020204" pitchFamily="34" charset="0"/>
                <a:ea typeface="宋体" panose="02010600030101010101" pitchFamily="2" charset="-122"/>
              </a:defRPr>
            </a:lvl3pPr>
            <a:lvl4pPr marL="1600200" indent="-228600" eaLnBrk="0" hangingPunct="0">
              <a:defRPr sz="3200">
                <a:solidFill>
                  <a:schemeClr val="tx1"/>
                </a:solidFill>
                <a:latin typeface="Arial" panose="020B0604020202020204" pitchFamily="34" charset="0"/>
                <a:ea typeface="宋体" panose="02010600030101010101" pitchFamily="2" charset="-122"/>
              </a:defRPr>
            </a:lvl4pPr>
            <a:lvl5pPr marL="2057400" indent="-228600" eaLnBrk="0" hangingPunct="0">
              <a:defRPr sz="3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dirty="0"/>
              <a:t>Service contract with service capabilities</a:t>
            </a:r>
          </a:p>
        </p:txBody>
      </p:sp>
    </p:spTree>
    <p:extLst>
      <p:ext uri="{BB962C8B-B14F-4D97-AF65-F5344CB8AC3E}">
        <p14:creationId xmlns:p14="http://schemas.microsoft.com/office/powerpoint/2010/main" val="267387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blinds(horizontal)">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animBg="1"/>
      <p:bldP spid="10" grpId="0"/>
      <p:bldP spid="11"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基本概念：接口</a:t>
            </a:r>
            <a:r>
              <a:rPr lang="en-US" altLang="zh-CN" dirty="0"/>
              <a:t>/Interface &amp; </a:t>
            </a:r>
            <a:r>
              <a:rPr lang="zh-CN" altLang="en-US" dirty="0"/>
              <a:t>服务合约</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24</a:t>
            </a:fld>
            <a:endParaRPr lang="en-US" altLang="zh-CN" dirty="0"/>
          </a:p>
        </p:txBody>
      </p:sp>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2691422"/>
            <a:ext cx="2101552" cy="2620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图片 5"/>
          <p:cNvPicPr>
            <a:picLocks noChangeAspect="1"/>
          </p:cNvPicPr>
          <p:nvPr/>
        </p:nvPicPr>
        <p:blipFill>
          <a:blip r:embed="rId3"/>
          <a:stretch>
            <a:fillRect/>
          </a:stretch>
        </p:blipFill>
        <p:spPr>
          <a:xfrm>
            <a:off x="4932040" y="2691422"/>
            <a:ext cx="2971800" cy="2667000"/>
          </a:xfrm>
          <a:prstGeom prst="rect">
            <a:avLst/>
          </a:prstGeom>
        </p:spPr>
      </p:pic>
    </p:spTree>
    <p:extLst>
      <p:ext uri="{BB962C8B-B14F-4D97-AF65-F5344CB8AC3E}">
        <p14:creationId xmlns:p14="http://schemas.microsoft.com/office/powerpoint/2010/main" val="347831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OO</a:t>
            </a:r>
            <a:r>
              <a:rPr lang="zh-CN" altLang="en-US" dirty="0"/>
              <a:t>的基本原则（</a:t>
            </a:r>
            <a:r>
              <a:rPr lang="en-US" altLang="zh-CN"/>
              <a:t>for SO?)</a:t>
            </a:r>
            <a:endParaRPr lang="zh-CN" altLang="en-US" dirty="0"/>
          </a:p>
        </p:txBody>
      </p:sp>
      <p:sp>
        <p:nvSpPr>
          <p:cNvPr id="3" name="内容占位符 2"/>
          <p:cNvSpPr>
            <a:spLocks noGrp="1"/>
          </p:cNvSpPr>
          <p:nvPr>
            <p:ph idx="1"/>
          </p:nvPr>
        </p:nvSpPr>
        <p:spPr/>
        <p:txBody>
          <a:bodyPr>
            <a:normAutofit/>
          </a:bodyPr>
          <a:lstStyle/>
          <a:p>
            <a:r>
              <a:rPr lang="zh-CN" altLang="en-US" sz="2400" dirty="0"/>
              <a:t>封装（</a:t>
            </a:r>
            <a:r>
              <a:rPr lang="en-US" altLang="zh-CN" sz="2400" dirty="0"/>
              <a:t>Encapsulation</a:t>
            </a:r>
            <a:r>
              <a:rPr lang="zh-CN" altLang="en-US" sz="2400" dirty="0"/>
              <a:t>）</a:t>
            </a:r>
            <a:endParaRPr lang="en-US" altLang="zh-CN" sz="2400" dirty="0"/>
          </a:p>
          <a:p>
            <a:r>
              <a:rPr lang="zh-CN" altLang="en-US" sz="2400" dirty="0"/>
              <a:t>继承（</a:t>
            </a:r>
            <a:r>
              <a:rPr lang="en-US" altLang="zh-CN" sz="2400" dirty="0"/>
              <a:t>Inheritance</a:t>
            </a:r>
            <a:r>
              <a:rPr lang="zh-CN" altLang="en-US" sz="2400" dirty="0"/>
              <a:t>）</a:t>
            </a:r>
            <a:endParaRPr lang="en-US" altLang="zh-CN" sz="2400" dirty="0"/>
          </a:p>
          <a:p>
            <a:r>
              <a:rPr lang="zh-CN" altLang="en-US" sz="2400" dirty="0"/>
              <a:t>泛化和特化（</a:t>
            </a:r>
            <a:r>
              <a:rPr lang="en-US" altLang="zh-CN" sz="2400" dirty="0"/>
              <a:t>Generalization and Specialization</a:t>
            </a:r>
            <a:r>
              <a:rPr lang="zh-CN" altLang="en-US" sz="2400" dirty="0"/>
              <a:t>）</a:t>
            </a:r>
            <a:endParaRPr lang="en-US" altLang="zh-CN" sz="2400" dirty="0"/>
          </a:p>
          <a:p>
            <a:r>
              <a:rPr lang="zh-CN" altLang="en-US" sz="2400" dirty="0"/>
              <a:t>抽象（</a:t>
            </a:r>
            <a:r>
              <a:rPr lang="en-US" altLang="zh-CN" sz="2400" dirty="0"/>
              <a:t>Abstraction</a:t>
            </a:r>
            <a:r>
              <a:rPr lang="zh-CN" altLang="en-US" sz="2400" dirty="0"/>
              <a:t>）</a:t>
            </a:r>
            <a:endParaRPr lang="en-US" altLang="zh-CN" sz="2400" dirty="0"/>
          </a:p>
          <a:p>
            <a:r>
              <a:rPr lang="zh-CN" altLang="en-US" sz="2400" dirty="0"/>
              <a:t>多态（</a:t>
            </a:r>
            <a:r>
              <a:rPr lang="en-US" altLang="zh-CN" sz="2400" dirty="0"/>
              <a:t>Polymorphism</a:t>
            </a:r>
            <a:r>
              <a:rPr lang="zh-CN" altLang="en-US" sz="2400" dirty="0"/>
              <a:t>）</a:t>
            </a:r>
            <a:endParaRPr lang="en-US" altLang="zh-CN" sz="2400" dirty="0"/>
          </a:p>
          <a:p>
            <a:r>
              <a:rPr lang="zh-CN" altLang="en-US" sz="2400" dirty="0"/>
              <a:t>开放</a:t>
            </a:r>
            <a:r>
              <a:rPr lang="en-US" altLang="zh-CN" sz="2400" dirty="0"/>
              <a:t>-</a:t>
            </a:r>
            <a:r>
              <a:rPr lang="zh-CN" altLang="en-US" sz="2400" dirty="0"/>
              <a:t>封闭原则（</a:t>
            </a:r>
            <a:r>
              <a:rPr lang="en-US" altLang="zh-CN" sz="2400" dirty="0"/>
              <a:t>Open-Close Principle, OCP</a:t>
            </a:r>
            <a:r>
              <a:rPr lang="zh-CN" altLang="en-US" sz="2400" dirty="0"/>
              <a:t>）</a:t>
            </a:r>
            <a:endParaRPr lang="en-US" altLang="zh-CN" sz="2400" dirty="0"/>
          </a:p>
          <a:p>
            <a:r>
              <a:rPr lang="zh-CN" altLang="en-US" sz="2400" dirty="0"/>
              <a:t>别重复你自己（</a:t>
            </a:r>
            <a:r>
              <a:rPr lang="en-US" altLang="zh-CN" sz="2400" dirty="0"/>
              <a:t>Don’t Repeat Yourself, DRY)</a:t>
            </a:r>
          </a:p>
          <a:p>
            <a:r>
              <a:rPr lang="zh-CN" altLang="en-US" sz="2400" dirty="0"/>
              <a:t>单一职责原则（</a:t>
            </a:r>
            <a:r>
              <a:rPr lang="en-US" altLang="zh-CN" sz="2400" dirty="0"/>
              <a:t>Single Responsibility Principle, SRP</a:t>
            </a:r>
            <a:r>
              <a:rPr lang="zh-CN" altLang="en-US" sz="2400" dirty="0"/>
              <a:t>）</a:t>
            </a:r>
            <a:endParaRPr lang="en-US" altLang="zh-CN" sz="2400" dirty="0"/>
          </a:p>
          <a:p>
            <a:r>
              <a:rPr lang="zh-CN" altLang="en-US" sz="2400" dirty="0"/>
              <a:t>委托（</a:t>
            </a:r>
            <a:r>
              <a:rPr lang="en-US" altLang="zh-CN" sz="2400" dirty="0"/>
              <a:t>Delegation</a:t>
            </a:r>
            <a:r>
              <a:rPr lang="zh-CN" altLang="en-US" sz="2400" dirty="0"/>
              <a:t>）</a:t>
            </a:r>
            <a:endParaRPr lang="en-US" altLang="zh-CN" sz="2400" dirty="0"/>
          </a:p>
          <a:p>
            <a:r>
              <a:rPr lang="zh-CN" altLang="en-US" sz="2400" dirty="0"/>
              <a:t>关联（</a:t>
            </a:r>
            <a:r>
              <a:rPr lang="en-US" altLang="zh-CN" sz="2400" dirty="0"/>
              <a:t>Association</a:t>
            </a:r>
            <a:r>
              <a:rPr lang="zh-CN" altLang="en-US" sz="2400" dirty="0"/>
              <a:t>）</a:t>
            </a:r>
            <a:endParaRPr lang="en-US" altLang="zh-CN" sz="2400" dirty="0"/>
          </a:p>
          <a:p>
            <a:r>
              <a:rPr lang="zh-CN" altLang="en-US" sz="2400" dirty="0"/>
              <a:t>组合（</a:t>
            </a:r>
            <a:r>
              <a:rPr lang="en-US" altLang="zh-CN" sz="2400" dirty="0"/>
              <a:t>Composition</a:t>
            </a:r>
            <a:r>
              <a:rPr lang="zh-CN" altLang="en-US" sz="2400" dirty="0"/>
              <a:t>）</a:t>
            </a:r>
            <a:endParaRPr lang="en-US" altLang="zh-CN" sz="2400" dirty="0"/>
          </a:p>
          <a:p>
            <a:r>
              <a:rPr lang="zh-CN" altLang="en-US" sz="2400" dirty="0"/>
              <a:t>聚合（</a:t>
            </a:r>
            <a:r>
              <a:rPr lang="en-US" altLang="zh-CN" sz="2400" dirty="0"/>
              <a:t>Aggregation</a:t>
            </a:r>
            <a:r>
              <a:rPr lang="zh-CN" altLang="en-US" sz="2400" dirty="0"/>
              <a:t>）</a:t>
            </a:r>
            <a:endParaRPr lang="en-US" altLang="zh-CN" sz="2400"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25</a:t>
            </a:fld>
            <a:endParaRPr lang="en-US" altLang="zh-CN" dirty="0"/>
          </a:p>
        </p:txBody>
      </p:sp>
    </p:spTree>
    <p:extLst>
      <p:ext uri="{BB962C8B-B14F-4D97-AF65-F5344CB8AC3E}">
        <p14:creationId xmlns:p14="http://schemas.microsoft.com/office/powerpoint/2010/main" val="2823855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封装（</a:t>
            </a:r>
            <a:r>
              <a:rPr lang="en-US" altLang="zh-CN" dirty="0"/>
              <a:t>Encapsulation</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26</a:t>
            </a:fld>
            <a:endParaRPr lang="en-US" altLang="zh-CN" dirty="0"/>
          </a:p>
        </p:txBody>
      </p:sp>
      <p:pic>
        <p:nvPicPr>
          <p:cNvPr id="819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412776"/>
            <a:ext cx="6318250" cy="495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655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继承（</a:t>
            </a:r>
            <a:r>
              <a:rPr lang="en-US" altLang="zh-CN" dirty="0"/>
              <a:t>Inheritance</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27</a:t>
            </a:fld>
            <a:endParaRPr lang="en-US" altLang="zh-CN" dirty="0"/>
          </a:p>
        </p:txBody>
      </p:sp>
      <p:pic>
        <p:nvPicPr>
          <p:cNvPr id="829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412776"/>
            <a:ext cx="7270750" cy="455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88149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泛化和特化（</a:t>
            </a:r>
            <a:r>
              <a:rPr lang="en-US" altLang="zh-CN" dirty="0"/>
              <a:t>Generalization and Specialization</a:t>
            </a:r>
            <a:r>
              <a:rPr lang="zh-CN" altLang="en-US" dirty="0"/>
              <a:t>）</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28</a:t>
            </a:fld>
            <a:endParaRPr lang="en-US" altLang="zh-CN" dirty="0"/>
          </a:p>
        </p:txBody>
      </p:sp>
      <p:pic>
        <p:nvPicPr>
          <p:cNvPr id="839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042034"/>
            <a:ext cx="6452071" cy="541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881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抽象（</a:t>
            </a:r>
            <a:r>
              <a:rPr lang="en-US" altLang="zh-CN" dirty="0"/>
              <a:t>Abstraction</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29</a:t>
            </a:fld>
            <a:endParaRPr lang="en-US" altLang="zh-CN" dirty="0"/>
          </a:p>
        </p:txBody>
      </p:sp>
      <p:pic>
        <p:nvPicPr>
          <p:cNvPr id="849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204864"/>
            <a:ext cx="7232650" cy="370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6182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多态（</a:t>
            </a:r>
            <a:r>
              <a:rPr lang="en-US" altLang="zh-CN" dirty="0"/>
              <a:t>Polymorphism</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30</a:t>
            </a:fld>
            <a:endParaRPr lang="en-US" altLang="zh-CN" dirty="0"/>
          </a:p>
        </p:txBody>
      </p:sp>
      <p:pic>
        <p:nvPicPr>
          <p:cNvPr id="860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151478"/>
            <a:ext cx="6485012" cy="5200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4769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开放</a:t>
            </a:r>
            <a:r>
              <a:rPr lang="en-US" altLang="zh-CN" dirty="0"/>
              <a:t>-</a:t>
            </a:r>
            <a:r>
              <a:rPr lang="zh-CN" altLang="en-US" dirty="0"/>
              <a:t>封闭原则（</a:t>
            </a:r>
            <a:r>
              <a:rPr lang="en-US" altLang="zh-CN" dirty="0"/>
              <a:t>Open-Close Principle, OCP</a:t>
            </a:r>
            <a:r>
              <a:rPr lang="zh-CN" altLang="en-US" dirty="0"/>
              <a:t>）</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31</a:t>
            </a:fld>
            <a:endParaRPr lang="en-US" altLang="zh-CN" dirty="0"/>
          </a:p>
        </p:txBody>
      </p:sp>
      <p:pic>
        <p:nvPicPr>
          <p:cNvPr id="870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300" y="1700808"/>
            <a:ext cx="7137400" cy="412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5220072" y="2276872"/>
            <a:ext cx="646332" cy="923330"/>
          </a:xfrm>
          <a:prstGeom prst="rect">
            <a:avLst/>
          </a:prstGeom>
          <a:noFill/>
        </p:spPr>
        <p:txBody>
          <a:bodyPr wrap="none" lIns="91440" tIns="45720" rIns="91440" bIns="45720">
            <a:spAutoFit/>
          </a:bodyPr>
          <a:lstStyle/>
          <a:p>
            <a:pPr algn="ctr"/>
            <a:r>
              <a:rPr lang="en-US" altLang="zh-CN"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X</a:t>
            </a:r>
            <a:endParaRPr lang="zh-CN" altLang="en-US" sz="5400" b="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Tree>
    <p:extLst>
      <p:ext uri="{BB962C8B-B14F-4D97-AF65-F5344CB8AC3E}">
        <p14:creationId xmlns:p14="http://schemas.microsoft.com/office/powerpoint/2010/main" val="1676340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别重复你自己（</a:t>
            </a:r>
            <a:r>
              <a:rPr lang="en-US" altLang="zh-CN" dirty="0"/>
              <a:t>Don’t Repeat Yourself, DRY)</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32</a:t>
            </a:fld>
            <a:endParaRPr lang="en-US" altLang="zh-CN" dirty="0"/>
          </a:p>
        </p:txBody>
      </p:sp>
      <p:pic>
        <p:nvPicPr>
          <p:cNvPr id="880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1844824"/>
            <a:ext cx="4230582" cy="4064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0163" y="2132856"/>
            <a:ext cx="4583837" cy="3696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4425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单一职责原则（</a:t>
            </a:r>
            <a:r>
              <a:rPr lang="en-US" altLang="zh-CN" dirty="0"/>
              <a:t>Single Responsibility Principle, SRP</a:t>
            </a:r>
            <a:r>
              <a:rPr lang="zh-CN" altLang="en-US" dirty="0"/>
              <a:t>）</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33</a:t>
            </a:fld>
            <a:endParaRPr lang="en-US" altLang="zh-CN" dirty="0"/>
          </a:p>
        </p:txBody>
      </p:sp>
      <p:pic>
        <p:nvPicPr>
          <p:cNvPr id="890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1" y="2132856"/>
            <a:ext cx="4064600" cy="3497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90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032" y="1937938"/>
            <a:ext cx="4549179" cy="388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21031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委托（</a:t>
            </a:r>
            <a:r>
              <a:rPr lang="en-US" altLang="zh-CN" dirty="0"/>
              <a:t>Delegation</a:t>
            </a:r>
            <a:r>
              <a:rPr lang="zh-CN" altLang="en-US" dirty="0"/>
              <a:t>）</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34</a:t>
            </a:fld>
            <a:endParaRPr lang="en-US" altLang="zh-CN" dirty="0"/>
          </a:p>
        </p:txBody>
      </p:sp>
      <p:pic>
        <p:nvPicPr>
          <p:cNvPr id="901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340768"/>
            <a:ext cx="5429225" cy="475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8658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关联（</a:t>
            </a:r>
            <a:r>
              <a:rPr lang="en-US" altLang="zh-CN" dirty="0"/>
              <a:t>Association</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35</a:t>
            </a:fld>
            <a:endParaRPr lang="en-US" altLang="zh-CN" dirty="0"/>
          </a:p>
        </p:txBody>
      </p:sp>
      <p:pic>
        <p:nvPicPr>
          <p:cNvPr id="911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412776"/>
            <a:ext cx="5455703" cy="4913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10510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组合（</a:t>
            </a:r>
            <a:r>
              <a:rPr lang="en-US" altLang="zh-CN" dirty="0"/>
              <a:t>Composition</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36</a:t>
            </a:fld>
            <a:endParaRPr lang="en-US" altLang="zh-CN" dirty="0"/>
          </a:p>
        </p:txBody>
      </p:sp>
      <p:pic>
        <p:nvPicPr>
          <p:cNvPr id="921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6973" y="1124744"/>
            <a:ext cx="4905598" cy="5010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6922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聚合（</a:t>
            </a:r>
            <a:r>
              <a:rPr lang="en-US" altLang="zh-CN" dirty="0"/>
              <a:t>Aggregation</a:t>
            </a:r>
            <a:r>
              <a:rPr lang="zh-CN" altLang="en-US" dirty="0"/>
              <a:t>）</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37</a:t>
            </a:fld>
            <a:endParaRPr lang="en-US" altLang="zh-CN" dirty="0"/>
          </a:p>
        </p:txBody>
      </p:sp>
      <p:pic>
        <p:nvPicPr>
          <p:cNvPr id="931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268760"/>
            <a:ext cx="6042248" cy="5030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55746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en-US" altLang="zh-CN"/>
              <a:t>Services Computing (1/4)</a:t>
            </a:r>
            <a:endParaRPr lang="zh-CN" altLang="en-US"/>
          </a:p>
        </p:txBody>
      </p:sp>
      <p:sp>
        <p:nvSpPr>
          <p:cNvPr id="15363" name="内容占位符 2"/>
          <p:cNvSpPr>
            <a:spLocks noGrp="1"/>
          </p:cNvSpPr>
          <p:nvPr>
            <p:ph idx="1"/>
          </p:nvPr>
        </p:nvSpPr>
        <p:spPr/>
        <p:txBody>
          <a:bodyPr/>
          <a:lstStyle/>
          <a:p>
            <a:r>
              <a:rPr lang="en-US" altLang="zh-CN" dirty="0"/>
              <a:t>Also called Services-Oriented Computing (SOC)</a:t>
            </a:r>
          </a:p>
          <a:p>
            <a:r>
              <a:rPr lang="zh-CN" altLang="zh-CN" dirty="0"/>
              <a:t>从</a:t>
            </a:r>
            <a:r>
              <a:rPr lang="zh-CN" altLang="en-US" dirty="0"/>
              <a:t>泛型</a:t>
            </a:r>
            <a:r>
              <a:rPr lang="zh-CN" altLang="zh-CN" dirty="0"/>
              <a:t>角度出发</a:t>
            </a:r>
            <a:endParaRPr lang="en-US" altLang="zh-CN" dirty="0"/>
          </a:p>
          <a:p>
            <a:pPr lvl="1"/>
            <a:r>
              <a:rPr lang="en-US" altLang="zh-CN" dirty="0"/>
              <a:t>Service-Oriented Computing (SOC) is a new computing paradigm that utilizes services as the basic constructs to support the development of rapid, low-cost and easy composition of distributed applications even in heterogeneous environments.</a:t>
            </a:r>
            <a:endParaRPr lang="zh-CN" altLang="en-US" dirty="0"/>
          </a:p>
        </p:txBody>
      </p:sp>
      <p:sp>
        <p:nvSpPr>
          <p:cNvPr id="1536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69B7226-8BA1-467E-A1CC-FACBF499326E}" type="slidenum">
              <a:rPr lang="en-US" altLang="zh-CN" smtClean="0"/>
              <a:pPr eaLnBrk="1" hangingPunct="1"/>
              <a:t>38</a:t>
            </a:fld>
            <a:endParaRPr lang="en-US" altLang="zh-CN"/>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en-US" altLang="zh-CN" dirty="0"/>
              <a:t>Services Computing (2/4)</a:t>
            </a:r>
            <a:endParaRPr lang="zh-CN" altLang="en-US" dirty="0"/>
          </a:p>
        </p:txBody>
      </p:sp>
      <p:sp>
        <p:nvSpPr>
          <p:cNvPr id="16387" name="内容占位符 2"/>
          <p:cNvSpPr>
            <a:spLocks noGrp="1"/>
          </p:cNvSpPr>
          <p:nvPr>
            <p:ph idx="1"/>
          </p:nvPr>
        </p:nvSpPr>
        <p:spPr/>
        <p:txBody>
          <a:bodyPr/>
          <a:lstStyle/>
          <a:p>
            <a:r>
              <a:rPr lang="zh-CN" altLang="zh-CN" dirty="0"/>
              <a:t>从软件架构角度出发</a:t>
            </a:r>
            <a:endParaRPr lang="en-US" altLang="zh-CN" dirty="0"/>
          </a:p>
          <a:p>
            <a:pPr lvl="1"/>
            <a:r>
              <a:rPr lang="en-US" altLang="zh-CN" dirty="0"/>
              <a:t>The Service-Oriented Computing (SOC) paradigm refers to the set of concepts, principles, and methods that represent computing in Service-Oriented Architecture (SOA) in which software applications are constructed based on independent component services with standard interfaces.</a:t>
            </a:r>
            <a:endParaRPr lang="zh-CN" altLang="en-US" dirty="0"/>
          </a:p>
        </p:txBody>
      </p:sp>
      <p:sp>
        <p:nvSpPr>
          <p:cNvPr id="16388"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717F4BC-0F17-4102-A6EE-91FA8B68C775}" type="slidenum">
              <a:rPr lang="en-US" altLang="zh-CN" smtClean="0"/>
              <a:pPr eaLnBrk="1" hangingPunct="1"/>
              <a:t>39</a:t>
            </a:fld>
            <a:endParaRPr lang="en-US" altLang="zh-CN"/>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a:t>Services Computing (3/4)</a:t>
            </a:r>
            <a:endParaRPr lang="zh-CN" altLang="en-US"/>
          </a:p>
        </p:txBody>
      </p:sp>
      <p:sp>
        <p:nvSpPr>
          <p:cNvPr id="17411" name="内容占位符 2"/>
          <p:cNvSpPr>
            <a:spLocks noGrp="1"/>
          </p:cNvSpPr>
          <p:nvPr>
            <p:ph idx="1"/>
          </p:nvPr>
        </p:nvSpPr>
        <p:spPr/>
        <p:txBody>
          <a:bodyPr/>
          <a:lstStyle/>
          <a:p>
            <a:r>
              <a:rPr lang="zh-CN" altLang="en-US" dirty="0"/>
              <a:t>从服务角度出发</a:t>
            </a:r>
            <a:endParaRPr lang="en-US" altLang="zh-CN" dirty="0"/>
          </a:p>
          <a:p>
            <a:pPr lvl="1"/>
            <a:r>
              <a:rPr lang="en-US" altLang="zh-CN" dirty="0"/>
              <a:t>With the mission of bridging the gap between business services and IT services, and further enhancing business services, Service Computing covers the science and technology of leveraging computing and information technology to model, create, operate, and manage business services.</a:t>
            </a:r>
          </a:p>
        </p:txBody>
      </p:sp>
      <p:sp>
        <p:nvSpPr>
          <p:cNvPr id="17412"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4A67FD0-8A98-4128-B9B0-AC6202777246}" type="slidenum">
              <a:rPr lang="en-US" altLang="zh-CN" smtClean="0"/>
              <a:pPr eaLnBrk="1" hangingPunct="1"/>
              <a:t>40</a:t>
            </a:fld>
            <a:endParaRPr lang="en-US" altLang="zh-CN"/>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en-US" altLang="zh-CN"/>
              <a:t>Services Computing (4/4)</a:t>
            </a:r>
            <a:endParaRPr lang="zh-CN" altLang="en-US"/>
          </a:p>
        </p:txBody>
      </p:sp>
      <p:sp>
        <p:nvSpPr>
          <p:cNvPr id="18435" name="内容占位符 2"/>
          <p:cNvSpPr>
            <a:spLocks noGrp="1"/>
          </p:cNvSpPr>
          <p:nvPr>
            <p:ph idx="1"/>
          </p:nvPr>
        </p:nvSpPr>
        <p:spPr/>
        <p:txBody>
          <a:bodyPr/>
          <a:lstStyle/>
          <a:p>
            <a:r>
              <a:rPr lang="zh-CN" altLang="zh-CN" dirty="0"/>
              <a:t>从软件工程的角度出发</a:t>
            </a:r>
            <a:endParaRPr lang="en-US" altLang="zh-CN" dirty="0"/>
          </a:p>
          <a:p>
            <a:pPr lvl="1"/>
            <a:r>
              <a:rPr lang="zh-CN" altLang="zh-CN" dirty="0"/>
              <a:t>面向服务</a:t>
            </a:r>
            <a:r>
              <a:rPr lang="zh-CN" altLang="en-US" dirty="0"/>
              <a:t>的计算</a:t>
            </a:r>
            <a:r>
              <a:rPr lang="zh-CN" altLang="zh-CN" dirty="0"/>
              <a:t>涵盖</a:t>
            </a:r>
            <a:r>
              <a:rPr lang="zh-CN" altLang="en-US" dirty="0"/>
              <a:t>了</a:t>
            </a:r>
            <a:r>
              <a:rPr lang="zh-CN" altLang="zh-CN" dirty="0"/>
              <a:t>使用服务作为基本抽象元素，采用工程化方法，对服务系统进行分析、设计、开发、测试、部署、管理等活动所涉及的理论、技术和方法</a:t>
            </a:r>
            <a:endParaRPr lang="en-US" altLang="zh-CN" dirty="0"/>
          </a:p>
          <a:p>
            <a:pPr lvl="1"/>
            <a:r>
              <a:rPr lang="en-US" altLang="zh-CN" dirty="0"/>
              <a:t>Services-Oriented Analysis vs. OOA</a:t>
            </a:r>
          </a:p>
          <a:p>
            <a:pPr lvl="1"/>
            <a:r>
              <a:rPr lang="en-US" altLang="zh-CN" dirty="0"/>
              <a:t>Services-Oriented Design vs. OOD</a:t>
            </a:r>
          </a:p>
          <a:p>
            <a:pPr lvl="1"/>
            <a:r>
              <a:rPr lang="en-US" altLang="zh-CN" dirty="0"/>
              <a:t>Services-Oriented Implementation vs. OOP</a:t>
            </a:r>
          </a:p>
          <a:p>
            <a:pPr lvl="1"/>
            <a:r>
              <a:rPr lang="en-US" altLang="zh-CN" dirty="0"/>
              <a:t>Services testing, Services Deployment and Services management</a:t>
            </a:r>
            <a:endParaRPr lang="zh-CN" altLang="en-US" dirty="0"/>
          </a:p>
        </p:txBody>
      </p:sp>
      <p:sp>
        <p:nvSpPr>
          <p:cNvPr id="1843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A06BFB8-5E71-423D-B7EF-DF89174BE4C6}" type="slidenum">
              <a:rPr lang="en-US" altLang="zh-CN" smtClean="0"/>
              <a:pPr eaLnBrk="1" hangingPunct="1"/>
              <a:t>41</a:t>
            </a:fld>
            <a:endParaRPr lang="en-US" altLang="zh-CN" dirty="0"/>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面向服务与面向服务的目标</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42</a:t>
            </a:fld>
            <a:endParaRPr lang="en-US" altLang="zh-CN" dirty="0"/>
          </a:p>
        </p:txBody>
      </p:sp>
      <p:pic>
        <p:nvPicPr>
          <p:cNvPr id="788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268760"/>
            <a:ext cx="5379120" cy="5028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0203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normAutofit fontScale="90000"/>
          </a:bodyPr>
          <a:lstStyle/>
          <a:p>
            <a:pPr eaLnBrk="1" hangingPunct="1"/>
            <a:r>
              <a:rPr lang="en-US" altLang="zh-CN" dirty="0"/>
              <a:t>Service-Oriented Architecture (1/2)</a:t>
            </a:r>
          </a:p>
        </p:txBody>
      </p:sp>
      <p:sp>
        <p:nvSpPr>
          <p:cNvPr id="19460" name="Rectangle 3"/>
          <p:cNvSpPr>
            <a:spLocks noGrp="1" noChangeArrowheads="1"/>
          </p:cNvSpPr>
          <p:nvPr>
            <p:ph idx="1"/>
          </p:nvPr>
        </p:nvSpPr>
        <p:spPr/>
        <p:txBody>
          <a:bodyPr>
            <a:normAutofit fontScale="92500"/>
          </a:bodyPr>
          <a:lstStyle/>
          <a:p>
            <a:pPr eaLnBrk="1" hangingPunct="1">
              <a:lnSpc>
                <a:spcPct val="80000"/>
              </a:lnSpc>
            </a:pPr>
            <a:r>
              <a:rPr lang="en-US" altLang="zh-CN" sz="2800" dirty="0"/>
              <a:t>Service-Oriented Architecture (SOA) is a business-centric IT architectural approach that supports integrating your business as linked, repeatable business task, or services. SOA helps users build composite applications, which are applications that draw upon functionality from multiple sources within and beyond the enterprise to support horizontal business processes.</a:t>
            </a:r>
          </a:p>
          <a:p>
            <a:pPr>
              <a:lnSpc>
                <a:spcPct val="80000"/>
              </a:lnSpc>
            </a:pPr>
            <a:r>
              <a:rPr lang="en-US" altLang="zh-CN" sz="2800" dirty="0"/>
              <a:t>In software engineering, a service-oriented architecture (SOA) is a set of principles and methodologies for designing and developing software in the form of interoperable services. These services are well-defined business functionalities that are built as software components (discrete pieces of code and/or data structures) that can be reused for different purposes. </a:t>
            </a:r>
          </a:p>
        </p:txBody>
      </p:sp>
      <p:sp>
        <p:nvSpPr>
          <p:cNvPr id="19458"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037371C-47A5-4491-AD3D-D47D3D565437}" type="slidenum">
              <a:rPr lang="en-US" altLang="zh-CN" smtClean="0"/>
              <a:pPr eaLnBrk="1" hangingPunct="1"/>
              <a:t>43</a:t>
            </a:fld>
            <a:endParaRPr lang="en-US" altLang="zh-CN"/>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Service-Oriented Architecture (2/2)</a:t>
            </a:r>
            <a:endParaRPr lang="zh-CN" altLang="en-US" dirty="0"/>
          </a:p>
        </p:txBody>
      </p:sp>
      <p:sp>
        <p:nvSpPr>
          <p:cNvPr id="3" name="内容占位符 2"/>
          <p:cNvSpPr>
            <a:spLocks noGrp="1"/>
          </p:cNvSpPr>
          <p:nvPr>
            <p:ph idx="1"/>
          </p:nvPr>
        </p:nvSpPr>
        <p:spPr>
          <a:xfrm>
            <a:off x="457200" y="1052737"/>
            <a:ext cx="8229600" cy="3168351"/>
          </a:xfrm>
        </p:spPr>
        <p:txBody>
          <a:bodyPr>
            <a:normAutofit fontScale="92500"/>
          </a:bodyPr>
          <a:lstStyle/>
          <a:p>
            <a:r>
              <a:rPr lang="en-US" altLang="zh-CN" dirty="0"/>
              <a:t>SOA solution is built on reusable services accessible from Internet or service registries</a:t>
            </a:r>
          </a:p>
          <a:p>
            <a:r>
              <a:rPr lang="en-US" altLang="zh-CN" dirty="0"/>
              <a:t>Enables interoperability and integration of complex software systems in a standard way</a:t>
            </a:r>
          </a:p>
          <a:p>
            <a:r>
              <a:rPr lang="en-US" altLang="zh-CN" dirty="0"/>
              <a:t>Bridge IT and business requirement</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44</a:t>
            </a:fld>
            <a:endParaRPr lang="en-US" altLang="zh-CN" dirty="0"/>
          </a:p>
        </p:txBody>
      </p:sp>
      <p:graphicFrame>
        <p:nvGraphicFramePr>
          <p:cNvPr id="5" name="对象 4"/>
          <p:cNvGraphicFramePr>
            <a:graphicFrameLocks noGrp="1" noChangeAspect="1"/>
          </p:cNvGraphicFramePr>
          <p:nvPr>
            <p:extLst>
              <p:ext uri="{D42A27DB-BD31-4B8C-83A1-F6EECF244321}">
                <p14:modId xmlns:p14="http://schemas.microsoft.com/office/powerpoint/2010/main" val="2159826718"/>
              </p:ext>
            </p:extLst>
          </p:nvPr>
        </p:nvGraphicFramePr>
        <p:xfrm>
          <a:off x="1979712" y="3984873"/>
          <a:ext cx="5014276" cy="2476252"/>
        </p:xfrm>
        <a:graphic>
          <a:graphicData uri="http://schemas.openxmlformats.org/presentationml/2006/ole">
            <mc:AlternateContent xmlns:mc="http://schemas.openxmlformats.org/markup-compatibility/2006">
              <mc:Choice xmlns:v="urn:schemas-microsoft-com:vml" Requires="v">
                <p:oleObj spid="_x0000_s77899" name="Visio" r:id="rId3" imgW="4510624" imgH="2227811" progId="Visio.Drawing.11">
                  <p:embed/>
                </p:oleObj>
              </mc:Choice>
              <mc:Fallback>
                <p:oleObj name="Visio" r:id="rId3" imgW="4510624" imgH="2227811" progId="Visio.Drawing.11">
                  <p:embed/>
                  <p:pic>
                    <p:nvPicPr>
                      <p:cNvPr id="0" name="Object 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712" y="3984873"/>
                        <a:ext cx="5014276" cy="247625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6530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zh-CN"/>
              <a:t>Triangular SOA Operation Model</a:t>
            </a:r>
          </a:p>
        </p:txBody>
      </p:sp>
      <p:graphicFrame>
        <p:nvGraphicFramePr>
          <p:cNvPr id="21508" name="Object 4"/>
          <p:cNvGraphicFramePr>
            <a:graphicFrameLocks noGrp="1" noChangeAspect="1"/>
          </p:cNvGraphicFramePr>
          <p:nvPr>
            <p:ph idx="1"/>
          </p:nvPr>
        </p:nvGraphicFramePr>
        <p:xfrm>
          <a:off x="2195513" y="1773238"/>
          <a:ext cx="4537075" cy="4397375"/>
        </p:xfrm>
        <a:graphic>
          <a:graphicData uri="http://schemas.openxmlformats.org/presentationml/2006/ole">
            <mc:AlternateContent xmlns:mc="http://schemas.openxmlformats.org/markup-compatibility/2006">
              <mc:Choice xmlns:v="urn:schemas-microsoft-com:vml" Requires="v">
                <p:oleObj spid="_x0000_s21587" name="Visio" r:id="rId5" imgW="4537671" imgH="4397433" progId="Visio.Drawing.11">
                  <p:embed/>
                </p:oleObj>
              </mc:Choice>
              <mc:Fallback>
                <p:oleObj name="Visio" r:id="rId5" imgW="4537671" imgH="4397433"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1773238"/>
                        <a:ext cx="4537075" cy="439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506"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C08F15F-2EE8-4C27-85B8-4D7E656BD647}" type="slidenum">
              <a:rPr lang="en-US" altLang="zh-CN" smtClean="0"/>
              <a:pPr eaLnBrk="1" hangingPunct="1"/>
              <a:t>45</a:t>
            </a:fld>
            <a:endParaRPr lang="en-US" altLang="zh-CN"/>
          </a:p>
        </p:txBody>
      </p:sp>
      <p:sp>
        <p:nvSpPr>
          <p:cNvPr id="335878" name="Line 6"/>
          <p:cNvSpPr>
            <a:spLocks noChangeShapeType="1"/>
          </p:cNvSpPr>
          <p:nvPr/>
        </p:nvSpPr>
        <p:spPr bwMode="auto">
          <a:xfrm flipH="1">
            <a:off x="5148263" y="3644900"/>
            <a:ext cx="1944687" cy="9366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5879" name="Text Box 7"/>
          <p:cNvSpPr txBox="1">
            <a:spLocks noChangeArrowheads="1"/>
          </p:cNvSpPr>
          <p:nvPr/>
        </p:nvSpPr>
        <p:spPr bwMode="auto">
          <a:xfrm>
            <a:off x="5867400" y="3284538"/>
            <a:ext cx="23034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solidFill>
                  <a:srgbClr val="00708E"/>
                </a:solidFill>
              </a:rPr>
              <a:t>Publishing</a:t>
            </a:r>
            <a:r>
              <a:rPr lang="en-US" altLang="zh-CN" dirty="0"/>
              <a:t> </a:t>
            </a:r>
            <a:r>
              <a:rPr lang="en-US" altLang="zh-CN" dirty="0">
                <a:solidFill>
                  <a:srgbClr val="00708E"/>
                </a:solidFill>
              </a:rPr>
              <a:t>interface</a:t>
            </a:r>
          </a:p>
        </p:txBody>
      </p:sp>
      <p:sp>
        <p:nvSpPr>
          <p:cNvPr id="335883" name="Line 11"/>
          <p:cNvSpPr>
            <a:spLocks noChangeShapeType="1"/>
          </p:cNvSpPr>
          <p:nvPr/>
        </p:nvSpPr>
        <p:spPr bwMode="auto">
          <a:xfrm>
            <a:off x="2411413" y="3573463"/>
            <a:ext cx="1512887" cy="115093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5884" name="Text Box 12"/>
          <p:cNvSpPr txBox="1">
            <a:spLocks noChangeArrowheads="1"/>
          </p:cNvSpPr>
          <p:nvPr/>
        </p:nvSpPr>
        <p:spPr bwMode="auto">
          <a:xfrm>
            <a:off x="1187450" y="3213100"/>
            <a:ext cx="23034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r>
              <a:rPr lang="en-US" altLang="zh-CN" dirty="0">
                <a:solidFill>
                  <a:srgbClr val="00708E"/>
                </a:solidFill>
              </a:rPr>
              <a:t>Query interface</a:t>
            </a: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5878"/>
                                        </p:tgtEl>
                                        <p:attrNameLst>
                                          <p:attrName>style.visibility</p:attrName>
                                        </p:attrNameLst>
                                      </p:cBhvr>
                                      <p:to>
                                        <p:strVal val="visible"/>
                                      </p:to>
                                    </p:set>
                                    <p:animEffect transition="in" filter="blinds(horizontal)">
                                      <p:cBhvr>
                                        <p:cTn id="7" dur="500"/>
                                        <p:tgtEl>
                                          <p:spTgt spid="33587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35879"/>
                                        </p:tgtEl>
                                        <p:attrNameLst>
                                          <p:attrName>style.visibility</p:attrName>
                                        </p:attrNameLst>
                                      </p:cBhvr>
                                      <p:to>
                                        <p:strVal val="visible"/>
                                      </p:to>
                                    </p:set>
                                    <p:animEffect transition="in" filter="blinds(horizontal)">
                                      <p:cBhvr>
                                        <p:cTn id="10" dur="500"/>
                                        <p:tgtEl>
                                          <p:spTgt spid="33587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35883"/>
                                        </p:tgtEl>
                                        <p:attrNameLst>
                                          <p:attrName>style.visibility</p:attrName>
                                        </p:attrNameLst>
                                      </p:cBhvr>
                                      <p:to>
                                        <p:strVal val="visible"/>
                                      </p:to>
                                    </p:set>
                                    <p:animEffect transition="in" filter="blinds(horizontal)">
                                      <p:cBhvr>
                                        <p:cTn id="15" dur="500"/>
                                        <p:tgtEl>
                                          <p:spTgt spid="335883"/>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35884"/>
                                        </p:tgtEl>
                                        <p:attrNameLst>
                                          <p:attrName>style.visibility</p:attrName>
                                        </p:attrNameLst>
                                      </p:cBhvr>
                                      <p:to>
                                        <p:strVal val="visible"/>
                                      </p:to>
                                    </p:set>
                                    <p:animEffect transition="in" filter="blinds(horizontal)">
                                      <p:cBhvr>
                                        <p:cTn id="18" dur="500"/>
                                        <p:tgtEl>
                                          <p:spTgt spid="335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5878" grpId="0" animBg="1"/>
      <p:bldP spid="335879" grpId="0"/>
      <p:bldP spid="335883" grpId="0" animBg="1"/>
      <p:bldP spid="33588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en-US" altLang="zh-CN" dirty="0"/>
              <a:t>Concepts Related</a:t>
            </a:r>
            <a:endParaRPr lang="zh-CN" altLang="en-US" dirty="0"/>
          </a:p>
        </p:txBody>
      </p:sp>
      <p:sp>
        <p:nvSpPr>
          <p:cNvPr id="22531"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2482CC5-29C1-4CF5-ABF4-D2FBEF1045AD}" type="slidenum">
              <a:rPr lang="en-US" altLang="zh-CN" smtClean="0"/>
              <a:pPr eaLnBrk="1" hangingPunct="1"/>
              <a:t>46</a:t>
            </a:fld>
            <a:endParaRPr lang="en-US" altLang="zh-CN"/>
          </a:p>
        </p:txBody>
      </p:sp>
      <p:sp>
        <p:nvSpPr>
          <p:cNvPr id="23" name="Oval 3"/>
          <p:cNvSpPr>
            <a:spLocks noChangeArrowheads="1"/>
          </p:cNvSpPr>
          <p:nvPr/>
        </p:nvSpPr>
        <p:spPr bwMode="auto">
          <a:xfrm>
            <a:off x="3708400" y="2997200"/>
            <a:ext cx="1873250" cy="1081088"/>
          </a:xfrm>
          <a:prstGeom prst="ellipse">
            <a:avLst/>
          </a:prstGeom>
          <a:gradFill rotWithShape="1">
            <a:gsLst>
              <a:gs pos="0">
                <a:srgbClr val="3399FF"/>
              </a:gs>
              <a:gs pos="100000">
                <a:srgbClr val="184776"/>
              </a:gs>
            </a:gsLst>
            <a:path path="shape">
              <a:fillToRect l="50000" t="50000" r="50000" b="50000"/>
            </a:path>
          </a:gradFill>
          <a:ln w="9525">
            <a:round/>
            <a:headEnd/>
            <a:tailEnd/>
          </a:ln>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r>
              <a:rPr lang="en-US" altLang="zh-CN" sz="2400">
                <a:solidFill>
                  <a:schemeClr val="bg1"/>
                </a:solidFill>
              </a:rPr>
              <a:t>SOC/SOA</a:t>
            </a:r>
          </a:p>
        </p:txBody>
      </p:sp>
      <p:sp>
        <p:nvSpPr>
          <p:cNvPr id="24" name="Oval 4"/>
          <p:cNvSpPr>
            <a:spLocks noChangeArrowheads="1"/>
          </p:cNvSpPr>
          <p:nvPr/>
        </p:nvSpPr>
        <p:spPr bwMode="auto">
          <a:xfrm>
            <a:off x="1765300" y="2328863"/>
            <a:ext cx="1584325" cy="914400"/>
          </a:xfrm>
          <a:prstGeom prst="ellipse">
            <a:avLst/>
          </a:prstGeom>
          <a:gradFill rotWithShape="1">
            <a:gsLst>
              <a:gs pos="0">
                <a:srgbClr val="66FFFF"/>
              </a:gs>
              <a:gs pos="100000">
                <a:srgbClr val="2F7676"/>
              </a:gs>
            </a:gsLst>
            <a:path path="shape">
              <a:fillToRect l="50000" t="50000" r="50000" b="50000"/>
            </a:path>
          </a:gradFill>
          <a:ln w="9525">
            <a:round/>
            <a:headEnd/>
            <a:tailEnd/>
          </a:ln>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r>
              <a:rPr lang="en-US" altLang="zh-CN" sz="2000"/>
              <a:t>Object</a:t>
            </a:r>
          </a:p>
          <a:p>
            <a:pPr algn="ctr"/>
            <a:r>
              <a:rPr lang="en-US" altLang="zh-CN" sz="2000"/>
              <a:t>Oriented</a:t>
            </a:r>
          </a:p>
        </p:txBody>
      </p:sp>
      <p:sp>
        <p:nvSpPr>
          <p:cNvPr id="25" name="Oval 5"/>
          <p:cNvSpPr>
            <a:spLocks noChangeArrowheads="1"/>
          </p:cNvSpPr>
          <p:nvPr/>
        </p:nvSpPr>
        <p:spPr bwMode="auto">
          <a:xfrm>
            <a:off x="1836738" y="3935413"/>
            <a:ext cx="1584325" cy="914400"/>
          </a:xfrm>
          <a:prstGeom prst="ellipse">
            <a:avLst/>
          </a:prstGeom>
          <a:gradFill rotWithShape="1">
            <a:gsLst>
              <a:gs pos="0">
                <a:srgbClr val="FFFF99"/>
              </a:gs>
              <a:gs pos="100000">
                <a:srgbClr val="767647"/>
              </a:gs>
            </a:gsLst>
            <a:path path="shape">
              <a:fillToRect l="50000" t="50000" r="50000" b="50000"/>
            </a:path>
          </a:gradFill>
          <a:ln w="9525">
            <a:round/>
            <a:headEnd/>
            <a:tailEnd/>
          </a:ln>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r>
              <a:rPr lang="en-US" altLang="zh-CN" sz="2000"/>
              <a:t>CBSD</a:t>
            </a:r>
          </a:p>
        </p:txBody>
      </p:sp>
      <p:sp>
        <p:nvSpPr>
          <p:cNvPr id="26" name="Oval 6"/>
          <p:cNvSpPr>
            <a:spLocks noChangeArrowheads="1"/>
          </p:cNvSpPr>
          <p:nvPr/>
        </p:nvSpPr>
        <p:spPr bwMode="auto">
          <a:xfrm>
            <a:off x="3852863" y="4633913"/>
            <a:ext cx="1584325" cy="914400"/>
          </a:xfrm>
          <a:prstGeom prst="ellipse">
            <a:avLst/>
          </a:prstGeom>
          <a:gradFill rotWithShape="1">
            <a:gsLst>
              <a:gs pos="0">
                <a:schemeClr val="hlink"/>
              </a:gs>
              <a:gs pos="100000">
                <a:schemeClr val="hlink">
                  <a:gamma/>
                  <a:shade val="46275"/>
                  <a:invGamma/>
                </a:schemeClr>
              </a:gs>
            </a:gsLst>
            <a:path path="shape">
              <a:fillToRect l="50000" t="50000" r="50000" b="50000"/>
            </a:path>
          </a:gradFill>
          <a:ln w="9525" algn="ctr">
            <a:round/>
            <a:headEnd/>
            <a:tailEnd/>
          </a:ln>
          <a:effectLst/>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defRPr/>
            </a:pPr>
            <a:r>
              <a:rPr lang="en-US" altLang="zh-CN" sz="2000" dirty="0">
                <a:ea typeface="宋体" pitchFamily="2" charset="-122"/>
              </a:rPr>
              <a:t>Web </a:t>
            </a:r>
          </a:p>
          <a:p>
            <a:pPr algn="ctr">
              <a:defRPr/>
            </a:pPr>
            <a:r>
              <a:rPr lang="en-US" altLang="zh-CN" sz="2000" dirty="0">
                <a:ea typeface="宋体" pitchFamily="2" charset="-122"/>
              </a:rPr>
              <a:t>Services</a:t>
            </a:r>
          </a:p>
        </p:txBody>
      </p:sp>
      <p:sp>
        <p:nvSpPr>
          <p:cNvPr id="27" name="Oval 7"/>
          <p:cNvSpPr>
            <a:spLocks noChangeArrowheads="1"/>
          </p:cNvSpPr>
          <p:nvPr/>
        </p:nvSpPr>
        <p:spPr bwMode="auto">
          <a:xfrm>
            <a:off x="5797550" y="3913188"/>
            <a:ext cx="1584325" cy="914400"/>
          </a:xfrm>
          <a:prstGeom prst="ellipse">
            <a:avLst/>
          </a:prstGeom>
          <a:gradFill rotWithShape="1">
            <a:gsLst>
              <a:gs pos="0">
                <a:srgbClr val="EAEAEA"/>
              </a:gs>
              <a:gs pos="100000">
                <a:srgbClr val="6C6C6C"/>
              </a:gs>
            </a:gsLst>
            <a:path path="shape">
              <a:fillToRect l="50000" t="50000" r="50000" b="50000"/>
            </a:path>
          </a:gradFill>
          <a:ln w="9525">
            <a:round/>
            <a:headEnd/>
            <a:tailEnd/>
          </a:ln>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r>
              <a:rPr lang="en-US" altLang="zh-CN" sz="2000"/>
              <a:t>Distributed</a:t>
            </a:r>
          </a:p>
          <a:p>
            <a:pPr algn="ctr"/>
            <a:r>
              <a:rPr lang="en-US" altLang="zh-CN" sz="2000"/>
              <a:t>Computing</a:t>
            </a:r>
          </a:p>
        </p:txBody>
      </p:sp>
      <p:sp>
        <p:nvSpPr>
          <p:cNvPr id="28" name="Oval 8"/>
          <p:cNvSpPr>
            <a:spLocks noChangeArrowheads="1"/>
          </p:cNvSpPr>
          <p:nvPr/>
        </p:nvSpPr>
        <p:spPr bwMode="auto">
          <a:xfrm>
            <a:off x="5867400" y="2351088"/>
            <a:ext cx="1584325" cy="914400"/>
          </a:xfrm>
          <a:prstGeom prst="ellipse">
            <a:avLst/>
          </a:prstGeom>
          <a:gradFill rotWithShape="1">
            <a:gsLst>
              <a:gs pos="0">
                <a:srgbClr val="66FF99"/>
              </a:gs>
              <a:gs pos="100000">
                <a:srgbClr val="2F7647"/>
              </a:gs>
            </a:gsLst>
            <a:path path="shape">
              <a:fillToRect l="50000" t="50000" r="50000" b="50000"/>
            </a:path>
          </a:gradFill>
          <a:ln w="9525">
            <a:round/>
            <a:headEnd/>
            <a:tailEnd/>
          </a:ln>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r>
              <a:rPr lang="en-US" altLang="zh-CN" sz="2000"/>
              <a:t>BPM</a:t>
            </a:r>
          </a:p>
        </p:txBody>
      </p:sp>
      <p:sp>
        <p:nvSpPr>
          <p:cNvPr id="29" name="Oval 9"/>
          <p:cNvSpPr>
            <a:spLocks noChangeArrowheads="1"/>
          </p:cNvSpPr>
          <p:nvPr/>
        </p:nvSpPr>
        <p:spPr bwMode="auto">
          <a:xfrm>
            <a:off x="3781425" y="1557338"/>
            <a:ext cx="1584325" cy="914400"/>
          </a:xfrm>
          <a:prstGeom prst="ellipse">
            <a:avLst/>
          </a:prstGeom>
          <a:gradFill rotWithShape="1">
            <a:gsLst>
              <a:gs pos="0">
                <a:srgbClr val="FF99FF"/>
              </a:gs>
              <a:gs pos="100000">
                <a:srgbClr val="764776"/>
              </a:gs>
            </a:gsLst>
            <a:path path="shape">
              <a:fillToRect l="50000" t="50000" r="50000" b="50000"/>
            </a:path>
          </a:gradFill>
          <a:ln w="9525">
            <a:round/>
            <a:headEnd/>
            <a:tailEnd/>
          </a:ln>
          <a:scene3d>
            <a:camera prst="legacyObliqueTopRight"/>
            <a:lightRig rig="legacyFlat3" dir="b"/>
          </a:scene3d>
          <a:sp3d extrusionH="49200" prstMaterial="legacyMatte">
            <a:bevelT w="13500" h="13500" prst="angle"/>
            <a:bevelB w="13500" h="13500" prst="angle"/>
            <a:extrusionClr>
              <a:schemeClr val="tx1"/>
            </a:extrusionClr>
          </a:sp3d>
        </p:spPr>
        <p:txBody>
          <a:bodyPr wrap="none" anchor="ctr">
            <a:flatTx/>
          </a:bodyPr>
          <a:lstStyle/>
          <a:p>
            <a:pPr algn="ctr"/>
            <a:r>
              <a:rPr lang="en-US" altLang="zh-CN" sz="2000" dirty="0"/>
              <a:t>Enterprise</a:t>
            </a:r>
          </a:p>
          <a:p>
            <a:pPr algn="ctr"/>
            <a:r>
              <a:rPr lang="en-US" altLang="zh-CN" sz="2000" dirty="0"/>
              <a:t>Integration</a:t>
            </a:r>
          </a:p>
        </p:txBody>
      </p:sp>
      <p:sp>
        <p:nvSpPr>
          <p:cNvPr id="30" name="Line 10"/>
          <p:cNvSpPr>
            <a:spLocks noChangeShapeType="1"/>
          </p:cNvSpPr>
          <p:nvPr/>
        </p:nvSpPr>
        <p:spPr bwMode="auto">
          <a:xfrm>
            <a:off x="4645025" y="2493963"/>
            <a:ext cx="0" cy="431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1"/>
          <p:cNvSpPr>
            <a:spLocks noChangeShapeType="1"/>
          </p:cNvSpPr>
          <p:nvPr/>
        </p:nvSpPr>
        <p:spPr bwMode="auto">
          <a:xfrm>
            <a:off x="4645025" y="4149725"/>
            <a:ext cx="0" cy="4318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12"/>
          <p:cNvSpPr>
            <a:spLocks noChangeShapeType="1"/>
          </p:cNvSpPr>
          <p:nvPr/>
        </p:nvSpPr>
        <p:spPr bwMode="auto">
          <a:xfrm flipH="1" flipV="1">
            <a:off x="3278188" y="3027363"/>
            <a:ext cx="503237" cy="2159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13"/>
          <p:cNvSpPr>
            <a:spLocks noChangeShapeType="1"/>
          </p:cNvSpPr>
          <p:nvPr/>
        </p:nvSpPr>
        <p:spPr bwMode="auto">
          <a:xfrm flipV="1">
            <a:off x="5508625" y="3049588"/>
            <a:ext cx="503238" cy="2159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4"/>
          <p:cNvSpPr>
            <a:spLocks noChangeShapeType="1"/>
          </p:cNvSpPr>
          <p:nvPr/>
        </p:nvSpPr>
        <p:spPr bwMode="auto">
          <a:xfrm flipH="1">
            <a:off x="3349625" y="3913188"/>
            <a:ext cx="503238" cy="2159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15"/>
          <p:cNvSpPr>
            <a:spLocks noChangeShapeType="1"/>
          </p:cNvSpPr>
          <p:nvPr/>
        </p:nvSpPr>
        <p:spPr bwMode="auto">
          <a:xfrm>
            <a:off x="5437188" y="3913188"/>
            <a:ext cx="503237" cy="215900"/>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5" name="Text Box 16"/>
          <p:cNvSpPr txBox="1">
            <a:spLocks noChangeArrowheads="1"/>
          </p:cNvSpPr>
          <p:nvPr/>
        </p:nvSpPr>
        <p:spPr bwMode="auto">
          <a:xfrm>
            <a:off x="179388" y="5661025"/>
            <a:ext cx="42687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r>
              <a:rPr lang="en-US" altLang="zh-CN" sz="1600"/>
              <a:t>CBSD: Component-Based Software Development</a:t>
            </a:r>
          </a:p>
          <a:p>
            <a:pPr eaLnBrk="1" hangingPunct="1"/>
            <a:r>
              <a:rPr lang="en-US" altLang="zh-CN" sz="1600"/>
              <a:t>  BPM: Business Process Management</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2000"/>
                                        <p:tgtEl>
                                          <p:spTgt spid="23"/>
                                        </p:tgtEl>
                                      </p:cBhvr>
                                    </p:animEffect>
                                    <p:anim calcmode="lin" valueType="num">
                                      <p:cBhvr>
                                        <p:cTn id="8" dur="2000" fill="hold"/>
                                        <p:tgtEl>
                                          <p:spTgt spid="23"/>
                                        </p:tgtEl>
                                        <p:attrNameLst>
                                          <p:attrName>style.rotation</p:attrName>
                                        </p:attrNameLst>
                                      </p:cBhvr>
                                      <p:tavLst>
                                        <p:tav tm="0">
                                          <p:val>
                                            <p:fltVal val="720"/>
                                          </p:val>
                                        </p:tav>
                                        <p:tav tm="100000">
                                          <p:val>
                                            <p:fltVal val="0"/>
                                          </p:val>
                                        </p:tav>
                                      </p:tavLst>
                                    </p:anim>
                                    <p:anim calcmode="lin" valueType="num">
                                      <p:cBhvr>
                                        <p:cTn id="9" dur="2000" fill="hold"/>
                                        <p:tgtEl>
                                          <p:spTgt spid="23"/>
                                        </p:tgtEl>
                                        <p:attrNameLst>
                                          <p:attrName>ppt_h</p:attrName>
                                        </p:attrNameLst>
                                      </p:cBhvr>
                                      <p:tavLst>
                                        <p:tav tm="0">
                                          <p:val>
                                            <p:fltVal val="0"/>
                                          </p:val>
                                        </p:tav>
                                        <p:tav tm="100000">
                                          <p:val>
                                            <p:strVal val="#ppt_h"/>
                                          </p:val>
                                        </p:tav>
                                      </p:tavLst>
                                    </p:anim>
                                    <p:anim calcmode="lin" valueType="num">
                                      <p:cBhvr>
                                        <p:cTn id="10" dur="2000" fill="hold"/>
                                        <p:tgtEl>
                                          <p:spTgt spid="23"/>
                                        </p:tgtEl>
                                        <p:attrNameLst>
                                          <p:attrName>ppt_w</p:attrName>
                                        </p:attrNameLst>
                                      </p:cBhvr>
                                      <p:tavLst>
                                        <p:tav tm="0">
                                          <p:val>
                                            <p:fltVal val="0"/>
                                          </p:val>
                                        </p:tav>
                                        <p:tav tm="100000">
                                          <p:val>
                                            <p:strVal val="#ppt_w"/>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1000" fill="hold"/>
                                        <p:tgtEl>
                                          <p:spTgt spid="24"/>
                                        </p:tgtEl>
                                        <p:attrNameLst>
                                          <p:attrName>ppt_w</p:attrName>
                                        </p:attrNameLst>
                                      </p:cBhvr>
                                      <p:tavLst>
                                        <p:tav tm="0">
                                          <p:val>
                                            <p:fltVal val="0"/>
                                          </p:val>
                                        </p:tav>
                                        <p:tav tm="100000">
                                          <p:val>
                                            <p:strVal val="#ppt_w"/>
                                          </p:val>
                                        </p:tav>
                                      </p:tavLst>
                                    </p:anim>
                                    <p:anim calcmode="lin" valueType="num">
                                      <p:cBhvr>
                                        <p:cTn id="16" dur="1000" fill="hold"/>
                                        <p:tgtEl>
                                          <p:spTgt spid="24"/>
                                        </p:tgtEl>
                                        <p:attrNameLst>
                                          <p:attrName>ppt_h</p:attrName>
                                        </p:attrNameLst>
                                      </p:cBhvr>
                                      <p:tavLst>
                                        <p:tav tm="0">
                                          <p:val>
                                            <p:fltVal val="0"/>
                                          </p:val>
                                        </p:tav>
                                        <p:tav tm="100000">
                                          <p:val>
                                            <p:strVal val="#ppt_h"/>
                                          </p:val>
                                        </p:tav>
                                      </p:tavLst>
                                    </p:anim>
                                    <p:anim calcmode="lin" valueType="num">
                                      <p:cBhvr>
                                        <p:cTn id="17" dur="1000" fill="hold"/>
                                        <p:tgtEl>
                                          <p:spTgt spid="2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24"/>
                                        </p:tgtEl>
                                        <p:attrNameLst>
                                          <p:attrName>ppt_y</p:attrName>
                                        </p:attrNameLst>
                                      </p:cBhvr>
                                      <p:tavLst>
                                        <p:tav tm="0" fmla="#ppt_y+(sin(-2*pi*(1-$))*-#ppt_x+cos(-2*pi*(1-$))*(1-#ppt_y))*(1-$)">
                                          <p:val>
                                            <p:fltVal val="0"/>
                                          </p:val>
                                        </p:tav>
                                        <p:tav tm="100000">
                                          <p:val>
                                            <p:fltVal val="1"/>
                                          </p:val>
                                        </p:tav>
                                      </p:tavLst>
                                    </p:anim>
                                  </p:childTnLst>
                                </p:cTn>
                              </p:par>
                            </p:childTnLst>
                          </p:cTn>
                        </p:par>
                        <p:par>
                          <p:cTn id="19" fill="hold" nodeType="afterGroup">
                            <p:stCondLst>
                              <p:cond delay="1000"/>
                            </p:stCondLst>
                            <p:childTnLst>
                              <p:par>
                                <p:cTn id="20" presetID="18" presetClass="entr" presetSubtype="6"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strips(downRight)">
                                      <p:cBhvr>
                                        <p:cTn id="22" dur="500"/>
                                        <p:tgtEl>
                                          <p:spTgt spid="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5"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1000" fill="hold"/>
                                        <p:tgtEl>
                                          <p:spTgt spid="25"/>
                                        </p:tgtEl>
                                        <p:attrNameLst>
                                          <p:attrName>ppt_w</p:attrName>
                                        </p:attrNameLst>
                                      </p:cBhvr>
                                      <p:tavLst>
                                        <p:tav tm="0">
                                          <p:val>
                                            <p:fltVal val="0"/>
                                          </p:val>
                                        </p:tav>
                                        <p:tav tm="100000">
                                          <p:val>
                                            <p:strVal val="#ppt_w"/>
                                          </p:val>
                                        </p:tav>
                                      </p:tavLst>
                                    </p:anim>
                                    <p:anim calcmode="lin" valueType="num">
                                      <p:cBhvr>
                                        <p:cTn id="28" dur="1000" fill="hold"/>
                                        <p:tgtEl>
                                          <p:spTgt spid="25"/>
                                        </p:tgtEl>
                                        <p:attrNameLst>
                                          <p:attrName>ppt_h</p:attrName>
                                        </p:attrNameLst>
                                      </p:cBhvr>
                                      <p:tavLst>
                                        <p:tav tm="0">
                                          <p:val>
                                            <p:fltVal val="0"/>
                                          </p:val>
                                        </p:tav>
                                        <p:tav tm="100000">
                                          <p:val>
                                            <p:strVal val="#ppt_h"/>
                                          </p:val>
                                        </p:tav>
                                      </p:tavLst>
                                    </p:anim>
                                    <p:anim calcmode="lin" valueType="num">
                                      <p:cBhvr>
                                        <p:cTn id="29" dur="1000" fill="hold"/>
                                        <p:tgtEl>
                                          <p:spTgt spid="25"/>
                                        </p:tgtEl>
                                        <p:attrNameLst>
                                          <p:attrName>ppt_x</p:attrName>
                                        </p:attrNameLst>
                                      </p:cBhvr>
                                      <p:tavLst>
                                        <p:tav tm="0" fmla="#ppt_x+(cos(-2*pi*(1-$))*-#ppt_x-sin(-2*pi*(1-$))*(1-#ppt_y))*(1-$)">
                                          <p:val>
                                            <p:fltVal val="0"/>
                                          </p:val>
                                        </p:tav>
                                        <p:tav tm="100000">
                                          <p:val>
                                            <p:fltVal val="1"/>
                                          </p:val>
                                        </p:tav>
                                      </p:tavLst>
                                    </p:anim>
                                    <p:anim calcmode="lin" valueType="num">
                                      <p:cBhvr>
                                        <p:cTn id="30" dur="1000" fill="hold"/>
                                        <p:tgtEl>
                                          <p:spTgt spid="25"/>
                                        </p:tgtEl>
                                        <p:attrNameLst>
                                          <p:attrName>ppt_y</p:attrName>
                                        </p:attrNameLst>
                                      </p:cBhvr>
                                      <p:tavLst>
                                        <p:tav tm="0" fmla="#ppt_y+(sin(-2*pi*(1-$))*-#ppt_x+cos(-2*pi*(1-$))*(1-#ppt_y))*(1-$)">
                                          <p:val>
                                            <p:fltVal val="0"/>
                                          </p:val>
                                        </p:tav>
                                        <p:tav tm="100000">
                                          <p:val>
                                            <p:fltVal val="1"/>
                                          </p:val>
                                        </p:tav>
                                      </p:tavLst>
                                    </p:anim>
                                  </p:childTnLst>
                                </p:cTn>
                              </p:par>
                            </p:childTnLst>
                          </p:cTn>
                        </p:par>
                        <p:par>
                          <p:cTn id="31" fill="hold" nodeType="afterGroup">
                            <p:stCondLst>
                              <p:cond delay="1000"/>
                            </p:stCondLst>
                            <p:childTnLst>
                              <p:par>
                                <p:cTn id="32" presetID="18" presetClass="entr" presetSubtype="3" fill="hold" grpId="0" nodeType="after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strips(upRight)">
                                      <p:cBhvr>
                                        <p:cTn id="34" dur="1000"/>
                                        <p:tgtEl>
                                          <p:spTgt spid="3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5"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 calcmode="lin" valueType="num">
                                      <p:cBhvr>
                                        <p:cTn id="39" dur="1000" fill="hold"/>
                                        <p:tgtEl>
                                          <p:spTgt spid="26"/>
                                        </p:tgtEl>
                                        <p:attrNameLst>
                                          <p:attrName>ppt_w</p:attrName>
                                        </p:attrNameLst>
                                      </p:cBhvr>
                                      <p:tavLst>
                                        <p:tav tm="0">
                                          <p:val>
                                            <p:fltVal val="0"/>
                                          </p:val>
                                        </p:tav>
                                        <p:tav tm="100000">
                                          <p:val>
                                            <p:strVal val="#ppt_w"/>
                                          </p:val>
                                        </p:tav>
                                      </p:tavLst>
                                    </p:anim>
                                    <p:anim calcmode="lin" valueType="num">
                                      <p:cBhvr>
                                        <p:cTn id="40" dur="1000" fill="hold"/>
                                        <p:tgtEl>
                                          <p:spTgt spid="26"/>
                                        </p:tgtEl>
                                        <p:attrNameLst>
                                          <p:attrName>ppt_h</p:attrName>
                                        </p:attrNameLst>
                                      </p:cBhvr>
                                      <p:tavLst>
                                        <p:tav tm="0">
                                          <p:val>
                                            <p:fltVal val="0"/>
                                          </p:val>
                                        </p:tav>
                                        <p:tav tm="100000">
                                          <p:val>
                                            <p:strVal val="#ppt_h"/>
                                          </p:val>
                                        </p:tav>
                                      </p:tavLst>
                                    </p:anim>
                                    <p:anim calcmode="lin" valueType="num">
                                      <p:cBhvr>
                                        <p:cTn id="41" dur="1000" fill="hold"/>
                                        <p:tgtEl>
                                          <p:spTgt spid="26"/>
                                        </p:tgtEl>
                                        <p:attrNameLst>
                                          <p:attrName>ppt_x</p:attrName>
                                        </p:attrNameLst>
                                      </p:cBhvr>
                                      <p:tavLst>
                                        <p:tav tm="0" fmla="#ppt_x+(cos(-2*pi*(1-$))*-#ppt_x-sin(-2*pi*(1-$))*(1-#ppt_y))*(1-$)">
                                          <p:val>
                                            <p:fltVal val="0"/>
                                          </p:val>
                                        </p:tav>
                                        <p:tav tm="100000">
                                          <p:val>
                                            <p:fltVal val="1"/>
                                          </p:val>
                                        </p:tav>
                                      </p:tavLst>
                                    </p:anim>
                                    <p:anim calcmode="lin" valueType="num">
                                      <p:cBhvr>
                                        <p:cTn id="42" dur="1000" fill="hold"/>
                                        <p:tgtEl>
                                          <p:spTgt spid="26"/>
                                        </p:tgtEl>
                                        <p:attrNameLst>
                                          <p:attrName>ppt_y</p:attrName>
                                        </p:attrNameLst>
                                      </p:cBhvr>
                                      <p:tavLst>
                                        <p:tav tm="0" fmla="#ppt_y+(sin(-2*pi*(1-$))*-#ppt_x+cos(-2*pi*(1-$))*(1-#ppt_y))*(1-$)">
                                          <p:val>
                                            <p:fltVal val="0"/>
                                          </p:val>
                                        </p:tav>
                                        <p:tav tm="100000">
                                          <p:val>
                                            <p:fltVal val="1"/>
                                          </p:val>
                                        </p:tav>
                                      </p:tavLst>
                                    </p:anim>
                                  </p:childTnLst>
                                </p:cTn>
                              </p:par>
                              <p:par>
                                <p:cTn id="43" presetID="15" presetClass="entr" presetSubtype="0"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p:cTn id="45" dur="1000" fill="hold"/>
                                        <p:tgtEl>
                                          <p:spTgt spid="27"/>
                                        </p:tgtEl>
                                        <p:attrNameLst>
                                          <p:attrName>ppt_w</p:attrName>
                                        </p:attrNameLst>
                                      </p:cBhvr>
                                      <p:tavLst>
                                        <p:tav tm="0">
                                          <p:val>
                                            <p:fltVal val="0"/>
                                          </p:val>
                                        </p:tav>
                                        <p:tav tm="100000">
                                          <p:val>
                                            <p:strVal val="#ppt_w"/>
                                          </p:val>
                                        </p:tav>
                                      </p:tavLst>
                                    </p:anim>
                                    <p:anim calcmode="lin" valueType="num">
                                      <p:cBhvr>
                                        <p:cTn id="46" dur="1000" fill="hold"/>
                                        <p:tgtEl>
                                          <p:spTgt spid="27"/>
                                        </p:tgtEl>
                                        <p:attrNameLst>
                                          <p:attrName>ppt_h</p:attrName>
                                        </p:attrNameLst>
                                      </p:cBhvr>
                                      <p:tavLst>
                                        <p:tav tm="0">
                                          <p:val>
                                            <p:fltVal val="0"/>
                                          </p:val>
                                        </p:tav>
                                        <p:tav tm="100000">
                                          <p:val>
                                            <p:strVal val="#ppt_h"/>
                                          </p:val>
                                        </p:tav>
                                      </p:tavLst>
                                    </p:anim>
                                    <p:anim calcmode="lin" valueType="num">
                                      <p:cBhvr>
                                        <p:cTn id="47" dur="1000" fill="hold"/>
                                        <p:tgtEl>
                                          <p:spTgt spid="27"/>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27"/>
                                        </p:tgtEl>
                                        <p:attrNameLst>
                                          <p:attrName>ppt_y</p:attrName>
                                        </p:attrNameLst>
                                      </p:cBhvr>
                                      <p:tavLst>
                                        <p:tav tm="0" fmla="#ppt_y+(sin(-2*pi*(1-$))*-#ppt_x+cos(-2*pi*(1-$))*(1-#ppt_y))*(1-$)">
                                          <p:val>
                                            <p:fltVal val="0"/>
                                          </p:val>
                                        </p:tav>
                                        <p:tav tm="100000">
                                          <p:val>
                                            <p:fltVal val="1"/>
                                          </p:val>
                                        </p:tav>
                                      </p:tavLst>
                                    </p:anim>
                                  </p:childTnLst>
                                </p:cTn>
                              </p:par>
                            </p:childTnLst>
                          </p:cTn>
                        </p:par>
                        <p:par>
                          <p:cTn id="49" fill="hold" nodeType="afterGroup">
                            <p:stCondLst>
                              <p:cond delay="1000"/>
                            </p:stCondLst>
                            <p:childTnLst>
                              <p:par>
                                <p:cTn id="50" presetID="12" presetClass="entr" presetSubtype="4"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slide(fromBottom)">
                                      <p:cBhvr>
                                        <p:cTn id="52" dur="500"/>
                                        <p:tgtEl>
                                          <p:spTgt spid="31"/>
                                        </p:tgtEl>
                                      </p:cBhvr>
                                    </p:animEffect>
                                  </p:childTnLst>
                                </p:cTn>
                              </p:par>
                            </p:childTnLst>
                          </p:cTn>
                        </p:par>
                        <p:par>
                          <p:cTn id="53" fill="hold" nodeType="afterGroup">
                            <p:stCondLst>
                              <p:cond delay="1500"/>
                            </p:stCondLst>
                            <p:childTnLst>
                              <p:par>
                                <p:cTn id="54" presetID="18" presetClass="entr" presetSubtype="9" fill="hold" grpId="0" nodeType="afterEffect">
                                  <p:stCondLst>
                                    <p:cond delay="0"/>
                                  </p:stCondLst>
                                  <p:childTnLst>
                                    <p:set>
                                      <p:cBhvr>
                                        <p:cTn id="55" dur="1" fill="hold">
                                          <p:stCondLst>
                                            <p:cond delay="0"/>
                                          </p:stCondLst>
                                        </p:cTn>
                                        <p:tgtEl>
                                          <p:spTgt spid="35"/>
                                        </p:tgtEl>
                                        <p:attrNameLst>
                                          <p:attrName>style.visibility</p:attrName>
                                        </p:attrNameLst>
                                      </p:cBhvr>
                                      <p:to>
                                        <p:strVal val="visible"/>
                                      </p:to>
                                    </p:set>
                                    <p:animEffect transition="in" filter="strips(upLeft)">
                                      <p:cBhvr>
                                        <p:cTn id="56" dur="500"/>
                                        <p:tgtEl>
                                          <p:spTgt spid="3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15" presetClass="entr" presetSubtype="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 calcmode="lin" valueType="num">
                                      <p:cBhvr>
                                        <p:cTn id="61" dur="1000" fill="hold"/>
                                        <p:tgtEl>
                                          <p:spTgt spid="29"/>
                                        </p:tgtEl>
                                        <p:attrNameLst>
                                          <p:attrName>ppt_w</p:attrName>
                                        </p:attrNameLst>
                                      </p:cBhvr>
                                      <p:tavLst>
                                        <p:tav tm="0">
                                          <p:val>
                                            <p:fltVal val="0"/>
                                          </p:val>
                                        </p:tav>
                                        <p:tav tm="100000">
                                          <p:val>
                                            <p:strVal val="#ppt_w"/>
                                          </p:val>
                                        </p:tav>
                                      </p:tavLst>
                                    </p:anim>
                                    <p:anim calcmode="lin" valueType="num">
                                      <p:cBhvr>
                                        <p:cTn id="62" dur="1000" fill="hold"/>
                                        <p:tgtEl>
                                          <p:spTgt spid="29"/>
                                        </p:tgtEl>
                                        <p:attrNameLst>
                                          <p:attrName>ppt_h</p:attrName>
                                        </p:attrNameLst>
                                      </p:cBhvr>
                                      <p:tavLst>
                                        <p:tav tm="0">
                                          <p:val>
                                            <p:fltVal val="0"/>
                                          </p:val>
                                        </p:tav>
                                        <p:tav tm="100000">
                                          <p:val>
                                            <p:strVal val="#ppt_h"/>
                                          </p:val>
                                        </p:tav>
                                      </p:tavLst>
                                    </p:anim>
                                    <p:anim calcmode="lin" valueType="num">
                                      <p:cBhvr>
                                        <p:cTn id="63" dur="1000" fill="hold"/>
                                        <p:tgtEl>
                                          <p:spTgt spid="29"/>
                                        </p:tgtEl>
                                        <p:attrNameLst>
                                          <p:attrName>ppt_x</p:attrName>
                                        </p:attrNameLst>
                                      </p:cBhvr>
                                      <p:tavLst>
                                        <p:tav tm="0" fmla="#ppt_x+(cos(-2*pi*(1-$))*-#ppt_x-sin(-2*pi*(1-$))*(1-#ppt_y))*(1-$)">
                                          <p:val>
                                            <p:fltVal val="0"/>
                                          </p:val>
                                        </p:tav>
                                        <p:tav tm="100000">
                                          <p:val>
                                            <p:fltVal val="1"/>
                                          </p:val>
                                        </p:tav>
                                      </p:tavLst>
                                    </p:anim>
                                    <p:anim calcmode="lin" valueType="num">
                                      <p:cBhvr>
                                        <p:cTn id="64" dur="1000" fill="hold"/>
                                        <p:tgtEl>
                                          <p:spTgt spid="29"/>
                                        </p:tgtEl>
                                        <p:attrNameLst>
                                          <p:attrName>ppt_y</p:attrName>
                                        </p:attrNameLst>
                                      </p:cBhvr>
                                      <p:tavLst>
                                        <p:tav tm="0" fmla="#ppt_y+(sin(-2*pi*(1-$))*-#ppt_x+cos(-2*pi*(1-$))*(1-#ppt_y))*(1-$)">
                                          <p:val>
                                            <p:fltVal val="0"/>
                                          </p:val>
                                        </p:tav>
                                        <p:tav tm="100000">
                                          <p:val>
                                            <p:fltVal val="1"/>
                                          </p:val>
                                        </p:tav>
                                      </p:tavLst>
                                    </p:anim>
                                  </p:childTnLst>
                                </p:cTn>
                              </p:par>
                            </p:childTnLst>
                          </p:cTn>
                        </p:par>
                        <p:par>
                          <p:cTn id="65" fill="hold" nodeType="afterGroup">
                            <p:stCondLst>
                              <p:cond delay="1000"/>
                            </p:stCondLst>
                            <p:childTnLst>
                              <p:par>
                                <p:cTn id="66" presetID="12" presetClass="entr" presetSubtype="1" fill="hold" grpId="0" nodeType="after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slide(fromTop)">
                                      <p:cBhvr>
                                        <p:cTn id="68" dur="1000"/>
                                        <p:tgtEl>
                                          <p:spTgt spid="3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15" presetClass="entr" presetSubtype="0"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anim calcmode="lin" valueType="num">
                                      <p:cBhvr>
                                        <p:cTn id="73" dur="1000" fill="hold"/>
                                        <p:tgtEl>
                                          <p:spTgt spid="28"/>
                                        </p:tgtEl>
                                        <p:attrNameLst>
                                          <p:attrName>ppt_w</p:attrName>
                                        </p:attrNameLst>
                                      </p:cBhvr>
                                      <p:tavLst>
                                        <p:tav tm="0">
                                          <p:val>
                                            <p:fltVal val="0"/>
                                          </p:val>
                                        </p:tav>
                                        <p:tav tm="100000">
                                          <p:val>
                                            <p:strVal val="#ppt_w"/>
                                          </p:val>
                                        </p:tav>
                                      </p:tavLst>
                                    </p:anim>
                                    <p:anim calcmode="lin" valueType="num">
                                      <p:cBhvr>
                                        <p:cTn id="74" dur="1000" fill="hold"/>
                                        <p:tgtEl>
                                          <p:spTgt spid="28"/>
                                        </p:tgtEl>
                                        <p:attrNameLst>
                                          <p:attrName>ppt_h</p:attrName>
                                        </p:attrNameLst>
                                      </p:cBhvr>
                                      <p:tavLst>
                                        <p:tav tm="0">
                                          <p:val>
                                            <p:fltVal val="0"/>
                                          </p:val>
                                        </p:tav>
                                        <p:tav tm="100000">
                                          <p:val>
                                            <p:strVal val="#ppt_h"/>
                                          </p:val>
                                        </p:tav>
                                      </p:tavLst>
                                    </p:anim>
                                    <p:anim calcmode="lin" valueType="num">
                                      <p:cBhvr>
                                        <p:cTn id="75" dur="1000" fill="hold"/>
                                        <p:tgtEl>
                                          <p:spTgt spid="28"/>
                                        </p:tgtEl>
                                        <p:attrNameLst>
                                          <p:attrName>ppt_x</p:attrName>
                                        </p:attrNameLst>
                                      </p:cBhvr>
                                      <p:tavLst>
                                        <p:tav tm="0" fmla="#ppt_x+(cos(-2*pi*(1-$))*-#ppt_x-sin(-2*pi*(1-$))*(1-#ppt_y))*(1-$)">
                                          <p:val>
                                            <p:fltVal val="0"/>
                                          </p:val>
                                        </p:tav>
                                        <p:tav tm="100000">
                                          <p:val>
                                            <p:fltVal val="1"/>
                                          </p:val>
                                        </p:tav>
                                      </p:tavLst>
                                    </p:anim>
                                    <p:anim calcmode="lin" valueType="num">
                                      <p:cBhvr>
                                        <p:cTn id="76" dur="1000" fill="hold"/>
                                        <p:tgtEl>
                                          <p:spTgt spid="28"/>
                                        </p:tgtEl>
                                        <p:attrNameLst>
                                          <p:attrName>ppt_y</p:attrName>
                                        </p:attrNameLst>
                                      </p:cBhvr>
                                      <p:tavLst>
                                        <p:tav tm="0" fmla="#ppt_y+(sin(-2*pi*(1-$))*-#ppt_x+cos(-2*pi*(1-$))*(1-#ppt_y))*(1-$)">
                                          <p:val>
                                            <p:fltVal val="0"/>
                                          </p:val>
                                        </p:tav>
                                        <p:tav tm="100000">
                                          <p:val>
                                            <p:fltVal val="1"/>
                                          </p:val>
                                        </p:tav>
                                      </p:tavLst>
                                    </p:anim>
                                  </p:childTnLst>
                                </p:cTn>
                              </p:par>
                            </p:childTnLst>
                          </p:cTn>
                        </p:par>
                        <p:par>
                          <p:cTn id="77" fill="hold" nodeType="afterGroup">
                            <p:stCondLst>
                              <p:cond delay="1000"/>
                            </p:stCondLst>
                            <p:childTnLst>
                              <p:par>
                                <p:cTn id="78" presetID="18" presetClass="entr" presetSubtype="12" fill="hold" grpId="0" nodeType="after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strips(downLeft)">
                                      <p:cBhvr>
                                        <p:cTn id="80"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normAutofit/>
          </a:bodyPr>
          <a:lstStyle/>
          <a:p>
            <a:r>
              <a:rPr lang="en-US" altLang="zh-CN" sz="2800" dirty="0"/>
              <a:t>Enterprise Application Integration (EAI)</a:t>
            </a:r>
            <a:endParaRPr lang="zh-CN" altLang="en-US" sz="2800" dirty="0"/>
          </a:p>
        </p:txBody>
      </p:sp>
      <p:sp>
        <p:nvSpPr>
          <p:cNvPr id="23555" name="内容占位符 2"/>
          <p:cNvSpPr>
            <a:spLocks noGrp="1"/>
          </p:cNvSpPr>
          <p:nvPr>
            <p:ph idx="1"/>
          </p:nvPr>
        </p:nvSpPr>
        <p:spPr/>
        <p:txBody>
          <a:bodyPr/>
          <a:lstStyle/>
          <a:p>
            <a:r>
              <a:rPr lang="en-US" altLang="zh-CN" sz="2800" dirty="0"/>
              <a:t>Enterprise Application Integration (EAI) is the process of integrating multiple, independently developed applications that may use incompatible technology and need to remain independently managed. </a:t>
            </a:r>
          </a:p>
          <a:p>
            <a:pPr lvl="1"/>
            <a:r>
              <a:rPr lang="en-US" altLang="zh-CN" sz="2300" dirty="0"/>
              <a:t>Point to point integration</a:t>
            </a:r>
          </a:p>
          <a:p>
            <a:pPr lvl="1"/>
            <a:r>
              <a:rPr lang="en-US" altLang="zh-CN" sz="2300" dirty="0"/>
              <a:t>EAI based on message broker</a:t>
            </a:r>
          </a:p>
          <a:p>
            <a:pPr lvl="1"/>
            <a:r>
              <a:rPr lang="en-US" altLang="zh-CN" sz="2300" dirty="0"/>
              <a:t>EAI based on distributed objects</a:t>
            </a:r>
          </a:p>
          <a:p>
            <a:r>
              <a:rPr lang="en-US" altLang="zh-CN" sz="2800" dirty="0"/>
              <a:t>EAI is an important application area of SOC, and ESB (enterprise service bus) can be used</a:t>
            </a:r>
          </a:p>
        </p:txBody>
      </p:sp>
      <p:sp>
        <p:nvSpPr>
          <p:cNvPr id="23556"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78CA27F-1FF2-4916-A094-80D83F73F421}" type="slidenum">
              <a:rPr lang="en-US" altLang="zh-CN" smtClean="0"/>
              <a:pPr eaLnBrk="1" hangingPunct="1"/>
              <a:t>47</a:t>
            </a:fld>
            <a:endParaRPr lang="en-US" altLang="zh-CN"/>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normAutofit fontScale="90000"/>
          </a:bodyPr>
          <a:lstStyle/>
          <a:p>
            <a:r>
              <a:rPr lang="en-US" altLang="zh-CN" sz="3600" dirty="0"/>
              <a:t>Business </a:t>
            </a:r>
            <a:r>
              <a:rPr lang="en-US" altLang="zh-CN" sz="3100" dirty="0"/>
              <a:t>process</a:t>
            </a:r>
            <a:r>
              <a:rPr lang="en-US" altLang="zh-CN" sz="3600" dirty="0"/>
              <a:t> Management (BPM)</a:t>
            </a:r>
            <a:endParaRPr lang="zh-CN" altLang="en-US" sz="3600" dirty="0"/>
          </a:p>
        </p:txBody>
      </p:sp>
      <p:sp>
        <p:nvSpPr>
          <p:cNvPr id="23555" name="内容占位符 2"/>
          <p:cNvSpPr>
            <a:spLocks noGrp="1"/>
          </p:cNvSpPr>
          <p:nvPr>
            <p:ph idx="1"/>
          </p:nvPr>
        </p:nvSpPr>
        <p:spPr/>
        <p:txBody>
          <a:bodyPr>
            <a:normAutofit/>
          </a:bodyPr>
          <a:lstStyle/>
          <a:p>
            <a:pPr>
              <a:defRPr/>
            </a:pPr>
            <a:r>
              <a:rPr lang="en-US" altLang="zh-CN" sz="2400" dirty="0"/>
              <a:t>A business process is a "series or network of value-added activities, performed by their relevant roles or collaborators, to purposefully achieve the common business goal." These processes are critical to any organization as they generate revenue and often represent a significant proportion of costs</a:t>
            </a:r>
          </a:p>
          <a:p>
            <a:pPr>
              <a:defRPr/>
            </a:pPr>
            <a:r>
              <a:rPr lang="en-US" altLang="zh-CN" sz="2400" dirty="0"/>
              <a:t>As a managerial approach, BPM considers processes to be strategic assets of an organization that must be understood, managed, and improved to deliver value added products and services to clients. </a:t>
            </a:r>
          </a:p>
          <a:p>
            <a:pPr>
              <a:defRPr/>
            </a:pPr>
            <a:r>
              <a:rPr lang="en-US" altLang="zh-CN" sz="2400" dirty="0"/>
              <a:t>Processes can be defined, managed, used and composited as services </a:t>
            </a:r>
            <a:endParaRPr lang="zh-CN" altLang="en-US" sz="2400" dirty="0"/>
          </a:p>
        </p:txBody>
      </p:sp>
      <p:sp>
        <p:nvSpPr>
          <p:cNvPr id="24580"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6A58A86-69A5-4CC1-9946-3C730B4A7DC4}" type="slidenum">
              <a:rPr lang="en-US" altLang="zh-CN" smtClean="0"/>
              <a:pPr eaLnBrk="1" hangingPunct="1"/>
              <a:t>48</a:t>
            </a:fld>
            <a:endParaRPr lang="en-US" altLang="zh-CN" dirty="0"/>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en-US" altLang="zh-CN"/>
              <a:t>An example of Process</a:t>
            </a:r>
            <a:endParaRPr lang="zh-CN" altLang="en-US"/>
          </a:p>
        </p:txBody>
      </p:sp>
      <p:pic>
        <p:nvPicPr>
          <p:cNvPr id="25603" name="内容占位符 4" descr="untitled.bmp"/>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31640" y="1139695"/>
            <a:ext cx="6385566" cy="5206980"/>
          </a:xfrm>
        </p:spPr>
      </p:pic>
      <p:sp>
        <p:nvSpPr>
          <p:cNvPr id="2560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AB3B89C-D9BA-4942-8E20-2EA86862BA5B}" type="slidenum">
              <a:rPr lang="en-US" altLang="zh-CN" smtClean="0"/>
              <a:pPr eaLnBrk="1" hangingPunct="1"/>
              <a:t>49</a:t>
            </a:fld>
            <a:endParaRPr lang="en-US" altLang="zh-CN"/>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5"/>
          <p:cNvSpPr>
            <a:spLocks noGrp="1"/>
          </p:cNvSpPr>
          <p:nvPr>
            <p:ph type="title"/>
          </p:nvPr>
        </p:nvSpPr>
        <p:spPr/>
        <p:txBody>
          <a:bodyPr/>
          <a:lstStyle/>
          <a:p>
            <a:r>
              <a:rPr lang="en-US" altLang="zh-CN"/>
              <a:t>Web Services</a:t>
            </a:r>
            <a:endParaRPr lang="zh-CN" altLang="en-US"/>
          </a:p>
        </p:txBody>
      </p:sp>
      <p:sp>
        <p:nvSpPr>
          <p:cNvPr id="26628" name="内容占位符 8"/>
          <p:cNvSpPr>
            <a:spLocks noGrp="1"/>
          </p:cNvSpPr>
          <p:nvPr>
            <p:ph idx="1"/>
          </p:nvPr>
        </p:nvSpPr>
        <p:spPr>
          <a:xfrm>
            <a:off x="457200" y="1052737"/>
            <a:ext cx="8229600" cy="3023963"/>
          </a:xfrm>
        </p:spPr>
        <p:txBody>
          <a:bodyPr/>
          <a:lstStyle/>
          <a:p>
            <a:r>
              <a:rPr lang="en-US" altLang="zh-CN" sz="2400" dirty="0"/>
              <a:t>Web Services use Extensible Markup Language (XML) messages that follow the SOAP standard and have been popular with traditional enterprise. In such systems, there is often a machine-readable description of the operations offered by the service written in the Web Services Description Language (WSDL). </a:t>
            </a:r>
            <a:endParaRPr lang="zh-CN" altLang="en-US" sz="2400" dirty="0"/>
          </a:p>
        </p:txBody>
      </p:sp>
      <p:sp>
        <p:nvSpPr>
          <p:cNvPr id="26627" name="灯片编号占位符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5D0BB50-DF61-4598-AFE5-69C29F955AC4}" type="slidenum">
              <a:rPr lang="en-US" altLang="zh-CN" smtClean="0"/>
              <a:pPr eaLnBrk="1" hangingPunct="1"/>
              <a:t>50</a:t>
            </a:fld>
            <a:endParaRPr lang="en-US" altLang="zh-CN"/>
          </a:p>
        </p:txBody>
      </p:sp>
      <p:pic>
        <p:nvPicPr>
          <p:cNvPr id="26629" name="内容占位符 7" descr="untitled.bmp"/>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076700"/>
            <a:ext cx="5395912" cy="178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en-US" altLang="zh-CN"/>
              <a:t>Web services standard stack</a:t>
            </a:r>
          </a:p>
        </p:txBody>
      </p:sp>
      <p:sp>
        <p:nvSpPr>
          <p:cNvPr id="27652" name="Rectangle 3"/>
          <p:cNvSpPr>
            <a:spLocks noGrp="1" noChangeArrowheads="1"/>
          </p:cNvSpPr>
          <p:nvPr>
            <p:ph idx="1"/>
          </p:nvPr>
        </p:nvSpPr>
        <p:spPr>
          <a:xfrm>
            <a:off x="457200" y="1052737"/>
            <a:ext cx="8229600" cy="792087"/>
          </a:xfrm>
        </p:spPr>
        <p:txBody>
          <a:bodyPr/>
          <a:lstStyle/>
          <a:p>
            <a:pPr eaLnBrk="1" hangingPunct="1"/>
            <a:r>
              <a:rPr lang="en-US" altLang="zh-CN" sz="2800" dirty="0"/>
              <a:t>Five layered stack has been formed</a:t>
            </a:r>
          </a:p>
        </p:txBody>
      </p:sp>
      <p:sp>
        <p:nvSpPr>
          <p:cNvPr id="27650" name="灯片编号占位符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1302252-5E40-465C-9C9C-A256F1298A82}" type="slidenum">
              <a:rPr lang="en-US" altLang="zh-CN" smtClean="0"/>
              <a:pPr eaLnBrk="1" hangingPunct="1"/>
              <a:t>51</a:t>
            </a:fld>
            <a:endParaRPr lang="en-US" altLang="zh-CN"/>
          </a:p>
        </p:txBody>
      </p:sp>
      <p:graphicFrame>
        <p:nvGraphicFramePr>
          <p:cNvPr id="27653" name="Object 6"/>
          <p:cNvGraphicFramePr>
            <a:graphicFrameLocks noChangeAspect="1"/>
          </p:cNvGraphicFramePr>
          <p:nvPr>
            <p:extLst>
              <p:ext uri="{D42A27DB-BD31-4B8C-83A1-F6EECF244321}">
                <p14:modId xmlns:p14="http://schemas.microsoft.com/office/powerpoint/2010/main" val="2331394038"/>
              </p:ext>
            </p:extLst>
          </p:nvPr>
        </p:nvGraphicFramePr>
        <p:xfrm>
          <a:off x="1547664" y="2005880"/>
          <a:ext cx="5832475" cy="4294188"/>
        </p:xfrm>
        <a:graphic>
          <a:graphicData uri="http://schemas.openxmlformats.org/presentationml/2006/ole">
            <mc:AlternateContent xmlns:mc="http://schemas.openxmlformats.org/markup-compatibility/2006">
              <mc:Choice xmlns:v="urn:schemas-microsoft-com:vml" Requires="v">
                <p:oleObj spid="_x0000_s27729" name="Visio" r:id="rId4" imgW="7786960" imgH="5747750" progId="Visio.Drawing.11">
                  <p:embed/>
                </p:oleObj>
              </mc:Choice>
              <mc:Fallback>
                <p:oleObj name="Visio" r:id="rId4" imgW="7786960" imgH="5747750"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4" y="2005880"/>
                        <a:ext cx="5832475" cy="429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a:extLst>
              <a:ext uri="{FF2B5EF4-FFF2-40B4-BE49-F238E27FC236}">
                <a16:creationId xmlns:a16="http://schemas.microsoft.com/office/drawing/2014/main" id="{BD9D331A-2C7E-45BA-A290-70204D1C089B}"/>
              </a:ext>
            </a:extLst>
          </p:cNvPr>
          <p:cNvSpPr>
            <a:spLocks noGrp="1" noChangeArrowheads="1"/>
          </p:cNvSpPr>
          <p:nvPr>
            <p:ph type="title"/>
          </p:nvPr>
        </p:nvSpPr>
        <p:spPr/>
        <p:txBody>
          <a:bodyPr/>
          <a:lstStyle/>
          <a:p>
            <a:r>
              <a:rPr lang="zh-CN" altLang="en-US"/>
              <a:t>服务合约</a:t>
            </a:r>
          </a:p>
        </p:txBody>
      </p:sp>
      <p:sp>
        <p:nvSpPr>
          <p:cNvPr id="6147" name="内容占位符 2">
            <a:extLst>
              <a:ext uri="{FF2B5EF4-FFF2-40B4-BE49-F238E27FC236}">
                <a16:creationId xmlns:a16="http://schemas.microsoft.com/office/drawing/2014/main" id="{5C80D6B1-16FC-4190-BEE3-FF1303B0164C}"/>
              </a:ext>
            </a:extLst>
          </p:cNvPr>
          <p:cNvSpPr>
            <a:spLocks noGrp="1" noChangeArrowheads="1"/>
          </p:cNvSpPr>
          <p:nvPr>
            <p:ph idx="1"/>
          </p:nvPr>
        </p:nvSpPr>
        <p:spPr>
          <a:xfrm>
            <a:off x="457200" y="1600201"/>
            <a:ext cx="8229600" cy="1540768"/>
          </a:xfrm>
        </p:spPr>
        <p:txBody>
          <a:bodyPr/>
          <a:lstStyle/>
          <a:p>
            <a:r>
              <a:rPr lang="zh-CN" altLang="en-US" sz="2800" dirty="0"/>
              <a:t>建立了与服务交互有关的术语</a:t>
            </a:r>
            <a:endParaRPr lang="en-US" altLang="zh-CN" sz="2800" dirty="0"/>
          </a:p>
          <a:p>
            <a:r>
              <a:rPr lang="zh-CN" altLang="en-US" sz="2800" dirty="0"/>
              <a:t>提供了技术限制和需求，及服务的拥有者希望对外公布的所有语义信息</a:t>
            </a:r>
          </a:p>
        </p:txBody>
      </p:sp>
      <p:sp>
        <p:nvSpPr>
          <p:cNvPr id="6148" name="灯片编号占位符 3">
            <a:extLst>
              <a:ext uri="{FF2B5EF4-FFF2-40B4-BE49-F238E27FC236}">
                <a16:creationId xmlns:a16="http://schemas.microsoft.com/office/drawing/2014/main" id="{840CE204-89B8-4D4D-91F9-E269C425ECFC}"/>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622E1C82-7521-475B-9170-CD199527A819}" type="slidenum">
              <a:rPr lang="en-US" altLang="zh-CN" smtClean="0"/>
              <a:pPr/>
              <a:t>52</a:t>
            </a:fld>
            <a:endParaRPr lang="en-US" altLang="zh-CN" sz="1000"/>
          </a:p>
        </p:txBody>
      </p:sp>
      <p:pic>
        <p:nvPicPr>
          <p:cNvPr id="6149" name="图片 4">
            <a:extLst>
              <a:ext uri="{FF2B5EF4-FFF2-40B4-BE49-F238E27FC236}">
                <a16:creationId xmlns:a16="http://schemas.microsoft.com/office/drawing/2014/main" id="{6B156F99-CC10-4BCB-BE3A-2BBCF7CC4C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88" y="3403600"/>
            <a:ext cx="5432425"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4F49F39A-82CA-4144-BAE6-900EC16B0240}"/>
              </a:ext>
            </a:extLst>
          </p:cNvPr>
          <p:cNvSpPr>
            <a:spLocks noGrp="1"/>
          </p:cNvSpPr>
          <p:nvPr>
            <p:ph type="title"/>
          </p:nvPr>
        </p:nvSpPr>
        <p:spPr/>
        <p:txBody>
          <a:bodyPr/>
          <a:lstStyle/>
          <a:p>
            <a:r>
              <a:rPr lang="en-US" altLang="zh-CN"/>
              <a:t>Abstract model of Web service</a:t>
            </a:r>
            <a:r>
              <a:rPr lang="zh-CN" altLang="en-US"/>
              <a:t> </a:t>
            </a:r>
            <a:r>
              <a:rPr lang="en-US" altLang="zh-CN"/>
              <a:t>(1/3)</a:t>
            </a:r>
            <a:endParaRPr lang="zh-CN" altLang="en-US"/>
          </a:p>
        </p:txBody>
      </p:sp>
      <p:sp>
        <p:nvSpPr>
          <p:cNvPr id="12291" name="灯片编号占位符 3">
            <a:extLst>
              <a:ext uri="{FF2B5EF4-FFF2-40B4-BE49-F238E27FC236}">
                <a16:creationId xmlns:a16="http://schemas.microsoft.com/office/drawing/2014/main" id="{FDFD6C3D-6039-47E2-9E11-2BB83CE83EB7}"/>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B31798E9-C546-478F-A7CC-9AAD242759EC}" type="slidenum">
              <a:rPr lang="en-US" altLang="zh-CN" smtClean="0"/>
              <a:pPr>
                <a:spcBef>
                  <a:spcPct val="0"/>
                </a:spcBef>
                <a:buClrTx/>
                <a:buFontTx/>
                <a:buNone/>
              </a:pPr>
              <a:t>53</a:t>
            </a:fld>
            <a:endParaRPr lang="en-US" altLang="zh-CN" sz="1000"/>
          </a:p>
        </p:txBody>
      </p:sp>
      <p:pic>
        <p:nvPicPr>
          <p:cNvPr id="12292" name="图片 4">
            <a:extLst>
              <a:ext uri="{FF2B5EF4-FFF2-40B4-BE49-F238E27FC236}">
                <a16:creationId xmlns:a16="http://schemas.microsoft.com/office/drawing/2014/main" id="{4D34EBD6-3A2E-4043-A337-74E40DDAD6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306638"/>
            <a:ext cx="6567488" cy="305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960580AD-2ADC-464D-9B07-4F5701C612D9}"/>
              </a:ext>
            </a:extLst>
          </p:cNvPr>
          <p:cNvSpPr>
            <a:spLocks noGrp="1"/>
          </p:cNvSpPr>
          <p:nvPr>
            <p:ph type="title"/>
          </p:nvPr>
        </p:nvSpPr>
        <p:spPr/>
        <p:txBody>
          <a:bodyPr/>
          <a:lstStyle/>
          <a:p>
            <a:r>
              <a:rPr lang="en-US" altLang="zh-CN"/>
              <a:t>Abstract model of Web service</a:t>
            </a:r>
            <a:r>
              <a:rPr lang="zh-CN" altLang="en-US"/>
              <a:t> </a:t>
            </a:r>
            <a:r>
              <a:rPr lang="en-US" altLang="zh-CN"/>
              <a:t>(2/3)</a:t>
            </a:r>
            <a:endParaRPr lang="zh-CN" altLang="en-US"/>
          </a:p>
        </p:txBody>
      </p:sp>
      <p:sp>
        <p:nvSpPr>
          <p:cNvPr id="13315" name="灯片编号占位符 3">
            <a:extLst>
              <a:ext uri="{FF2B5EF4-FFF2-40B4-BE49-F238E27FC236}">
                <a16:creationId xmlns:a16="http://schemas.microsoft.com/office/drawing/2014/main" id="{479681D4-73B9-44DD-B961-B20F6B9EC3BB}"/>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B31798E9-C546-478F-A7CC-9AAD242759EC}" type="slidenum">
              <a:rPr lang="en-US" altLang="zh-CN" smtClean="0"/>
              <a:pPr>
                <a:spcBef>
                  <a:spcPct val="0"/>
                </a:spcBef>
                <a:buClrTx/>
                <a:buFontTx/>
                <a:buNone/>
              </a:pPr>
              <a:t>54</a:t>
            </a:fld>
            <a:endParaRPr lang="en-US" altLang="zh-CN" sz="1000"/>
          </a:p>
        </p:txBody>
      </p:sp>
      <p:pic>
        <p:nvPicPr>
          <p:cNvPr id="13316" name="图片 4">
            <a:extLst>
              <a:ext uri="{FF2B5EF4-FFF2-40B4-BE49-F238E27FC236}">
                <a16:creationId xmlns:a16="http://schemas.microsoft.com/office/drawing/2014/main" id="{C592564F-CD10-4815-993D-E119BB4F00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2420938"/>
            <a:ext cx="5905500" cy="285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a:extLst>
              <a:ext uri="{FF2B5EF4-FFF2-40B4-BE49-F238E27FC236}">
                <a16:creationId xmlns:a16="http://schemas.microsoft.com/office/drawing/2014/main" id="{49982A51-A7F9-41D4-BB83-C5D57CC72730}"/>
              </a:ext>
            </a:extLst>
          </p:cNvPr>
          <p:cNvSpPr>
            <a:spLocks noGrp="1"/>
          </p:cNvSpPr>
          <p:nvPr>
            <p:ph type="title"/>
          </p:nvPr>
        </p:nvSpPr>
        <p:spPr/>
        <p:txBody>
          <a:bodyPr/>
          <a:lstStyle/>
          <a:p>
            <a:r>
              <a:rPr lang="en-US" altLang="zh-CN"/>
              <a:t>Abstract model of Web service</a:t>
            </a:r>
            <a:r>
              <a:rPr lang="zh-CN" altLang="en-US"/>
              <a:t> </a:t>
            </a:r>
            <a:r>
              <a:rPr lang="en-US" altLang="zh-CN"/>
              <a:t>(3/3)</a:t>
            </a:r>
            <a:endParaRPr lang="zh-CN" altLang="en-US"/>
          </a:p>
        </p:txBody>
      </p:sp>
      <p:sp>
        <p:nvSpPr>
          <p:cNvPr id="14339" name="灯片编号占位符 3">
            <a:extLst>
              <a:ext uri="{FF2B5EF4-FFF2-40B4-BE49-F238E27FC236}">
                <a16:creationId xmlns:a16="http://schemas.microsoft.com/office/drawing/2014/main" id="{E54A7FAC-ABD1-4360-B5C9-DC4D65ED54CA}"/>
              </a:ext>
            </a:extLst>
          </p:cNvPr>
          <p:cNvSpPr>
            <a:spLocks noGrp="1"/>
          </p:cNvSpPr>
          <p:nvPr>
            <p:ph type="sldNum" sz="quarter" idx="12"/>
          </p:nvPr>
        </p:nvSpPr>
        <p:spPr bwMode="auto">
          <a:xfrm>
            <a:off x="6553200" y="6248400"/>
            <a:ext cx="2133600" cy="45720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algn="r" rtl="0" eaLnBrk="1" fontAlgn="base" hangingPunct="1">
              <a:spcBef>
                <a:spcPct val="0"/>
              </a:spcBef>
              <a:spcAft>
                <a:spcPct val="0"/>
              </a:spcAft>
              <a:defRPr sz="10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3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3200" kern="1200">
                <a:solidFill>
                  <a:schemeClr val="tx1"/>
                </a:solidFill>
                <a:latin typeface="Arial" panose="020B0604020202020204" pitchFamily="34" charset="0"/>
                <a:ea typeface="宋体" panose="02010600030101010101" pitchFamily="2" charset="-122"/>
                <a:cs typeface="+mn-cs"/>
              </a:defRPr>
            </a:lvl9pPr>
          </a:lstStyle>
          <a:p>
            <a:pPr>
              <a:spcBef>
                <a:spcPct val="0"/>
              </a:spcBef>
              <a:buClrTx/>
              <a:buFontTx/>
              <a:buNone/>
            </a:pPr>
            <a:fld id="{B31798E9-C546-478F-A7CC-9AAD242759EC}" type="slidenum">
              <a:rPr lang="en-US" altLang="zh-CN" smtClean="0"/>
              <a:pPr>
                <a:spcBef>
                  <a:spcPct val="0"/>
                </a:spcBef>
                <a:buClrTx/>
                <a:buFontTx/>
                <a:buNone/>
              </a:pPr>
              <a:t>55</a:t>
            </a:fld>
            <a:endParaRPr lang="en-US" altLang="zh-CN" sz="1000"/>
          </a:p>
        </p:txBody>
      </p:sp>
      <p:pic>
        <p:nvPicPr>
          <p:cNvPr id="14340" name="图片 4">
            <a:extLst>
              <a:ext uri="{FF2B5EF4-FFF2-40B4-BE49-F238E27FC236}">
                <a16:creationId xmlns:a16="http://schemas.microsoft.com/office/drawing/2014/main" id="{C725E00F-421F-4FCF-9E55-548C22914C3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133600"/>
            <a:ext cx="79216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REST</a:t>
            </a:r>
            <a:r>
              <a:rPr lang="zh-CN" altLang="en-US" dirty="0"/>
              <a:t>风格</a:t>
            </a:r>
            <a:r>
              <a:rPr lang="en-US" altLang="zh-CN" dirty="0"/>
              <a:t>	</a:t>
            </a:r>
            <a:endParaRPr lang="zh-CN" altLang="en-US" dirty="0"/>
          </a:p>
        </p:txBody>
      </p:sp>
      <p:sp>
        <p:nvSpPr>
          <p:cNvPr id="3" name="内容占位符 2"/>
          <p:cNvSpPr>
            <a:spLocks noGrp="1"/>
          </p:cNvSpPr>
          <p:nvPr>
            <p:ph idx="1"/>
          </p:nvPr>
        </p:nvSpPr>
        <p:spPr/>
        <p:txBody>
          <a:bodyPr/>
          <a:lstStyle/>
          <a:p>
            <a:r>
              <a:rPr lang="zh-CN" altLang="zh-CN" dirty="0"/>
              <a:t>REST</a:t>
            </a:r>
            <a:r>
              <a:rPr lang="en-US" altLang="zh-CN" dirty="0"/>
              <a:t>(</a:t>
            </a:r>
            <a:r>
              <a:rPr lang="zh-CN" altLang="zh-CN" dirty="0"/>
              <a:t>表征状态转移</a:t>
            </a:r>
            <a:r>
              <a:rPr lang="en-US" altLang="zh-CN" dirty="0"/>
              <a:t>,</a:t>
            </a:r>
            <a:r>
              <a:rPr lang="zh-CN" altLang="zh-CN" dirty="0"/>
              <a:t>Representational State Transfer</a:t>
            </a:r>
            <a:r>
              <a:rPr lang="en-US" altLang="zh-CN" dirty="0"/>
              <a:t>)</a:t>
            </a:r>
            <a:r>
              <a:rPr lang="zh-CN" altLang="en-US" dirty="0"/>
              <a:t>风格</a:t>
            </a:r>
            <a:endParaRPr lang="en-US" altLang="zh-CN" dirty="0"/>
          </a:p>
          <a:p>
            <a:pPr lvl="1"/>
            <a:r>
              <a:rPr lang="zh-CN" altLang="en-US" dirty="0"/>
              <a:t>网络上的所有事物都被抽象为资源（</a:t>
            </a:r>
            <a:r>
              <a:rPr lang="en-US" altLang="zh-CN" dirty="0"/>
              <a:t>resource</a:t>
            </a:r>
            <a:r>
              <a:rPr lang="zh-CN" altLang="en-US" dirty="0"/>
              <a:t>）</a:t>
            </a:r>
            <a:endParaRPr lang="en-US" altLang="zh-CN" dirty="0"/>
          </a:p>
          <a:p>
            <a:pPr lvl="1"/>
            <a:r>
              <a:rPr lang="zh-CN" altLang="en-US" dirty="0"/>
              <a:t>每个资源对应一个唯一的资源标识（</a:t>
            </a:r>
            <a:r>
              <a:rPr lang="en-US" altLang="zh-CN" dirty="0"/>
              <a:t>resource identifier</a:t>
            </a:r>
            <a:r>
              <a:rPr lang="zh-CN" altLang="en-US" dirty="0"/>
              <a:t>）</a:t>
            </a:r>
            <a:endParaRPr lang="en-US" altLang="zh-CN" dirty="0"/>
          </a:p>
          <a:p>
            <a:pPr lvl="1"/>
            <a:r>
              <a:rPr lang="zh-CN" altLang="en-US" dirty="0"/>
              <a:t>通过通用的连接器接口（</a:t>
            </a:r>
            <a:r>
              <a:rPr lang="en-US" altLang="zh-CN" dirty="0"/>
              <a:t>generic connector interface</a:t>
            </a:r>
            <a:r>
              <a:rPr lang="zh-CN" altLang="en-US" dirty="0"/>
              <a:t>）对资源进行操作</a:t>
            </a:r>
            <a:endParaRPr lang="en-US" altLang="zh-CN" dirty="0"/>
          </a:p>
          <a:p>
            <a:pPr lvl="1"/>
            <a:r>
              <a:rPr lang="zh-CN" altLang="en-US" dirty="0"/>
              <a:t>对资源的各种操作不会改变资源标识</a:t>
            </a:r>
            <a:endParaRPr lang="en-US" altLang="zh-CN" dirty="0"/>
          </a:p>
          <a:p>
            <a:pPr lvl="1"/>
            <a:r>
              <a:rPr lang="zh-CN" altLang="en-US" dirty="0"/>
              <a:t>所有的操作都是无状态的（</a:t>
            </a:r>
            <a:r>
              <a:rPr lang="en-US" altLang="zh-CN" dirty="0"/>
              <a:t>stateless</a:t>
            </a:r>
            <a:r>
              <a:rPr lang="zh-CN" altLang="en-US" dirty="0"/>
              <a:t>）。 </a:t>
            </a:r>
            <a:endParaRPr lang="en-US" altLang="zh-CN"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56</a:t>
            </a:fld>
            <a:endParaRPr lang="en-US" altLang="zh-CN" dirty="0"/>
          </a:p>
        </p:txBody>
      </p:sp>
    </p:spTree>
    <p:extLst>
      <p:ext uri="{BB962C8B-B14F-4D97-AF65-F5344CB8AC3E}">
        <p14:creationId xmlns:p14="http://schemas.microsoft.com/office/powerpoint/2010/main" val="25252458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RESTful</a:t>
            </a:r>
            <a:r>
              <a:rPr lang="en-US" altLang="zh-CN" dirty="0"/>
              <a:t> Service</a:t>
            </a:r>
            <a:endParaRPr lang="zh-CN" altLang="en-US" dirty="0"/>
          </a:p>
        </p:txBody>
      </p:sp>
      <p:sp>
        <p:nvSpPr>
          <p:cNvPr id="3" name="内容占位符 2"/>
          <p:cNvSpPr>
            <a:spLocks noGrp="1"/>
          </p:cNvSpPr>
          <p:nvPr>
            <p:ph idx="1"/>
          </p:nvPr>
        </p:nvSpPr>
        <p:spPr/>
        <p:txBody>
          <a:bodyPr>
            <a:normAutofit fontScale="85000" lnSpcReduction="20000"/>
          </a:bodyPr>
          <a:lstStyle/>
          <a:p>
            <a:pPr>
              <a:lnSpc>
                <a:spcPct val="120000"/>
              </a:lnSpc>
            </a:pPr>
            <a:r>
              <a:rPr lang="en-US" altLang="zh-CN" sz="2400" dirty="0"/>
              <a:t>REST-style services (i.e., </a:t>
            </a:r>
            <a:r>
              <a:rPr lang="en-US" altLang="zh-CN" sz="2400" dirty="0" err="1"/>
              <a:t>RESTful</a:t>
            </a:r>
            <a:r>
              <a:rPr lang="en-US" altLang="zh-CN" sz="2400" dirty="0"/>
              <a:t> services) adhere to a set of constraints and architectural principles that include the following:</a:t>
            </a:r>
          </a:p>
          <a:p>
            <a:pPr lvl="1">
              <a:lnSpc>
                <a:spcPct val="120000"/>
              </a:lnSpc>
            </a:pPr>
            <a:r>
              <a:rPr lang="en-US" altLang="zh-CN" sz="2400" dirty="0" err="1"/>
              <a:t>RESTful</a:t>
            </a:r>
            <a:r>
              <a:rPr lang="en-US" altLang="zh-CN" sz="2400" dirty="0"/>
              <a:t> services are stateless. </a:t>
            </a:r>
          </a:p>
          <a:p>
            <a:pPr lvl="2">
              <a:lnSpc>
                <a:spcPct val="120000"/>
              </a:lnSpc>
            </a:pPr>
            <a:r>
              <a:rPr lang="en-US" altLang="zh-CN" sz="1800" dirty="0"/>
              <a:t>“each request from client to server must contain all the information necessary to understand the request, and cannot take advantage of any stored context on the server.”</a:t>
            </a:r>
          </a:p>
          <a:p>
            <a:pPr lvl="1">
              <a:lnSpc>
                <a:spcPct val="120000"/>
              </a:lnSpc>
            </a:pPr>
            <a:r>
              <a:rPr lang="en-US" altLang="zh-CN" sz="2400" dirty="0" err="1"/>
              <a:t>RESTful</a:t>
            </a:r>
            <a:r>
              <a:rPr lang="en-US" altLang="zh-CN" sz="2400" dirty="0"/>
              <a:t> services have a uniform interface. </a:t>
            </a:r>
          </a:p>
          <a:p>
            <a:pPr lvl="2">
              <a:lnSpc>
                <a:spcPct val="120000"/>
              </a:lnSpc>
            </a:pPr>
            <a:r>
              <a:rPr lang="en-US" altLang="zh-CN" sz="1800" dirty="0"/>
              <a:t>This constraint is usually taken to mean that the only allowed operations are the HTTP operations: GET, POST, PUT, and DELETE. </a:t>
            </a:r>
          </a:p>
          <a:p>
            <a:pPr lvl="1">
              <a:lnSpc>
                <a:spcPct val="120000"/>
              </a:lnSpc>
            </a:pPr>
            <a:r>
              <a:rPr lang="en-US" altLang="zh-CN" sz="2400" dirty="0"/>
              <a:t>REST-based architectures are built from resources (pieces of information) that are uniquely identified by URIs. </a:t>
            </a:r>
          </a:p>
          <a:p>
            <a:pPr lvl="2">
              <a:lnSpc>
                <a:spcPct val="120000"/>
              </a:lnSpc>
            </a:pPr>
            <a:r>
              <a:rPr lang="en-US" altLang="zh-CN" sz="1800" dirty="0"/>
              <a:t>For example, in a </a:t>
            </a:r>
            <a:r>
              <a:rPr lang="en-US" altLang="zh-CN" sz="1800" dirty="0" err="1"/>
              <a:t>RESTful</a:t>
            </a:r>
            <a:r>
              <a:rPr lang="en-US" altLang="zh-CN" sz="1800" dirty="0"/>
              <a:t> purchasing system, each purchase order has a unique URI.</a:t>
            </a:r>
          </a:p>
          <a:p>
            <a:pPr lvl="1">
              <a:lnSpc>
                <a:spcPct val="120000"/>
              </a:lnSpc>
            </a:pPr>
            <a:r>
              <a:rPr lang="en-US" altLang="zh-CN" sz="2400" dirty="0"/>
              <a:t>REST components manipulate resources by exchanging representations of the resources. </a:t>
            </a:r>
          </a:p>
          <a:p>
            <a:pPr lvl="2">
              <a:lnSpc>
                <a:spcPct val="120000"/>
              </a:lnSpc>
            </a:pPr>
            <a:r>
              <a:rPr lang="en-US" altLang="zh-CN" sz="1800" dirty="0"/>
              <a:t>For example, a purchase order resource can be represented by an XML document. Within a </a:t>
            </a:r>
            <a:r>
              <a:rPr lang="en-US" altLang="zh-CN" sz="1800" dirty="0" err="1"/>
              <a:t>RESTful</a:t>
            </a:r>
            <a:r>
              <a:rPr lang="en-US" altLang="zh-CN" sz="1800" dirty="0"/>
              <a:t> purchasing system, a purchase order might be updated by posting an XML document containing the changed purchase order to its URI.</a:t>
            </a:r>
            <a:endParaRPr lang="zh-CN" altLang="en-US" sz="1800" dirty="0"/>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57</a:t>
            </a:fld>
            <a:endParaRPr lang="en-US" altLang="zh-CN" dirty="0"/>
          </a:p>
        </p:txBody>
      </p:sp>
    </p:spTree>
    <p:extLst>
      <p:ext uri="{BB962C8B-B14F-4D97-AF65-F5344CB8AC3E}">
        <p14:creationId xmlns:p14="http://schemas.microsoft.com/office/powerpoint/2010/main" val="14820414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a:t>一些概念和名词</a:t>
            </a:r>
          </a:p>
        </p:txBody>
      </p:sp>
      <p:sp>
        <p:nvSpPr>
          <p:cNvPr id="3" name="内容占位符 2"/>
          <p:cNvSpPr>
            <a:spLocks noGrp="1"/>
          </p:cNvSpPr>
          <p:nvPr>
            <p:ph idx="1"/>
          </p:nvPr>
        </p:nvSpPr>
        <p:spPr/>
        <p:txBody>
          <a:bodyPr>
            <a:normAutofit fontScale="85000" lnSpcReduction="20000"/>
          </a:bodyPr>
          <a:lstStyle/>
          <a:p>
            <a:pPr>
              <a:defRPr/>
            </a:pPr>
            <a:r>
              <a:rPr lang="en-US" altLang="zh-CN" dirty="0"/>
              <a:t>Service</a:t>
            </a:r>
          </a:p>
          <a:p>
            <a:pPr>
              <a:defRPr/>
            </a:pPr>
            <a:r>
              <a:rPr lang="en-US" altLang="zh-CN" dirty="0"/>
              <a:t>Services-Oriented</a:t>
            </a:r>
          </a:p>
          <a:p>
            <a:pPr>
              <a:defRPr/>
            </a:pPr>
            <a:r>
              <a:rPr lang="en-US" altLang="zh-CN" dirty="0"/>
              <a:t>SOA</a:t>
            </a:r>
          </a:p>
          <a:p>
            <a:pPr>
              <a:defRPr/>
            </a:pPr>
            <a:r>
              <a:rPr lang="en-US" altLang="zh-CN" dirty="0"/>
              <a:t>Web Services (XML, SOAP, WSDL as core standards)</a:t>
            </a:r>
          </a:p>
          <a:p>
            <a:pPr>
              <a:defRPr/>
            </a:pPr>
            <a:r>
              <a:rPr lang="en-US" altLang="zh-CN" dirty="0"/>
              <a:t>REST, </a:t>
            </a:r>
            <a:r>
              <a:rPr lang="en-US" altLang="zh-CN" dirty="0" err="1"/>
              <a:t>RESTful</a:t>
            </a:r>
            <a:r>
              <a:rPr lang="en-US" altLang="zh-CN" dirty="0"/>
              <a:t> Services</a:t>
            </a:r>
          </a:p>
          <a:p>
            <a:pPr>
              <a:defRPr/>
            </a:pPr>
            <a:r>
              <a:rPr lang="en-US" altLang="zh-CN" dirty="0"/>
              <a:t>JAX-WS (in </a:t>
            </a:r>
            <a:r>
              <a:rPr lang="en-US" altLang="zh-CN" dirty="0" err="1"/>
              <a:t>JavaEE</a:t>
            </a:r>
            <a:r>
              <a:rPr lang="en-US" altLang="zh-CN" dirty="0"/>
              <a:t>) and its implementation (including WTP project, BPEL designer Project in Eclipse)</a:t>
            </a:r>
          </a:p>
          <a:p>
            <a:pPr>
              <a:defRPr/>
            </a:pPr>
            <a:r>
              <a:rPr lang="en-US" altLang="zh-CN" dirty="0" err="1"/>
              <a:t>.Net</a:t>
            </a:r>
            <a:endParaRPr lang="en-US" altLang="zh-CN" dirty="0"/>
          </a:p>
          <a:p>
            <a:pPr>
              <a:defRPr/>
            </a:pPr>
            <a:r>
              <a:rPr lang="en-US" altLang="zh-CN" dirty="0"/>
              <a:t>IBM </a:t>
            </a:r>
            <a:r>
              <a:rPr lang="en-US" altLang="zh-CN" dirty="0" err="1"/>
              <a:t>WebSphere</a:t>
            </a:r>
            <a:endParaRPr lang="en-US" altLang="zh-CN" dirty="0"/>
          </a:p>
          <a:p>
            <a:pPr>
              <a:defRPr/>
            </a:pPr>
            <a:r>
              <a:rPr lang="en-US" altLang="zh-CN" dirty="0"/>
              <a:t>Other open source projects</a:t>
            </a:r>
          </a:p>
          <a:p>
            <a:pPr>
              <a:defRPr/>
            </a:pPr>
            <a:r>
              <a:rPr lang="en-US" altLang="zh-CN" dirty="0"/>
              <a:t>……</a:t>
            </a:r>
          </a:p>
        </p:txBody>
      </p:sp>
      <p:sp>
        <p:nvSpPr>
          <p:cNvPr id="30724" name="灯片编号占位符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C39EA16-DFAB-4DF7-905E-239DF114B1CD}" type="slidenum">
              <a:rPr lang="en-US" altLang="zh-CN" smtClean="0"/>
              <a:pPr eaLnBrk="1" hangingPunct="1"/>
              <a:t>58</a:t>
            </a:fld>
            <a:endParaRPr lang="en-US" altLang="zh-CN"/>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en-US" altLang="zh-CN"/>
              <a:t>Service-oriented Summary (1/2)</a:t>
            </a:r>
            <a:endParaRPr lang="zh-CN" altLang="en-US"/>
          </a:p>
        </p:txBody>
      </p:sp>
      <p:sp>
        <p:nvSpPr>
          <p:cNvPr id="3" name="内容占位符 2"/>
          <p:cNvSpPr>
            <a:spLocks noGrp="1"/>
          </p:cNvSpPr>
          <p:nvPr>
            <p:ph idx="1"/>
          </p:nvPr>
        </p:nvSpPr>
        <p:spPr/>
        <p:txBody>
          <a:bodyPr>
            <a:normAutofit fontScale="85000" lnSpcReduction="10000"/>
          </a:bodyPr>
          <a:lstStyle/>
          <a:p>
            <a:pPr>
              <a:lnSpc>
                <a:spcPct val="120000"/>
              </a:lnSpc>
              <a:defRPr/>
            </a:pPr>
            <a:r>
              <a:rPr lang="en-US" altLang="zh-CN" sz="2800" i="1" dirty="0"/>
              <a:t>Service-oriented solution logic </a:t>
            </a:r>
            <a:r>
              <a:rPr lang="en-US" altLang="zh-CN" sz="2800" dirty="0"/>
              <a:t>is implemented as </a:t>
            </a:r>
            <a:r>
              <a:rPr lang="en-US" altLang="zh-CN" sz="2800" i="1" dirty="0"/>
              <a:t>services </a:t>
            </a:r>
            <a:r>
              <a:rPr lang="en-US" altLang="zh-CN" sz="2800" dirty="0"/>
              <a:t>and </a:t>
            </a:r>
            <a:r>
              <a:rPr lang="en-US" altLang="zh-CN" sz="2800" i="1" dirty="0"/>
              <a:t>service composition </a:t>
            </a:r>
            <a:r>
              <a:rPr lang="en-US" altLang="zh-CN" sz="2800" dirty="0"/>
              <a:t>designed in accordance with </a:t>
            </a:r>
            <a:r>
              <a:rPr lang="en-US" altLang="zh-CN" sz="2800" i="1" dirty="0"/>
              <a:t>service-orientation design principles</a:t>
            </a:r>
            <a:endParaRPr lang="en-US" altLang="zh-CN" sz="2800" dirty="0"/>
          </a:p>
          <a:p>
            <a:pPr>
              <a:lnSpc>
                <a:spcPct val="120000"/>
              </a:lnSpc>
              <a:defRPr/>
            </a:pPr>
            <a:r>
              <a:rPr lang="en-US" altLang="zh-CN" sz="2800" dirty="0"/>
              <a:t>A </a:t>
            </a:r>
            <a:r>
              <a:rPr lang="en-US" altLang="zh-CN" sz="2800" i="1" dirty="0"/>
              <a:t>service composition </a:t>
            </a:r>
            <a:r>
              <a:rPr lang="en-US" altLang="zh-CN" sz="2800" dirty="0"/>
              <a:t>is comprised of </a:t>
            </a:r>
            <a:r>
              <a:rPr lang="en-US" altLang="zh-CN" sz="2800" i="1" dirty="0"/>
              <a:t>services </a:t>
            </a:r>
            <a:r>
              <a:rPr lang="en-US" altLang="zh-CN" sz="2800" dirty="0"/>
              <a:t>that have been assembled to provide the functionality required to automate a specific business task or process.</a:t>
            </a:r>
          </a:p>
          <a:p>
            <a:pPr>
              <a:lnSpc>
                <a:spcPct val="120000"/>
              </a:lnSpc>
              <a:defRPr/>
            </a:pPr>
            <a:r>
              <a:rPr lang="en-US" altLang="zh-CN" sz="2800" dirty="0"/>
              <a:t>Because </a:t>
            </a:r>
            <a:r>
              <a:rPr lang="en-US" altLang="zh-CN" sz="2800" i="1" dirty="0"/>
              <a:t>service-orientation </a:t>
            </a:r>
            <a:r>
              <a:rPr lang="en-US" altLang="zh-CN" sz="2800" dirty="0"/>
              <a:t>shapes many </a:t>
            </a:r>
            <a:r>
              <a:rPr lang="en-US" altLang="zh-CN" sz="2800" i="1" dirty="0"/>
              <a:t>services </a:t>
            </a:r>
            <a:r>
              <a:rPr lang="en-US" altLang="zh-CN" sz="2800" dirty="0"/>
              <a:t>as agnostic enterprise resources, one </a:t>
            </a:r>
            <a:r>
              <a:rPr lang="en-US" altLang="zh-CN" sz="2800" i="1" dirty="0"/>
              <a:t>service </a:t>
            </a:r>
            <a:r>
              <a:rPr lang="en-US" altLang="zh-CN" sz="2800" dirty="0"/>
              <a:t>may be invoked by multiple consumer programs, each of which can involve that same </a:t>
            </a:r>
            <a:r>
              <a:rPr lang="en-US" altLang="zh-CN" sz="2800" i="1" dirty="0"/>
              <a:t>service </a:t>
            </a:r>
            <a:r>
              <a:rPr lang="en-US" altLang="zh-CN" sz="2800" dirty="0"/>
              <a:t>in a different </a:t>
            </a:r>
            <a:r>
              <a:rPr lang="en-US" altLang="zh-CN" sz="2800" i="1" dirty="0"/>
              <a:t>service composition</a:t>
            </a:r>
            <a:endParaRPr lang="en-US" altLang="zh-CN" sz="2800" dirty="0"/>
          </a:p>
        </p:txBody>
      </p:sp>
      <p:sp>
        <p:nvSpPr>
          <p:cNvPr id="22532" name="灯片编号占位符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96209A0-2400-4F14-A40E-438BCE65E4C2}" type="slidenum">
              <a:rPr lang="en-US" altLang="zh-CN" sz="1000" smtClean="0"/>
              <a:pPr>
                <a:spcBef>
                  <a:spcPct val="0"/>
                </a:spcBef>
                <a:buClrTx/>
                <a:buFontTx/>
                <a:buNone/>
              </a:pPr>
              <a:t>59</a:t>
            </a:fld>
            <a:endParaRPr lang="en-US" altLang="zh-CN" sz="1000"/>
          </a:p>
        </p:txBody>
      </p:sp>
    </p:spTree>
    <p:extLst>
      <p:ext uri="{BB962C8B-B14F-4D97-AF65-F5344CB8AC3E}">
        <p14:creationId xmlns:p14="http://schemas.microsoft.com/office/powerpoint/2010/main" val="3018563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en-US" altLang="zh-CN"/>
              <a:t>Service-oriented Summary (2/2)</a:t>
            </a:r>
            <a:endParaRPr lang="zh-CN" altLang="en-US"/>
          </a:p>
        </p:txBody>
      </p:sp>
      <p:sp>
        <p:nvSpPr>
          <p:cNvPr id="3" name="内容占位符 2"/>
          <p:cNvSpPr>
            <a:spLocks noGrp="1"/>
          </p:cNvSpPr>
          <p:nvPr>
            <p:ph idx="1"/>
          </p:nvPr>
        </p:nvSpPr>
        <p:spPr/>
        <p:txBody>
          <a:bodyPr>
            <a:normAutofit fontScale="85000" lnSpcReduction="20000"/>
          </a:bodyPr>
          <a:lstStyle/>
          <a:p>
            <a:pPr>
              <a:lnSpc>
                <a:spcPct val="120000"/>
              </a:lnSpc>
              <a:defRPr/>
            </a:pPr>
            <a:r>
              <a:rPr lang="en-US" altLang="zh-CN" dirty="0"/>
              <a:t>A collection of standardized </a:t>
            </a:r>
            <a:r>
              <a:rPr lang="en-US" altLang="zh-CN" i="1" dirty="0"/>
              <a:t>services </a:t>
            </a:r>
            <a:r>
              <a:rPr lang="en-US" altLang="zh-CN" dirty="0"/>
              <a:t>can form the basis of a </a:t>
            </a:r>
            <a:r>
              <a:rPr lang="en-US" altLang="zh-CN" i="1" dirty="0"/>
              <a:t>service inventory </a:t>
            </a:r>
            <a:r>
              <a:rPr lang="en-US" altLang="zh-CN" dirty="0"/>
              <a:t>that can be independently administered within its own physical deployment environment</a:t>
            </a:r>
          </a:p>
          <a:p>
            <a:pPr>
              <a:lnSpc>
                <a:spcPct val="120000"/>
              </a:lnSpc>
              <a:defRPr/>
            </a:pPr>
            <a:r>
              <a:rPr lang="en-US" altLang="zh-CN" dirty="0"/>
              <a:t>Multiple business processes can be automated by the creation of </a:t>
            </a:r>
            <a:r>
              <a:rPr lang="en-US" altLang="zh-CN" i="1" dirty="0"/>
              <a:t>service compositions </a:t>
            </a:r>
            <a:r>
              <a:rPr lang="en-US" altLang="zh-CN" dirty="0"/>
              <a:t>that draw from a pool of existing agnostic </a:t>
            </a:r>
            <a:r>
              <a:rPr lang="en-US" altLang="zh-CN" i="1" dirty="0"/>
              <a:t>services </a:t>
            </a:r>
            <a:r>
              <a:rPr lang="en-US" altLang="zh-CN" dirty="0"/>
              <a:t>that reside within a </a:t>
            </a:r>
            <a:r>
              <a:rPr lang="en-US" altLang="zh-CN" i="1" dirty="0"/>
              <a:t>service inventory</a:t>
            </a:r>
            <a:endParaRPr lang="en-US" altLang="zh-CN" dirty="0"/>
          </a:p>
          <a:p>
            <a:pPr>
              <a:lnSpc>
                <a:spcPct val="120000"/>
              </a:lnSpc>
              <a:defRPr/>
            </a:pPr>
            <a:r>
              <a:rPr lang="en-US" altLang="zh-CN" i="1" dirty="0"/>
              <a:t>Service-oriented architecture </a:t>
            </a:r>
            <a:r>
              <a:rPr lang="en-US" altLang="zh-CN" dirty="0"/>
              <a:t>is a form of technology architecture optimized in support of </a:t>
            </a:r>
            <a:r>
              <a:rPr lang="en-US" altLang="zh-CN" i="1" dirty="0"/>
              <a:t>services</a:t>
            </a:r>
            <a:r>
              <a:rPr lang="en-US" altLang="zh-CN" dirty="0"/>
              <a:t>, </a:t>
            </a:r>
            <a:r>
              <a:rPr lang="en-US" altLang="zh-CN" i="1" dirty="0"/>
              <a:t>service compositions</a:t>
            </a:r>
            <a:r>
              <a:rPr lang="en-US" altLang="zh-CN" dirty="0"/>
              <a:t>, and </a:t>
            </a:r>
            <a:r>
              <a:rPr lang="en-US" altLang="zh-CN" i="1" dirty="0"/>
              <a:t>service inventories</a:t>
            </a:r>
            <a:endParaRPr lang="zh-CN" altLang="en-US" dirty="0"/>
          </a:p>
        </p:txBody>
      </p:sp>
      <p:sp>
        <p:nvSpPr>
          <p:cNvPr id="23556" name="灯片编号占位符 3"/>
          <p:cNvSpPr>
            <a:spLocks noGrp="1"/>
          </p:cNvSpPr>
          <p:nvPr>
            <p:ph type="sldNum" sz="quarter"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Wingdings" panose="05000000000000000000"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sz="27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Font typeface="Wingdings" panose="05000000000000000000" pitchFamily="2" charset="2"/>
              <a:buChar char="l"/>
              <a:defRPr sz="23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1"/>
              </a:buClr>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95F5B4B4-D2C5-45A7-A6DC-63C0EF8EC763}" type="slidenum">
              <a:rPr lang="en-US" altLang="zh-CN" sz="1000" smtClean="0"/>
              <a:pPr>
                <a:spcBef>
                  <a:spcPct val="0"/>
                </a:spcBef>
                <a:buClrTx/>
                <a:buFontTx/>
                <a:buNone/>
              </a:pPr>
              <a:t>60</a:t>
            </a:fld>
            <a:endParaRPr lang="en-US" altLang="zh-CN" sz="1000"/>
          </a:p>
        </p:txBody>
      </p:sp>
    </p:spTree>
    <p:extLst>
      <p:ext uri="{BB962C8B-B14F-4D97-AF65-F5344CB8AC3E}">
        <p14:creationId xmlns:p14="http://schemas.microsoft.com/office/powerpoint/2010/main" val="25412577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Read More…</a:t>
            </a:r>
            <a:endParaRPr lang="zh-CN" altLang="en-US" dirty="0"/>
          </a:p>
        </p:txBody>
      </p:sp>
      <p:sp>
        <p:nvSpPr>
          <p:cNvPr id="3" name="内容占位符 2"/>
          <p:cNvSpPr>
            <a:spLocks noGrp="1"/>
          </p:cNvSpPr>
          <p:nvPr>
            <p:ph idx="1"/>
          </p:nvPr>
        </p:nvSpPr>
        <p:spPr/>
        <p:txBody>
          <a:bodyPr>
            <a:normAutofit/>
          </a:bodyPr>
          <a:lstStyle/>
          <a:p>
            <a:r>
              <a:rPr lang="zh-CN" altLang="en-US" sz="2800" dirty="0"/>
              <a:t>题名</a:t>
            </a:r>
            <a:r>
              <a:rPr lang="en-US" altLang="zh-CN" sz="2800" dirty="0"/>
              <a:t>/</a:t>
            </a:r>
            <a:r>
              <a:rPr lang="zh-CN" altLang="en-US" sz="2800" dirty="0"/>
              <a:t>责任者</a:t>
            </a:r>
            <a:r>
              <a:rPr lang="en-US" altLang="zh-CN" sz="2800" dirty="0"/>
              <a:t>:</a:t>
            </a:r>
            <a:r>
              <a:rPr lang="zh-CN" altLang="en-US" sz="2800" dirty="0"/>
              <a:t>浅谈深析面向服务的软件工程</a:t>
            </a:r>
            <a:r>
              <a:rPr lang="en-US" altLang="zh-CN" sz="2800" dirty="0"/>
              <a:t>/</a:t>
            </a:r>
            <a:r>
              <a:rPr lang="zh-CN" altLang="en-US" sz="2800" dirty="0"/>
              <a:t>蔡维德</a:t>
            </a:r>
            <a:r>
              <a:rPr lang="en-US" altLang="zh-CN" sz="2800" dirty="0"/>
              <a:t>, </a:t>
            </a:r>
            <a:r>
              <a:rPr lang="zh-CN" altLang="en-US" sz="2800" dirty="0"/>
              <a:t>白晓颖</a:t>
            </a:r>
            <a:r>
              <a:rPr lang="en-US" altLang="zh-CN" sz="2800" dirty="0"/>
              <a:t>, </a:t>
            </a:r>
            <a:r>
              <a:rPr lang="zh-CN" altLang="en-US" sz="2800" dirty="0"/>
              <a:t>陈以农著</a:t>
            </a:r>
          </a:p>
          <a:p>
            <a:pPr lvl="1"/>
            <a:r>
              <a:rPr lang="zh-CN" altLang="en-US" sz="2400" dirty="0"/>
              <a:t>出版发行项</a:t>
            </a:r>
            <a:r>
              <a:rPr lang="en-US" altLang="zh-CN" sz="2400" dirty="0"/>
              <a:t>:</a:t>
            </a:r>
            <a:r>
              <a:rPr lang="zh-CN" altLang="en-US" sz="2400" dirty="0"/>
              <a:t>北京</a:t>
            </a:r>
            <a:r>
              <a:rPr lang="en-US" altLang="zh-CN" sz="2400" dirty="0"/>
              <a:t>:</a:t>
            </a:r>
            <a:r>
              <a:rPr lang="zh-CN" altLang="en-US" sz="2400" dirty="0"/>
              <a:t>清华大学出版社</a:t>
            </a:r>
            <a:r>
              <a:rPr lang="en-US" altLang="zh-CN" sz="2400" dirty="0"/>
              <a:t>,2008</a:t>
            </a:r>
          </a:p>
          <a:p>
            <a:pPr lvl="1"/>
            <a:r>
              <a:rPr lang="en-US" altLang="zh-CN" sz="2400" dirty="0"/>
              <a:t>ISBN</a:t>
            </a:r>
            <a:r>
              <a:rPr lang="zh-CN" altLang="en-US" sz="2400" dirty="0"/>
              <a:t>及定价</a:t>
            </a:r>
            <a:r>
              <a:rPr lang="en-US" altLang="zh-CN" sz="2400" dirty="0"/>
              <a:t>:978-7-302-17221-5/CNY29.00</a:t>
            </a:r>
          </a:p>
          <a:p>
            <a:pPr marL="0" indent="0">
              <a:buNone/>
            </a:pPr>
            <a:endParaRPr lang="en-US" altLang="zh-CN" sz="2800"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服务设计原则</a:t>
            </a:r>
            <a:r>
              <a:rPr lang="en-US" altLang="zh-CN" sz="2800" dirty="0"/>
              <a:t>/(</a:t>
            </a:r>
            <a:r>
              <a:rPr lang="zh-CN" altLang="en-US" sz="2800" dirty="0"/>
              <a:t>美</a:t>
            </a:r>
            <a:r>
              <a:rPr lang="en-US" altLang="zh-CN" sz="2800" dirty="0"/>
              <a:t>) Thomas </a:t>
            </a:r>
            <a:r>
              <a:rPr lang="en-US" altLang="zh-CN" sz="2800" dirty="0" err="1"/>
              <a:t>Erl</a:t>
            </a:r>
            <a:r>
              <a:rPr lang="zh-CN" altLang="en-US" sz="2800" dirty="0"/>
              <a:t>著 郭耀译</a:t>
            </a:r>
          </a:p>
          <a:p>
            <a:pPr lvl="1"/>
            <a:r>
              <a:rPr lang="zh-CN" altLang="en-US" sz="2400" dirty="0"/>
              <a:t>出版发行项</a:t>
            </a:r>
            <a:r>
              <a:rPr lang="en-US" altLang="zh-CN" sz="2400" dirty="0"/>
              <a:t>:</a:t>
            </a:r>
            <a:r>
              <a:rPr lang="zh-CN" altLang="en-US" sz="2400" dirty="0"/>
              <a:t>北京</a:t>
            </a:r>
            <a:r>
              <a:rPr lang="en-US" altLang="zh-CN" sz="2400" dirty="0"/>
              <a:t>:</a:t>
            </a:r>
            <a:r>
              <a:rPr lang="zh-CN" altLang="en-US" sz="2400" dirty="0"/>
              <a:t>人民邮电版社</a:t>
            </a:r>
            <a:r>
              <a:rPr lang="en-US" altLang="zh-CN" sz="2400" dirty="0"/>
              <a:t>,2009</a:t>
            </a:r>
          </a:p>
          <a:p>
            <a:pPr lvl="1"/>
            <a:r>
              <a:rPr lang="en-US" altLang="zh-CN" sz="2400" dirty="0"/>
              <a:t>ISBN</a:t>
            </a:r>
            <a:r>
              <a:rPr lang="zh-CN" altLang="en-US" sz="2400" dirty="0"/>
              <a:t>及定价</a:t>
            </a:r>
            <a:r>
              <a:rPr lang="en-US" altLang="zh-CN" sz="2400" dirty="0"/>
              <a:t>:978-7-115-20492-9/CNY55.00</a:t>
            </a:r>
          </a:p>
        </p:txBody>
      </p:sp>
      <p:sp>
        <p:nvSpPr>
          <p:cNvPr id="4" name="灯片编号占位符 3"/>
          <p:cNvSpPr>
            <a:spLocks noGrp="1"/>
          </p:cNvSpPr>
          <p:nvPr>
            <p:ph type="sldNum" sz="quarter" idx="11"/>
          </p:nvPr>
        </p:nvSpPr>
        <p:spPr/>
        <p:txBody>
          <a:bodyPr/>
          <a:lstStyle/>
          <a:p>
            <a:pPr>
              <a:defRPr/>
            </a:pPr>
            <a:fld id="{35E2893E-1C56-4F7E-897F-1FA1E5A4D06E}" type="slidenum">
              <a:rPr lang="en-US" altLang="zh-CN" smtClean="0"/>
              <a:pPr>
                <a:defRPr/>
              </a:pPr>
              <a:t>61</a:t>
            </a:fld>
            <a:endParaRPr lang="en-US" altLang="zh-CN" dirty="0"/>
          </a:p>
        </p:txBody>
      </p:sp>
    </p:spTree>
    <p:extLst>
      <p:ext uri="{BB962C8B-B14F-4D97-AF65-F5344CB8AC3E}">
        <p14:creationId xmlns:p14="http://schemas.microsoft.com/office/powerpoint/2010/main" val="42079594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83.8|6.6"/>
</p:tagLst>
</file>

<file path=ppt/tags/tag2.xml><?xml version="1.0" encoding="utf-8"?>
<p:tagLst xmlns:a="http://schemas.openxmlformats.org/drawingml/2006/main" xmlns:r="http://schemas.openxmlformats.org/officeDocument/2006/relationships" xmlns:p="http://schemas.openxmlformats.org/presentationml/2006/main">
  <p:tag name="TIMING" val="|3.7|11.8|51.3|42.4|102.4|27.2"/>
</p:tagLst>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software</Template>
  <TotalTime>10718</TotalTime>
  <Words>2744</Words>
  <Application>Microsoft Office PowerPoint</Application>
  <PresentationFormat>全屏显示(4:3)</PresentationFormat>
  <Paragraphs>379</Paragraphs>
  <Slides>61</Slides>
  <Notes>27</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69" baseType="lpstr">
      <vt:lpstr>宋体</vt:lpstr>
      <vt:lpstr>Arial</vt:lpstr>
      <vt:lpstr>Calibri</vt:lpstr>
      <vt:lpstr>Times New Roman</vt:lpstr>
      <vt:lpstr>Verdana</vt:lpstr>
      <vt:lpstr>Wingdings</vt:lpstr>
      <vt:lpstr>software</vt:lpstr>
      <vt:lpstr>Visio</vt:lpstr>
      <vt:lpstr>Services computing and Service-Oriented Service-Oriented Software Engineering</vt:lpstr>
      <vt:lpstr>软件的发展</vt:lpstr>
      <vt:lpstr>命令式（过程式）泛型</vt:lpstr>
      <vt:lpstr>面向对象的泛型</vt:lpstr>
      <vt:lpstr>为变化而设计</vt:lpstr>
      <vt:lpstr>服务系统的全新挑战 (Recall)</vt:lpstr>
      <vt:lpstr>The Life of A Software Engineer</vt:lpstr>
      <vt:lpstr>基于构件的泛型</vt:lpstr>
      <vt:lpstr>构件 vs 应用组装 （1/2)</vt:lpstr>
      <vt:lpstr>构件 vs. 应用组装 （2/2)</vt:lpstr>
      <vt:lpstr>基于构件 vs. 面向对象</vt:lpstr>
      <vt:lpstr>面向服务的泛型</vt:lpstr>
      <vt:lpstr>While things are Service-Oriented…</vt:lpstr>
      <vt:lpstr>While things are Service-Oriented…</vt:lpstr>
      <vt:lpstr>Service inventory</vt:lpstr>
      <vt:lpstr>Services models</vt:lpstr>
      <vt:lpstr>Service inventory and composition </vt:lpstr>
      <vt:lpstr>龙卷风模型</vt:lpstr>
      <vt:lpstr>面向服务 vs. 面向对象 （1/3）</vt:lpstr>
      <vt:lpstr>面向服务 vs. 面向对象 （2/3）</vt:lpstr>
      <vt:lpstr>面向服务 vs. 面向对象 （3/3）</vt:lpstr>
      <vt:lpstr>从设计角度…</vt:lpstr>
      <vt:lpstr>基本概念：对象/类、服务合约</vt:lpstr>
      <vt:lpstr>基本概念：接口/Interface &amp; 服务合约</vt:lpstr>
      <vt:lpstr>OO的基本原则（for SO?)</vt:lpstr>
      <vt:lpstr>封装（Encapsulation）</vt:lpstr>
      <vt:lpstr>继承（Inheritance）</vt:lpstr>
      <vt:lpstr>泛化和特化（Generalization and Specialization）</vt:lpstr>
      <vt:lpstr>抽象（Abstraction）</vt:lpstr>
      <vt:lpstr>多态（Polymorphism）</vt:lpstr>
      <vt:lpstr>开放-封闭原则（Open-Close Principle, OCP）</vt:lpstr>
      <vt:lpstr>别重复你自己（Don’t Repeat Yourself, DRY)</vt:lpstr>
      <vt:lpstr>单一职责原则（Single Responsibility Principle, SRP）</vt:lpstr>
      <vt:lpstr>委托（Delegation）</vt:lpstr>
      <vt:lpstr>关联（Association）</vt:lpstr>
      <vt:lpstr>组合（Composition）</vt:lpstr>
      <vt:lpstr>聚合（Aggregation）</vt:lpstr>
      <vt:lpstr>Services Computing (1/4)</vt:lpstr>
      <vt:lpstr>Services Computing (2/4)</vt:lpstr>
      <vt:lpstr>Services Computing (3/4)</vt:lpstr>
      <vt:lpstr>Services Computing (4/4)</vt:lpstr>
      <vt:lpstr>面向服务与面向服务的目标</vt:lpstr>
      <vt:lpstr>Service-Oriented Architecture (1/2)</vt:lpstr>
      <vt:lpstr>Service-Oriented Architecture (2/2)</vt:lpstr>
      <vt:lpstr>Triangular SOA Operation Model</vt:lpstr>
      <vt:lpstr>Concepts Related</vt:lpstr>
      <vt:lpstr>Enterprise Application Integration (EAI)</vt:lpstr>
      <vt:lpstr>Business process Management (BPM)</vt:lpstr>
      <vt:lpstr>An example of Process</vt:lpstr>
      <vt:lpstr>Web Services</vt:lpstr>
      <vt:lpstr>Web services standard stack</vt:lpstr>
      <vt:lpstr>服务合约</vt:lpstr>
      <vt:lpstr>Abstract model of Web service (1/3)</vt:lpstr>
      <vt:lpstr>Abstract model of Web service (2/3)</vt:lpstr>
      <vt:lpstr>Abstract model of Web service (3/3)</vt:lpstr>
      <vt:lpstr>REST风格 </vt:lpstr>
      <vt:lpstr>RESTful Service</vt:lpstr>
      <vt:lpstr>一些概念和名词</vt:lpstr>
      <vt:lpstr>Service-oriented Summary (1/2)</vt:lpstr>
      <vt:lpstr>Service-oriented Summary (2/2)</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191</cp:revision>
  <dcterms:created xsi:type="dcterms:W3CDTF">2008-04-16T11:36:22Z</dcterms:created>
  <dcterms:modified xsi:type="dcterms:W3CDTF">2023-09-21T02:11:49Z</dcterms:modified>
</cp:coreProperties>
</file>