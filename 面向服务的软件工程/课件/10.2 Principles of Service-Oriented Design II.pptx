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227" r:id="rId1"/>
  </p:sldMasterIdLst>
  <p:notesMasterIdLst>
    <p:notesMasterId r:id="rId68"/>
  </p:notesMasterIdLst>
  <p:sldIdLst>
    <p:sldId id="256" r:id="rId2"/>
    <p:sldId id="333" r:id="rId3"/>
    <p:sldId id="334" r:id="rId4"/>
    <p:sldId id="335" r:id="rId5"/>
    <p:sldId id="336" r:id="rId6"/>
    <p:sldId id="338" r:id="rId7"/>
    <p:sldId id="340" r:id="rId8"/>
    <p:sldId id="337" r:id="rId9"/>
    <p:sldId id="341" r:id="rId10"/>
    <p:sldId id="343" r:id="rId11"/>
    <p:sldId id="345" r:id="rId12"/>
    <p:sldId id="346" r:id="rId13"/>
    <p:sldId id="347" r:id="rId14"/>
    <p:sldId id="344" r:id="rId15"/>
    <p:sldId id="355" r:id="rId16"/>
    <p:sldId id="356" r:id="rId17"/>
    <p:sldId id="351" r:id="rId18"/>
    <p:sldId id="352" r:id="rId19"/>
    <p:sldId id="357" r:id="rId20"/>
    <p:sldId id="358" r:id="rId21"/>
    <p:sldId id="353" r:id="rId22"/>
    <p:sldId id="354" r:id="rId23"/>
    <p:sldId id="275" r:id="rId24"/>
    <p:sldId id="276" r:id="rId25"/>
    <p:sldId id="281" r:id="rId26"/>
    <p:sldId id="285" r:id="rId27"/>
    <p:sldId id="393" r:id="rId28"/>
    <p:sldId id="361" r:id="rId29"/>
    <p:sldId id="394" r:id="rId30"/>
    <p:sldId id="292" r:id="rId31"/>
    <p:sldId id="363" r:id="rId32"/>
    <p:sldId id="364" r:id="rId33"/>
    <p:sldId id="362" r:id="rId34"/>
    <p:sldId id="365" r:id="rId35"/>
    <p:sldId id="366" r:id="rId36"/>
    <p:sldId id="367" r:id="rId37"/>
    <p:sldId id="368" r:id="rId38"/>
    <p:sldId id="369" r:id="rId39"/>
    <p:sldId id="370" r:id="rId40"/>
    <p:sldId id="372" r:id="rId41"/>
    <p:sldId id="374" r:id="rId42"/>
    <p:sldId id="373" r:id="rId43"/>
    <p:sldId id="375" r:id="rId44"/>
    <p:sldId id="377" r:id="rId45"/>
    <p:sldId id="376" r:id="rId46"/>
    <p:sldId id="378" r:id="rId47"/>
    <p:sldId id="396" r:id="rId48"/>
    <p:sldId id="379" r:id="rId49"/>
    <p:sldId id="312" r:id="rId50"/>
    <p:sldId id="381" r:id="rId51"/>
    <p:sldId id="382" r:id="rId52"/>
    <p:sldId id="383" r:id="rId53"/>
    <p:sldId id="318" r:id="rId54"/>
    <p:sldId id="319" r:id="rId55"/>
    <p:sldId id="322" r:id="rId56"/>
    <p:sldId id="325" r:id="rId57"/>
    <p:sldId id="384" r:id="rId58"/>
    <p:sldId id="395" r:id="rId59"/>
    <p:sldId id="385" r:id="rId60"/>
    <p:sldId id="386" r:id="rId61"/>
    <p:sldId id="328" r:id="rId62"/>
    <p:sldId id="330" r:id="rId63"/>
    <p:sldId id="390" r:id="rId64"/>
    <p:sldId id="391" r:id="rId65"/>
    <p:sldId id="392" r:id="rId66"/>
    <p:sldId id="397" r:id="rId67"/>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7378" autoAdjust="0"/>
    <p:restoredTop sz="95773" autoAdjust="0"/>
  </p:normalViewPr>
  <p:slideViewPr>
    <p:cSldViewPr>
      <p:cViewPr varScale="1">
        <p:scale>
          <a:sx n="121" d="100"/>
          <a:sy n="121" d="100"/>
        </p:scale>
        <p:origin x="930"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4301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716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4301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4301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4F33D795-63D4-4BB6-A62B-04C08D829B6E}" type="slidenum">
              <a:rPr lang="en-US" altLang="zh-CN"/>
              <a:pPr>
                <a:defRPr/>
              </a:pPr>
              <a:t>‹#›</a:t>
            </a:fld>
            <a:endParaRPr lang="en-US" altLang="zh-CN" dirty="0"/>
          </a:p>
        </p:txBody>
      </p:sp>
    </p:spTree>
    <p:extLst>
      <p:ext uri="{BB962C8B-B14F-4D97-AF65-F5344CB8AC3E}">
        <p14:creationId xmlns:p14="http://schemas.microsoft.com/office/powerpoint/2010/main" val="12719793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727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3CDEA06-4EB5-4E46-80D8-9309E3A8E4B7}" type="slidenum">
              <a:rPr lang="en-US" altLang="zh-CN" smtClean="0"/>
              <a:pPr eaLnBrk="1" hangingPunct="1"/>
              <a:t>1</a:t>
            </a:fld>
            <a:endParaRPr lang="en-US" altLang="zh-CN" smtClean="0"/>
          </a:p>
        </p:txBody>
      </p:sp>
    </p:spTree>
    <p:extLst>
      <p:ext uri="{BB962C8B-B14F-4D97-AF65-F5344CB8AC3E}">
        <p14:creationId xmlns:p14="http://schemas.microsoft.com/office/powerpoint/2010/main" val="35279032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ln/>
        </p:spPr>
      </p:sp>
      <p:sp>
        <p:nvSpPr>
          <p:cNvPr id="737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737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C9F87B3-1A47-4506-8C53-0C3D7146E9B6}" type="slidenum">
              <a:rPr lang="en-US" altLang="zh-CN" smtClean="0"/>
              <a:pPr eaLnBrk="1" hangingPunct="1"/>
              <a:t>2</a:t>
            </a:fld>
            <a:endParaRPr lang="en-US" altLang="zh-CN" smtClean="0"/>
          </a:p>
        </p:txBody>
      </p:sp>
    </p:spTree>
    <p:extLst>
      <p:ext uri="{BB962C8B-B14F-4D97-AF65-F5344CB8AC3E}">
        <p14:creationId xmlns:p14="http://schemas.microsoft.com/office/powerpoint/2010/main" val="3557344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747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1F693AB-95C2-433C-95AE-B1EFF3AEEC82}" type="slidenum">
              <a:rPr lang="en-US" altLang="zh-CN" smtClean="0"/>
              <a:pPr eaLnBrk="1" hangingPunct="1"/>
              <a:t>3</a:t>
            </a:fld>
            <a:endParaRPr lang="en-US" altLang="zh-CN" smtClean="0"/>
          </a:p>
        </p:txBody>
      </p:sp>
    </p:spTree>
    <p:extLst>
      <p:ext uri="{BB962C8B-B14F-4D97-AF65-F5344CB8AC3E}">
        <p14:creationId xmlns:p14="http://schemas.microsoft.com/office/powerpoint/2010/main" val="11396406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a:ln/>
        </p:spPr>
      </p:sp>
      <p:sp>
        <p:nvSpPr>
          <p:cNvPr id="768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768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C31DA6D-89F2-40E8-AF98-9009F407CD03}" type="slidenum">
              <a:rPr lang="en-US" altLang="zh-CN" smtClean="0"/>
              <a:pPr eaLnBrk="1" hangingPunct="1"/>
              <a:t>4</a:t>
            </a:fld>
            <a:endParaRPr lang="en-US" altLang="zh-CN" smtClean="0"/>
          </a:p>
        </p:txBody>
      </p:sp>
    </p:spTree>
    <p:extLst>
      <p:ext uri="{BB962C8B-B14F-4D97-AF65-F5344CB8AC3E}">
        <p14:creationId xmlns:p14="http://schemas.microsoft.com/office/powerpoint/2010/main" val="3051871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ln/>
        </p:spPr>
      </p:sp>
      <p:sp>
        <p:nvSpPr>
          <p:cNvPr id="778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778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DC57194-1040-41B2-8B9F-4D99FD795D6A}" type="slidenum">
              <a:rPr lang="en-US" altLang="zh-CN" smtClean="0"/>
              <a:pPr eaLnBrk="1" hangingPunct="1"/>
              <a:t>5</a:t>
            </a:fld>
            <a:endParaRPr lang="en-US" altLang="zh-CN" smtClean="0"/>
          </a:p>
        </p:txBody>
      </p:sp>
    </p:spTree>
    <p:extLst>
      <p:ext uri="{BB962C8B-B14F-4D97-AF65-F5344CB8AC3E}">
        <p14:creationId xmlns:p14="http://schemas.microsoft.com/office/powerpoint/2010/main" val="7654465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788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9AF788C-DC23-488C-9650-2521AE0252F3}" type="slidenum">
              <a:rPr lang="en-US" altLang="zh-CN" smtClean="0"/>
              <a:pPr eaLnBrk="1" hangingPunct="1"/>
              <a:t>6</a:t>
            </a:fld>
            <a:endParaRPr lang="en-US" altLang="zh-CN" smtClean="0"/>
          </a:p>
        </p:txBody>
      </p:sp>
    </p:spTree>
    <p:extLst>
      <p:ext uri="{BB962C8B-B14F-4D97-AF65-F5344CB8AC3E}">
        <p14:creationId xmlns:p14="http://schemas.microsoft.com/office/powerpoint/2010/main" val="3340979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ln/>
        </p:spPr>
      </p:sp>
      <p:sp>
        <p:nvSpPr>
          <p:cNvPr id="808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09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8FF472E-8F7B-4368-AECA-1ED102FD339A}" type="slidenum">
              <a:rPr lang="en-US" altLang="zh-CN" smtClean="0"/>
              <a:pPr eaLnBrk="1" hangingPunct="1"/>
              <a:t>7</a:t>
            </a:fld>
            <a:endParaRPr lang="en-US" altLang="zh-CN" smtClean="0"/>
          </a:p>
        </p:txBody>
      </p:sp>
    </p:spTree>
    <p:extLst>
      <p:ext uri="{BB962C8B-B14F-4D97-AF65-F5344CB8AC3E}">
        <p14:creationId xmlns:p14="http://schemas.microsoft.com/office/powerpoint/2010/main" val="1827133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a:ln/>
        </p:spPr>
      </p:sp>
      <p:sp>
        <p:nvSpPr>
          <p:cNvPr id="819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19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270CAF8-9522-4917-B7FB-4212E4CE6944}" type="slidenum">
              <a:rPr lang="en-US" altLang="zh-CN" smtClean="0"/>
              <a:pPr eaLnBrk="1" hangingPunct="1"/>
              <a:t>8</a:t>
            </a:fld>
            <a:endParaRPr lang="en-US" altLang="zh-CN" smtClean="0"/>
          </a:p>
        </p:txBody>
      </p:sp>
    </p:spTree>
    <p:extLst>
      <p:ext uri="{BB962C8B-B14F-4D97-AF65-F5344CB8AC3E}">
        <p14:creationId xmlns:p14="http://schemas.microsoft.com/office/powerpoint/2010/main" val="1225557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a:ln/>
        </p:spPr>
      </p:sp>
      <p:sp>
        <p:nvSpPr>
          <p:cNvPr id="829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29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DDDCCB8-888F-450C-94AC-2FD859A2C9C4}" type="slidenum">
              <a:rPr lang="en-US" altLang="zh-CN" smtClean="0"/>
              <a:pPr eaLnBrk="1" hangingPunct="1"/>
              <a:t>9</a:t>
            </a:fld>
            <a:endParaRPr lang="en-US" altLang="zh-CN" smtClean="0"/>
          </a:p>
        </p:txBody>
      </p:sp>
    </p:spTree>
    <p:extLst>
      <p:ext uri="{BB962C8B-B14F-4D97-AF65-F5344CB8AC3E}">
        <p14:creationId xmlns:p14="http://schemas.microsoft.com/office/powerpoint/2010/main" val="1773122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39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32DB047-AD01-409F-A981-0783464575A3}" type="slidenum">
              <a:rPr lang="en-US" altLang="zh-CN" smtClean="0"/>
              <a:pPr eaLnBrk="1" hangingPunct="1"/>
              <a:t>10</a:t>
            </a:fld>
            <a:endParaRPr lang="en-US" altLang="zh-CN" smtClean="0"/>
          </a:p>
        </p:txBody>
      </p:sp>
    </p:spTree>
    <p:extLst>
      <p:ext uri="{BB962C8B-B14F-4D97-AF65-F5344CB8AC3E}">
        <p14:creationId xmlns:p14="http://schemas.microsoft.com/office/powerpoint/2010/main" val="1472797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ln/>
        </p:spPr>
      </p:sp>
      <p:sp>
        <p:nvSpPr>
          <p:cNvPr id="849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49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BD96FC9-8AC6-4125-A641-187A0CEB2818}" type="slidenum">
              <a:rPr lang="en-US" altLang="zh-CN" smtClean="0"/>
              <a:pPr eaLnBrk="1" hangingPunct="1"/>
              <a:t>11</a:t>
            </a:fld>
            <a:endParaRPr lang="en-US" altLang="zh-CN" smtClean="0"/>
          </a:p>
        </p:txBody>
      </p:sp>
    </p:spTree>
    <p:extLst>
      <p:ext uri="{BB962C8B-B14F-4D97-AF65-F5344CB8AC3E}">
        <p14:creationId xmlns:p14="http://schemas.microsoft.com/office/powerpoint/2010/main" val="673744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ln/>
        </p:spPr>
      </p:sp>
      <p:sp>
        <p:nvSpPr>
          <p:cNvPr id="860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60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7146FC7-E324-4998-99F9-1EAFC1B80F13}" type="slidenum">
              <a:rPr lang="en-US" altLang="zh-CN" smtClean="0"/>
              <a:pPr eaLnBrk="1" hangingPunct="1"/>
              <a:t>12</a:t>
            </a:fld>
            <a:endParaRPr lang="en-US" altLang="zh-CN" smtClean="0"/>
          </a:p>
        </p:txBody>
      </p:sp>
    </p:spTree>
    <p:extLst>
      <p:ext uri="{BB962C8B-B14F-4D97-AF65-F5344CB8AC3E}">
        <p14:creationId xmlns:p14="http://schemas.microsoft.com/office/powerpoint/2010/main" val="21277020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a:ln/>
        </p:spPr>
      </p:sp>
      <p:sp>
        <p:nvSpPr>
          <p:cNvPr id="870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70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CADBBE7-C11C-4CED-BECF-19998B1CC5CA}" type="slidenum">
              <a:rPr lang="en-US" altLang="zh-CN" smtClean="0"/>
              <a:pPr eaLnBrk="1" hangingPunct="1"/>
              <a:t>13</a:t>
            </a:fld>
            <a:endParaRPr lang="en-US" altLang="zh-CN" smtClean="0"/>
          </a:p>
        </p:txBody>
      </p:sp>
    </p:spTree>
    <p:extLst>
      <p:ext uri="{BB962C8B-B14F-4D97-AF65-F5344CB8AC3E}">
        <p14:creationId xmlns:p14="http://schemas.microsoft.com/office/powerpoint/2010/main" val="14454569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a:ln/>
        </p:spPr>
      </p:sp>
      <p:sp>
        <p:nvSpPr>
          <p:cNvPr id="880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80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D137227E-892A-4FEB-9DB8-FB144129E623}" type="slidenum">
              <a:rPr lang="en-US" altLang="zh-CN" smtClean="0"/>
              <a:pPr eaLnBrk="1" hangingPunct="1"/>
              <a:t>14</a:t>
            </a:fld>
            <a:endParaRPr lang="en-US" altLang="zh-CN" smtClean="0"/>
          </a:p>
        </p:txBody>
      </p:sp>
    </p:spTree>
    <p:extLst>
      <p:ext uri="{BB962C8B-B14F-4D97-AF65-F5344CB8AC3E}">
        <p14:creationId xmlns:p14="http://schemas.microsoft.com/office/powerpoint/2010/main" val="2071225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a:ln/>
        </p:spPr>
      </p:sp>
      <p:sp>
        <p:nvSpPr>
          <p:cNvPr id="890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890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661A620-87B7-4476-B992-D177F8F9D384}" type="slidenum">
              <a:rPr lang="en-US" altLang="zh-CN" smtClean="0"/>
              <a:pPr eaLnBrk="1" hangingPunct="1"/>
              <a:t>15</a:t>
            </a:fld>
            <a:endParaRPr lang="en-US" altLang="zh-CN" smtClean="0"/>
          </a:p>
        </p:txBody>
      </p:sp>
    </p:spTree>
    <p:extLst>
      <p:ext uri="{BB962C8B-B14F-4D97-AF65-F5344CB8AC3E}">
        <p14:creationId xmlns:p14="http://schemas.microsoft.com/office/powerpoint/2010/main" val="572061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a:ln/>
        </p:spPr>
      </p:sp>
      <p:sp>
        <p:nvSpPr>
          <p:cNvPr id="901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01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58FE919-7C6C-4439-9922-03CCA3BA810B}" type="slidenum">
              <a:rPr lang="en-US" altLang="zh-CN" smtClean="0"/>
              <a:pPr eaLnBrk="1" hangingPunct="1"/>
              <a:t>16</a:t>
            </a:fld>
            <a:endParaRPr lang="en-US" altLang="zh-CN" smtClean="0"/>
          </a:p>
        </p:txBody>
      </p:sp>
    </p:spTree>
    <p:extLst>
      <p:ext uri="{BB962C8B-B14F-4D97-AF65-F5344CB8AC3E}">
        <p14:creationId xmlns:p14="http://schemas.microsoft.com/office/powerpoint/2010/main" val="14991456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a:ln/>
        </p:spPr>
      </p:sp>
      <p:sp>
        <p:nvSpPr>
          <p:cNvPr id="911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11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BB5ADF1-0F94-4BD6-8362-1467D7D05BF9}" type="slidenum">
              <a:rPr lang="en-US" altLang="zh-CN" smtClean="0"/>
              <a:pPr eaLnBrk="1" hangingPunct="1"/>
              <a:t>17</a:t>
            </a:fld>
            <a:endParaRPr lang="en-US" altLang="zh-CN" smtClean="0"/>
          </a:p>
        </p:txBody>
      </p:sp>
    </p:spTree>
    <p:extLst>
      <p:ext uri="{BB962C8B-B14F-4D97-AF65-F5344CB8AC3E}">
        <p14:creationId xmlns:p14="http://schemas.microsoft.com/office/powerpoint/2010/main" val="28545759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21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5E99FA33-63D4-4EE4-9565-7AD92BA4C422}" type="slidenum">
              <a:rPr lang="en-US" altLang="zh-CN" smtClean="0"/>
              <a:pPr eaLnBrk="1" hangingPunct="1"/>
              <a:t>18</a:t>
            </a:fld>
            <a:endParaRPr lang="en-US" altLang="zh-CN" smtClean="0"/>
          </a:p>
        </p:txBody>
      </p:sp>
    </p:spTree>
    <p:extLst>
      <p:ext uri="{BB962C8B-B14F-4D97-AF65-F5344CB8AC3E}">
        <p14:creationId xmlns:p14="http://schemas.microsoft.com/office/powerpoint/2010/main" val="33623826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31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9E2127A-10B9-4998-A5F0-CDCB643F0E78}" type="slidenum">
              <a:rPr lang="en-US" altLang="zh-CN" smtClean="0"/>
              <a:pPr eaLnBrk="1" hangingPunct="1"/>
              <a:t>19</a:t>
            </a:fld>
            <a:endParaRPr lang="en-US" altLang="zh-CN" smtClean="0"/>
          </a:p>
        </p:txBody>
      </p:sp>
    </p:spTree>
    <p:extLst>
      <p:ext uri="{BB962C8B-B14F-4D97-AF65-F5344CB8AC3E}">
        <p14:creationId xmlns:p14="http://schemas.microsoft.com/office/powerpoint/2010/main" val="5678168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ln/>
        </p:spPr>
      </p:sp>
      <p:sp>
        <p:nvSpPr>
          <p:cNvPr id="952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52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74F27EC-A018-43CD-8332-B93D44B986E5}" type="slidenum">
              <a:rPr lang="en-US" altLang="zh-CN" smtClean="0"/>
              <a:pPr eaLnBrk="1" hangingPunct="1"/>
              <a:t>20</a:t>
            </a:fld>
            <a:endParaRPr lang="en-US" altLang="zh-CN" smtClean="0"/>
          </a:p>
        </p:txBody>
      </p:sp>
    </p:spTree>
    <p:extLst>
      <p:ext uri="{BB962C8B-B14F-4D97-AF65-F5344CB8AC3E}">
        <p14:creationId xmlns:p14="http://schemas.microsoft.com/office/powerpoint/2010/main" val="35784829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幻灯片图像占位符 1"/>
          <p:cNvSpPr>
            <a:spLocks noGrp="1" noRot="1" noChangeAspect="1" noTextEdit="1"/>
          </p:cNvSpPr>
          <p:nvPr>
            <p:ph type="sldImg"/>
          </p:nvPr>
        </p:nvSpPr>
        <p:spPr>
          <a:ln/>
        </p:spPr>
      </p:sp>
      <p:sp>
        <p:nvSpPr>
          <p:cNvPr id="962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62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A08600A-E57A-46E1-BB74-DFB2E70F8B90}" type="slidenum">
              <a:rPr lang="en-US" altLang="zh-CN" smtClean="0"/>
              <a:pPr eaLnBrk="1" hangingPunct="1"/>
              <a:t>21</a:t>
            </a:fld>
            <a:endParaRPr lang="en-US" altLang="zh-CN" smtClean="0"/>
          </a:p>
        </p:txBody>
      </p:sp>
    </p:spTree>
    <p:extLst>
      <p:ext uri="{BB962C8B-B14F-4D97-AF65-F5344CB8AC3E}">
        <p14:creationId xmlns:p14="http://schemas.microsoft.com/office/powerpoint/2010/main" val="38582036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幻灯片图像占位符 1"/>
          <p:cNvSpPr>
            <a:spLocks noGrp="1" noRot="1" noChangeAspect="1" noTextEdit="1"/>
          </p:cNvSpPr>
          <p:nvPr>
            <p:ph type="sldImg"/>
          </p:nvPr>
        </p:nvSpPr>
        <p:spPr>
          <a:ln/>
        </p:spPr>
      </p:sp>
      <p:sp>
        <p:nvSpPr>
          <p:cNvPr id="972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72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2CEE1CE-0E21-4CED-A22E-1D3C8A203267}" type="slidenum">
              <a:rPr lang="en-US" altLang="zh-CN" smtClean="0"/>
              <a:pPr eaLnBrk="1" hangingPunct="1"/>
              <a:t>22</a:t>
            </a:fld>
            <a:endParaRPr lang="en-US" altLang="zh-CN" smtClean="0"/>
          </a:p>
        </p:txBody>
      </p:sp>
    </p:spTree>
    <p:extLst>
      <p:ext uri="{BB962C8B-B14F-4D97-AF65-F5344CB8AC3E}">
        <p14:creationId xmlns:p14="http://schemas.microsoft.com/office/powerpoint/2010/main" val="20835823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a:ln/>
        </p:spPr>
      </p:sp>
      <p:sp>
        <p:nvSpPr>
          <p:cNvPr id="983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83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B6FAB11-BFCF-4368-AFA3-02394C8B12D3}" type="slidenum">
              <a:rPr lang="en-US" altLang="zh-CN" smtClean="0"/>
              <a:pPr eaLnBrk="1" hangingPunct="1"/>
              <a:t>23</a:t>
            </a:fld>
            <a:endParaRPr lang="en-US" altLang="zh-CN" smtClean="0"/>
          </a:p>
        </p:txBody>
      </p:sp>
    </p:spTree>
    <p:extLst>
      <p:ext uri="{BB962C8B-B14F-4D97-AF65-F5344CB8AC3E}">
        <p14:creationId xmlns:p14="http://schemas.microsoft.com/office/powerpoint/2010/main" val="39843773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a:ln/>
        </p:spPr>
      </p:sp>
      <p:sp>
        <p:nvSpPr>
          <p:cNvPr id="993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993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DBC58C8-C042-4019-8578-D08A8095584A}" type="slidenum">
              <a:rPr lang="en-US" altLang="zh-CN" smtClean="0"/>
              <a:pPr eaLnBrk="1" hangingPunct="1"/>
              <a:t>24</a:t>
            </a:fld>
            <a:endParaRPr lang="en-US" altLang="zh-CN" smtClean="0"/>
          </a:p>
        </p:txBody>
      </p:sp>
    </p:spTree>
    <p:extLst>
      <p:ext uri="{BB962C8B-B14F-4D97-AF65-F5344CB8AC3E}">
        <p14:creationId xmlns:p14="http://schemas.microsoft.com/office/powerpoint/2010/main" val="33465384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幻灯片图像占位符 1"/>
          <p:cNvSpPr>
            <a:spLocks noGrp="1" noRot="1" noChangeAspect="1" noTextEdit="1"/>
          </p:cNvSpPr>
          <p:nvPr>
            <p:ph type="sldImg"/>
          </p:nvPr>
        </p:nvSpPr>
        <p:spPr>
          <a:ln/>
        </p:spPr>
      </p:sp>
      <p:sp>
        <p:nvSpPr>
          <p:cNvPr id="1003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03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6406B71-58EC-4921-A0C2-09170D32C987}" type="slidenum">
              <a:rPr lang="en-US" altLang="zh-CN" smtClean="0"/>
              <a:pPr eaLnBrk="1" hangingPunct="1"/>
              <a:t>25</a:t>
            </a:fld>
            <a:endParaRPr lang="en-US" altLang="zh-CN" smtClean="0"/>
          </a:p>
        </p:txBody>
      </p:sp>
    </p:spTree>
    <p:extLst>
      <p:ext uri="{BB962C8B-B14F-4D97-AF65-F5344CB8AC3E}">
        <p14:creationId xmlns:p14="http://schemas.microsoft.com/office/powerpoint/2010/main" val="209899053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13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5CFCCAF-826D-4C4A-B80D-5AD60FB07708}" type="slidenum">
              <a:rPr lang="en-US" altLang="zh-CN" smtClean="0"/>
              <a:pPr eaLnBrk="1" hangingPunct="1"/>
              <a:t>26</a:t>
            </a:fld>
            <a:endParaRPr lang="en-US" altLang="zh-CN" smtClean="0"/>
          </a:p>
        </p:txBody>
      </p:sp>
    </p:spTree>
    <p:extLst>
      <p:ext uri="{BB962C8B-B14F-4D97-AF65-F5344CB8AC3E}">
        <p14:creationId xmlns:p14="http://schemas.microsoft.com/office/powerpoint/2010/main" val="21045503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幻灯片图像占位符 1"/>
          <p:cNvSpPr>
            <a:spLocks noGrp="1" noRot="1" noChangeAspect="1" noTextEdit="1"/>
          </p:cNvSpPr>
          <p:nvPr>
            <p:ph type="sldImg"/>
          </p:nvPr>
        </p:nvSpPr>
        <p:spPr>
          <a:ln/>
        </p:spPr>
      </p:sp>
      <p:sp>
        <p:nvSpPr>
          <p:cNvPr id="1013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13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5CFCCAF-826D-4C4A-B80D-5AD60FB07708}" type="slidenum">
              <a:rPr lang="en-US" altLang="zh-CN" smtClean="0"/>
              <a:pPr eaLnBrk="1" hangingPunct="1"/>
              <a:t>27</a:t>
            </a:fld>
            <a:endParaRPr lang="en-US" altLang="zh-CN" smtClean="0"/>
          </a:p>
        </p:txBody>
      </p:sp>
    </p:spTree>
    <p:extLst>
      <p:ext uri="{BB962C8B-B14F-4D97-AF65-F5344CB8AC3E}">
        <p14:creationId xmlns:p14="http://schemas.microsoft.com/office/powerpoint/2010/main" val="38900022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a:ln/>
        </p:spPr>
      </p:sp>
      <p:sp>
        <p:nvSpPr>
          <p:cNvPr id="1024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24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0A3A35B-B99E-4CCF-80B5-55DAC85D156F}" type="slidenum">
              <a:rPr lang="en-US" altLang="zh-CN" smtClean="0"/>
              <a:pPr eaLnBrk="1" hangingPunct="1"/>
              <a:t>28</a:t>
            </a:fld>
            <a:endParaRPr lang="en-US" altLang="zh-CN" smtClean="0"/>
          </a:p>
        </p:txBody>
      </p:sp>
    </p:spTree>
    <p:extLst>
      <p:ext uri="{BB962C8B-B14F-4D97-AF65-F5344CB8AC3E}">
        <p14:creationId xmlns:p14="http://schemas.microsoft.com/office/powerpoint/2010/main" val="9644172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幻灯片图像占位符 1"/>
          <p:cNvSpPr>
            <a:spLocks noGrp="1" noRot="1" noChangeAspect="1" noTextEdit="1"/>
          </p:cNvSpPr>
          <p:nvPr>
            <p:ph type="sldImg"/>
          </p:nvPr>
        </p:nvSpPr>
        <p:spPr>
          <a:ln/>
        </p:spPr>
      </p:sp>
      <p:sp>
        <p:nvSpPr>
          <p:cNvPr id="1024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24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0A3A35B-B99E-4CCF-80B5-55DAC85D156F}" type="slidenum">
              <a:rPr lang="en-US" altLang="zh-CN" smtClean="0"/>
              <a:pPr eaLnBrk="1" hangingPunct="1"/>
              <a:t>29</a:t>
            </a:fld>
            <a:endParaRPr lang="en-US" altLang="zh-CN" smtClean="0"/>
          </a:p>
        </p:txBody>
      </p:sp>
    </p:spTree>
    <p:extLst>
      <p:ext uri="{BB962C8B-B14F-4D97-AF65-F5344CB8AC3E}">
        <p14:creationId xmlns:p14="http://schemas.microsoft.com/office/powerpoint/2010/main" val="32640998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幻灯片图像占位符 1"/>
          <p:cNvSpPr>
            <a:spLocks noGrp="1" noRot="1" noChangeAspect="1" noTextEdit="1"/>
          </p:cNvSpPr>
          <p:nvPr>
            <p:ph type="sldImg"/>
          </p:nvPr>
        </p:nvSpPr>
        <p:spPr>
          <a:ln/>
        </p:spPr>
      </p:sp>
      <p:sp>
        <p:nvSpPr>
          <p:cNvPr id="1034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34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0A9A19D-3D75-4787-A15C-FEA81F3834A1}" type="slidenum">
              <a:rPr lang="en-US" altLang="zh-CN" smtClean="0"/>
              <a:pPr eaLnBrk="1" hangingPunct="1"/>
              <a:t>30</a:t>
            </a:fld>
            <a:endParaRPr lang="en-US" altLang="zh-CN" smtClean="0"/>
          </a:p>
        </p:txBody>
      </p:sp>
    </p:spTree>
    <p:extLst>
      <p:ext uri="{BB962C8B-B14F-4D97-AF65-F5344CB8AC3E}">
        <p14:creationId xmlns:p14="http://schemas.microsoft.com/office/powerpoint/2010/main" val="20665772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ln/>
        </p:spPr>
      </p:sp>
      <p:sp>
        <p:nvSpPr>
          <p:cNvPr id="1044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44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517C1CF-741E-4502-AB47-741ECB9BACCE}" type="slidenum">
              <a:rPr lang="en-US" altLang="zh-CN" smtClean="0"/>
              <a:pPr eaLnBrk="1" hangingPunct="1"/>
              <a:t>31</a:t>
            </a:fld>
            <a:endParaRPr lang="en-US" altLang="zh-CN" smtClean="0"/>
          </a:p>
        </p:txBody>
      </p:sp>
    </p:spTree>
    <p:extLst>
      <p:ext uri="{BB962C8B-B14F-4D97-AF65-F5344CB8AC3E}">
        <p14:creationId xmlns:p14="http://schemas.microsoft.com/office/powerpoint/2010/main" val="356110152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幻灯片图像占位符 1"/>
          <p:cNvSpPr>
            <a:spLocks noGrp="1" noRot="1" noChangeAspect="1" noTextEdit="1"/>
          </p:cNvSpPr>
          <p:nvPr>
            <p:ph type="sldImg"/>
          </p:nvPr>
        </p:nvSpPr>
        <p:spPr>
          <a:ln/>
        </p:spPr>
      </p:sp>
      <p:sp>
        <p:nvSpPr>
          <p:cNvPr id="1054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54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ABDF7F6-2121-4C2D-9205-CD189892E203}" type="slidenum">
              <a:rPr lang="en-US" altLang="zh-CN" smtClean="0"/>
              <a:pPr eaLnBrk="1" hangingPunct="1"/>
              <a:t>32</a:t>
            </a:fld>
            <a:endParaRPr lang="en-US" altLang="zh-CN" smtClean="0"/>
          </a:p>
        </p:txBody>
      </p:sp>
    </p:spTree>
    <p:extLst>
      <p:ext uri="{BB962C8B-B14F-4D97-AF65-F5344CB8AC3E}">
        <p14:creationId xmlns:p14="http://schemas.microsoft.com/office/powerpoint/2010/main" val="24092555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幻灯片图像占位符 1"/>
          <p:cNvSpPr>
            <a:spLocks noGrp="1" noRot="1" noChangeAspect="1" noTextEdit="1"/>
          </p:cNvSpPr>
          <p:nvPr>
            <p:ph type="sldImg"/>
          </p:nvPr>
        </p:nvSpPr>
        <p:spPr>
          <a:ln/>
        </p:spPr>
      </p:sp>
      <p:sp>
        <p:nvSpPr>
          <p:cNvPr id="1064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65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E9836F0-6C87-44C0-B168-AB2690DB7FC1}" type="slidenum">
              <a:rPr lang="en-US" altLang="zh-CN" smtClean="0"/>
              <a:pPr eaLnBrk="1" hangingPunct="1"/>
              <a:t>33</a:t>
            </a:fld>
            <a:endParaRPr lang="en-US" altLang="zh-CN" smtClean="0"/>
          </a:p>
        </p:txBody>
      </p:sp>
    </p:spTree>
    <p:extLst>
      <p:ext uri="{BB962C8B-B14F-4D97-AF65-F5344CB8AC3E}">
        <p14:creationId xmlns:p14="http://schemas.microsoft.com/office/powerpoint/2010/main" val="10131662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幻灯片图像占位符 1"/>
          <p:cNvSpPr>
            <a:spLocks noGrp="1" noRot="1" noChangeAspect="1" noTextEdit="1"/>
          </p:cNvSpPr>
          <p:nvPr>
            <p:ph type="sldImg"/>
          </p:nvPr>
        </p:nvSpPr>
        <p:spPr>
          <a:ln/>
        </p:spPr>
      </p:sp>
      <p:sp>
        <p:nvSpPr>
          <p:cNvPr id="1075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075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B288FFD-D8E3-426F-8A4D-1CE6D6888013}" type="slidenum">
              <a:rPr lang="en-US" altLang="zh-CN" smtClean="0"/>
              <a:pPr eaLnBrk="1" hangingPunct="1"/>
              <a:t>34</a:t>
            </a:fld>
            <a:endParaRPr lang="en-US" altLang="zh-CN" smtClean="0"/>
          </a:p>
        </p:txBody>
      </p:sp>
    </p:spTree>
    <p:extLst>
      <p:ext uri="{BB962C8B-B14F-4D97-AF65-F5344CB8AC3E}">
        <p14:creationId xmlns:p14="http://schemas.microsoft.com/office/powerpoint/2010/main" val="42884556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幻灯片图像占位符 1"/>
          <p:cNvSpPr>
            <a:spLocks noGrp="1" noRot="1" noChangeAspect="1" noTextEdit="1"/>
          </p:cNvSpPr>
          <p:nvPr>
            <p:ph type="sldImg"/>
          </p:nvPr>
        </p:nvSpPr>
        <p:spPr>
          <a:ln/>
        </p:spPr>
      </p:sp>
      <p:sp>
        <p:nvSpPr>
          <p:cNvPr id="1105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05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DE151FB-A876-488B-8BD4-F1B260AE286A}" type="slidenum">
              <a:rPr lang="en-US" altLang="zh-CN" smtClean="0"/>
              <a:pPr eaLnBrk="1" hangingPunct="1"/>
              <a:t>35</a:t>
            </a:fld>
            <a:endParaRPr lang="en-US" altLang="zh-CN" smtClean="0"/>
          </a:p>
        </p:txBody>
      </p:sp>
    </p:spTree>
    <p:extLst>
      <p:ext uri="{BB962C8B-B14F-4D97-AF65-F5344CB8AC3E}">
        <p14:creationId xmlns:p14="http://schemas.microsoft.com/office/powerpoint/2010/main" val="21984746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TextEdit="1"/>
          </p:cNvSpPr>
          <p:nvPr>
            <p:ph type="sldImg"/>
          </p:nvPr>
        </p:nvSpPr>
        <p:spPr>
          <a:ln/>
        </p:spPr>
      </p:sp>
      <p:sp>
        <p:nvSpPr>
          <p:cNvPr id="1116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16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2EDDD74-A844-47E5-9E41-BAF5E3A1F294}" type="slidenum">
              <a:rPr lang="en-US" altLang="zh-CN" smtClean="0"/>
              <a:pPr eaLnBrk="1" hangingPunct="1"/>
              <a:t>36</a:t>
            </a:fld>
            <a:endParaRPr lang="en-US" altLang="zh-CN" smtClean="0"/>
          </a:p>
        </p:txBody>
      </p:sp>
    </p:spTree>
    <p:extLst>
      <p:ext uri="{BB962C8B-B14F-4D97-AF65-F5344CB8AC3E}">
        <p14:creationId xmlns:p14="http://schemas.microsoft.com/office/powerpoint/2010/main" val="12941956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幻灯片图像占位符 1"/>
          <p:cNvSpPr>
            <a:spLocks noGrp="1" noRot="1" noChangeAspect="1" noTextEdit="1"/>
          </p:cNvSpPr>
          <p:nvPr>
            <p:ph type="sldImg"/>
          </p:nvPr>
        </p:nvSpPr>
        <p:spPr>
          <a:ln/>
        </p:spPr>
      </p:sp>
      <p:sp>
        <p:nvSpPr>
          <p:cNvPr id="1126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26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06BB379-D8A1-43DA-B503-EB9EE023A3C2}" type="slidenum">
              <a:rPr lang="en-US" altLang="zh-CN" smtClean="0"/>
              <a:pPr eaLnBrk="1" hangingPunct="1"/>
              <a:t>37</a:t>
            </a:fld>
            <a:endParaRPr lang="en-US" altLang="zh-CN" smtClean="0"/>
          </a:p>
        </p:txBody>
      </p:sp>
    </p:spTree>
    <p:extLst>
      <p:ext uri="{BB962C8B-B14F-4D97-AF65-F5344CB8AC3E}">
        <p14:creationId xmlns:p14="http://schemas.microsoft.com/office/powerpoint/2010/main" val="13671017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幻灯片图像占位符 1"/>
          <p:cNvSpPr>
            <a:spLocks noGrp="1" noRot="1" noChangeAspect="1" noTextEdit="1"/>
          </p:cNvSpPr>
          <p:nvPr>
            <p:ph type="sldImg"/>
          </p:nvPr>
        </p:nvSpPr>
        <p:spPr>
          <a:ln/>
        </p:spPr>
      </p:sp>
      <p:sp>
        <p:nvSpPr>
          <p:cNvPr id="1136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36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229CFC5-C84E-44F2-B04F-7A1FD8435836}" type="slidenum">
              <a:rPr lang="en-US" altLang="zh-CN" smtClean="0"/>
              <a:pPr eaLnBrk="1" hangingPunct="1"/>
              <a:t>38</a:t>
            </a:fld>
            <a:endParaRPr lang="en-US" altLang="zh-CN" smtClean="0"/>
          </a:p>
        </p:txBody>
      </p:sp>
    </p:spTree>
    <p:extLst>
      <p:ext uri="{BB962C8B-B14F-4D97-AF65-F5344CB8AC3E}">
        <p14:creationId xmlns:p14="http://schemas.microsoft.com/office/powerpoint/2010/main" val="31825016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幻灯片图像占位符 1"/>
          <p:cNvSpPr>
            <a:spLocks noGrp="1" noRot="1" noChangeAspect="1" noTextEdit="1"/>
          </p:cNvSpPr>
          <p:nvPr>
            <p:ph type="sldImg"/>
          </p:nvPr>
        </p:nvSpPr>
        <p:spPr>
          <a:ln/>
        </p:spPr>
      </p:sp>
      <p:sp>
        <p:nvSpPr>
          <p:cNvPr id="11469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469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4916C8F9-FCC4-4129-8C51-2C08E5B8DA49}" type="slidenum">
              <a:rPr lang="en-US" altLang="zh-CN" smtClean="0"/>
              <a:pPr eaLnBrk="1" hangingPunct="1"/>
              <a:t>39</a:t>
            </a:fld>
            <a:endParaRPr lang="en-US" altLang="zh-CN" smtClean="0"/>
          </a:p>
        </p:txBody>
      </p:sp>
    </p:spTree>
    <p:extLst>
      <p:ext uri="{BB962C8B-B14F-4D97-AF65-F5344CB8AC3E}">
        <p14:creationId xmlns:p14="http://schemas.microsoft.com/office/powerpoint/2010/main" val="7059576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幻灯片图像占位符 1"/>
          <p:cNvSpPr>
            <a:spLocks noGrp="1" noRot="1" noChangeAspect="1" noTextEdit="1"/>
          </p:cNvSpPr>
          <p:nvPr>
            <p:ph type="sldImg"/>
          </p:nvPr>
        </p:nvSpPr>
        <p:spPr>
          <a:ln/>
        </p:spPr>
      </p:sp>
      <p:sp>
        <p:nvSpPr>
          <p:cNvPr id="11571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571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10CAA553-60E5-46E0-A5A3-D029D292797A}" type="slidenum">
              <a:rPr lang="en-US" altLang="zh-CN" smtClean="0"/>
              <a:pPr eaLnBrk="1" hangingPunct="1"/>
              <a:t>40</a:t>
            </a:fld>
            <a:endParaRPr lang="en-US" altLang="zh-CN" smtClean="0"/>
          </a:p>
        </p:txBody>
      </p:sp>
    </p:spTree>
    <p:extLst>
      <p:ext uri="{BB962C8B-B14F-4D97-AF65-F5344CB8AC3E}">
        <p14:creationId xmlns:p14="http://schemas.microsoft.com/office/powerpoint/2010/main" val="20990328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a:ln/>
        </p:spPr>
      </p:sp>
      <p:sp>
        <p:nvSpPr>
          <p:cNvPr id="11673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674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ABBB584-6C5F-4BF8-9C98-77760901CDA7}" type="slidenum">
              <a:rPr lang="en-US" altLang="zh-CN" smtClean="0"/>
              <a:pPr eaLnBrk="1" hangingPunct="1"/>
              <a:t>41</a:t>
            </a:fld>
            <a:endParaRPr lang="en-US" altLang="zh-CN" smtClean="0"/>
          </a:p>
        </p:txBody>
      </p:sp>
    </p:spTree>
    <p:extLst>
      <p:ext uri="{BB962C8B-B14F-4D97-AF65-F5344CB8AC3E}">
        <p14:creationId xmlns:p14="http://schemas.microsoft.com/office/powerpoint/2010/main" val="32272599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幻灯片图像占位符 1"/>
          <p:cNvSpPr>
            <a:spLocks noGrp="1" noRot="1" noChangeAspect="1" noTextEdit="1"/>
          </p:cNvSpPr>
          <p:nvPr>
            <p:ph type="sldImg"/>
          </p:nvPr>
        </p:nvSpPr>
        <p:spPr>
          <a:ln/>
        </p:spPr>
      </p:sp>
      <p:sp>
        <p:nvSpPr>
          <p:cNvPr id="11776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776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C8F049EF-EC2A-41C9-AED4-03BC8DF6E09F}" type="slidenum">
              <a:rPr lang="en-US" altLang="zh-CN" smtClean="0"/>
              <a:pPr eaLnBrk="1" hangingPunct="1"/>
              <a:t>42</a:t>
            </a:fld>
            <a:endParaRPr lang="en-US" altLang="zh-CN" smtClean="0"/>
          </a:p>
        </p:txBody>
      </p:sp>
    </p:spTree>
    <p:extLst>
      <p:ext uri="{BB962C8B-B14F-4D97-AF65-F5344CB8AC3E}">
        <p14:creationId xmlns:p14="http://schemas.microsoft.com/office/powerpoint/2010/main" val="36440264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幻灯片图像占位符 1"/>
          <p:cNvSpPr>
            <a:spLocks noGrp="1" noRot="1" noChangeAspect="1" noTextEdit="1"/>
          </p:cNvSpPr>
          <p:nvPr>
            <p:ph type="sldImg"/>
          </p:nvPr>
        </p:nvSpPr>
        <p:spPr>
          <a:ln/>
        </p:spPr>
      </p:sp>
      <p:sp>
        <p:nvSpPr>
          <p:cNvPr id="11878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878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42C3984-531D-41FD-A331-7035B3559A13}" type="slidenum">
              <a:rPr lang="en-US" altLang="zh-CN" smtClean="0"/>
              <a:pPr eaLnBrk="1" hangingPunct="1"/>
              <a:t>43</a:t>
            </a:fld>
            <a:endParaRPr lang="en-US" altLang="zh-CN" smtClean="0"/>
          </a:p>
        </p:txBody>
      </p:sp>
    </p:spTree>
    <p:extLst>
      <p:ext uri="{BB962C8B-B14F-4D97-AF65-F5344CB8AC3E}">
        <p14:creationId xmlns:p14="http://schemas.microsoft.com/office/powerpoint/2010/main" val="32838549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幻灯片图像占位符 1"/>
          <p:cNvSpPr>
            <a:spLocks noGrp="1" noRot="1" noChangeAspect="1" noTextEdit="1"/>
          </p:cNvSpPr>
          <p:nvPr>
            <p:ph type="sldImg"/>
          </p:nvPr>
        </p:nvSpPr>
        <p:spPr>
          <a:ln/>
        </p:spPr>
      </p:sp>
      <p:sp>
        <p:nvSpPr>
          <p:cNvPr id="11981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1981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95F49BC9-FE96-43D7-B357-56592D37A7DF}" type="slidenum">
              <a:rPr lang="en-US" altLang="zh-CN" smtClean="0"/>
              <a:pPr eaLnBrk="1" hangingPunct="1"/>
              <a:t>44</a:t>
            </a:fld>
            <a:endParaRPr lang="en-US" altLang="zh-CN" smtClean="0"/>
          </a:p>
        </p:txBody>
      </p:sp>
    </p:spTree>
    <p:extLst>
      <p:ext uri="{BB962C8B-B14F-4D97-AF65-F5344CB8AC3E}">
        <p14:creationId xmlns:p14="http://schemas.microsoft.com/office/powerpoint/2010/main" val="18963272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幻灯片图像占位符 1"/>
          <p:cNvSpPr>
            <a:spLocks noGrp="1" noRot="1" noChangeAspect="1" noTextEdit="1"/>
          </p:cNvSpPr>
          <p:nvPr>
            <p:ph type="sldImg"/>
          </p:nvPr>
        </p:nvSpPr>
        <p:spPr>
          <a:ln/>
        </p:spPr>
      </p:sp>
      <p:sp>
        <p:nvSpPr>
          <p:cNvPr id="12083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083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5ED5B0C-9B4F-452F-8552-9EF9EB0B1218}" type="slidenum">
              <a:rPr lang="en-US" altLang="zh-CN" smtClean="0"/>
              <a:pPr eaLnBrk="1" hangingPunct="1"/>
              <a:t>45</a:t>
            </a:fld>
            <a:endParaRPr lang="en-US" altLang="zh-CN" smtClean="0"/>
          </a:p>
        </p:txBody>
      </p:sp>
    </p:spTree>
    <p:extLst>
      <p:ext uri="{BB962C8B-B14F-4D97-AF65-F5344CB8AC3E}">
        <p14:creationId xmlns:p14="http://schemas.microsoft.com/office/powerpoint/2010/main" val="25576972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a:ln/>
        </p:spPr>
      </p:sp>
      <p:sp>
        <p:nvSpPr>
          <p:cNvPr id="1218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18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E6078C9-4E02-4071-BE9F-8004A62DE9E7}" type="slidenum">
              <a:rPr lang="en-US" altLang="zh-CN" smtClean="0"/>
              <a:pPr eaLnBrk="1" hangingPunct="1"/>
              <a:t>46</a:t>
            </a:fld>
            <a:endParaRPr lang="en-US" altLang="zh-CN" smtClean="0"/>
          </a:p>
        </p:txBody>
      </p:sp>
    </p:spTree>
    <p:extLst>
      <p:ext uri="{BB962C8B-B14F-4D97-AF65-F5344CB8AC3E}">
        <p14:creationId xmlns:p14="http://schemas.microsoft.com/office/powerpoint/2010/main" val="66176406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幻灯片图像占位符 1"/>
          <p:cNvSpPr>
            <a:spLocks noGrp="1" noRot="1" noChangeAspect="1" noTextEdit="1"/>
          </p:cNvSpPr>
          <p:nvPr>
            <p:ph type="sldImg"/>
          </p:nvPr>
        </p:nvSpPr>
        <p:spPr>
          <a:ln/>
        </p:spPr>
      </p:sp>
      <p:sp>
        <p:nvSpPr>
          <p:cNvPr id="12185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186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E6078C9-4E02-4071-BE9F-8004A62DE9E7}" type="slidenum">
              <a:rPr lang="en-US" altLang="zh-CN" smtClean="0"/>
              <a:pPr eaLnBrk="1" hangingPunct="1"/>
              <a:t>47</a:t>
            </a:fld>
            <a:endParaRPr lang="en-US" altLang="zh-CN" smtClean="0"/>
          </a:p>
        </p:txBody>
      </p:sp>
    </p:spTree>
    <p:extLst>
      <p:ext uri="{BB962C8B-B14F-4D97-AF65-F5344CB8AC3E}">
        <p14:creationId xmlns:p14="http://schemas.microsoft.com/office/powerpoint/2010/main" val="24487869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幻灯片图像占位符 1"/>
          <p:cNvSpPr>
            <a:spLocks noGrp="1" noRot="1" noChangeAspect="1" noTextEdit="1"/>
          </p:cNvSpPr>
          <p:nvPr>
            <p:ph type="sldImg"/>
          </p:nvPr>
        </p:nvSpPr>
        <p:spPr>
          <a:ln/>
        </p:spPr>
      </p:sp>
      <p:sp>
        <p:nvSpPr>
          <p:cNvPr id="12288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288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74C490A-0862-4F9A-A865-57FA23AFF547}" type="slidenum">
              <a:rPr lang="en-US" altLang="zh-CN" smtClean="0"/>
              <a:pPr eaLnBrk="1" hangingPunct="1"/>
              <a:t>48</a:t>
            </a:fld>
            <a:endParaRPr lang="en-US" altLang="zh-CN" smtClean="0"/>
          </a:p>
        </p:txBody>
      </p:sp>
    </p:spTree>
    <p:extLst>
      <p:ext uri="{BB962C8B-B14F-4D97-AF65-F5344CB8AC3E}">
        <p14:creationId xmlns:p14="http://schemas.microsoft.com/office/powerpoint/2010/main" val="28772478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幻灯片图像占位符 1"/>
          <p:cNvSpPr>
            <a:spLocks noGrp="1" noRot="1" noChangeAspect="1" noTextEdit="1"/>
          </p:cNvSpPr>
          <p:nvPr>
            <p:ph type="sldImg"/>
          </p:nvPr>
        </p:nvSpPr>
        <p:spPr>
          <a:ln/>
        </p:spPr>
      </p:sp>
      <p:sp>
        <p:nvSpPr>
          <p:cNvPr id="12390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390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0B35574-7AC4-4EE5-ADE5-30E5EA3449B6}" type="slidenum">
              <a:rPr lang="en-US" altLang="zh-CN" smtClean="0"/>
              <a:pPr eaLnBrk="1" hangingPunct="1"/>
              <a:t>49</a:t>
            </a:fld>
            <a:endParaRPr lang="en-US" altLang="zh-CN" smtClean="0"/>
          </a:p>
        </p:txBody>
      </p:sp>
    </p:spTree>
    <p:extLst>
      <p:ext uri="{BB962C8B-B14F-4D97-AF65-F5344CB8AC3E}">
        <p14:creationId xmlns:p14="http://schemas.microsoft.com/office/powerpoint/2010/main" val="168331163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幻灯片图像占位符 1"/>
          <p:cNvSpPr>
            <a:spLocks noGrp="1" noRot="1" noChangeAspect="1" noTextEdit="1"/>
          </p:cNvSpPr>
          <p:nvPr>
            <p:ph type="sldImg"/>
          </p:nvPr>
        </p:nvSpPr>
        <p:spPr>
          <a:ln/>
        </p:spPr>
      </p:sp>
      <p:sp>
        <p:nvSpPr>
          <p:cNvPr id="12493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493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2E96D32B-A5D9-4724-8D94-362780CEE921}" type="slidenum">
              <a:rPr lang="en-US" altLang="zh-CN" smtClean="0"/>
              <a:pPr eaLnBrk="1" hangingPunct="1"/>
              <a:t>50</a:t>
            </a:fld>
            <a:endParaRPr lang="en-US" altLang="zh-CN" smtClean="0"/>
          </a:p>
        </p:txBody>
      </p:sp>
    </p:spTree>
    <p:extLst>
      <p:ext uri="{BB962C8B-B14F-4D97-AF65-F5344CB8AC3E}">
        <p14:creationId xmlns:p14="http://schemas.microsoft.com/office/powerpoint/2010/main" val="25398453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幻灯片图像占位符 1"/>
          <p:cNvSpPr>
            <a:spLocks noGrp="1" noRot="1" noChangeAspect="1" noTextEdit="1"/>
          </p:cNvSpPr>
          <p:nvPr>
            <p:ph type="sldImg"/>
          </p:nvPr>
        </p:nvSpPr>
        <p:spPr>
          <a:ln/>
        </p:spPr>
      </p:sp>
      <p:sp>
        <p:nvSpPr>
          <p:cNvPr id="12595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595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F260998-7467-46FA-AB94-89E900EE2E8A}" type="slidenum">
              <a:rPr lang="en-US" altLang="zh-CN" smtClean="0"/>
              <a:pPr eaLnBrk="1" hangingPunct="1"/>
              <a:t>51</a:t>
            </a:fld>
            <a:endParaRPr lang="en-US" altLang="zh-CN" smtClean="0"/>
          </a:p>
        </p:txBody>
      </p:sp>
    </p:spTree>
    <p:extLst>
      <p:ext uri="{BB962C8B-B14F-4D97-AF65-F5344CB8AC3E}">
        <p14:creationId xmlns:p14="http://schemas.microsoft.com/office/powerpoint/2010/main" val="24226832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幻灯片图像占位符 1"/>
          <p:cNvSpPr>
            <a:spLocks noGrp="1" noRot="1" noChangeAspect="1" noTextEdit="1"/>
          </p:cNvSpPr>
          <p:nvPr>
            <p:ph type="sldImg"/>
          </p:nvPr>
        </p:nvSpPr>
        <p:spPr>
          <a:ln/>
        </p:spPr>
      </p:sp>
      <p:sp>
        <p:nvSpPr>
          <p:cNvPr id="12697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698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3AB91E17-E3A6-4BDA-ABFB-F972865DFB33}" type="slidenum">
              <a:rPr lang="en-US" altLang="zh-CN" smtClean="0"/>
              <a:pPr eaLnBrk="1" hangingPunct="1"/>
              <a:t>52</a:t>
            </a:fld>
            <a:endParaRPr lang="en-US" altLang="zh-CN" smtClean="0"/>
          </a:p>
        </p:txBody>
      </p:sp>
    </p:spTree>
    <p:extLst>
      <p:ext uri="{BB962C8B-B14F-4D97-AF65-F5344CB8AC3E}">
        <p14:creationId xmlns:p14="http://schemas.microsoft.com/office/powerpoint/2010/main" val="7808511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幻灯片图像占位符 1"/>
          <p:cNvSpPr>
            <a:spLocks noGrp="1" noRot="1" noChangeAspect="1" noTextEdit="1"/>
          </p:cNvSpPr>
          <p:nvPr>
            <p:ph type="sldImg"/>
          </p:nvPr>
        </p:nvSpPr>
        <p:spPr>
          <a:ln/>
        </p:spPr>
      </p:sp>
      <p:sp>
        <p:nvSpPr>
          <p:cNvPr id="12800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800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79D8C1A-F184-4B7D-9832-3DFDDEF59DE0}" type="slidenum">
              <a:rPr lang="en-US" altLang="zh-CN" smtClean="0"/>
              <a:pPr eaLnBrk="1" hangingPunct="1"/>
              <a:t>53</a:t>
            </a:fld>
            <a:endParaRPr lang="en-US" altLang="zh-CN" smtClean="0"/>
          </a:p>
        </p:txBody>
      </p:sp>
    </p:spTree>
    <p:extLst>
      <p:ext uri="{BB962C8B-B14F-4D97-AF65-F5344CB8AC3E}">
        <p14:creationId xmlns:p14="http://schemas.microsoft.com/office/powerpoint/2010/main" val="16834314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幻灯片图像占位符 1"/>
          <p:cNvSpPr>
            <a:spLocks noGrp="1" noRot="1" noChangeAspect="1" noTextEdit="1"/>
          </p:cNvSpPr>
          <p:nvPr>
            <p:ph type="sldImg"/>
          </p:nvPr>
        </p:nvSpPr>
        <p:spPr>
          <a:ln/>
        </p:spPr>
      </p:sp>
      <p:sp>
        <p:nvSpPr>
          <p:cNvPr id="12902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2902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2CB9003-C89A-460B-980D-0363C084A292}" type="slidenum">
              <a:rPr lang="en-US" altLang="zh-CN" smtClean="0"/>
              <a:pPr eaLnBrk="1" hangingPunct="1"/>
              <a:t>54</a:t>
            </a:fld>
            <a:endParaRPr lang="en-US" altLang="zh-CN" smtClean="0"/>
          </a:p>
        </p:txBody>
      </p:sp>
    </p:spTree>
    <p:extLst>
      <p:ext uri="{BB962C8B-B14F-4D97-AF65-F5344CB8AC3E}">
        <p14:creationId xmlns:p14="http://schemas.microsoft.com/office/powerpoint/2010/main" val="174407441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幻灯片图像占位符 1"/>
          <p:cNvSpPr>
            <a:spLocks noGrp="1" noRot="1" noChangeAspect="1" noTextEdit="1"/>
          </p:cNvSpPr>
          <p:nvPr>
            <p:ph type="sldImg"/>
          </p:nvPr>
        </p:nvSpPr>
        <p:spPr>
          <a:ln/>
        </p:spPr>
      </p:sp>
      <p:sp>
        <p:nvSpPr>
          <p:cNvPr id="13005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005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74713A1F-16F0-4462-826B-391C002D1274}" type="slidenum">
              <a:rPr lang="en-US" altLang="zh-CN" smtClean="0"/>
              <a:pPr eaLnBrk="1" hangingPunct="1"/>
              <a:t>55</a:t>
            </a:fld>
            <a:endParaRPr lang="en-US" altLang="zh-CN" smtClean="0"/>
          </a:p>
        </p:txBody>
      </p:sp>
    </p:spTree>
    <p:extLst>
      <p:ext uri="{BB962C8B-B14F-4D97-AF65-F5344CB8AC3E}">
        <p14:creationId xmlns:p14="http://schemas.microsoft.com/office/powerpoint/2010/main" val="226830502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幻灯片图像占位符 1"/>
          <p:cNvSpPr>
            <a:spLocks noGrp="1" noRot="1" noChangeAspect="1" noTextEdit="1"/>
          </p:cNvSpPr>
          <p:nvPr>
            <p:ph type="sldImg"/>
          </p:nvPr>
        </p:nvSpPr>
        <p:spPr>
          <a:ln/>
        </p:spPr>
      </p:sp>
      <p:sp>
        <p:nvSpPr>
          <p:cNvPr id="13107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107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619866D8-607B-430A-8FEC-6930C188B0B9}" type="slidenum">
              <a:rPr lang="en-US" altLang="zh-CN" smtClean="0"/>
              <a:pPr eaLnBrk="1" hangingPunct="1"/>
              <a:t>56</a:t>
            </a:fld>
            <a:endParaRPr lang="en-US" altLang="zh-CN" smtClean="0"/>
          </a:p>
        </p:txBody>
      </p:sp>
    </p:spTree>
    <p:extLst>
      <p:ext uri="{BB962C8B-B14F-4D97-AF65-F5344CB8AC3E}">
        <p14:creationId xmlns:p14="http://schemas.microsoft.com/office/powerpoint/2010/main" val="31975836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21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0F4CE43-2999-4E96-8876-88EB7DAB2910}" type="slidenum">
              <a:rPr lang="en-US" altLang="zh-CN" smtClean="0"/>
              <a:pPr eaLnBrk="1" hangingPunct="1"/>
              <a:t>57</a:t>
            </a:fld>
            <a:endParaRPr lang="en-US" altLang="zh-CN" smtClean="0"/>
          </a:p>
        </p:txBody>
      </p:sp>
    </p:spTree>
    <p:extLst>
      <p:ext uri="{BB962C8B-B14F-4D97-AF65-F5344CB8AC3E}">
        <p14:creationId xmlns:p14="http://schemas.microsoft.com/office/powerpoint/2010/main" val="14206988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幻灯片图像占位符 1"/>
          <p:cNvSpPr>
            <a:spLocks noGrp="1" noRot="1" noChangeAspect="1" noTextEdit="1"/>
          </p:cNvSpPr>
          <p:nvPr>
            <p:ph type="sldImg"/>
          </p:nvPr>
        </p:nvSpPr>
        <p:spPr>
          <a:ln/>
        </p:spPr>
      </p:sp>
      <p:sp>
        <p:nvSpPr>
          <p:cNvPr id="13209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210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0F4CE43-2999-4E96-8876-88EB7DAB2910}" type="slidenum">
              <a:rPr lang="en-US" altLang="zh-CN" smtClean="0"/>
              <a:pPr eaLnBrk="1" hangingPunct="1"/>
              <a:t>58</a:t>
            </a:fld>
            <a:endParaRPr lang="en-US" altLang="zh-CN" smtClean="0"/>
          </a:p>
        </p:txBody>
      </p:sp>
    </p:spTree>
    <p:extLst>
      <p:ext uri="{BB962C8B-B14F-4D97-AF65-F5344CB8AC3E}">
        <p14:creationId xmlns:p14="http://schemas.microsoft.com/office/powerpoint/2010/main" val="7466467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幻灯片图像占位符 1"/>
          <p:cNvSpPr>
            <a:spLocks noGrp="1" noRot="1" noChangeAspect="1" noTextEdit="1"/>
          </p:cNvSpPr>
          <p:nvPr>
            <p:ph type="sldImg"/>
          </p:nvPr>
        </p:nvSpPr>
        <p:spPr>
          <a:ln/>
        </p:spPr>
      </p:sp>
      <p:sp>
        <p:nvSpPr>
          <p:cNvPr id="13312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312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0E19003E-1466-45E7-94D8-51AB080688C0}" type="slidenum">
              <a:rPr lang="en-US" altLang="zh-CN" smtClean="0"/>
              <a:pPr eaLnBrk="1" hangingPunct="1"/>
              <a:t>59</a:t>
            </a:fld>
            <a:endParaRPr lang="en-US" altLang="zh-CN" smtClean="0"/>
          </a:p>
        </p:txBody>
      </p:sp>
    </p:spTree>
    <p:extLst>
      <p:ext uri="{BB962C8B-B14F-4D97-AF65-F5344CB8AC3E}">
        <p14:creationId xmlns:p14="http://schemas.microsoft.com/office/powerpoint/2010/main" val="51932906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幻灯片图像占位符 1"/>
          <p:cNvSpPr>
            <a:spLocks noGrp="1" noRot="1" noChangeAspect="1" noTextEdit="1"/>
          </p:cNvSpPr>
          <p:nvPr>
            <p:ph type="sldImg"/>
          </p:nvPr>
        </p:nvSpPr>
        <p:spPr>
          <a:ln/>
        </p:spPr>
      </p:sp>
      <p:sp>
        <p:nvSpPr>
          <p:cNvPr id="13414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414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EE4DE7A-9BA6-4AF5-B5DF-B4F1FBAEAF52}" type="slidenum">
              <a:rPr lang="en-US" altLang="zh-CN" smtClean="0"/>
              <a:pPr eaLnBrk="1" hangingPunct="1"/>
              <a:t>60</a:t>
            </a:fld>
            <a:endParaRPr lang="en-US" altLang="zh-CN" smtClean="0"/>
          </a:p>
        </p:txBody>
      </p:sp>
    </p:spTree>
    <p:extLst>
      <p:ext uri="{BB962C8B-B14F-4D97-AF65-F5344CB8AC3E}">
        <p14:creationId xmlns:p14="http://schemas.microsoft.com/office/powerpoint/2010/main" val="78974424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幻灯片图像占位符 1"/>
          <p:cNvSpPr>
            <a:spLocks noGrp="1" noRot="1" noChangeAspect="1" noTextEdit="1"/>
          </p:cNvSpPr>
          <p:nvPr>
            <p:ph type="sldImg"/>
          </p:nvPr>
        </p:nvSpPr>
        <p:spPr>
          <a:ln/>
        </p:spPr>
      </p:sp>
      <p:sp>
        <p:nvSpPr>
          <p:cNvPr id="135171"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5172"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A9AF84FA-FF97-46E6-A1BB-3EF64B08D8E5}" type="slidenum">
              <a:rPr lang="en-US" altLang="zh-CN" smtClean="0"/>
              <a:pPr eaLnBrk="1" hangingPunct="1"/>
              <a:t>61</a:t>
            </a:fld>
            <a:endParaRPr lang="en-US" altLang="zh-CN" smtClean="0"/>
          </a:p>
        </p:txBody>
      </p:sp>
    </p:spTree>
    <p:extLst>
      <p:ext uri="{BB962C8B-B14F-4D97-AF65-F5344CB8AC3E}">
        <p14:creationId xmlns:p14="http://schemas.microsoft.com/office/powerpoint/2010/main" val="195730598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幻灯片图像占位符 1"/>
          <p:cNvSpPr>
            <a:spLocks noGrp="1" noRot="1" noChangeAspect="1" noTextEdit="1"/>
          </p:cNvSpPr>
          <p:nvPr>
            <p:ph type="sldImg"/>
          </p:nvPr>
        </p:nvSpPr>
        <p:spPr>
          <a:ln/>
        </p:spPr>
      </p:sp>
      <p:sp>
        <p:nvSpPr>
          <p:cNvPr id="136195"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6196"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E2E69DEB-038B-440C-8D40-01320B16D483}" type="slidenum">
              <a:rPr lang="en-US" altLang="zh-CN" smtClean="0"/>
              <a:pPr eaLnBrk="1" hangingPunct="1"/>
              <a:t>62</a:t>
            </a:fld>
            <a:endParaRPr lang="en-US" altLang="zh-CN" smtClean="0"/>
          </a:p>
        </p:txBody>
      </p:sp>
    </p:spTree>
    <p:extLst>
      <p:ext uri="{BB962C8B-B14F-4D97-AF65-F5344CB8AC3E}">
        <p14:creationId xmlns:p14="http://schemas.microsoft.com/office/powerpoint/2010/main" val="145211729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幻灯片图像占位符 1"/>
          <p:cNvSpPr>
            <a:spLocks noGrp="1" noRot="1" noChangeAspect="1" noTextEdit="1"/>
          </p:cNvSpPr>
          <p:nvPr>
            <p:ph type="sldImg"/>
          </p:nvPr>
        </p:nvSpPr>
        <p:spPr>
          <a:ln/>
        </p:spPr>
      </p:sp>
      <p:sp>
        <p:nvSpPr>
          <p:cNvPr id="1372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72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F9E1048B-EC2C-4A8E-B2B5-9C00FC64177D}" type="slidenum">
              <a:rPr lang="en-US" altLang="zh-CN" smtClean="0"/>
              <a:pPr eaLnBrk="1" hangingPunct="1"/>
              <a:t>63</a:t>
            </a:fld>
            <a:endParaRPr lang="en-US" altLang="zh-CN" smtClean="0"/>
          </a:p>
        </p:txBody>
      </p:sp>
    </p:spTree>
    <p:extLst>
      <p:ext uri="{BB962C8B-B14F-4D97-AF65-F5344CB8AC3E}">
        <p14:creationId xmlns:p14="http://schemas.microsoft.com/office/powerpoint/2010/main" val="57532206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幻灯片图像占位符 1"/>
          <p:cNvSpPr>
            <a:spLocks noGrp="1" noRot="1" noChangeAspect="1" noTextEdit="1"/>
          </p:cNvSpPr>
          <p:nvPr>
            <p:ph type="sldImg"/>
          </p:nvPr>
        </p:nvSpPr>
        <p:spPr>
          <a:ln/>
        </p:spPr>
      </p:sp>
      <p:sp>
        <p:nvSpPr>
          <p:cNvPr id="138243"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8244"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8A1BE7EA-2035-49B8-BDDA-ADEDA2653457}" type="slidenum">
              <a:rPr lang="en-US" altLang="zh-CN" smtClean="0"/>
              <a:pPr eaLnBrk="1" hangingPunct="1"/>
              <a:t>64</a:t>
            </a:fld>
            <a:endParaRPr lang="en-US" altLang="zh-CN" smtClean="0"/>
          </a:p>
        </p:txBody>
      </p:sp>
    </p:spTree>
    <p:extLst>
      <p:ext uri="{BB962C8B-B14F-4D97-AF65-F5344CB8AC3E}">
        <p14:creationId xmlns:p14="http://schemas.microsoft.com/office/powerpoint/2010/main" val="50327659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幻灯片图像占位符 1"/>
          <p:cNvSpPr>
            <a:spLocks noGrp="1" noRot="1" noChangeAspect="1" noTextEdit="1"/>
          </p:cNvSpPr>
          <p:nvPr>
            <p:ph type="sldImg"/>
          </p:nvPr>
        </p:nvSpPr>
        <p:spPr>
          <a:ln/>
        </p:spPr>
      </p:sp>
      <p:sp>
        <p:nvSpPr>
          <p:cNvPr id="139267"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ea typeface="宋体" charset="-122"/>
            </a:endParaRPr>
          </a:p>
        </p:txBody>
      </p:sp>
      <p:sp>
        <p:nvSpPr>
          <p:cNvPr id="139268"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fld id="{B5DF2DB3-1F6C-4FBF-BC05-38C22DE6E73C}" type="slidenum">
              <a:rPr lang="en-US" altLang="zh-CN" smtClean="0"/>
              <a:pPr eaLnBrk="1" hangingPunct="1"/>
              <a:t>65</a:t>
            </a:fld>
            <a:endParaRPr lang="en-US" altLang="zh-CN" smtClean="0"/>
          </a:p>
        </p:txBody>
      </p:sp>
    </p:spTree>
    <p:extLst>
      <p:ext uri="{BB962C8B-B14F-4D97-AF65-F5344CB8AC3E}">
        <p14:creationId xmlns:p14="http://schemas.microsoft.com/office/powerpoint/2010/main" val="30539497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75"/>
            <a:ext cx="9144000" cy="537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6"/>
          <p:cNvSpPr txBox="1">
            <a:spLocks noChangeArrowheads="1"/>
          </p:cNvSpPr>
          <p:nvPr/>
        </p:nvSpPr>
        <p:spPr bwMode="gray">
          <a:xfrm>
            <a:off x="0" y="5300663"/>
            <a:ext cx="9144000" cy="144462"/>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6" name="图片 5"/>
          <p:cNvPicPr>
            <a:picLocks noChangeAspect="1"/>
          </p:cNvPicPr>
          <p:nvPr/>
        </p:nvPicPr>
        <p:blipFill>
          <a:blip r:embed="rId3"/>
          <a:stretch>
            <a:fillRect/>
          </a:stretch>
        </p:blipFill>
        <p:spPr>
          <a:xfrm>
            <a:off x="300038" y="188913"/>
            <a:ext cx="3163887" cy="722312"/>
          </a:xfrm>
          <a:prstGeom prst="rect">
            <a:avLst/>
          </a:prstGeom>
          <a:effectLst>
            <a:outerShdw blurRad="50800" dist="38100" dir="2700000" algn="tl" rotWithShape="0">
              <a:prstClr val="black">
                <a:alpha val="40000"/>
              </a:prstClr>
            </a:outerShdw>
          </a:effectLst>
        </p:spPr>
      </p:pic>
      <p:sp>
        <p:nvSpPr>
          <p:cNvPr id="3075" name="Rectangle 3"/>
          <p:cNvSpPr>
            <a:spLocks noGrp="1" noChangeArrowheads="1"/>
          </p:cNvSpPr>
          <p:nvPr>
            <p:ph type="subTitle" idx="1"/>
          </p:nvPr>
        </p:nvSpPr>
        <p:spPr bwMode="gray">
          <a:xfrm>
            <a:off x="1403648" y="5589240"/>
            <a:ext cx="6553200" cy="1268760"/>
          </a:xfrm>
        </p:spPr>
        <p:txBody>
          <a:bodyPr/>
          <a:lstStyle>
            <a:lvl1pPr marL="0" indent="0" algn="ctr">
              <a:buFont typeface="Wingdings" pitchFamily="2" charset="2"/>
              <a:buNone/>
              <a:defRPr sz="2400" b="1">
                <a:solidFill>
                  <a:schemeClr val="tx2"/>
                </a:solidFill>
                <a:latin typeface="Verdana" pitchFamily="34" charset="0"/>
              </a:defRPr>
            </a:lvl1pPr>
          </a:lstStyle>
          <a:p>
            <a:pPr lvl="0"/>
            <a:r>
              <a:rPr lang="zh-CN" altLang="en-US" noProof="0" smtClean="0"/>
              <a:t>单击此处编辑母版副标题样式</a:t>
            </a:r>
            <a:endParaRPr lang="en-US" altLang="zh-CN" noProof="0" dirty="0" smtClean="0"/>
          </a:p>
        </p:txBody>
      </p:sp>
      <p:sp>
        <p:nvSpPr>
          <p:cNvPr id="3093" name="Rectangle 21"/>
          <p:cNvSpPr>
            <a:spLocks noGrp="1" noChangeArrowheads="1"/>
          </p:cNvSpPr>
          <p:nvPr>
            <p:ph type="ctrTitle" sz="quarter"/>
          </p:nvPr>
        </p:nvSpPr>
        <p:spPr bwMode="gray">
          <a:xfrm>
            <a:off x="0" y="4077072"/>
            <a:ext cx="9144000" cy="1224137"/>
          </a:xfrm>
          <a:gradFill>
            <a:gsLst>
              <a:gs pos="0">
                <a:srgbClr val="00607A"/>
              </a:gs>
              <a:gs pos="100000">
                <a:srgbClr val="00607A"/>
              </a:gs>
            </a:gsLst>
            <a:lin ang="0" scaled="1"/>
          </a:gradFill>
          <a:effectLst/>
          <a:extLst/>
        </p:spPr>
        <p:txBody>
          <a:bodyPr/>
          <a:lstStyle>
            <a:lvl1pPr>
              <a:defRPr sz="4000"/>
            </a:lvl1pPr>
          </a:lstStyle>
          <a:p>
            <a:pPr lvl="0"/>
            <a:r>
              <a:rPr lang="zh-CN" altLang="en-US" noProof="0" smtClean="0"/>
              <a:t>单击此处编辑母版标题样式</a:t>
            </a:r>
            <a:endParaRPr lang="en-US" altLang="ko-KR" noProof="0" dirty="0" smtClean="0"/>
          </a:p>
        </p:txBody>
      </p:sp>
    </p:spTree>
    <p:extLst>
      <p:ext uri="{BB962C8B-B14F-4D97-AF65-F5344CB8AC3E}">
        <p14:creationId xmlns:p14="http://schemas.microsoft.com/office/powerpoint/2010/main" val="240601868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chor="ctr"/>
          <a:lstStyle>
            <a:lvl1pPr>
              <a:defRPr>
                <a:solidFill>
                  <a:srgbClr val="00708E"/>
                </a:solidFill>
              </a:defRPr>
            </a:lvl1pPr>
            <a:lvl2pPr>
              <a:buClr>
                <a:srgbClr val="00607A"/>
              </a:buClr>
              <a:defRPr>
                <a:solidFill>
                  <a:srgbClr val="00708E"/>
                </a:solidFill>
                <a:latin typeface="+mn-ea"/>
                <a:ea typeface="+mn-ea"/>
              </a:defRPr>
            </a:lvl2pPr>
            <a:lvl3pPr>
              <a:buClr>
                <a:srgbClr val="00607A"/>
              </a:buClr>
              <a:defRPr>
                <a:solidFill>
                  <a:srgbClr val="00708E"/>
                </a:solidFill>
                <a:latin typeface="+mn-ea"/>
                <a:ea typeface="+mn-ea"/>
              </a:defRPr>
            </a:lvl3pPr>
            <a:lvl4pPr>
              <a:defRPr>
                <a:solidFill>
                  <a:srgbClr val="00708E"/>
                </a:solidFill>
                <a:latin typeface="+mn-ea"/>
                <a:ea typeface="+mn-ea"/>
              </a:defRPr>
            </a:lvl4pPr>
            <a:lvl5pPr>
              <a:defRPr>
                <a:solidFill>
                  <a:srgbClr val="00708E"/>
                </a:solidFill>
                <a:latin typeface="+mn-ea"/>
                <a:ea typeface="+mn-ea"/>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dirty="0"/>
          </a:p>
        </p:txBody>
      </p:sp>
      <p:sp>
        <p:nvSpPr>
          <p:cNvPr id="4" name="Rectangle 6"/>
          <p:cNvSpPr>
            <a:spLocks noGrp="1" noChangeArrowheads="1"/>
          </p:cNvSpPr>
          <p:nvPr>
            <p:ph type="sldNum" sz="quarter" idx="10"/>
          </p:nvPr>
        </p:nvSpPr>
        <p:spPr>
          <a:ln/>
        </p:spPr>
        <p:txBody>
          <a:bodyPr/>
          <a:lstStyle>
            <a:lvl1pPr>
              <a:defRPr/>
            </a:lvl1pPr>
          </a:lstStyle>
          <a:p>
            <a:pPr>
              <a:defRPr/>
            </a:pPr>
            <a:fld id="{14F33A87-9B05-4D49-AB02-72ED688E7337}" type="slidenum">
              <a:rPr lang="en-US" altLang="zh-CN"/>
              <a:pPr>
                <a:defRPr/>
              </a:pPr>
              <a:t>‹#›</a:t>
            </a:fld>
            <a:endParaRPr lang="en-US" altLang="zh-CN" dirty="0"/>
          </a:p>
        </p:txBody>
      </p:sp>
    </p:spTree>
    <p:extLst>
      <p:ext uri="{BB962C8B-B14F-4D97-AF65-F5344CB8AC3E}">
        <p14:creationId xmlns:p14="http://schemas.microsoft.com/office/powerpoint/2010/main" val="16493602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fld id="{13D114FB-A45C-47AC-B414-724AFA58E8F8}" type="slidenum">
              <a:rPr lang="en-US" altLang="zh-CN"/>
              <a:pPr>
                <a:defRPr/>
              </a:pPr>
              <a:t>‹#›</a:t>
            </a:fld>
            <a:endParaRPr lang="en-US" altLang="zh-CN" dirty="0"/>
          </a:p>
        </p:txBody>
      </p:sp>
    </p:spTree>
    <p:extLst>
      <p:ext uri="{BB962C8B-B14F-4D97-AF65-F5344CB8AC3E}">
        <p14:creationId xmlns:p14="http://schemas.microsoft.com/office/powerpoint/2010/main" val="133481755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152525"/>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fld id="{9CC9FD3E-652E-42C4-98B6-12B1B60CAC7D}" type="slidenum">
              <a:rPr lang="en-US" altLang="zh-CN"/>
              <a:pPr>
                <a:defRPr/>
              </a:pPr>
              <a:t>‹#›</a:t>
            </a:fld>
            <a:endParaRPr lang="en-US" altLang="zh-CN" dirty="0"/>
          </a:p>
        </p:txBody>
      </p:sp>
    </p:spTree>
    <p:extLst>
      <p:ext uri="{BB962C8B-B14F-4D97-AF65-F5344CB8AC3E}">
        <p14:creationId xmlns:p14="http://schemas.microsoft.com/office/powerpoint/2010/main" val="217428586"/>
      </p:ext>
    </p:extLst>
  </p:cSld>
  <p:clrMapOvr>
    <a:masterClrMapping/>
  </p:clrMapOvr>
  <p:transition/>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9" name="标题 1"/>
          <p:cNvSpPr>
            <a:spLocks noGrp="1"/>
          </p:cNvSpPr>
          <p:nvPr>
            <p:ph type="title"/>
          </p:nvPr>
        </p:nvSpPr>
        <p:spPr>
          <a:xfrm>
            <a:off x="304800" y="152400"/>
            <a:ext cx="8458200" cy="563563"/>
          </a:xfrm>
        </p:spPr>
        <p:txBody>
          <a:bodyPr/>
          <a:lstStyle/>
          <a:p>
            <a:r>
              <a:rPr lang="zh-CN" altLang="en-US" smtClean="0"/>
              <a:t>单击此处编辑母版标题样式</a:t>
            </a:r>
            <a:endParaRPr lang="zh-CN" altLang="en-US"/>
          </a:p>
        </p:txBody>
      </p:sp>
      <p:sp>
        <p:nvSpPr>
          <p:cNvPr id="7" name="Rectangle 6"/>
          <p:cNvSpPr>
            <a:spLocks noGrp="1" noChangeArrowheads="1"/>
          </p:cNvSpPr>
          <p:nvPr>
            <p:ph type="sldNum" sz="quarter" idx="10"/>
          </p:nvPr>
        </p:nvSpPr>
        <p:spPr>
          <a:ln/>
        </p:spPr>
        <p:txBody>
          <a:bodyPr/>
          <a:lstStyle>
            <a:lvl1pPr>
              <a:defRPr/>
            </a:lvl1pPr>
          </a:lstStyle>
          <a:p>
            <a:pPr>
              <a:defRPr/>
            </a:pPr>
            <a:fld id="{333FF102-7C28-497E-89DE-A70D41F69165}" type="slidenum">
              <a:rPr lang="en-US" altLang="zh-CN"/>
              <a:pPr>
                <a:defRPr/>
              </a:pPr>
              <a:t>‹#›</a:t>
            </a:fld>
            <a:endParaRPr lang="en-US" altLang="zh-CN" dirty="0"/>
          </a:p>
        </p:txBody>
      </p:sp>
    </p:spTree>
    <p:extLst>
      <p:ext uri="{BB962C8B-B14F-4D97-AF65-F5344CB8AC3E}">
        <p14:creationId xmlns:p14="http://schemas.microsoft.com/office/powerpoint/2010/main" val="421674137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fld id="{6B343425-AB16-4B0A-BE36-049EA9CCB06F}" type="slidenum">
              <a:rPr lang="en-US" altLang="zh-CN"/>
              <a:pPr>
                <a:defRPr/>
              </a:pPr>
              <a:t>‹#›</a:t>
            </a:fld>
            <a:endParaRPr lang="en-US" altLang="zh-CN" dirty="0"/>
          </a:p>
        </p:txBody>
      </p:sp>
    </p:spTree>
    <p:extLst>
      <p:ext uri="{BB962C8B-B14F-4D97-AF65-F5344CB8AC3E}">
        <p14:creationId xmlns:p14="http://schemas.microsoft.com/office/powerpoint/2010/main" val="15568081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DAF8B269-B071-476E-8DFF-54D7CA6019E9}" type="slidenum">
              <a:rPr lang="en-US" altLang="zh-CN"/>
              <a:pPr>
                <a:defRPr/>
              </a:pPr>
              <a:t>‹#›</a:t>
            </a:fld>
            <a:endParaRPr lang="en-US" altLang="zh-CN" dirty="0"/>
          </a:p>
        </p:txBody>
      </p:sp>
    </p:spTree>
    <p:extLst>
      <p:ext uri="{BB962C8B-B14F-4D97-AF65-F5344CB8AC3E}">
        <p14:creationId xmlns:p14="http://schemas.microsoft.com/office/powerpoint/2010/main" val="80865334"/>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69A9070A-65D0-441E-BD55-4FA0F24FE1D9}" type="slidenum">
              <a:rPr lang="en-US" altLang="zh-CN"/>
              <a:pPr>
                <a:defRPr/>
              </a:pPr>
              <a:t>‹#›</a:t>
            </a:fld>
            <a:endParaRPr lang="en-US" altLang="zh-CN" dirty="0"/>
          </a:p>
        </p:txBody>
      </p:sp>
    </p:spTree>
    <p:extLst>
      <p:ext uri="{BB962C8B-B14F-4D97-AF65-F5344CB8AC3E}">
        <p14:creationId xmlns:p14="http://schemas.microsoft.com/office/powerpoint/2010/main" val="3669611124"/>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fld id="{2D4E6011-19E0-40C9-8F8C-BF73D4A711ED}" type="slidenum">
              <a:rPr lang="en-US" altLang="zh-CN"/>
              <a:pPr>
                <a:defRPr/>
              </a:pPr>
              <a:t>‹#›</a:t>
            </a:fld>
            <a:endParaRPr lang="en-US" altLang="zh-CN" dirty="0"/>
          </a:p>
        </p:txBody>
      </p:sp>
    </p:spTree>
    <p:extLst>
      <p:ext uri="{BB962C8B-B14F-4D97-AF65-F5344CB8AC3E}">
        <p14:creationId xmlns:p14="http://schemas.microsoft.com/office/powerpoint/2010/main" val="3659732640"/>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fld id="{B43A6B33-E23D-4597-BA82-BC55E23C6E21}" type="slidenum">
              <a:rPr lang="en-US" altLang="zh-CN"/>
              <a:pPr>
                <a:defRPr/>
              </a:pPr>
              <a:t>‹#›</a:t>
            </a:fld>
            <a:endParaRPr lang="en-US" altLang="zh-CN" dirty="0"/>
          </a:p>
        </p:txBody>
      </p:sp>
    </p:spTree>
    <p:extLst>
      <p:ext uri="{BB962C8B-B14F-4D97-AF65-F5344CB8AC3E}">
        <p14:creationId xmlns:p14="http://schemas.microsoft.com/office/powerpoint/2010/main" val="60541977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48450" y="152400"/>
            <a:ext cx="2114550" cy="62484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4800" y="152400"/>
            <a:ext cx="6191250" cy="62484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fld id="{3262EC35-2C47-4655-A7EB-E7F469F0AEE8}" type="slidenum">
              <a:rPr lang="en-US" altLang="zh-CN"/>
              <a:pPr>
                <a:defRPr/>
              </a:pPr>
              <a:t>‹#›</a:t>
            </a:fld>
            <a:endParaRPr lang="en-US" altLang="zh-CN" dirty="0"/>
          </a:p>
        </p:txBody>
      </p:sp>
    </p:spTree>
    <p:extLst>
      <p:ext uri="{BB962C8B-B14F-4D97-AF65-F5344CB8AC3E}">
        <p14:creationId xmlns:p14="http://schemas.microsoft.com/office/powerpoint/2010/main" val="338569934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04800" y="152400"/>
            <a:ext cx="8458200" cy="5635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152525"/>
            <a:ext cx="8229600" cy="5248275"/>
          </a:xfrm>
        </p:spPr>
        <p:txBody>
          <a:bodyPr/>
          <a:lstStyle/>
          <a:p>
            <a:pPr lvl="0"/>
            <a:r>
              <a:rPr lang="zh-CN" altLang="en-US" noProof="0" smtClean="0"/>
              <a:t>单击图标添加表格</a:t>
            </a:r>
            <a:endParaRPr lang="zh-CN" altLang="en-US" noProof="0"/>
          </a:p>
        </p:txBody>
      </p:sp>
      <p:sp>
        <p:nvSpPr>
          <p:cNvPr id="4" name="Rectangle 6"/>
          <p:cNvSpPr>
            <a:spLocks noGrp="1" noChangeArrowheads="1"/>
          </p:cNvSpPr>
          <p:nvPr>
            <p:ph type="sldNum" sz="quarter" idx="10"/>
          </p:nvPr>
        </p:nvSpPr>
        <p:spPr>
          <a:ln/>
        </p:spPr>
        <p:txBody>
          <a:bodyPr/>
          <a:lstStyle>
            <a:lvl1pPr>
              <a:defRPr/>
            </a:lvl1pPr>
          </a:lstStyle>
          <a:p>
            <a:pPr>
              <a:defRPr/>
            </a:pPr>
            <a:fld id="{5E87470C-7735-4E1B-9F76-86A43058E76A}" type="slidenum">
              <a:rPr lang="en-US" altLang="zh-CN"/>
              <a:pPr>
                <a:defRPr/>
              </a:pPr>
              <a:t>‹#›</a:t>
            </a:fld>
            <a:endParaRPr lang="en-US" altLang="zh-CN" dirty="0"/>
          </a:p>
        </p:txBody>
      </p:sp>
    </p:spTree>
    <p:extLst>
      <p:ext uri="{BB962C8B-B14F-4D97-AF65-F5344CB8AC3E}">
        <p14:creationId xmlns:p14="http://schemas.microsoft.com/office/powerpoint/2010/main" val="1349820107"/>
      </p:ext>
    </p:extLst>
  </p:cSld>
  <p:clrMapOvr>
    <a:masterClrMapping/>
  </p:clrMapOvr>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9"/>
          <p:cNvSpPr>
            <a:spLocks noGrp="1" noChangeArrowheads="1"/>
          </p:cNvSpPr>
          <p:nvPr>
            <p:ph type="dt" sz="half" idx="10"/>
          </p:nvPr>
        </p:nvSpPr>
        <p:spPr>
          <a:xfrm>
            <a:off x="457200" y="6248400"/>
            <a:ext cx="2133600" cy="457200"/>
          </a:xfrm>
          <a:prstGeom prst="rect">
            <a:avLst/>
          </a:prstGeom>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xfrm>
            <a:off x="3124200" y="6248400"/>
            <a:ext cx="2895600" cy="457200"/>
          </a:xfrm>
          <a:prstGeom prst="rect">
            <a:avLst/>
          </a:prstGeom>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p:txBody>
          <a:bodyPr/>
          <a:lstStyle>
            <a:lvl1pPr>
              <a:defRPr smtClean="0"/>
            </a:lvl1pPr>
          </a:lstStyle>
          <a:p>
            <a:pPr>
              <a:defRPr/>
            </a:pPr>
            <a:fld id="{63770607-D8C6-445F-B2C8-2417A2FA8B27}" type="slidenum">
              <a:rPr lang="en-US" altLang="zh-CN"/>
              <a:pPr>
                <a:defRPr/>
              </a:pPr>
              <a:t>‹#›</a:t>
            </a:fld>
            <a:endParaRPr lang="en-US" altLang="zh-CN" dirty="0"/>
          </a:p>
        </p:txBody>
      </p:sp>
    </p:spTree>
    <p:extLst>
      <p:ext uri="{BB962C8B-B14F-4D97-AF65-F5344CB8AC3E}">
        <p14:creationId xmlns:p14="http://schemas.microsoft.com/office/powerpoint/2010/main" val="395643146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5"/>
          <p:cNvSpPr>
            <a:spLocks noChangeArrowheads="1"/>
          </p:cNvSpPr>
          <p:nvPr/>
        </p:nvSpPr>
        <p:spPr bwMode="ltGray">
          <a:xfrm>
            <a:off x="0" y="0"/>
            <a:ext cx="9144000" cy="836613"/>
          </a:xfrm>
          <a:prstGeom prst="rect">
            <a:avLst/>
          </a:prstGeom>
          <a:solidFill>
            <a:srgbClr val="0060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457200" y="1052513"/>
            <a:ext cx="8229600" cy="534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ltLang="zh-CN" smtClean="0"/>
          </a:p>
        </p:txBody>
      </p:sp>
      <p:sp>
        <p:nvSpPr>
          <p:cNvPr id="1030" name="Rectangle 6"/>
          <p:cNvSpPr>
            <a:spLocks noGrp="1" noChangeArrowheads="1"/>
          </p:cNvSpPr>
          <p:nvPr>
            <p:ph type="sldNum" sz="quarter" idx="4"/>
          </p:nvPr>
        </p:nvSpPr>
        <p:spPr bwMode="auto">
          <a:xfrm>
            <a:off x="3505200" y="6461125"/>
            <a:ext cx="2133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200" smtClean="0">
                <a:latin typeface="+mj-lt"/>
                <a:ea typeface="宋体" charset="-122"/>
              </a:defRPr>
            </a:lvl1pPr>
          </a:lstStyle>
          <a:p>
            <a:pPr>
              <a:defRPr/>
            </a:pPr>
            <a:fld id="{9244007A-CB21-446C-8CDA-883E15A7BF5F}" type="slidenum">
              <a:rPr lang="en-US" altLang="zh-CN"/>
              <a:pPr>
                <a:defRPr/>
              </a:pPr>
              <a:t>‹#›</a:t>
            </a:fld>
            <a:endParaRPr lang="en-US" altLang="zh-CN" dirty="0"/>
          </a:p>
        </p:txBody>
      </p:sp>
      <p:sp>
        <p:nvSpPr>
          <p:cNvPr id="1029" name="Rectangle 2"/>
          <p:cNvSpPr>
            <a:spLocks noGrp="1" noChangeArrowheads="1"/>
          </p:cNvSpPr>
          <p:nvPr>
            <p:ph type="title"/>
          </p:nvPr>
        </p:nvSpPr>
        <p:spPr bwMode="white">
          <a:xfrm>
            <a:off x="304800" y="152400"/>
            <a:ext cx="84582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endParaRPr lang="en-US" altLang="zh-CN" smtClean="0"/>
          </a:p>
        </p:txBody>
      </p:sp>
      <p:sp>
        <p:nvSpPr>
          <p:cNvPr id="2" name="Text Box 16"/>
          <p:cNvSpPr txBox="1">
            <a:spLocks noChangeArrowheads="1"/>
          </p:cNvSpPr>
          <p:nvPr/>
        </p:nvSpPr>
        <p:spPr bwMode="gray">
          <a:xfrm>
            <a:off x="0" y="838200"/>
            <a:ext cx="9144000" cy="144463"/>
          </a:xfrm>
          <a:prstGeom prst="rect">
            <a:avLst/>
          </a:prstGeom>
          <a:solidFill>
            <a:srgbClr val="A9C6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spcBef>
                <a:spcPct val="50000"/>
              </a:spcBef>
            </a:pPr>
            <a:endParaRPr lang="zh-CN" altLang="zh-CN" sz="1000" b="1">
              <a:solidFill>
                <a:schemeClr val="bg1"/>
              </a:solidFill>
              <a:latin typeface="Verdana" pitchFamily="34" charset="0"/>
            </a:endParaRPr>
          </a:p>
        </p:txBody>
      </p:sp>
      <p:pic>
        <p:nvPicPr>
          <p:cNvPr id="9" name="图片 8"/>
          <p:cNvPicPr>
            <a:picLocks noChangeAspect="1"/>
          </p:cNvPicPr>
          <p:nvPr/>
        </p:nvPicPr>
        <p:blipFill>
          <a:blip r:embed="rId15"/>
          <a:stretch>
            <a:fillRect/>
          </a:stretch>
        </p:blipFill>
        <p:spPr>
          <a:xfrm>
            <a:off x="7380288" y="6453188"/>
            <a:ext cx="1579562" cy="360362"/>
          </a:xfrm>
          <a:prstGeom prst="rect">
            <a:avLst/>
          </a:prstGeom>
          <a:effectLst>
            <a:outerShdw blurRad="50800" dist="38100" dir="2700000" algn="tl" rotWithShape="0">
              <a:prstClr val="black">
                <a:alpha val="40000"/>
              </a:prstClr>
            </a:outerShdw>
          </a:effectLst>
        </p:spPr>
      </p:pic>
    </p:spTree>
  </p:cSld>
  <p:clrMap bg1="lt1" tx1="dk1" bg2="lt2" tx2="dk2" accent1="accent1" accent2="accent2" accent3="accent3" accent4="accent4" accent5="accent5" accent6="accent6" hlink="hlink" folHlink="folHlink"/>
  <p:sldLayoutIdLst>
    <p:sldLayoutId id="2147484254" r:id="rId1"/>
    <p:sldLayoutId id="2147484243" r:id="rId2"/>
    <p:sldLayoutId id="2147484244" r:id="rId3"/>
    <p:sldLayoutId id="2147484245" r:id="rId4"/>
    <p:sldLayoutId id="2147484246" r:id="rId5"/>
    <p:sldLayoutId id="2147484247" r:id="rId6"/>
    <p:sldLayoutId id="2147484248" r:id="rId7"/>
    <p:sldLayoutId id="2147484249" r:id="rId8"/>
    <p:sldLayoutId id="2147484250" r:id="rId9"/>
    <p:sldLayoutId id="2147484251" r:id="rId10"/>
    <p:sldLayoutId id="2147484252" r:id="rId11"/>
    <p:sldLayoutId id="2147484253" r:id="rId12"/>
    <p:sldLayoutId id="2147484255" r:id="rId13"/>
  </p:sldLayoutIdLst>
  <p:transition/>
  <p:timing>
    <p:tnLst>
      <p:par>
        <p:cTn id="1" dur="indefinite" restart="never" nodeType="tmRoot"/>
      </p:par>
    </p:tnLst>
  </p:timing>
  <p:hf hdr="0" ftr="0" dt="0"/>
  <p:txStyles>
    <p:titleStyle>
      <a:lvl1pPr algn="ctr" rtl="0" fontAlgn="base">
        <a:spcBef>
          <a:spcPct val="0"/>
        </a:spcBef>
        <a:spcAft>
          <a:spcPct val="0"/>
        </a:spcAft>
        <a:defRPr sz="3200" b="1">
          <a:solidFill>
            <a:schemeClr val="bg1"/>
          </a:solidFill>
          <a:latin typeface="+mj-lt"/>
          <a:ea typeface="+mj-ea"/>
          <a:cs typeface="+mj-cs"/>
        </a:defRPr>
      </a:lvl1pPr>
      <a:lvl2pPr algn="ctr" rtl="0" fontAlgn="base">
        <a:spcBef>
          <a:spcPct val="0"/>
        </a:spcBef>
        <a:spcAft>
          <a:spcPct val="0"/>
        </a:spcAft>
        <a:defRPr sz="3200" b="1">
          <a:solidFill>
            <a:schemeClr val="bg1"/>
          </a:solidFill>
          <a:latin typeface="Verdana" pitchFamily="34" charset="0"/>
        </a:defRPr>
      </a:lvl2pPr>
      <a:lvl3pPr algn="ctr" rtl="0" fontAlgn="base">
        <a:spcBef>
          <a:spcPct val="0"/>
        </a:spcBef>
        <a:spcAft>
          <a:spcPct val="0"/>
        </a:spcAft>
        <a:defRPr sz="3200" b="1">
          <a:solidFill>
            <a:schemeClr val="bg1"/>
          </a:solidFill>
          <a:latin typeface="Verdana" pitchFamily="34" charset="0"/>
        </a:defRPr>
      </a:lvl3pPr>
      <a:lvl4pPr algn="ctr" rtl="0" fontAlgn="base">
        <a:spcBef>
          <a:spcPct val="0"/>
        </a:spcBef>
        <a:spcAft>
          <a:spcPct val="0"/>
        </a:spcAft>
        <a:defRPr sz="3200" b="1">
          <a:solidFill>
            <a:schemeClr val="bg1"/>
          </a:solidFill>
          <a:latin typeface="Verdana" pitchFamily="34" charset="0"/>
        </a:defRPr>
      </a:lvl4pPr>
      <a:lvl5pPr algn="ctr" rtl="0" fontAlgn="base">
        <a:spcBef>
          <a:spcPct val="0"/>
        </a:spcBef>
        <a:spcAft>
          <a:spcPct val="0"/>
        </a:spcAft>
        <a:defRPr sz="3200" b="1">
          <a:solidFill>
            <a:schemeClr val="bg1"/>
          </a:solidFill>
          <a:latin typeface="Verdana" pitchFamily="34" charset="0"/>
        </a:defRPr>
      </a:lvl5pPr>
      <a:lvl6pPr marL="457200" algn="ctr" rtl="0" eaLnBrk="1" fontAlgn="base" hangingPunct="1">
        <a:spcBef>
          <a:spcPct val="0"/>
        </a:spcBef>
        <a:spcAft>
          <a:spcPct val="0"/>
        </a:spcAft>
        <a:defRPr sz="3200" b="1">
          <a:solidFill>
            <a:schemeClr val="bg1"/>
          </a:solidFill>
          <a:latin typeface="Verdana" pitchFamily="34" charset="0"/>
        </a:defRPr>
      </a:lvl6pPr>
      <a:lvl7pPr marL="914400" algn="ctr" rtl="0" eaLnBrk="1" fontAlgn="base" hangingPunct="1">
        <a:spcBef>
          <a:spcPct val="0"/>
        </a:spcBef>
        <a:spcAft>
          <a:spcPct val="0"/>
        </a:spcAft>
        <a:defRPr sz="3200" b="1">
          <a:solidFill>
            <a:schemeClr val="bg1"/>
          </a:solidFill>
          <a:latin typeface="Verdana" pitchFamily="34" charset="0"/>
        </a:defRPr>
      </a:lvl7pPr>
      <a:lvl8pPr marL="1371600" algn="ctr" rtl="0" eaLnBrk="1" fontAlgn="base" hangingPunct="1">
        <a:spcBef>
          <a:spcPct val="0"/>
        </a:spcBef>
        <a:spcAft>
          <a:spcPct val="0"/>
        </a:spcAft>
        <a:defRPr sz="3200" b="1">
          <a:solidFill>
            <a:schemeClr val="bg1"/>
          </a:solidFill>
          <a:latin typeface="Verdana" pitchFamily="34" charset="0"/>
        </a:defRPr>
      </a:lvl8pPr>
      <a:lvl9pPr marL="1828800" algn="ctr" rtl="0" eaLnBrk="1" fontAlgn="base" hangingPunct="1">
        <a:spcBef>
          <a:spcPct val="0"/>
        </a:spcBef>
        <a:spcAft>
          <a:spcPct val="0"/>
        </a:spcAft>
        <a:defRPr sz="3200" b="1">
          <a:solidFill>
            <a:schemeClr val="bg1"/>
          </a:solidFill>
          <a:latin typeface="Verdana" pitchFamily="34" charset="0"/>
        </a:defRPr>
      </a:lvl9pPr>
    </p:titleStyle>
    <p:bodyStyle>
      <a:lvl1pPr marL="363538" indent="-363538" algn="l" rtl="0" fontAlgn="base">
        <a:spcBef>
          <a:spcPct val="20000"/>
        </a:spcBef>
        <a:spcAft>
          <a:spcPct val="0"/>
        </a:spcAft>
        <a:buClr>
          <a:srgbClr val="00607A"/>
        </a:buClr>
        <a:buFont typeface="Wingdings" pitchFamily="2" charset="2"/>
        <a:buChar char="l"/>
        <a:defRPr sz="3200">
          <a:solidFill>
            <a:srgbClr val="00607A"/>
          </a:solidFill>
          <a:latin typeface="+mn-lt"/>
          <a:ea typeface="+mn-ea"/>
          <a:cs typeface="+mn-cs"/>
        </a:defRPr>
      </a:lvl1pPr>
      <a:lvl2pPr marL="715963" indent="-352425" algn="l" rtl="0" fontAlgn="base">
        <a:spcBef>
          <a:spcPct val="20000"/>
        </a:spcBef>
        <a:spcAft>
          <a:spcPct val="0"/>
        </a:spcAft>
        <a:buClr>
          <a:srgbClr val="00607A"/>
        </a:buClr>
        <a:buFont typeface="Wingdings" pitchFamily="2" charset="2"/>
        <a:buChar char="n"/>
        <a:defRPr sz="2800">
          <a:solidFill>
            <a:srgbClr val="00607A"/>
          </a:solidFill>
          <a:latin typeface="+mn-lt"/>
        </a:defRPr>
      </a:lvl2pPr>
      <a:lvl3pPr marL="1079500" indent="-363538" algn="l" rtl="0" fontAlgn="base">
        <a:spcBef>
          <a:spcPct val="20000"/>
        </a:spcBef>
        <a:spcAft>
          <a:spcPct val="0"/>
        </a:spcAft>
        <a:buClr>
          <a:srgbClr val="00607A"/>
        </a:buClr>
        <a:buFont typeface="Wingdings" pitchFamily="2" charset="2"/>
        <a:buChar char="u"/>
        <a:defRPr sz="2400">
          <a:solidFill>
            <a:srgbClr val="00607A"/>
          </a:solidFill>
          <a:latin typeface="+mn-lt"/>
        </a:defRPr>
      </a:lvl3pPr>
      <a:lvl4pPr marL="1431925" indent="-352425" algn="l" rtl="0" fontAlgn="base">
        <a:spcBef>
          <a:spcPct val="20000"/>
        </a:spcBef>
        <a:spcAft>
          <a:spcPct val="0"/>
        </a:spcAft>
        <a:buChar char="–"/>
        <a:defRPr sz="2000">
          <a:solidFill>
            <a:srgbClr val="00607A"/>
          </a:solidFill>
          <a:latin typeface="+mn-lt"/>
        </a:defRPr>
      </a:lvl4pPr>
      <a:lvl5pPr marL="1795463" indent="-363538" algn="l" rtl="0" fontAlgn="base">
        <a:spcBef>
          <a:spcPct val="20000"/>
        </a:spcBef>
        <a:spcAft>
          <a:spcPct val="0"/>
        </a:spcAft>
        <a:buFont typeface="Wingdings" pitchFamily="2" charset="2"/>
        <a:buChar char="ü"/>
        <a:defRPr sz="2000">
          <a:solidFill>
            <a:srgbClr val="00607A"/>
          </a:solidFill>
          <a:latin typeface="+mn-lt"/>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calis2.nju.edu.cn:8080/opac/item.php?marc_no=0003465232"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
          <p:cNvSpPr>
            <a:spLocks noGrp="1" noChangeArrowheads="1"/>
          </p:cNvSpPr>
          <p:nvPr>
            <p:ph type="subTitle" idx="1"/>
          </p:nvPr>
        </p:nvSpPr>
        <p:spPr>
          <a:xfrm>
            <a:off x="1403350" y="5589588"/>
            <a:ext cx="6553200" cy="1268412"/>
          </a:xfrm>
        </p:spPr>
        <p:txBody>
          <a:bodyPr/>
          <a:lstStyle/>
          <a:p>
            <a:r>
              <a:rPr lang="en-US" altLang="zh-CN" sz="2000" smtClean="0">
                <a:solidFill>
                  <a:srgbClr val="595959"/>
                </a:solidFill>
                <a:ea typeface="宋体" charset="-122"/>
              </a:rPr>
              <a:t>Software Institute</a:t>
            </a:r>
          </a:p>
          <a:p>
            <a:r>
              <a:rPr lang="en-US" altLang="zh-CN" sz="2000" smtClean="0">
                <a:solidFill>
                  <a:srgbClr val="595959"/>
                </a:solidFill>
                <a:ea typeface="宋体" charset="-122"/>
              </a:rPr>
              <a:t>Nanjing University</a:t>
            </a:r>
          </a:p>
          <a:p>
            <a:r>
              <a:rPr lang="en-US" altLang="zh-CN" sz="2000" smtClean="0">
                <a:solidFill>
                  <a:srgbClr val="595959"/>
                </a:solidFill>
                <a:ea typeface="宋体" charset="-122"/>
              </a:rPr>
              <a:t>Bei Jia</a:t>
            </a:r>
          </a:p>
        </p:txBody>
      </p:sp>
      <p:sp>
        <p:nvSpPr>
          <p:cNvPr id="4099" name="Rectangle 2"/>
          <p:cNvSpPr>
            <a:spLocks noGrp="1" noChangeArrowheads="1"/>
          </p:cNvSpPr>
          <p:nvPr>
            <p:ph type="ctrTitle" sz="quarter"/>
          </p:nvPr>
        </p:nvSpPr>
        <p:spPr>
          <a:xfrm>
            <a:off x="0" y="4076700"/>
            <a:ext cx="9144000" cy="1223963"/>
          </a:xfrm>
          <a:gradFill rotWithShape="0"/>
        </p:spPr>
        <p:txBody>
          <a:bodyPr/>
          <a:lstStyle/>
          <a:p>
            <a:r>
              <a:rPr lang="en-US" altLang="zh-CN" sz="2800" smtClean="0">
                <a:solidFill>
                  <a:srgbClr val="FFFFFF"/>
                </a:solidFill>
                <a:ea typeface="宋体" charset="-122"/>
              </a:rPr>
              <a:t>Principles of Service-Oriented Design II</a:t>
            </a:r>
            <a:r>
              <a:rPr lang="en-US" altLang="zh-CN" smtClean="0">
                <a:solidFill>
                  <a:srgbClr val="FFFFFF"/>
                </a:solidFill>
                <a:ea typeface="宋体" charset="-122"/>
              </a:rPr>
              <a:t/>
            </a:r>
            <a:br>
              <a:rPr lang="en-US" altLang="zh-CN" smtClean="0">
                <a:solidFill>
                  <a:srgbClr val="FFFFFF"/>
                </a:solidFill>
                <a:ea typeface="宋体" charset="-122"/>
              </a:rPr>
            </a:br>
            <a:r>
              <a:rPr lang="en-US" altLang="zh-CN" sz="2000" smtClean="0">
                <a:solidFill>
                  <a:srgbClr val="FFFFFF"/>
                </a:solidFill>
                <a:ea typeface="宋体" charset="-122"/>
              </a:rPr>
              <a:t>Service-Oriented Software Engineering</a:t>
            </a:r>
            <a:endParaRPr lang="en-US" altLang="zh-CN" sz="2000" smtClean="0">
              <a:ea typeface="宋体"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r>
              <a:rPr lang="zh-CN" altLang="en-US" smtClean="0"/>
              <a:t>服务抽象</a:t>
            </a:r>
            <a:r>
              <a:rPr lang="en-US" altLang="zh-CN" smtClean="0"/>
              <a:t>(</a:t>
            </a:r>
            <a:r>
              <a:rPr lang="zh-CN" altLang="en-US" smtClean="0"/>
              <a:t>信息隐藏与元抽象类型</a:t>
            </a:r>
            <a:r>
              <a:rPr lang="en-US" altLang="zh-CN" smtClean="0"/>
              <a:t>)</a:t>
            </a:r>
            <a:endParaRPr lang="zh-CN" altLang="en-US" smtClean="0"/>
          </a:p>
        </p:txBody>
      </p:sp>
      <p:sp>
        <p:nvSpPr>
          <p:cNvPr id="3" name="内容占位符 2"/>
          <p:cNvSpPr>
            <a:spLocks noGrp="1"/>
          </p:cNvSpPr>
          <p:nvPr>
            <p:ph idx="1"/>
          </p:nvPr>
        </p:nvSpPr>
        <p:spPr>
          <a:xfrm>
            <a:off x="457200" y="1052513"/>
            <a:ext cx="8229600" cy="2952551"/>
          </a:xfrm>
        </p:spPr>
        <p:txBody>
          <a:bodyPr>
            <a:normAutofit fontScale="77500" lnSpcReduction="20000"/>
          </a:bodyPr>
          <a:lstStyle/>
          <a:p>
            <a:pPr>
              <a:lnSpc>
                <a:spcPct val="120000"/>
              </a:lnSpc>
            </a:pPr>
            <a:r>
              <a:rPr lang="zh-CN" altLang="en-US" dirty="0" smtClean="0"/>
              <a:t>服务发布的信息传达了它的目的和能力，并给潜在用户提供了关于该服务应该如何通过程序进行调用和使用的详细信息</a:t>
            </a:r>
            <a:endParaRPr lang="en-US" altLang="zh-CN" dirty="0" smtClean="0"/>
          </a:p>
          <a:p>
            <a:pPr>
              <a:lnSpc>
                <a:spcPct val="120000"/>
              </a:lnSpc>
            </a:pPr>
            <a:r>
              <a:rPr lang="zh-CN" altLang="en-US" dirty="0" smtClean="0"/>
              <a:t>没有发布的服务信息用来保护它和未来用户之间形成的耦合关系的</a:t>
            </a:r>
            <a:r>
              <a:rPr lang="zh-CN" altLang="en-US" dirty="0" smtClean="0"/>
              <a:t>完整性，从而保障在服务在合约的前提下进行演化的能力</a:t>
            </a:r>
            <a:endParaRPr lang="en-US" altLang="zh-CN" dirty="0" smtClean="0"/>
          </a:p>
          <a:p>
            <a:pPr>
              <a:lnSpc>
                <a:spcPct val="120000"/>
              </a:lnSpc>
            </a:pPr>
            <a:r>
              <a:rPr lang="zh-CN" altLang="en-US" dirty="0" smtClean="0"/>
              <a:t>服务抽象原则就是为了获得信息隐藏的正确平衡点</a:t>
            </a:r>
          </a:p>
        </p:txBody>
      </p:sp>
      <p:sp>
        <p:nvSpPr>
          <p:cNvPr id="5124"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7D860D1C-0C04-4FB0-8DB6-752882F6723E}" type="slidenum">
              <a:rPr lang="en-US" altLang="zh-CN" smtClean="0"/>
              <a:pPr/>
              <a:t>2</a:t>
            </a:fld>
            <a:endParaRPr lang="en-US" altLang="zh-CN"/>
          </a:p>
        </p:txBody>
      </p:sp>
      <p:pic>
        <p:nvPicPr>
          <p:cNvPr id="6" name="图片 5"/>
          <p:cNvPicPr>
            <a:picLocks noChangeAspect="1"/>
          </p:cNvPicPr>
          <p:nvPr/>
        </p:nvPicPr>
        <p:blipFill>
          <a:blip r:embed="rId3"/>
          <a:stretch>
            <a:fillRect/>
          </a:stretch>
        </p:blipFill>
        <p:spPr>
          <a:xfrm>
            <a:off x="1266825" y="4133262"/>
            <a:ext cx="6610350" cy="1428750"/>
          </a:xfrm>
          <a:prstGeom prst="rect">
            <a:avLst/>
          </a:prstGeom>
        </p:spPr>
      </p:pic>
      <p:sp>
        <p:nvSpPr>
          <p:cNvPr id="8" name="矩形 7"/>
          <p:cNvSpPr/>
          <p:nvPr/>
        </p:nvSpPr>
        <p:spPr>
          <a:xfrm>
            <a:off x="1333140" y="5690210"/>
            <a:ext cx="6401519" cy="584775"/>
          </a:xfrm>
          <a:prstGeom prst="rect">
            <a:avLst/>
          </a:prstGeom>
        </p:spPr>
        <p:txBody>
          <a:bodyPr wrap="square">
            <a:spAutoFit/>
          </a:bodyPr>
          <a:lstStyle/>
          <a:p>
            <a:r>
              <a:rPr lang="en-US" altLang="zh-CN" sz="1600" dirty="0"/>
              <a:t>The fundamental purpose of this principle is to avoid the proliferation of </a:t>
            </a:r>
            <a:r>
              <a:rPr lang="en-US" altLang="zh-CN" sz="1600" dirty="0" smtClean="0"/>
              <a:t>unnecessary service </a:t>
            </a:r>
            <a:r>
              <a:rPr lang="en-US" altLang="zh-CN" sz="1600" dirty="0"/>
              <a:t>information, meta or otherwise.</a:t>
            </a:r>
            <a:endParaRPr lang="zh-CN" altLang="en-US" sz="16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r>
              <a:rPr lang="zh-CN" altLang="en-US" smtClean="0"/>
              <a:t>抽象</a:t>
            </a:r>
          </a:p>
        </p:txBody>
      </p:sp>
      <p:sp>
        <p:nvSpPr>
          <p:cNvPr id="3" name="内容占位符 2"/>
          <p:cNvSpPr>
            <a:spLocks noGrp="1"/>
          </p:cNvSpPr>
          <p:nvPr>
            <p:ph idx="1"/>
          </p:nvPr>
        </p:nvSpPr>
        <p:spPr/>
        <p:txBody>
          <a:bodyPr/>
          <a:lstStyle/>
          <a:p>
            <a:r>
              <a:rPr lang="zh-CN" altLang="en-US" dirty="0" smtClean="0"/>
              <a:t>隐藏程序中其他程序不绝对需要的信息，使该程序得以有效的使用</a:t>
            </a:r>
            <a:endParaRPr lang="en-US" altLang="zh-CN" dirty="0" smtClean="0"/>
          </a:p>
          <a:p>
            <a:r>
              <a:rPr lang="zh-CN" altLang="en-US" dirty="0" smtClean="0"/>
              <a:t>抽象</a:t>
            </a:r>
            <a:r>
              <a:rPr lang="zh-CN" altLang="en-US" dirty="0" smtClean="0"/>
              <a:t>得太多或者太少</a:t>
            </a:r>
            <a:r>
              <a:rPr lang="zh-CN" altLang="en-US" dirty="0" smtClean="0"/>
              <a:t>，都会</a:t>
            </a:r>
            <a:r>
              <a:rPr lang="zh-CN" altLang="en-US" dirty="0" smtClean="0"/>
              <a:t>约束一个程序在其生命周期内复用的潜力</a:t>
            </a:r>
            <a:endParaRPr lang="en-US" altLang="zh-CN" dirty="0" smtClean="0"/>
          </a:p>
          <a:p>
            <a:r>
              <a:rPr lang="zh-CN" altLang="en-US" dirty="0" smtClean="0"/>
              <a:t>典型的抽象方法</a:t>
            </a:r>
            <a:endParaRPr lang="en-US" altLang="zh-CN" dirty="0" smtClean="0"/>
          </a:p>
          <a:p>
            <a:pPr lvl="1"/>
            <a:r>
              <a:rPr lang="zh-CN" altLang="en-US" dirty="0" smtClean="0"/>
              <a:t>以黑盒方式提供的软件</a:t>
            </a:r>
            <a:endParaRPr lang="en-US" altLang="zh-CN" dirty="0" smtClean="0"/>
          </a:p>
          <a:p>
            <a:pPr lvl="1"/>
            <a:r>
              <a:rPr lang="en-US" altLang="zh-CN" dirty="0" smtClean="0"/>
              <a:t>API</a:t>
            </a:r>
            <a:r>
              <a:rPr lang="zh-CN" altLang="en-US" dirty="0" smtClean="0"/>
              <a:t>和适配器</a:t>
            </a:r>
            <a:endParaRPr lang="en-US" altLang="zh-CN" dirty="0" smtClean="0"/>
          </a:p>
          <a:p>
            <a:pPr lvl="1"/>
            <a:r>
              <a:rPr lang="zh-CN" altLang="en-US" dirty="0" smtClean="0"/>
              <a:t>中间件</a:t>
            </a:r>
          </a:p>
        </p:txBody>
      </p:sp>
      <p:sp>
        <p:nvSpPr>
          <p:cNvPr id="614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726C2BA-2C6C-404B-949F-01E173CF2CF2}" type="slidenum">
              <a:rPr lang="en-US" altLang="zh-CN" smtClean="0"/>
              <a:pPr/>
              <a:t>3</a:t>
            </a:fld>
            <a:endParaRPr lang="en-US" altLang="zh-CN"/>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smtClean="0"/>
              <a:t>服务抽象原则</a:t>
            </a:r>
            <a:endParaRPr lang="zh-CN" altLang="en-US" dirty="0" smtClean="0"/>
          </a:p>
        </p:txBody>
      </p:sp>
      <p:sp>
        <p:nvSpPr>
          <p:cNvPr id="3" name="内容占位符 2"/>
          <p:cNvSpPr>
            <a:spLocks noGrp="1"/>
          </p:cNvSpPr>
          <p:nvPr>
            <p:ph idx="1"/>
          </p:nvPr>
        </p:nvSpPr>
        <p:spPr>
          <a:xfrm>
            <a:off x="457200" y="1052513"/>
            <a:ext cx="8229600" cy="2160463"/>
          </a:xfrm>
        </p:spPr>
        <p:txBody>
          <a:bodyPr>
            <a:normAutofit fontScale="77500" lnSpcReduction="20000"/>
          </a:bodyPr>
          <a:lstStyle/>
          <a:p>
            <a:pPr>
              <a:lnSpc>
                <a:spcPct val="120000"/>
              </a:lnSpc>
            </a:pPr>
            <a:r>
              <a:rPr lang="zh-CN" altLang="en-US" dirty="0" smtClean="0"/>
              <a:t>服务合约中发布的信息越多，随后的</a:t>
            </a:r>
            <a:r>
              <a:rPr lang="en-US" altLang="zh-CN" dirty="0" smtClean="0"/>
              <a:t>“</a:t>
            </a:r>
            <a:r>
              <a:rPr lang="zh-CN" altLang="en-US" dirty="0" smtClean="0"/>
              <a:t>消费者</a:t>
            </a:r>
            <a:r>
              <a:rPr lang="en-US" altLang="zh-CN" dirty="0" smtClean="0"/>
              <a:t>-</a:t>
            </a:r>
            <a:r>
              <a:rPr lang="zh-CN" altLang="en-US" dirty="0" smtClean="0"/>
              <a:t>合约</a:t>
            </a:r>
            <a:r>
              <a:rPr lang="en-US" altLang="zh-CN" dirty="0" smtClean="0"/>
              <a:t>”</a:t>
            </a:r>
            <a:r>
              <a:rPr lang="zh-CN" altLang="en-US" dirty="0" smtClean="0"/>
              <a:t>耦合就会越深</a:t>
            </a:r>
            <a:endParaRPr lang="en-US" altLang="zh-CN" dirty="0" smtClean="0"/>
          </a:p>
          <a:p>
            <a:pPr>
              <a:lnSpc>
                <a:spcPct val="120000"/>
              </a:lnSpc>
            </a:pPr>
            <a:r>
              <a:rPr lang="zh-CN" altLang="en-US" dirty="0" smtClean="0"/>
              <a:t>向负责设计服务消费程序的人呈现的信息越多，他们所知的底层逻辑、平台和服务相关的细节就会越多，导致事实上的</a:t>
            </a:r>
            <a:r>
              <a:rPr lang="en-US" altLang="zh-CN" dirty="0" smtClean="0"/>
              <a:t>“</a:t>
            </a:r>
            <a:r>
              <a:rPr lang="zh-CN" altLang="en-US" dirty="0" smtClean="0"/>
              <a:t>消费者</a:t>
            </a:r>
            <a:r>
              <a:rPr lang="en-US" altLang="zh-CN" dirty="0" smtClean="0"/>
              <a:t>-</a:t>
            </a:r>
            <a:r>
              <a:rPr lang="zh-CN" altLang="en-US" dirty="0" smtClean="0"/>
              <a:t>实现</a:t>
            </a:r>
            <a:r>
              <a:rPr lang="en-US" altLang="zh-CN" dirty="0" smtClean="0"/>
              <a:t>”</a:t>
            </a:r>
            <a:r>
              <a:rPr lang="zh-CN" altLang="en-US" dirty="0" smtClean="0"/>
              <a:t>耦合</a:t>
            </a:r>
          </a:p>
        </p:txBody>
      </p:sp>
      <p:sp>
        <p:nvSpPr>
          <p:cNvPr id="819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CE92E7B1-6F6C-45A6-BF6F-36E5A809AB42}" type="slidenum">
              <a:rPr lang="en-US" altLang="zh-CN" smtClean="0"/>
              <a:pPr/>
              <a:t>4</a:t>
            </a:fld>
            <a:endParaRPr lang="en-US" altLang="zh-CN"/>
          </a:p>
        </p:txBody>
      </p:sp>
      <p:pic>
        <p:nvPicPr>
          <p:cNvPr id="6" name="图片 5"/>
          <p:cNvPicPr>
            <a:picLocks noChangeAspect="1"/>
          </p:cNvPicPr>
          <p:nvPr/>
        </p:nvPicPr>
        <p:blipFill>
          <a:blip r:embed="rId3"/>
          <a:stretch>
            <a:fillRect/>
          </a:stretch>
        </p:blipFill>
        <p:spPr>
          <a:xfrm>
            <a:off x="457200" y="3289300"/>
            <a:ext cx="5429250" cy="3171825"/>
          </a:xfrm>
          <a:prstGeom prst="rect">
            <a:avLst/>
          </a:prstGeom>
        </p:spPr>
      </p:pic>
      <p:sp>
        <p:nvSpPr>
          <p:cNvPr id="8" name="矩形 7"/>
          <p:cNvSpPr/>
          <p:nvPr/>
        </p:nvSpPr>
        <p:spPr>
          <a:xfrm>
            <a:off x="5655060" y="4875212"/>
            <a:ext cx="3312368" cy="1323439"/>
          </a:xfrm>
          <a:prstGeom prst="rect">
            <a:avLst/>
          </a:prstGeom>
        </p:spPr>
        <p:txBody>
          <a:bodyPr wrap="square">
            <a:spAutoFit/>
          </a:bodyPr>
          <a:lstStyle/>
          <a:p>
            <a:r>
              <a:rPr lang="en-US" altLang="zh-CN" sz="1600" dirty="0"/>
              <a:t>This principle discourages making </a:t>
            </a:r>
            <a:r>
              <a:rPr lang="en-US" altLang="zh-CN" sz="1600" dirty="0" smtClean="0"/>
              <a:t>superfluous information </a:t>
            </a:r>
            <a:r>
              <a:rPr lang="en-US" altLang="zh-CN" sz="1600" dirty="0"/>
              <a:t>about a service available </a:t>
            </a:r>
            <a:r>
              <a:rPr lang="en-US" altLang="zh-CN" sz="1600" dirty="0" smtClean="0"/>
              <a:t>to humans </a:t>
            </a:r>
            <a:r>
              <a:rPr lang="en-US" altLang="zh-CN" sz="1600" dirty="0"/>
              <a:t>responsible for the design of </a:t>
            </a:r>
            <a:r>
              <a:rPr lang="en-US" altLang="zh-CN" sz="1600" dirty="0" smtClean="0"/>
              <a:t>service consumer </a:t>
            </a:r>
            <a:r>
              <a:rPr lang="en-US" altLang="zh-CN" sz="1600" dirty="0"/>
              <a:t>programs</a:t>
            </a:r>
            <a:endParaRPr lang="zh-CN" altLang="en-US" sz="1600"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smtClean="0"/>
              <a:t>服务元信息</a:t>
            </a:r>
          </a:p>
        </p:txBody>
      </p:sp>
      <p:sp>
        <p:nvSpPr>
          <p:cNvPr id="3" name="内容占位符 2"/>
          <p:cNvSpPr>
            <a:spLocks noGrp="1"/>
          </p:cNvSpPr>
          <p:nvPr>
            <p:ph idx="1"/>
          </p:nvPr>
        </p:nvSpPr>
        <p:spPr/>
        <p:txBody>
          <a:bodyPr/>
          <a:lstStyle/>
          <a:p>
            <a:r>
              <a:rPr lang="zh-CN" altLang="en-US" dirty="0" smtClean="0"/>
              <a:t>元信息类型</a:t>
            </a:r>
            <a:endParaRPr lang="en-US" altLang="zh-CN" dirty="0" smtClean="0"/>
          </a:p>
          <a:p>
            <a:pPr lvl="1"/>
            <a:r>
              <a:rPr lang="zh-CN" altLang="en-US" dirty="0" smtClean="0"/>
              <a:t>技术信息</a:t>
            </a:r>
            <a:r>
              <a:rPr lang="en-US" altLang="zh-CN" dirty="0" smtClean="0"/>
              <a:t>——</a:t>
            </a:r>
            <a:r>
              <a:rPr lang="zh-CN" altLang="en-US" dirty="0" smtClean="0"/>
              <a:t>描述底层服务逻辑的技术实现</a:t>
            </a:r>
            <a:endParaRPr lang="en-US" altLang="zh-CN" dirty="0"/>
          </a:p>
          <a:p>
            <a:pPr lvl="1"/>
            <a:r>
              <a:rPr lang="zh-CN" altLang="en-US" dirty="0" smtClean="0"/>
              <a:t>功能信息</a:t>
            </a:r>
            <a:r>
              <a:rPr lang="en-US" altLang="zh-CN" dirty="0" smtClean="0"/>
              <a:t>——</a:t>
            </a:r>
            <a:r>
              <a:rPr lang="zh-CN" altLang="en-US" dirty="0" smtClean="0"/>
              <a:t>描述服务可以做什么</a:t>
            </a:r>
            <a:endParaRPr lang="en-US" altLang="zh-CN" dirty="0" smtClean="0"/>
          </a:p>
          <a:p>
            <a:pPr lvl="1"/>
            <a:r>
              <a:rPr lang="zh-CN" altLang="en-US" dirty="0" smtClean="0"/>
              <a:t>程序逻辑信息</a:t>
            </a:r>
            <a:r>
              <a:rPr lang="en-US" altLang="zh-CN" dirty="0" smtClean="0"/>
              <a:t>——</a:t>
            </a:r>
            <a:r>
              <a:rPr lang="zh-CN" altLang="en-US" dirty="0" smtClean="0"/>
              <a:t>描述服务如何实现这些能力</a:t>
            </a:r>
            <a:endParaRPr lang="en-US" altLang="zh-CN" dirty="0" smtClean="0"/>
          </a:p>
          <a:p>
            <a:pPr lvl="1"/>
            <a:r>
              <a:rPr lang="zh-CN" altLang="en-US" dirty="0" smtClean="0"/>
              <a:t>服务质量信息</a:t>
            </a:r>
            <a:r>
              <a:rPr lang="en-US" altLang="zh-CN" dirty="0" smtClean="0"/>
              <a:t>——</a:t>
            </a:r>
            <a:r>
              <a:rPr lang="zh-CN" altLang="en-US" dirty="0" smtClean="0"/>
              <a:t>描述服务的行为、限制和交互需求</a:t>
            </a:r>
            <a:endParaRPr lang="en-US" altLang="zh-CN" dirty="0" smtClean="0"/>
          </a:p>
          <a:p>
            <a:r>
              <a:rPr lang="zh-CN" altLang="en-US" dirty="0" smtClean="0"/>
              <a:t>不同类型的元数据</a:t>
            </a:r>
            <a:r>
              <a:rPr lang="zh-CN" altLang="en-US" dirty="0"/>
              <a:t>可以不同的方法加以</a:t>
            </a:r>
            <a:r>
              <a:rPr lang="zh-CN" altLang="en-US" dirty="0" smtClean="0"/>
              <a:t>抽象，并使用不同的</a:t>
            </a:r>
            <a:r>
              <a:rPr lang="zh-CN" altLang="en-US" dirty="0" smtClean="0"/>
              <a:t>方式来</a:t>
            </a:r>
            <a:r>
              <a:rPr lang="zh-CN" altLang="en-US" dirty="0" smtClean="0"/>
              <a:t>描述和</a:t>
            </a:r>
            <a:r>
              <a:rPr lang="zh-CN" altLang="en-US" dirty="0" smtClean="0"/>
              <a:t>归档</a:t>
            </a:r>
            <a:endParaRPr lang="zh-CN" altLang="en-US" dirty="0" smtClean="0"/>
          </a:p>
        </p:txBody>
      </p:sp>
      <p:sp>
        <p:nvSpPr>
          <p:cNvPr id="9220"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127D3BD3-21C5-4FF3-BA05-3372A7B6EF19}" type="slidenum">
              <a:rPr lang="en-US" altLang="zh-CN" smtClean="0"/>
              <a:pPr/>
              <a:t>5</a:t>
            </a:fld>
            <a:endParaRPr lang="en-US" altLang="zh-CN"/>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dirty="0" smtClean="0"/>
              <a:t>技术信息抽象</a:t>
            </a:r>
          </a:p>
        </p:txBody>
      </p:sp>
      <p:sp>
        <p:nvSpPr>
          <p:cNvPr id="3" name="内容占位符 2"/>
          <p:cNvSpPr>
            <a:spLocks noGrp="1"/>
          </p:cNvSpPr>
          <p:nvPr>
            <p:ph sz="half" idx="1"/>
          </p:nvPr>
        </p:nvSpPr>
        <p:spPr>
          <a:xfrm>
            <a:off x="4788024" y="1561282"/>
            <a:ext cx="4182616" cy="4530725"/>
          </a:xfrm>
        </p:spPr>
        <p:txBody>
          <a:bodyPr>
            <a:normAutofit fontScale="92500"/>
          </a:bodyPr>
          <a:lstStyle/>
          <a:p>
            <a:r>
              <a:rPr lang="zh-CN" altLang="en-US" dirty="0" smtClean="0"/>
              <a:t>隐藏构建软件程序的技术细节是有益的，从而可以自由地进行技术上的变化而不</a:t>
            </a:r>
            <a:r>
              <a:rPr lang="zh-CN" altLang="en-US" dirty="0" smtClean="0"/>
              <a:t>影响现有</a:t>
            </a:r>
            <a:r>
              <a:rPr lang="zh-CN" altLang="en-US" dirty="0" smtClean="0"/>
              <a:t>的用户</a:t>
            </a:r>
            <a:endParaRPr lang="en-US" altLang="zh-CN" dirty="0" smtClean="0"/>
          </a:p>
          <a:p>
            <a:r>
              <a:rPr lang="zh-CN" altLang="en-US" dirty="0" smtClean="0"/>
              <a:t>发布</a:t>
            </a:r>
            <a:endParaRPr lang="en-US" altLang="zh-CN" dirty="0" smtClean="0"/>
          </a:p>
          <a:p>
            <a:pPr lvl="1"/>
            <a:r>
              <a:rPr lang="zh-CN" altLang="en-US" dirty="0" smtClean="0"/>
              <a:t>调用程序需要的技术</a:t>
            </a:r>
            <a:endParaRPr lang="en-US" altLang="zh-CN" dirty="0" smtClean="0"/>
          </a:p>
          <a:p>
            <a:pPr lvl="1"/>
            <a:r>
              <a:rPr lang="zh-CN" altLang="en-US" dirty="0" smtClean="0"/>
              <a:t>与程序交互需要的技术</a:t>
            </a:r>
            <a:endParaRPr lang="en-US" altLang="zh-CN" dirty="0" smtClean="0"/>
          </a:p>
          <a:p>
            <a:r>
              <a:rPr lang="zh-CN" altLang="en-US" dirty="0" smtClean="0"/>
              <a:t>隐藏</a:t>
            </a:r>
            <a:endParaRPr lang="en-US" altLang="zh-CN" dirty="0" smtClean="0"/>
          </a:p>
          <a:p>
            <a:pPr lvl="1"/>
            <a:r>
              <a:rPr lang="zh-CN" altLang="en-US" dirty="0" smtClean="0"/>
              <a:t>写程序使用的编程语言</a:t>
            </a:r>
            <a:endParaRPr lang="en-US" altLang="zh-CN" dirty="0" smtClean="0"/>
          </a:p>
          <a:p>
            <a:pPr lvl="1"/>
            <a:r>
              <a:rPr lang="zh-CN" altLang="en-US" dirty="0" smtClean="0"/>
              <a:t>程序使用的系统资源</a:t>
            </a:r>
            <a:endParaRPr lang="en-US" altLang="zh-CN" dirty="0" smtClean="0"/>
          </a:p>
        </p:txBody>
      </p:sp>
      <p:sp>
        <p:nvSpPr>
          <p:cNvPr id="10244" name="灯片编号占位符 3"/>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2E406AF8-8322-4D34-9814-C5370B953B4E}" type="slidenum">
              <a:rPr lang="en-US" altLang="zh-CN" smtClean="0"/>
              <a:pPr/>
              <a:t>6</a:t>
            </a:fld>
            <a:endParaRPr lang="en-US" altLang="zh-CN"/>
          </a:p>
        </p:txBody>
      </p:sp>
      <p:pic>
        <p:nvPicPr>
          <p:cNvPr id="6" name="图片 5"/>
          <p:cNvPicPr>
            <a:picLocks noChangeAspect="1"/>
          </p:cNvPicPr>
          <p:nvPr/>
        </p:nvPicPr>
        <p:blipFill>
          <a:blip r:embed="rId3"/>
          <a:stretch>
            <a:fillRect/>
          </a:stretch>
        </p:blipFill>
        <p:spPr>
          <a:xfrm>
            <a:off x="107504" y="1196752"/>
            <a:ext cx="4075066" cy="4564706"/>
          </a:xfrm>
          <a:prstGeom prst="rect">
            <a:avLst/>
          </a:prstGeom>
        </p:spPr>
      </p:pic>
      <p:sp>
        <p:nvSpPr>
          <p:cNvPr id="2" name="矩形 1"/>
          <p:cNvSpPr/>
          <p:nvPr/>
        </p:nvSpPr>
        <p:spPr>
          <a:xfrm>
            <a:off x="427795" y="5704582"/>
            <a:ext cx="4499992" cy="1077218"/>
          </a:xfrm>
          <a:prstGeom prst="rect">
            <a:avLst/>
          </a:prstGeom>
        </p:spPr>
        <p:txBody>
          <a:bodyPr wrap="square">
            <a:spAutoFit/>
          </a:bodyPr>
          <a:lstStyle/>
          <a:p>
            <a:r>
              <a:rPr lang="en-US" altLang="zh-CN" sz="1600" dirty="0"/>
              <a:t>Components and Web services within a distributed environment only reveal information to each other relevant to their runtime invocation and interaction requirements</a:t>
            </a:r>
            <a:endParaRPr lang="zh-CN" altLang="en-US" sz="1600"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r>
              <a:rPr lang="zh-CN" altLang="en-US" smtClean="0"/>
              <a:t>功能抽象</a:t>
            </a:r>
          </a:p>
        </p:txBody>
      </p:sp>
      <p:sp>
        <p:nvSpPr>
          <p:cNvPr id="12291" name="内容占位符 2"/>
          <p:cNvSpPr>
            <a:spLocks noGrp="1"/>
          </p:cNvSpPr>
          <p:nvPr>
            <p:ph idx="1"/>
          </p:nvPr>
        </p:nvSpPr>
        <p:spPr>
          <a:xfrm>
            <a:off x="457200" y="1052513"/>
            <a:ext cx="8229600" cy="1080343"/>
          </a:xfrm>
        </p:spPr>
        <p:txBody>
          <a:bodyPr/>
          <a:lstStyle/>
          <a:p>
            <a:r>
              <a:rPr lang="zh-CN" altLang="en-US" dirty="0" smtClean="0"/>
              <a:t>功能抽象决定了程序的哪些能力通过技术合约是可见的</a:t>
            </a:r>
          </a:p>
        </p:txBody>
      </p:sp>
      <p:sp>
        <p:nvSpPr>
          <p:cNvPr id="12292"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439E407F-890B-48E4-AD5F-8262552D28EF}" type="slidenum">
              <a:rPr lang="en-US" altLang="zh-CN" smtClean="0"/>
              <a:pPr/>
              <a:t>7</a:t>
            </a:fld>
            <a:endParaRPr lang="en-US" altLang="zh-CN"/>
          </a:p>
        </p:txBody>
      </p:sp>
      <p:pic>
        <p:nvPicPr>
          <p:cNvPr id="5" name="图片 4"/>
          <p:cNvPicPr>
            <a:picLocks noChangeAspect="1"/>
          </p:cNvPicPr>
          <p:nvPr/>
        </p:nvPicPr>
        <p:blipFill>
          <a:blip r:embed="rId3"/>
          <a:stretch>
            <a:fillRect/>
          </a:stretch>
        </p:blipFill>
        <p:spPr>
          <a:xfrm>
            <a:off x="755576" y="2529602"/>
            <a:ext cx="4462400" cy="3944519"/>
          </a:xfrm>
          <a:prstGeom prst="rect">
            <a:avLst/>
          </a:prstGeom>
        </p:spPr>
      </p:pic>
      <p:sp>
        <p:nvSpPr>
          <p:cNvPr id="2" name="矩形 1"/>
          <p:cNvSpPr/>
          <p:nvPr/>
        </p:nvSpPr>
        <p:spPr>
          <a:xfrm>
            <a:off x="5233225" y="4797152"/>
            <a:ext cx="3370372" cy="1569660"/>
          </a:xfrm>
          <a:prstGeom prst="rect">
            <a:avLst/>
          </a:prstGeom>
        </p:spPr>
        <p:txBody>
          <a:bodyPr wrap="square">
            <a:spAutoFit/>
          </a:bodyPr>
          <a:lstStyle/>
          <a:p>
            <a:r>
              <a:rPr lang="en-US" altLang="zh-CN" sz="1600" dirty="0"/>
              <a:t>Only certain functions are exposed through the calculator’s </a:t>
            </a:r>
            <a:r>
              <a:rPr lang="en-US" altLang="zh-CN" sz="1600" dirty="0" smtClean="0"/>
              <a:t>published API</a:t>
            </a:r>
            <a:r>
              <a:rPr lang="en-US" altLang="zh-CN" sz="1600" dirty="0"/>
              <a:t>. This limits the extent to which a consumer program </a:t>
            </a:r>
            <a:r>
              <a:rPr lang="en-US" altLang="zh-CN" sz="1600" dirty="0" smtClean="0"/>
              <a:t>can be </a:t>
            </a:r>
            <a:r>
              <a:rPr lang="en-US" altLang="zh-CN" sz="1600" dirty="0"/>
              <a:t>built to programmatically interface and interact with the </a:t>
            </a:r>
            <a:r>
              <a:rPr lang="en-US" altLang="zh-CN" sz="1600" dirty="0" smtClean="0"/>
              <a:t>calculator program</a:t>
            </a:r>
            <a:r>
              <a:rPr lang="en-US" altLang="zh-CN" sz="1600" dirty="0"/>
              <a:t>.</a:t>
            </a:r>
            <a:endParaRPr lang="zh-CN" altLang="en-US" sz="1600"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r>
              <a:rPr lang="zh-CN" altLang="en-US" smtClean="0"/>
              <a:t>程序逻辑抽象</a:t>
            </a:r>
          </a:p>
        </p:txBody>
      </p:sp>
      <p:sp>
        <p:nvSpPr>
          <p:cNvPr id="3" name="内容占位符 2"/>
          <p:cNvSpPr>
            <a:spLocks noGrp="1"/>
          </p:cNvSpPr>
          <p:nvPr>
            <p:ph idx="1"/>
          </p:nvPr>
        </p:nvSpPr>
        <p:spPr>
          <a:xfrm>
            <a:off x="457200" y="1052513"/>
            <a:ext cx="8229600" cy="1436687"/>
          </a:xfrm>
        </p:spPr>
        <p:txBody>
          <a:bodyPr/>
          <a:lstStyle/>
          <a:p>
            <a:r>
              <a:rPr lang="zh-CN" altLang="en-US" dirty="0" smtClean="0"/>
              <a:t>程序逻辑</a:t>
            </a:r>
            <a:r>
              <a:rPr lang="zh-CN" altLang="en-US" dirty="0"/>
              <a:t>抽象（简称为逻辑抽象</a:t>
            </a:r>
            <a:r>
              <a:rPr lang="zh-CN" altLang="en-US" dirty="0" smtClean="0"/>
              <a:t>）故意对外界隐藏程序的内部细节</a:t>
            </a:r>
            <a:endParaRPr lang="en-US" altLang="zh-CN" dirty="0" smtClean="0"/>
          </a:p>
        </p:txBody>
      </p:sp>
      <p:sp>
        <p:nvSpPr>
          <p:cNvPr id="1331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B4F8CF29-F71A-4509-94BF-B2BB301663D3}" type="slidenum">
              <a:rPr lang="en-US" altLang="zh-CN" smtClean="0"/>
              <a:pPr/>
              <a:t>8</a:t>
            </a:fld>
            <a:endParaRPr lang="en-US" altLang="zh-CN"/>
          </a:p>
        </p:txBody>
      </p:sp>
      <p:pic>
        <p:nvPicPr>
          <p:cNvPr id="6" name="图片 5"/>
          <p:cNvPicPr>
            <a:picLocks noChangeAspect="1"/>
          </p:cNvPicPr>
          <p:nvPr/>
        </p:nvPicPr>
        <p:blipFill>
          <a:blip r:embed="rId3"/>
          <a:stretch>
            <a:fillRect/>
          </a:stretch>
        </p:blipFill>
        <p:spPr>
          <a:xfrm>
            <a:off x="745375" y="2616289"/>
            <a:ext cx="4487850" cy="3896231"/>
          </a:xfrm>
          <a:prstGeom prst="rect">
            <a:avLst/>
          </a:prstGeom>
        </p:spPr>
      </p:pic>
      <p:sp>
        <p:nvSpPr>
          <p:cNvPr id="7" name="矩形 6"/>
          <p:cNvSpPr/>
          <p:nvPr/>
        </p:nvSpPr>
        <p:spPr>
          <a:xfrm>
            <a:off x="5210123" y="4827921"/>
            <a:ext cx="3803271" cy="1569660"/>
          </a:xfrm>
          <a:prstGeom prst="rect">
            <a:avLst/>
          </a:prstGeom>
        </p:spPr>
        <p:txBody>
          <a:bodyPr wrap="square">
            <a:spAutoFit/>
          </a:bodyPr>
          <a:lstStyle/>
          <a:p>
            <a:r>
              <a:rPr lang="en-US" altLang="zh-CN" sz="1600" dirty="0"/>
              <a:t>If the service consumer designer does not have access to the </a:t>
            </a:r>
            <a:r>
              <a:rPr lang="en-US" altLang="zh-CN" sz="1600" dirty="0" smtClean="0"/>
              <a:t>service design </a:t>
            </a:r>
            <a:r>
              <a:rPr lang="en-US" altLang="zh-CN" sz="1600" dirty="0"/>
              <a:t>specifications or source code, the consumer program </a:t>
            </a:r>
            <a:r>
              <a:rPr lang="en-US" altLang="zh-CN" sz="1600" dirty="0" smtClean="0"/>
              <a:t>can only </a:t>
            </a:r>
            <a:r>
              <a:rPr lang="en-US" altLang="zh-CN" sz="1600" dirty="0"/>
              <a:t>be designed based on information provided by the </a:t>
            </a:r>
            <a:r>
              <a:rPr lang="en-US" altLang="zh-CN" sz="1600" dirty="0" smtClean="0"/>
              <a:t>published service </a:t>
            </a:r>
            <a:r>
              <a:rPr lang="en-US" altLang="zh-CN" sz="1600" dirty="0"/>
              <a:t>contract.</a:t>
            </a:r>
            <a:endParaRPr lang="zh-CN" altLang="en-US" sz="1600"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r>
              <a:rPr lang="zh-CN" altLang="en-US" smtClean="0"/>
              <a:t>服务质量抽象</a:t>
            </a:r>
          </a:p>
        </p:txBody>
      </p:sp>
      <p:sp>
        <p:nvSpPr>
          <p:cNvPr id="3" name="内容占位符 2"/>
          <p:cNvSpPr>
            <a:spLocks noGrp="1"/>
          </p:cNvSpPr>
          <p:nvPr>
            <p:ph sz="half" idx="1"/>
          </p:nvPr>
        </p:nvSpPr>
        <p:spPr/>
        <p:txBody>
          <a:bodyPr>
            <a:normAutofit fontScale="85000" lnSpcReduction="20000"/>
          </a:bodyPr>
          <a:lstStyle/>
          <a:p>
            <a:pPr>
              <a:lnSpc>
                <a:spcPct val="110000"/>
              </a:lnSpc>
            </a:pPr>
            <a:r>
              <a:rPr lang="zh-CN" altLang="en-US" dirty="0" smtClean="0"/>
              <a:t>服务质量数据被用来描述一个服务的行为性的、基于规则</a:t>
            </a:r>
            <a:r>
              <a:rPr lang="zh-CN" altLang="en-US" dirty="0" smtClean="0"/>
              <a:t>的、和可靠性等相关</a:t>
            </a:r>
            <a:r>
              <a:rPr lang="zh-CN" altLang="en-US" dirty="0" smtClean="0"/>
              <a:t>的元信息</a:t>
            </a:r>
            <a:endParaRPr lang="en-US" altLang="zh-CN" dirty="0" smtClean="0"/>
          </a:p>
          <a:p>
            <a:pPr>
              <a:lnSpc>
                <a:spcPct val="110000"/>
              </a:lnSpc>
            </a:pPr>
            <a:r>
              <a:rPr lang="zh-CN" altLang="en-US" dirty="0" smtClean="0"/>
              <a:t>例如</a:t>
            </a:r>
            <a:endParaRPr lang="en-US" altLang="zh-CN" dirty="0" smtClean="0"/>
          </a:p>
          <a:p>
            <a:pPr lvl="1">
              <a:lnSpc>
                <a:spcPct val="110000"/>
              </a:lnSpc>
            </a:pPr>
            <a:r>
              <a:rPr lang="zh-CN" altLang="en-US" dirty="0" smtClean="0"/>
              <a:t>确保服务及时响应的并发访问阈值</a:t>
            </a:r>
            <a:endParaRPr lang="en-US" altLang="zh-CN" dirty="0" smtClean="0"/>
          </a:p>
          <a:p>
            <a:pPr lvl="1">
              <a:lnSpc>
                <a:spcPct val="110000"/>
              </a:lnSpc>
            </a:pPr>
            <a:r>
              <a:rPr lang="zh-CN" altLang="en-US" dirty="0" smtClean="0"/>
              <a:t>可用性限制，例如定期安排的断电</a:t>
            </a:r>
            <a:endParaRPr lang="en-US" altLang="zh-CN" dirty="0" smtClean="0"/>
          </a:p>
          <a:p>
            <a:pPr lvl="1">
              <a:lnSpc>
                <a:spcPct val="110000"/>
              </a:lnSpc>
            </a:pPr>
            <a:r>
              <a:rPr lang="zh-CN" altLang="en-US" dirty="0" smtClean="0"/>
              <a:t>决定服务对不同类型输入数据的处理和响应的业务规则</a:t>
            </a:r>
            <a:endParaRPr lang="en-US" altLang="zh-CN" dirty="0" smtClean="0"/>
          </a:p>
          <a:p>
            <a:pPr>
              <a:lnSpc>
                <a:spcPct val="110000"/>
              </a:lnSpc>
            </a:pPr>
            <a:r>
              <a:rPr lang="zh-CN" altLang="en-US" dirty="0" smtClean="0"/>
              <a:t>使用策略或</a:t>
            </a:r>
            <a:r>
              <a:rPr lang="en-US" altLang="zh-CN" dirty="0" smtClean="0"/>
              <a:t>SLA</a:t>
            </a:r>
            <a:r>
              <a:rPr lang="zh-CN" altLang="en-US" dirty="0" smtClean="0"/>
              <a:t>等文档加以描述</a:t>
            </a:r>
          </a:p>
        </p:txBody>
      </p:sp>
      <p:sp>
        <p:nvSpPr>
          <p:cNvPr id="14340" name="灯片编号占位符 3"/>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70CA858E-0289-4AA6-A401-8EC73B941E14}" type="slidenum">
              <a:rPr lang="en-US" altLang="zh-CN" smtClean="0"/>
              <a:pPr/>
              <a:t>9</a:t>
            </a:fld>
            <a:endParaRPr lang="en-US" altLang="zh-CN"/>
          </a:p>
        </p:txBody>
      </p:sp>
      <p:pic>
        <p:nvPicPr>
          <p:cNvPr id="7" name="图片 6"/>
          <p:cNvPicPr>
            <a:picLocks noChangeAspect="1"/>
          </p:cNvPicPr>
          <p:nvPr/>
        </p:nvPicPr>
        <p:blipFill>
          <a:blip r:embed="rId3"/>
          <a:stretch>
            <a:fillRect/>
          </a:stretch>
        </p:blipFill>
        <p:spPr>
          <a:xfrm>
            <a:off x="4495800" y="1412776"/>
            <a:ext cx="4478321" cy="3782045"/>
          </a:xfrm>
          <a:prstGeom prst="rect">
            <a:avLst/>
          </a:prstGeom>
        </p:spPr>
      </p:pic>
      <p:sp>
        <p:nvSpPr>
          <p:cNvPr id="6" name="矩形 5"/>
          <p:cNvSpPr/>
          <p:nvPr/>
        </p:nvSpPr>
        <p:spPr>
          <a:xfrm>
            <a:off x="4793865" y="5053707"/>
            <a:ext cx="3969135" cy="1077218"/>
          </a:xfrm>
          <a:prstGeom prst="rect">
            <a:avLst/>
          </a:prstGeom>
        </p:spPr>
        <p:txBody>
          <a:bodyPr wrap="square">
            <a:spAutoFit/>
          </a:bodyPr>
          <a:lstStyle/>
          <a:p>
            <a:r>
              <a:rPr lang="en-US" altLang="zh-CN" sz="1600" dirty="0"/>
              <a:t>Several quality of service details need to </a:t>
            </a:r>
            <a:r>
              <a:rPr lang="en-US" altLang="zh-CN" sz="1600" dirty="0" smtClean="0"/>
              <a:t>be made </a:t>
            </a:r>
            <a:r>
              <a:rPr lang="en-US" altLang="zh-CN" sz="1600" dirty="0"/>
              <a:t>available to service consumer </a:t>
            </a:r>
            <a:r>
              <a:rPr lang="en-US" altLang="zh-CN" sz="1600" dirty="0" smtClean="0"/>
              <a:t>designers so </a:t>
            </a:r>
            <a:r>
              <a:rPr lang="en-US" altLang="zh-CN" sz="1600" dirty="0"/>
              <a:t>that they can fully understand what </a:t>
            </a:r>
            <a:r>
              <a:rPr lang="en-US" altLang="zh-CN" sz="1600" dirty="0" smtClean="0"/>
              <a:t>to expect </a:t>
            </a:r>
            <a:r>
              <a:rPr lang="en-US" altLang="zh-CN" sz="1600" dirty="0"/>
              <a:t>from a service.</a:t>
            </a:r>
            <a:endParaRPr lang="zh-CN" altLang="en-US" sz="1600" dirty="0"/>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en-US" altLang="zh-CN" smtClean="0"/>
              <a:t>Web </a:t>
            </a:r>
            <a:r>
              <a:rPr lang="zh-CN" altLang="en-US" smtClean="0"/>
              <a:t>服务影响区域</a:t>
            </a:r>
            <a:r>
              <a:rPr lang="en-US" altLang="zh-CN" smtClean="0"/>
              <a:t>——</a:t>
            </a:r>
            <a:r>
              <a:rPr lang="zh-CN" altLang="en-US" smtClean="0"/>
              <a:t>功能抽象</a:t>
            </a:r>
          </a:p>
        </p:txBody>
      </p:sp>
      <p:sp>
        <p:nvSpPr>
          <p:cNvPr id="15363" name="灯片编号占位符 4"/>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8CB4166F-A527-41F7-8040-DEAD9265B591}" type="slidenum">
              <a:rPr lang="en-US" altLang="zh-CN" smtClean="0"/>
              <a:pPr/>
              <a:t>10</a:t>
            </a:fld>
            <a:endParaRPr lang="en-US" altLang="zh-CN"/>
          </a:p>
        </p:txBody>
      </p:sp>
      <p:pic>
        <p:nvPicPr>
          <p:cNvPr id="5" name="图片 4"/>
          <p:cNvPicPr>
            <a:picLocks noChangeAspect="1"/>
          </p:cNvPicPr>
          <p:nvPr/>
        </p:nvPicPr>
        <p:blipFill>
          <a:blip r:embed="rId3"/>
          <a:stretch>
            <a:fillRect/>
          </a:stretch>
        </p:blipFill>
        <p:spPr>
          <a:xfrm>
            <a:off x="1352550" y="1588363"/>
            <a:ext cx="6438900" cy="3343275"/>
          </a:xfrm>
          <a:prstGeom prst="rect">
            <a:avLst/>
          </a:prstGeom>
        </p:spPr>
      </p:pic>
      <p:sp>
        <p:nvSpPr>
          <p:cNvPr id="7" name="矩形 6"/>
          <p:cNvSpPr/>
          <p:nvPr/>
        </p:nvSpPr>
        <p:spPr>
          <a:xfrm>
            <a:off x="1328496" y="5403994"/>
            <a:ext cx="6410808" cy="584775"/>
          </a:xfrm>
          <a:prstGeom prst="rect">
            <a:avLst/>
          </a:prstGeom>
        </p:spPr>
        <p:txBody>
          <a:bodyPr wrap="square">
            <a:spAutoFit/>
          </a:bodyPr>
          <a:lstStyle/>
          <a:p>
            <a:r>
              <a:rPr lang="en-US" altLang="zh-CN" sz="1600" dirty="0"/>
              <a:t>Functional abstraction is generally limited to the service contract because </a:t>
            </a:r>
            <a:r>
              <a:rPr lang="en-US" altLang="zh-CN" sz="1600" dirty="0" smtClean="0"/>
              <a:t>that is </a:t>
            </a:r>
            <a:r>
              <a:rPr lang="en-US" altLang="zh-CN" sz="1600" dirty="0"/>
              <a:t>where we formally express the service’s capabilities</a:t>
            </a:r>
            <a:endParaRPr lang="zh-CN" altLang="en-US" sz="1600"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r>
              <a:rPr lang="en-US" altLang="zh-CN" smtClean="0"/>
              <a:t>Web </a:t>
            </a:r>
            <a:r>
              <a:rPr lang="zh-CN" altLang="en-US" smtClean="0"/>
              <a:t>服务影响区域</a:t>
            </a:r>
            <a:r>
              <a:rPr lang="en-US" altLang="zh-CN" smtClean="0"/>
              <a:t>——</a:t>
            </a:r>
            <a:r>
              <a:rPr lang="zh-CN" altLang="en-US" smtClean="0"/>
              <a:t>技术信息抽象</a:t>
            </a:r>
          </a:p>
        </p:txBody>
      </p:sp>
      <p:sp>
        <p:nvSpPr>
          <p:cNvPr id="16387"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136974AC-6A16-4727-8A08-A16192D068A7}" type="slidenum">
              <a:rPr lang="en-US" altLang="zh-CN" smtClean="0"/>
              <a:pPr/>
              <a:t>11</a:t>
            </a:fld>
            <a:endParaRPr lang="en-US" altLang="zh-CN"/>
          </a:p>
        </p:txBody>
      </p:sp>
      <p:pic>
        <p:nvPicPr>
          <p:cNvPr id="2" name="图片 1"/>
          <p:cNvPicPr>
            <a:picLocks noChangeAspect="1"/>
          </p:cNvPicPr>
          <p:nvPr/>
        </p:nvPicPr>
        <p:blipFill>
          <a:blip r:embed="rId3"/>
          <a:stretch>
            <a:fillRect/>
          </a:stretch>
        </p:blipFill>
        <p:spPr>
          <a:xfrm>
            <a:off x="1647825" y="1433815"/>
            <a:ext cx="5772150" cy="3486150"/>
          </a:xfrm>
          <a:prstGeom prst="rect">
            <a:avLst/>
          </a:prstGeom>
        </p:spPr>
      </p:pic>
      <p:sp>
        <p:nvSpPr>
          <p:cNvPr id="7" name="矩形 6"/>
          <p:cNvSpPr/>
          <p:nvPr/>
        </p:nvSpPr>
        <p:spPr>
          <a:xfrm>
            <a:off x="1043608" y="5033575"/>
            <a:ext cx="6768752" cy="1077218"/>
          </a:xfrm>
          <a:prstGeom prst="rect">
            <a:avLst/>
          </a:prstGeom>
        </p:spPr>
        <p:txBody>
          <a:bodyPr wrap="square">
            <a:spAutoFit/>
          </a:bodyPr>
          <a:lstStyle/>
          <a:p>
            <a:r>
              <a:rPr lang="en-US" altLang="zh-CN" sz="1600" dirty="0"/>
              <a:t>Technology information abstraction affects the underlying implementation of </a:t>
            </a:r>
            <a:r>
              <a:rPr lang="en-US" altLang="zh-CN" sz="1600" dirty="0" smtClean="0"/>
              <a:t>a service</a:t>
            </a:r>
            <a:r>
              <a:rPr lang="en-US" altLang="zh-CN" sz="1600" dirty="0"/>
              <a:t>, both in terms of its core solution logic and its message </a:t>
            </a:r>
            <a:r>
              <a:rPr lang="en-US" altLang="zh-CN" sz="1600" dirty="0" smtClean="0"/>
              <a:t>processing logic</a:t>
            </a:r>
            <a:r>
              <a:rPr lang="en-US" altLang="zh-CN" sz="1600" dirty="0"/>
              <a:t>. It only reaches the service contract when (</a:t>
            </a:r>
            <a:r>
              <a:rPr lang="en-US" altLang="zh-CN" sz="1600" dirty="0" smtClean="0"/>
              <a:t>non-industry-standard) technology-specific </a:t>
            </a:r>
            <a:r>
              <a:rPr lang="en-US" altLang="zh-CN" sz="1600" dirty="0"/>
              <a:t>requirements need to be expressed.</a:t>
            </a:r>
            <a:endParaRPr lang="zh-CN" altLang="en-US" sz="1600"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r>
              <a:rPr lang="en-US" altLang="zh-CN" smtClean="0"/>
              <a:t>Web </a:t>
            </a:r>
            <a:r>
              <a:rPr lang="zh-CN" altLang="en-US" smtClean="0"/>
              <a:t>服务影响区域</a:t>
            </a:r>
            <a:r>
              <a:rPr lang="en-US" altLang="zh-CN" smtClean="0"/>
              <a:t>——</a:t>
            </a:r>
            <a:r>
              <a:rPr lang="zh-CN" altLang="en-US" smtClean="0"/>
              <a:t>编程逻辑抽象</a:t>
            </a:r>
          </a:p>
        </p:txBody>
      </p:sp>
      <p:sp>
        <p:nvSpPr>
          <p:cNvPr id="17411"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B598B661-A390-4C60-92EE-5A2566B2A6DA}" type="slidenum">
              <a:rPr lang="en-US" altLang="zh-CN" smtClean="0"/>
              <a:pPr/>
              <a:t>12</a:t>
            </a:fld>
            <a:endParaRPr lang="en-US" altLang="zh-CN"/>
          </a:p>
        </p:txBody>
      </p:sp>
      <p:pic>
        <p:nvPicPr>
          <p:cNvPr id="5" name="图片 4"/>
          <p:cNvPicPr>
            <a:picLocks noChangeAspect="1"/>
          </p:cNvPicPr>
          <p:nvPr/>
        </p:nvPicPr>
        <p:blipFill>
          <a:blip r:embed="rId3"/>
          <a:stretch>
            <a:fillRect/>
          </a:stretch>
        </p:blipFill>
        <p:spPr>
          <a:xfrm>
            <a:off x="1609725" y="1498748"/>
            <a:ext cx="5924550" cy="3457575"/>
          </a:xfrm>
          <a:prstGeom prst="rect">
            <a:avLst/>
          </a:prstGeom>
        </p:spPr>
      </p:pic>
      <p:sp>
        <p:nvSpPr>
          <p:cNvPr id="7" name="矩形 6"/>
          <p:cNvSpPr/>
          <p:nvPr/>
        </p:nvSpPr>
        <p:spPr>
          <a:xfrm>
            <a:off x="1331640" y="5150147"/>
            <a:ext cx="6624736" cy="830997"/>
          </a:xfrm>
          <a:prstGeom prst="rect">
            <a:avLst/>
          </a:prstGeom>
        </p:spPr>
        <p:txBody>
          <a:bodyPr wrap="square">
            <a:spAutoFit/>
          </a:bodyPr>
          <a:lstStyle/>
          <a:p>
            <a:r>
              <a:rPr lang="en-US" altLang="zh-CN" sz="1600" dirty="0"/>
              <a:t>Whether it’s the underlying routines used by a message processing </a:t>
            </a:r>
            <a:r>
              <a:rPr lang="en-US" altLang="zh-CN" sz="1600" dirty="0" smtClean="0"/>
              <a:t>service agent </a:t>
            </a:r>
            <a:r>
              <a:rPr lang="en-US" altLang="zh-CN" sz="1600" dirty="0"/>
              <a:t>or the code representing the implementation logic of the service, all </a:t>
            </a:r>
            <a:r>
              <a:rPr lang="en-US" altLang="zh-CN" sz="1600" dirty="0" smtClean="0"/>
              <a:t>have programmatic </a:t>
            </a:r>
            <a:r>
              <a:rPr lang="en-US" altLang="zh-CN" sz="1600" dirty="0"/>
              <a:t>logic.</a:t>
            </a:r>
            <a:endParaRPr lang="zh-CN" altLang="en-US" sz="1600"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r>
              <a:rPr lang="en-US" altLang="zh-CN" smtClean="0"/>
              <a:t>Web </a:t>
            </a:r>
            <a:r>
              <a:rPr lang="zh-CN" altLang="en-US" smtClean="0"/>
              <a:t>服务影响区域</a:t>
            </a:r>
            <a:r>
              <a:rPr lang="en-US" altLang="zh-CN" smtClean="0"/>
              <a:t>——</a:t>
            </a:r>
            <a:r>
              <a:rPr lang="zh-CN" altLang="en-US" smtClean="0"/>
              <a:t>服务质量抽象</a:t>
            </a:r>
          </a:p>
        </p:txBody>
      </p:sp>
      <p:sp>
        <p:nvSpPr>
          <p:cNvPr id="18435"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86ADA0F5-4975-40B1-9C74-DDBF3AB83382}" type="slidenum">
              <a:rPr lang="en-US" altLang="zh-CN" smtClean="0"/>
              <a:pPr/>
              <a:t>13</a:t>
            </a:fld>
            <a:endParaRPr lang="en-US" altLang="zh-CN"/>
          </a:p>
        </p:txBody>
      </p:sp>
      <p:pic>
        <p:nvPicPr>
          <p:cNvPr id="3" name="图片 2"/>
          <p:cNvPicPr>
            <a:picLocks noChangeAspect="1"/>
          </p:cNvPicPr>
          <p:nvPr/>
        </p:nvPicPr>
        <p:blipFill>
          <a:blip r:embed="rId3"/>
          <a:stretch>
            <a:fillRect/>
          </a:stretch>
        </p:blipFill>
        <p:spPr>
          <a:xfrm>
            <a:off x="1624011" y="1484784"/>
            <a:ext cx="5895975" cy="3438525"/>
          </a:xfrm>
          <a:prstGeom prst="rect">
            <a:avLst/>
          </a:prstGeom>
        </p:spPr>
      </p:pic>
      <p:sp>
        <p:nvSpPr>
          <p:cNvPr id="5" name="矩形 4"/>
          <p:cNvSpPr/>
          <p:nvPr/>
        </p:nvSpPr>
        <p:spPr>
          <a:xfrm>
            <a:off x="1119956" y="5229200"/>
            <a:ext cx="6904084" cy="1077218"/>
          </a:xfrm>
          <a:prstGeom prst="rect">
            <a:avLst/>
          </a:prstGeom>
        </p:spPr>
        <p:txBody>
          <a:bodyPr wrap="square">
            <a:spAutoFit/>
          </a:bodyPr>
          <a:lstStyle/>
          <a:p>
            <a:r>
              <a:rPr lang="en-US" altLang="zh-CN" sz="1600" dirty="0"/>
              <a:t>Because this is a broad form of meta information, it can represent all types </a:t>
            </a:r>
            <a:r>
              <a:rPr lang="en-US" altLang="zh-CN" sz="1600" dirty="0" smtClean="0"/>
              <a:t>of behavioral </a:t>
            </a:r>
            <a:r>
              <a:rPr lang="en-US" altLang="zh-CN" sz="1600" dirty="0"/>
              <a:t>and reliability related meta details. Furthermore, technical </a:t>
            </a:r>
            <a:r>
              <a:rPr lang="en-US" altLang="zh-CN" sz="1600" dirty="0" smtClean="0"/>
              <a:t>policy documents </a:t>
            </a:r>
            <a:r>
              <a:rPr lang="en-US" altLang="zh-CN" sz="1600" dirty="0"/>
              <a:t>and business rules implemented in the schema can bring quality </a:t>
            </a:r>
            <a:r>
              <a:rPr lang="en-US" altLang="zh-CN" sz="1600" dirty="0" smtClean="0"/>
              <a:t>of service </a:t>
            </a:r>
            <a:r>
              <a:rPr lang="en-US" altLang="zh-CN" sz="1600" dirty="0"/>
              <a:t>data right up into the technical service contract.</a:t>
            </a:r>
            <a:endParaRPr lang="zh-CN" altLang="en-US" sz="1600"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5"/>
          <p:cNvSpPr>
            <a:spLocks noGrp="1"/>
          </p:cNvSpPr>
          <p:nvPr>
            <p:ph type="title"/>
          </p:nvPr>
        </p:nvSpPr>
        <p:spPr/>
        <p:txBody>
          <a:bodyPr/>
          <a:lstStyle/>
          <a:p>
            <a:r>
              <a:rPr lang="zh-CN" altLang="en-US" smtClean="0"/>
              <a:t>元抽象类型的实现（</a:t>
            </a:r>
            <a:r>
              <a:rPr lang="en-US" altLang="zh-CN" smtClean="0"/>
              <a:t>1/2</a:t>
            </a:r>
            <a:r>
              <a:rPr lang="zh-CN" altLang="en-US" smtClean="0"/>
              <a:t>）</a:t>
            </a:r>
          </a:p>
        </p:txBody>
      </p:sp>
      <p:graphicFrame>
        <p:nvGraphicFramePr>
          <p:cNvPr id="14" name="内容占位符 13"/>
          <p:cNvGraphicFramePr>
            <a:graphicFrameLocks noGrp="1"/>
          </p:cNvGraphicFramePr>
          <p:nvPr>
            <p:ph idx="1"/>
            <p:extLst>
              <p:ext uri="{D42A27DB-BD31-4B8C-83A1-F6EECF244321}">
                <p14:modId xmlns:p14="http://schemas.microsoft.com/office/powerpoint/2010/main" val="1281612988"/>
              </p:ext>
            </p:extLst>
          </p:nvPr>
        </p:nvGraphicFramePr>
        <p:xfrm>
          <a:off x="107504" y="1340768"/>
          <a:ext cx="8928992" cy="4914068"/>
        </p:xfrm>
        <a:graphic>
          <a:graphicData uri="http://schemas.openxmlformats.org/drawingml/2006/table">
            <a:tbl>
              <a:tblPr firstRow="1" bandRow="1">
                <a:tableStyleId>{5C22544A-7EE6-4342-B048-85BDC9FD1C3A}</a:tableStyleId>
              </a:tblPr>
              <a:tblGrid>
                <a:gridCol w="1368151">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3024336">
                  <a:extLst>
                    <a:ext uri="{9D8B030D-6E8A-4147-A177-3AD203B41FA5}">
                      <a16:colId xmlns:a16="http://schemas.microsoft.com/office/drawing/2014/main" val="20002"/>
                    </a:ext>
                  </a:extLst>
                </a:gridCol>
                <a:gridCol w="3384377">
                  <a:extLst>
                    <a:ext uri="{9D8B030D-6E8A-4147-A177-3AD203B41FA5}">
                      <a16:colId xmlns:a16="http://schemas.microsoft.com/office/drawing/2014/main" val="20003"/>
                    </a:ext>
                  </a:extLst>
                </a:gridCol>
              </a:tblGrid>
              <a:tr h="640291">
                <a:tc>
                  <a:txBody>
                    <a:bodyPr/>
                    <a:lstStyle/>
                    <a:p>
                      <a:r>
                        <a:rPr lang="zh-CN" altLang="en-US" sz="1800" b="1" kern="1200" baseline="0" dirty="0" smtClean="0">
                          <a:solidFill>
                            <a:schemeClr val="lt1"/>
                          </a:solidFill>
                          <a:latin typeface="+mn-lt"/>
                          <a:ea typeface="+mn-ea"/>
                          <a:cs typeface="+mn-cs"/>
                        </a:rPr>
                        <a:t>商业产品</a:t>
                      </a:r>
                      <a:endParaRPr lang="zh-CN" altLang="en-US" sz="1800" dirty="0"/>
                    </a:p>
                  </a:txBody>
                  <a:tcPr marL="91444" marR="91444" marT="45735" marB="45735" anchor="ctr"/>
                </a:tc>
                <a:tc>
                  <a:txBody>
                    <a:bodyPr/>
                    <a:lstStyle/>
                    <a:p>
                      <a:r>
                        <a:rPr lang="zh-CN" altLang="en-US" sz="1800" b="1" kern="1200" baseline="0" dirty="0" smtClean="0">
                          <a:solidFill>
                            <a:schemeClr val="lt1"/>
                          </a:solidFill>
                          <a:latin typeface="+mn-lt"/>
                          <a:ea typeface="+mn-ea"/>
                          <a:cs typeface="+mn-cs"/>
                        </a:rPr>
                        <a:t>开源程序</a:t>
                      </a:r>
                      <a:endParaRPr lang="zh-CN" altLang="en-US" sz="1800" dirty="0"/>
                    </a:p>
                  </a:txBody>
                  <a:tcPr marL="91444" marR="91444" marT="45735" marB="45735" anchor="ctr"/>
                </a:tc>
                <a:tc>
                  <a:txBody>
                    <a:bodyPr/>
                    <a:lstStyle/>
                    <a:p>
                      <a:r>
                        <a:rPr lang="zh-CN" altLang="en-US" sz="1800" b="1" kern="1200" baseline="0" dirty="0" smtClean="0">
                          <a:solidFill>
                            <a:schemeClr val="lt1"/>
                          </a:solidFill>
                          <a:latin typeface="+mn-lt"/>
                          <a:ea typeface="+mn-ea"/>
                          <a:cs typeface="+mn-cs"/>
                        </a:rPr>
                        <a:t>定制开发的独立应用程序</a:t>
                      </a:r>
                      <a:endParaRPr lang="zh-CN" altLang="en-US" sz="1800" dirty="0"/>
                    </a:p>
                  </a:txBody>
                  <a:tcPr marL="91444" marR="91444" marT="45735" marB="45735" anchor="ctr"/>
                </a:tc>
                <a:tc>
                  <a:txBody>
                    <a:bodyPr/>
                    <a:lstStyle/>
                    <a:p>
                      <a:r>
                        <a:rPr lang="zh-CN" altLang="en-US" sz="1800" b="1" kern="1200" baseline="0" dirty="0" smtClean="0">
                          <a:solidFill>
                            <a:schemeClr val="lt1"/>
                          </a:solidFill>
                          <a:latin typeface="+mn-lt"/>
                          <a:ea typeface="+mn-ea"/>
                          <a:cs typeface="+mn-cs"/>
                        </a:rPr>
                        <a:t>定制开发的分布式应用程序</a:t>
                      </a:r>
                      <a:endParaRPr lang="zh-CN" altLang="en-US" sz="1800" dirty="0"/>
                    </a:p>
                  </a:txBody>
                  <a:tcPr marL="91444" marR="91444" marT="45735" marB="45735" anchor="ctr"/>
                </a:tc>
                <a:extLst>
                  <a:ext uri="{0D108BD9-81ED-4DB2-BD59-A6C34878D82A}">
                    <a16:rowId xmlns:a16="http://schemas.microsoft.com/office/drawing/2014/main" val="10000"/>
                  </a:ext>
                </a:extLst>
              </a:tr>
              <a:tr h="799869">
                <a:tc>
                  <a:txBody>
                    <a:bodyPr/>
                    <a:lstStyle/>
                    <a:p>
                      <a:r>
                        <a:rPr lang="zh-CN" altLang="en-US" sz="1800" kern="1200" baseline="0" dirty="0" smtClean="0">
                          <a:solidFill>
                            <a:schemeClr val="dk1"/>
                          </a:solidFill>
                          <a:latin typeface="+mn-lt"/>
                          <a:ea typeface="+mn-ea"/>
                          <a:cs typeface="+mn-cs"/>
                        </a:rPr>
                        <a:t>较强的</a:t>
                      </a:r>
                      <a:endParaRPr lang="en-US" altLang="zh-CN" sz="1800" kern="1200" baseline="0" dirty="0" smtClean="0">
                        <a:solidFill>
                          <a:schemeClr val="dk1"/>
                        </a:solidFill>
                        <a:latin typeface="+mn-lt"/>
                        <a:ea typeface="+mn-ea"/>
                        <a:cs typeface="+mn-cs"/>
                      </a:endParaRPr>
                    </a:p>
                    <a:p>
                      <a:r>
                        <a:rPr lang="zh-CN" altLang="en-US" sz="1800" kern="1200" baseline="0" dirty="0" smtClean="0">
                          <a:solidFill>
                            <a:schemeClr val="dk1"/>
                          </a:solidFill>
                          <a:latin typeface="+mn-lt"/>
                          <a:ea typeface="+mn-ea"/>
                          <a:cs typeface="+mn-cs"/>
                        </a:rPr>
                        <a:t>技术抽象</a:t>
                      </a:r>
                      <a:endParaRPr lang="zh-CN" altLang="en-US" sz="1800" dirty="0"/>
                    </a:p>
                  </a:txBody>
                  <a:tcPr marL="91444" marR="91444" marT="45735" marB="45735" anchor="ctr"/>
                </a:tc>
                <a:tc>
                  <a:txBody>
                    <a:bodyPr/>
                    <a:lstStyle/>
                    <a:p>
                      <a:r>
                        <a:rPr lang="zh-CN" altLang="en-US" sz="1800" kern="1200" baseline="0" dirty="0" smtClean="0">
                          <a:solidFill>
                            <a:schemeClr val="dk1"/>
                          </a:solidFill>
                          <a:latin typeface="+mn-lt"/>
                          <a:ea typeface="+mn-ea"/>
                          <a:cs typeface="+mn-cs"/>
                        </a:rPr>
                        <a:t>没有技术抽象</a:t>
                      </a:r>
                      <a:endParaRPr lang="zh-CN" altLang="en-US" sz="1800" dirty="0"/>
                    </a:p>
                  </a:txBody>
                  <a:tcPr marL="91444" marR="91444" marT="45735" marB="45735" anchor="ctr"/>
                </a:tc>
                <a:tc>
                  <a:txBody>
                    <a:bodyPr/>
                    <a:lstStyle/>
                    <a:p>
                      <a:r>
                        <a:rPr lang="zh-CN" altLang="en-US" sz="1800" kern="1200" baseline="0" dirty="0" smtClean="0">
                          <a:solidFill>
                            <a:schemeClr val="dk1"/>
                          </a:solidFill>
                          <a:latin typeface="+mn-lt"/>
                          <a:ea typeface="+mn-ea"/>
                          <a:cs typeface="+mn-cs"/>
                        </a:rPr>
                        <a:t>较低的技术抽象</a:t>
                      </a:r>
                      <a:endParaRPr lang="en-US" altLang="zh-CN" sz="1800" kern="1200" baseline="0" dirty="0" smtClean="0">
                        <a:solidFill>
                          <a:schemeClr val="dk1"/>
                        </a:solidFill>
                        <a:latin typeface="+mn-lt"/>
                        <a:ea typeface="+mn-ea"/>
                        <a:cs typeface="+mn-cs"/>
                      </a:endParaRPr>
                    </a:p>
                    <a:p>
                      <a:r>
                        <a:rPr lang="en-US" altLang="zh-CN" sz="1800" kern="1200" baseline="0" dirty="0" smtClean="0">
                          <a:solidFill>
                            <a:schemeClr val="dk1"/>
                          </a:solidFill>
                          <a:latin typeface="+mn-lt"/>
                          <a:ea typeface="+mn-ea"/>
                          <a:cs typeface="+mn-cs"/>
                        </a:rPr>
                        <a:t>(</a:t>
                      </a:r>
                      <a:r>
                        <a:rPr lang="zh-CN" altLang="en-US" sz="1800" kern="1200" baseline="0" dirty="0" smtClean="0">
                          <a:solidFill>
                            <a:schemeClr val="dk1"/>
                          </a:solidFill>
                          <a:latin typeface="+mn-lt"/>
                          <a:ea typeface="+mn-ea"/>
                          <a:cs typeface="+mn-cs"/>
                        </a:rPr>
                        <a:t>众所周知的技术环境</a:t>
                      </a:r>
                      <a:r>
                        <a:rPr lang="en-US" altLang="zh-CN" sz="1800" kern="1200" baseline="0" dirty="0" smtClean="0">
                          <a:solidFill>
                            <a:schemeClr val="dk1"/>
                          </a:solidFill>
                          <a:latin typeface="+mn-lt"/>
                          <a:ea typeface="+mn-ea"/>
                          <a:cs typeface="+mn-cs"/>
                        </a:rPr>
                        <a:t>)</a:t>
                      </a:r>
                    </a:p>
                  </a:txBody>
                  <a:tcPr marL="91444" marR="91444" marT="45735" marB="4573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kern="1200" baseline="0" dirty="0" smtClean="0">
                          <a:solidFill>
                            <a:schemeClr val="dk1"/>
                          </a:solidFill>
                          <a:latin typeface="+mn-lt"/>
                          <a:ea typeface="+mn-ea"/>
                          <a:cs typeface="+mn-cs"/>
                        </a:rPr>
                        <a:t>较低的技术抽象</a:t>
                      </a:r>
                      <a:endParaRPr lang="en-US" altLang="zh-CN" sz="1800"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kern="1200" baseline="0" dirty="0" smtClean="0">
                          <a:solidFill>
                            <a:schemeClr val="dk1"/>
                          </a:solidFill>
                          <a:latin typeface="+mn-lt"/>
                          <a:ea typeface="+mn-ea"/>
                          <a:cs typeface="+mn-cs"/>
                        </a:rPr>
                        <a:t>(</a:t>
                      </a:r>
                      <a:r>
                        <a:rPr lang="zh-CN" altLang="en-US" sz="1800" kern="1200" baseline="0" dirty="0" smtClean="0">
                          <a:solidFill>
                            <a:schemeClr val="dk1"/>
                          </a:solidFill>
                          <a:latin typeface="+mn-lt"/>
                          <a:ea typeface="+mn-ea"/>
                          <a:cs typeface="+mn-cs"/>
                        </a:rPr>
                        <a:t>众所周知的技术环境</a:t>
                      </a:r>
                      <a:r>
                        <a:rPr lang="en-US" altLang="zh-CN" sz="1800" kern="1200" baseline="0" dirty="0" smtClean="0">
                          <a:solidFill>
                            <a:schemeClr val="dk1"/>
                          </a:solidFill>
                          <a:latin typeface="+mn-lt"/>
                          <a:ea typeface="+mn-ea"/>
                          <a:cs typeface="+mn-cs"/>
                        </a:rPr>
                        <a:t>)</a:t>
                      </a:r>
                    </a:p>
                  </a:txBody>
                  <a:tcPr marL="91444" marR="91444" marT="45735" marB="45735" anchor="ctr"/>
                </a:tc>
                <a:extLst>
                  <a:ext uri="{0D108BD9-81ED-4DB2-BD59-A6C34878D82A}">
                    <a16:rowId xmlns:a16="http://schemas.microsoft.com/office/drawing/2014/main" val="10001"/>
                  </a:ext>
                </a:extLst>
              </a:tr>
              <a:tr h="1095682">
                <a:tc>
                  <a:txBody>
                    <a:bodyPr/>
                    <a:lstStyle/>
                    <a:p>
                      <a:r>
                        <a:rPr lang="zh-CN" altLang="en-US" sz="1800" kern="1200" baseline="0" dirty="0" smtClean="0">
                          <a:solidFill>
                            <a:schemeClr val="dk1"/>
                          </a:solidFill>
                          <a:latin typeface="+mn-lt"/>
                          <a:ea typeface="+mn-ea"/>
                          <a:cs typeface="+mn-cs"/>
                        </a:rPr>
                        <a:t>有目标的</a:t>
                      </a:r>
                      <a:endParaRPr lang="en-US" altLang="zh-CN" sz="1800" kern="1200" baseline="0" dirty="0" smtClean="0">
                        <a:solidFill>
                          <a:schemeClr val="dk1"/>
                        </a:solidFill>
                        <a:latin typeface="+mn-lt"/>
                        <a:ea typeface="+mn-ea"/>
                        <a:cs typeface="+mn-cs"/>
                      </a:endParaRPr>
                    </a:p>
                    <a:p>
                      <a:r>
                        <a:rPr lang="zh-CN" altLang="en-US" sz="1800" kern="1200" baseline="0" dirty="0" smtClean="0">
                          <a:solidFill>
                            <a:schemeClr val="dk1"/>
                          </a:solidFill>
                          <a:latin typeface="+mn-lt"/>
                          <a:ea typeface="+mn-ea"/>
                          <a:cs typeface="+mn-cs"/>
                        </a:rPr>
                        <a:t>功能抽象</a:t>
                      </a:r>
                      <a:endParaRPr lang="zh-CN" altLang="en-US" sz="1800" dirty="0"/>
                    </a:p>
                  </a:txBody>
                  <a:tcPr marL="91444" marR="91444" marT="45735" marB="45735" anchor="ctr"/>
                </a:tc>
                <a:tc>
                  <a:txBody>
                    <a:bodyPr/>
                    <a:lstStyle/>
                    <a:p>
                      <a:r>
                        <a:rPr lang="zh-CN" altLang="en-US" sz="1800" kern="1200" baseline="0" dirty="0" smtClean="0">
                          <a:solidFill>
                            <a:schemeClr val="dk1"/>
                          </a:solidFill>
                          <a:latin typeface="+mn-lt"/>
                          <a:ea typeface="+mn-ea"/>
                          <a:cs typeface="+mn-cs"/>
                        </a:rPr>
                        <a:t>可定制的功能抽象</a:t>
                      </a:r>
                      <a:endParaRPr lang="zh-CN" altLang="en-US" sz="1800" dirty="0"/>
                    </a:p>
                  </a:txBody>
                  <a:tcPr marL="91444" marR="91444" marT="45735" marB="45735" anchor="ctr"/>
                </a:tc>
                <a:tc>
                  <a:txBody>
                    <a:bodyPr/>
                    <a:lstStyle/>
                    <a:p>
                      <a:r>
                        <a:rPr lang="zh-CN" altLang="en-US" sz="1800" kern="1200" baseline="0" dirty="0" smtClean="0">
                          <a:solidFill>
                            <a:schemeClr val="dk1"/>
                          </a:solidFill>
                          <a:latin typeface="+mn-lt"/>
                          <a:ea typeface="+mn-ea"/>
                          <a:cs typeface="+mn-cs"/>
                        </a:rPr>
                        <a:t>有目标和灵活的功能抽象</a:t>
                      </a:r>
                      <a:r>
                        <a:rPr lang="en-US" altLang="zh-CN" sz="1800" kern="1200" baseline="0" dirty="0" smtClean="0">
                          <a:solidFill>
                            <a:schemeClr val="dk1"/>
                          </a:solidFill>
                          <a:latin typeface="+mn-lt"/>
                          <a:ea typeface="+mn-ea"/>
                          <a:cs typeface="+mn-cs"/>
                        </a:rPr>
                        <a:t>(API </a:t>
                      </a:r>
                      <a:r>
                        <a:rPr lang="zh-CN" altLang="en-US" sz="1800" kern="1200" baseline="0" dirty="0" smtClean="0">
                          <a:solidFill>
                            <a:schemeClr val="dk1"/>
                          </a:solidFill>
                          <a:latin typeface="+mn-lt"/>
                          <a:ea typeface="+mn-ea"/>
                          <a:cs typeface="+mn-cs"/>
                        </a:rPr>
                        <a:t>按需定制</a:t>
                      </a:r>
                      <a:r>
                        <a:rPr lang="en-US" altLang="zh-CN" sz="1800" kern="1200" baseline="0" dirty="0" smtClean="0">
                          <a:solidFill>
                            <a:schemeClr val="dk1"/>
                          </a:solidFill>
                          <a:latin typeface="+mn-lt"/>
                          <a:ea typeface="+mn-ea"/>
                          <a:cs typeface="+mn-cs"/>
                        </a:rPr>
                        <a:t>)</a:t>
                      </a:r>
                      <a:endParaRPr lang="zh-CN" altLang="en-US" sz="1800" dirty="0"/>
                    </a:p>
                  </a:txBody>
                  <a:tcPr marL="91444" marR="91444" marT="45735" marB="45735" anchor="ctr"/>
                </a:tc>
                <a:tc>
                  <a:txBody>
                    <a:bodyPr/>
                    <a:lstStyle/>
                    <a:p>
                      <a:r>
                        <a:rPr lang="zh-CN" altLang="en-US" sz="1800" kern="1200" baseline="0" dirty="0" smtClean="0">
                          <a:solidFill>
                            <a:schemeClr val="dk1"/>
                          </a:solidFill>
                          <a:latin typeface="+mn-lt"/>
                          <a:ea typeface="+mn-ea"/>
                          <a:cs typeface="+mn-cs"/>
                        </a:rPr>
                        <a:t>提高的功能抽象</a:t>
                      </a:r>
                    </a:p>
                    <a:p>
                      <a:r>
                        <a:rPr lang="en-US" altLang="zh-CN" sz="1800" kern="1200" baseline="0" dirty="0" smtClean="0">
                          <a:solidFill>
                            <a:schemeClr val="dk1"/>
                          </a:solidFill>
                          <a:latin typeface="+mn-lt"/>
                          <a:ea typeface="+mn-ea"/>
                          <a:cs typeface="+mn-cs"/>
                        </a:rPr>
                        <a:t>(</a:t>
                      </a:r>
                      <a:r>
                        <a:rPr lang="zh-CN" altLang="en-US" sz="1800" kern="1200" baseline="0" dirty="0" smtClean="0">
                          <a:solidFill>
                            <a:schemeClr val="dk1"/>
                          </a:solidFill>
                          <a:latin typeface="+mn-lt"/>
                          <a:ea typeface="+mn-ea"/>
                          <a:cs typeface="+mn-cs"/>
                        </a:rPr>
                        <a:t>构件发布技术</a:t>
                      </a:r>
                      <a:r>
                        <a:rPr lang="zh-CN" altLang="en-US" sz="1800" kern="1200" baseline="0" dirty="0" smtClean="0">
                          <a:solidFill>
                            <a:schemeClr val="dk1"/>
                          </a:solidFill>
                          <a:latin typeface="+mn-lt"/>
                          <a:ea typeface="+mn-ea"/>
                          <a:cs typeface="+mn-cs"/>
                        </a:rPr>
                        <a:t>接口，但是由于它们的低复用性而仍然灵活</a:t>
                      </a:r>
                      <a:r>
                        <a:rPr lang="en-US" altLang="zh-CN" sz="1800" kern="1200" baseline="0" dirty="0" smtClean="0">
                          <a:solidFill>
                            <a:schemeClr val="dk1"/>
                          </a:solidFill>
                          <a:latin typeface="+mn-lt"/>
                          <a:ea typeface="+mn-ea"/>
                          <a:cs typeface="+mn-cs"/>
                        </a:rPr>
                        <a:t>)</a:t>
                      </a:r>
                      <a:endParaRPr lang="zh-CN" altLang="en-US" sz="1800" dirty="0"/>
                    </a:p>
                  </a:txBody>
                  <a:tcPr marL="91444" marR="91444" marT="45735" marB="45735" anchor="ctr"/>
                </a:tc>
                <a:extLst>
                  <a:ext uri="{0D108BD9-81ED-4DB2-BD59-A6C34878D82A}">
                    <a16:rowId xmlns:a16="http://schemas.microsoft.com/office/drawing/2014/main" val="10002"/>
                  </a:ext>
                </a:extLst>
              </a:tr>
              <a:tr h="1463524">
                <a:tc>
                  <a:txBody>
                    <a:bodyPr/>
                    <a:lstStyle/>
                    <a:p>
                      <a:r>
                        <a:rPr lang="zh-CN" altLang="en-US" sz="1800" kern="1200" baseline="0" dirty="0" smtClean="0">
                          <a:solidFill>
                            <a:schemeClr val="dk1"/>
                          </a:solidFill>
                          <a:latin typeface="+mn-lt"/>
                          <a:ea typeface="+mn-ea"/>
                          <a:cs typeface="+mn-cs"/>
                        </a:rPr>
                        <a:t>完全的逻辑抽象</a:t>
                      </a:r>
                      <a:endParaRPr lang="zh-CN" altLang="en-US" sz="1800" dirty="0"/>
                    </a:p>
                  </a:txBody>
                  <a:tcPr marL="91444" marR="91444" marT="45735" marB="45735" anchor="ctr"/>
                </a:tc>
                <a:tc>
                  <a:txBody>
                    <a:bodyPr/>
                    <a:lstStyle/>
                    <a:p>
                      <a:r>
                        <a:rPr lang="zh-CN" altLang="en-US" sz="1800" kern="1200" baseline="0" dirty="0" smtClean="0">
                          <a:solidFill>
                            <a:schemeClr val="dk1"/>
                          </a:solidFill>
                          <a:latin typeface="+mn-lt"/>
                          <a:ea typeface="+mn-ea"/>
                          <a:cs typeface="+mn-cs"/>
                        </a:rPr>
                        <a:t>可定制的逻辑抽象</a:t>
                      </a:r>
                      <a:endParaRPr lang="zh-CN" altLang="en-US" sz="1800" dirty="0"/>
                    </a:p>
                  </a:txBody>
                  <a:tcPr marL="91444" marR="91444" marT="45735" marB="45735" anchor="ctr"/>
                </a:tc>
                <a:tc>
                  <a:txBody>
                    <a:bodyPr/>
                    <a:lstStyle/>
                    <a:p>
                      <a:r>
                        <a:rPr lang="zh-CN" altLang="en-US" sz="1800" kern="1200" baseline="0" dirty="0" smtClean="0">
                          <a:solidFill>
                            <a:schemeClr val="dk1"/>
                          </a:solidFill>
                          <a:latin typeface="+mn-lt"/>
                          <a:ea typeface="+mn-ea"/>
                          <a:cs typeface="+mn-cs"/>
                        </a:rPr>
                        <a:t>较低到中等的逻辑抽象</a:t>
                      </a:r>
                      <a:endParaRPr lang="en-US" altLang="zh-CN" sz="1800" kern="1200" baseline="0" dirty="0" smtClean="0">
                        <a:solidFill>
                          <a:schemeClr val="dk1"/>
                        </a:solidFill>
                        <a:latin typeface="+mn-lt"/>
                        <a:ea typeface="+mn-ea"/>
                        <a:cs typeface="+mn-cs"/>
                      </a:endParaRPr>
                    </a:p>
                    <a:p>
                      <a:r>
                        <a:rPr lang="en-US" altLang="zh-CN" sz="1800" kern="1200" baseline="0" dirty="0" smtClean="0">
                          <a:solidFill>
                            <a:schemeClr val="dk1"/>
                          </a:solidFill>
                          <a:latin typeface="+mn-lt"/>
                          <a:ea typeface="+mn-ea"/>
                          <a:cs typeface="+mn-cs"/>
                        </a:rPr>
                        <a:t>(</a:t>
                      </a:r>
                      <a:r>
                        <a:rPr lang="zh-CN" altLang="en-US" sz="1800" kern="1200" baseline="0" dirty="0" smtClean="0">
                          <a:solidFill>
                            <a:schemeClr val="dk1"/>
                          </a:solidFill>
                          <a:latin typeface="+mn-lt"/>
                          <a:ea typeface="+mn-ea"/>
                          <a:cs typeface="+mn-cs"/>
                        </a:rPr>
                        <a:t>源代码和</a:t>
                      </a:r>
                      <a:r>
                        <a:rPr lang="zh-CN" altLang="en-US" sz="1800" kern="1200" baseline="0" dirty="0" smtClean="0">
                          <a:solidFill>
                            <a:schemeClr val="dk1"/>
                          </a:solidFill>
                          <a:latin typeface="+mn-lt"/>
                          <a:ea typeface="+mn-ea"/>
                          <a:cs typeface="+mn-cs"/>
                        </a:rPr>
                        <a:t>设计规格经常</a:t>
                      </a:r>
                      <a:r>
                        <a:rPr lang="zh-CN" altLang="en-US" sz="1800" kern="1200" baseline="0" dirty="0" smtClean="0">
                          <a:solidFill>
                            <a:schemeClr val="dk1"/>
                          </a:solidFill>
                          <a:latin typeface="+mn-lt"/>
                          <a:ea typeface="+mn-ea"/>
                          <a:cs typeface="+mn-cs"/>
                        </a:rPr>
                        <a:t>发布在局域网中</a:t>
                      </a:r>
                      <a:r>
                        <a:rPr lang="en-US" altLang="zh-CN" sz="1800" kern="1200" baseline="0" dirty="0" smtClean="0">
                          <a:solidFill>
                            <a:schemeClr val="dk1"/>
                          </a:solidFill>
                          <a:latin typeface="+mn-lt"/>
                          <a:ea typeface="+mn-ea"/>
                          <a:cs typeface="+mn-cs"/>
                        </a:rPr>
                        <a:t>)</a:t>
                      </a:r>
                      <a:endParaRPr lang="zh-CN" altLang="en-US" sz="1800" dirty="0"/>
                    </a:p>
                  </a:txBody>
                  <a:tcPr marL="91444" marR="91444" marT="45735" marB="45735" anchor="ctr"/>
                </a:tc>
                <a:tc>
                  <a:txBody>
                    <a:bodyPr/>
                    <a:lstStyle/>
                    <a:p>
                      <a:r>
                        <a:rPr lang="zh-CN" altLang="en-US" sz="1800" kern="1200" baseline="0" dirty="0" smtClean="0">
                          <a:solidFill>
                            <a:schemeClr val="dk1"/>
                          </a:solidFill>
                          <a:latin typeface="+mn-lt"/>
                          <a:ea typeface="+mn-ea"/>
                          <a:cs typeface="+mn-cs"/>
                        </a:rPr>
                        <a:t>较低的编程逻辑抽象</a:t>
                      </a:r>
                    </a:p>
                    <a:p>
                      <a:r>
                        <a:rPr lang="en-US" altLang="zh-CN" sz="1800" kern="1200" baseline="0" dirty="0" smtClean="0">
                          <a:solidFill>
                            <a:schemeClr val="dk1"/>
                          </a:solidFill>
                          <a:latin typeface="+mn-lt"/>
                          <a:ea typeface="+mn-ea"/>
                          <a:cs typeface="+mn-cs"/>
                        </a:rPr>
                        <a:t>(</a:t>
                      </a:r>
                      <a:r>
                        <a:rPr lang="zh-CN" altLang="en-US" sz="1800" kern="1200" baseline="0" dirty="0" smtClean="0">
                          <a:solidFill>
                            <a:schemeClr val="dk1"/>
                          </a:solidFill>
                          <a:latin typeface="+mn-lt"/>
                          <a:ea typeface="+mn-ea"/>
                          <a:cs typeface="+mn-cs"/>
                        </a:rPr>
                        <a:t>构件被单独编译</a:t>
                      </a:r>
                      <a:r>
                        <a:rPr lang="zh-CN" altLang="en-US" sz="1800" kern="1200" baseline="0" dirty="0" smtClean="0">
                          <a:solidFill>
                            <a:schemeClr val="dk1"/>
                          </a:solidFill>
                          <a:latin typeface="+mn-lt"/>
                          <a:ea typeface="+mn-ea"/>
                          <a:cs typeface="+mn-cs"/>
                        </a:rPr>
                        <a:t>，但是当复用的机会存在的时候，源代码和</a:t>
                      </a:r>
                      <a:r>
                        <a:rPr lang="zh-CN" altLang="en-US" sz="1800" kern="1200" baseline="0" dirty="0" smtClean="0">
                          <a:solidFill>
                            <a:schemeClr val="dk1"/>
                          </a:solidFill>
                          <a:latin typeface="+mn-lt"/>
                          <a:ea typeface="+mn-ea"/>
                          <a:cs typeface="+mn-cs"/>
                        </a:rPr>
                        <a:t>设计规格更</a:t>
                      </a:r>
                      <a:r>
                        <a:rPr lang="zh-CN" altLang="en-US" sz="1800" kern="1200" baseline="0" dirty="0" smtClean="0">
                          <a:solidFill>
                            <a:schemeClr val="dk1"/>
                          </a:solidFill>
                          <a:latin typeface="+mn-lt"/>
                          <a:ea typeface="+mn-ea"/>
                          <a:cs typeface="+mn-cs"/>
                        </a:rPr>
                        <a:t>被关心</a:t>
                      </a:r>
                      <a:r>
                        <a:rPr lang="en-US" altLang="zh-CN" sz="1800" kern="1200" baseline="0" dirty="0" smtClean="0">
                          <a:solidFill>
                            <a:schemeClr val="dk1"/>
                          </a:solidFill>
                          <a:latin typeface="+mn-lt"/>
                          <a:ea typeface="+mn-ea"/>
                          <a:cs typeface="+mn-cs"/>
                        </a:rPr>
                        <a:t>)</a:t>
                      </a:r>
                      <a:endParaRPr lang="zh-CN" altLang="en-US" sz="1800" dirty="0"/>
                    </a:p>
                  </a:txBody>
                  <a:tcPr marL="91444" marR="91444" marT="45735" marB="45735" anchor="ctr"/>
                </a:tc>
                <a:extLst>
                  <a:ext uri="{0D108BD9-81ED-4DB2-BD59-A6C34878D82A}">
                    <a16:rowId xmlns:a16="http://schemas.microsoft.com/office/drawing/2014/main" val="10003"/>
                  </a:ext>
                </a:extLst>
              </a:tr>
              <a:tr h="914702">
                <a:tc>
                  <a:txBody>
                    <a:bodyPr/>
                    <a:lstStyle/>
                    <a:p>
                      <a:r>
                        <a:rPr lang="zh-CN" altLang="en-US" sz="1800" kern="1200" baseline="0" dirty="0" smtClean="0">
                          <a:solidFill>
                            <a:schemeClr val="dk1"/>
                          </a:solidFill>
                          <a:latin typeface="+mn-lt"/>
                          <a:ea typeface="+mn-ea"/>
                          <a:cs typeface="+mn-cs"/>
                        </a:rPr>
                        <a:t>较强的服务质量抽象</a:t>
                      </a:r>
                      <a:endParaRPr lang="zh-CN" altLang="en-US" sz="1800" dirty="0"/>
                    </a:p>
                  </a:txBody>
                  <a:tcPr marL="91444" marR="91444" marT="45735" marB="45735" anchor="ctr"/>
                </a:tc>
                <a:tc>
                  <a:txBody>
                    <a:bodyPr/>
                    <a:lstStyle/>
                    <a:p>
                      <a:r>
                        <a:rPr lang="zh-CN" altLang="en-US" sz="1800" kern="1200" baseline="0" dirty="0" smtClean="0">
                          <a:solidFill>
                            <a:schemeClr val="dk1"/>
                          </a:solidFill>
                          <a:latin typeface="+mn-lt"/>
                          <a:ea typeface="+mn-ea"/>
                          <a:cs typeface="+mn-cs"/>
                        </a:rPr>
                        <a:t>没有服务质量抽象</a:t>
                      </a:r>
                      <a:endParaRPr lang="zh-CN" altLang="en-US" sz="1800" dirty="0"/>
                    </a:p>
                  </a:txBody>
                  <a:tcPr marL="91444" marR="91444" marT="45735" marB="45735" anchor="ctr"/>
                </a:tc>
                <a:tc>
                  <a:txBody>
                    <a:bodyPr/>
                    <a:lstStyle/>
                    <a:p>
                      <a:r>
                        <a:rPr lang="zh-CN" altLang="en-US" sz="1800" kern="1200" baseline="0" dirty="0" smtClean="0">
                          <a:solidFill>
                            <a:schemeClr val="dk1"/>
                          </a:solidFill>
                          <a:latin typeface="+mn-lt"/>
                          <a:ea typeface="+mn-ea"/>
                          <a:cs typeface="+mn-cs"/>
                        </a:rPr>
                        <a:t>较低的服务质量抽象</a:t>
                      </a:r>
                      <a:endParaRPr lang="en-US" altLang="zh-CN" sz="1800" kern="1200" baseline="0" dirty="0" smtClean="0">
                        <a:solidFill>
                          <a:schemeClr val="dk1"/>
                        </a:solidFill>
                        <a:latin typeface="+mn-lt"/>
                        <a:ea typeface="+mn-ea"/>
                        <a:cs typeface="+mn-cs"/>
                      </a:endParaRPr>
                    </a:p>
                    <a:p>
                      <a:r>
                        <a:rPr lang="en-US" altLang="zh-CN" sz="1800" kern="1200" baseline="0" dirty="0" smtClean="0">
                          <a:solidFill>
                            <a:schemeClr val="dk1"/>
                          </a:solidFill>
                          <a:latin typeface="+mn-lt"/>
                          <a:ea typeface="+mn-ea"/>
                          <a:cs typeface="+mn-cs"/>
                        </a:rPr>
                        <a:t>(</a:t>
                      </a:r>
                      <a:r>
                        <a:rPr lang="zh-CN" altLang="en-US" sz="1800" kern="1200" baseline="0" dirty="0" smtClean="0">
                          <a:solidFill>
                            <a:schemeClr val="dk1"/>
                          </a:solidFill>
                          <a:latin typeface="+mn-lt"/>
                          <a:ea typeface="+mn-ea"/>
                          <a:cs typeface="+mn-cs"/>
                        </a:rPr>
                        <a:t>众所周知的运行</a:t>
                      </a:r>
                      <a:r>
                        <a:rPr lang="zh-CN" altLang="en-US" sz="1800" kern="1200" baseline="0" dirty="0" smtClean="0">
                          <a:solidFill>
                            <a:schemeClr val="dk1"/>
                          </a:solidFill>
                          <a:latin typeface="+mn-lt"/>
                          <a:ea typeface="+mn-ea"/>
                          <a:cs typeface="+mn-cs"/>
                        </a:rPr>
                        <a:t>时行为和</a:t>
                      </a:r>
                      <a:r>
                        <a:rPr lang="zh-CN" altLang="en-US" sz="1800" kern="1200" baseline="0" dirty="0" smtClean="0">
                          <a:solidFill>
                            <a:schemeClr val="dk1"/>
                          </a:solidFill>
                          <a:latin typeface="+mn-lt"/>
                          <a:ea typeface="+mn-ea"/>
                          <a:cs typeface="+mn-cs"/>
                        </a:rPr>
                        <a:t>策略</a:t>
                      </a:r>
                      <a:r>
                        <a:rPr lang="en-US" altLang="zh-CN" sz="1800" kern="1200" baseline="0" dirty="0" smtClean="0">
                          <a:solidFill>
                            <a:schemeClr val="dk1"/>
                          </a:solidFill>
                          <a:latin typeface="+mn-lt"/>
                          <a:ea typeface="+mn-ea"/>
                          <a:cs typeface="+mn-cs"/>
                        </a:rPr>
                        <a:t>)</a:t>
                      </a:r>
                      <a:endParaRPr lang="zh-CN" altLang="en-US" sz="1800" dirty="0"/>
                    </a:p>
                  </a:txBody>
                  <a:tcPr marL="91444" marR="91444" marT="45735" marB="45735"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kern="1200" baseline="0" dirty="0" smtClean="0">
                          <a:solidFill>
                            <a:schemeClr val="dk1"/>
                          </a:solidFill>
                          <a:latin typeface="+mn-lt"/>
                          <a:ea typeface="+mn-ea"/>
                          <a:cs typeface="+mn-cs"/>
                        </a:rPr>
                        <a:t>较低的服务质量抽象</a:t>
                      </a:r>
                      <a:endParaRPr lang="en-US" altLang="zh-CN" sz="1800" kern="1200" baseline="0" dirty="0" smtClean="0">
                        <a:solidFill>
                          <a:schemeClr val="dk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800" kern="1200" baseline="0" dirty="0" smtClean="0">
                          <a:solidFill>
                            <a:schemeClr val="dk1"/>
                          </a:solidFill>
                          <a:latin typeface="+mn-lt"/>
                          <a:ea typeface="+mn-ea"/>
                          <a:cs typeface="+mn-cs"/>
                        </a:rPr>
                        <a:t>(</a:t>
                      </a:r>
                      <a:r>
                        <a:rPr lang="zh-CN" altLang="en-US" sz="1800" kern="1200" baseline="0" dirty="0" smtClean="0">
                          <a:solidFill>
                            <a:schemeClr val="dk1"/>
                          </a:solidFill>
                          <a:latin typeface="+mn-lt"/>
                          <a:ea typeface="+mn-ea"/>
                          <a:cs typeface="+mn-cs"/>
                        </a:rPr>
                        <a:t>众所周知的运行</a:t>
                      </a:r>
                      <a:r>
                        <a:rPr lang="zh-CN" altLang="en-US" sz="1800" kern="1200" baseline="0" dirty="0" smtClean="0">
                          <a:solidFill>
                            <a:schemeClr val="dk1"/>
                          </a:solidFill>
                          <a:latin typeface="+mn-lt"/>
                          <a:ea typeface="+mn-ea"/>
                          <a:cs typeface="+mn-cs"/>
                        </a:rPr>
                        <a:t>时行为和</a:t>
                      </a:r>
                      <a:r>
                        <a:rPr lang="zh-CN" altLang="en-US" sz="1800" kern="1200" baseline="0" dirty="0" smtClean="0">
                          <a:solidFill>
                            <a:schemeClr val="dk1"/>
                          </a:solidFill>
                          <a:latin typeface="+mn-lt"/>
                          <a:ea typeface="+mn-ea"/>
                          <a:cs typeface="+mn-cs"/>
                        </a:rPr>
                        <a:t>策略</a:t>
                      </a:r>
                      <a:r>
                        <a:rPr lang="en-US" altLang="zh-CN" sz="1800" kern="1200" baseline="0" dirty="0" smtClean="0">
                          <a:solidFill>
                            <a:schemeClr val="dk1"/>
                          </a:solidFill>
                          <a:latin typeface="+mn-lt"/>
                          <a:ea typeface="+mn-ea"/>
                          <a:cs typeface="+mn-cs"/>
                        </a:rPr>
                        <a:t>)</a:t>
                      </a:r>
                      <a:endParaRPr lang="zh-CN" altLang="en-US" sz="1800" dirty="0" smtClean="0"/>
                    </a:p>
                  </a:txBody>
                  <a:tcPr marL="91444" marR="91444" marT="45735" marB="45735" anchor="ctr"/>
                </a:tc>
                <a:extLst>
                  <a:ext uri="{0D108BD9-81ED-4DB2-BD59-A6C34878D82A}">
                    <a16:rowId xmlns:a16="http://schemas.microsoft.com/office/drawing/2014/main" val="10004"/>
                  </a:ext>
                </a:extLst>
              </a:tr>
            </a:tbl>
          </a:graphicData>
        </a:graphic>
      </p:graphicFrame>
      <p:sp>
        <p:nvSpPr>
          <p:cNvPr id="19491" name="灯片编号占位符 4"/>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9FF98B1A-50E1-4949-856E-048A296E1681}" type="slidenum">
              <a:rPr lang="en-US" altLang="zh-CN" smtClean="0"/>
              <a:pPr/>
              <a:t>14</a:t>
            </a:fld>
            <a:endParaRPr lang="en-US" altLang="zh-CN"/>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文本占位符 6"/>
          <p:cNvSpPr>
            <a:spLocks noGrp="1"/>
          </p:cNvSpPr>
          <p:nvPr>
            <p:ph type="body" idx="1"/>
          </p:nvPr>
        </p:nvSpPr>
        <p:spPr/>
        <p:txBody>
          <a:bodyPr/>
          <a:lstStyle/>
          <a:p>
            <a:r>
              <a:rPr lang="zh-CN" altLang="en-US" dirty="0" smtClean="0"/>
              <a:t>分布式应用程序（</a:t>
            </a:r>
            <a:r>
              <a:rPr lang="en-US" altLang="zh-CN" dirty="0" smtClean="0"/>
              <a:t>WS</a:t>
            </a:r>
            <a:r>
              <a:rPr lang="zh-CN" altLang="en-US" dirty="0" smtClean="0"/>
              <a:t>）</a:t>
            </a:r>
            <a:endParaRPr lang="en-US" altLang="zh-CN" dirty="0" smtClean="0"/>
          </a:p>
        </p:txBody>
      </p:sp>
      <p:sp>
        <p:nvSpPr>
          <p:cNvPr id="3" name="内容占位符 2"/>
          <p:cNvSpPr>
            <a:spLocks noGrp="1"/>
          </p:cNvSpPr>
          <p:nvPr>
            <p:ph sz="half" idx="2"/>
          </p:nvPr>
        </p:nvSpPr>
        <p:spPr/>
        <p:txBody>
          <a:bodyPr>
            <a:normAutofit fontScale="85000" lnSpcReduction="20000"/>
          </a:bodyPr>
          <a:lstStyle/>
          <a:p>
            <a:pPr>
              <a:lnSpc>
                <a:spcPct val="110000"/>
              </a:lnSpc>
            </a:pPr>
            <a:r>
              <a:rPr lang="zh-CN" altLang="en-US" dirty="0" smtClean="0"/>
              <a:t>提高的技术抽象潜力</a:t>
            </a:r>
            <a:r>
              <a:rPr lang="en-US" altLang="zh-CN" dirty="0" smtClean="0"/>
              <a:t>(Web </a:t>
            </a:r>
            <a:r>
              <a:rPr lang="en-US" altLang="zh-CN" dirty="0" smtClean="0"/>
              <a:t>Services </a:t>
            </a:r>
            <a:r>
              <a:rPr lang="zh-CN" altLang="en-US" dirty="0" smtClean="0"/>
              <a:t>从</a:t>
            </a:r>
            <a:r>
              <a:rPr lang="zh-CN" altLang="en-US" dirty="0" smtClean="0"/>
              <a:t>技术细节中除去了专用信息</a:t>
            </a:r>
            <a:r>
              <a:rPr lang="en-US" altLang="zh-CN" dirty="0" smtClean="0"/>
              <a:t>)</a:t>
            </a:r>
          </a:p>
          <a:p>
            <a:pPr>
              <a:lnSpc>
                <a:spcPct val="110000"/>
              </a:lnSpc>
            </a:pPr>
            <a:r>
              <a:rPr lang="zh-CN" altLang="en-US" dirty="0" smtClean="0"/>
              <a:t>提高的功能抽象潜力</a:t>
            </a:r>
            <a:r>
              <a:rPr lang="en-US" altLang="zh-CN" dirty="0" smtClean="0"/>
              <a:t>(</a:t>
            </a:r>
            <a:r>
              <a:rPr lang="zh-CN" altLang="en-US" dirty="0" smtClean="0"/>
              <a:t>通过消除对专用通信技术的依赖</a:t>
            </a:r>
            <a:r>
              <a:rPr lang="zh-CN" altLang="en-US" dirty="0"/>
              <a:t>，增加复用</a:t>
            </a:r>
            <a:r>
              <a:rPr lang="zh-CN" altLang="en-US" dirty="0" smtClean="0"/>
              <a:t>的</a:t>
            </a:r>
            <a:r>
              <a:rPr lang="zh-CN" altLang="en-US" dirty="0" smtClean="0"/>
              <a:t>潜力，</a:t>
            </a:r>
            <a:r>
              <a:rPr lang="zh-CN" altLang="en-US" dirty="0" smtClean="0"/>
              <a:t>使发布的技术接口更稳定、更持久</a:t>
            </a:r>
            <a:r>
              <a:rPr lang="en-US" altLang="zh-CN" dirty="0" smtClean="0"/>
              <a:t>)</a:t>
            </a:r>
          </a:p>
          <a:p>
            <a:pPr>
              <a:lnSpc>
                <a:spcPct val="110000"/>
              </a:lnSpc>
            </a:pPr>
            <a:r>
              <a:rPr lang="zh-CN" altLang="en-US" dirty="0" smtClean="0"/>
              <a:t>中等的编程逻辑抽象</a:t>
            </a:r>
            <a:r>
              <a:rPr lang="en-US" altLang="zh-CN" dirty="0" smtClean="0"/>
              <a:t>(</a:t>
            </a:r>
            <a:r>
              <a:rPr lang="zh-CN" altLang="en-US" dirty="0" smtClean="0"/>
              <a:t>源代码和</a:t>
            </a:r>
            <a:r>
              <a:rPr lang="zh-CN" altLang="en-US" dirty="0" smtClean="0"/>
              <a:t>设计</a:t>
            </a:r>
            <a:r>
              <a:rPr lang="zh-CN" altLang="en-US" dirty="0"/>
              <a:t>规范</a:t>
            </a:r>
            <a:r>
              <a:rPr lang="zh-CN" altLang="en-US" dirty="0" smtClean="0"/>
              <a:t>在</a:t>
            </a:r>
            <a:r>
              <a:rPr lang="zh-CN" altLang="en-US" dirty="0" smtClean="0"/>
              <a:t>通常情况下仍然可访问</a:t>
            </a:r>
            <a:r>
              <a:rPr lang="en-US" altLang="zh-CN" dirty="0" smtClean="0"/>
              <a:t>)</a:t>
            </a:r>
          </a:p>
          <a:p>
            <a:pPr>
              <a:lnSpc>
                <a:spcPct val="110000"/>
              </a:lnSpc>
            </a:pPr>
            <a:r>
              <a:rPr lang="zh-CN" altLang="en-US" dirty="0" smtClean="0"/>
              <a:t>较低的服务质量抽象</a:t>
            </a:r>
            <a:r>
              <a:rPr lang="en-US" altLang="zh-CN" dirty="0" smtClean="0"/>
              <a:t>(SLA </a:t>
            </a:r>
            <a:r>
              <a:rPr lang="zh-CN" altLang="en-US" dirty="0" smtClean="0"/>
              <a:t>往往详细、公开地记录</a:t>
            </a:r>
            <a:r>
              <a:rPr lang="en-US" altLang="zh-CN" dirty="0" smtClean="0"/>
              <a:t>Web </a:t>
            </a:r>
            <a:r>
              <a:rPr lang="en-US" altLang="zh-CN" dirty="0" smtClean="0"/>
              <a:t>Services </a:t>
            </a:r>
            <a:r>
              <a:rPr lang="zh-CN" altLang="en-US" dirty="0" smtClean="0"/>
              <a:t>的行为和限制）</a:t>
            </a:r>
            <a:endParaRPr lang="en-US" altLang="zh-CN" dirty="0" smtClean="0"/>
          </a:p>
        </p:txBody>
      </p:sp>
      <p:sp>
        <p:nvSpPr>
          <p:cNvPr id="20484" name="文本占位符 7"/>
          <p:cNvSpPr>
            <a:spLocks noGrp="1"/>
          </p:cNvSpPr>
          <p:nvPr>
            <p:ph type="body" sz="quarter" idx="3"/>
          </p:nvPr>
        </p:nvSpPr>
        <p:spPr/>
        <p:txBody>
          <a:bodyPr/>
          <a:lstStyle/>
          <a:p>
            <a:r>
              <a:rPr lang="zh-CN" altLang="en-US" smtClean="0"/>
              <a:t>面向服务解决方案</a:t>
            </a:r>
            <a:endParaRPr lang="en-US" altLang="zh-CN" smtClean="0"/>
          </a:p>
        </p:txBody>
      </p:sp>
      <p:sp>
        <p:nvSpPr>
          <p:cNvPr id="20485" name="内容占位符 8"/>
          <p:cNvSpPr>
            <a:spLocks noGrp="1"/>
          </p:cNvSpPr>
          <p:nvPr>
            <p:ph sz="quarter" idx="4"/>
          </p:nvPr>
        </p:nvSpPr>
        <p:spPr/>
        <p:txBody>
          <a:bodyPr>
            <a:normAutofit/>
          </a:bodyPr>
          <a:lstStyle/>
          <a:p>
            <a:r>
              <a:rPr lang="zh-CN" altLang="en-US" sz="2000" dirty="0" smtClean="0"/>
              <a:t>较高的技术抽象</a:t>
            </a:r>
            <a:r>
              <a:rPr lang="en-US" altLang="zh-CN" sz="2000" dirty="0" smtClean="0"/>
              <a:t/>
            </a:r>
            <a:br>
              <a:rPr lang="en-US" altLang="zh-CN" sz="2000" dirty="0" smtClean="0"/>
            </a:br>
            <a:r>
              <a:rPr lang="en-US" altLang="zh-CN" sz="2000" dirty="0" smtClean="0"/>
              <a:t>(</a:t>
            </a:r>
            <a:r>
              <a:rPr lang="zh-CN" altLang="en-US" sz="2000" dirty="0" smtClean="0"/>
              <a:t>专用的技术细节被故意隐藏</a:t>
            </a:r>
            <a:r>
              <a:rPr lang="en-US" altLang="zh-CN" sz="2000" dirty="0" smtClean="0"/>
              <a:t>)</a:t>
            </a:r>
          </a:p>
          <a:p>
            <a:r>
              <a:rPr lang="zh-CN" altLang="en-US" sz="2000" dirty="0" smtClean="0"/>
              <a:t>改进的功能抽象</a:t>
            </a:r>
            <a:r>
              <a:rPr lang="en-US" altLang="zh-CN" sz="2000" dirty="0" smtClean="0"/>
              <a:t/>
            </a:r>
            <a:br>
              <a:rPr lang="en-US" altLang="zh-CN" sz="2000" dirty="0" smtClean="0"/>
            </a:br>
            <a:r>
              <a:rPr lang="en-US" altLang="zh-CN" sz="2000" dirty="0" smtClean="0"/>
              <a:t>(</a:t>
            </a:r>
            <a:r>
              <a:rPr lang="zh-CN" altLang="en-US" sz="2000" dirty="0" smtClean="0"/>
              <a:t>服务合约被认真设计，用来刚好表达正确数量的功能</a:t>
            </a:r>
            <a:r>
              <a:rPr lang="en-US" altLang="zh-CN" sz="2000" dirty="0" smtClean="0"/>
              <a:t>)</a:t>
            </a:r>
          </a:p>
          <a:p>
            <a:r>
              <a:rPr lang="zh-CN" altLang="en-US" sz="2000" dirty="0" smtClean="0"/>
              <a:t>较高的编程逻辑抽象</a:t>
            </a:r>
            <a:r>
              <a:rPr lang="en-US" altLang="zh-CN" sz="2000" dirty="0" smtClean="0"/>
              <a:t/>
            </a:r>
            <a:br>
              <a:rPr lang="en-US" altLang="zh-CN" sz="2000" dirty="0" smtClean="0"/>
            </a:br>
            <a:r>
              <a:rPr lang="en-US" altLang="zh-CN" sz="2000" dirty="0" smtClean="0"/>
              <a:t>(</a:t>
            </a:r>
            <a:r>
              <a:rPr lang="zh-CN" altLang="en-US" sz="2000" dirty="0" smtClean="0"/>
              <a:t>底层的服务逻辑细节被故意隐藏</a:t>
            </a:r>
            <a:r>
              <a:rPr lang="en-US" altLang="zh-CN" sz="2000" dirty="0" smtClean="0"/>
              <a:t>)</a:t>
            </a:r>
          </a:p>
          <a:p>
            <a:r>
              <a:rPr lang="zh-CN" altLang="en-US" sz="2000" dirty="0" smtClean="0"/>
              <a:t>有目标的服务质量抽象</a:t>
            </a:r>
            <a:r>
              <a:rPr lang="en-US" altLang="zh-CN" sz="2000" dirty="0" smtClean="0"/>
              <a:t/>
            </a:r>
            <a:br>
              <a:rPr lang="en-US" altLang="zh-CN" sz="2000" dirty="0" smtClean="0"/>
            </a:br>
            <a:r>
              <a:rPr lang="en-US" altLang="zh-CN" sz="2000" dirty="0" smtClean="0"/>
              <a:t>(</a:t>
            </a:r>
            <a:r>
              <a:rPr lang="zh-CN" altLang="en-US" sz="2000" dirty="0" smtClean="0"/>
              <a:t>无关服务尤其需要</a:t>
            </a:r>
            <a:r>
              <a:rPr lang="zh-CN" altLang="en-US" sz="2000" dirty="0" smtClean="0"/>
              <a:t>发布经过挑选的详细信息</a:t>
            </a:r>
            <a:r>
              <a:rPr lang="en-US" altLang="zh-CN" sz="2000" dirty="0" smtClean="0"/>
              <a:t>)</a:t>
            </a:r>
            <a:endParaRPr lang="zh-CN" altLang="en-US" sz="2000" dirty="0" smtClean="0"/>
          </a:p>
        </p:txBody>
      </p:sp>
      <p:sp>
        <p:nvSpPr>
          <p:cNvPr id="20487" name="标题 1"/>
          <p:cNvSpPr>
            <a:spLocks noGrp="1"/>
          </p:cNvSpPr>
          <p:nvPr>
            <p:ph type="title"/>
          </p:nvPr>
        </p:nvSpPr>
        <p:spPr/>
        <p:txBody>
          <a:bodyPr/>
          <a:lstStyle/>
          <a:p>
            <a:r>
              <a:rPr lang="zh-CN" altLang="en-US" dirty="0" smtClean="0"/>
              <a:t>元抽象类型的实现（</a:t>
            </a:r>
            <a:r>
              <a:rPr lang="en-US" altLang="zh-CN" dirty="0" smtClean="0"/>
              <a:t>2/2</a:t>
            </a:r>
            <a:r>
              <a:rPr lang="zh-CN" altLang="en-US" dirty="0" smtClean="0"/>
              <a:t>）</a:t>
            </a:r>
          </a:p>
        </p:txBody>
      </p:sp>
      <p:sp>
        <p:nvSpPr>
          <p:cNvPr id="2048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7AE20D17-5BFE-49A5-94D7-5E9F30C0D9CC}" type="slidenum">
              <a:rPr lang="en-US" altLang="zh-CN" smtClean="0"/>
              <a:pPr/>
              <a:t>15</a:t>
            </a:fld>
            <a:endParaRPr lang="en-US" altLang="zh-CN"/>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标题 1"/>
          <p:cNvSpPr>
            <a:spLocks noGrp="1"/>
          </p:cNvSpPr>
          <p:nvPr>
            <p:ph type="title"/>
          </p:nvPr>
        </p:nvSpPr>
        <p:spPr/>
        <p:txBody>
          <a:bodyPr/>
          <a:lstStyle/>
          <a:p>
            <a:r>
              <a:rPr lang="zh-CN" altLang="en-US" smtClean="0"/>
              <a:t>服务抽象度量</a:t>
            </a:r>
          </a:p>
        </p:txBody>
      </p:sp>
      <p:sp>
        <p:nvSpPr>
          <p:cNvPr id="6" name="内容占位符 5"/>
          <p:cNvSpPr>
            <a:spLocks noGrp="1"/>
          </p:cNvSpPr>
          <p:nvPr>
            <p:ph idx="1"/>
          </p:nvPr>
        </p:nvSpPr>
        <p:spPr/>
        <p:txBody>
          <a:bodyPr>
            <a:normAutofit fontScale="85000" lnSpcReduction="20000"/>
          </a:bodyPr>
          <a:lstStyle/>
          <a:p>
            <a:pPr>
              <a:lnSpc>
                <a:spcPct val="120000"/>
              </a:lnSpc>
            </a:pPr>
            <a:r>
              <a:rPr lang="zh-CN" altLang="en-US" dirty="0" smtClean="0"/>
              <a:t>合约内容的抽象级别</a:t>
            </a:r>
            <a:endParaRPr lang="en-US" altLang="zh-CN" dirty="0" smtClean="0"/>
          </a:p>
          <a:p>
            <a:pPr lvl="1">
              <a:lnSpc>
                <a:spcPct val="120000"/>
              </a:lnSpc>
            </a:pPr>
            <a:r>
              <a:rPr lang="zh-CN" altLang="en-US" dirty="0" smtClean="0"/>
              <a:t>详细的合约</a:t>
            </a:r>
            <a:endParaRPr lang="en-US" altLang="zh-CN" dirty="0" smtClean="0"/>
          </a:p>
          <a:p>
            <a:pPr lvl="1">
              <a:lnSpc>
                <a:spcPct val="120000"/>
              </a:lnSpc>
            </a:pPr>
            <a:r>
              <a:rPr lang="zh-CN" altLang="en-US" dirty="0" smtClean="0"/>
              <a:t>简明的合约</a:t>
            </a:r>
            <a:endParaRPr lang="en-US" altLang="zh-CN" dirty="0" smtClean="0"/>
          </a:p>
          <a:p>
            <a:pPr lvl="1">
              <a:lnSpc>
                <a:spcPct val="120000"/>
              </a:lnSpc>
            </a:pPr>
            <a:r>
              <a:rPr lang="zh-CN" altLang="en-US" dirty="0" smtClean="0"/>
              <a:t>优化的合约</a:t>
            </a:r>
            <a:endParaRPr lang="en-US" altLang="zh-CN" dirty="0" smtClean="0"/>
          </a:p>
          <a:p>
            <a:pPr lvl="1">
              <a:lnSpc>
                <a:spcPct val="120000"/>
              </a:lnSpc>
            </a:pPr>
            <a:r>
              <a:rPr lang="zh-CN" altLang="en-US" dirty="0" smtClean="0"/>
              <a:t>混合的详细</a:t>
            </a:r>
            <a:r>
              <a:rPr lang="zh-CN" altLang="en-US" dirty="0" smtClean="0"/>
              <a:t>合约（服务能力位于不同的抽象级别）</a:t>
            </a:r>
            <a:endParaRPr lang="en-US" altLang="zh-CN" dirty="0" smtClean="0"/>
          </a:p>
          <a:p>
            <a:pPr>
              <a:lnSpc>
                <a:spcPct val="120000"/>
              </a:lnSpc>
            </a:pPr>
            <a:r>
              <a:rPr lang="zh-CN" altLang="en-US" dirty="0" smtClean="0"/>
              <a:t>访问控制</a:t>
            </a:r>
            <a:r>
              <a:rPr lang="zh-CN" altLang="en-US" dirty="0" smtClean="0"/>
              <a:t>级别（源代码和设计规格）</a:t>
            </a:r>
            <a:endParaRPr lang="en-US" altLang="zh-CN" dirty="0" smtClean="0"/>
          </a:p>
          <a:p>
            <a:pPr lvl="1">
              <a:lnSpc>
                <a:spcPct val="120000"/>
              </a:lnSpc>
            </a:pPr>
            <a:r>
              <a:rPr lang="zh-CN" altLang="en-US" dirty="0" smtClean="0"/>
              <a:t>开放访问</a:t>
            </a:r>
            <a:endParaRPr lang="en-US" altLang="zh-CN" dirty="0" smtClean="0"/>
          </a:p>
          <a:p>
            <a:pPr lvl="1">
              <a:lnSpc>
                <a:spcPct val="120000"/>
              </a:lnSpc>
            </a:pPr>
            <a:r>
              <a:rPr lang="zh-CN" altLang="en-US" dirty="0" smtClean="0"/>
              <a:t>受控访问</a:t>
            </a:r>
            <a:endParaRPr lang="en-US" altLang="zh-CN" dirty="0" smtClean="0"/>
          </a:p>
          <a:p>
            <a:pPr lvl="1">
              <a:lnSpc>
                <a:spcPct val="120000"/>
              </a:lnSpc>
            </a:pPr>
            <a:r>
              <a:rPr lang="zh-CN" altLang="en-US" dirty="0" smtClean="0"/>
              <a:t>不可访问</a:t>
            </a:r>
            <a:endParaRPr lang="en-US" altLang="zh-CN" dirty="0" smtClean="0"/>
          </a:p>
          <a:p>
            <a:pPr>
              <a:lnSpc>
                <a:spcPct val="120000"/>
              </a:lnSpc>
            </a:pPr>
            <a:r>
              <a:rPr lang="zh-CN" altLang="en-US" dirty="0" smtClean="0"/>
              <a:t>抽象级别与服务质量元信息</a:t>
            </a:r>
            <a:endParaRPr lang="en-US" altLang="zh-CN" dirty="0" smtClean="0"/>
          </a:p>
          <a:p>
            <a:pPr lvl="1">
              <a:lnSpc>
                <a:spcPct val="120000"/>
              </a:lnSpc>
            </a:pPr>
            <a:r>
              <a:rPr lang="zh-CN" altLang="en-US" dirty="0" smtClean="0"/>
              <a:t>服务质量元信息也能够适用于抽象级别和访问控制级别</a:t>
            </a:r>
            <a:endParaRPr lang="en-US" altLang="zh-CN" dirty="0" smtClean="0"/>
          </a:p>
        </p:txBody>
      </p:sp>
      <p:sp>
        <p:nvSpPr>
          <p:cNvPr id="21508" name="灯片编号占位符 4"/>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AB662F9-49BE-404C-BEE6-888972E6B6B5}" type="slidenum">
              <a:rPr lang="en-US" altLang="zh-CN" smtClean="0"/>
              <a:pPr/>
              <a:t>16</a:t>
            </a:fld>
            <a:endParaRPr lang="en-US" altLang="zh-CN"/>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zh-CN" altLang="en-US" smtClean="0"/>
              <a:t>服务抽象与服务设计</a:t>
            </a:r>
          </a:p>
        </p:txBody>
      </p:sp>
      <p:sp>
        <p:nvSpPr>
          <p:cNvPr id="21507" name="内容占位符 5"/>
          <p:cNvSpPr>
            <a:spLocks noGrp="1"/>
          </p:cNvSpPr>
          <p:nvPr>
            <p:ph idx="1"/>
          </p:nvPr>
        </p:nvSpPr>
        <p:spPr/>
        <p:txBody>
          <a:bodyPr/>
          <a:lstStyle/>
          <a:p>
            <a:pPr>
              <a:lnSpc>
                <a:spcPct val="150000"/>
              </a:lnSpc>
            </a:pPr>
            <a:r>
              <a:rPr lang="zh-CN" altLang="en-US" dirty="0" smtClean="0"/>
              <a:t>服务抽象 </a:t>
            </a:r>
            <a:r>
              <a:rPr lang="en-US" altLang="zh-CN" dirty="0" smtClean="0"/>
              <a:t>VS. </a:t>
            </a:r>
            <a:r>
              <a:rPr lang="zh-CN" altLang="en-US" dirty="0" smtClean="0"/>
              <a:t>服务封装</a:t>
            </a:r>
            <a:endParaRPr lang="en-US" altLang="zh-CN" dirty="0" smtClean="0"/>
          </a:p>
          <a:p>
            <a:pPr>
              <a:lnSpc>
                <a:spcPct val="150000"/>
              </a:lnSpc>
            </a:pPr>
            <a:r>
              <a:rPr lang="zh-CN" altLang="en-US" dirty="0" smtClean="0"/>
              <a:t>封装如何影晌抽象</a:t>
            </a:r>
            <a:endParaRPr lang="en-US" altLang="zh-CN" dirty="0" smtClean="0"/>
          </a:p>
          <a:p>
            <a:pPr lvl="1">
              <a:lnSpc>
                <a:spcPct val="150000"/>
              </a:lnSpc>
            </a:pPr>
            <a:r>
              <a:rPr lang="zh-CN" altLang="en-US" dirty="0" smtClean="0"/>
              <a:t>不同的封装方式，带来不同的抽象</a:t>
            </a:r>
            <a:endParaRPr lang="en-US" altLang="zh-CN" dirty="0" smtClean="0"/>
          </a:p>
          <a:p>
            <a:pPr>
              <a:lnSpc>
                <a:spcPct val="150000"/>
              </a:lnSpc>
            </a:pPr>
            <a:r>
              <a:rPr lang="zh-CN" altLang="en-US" dirty="0" smtClean="0"/>
              <a:t>服务抽象与非技术合约文档</a:t>
            </a:r>
            <a:endParaRPr lang="en-US" altLang="zh-CN" dirty="0" smtClean="0"/>
          </a:p>
          <a:p>
            <a:pPr>
              <a:lnSpc>
                <a:spcPct val="150000"/>
              </a:lnSpc>
            </a:pPr>
            <a:r>
              <a:rPr lang="zh-CN" altLang="en-US" dirty="0" smtClean="0"/>
              <a:t>服务抽象与粒度</a:t>
            </a:r>
            <a:endParaRPr lang="en-US" altLang="zh-CN" dirty="0" smtClean="0"/>
          </a:p>
          <a:p>
            <a:pPr>
              <a:lnSpc>
                <a:spcPct val="150000"/>
              </a:lnSpc>
            </a:pPr>
            <a:r>
              <a:rPr lang="zh-CN" altLang="en-US" dirty="0" smtClean="0"/>
              <a:t>服务抽象与服务模型</a:t>
            </a:r>
          </a:p>
        </p:txBody>
      </p:sp>
      <p:sp>
        <p:nvSpPr>
          <p:cNvPr id="22532" name="灯片编号占位符 4"/>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2D0F88A-E628-439E-9FFE-A0821D2AF7A6}" type="slidenum">
              <a:rPr lang="en-US" altLang="zh-CN" smtClean="0"/>
              <a:pPr/>
              <a:t>17</a:t>
            </a:fld>
            <a:endParaRPr lang="en-US" altLang="zh-CN"/>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标题 1"/>
          <p:cNvSpPr>
            <a:spLocks noGrp="1"/>
          </p:cNvSpPr>
          <p:nvPr>
            <p:ph type="title"/>
          </p:nvPr>
        </p:nvSpPr>
        <p:spPr/>
        <p:txBody>
          <a:bodyPr/>
          <a:lstStyle/>
          <a:p>
            <a:r>
              <a:rPr lang="zh-CN" altLang="en-US" smtClean="0"/>
              <a:t>服务抽象 </a:t>
            </a:r>
            <a:r>
              <a:rPr lang="en-US" altLang="zh-CN" smtClean="0"/>
              <a:t>VS. </a:t>
            </a:r>
            <a:r>
              <a:rPr lang="zh-CN" altLang="en-US" smtClean="0"/>
              <a:t>服务封装</a:t>
            </a:r>
          </a:p>
        </p:txBody>
      </p:sp>
      <p:sp>
        <p:nvSpPr>
          <p:cNvPr id="23555" name="内容占位符 5"/>
          <p:cNvSpPr>
            <a:spLocks noGrp="1"/>
          </p:cNvSpPr>
          <p:nvPr>
            <p:ph idx="1"/>
          </p:nvPr>
        </p:nvSpPr>
        <p:spPr/>
        <p:txBody>
          <a:bodyPr>
            <a:normAutofit/>
          </a:bodyPr>
          <a:lstStyle/>
          <a:p>
            <a:r>
              <a:rPr lang="zh-CN" altLang="en-US" dirty="0" smtClean="0"/>
              <a:t>封装是指服务边界内部的逻辑、资源和信息（服务由合约及其所封装的东西组成）</a:t>
            </a:r>
            <a:endParaRPr lang="en-US" altLang="zh-CN" dirty="0" smtClean="0"/>
          </a:p>
          <a:p>
            <a:r>
              <a:rPr lang="zh-CN" altLang="en-US" dirty="0" smtClean="0"/>
              <a:t>抽象指的是服务所封装的内容中，暴露给服务边界之外的消费者程序的部分以及对它们隐藏的部分。抽象决定了封装逻辑中有多少是公开的</a:t>
            </a:r>
            <a:endParaRPr lang="en-US" altLang="zh-CN" dirty="0" smtClean="0"/>
          </a:p>
          <a:p>
            <a:r>
              <a:rPr lang="zh-CN" altLang="en-US" dirty="0" smtClean="0"/>
              <a:t>在良好抽象的服务中，可以改变所封装</a:t>
            </a:r>
            <a:r>
              <a:rPr lang="zh-CN" altLang="en-US" dirty="0" smtClean="0"/>
              <a:t>的内容，</a:t>
            </a:r>
            <a:r>
              <a:rPr lang="zh-CN" altLang="en-US" dirty="0" smtClean="0"/>
              <a:t>而不会影响已经在使用该服务的消费者程序</a:t>
            </a:r>
          </a:p>
        </p:txBody>
      </p:sp>
      <p:sp>
        <p:nvSpPr>
          <p:cNvPr id="23556" name="灯片编号占位符 4"/>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40160636-7ACF-4BBD-A731-4A418DAECC1D}" type="slidenum">
              <a:rPr lang="en-US" altLang="zh-CN" smtClean="0"/>
              <a:pPr/>
              <a:t>18</a:t>
            </a:fld>
            <a:endParaRPr lang="en-US" altLang="zh-CN"/>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p:cNvSpPr>
            <a:spLocks noGrp="1"/>
          </p:cNvSpPr>
          <p:nvPr>
            <p:ph type="title"/>
          </p:nvPr>
        </p:nvSpPr>
        <p:spPr/>
        <p:txBody>
          <a:bodyPr/>
          <a:lstStyle/>
          <a:p>
            <a:r>
              <a:rPr lang="zh-CN" altLang="en-US" dirty="0" smtClean="0"/>
              <a:t>封装如何影晌抽象</a:t>
            </a:r>
          </a:p>
        </p:txBody>
      </p:sp>
      <p:sp>
        <p:nvSpPr>
          <p:cNvPr id="2" name="内容占位符 1"/>
          <p:cNvSpPr>
            <a:spLocks noGrp="1"/>
          </p:cNvSpPr>
          <p:nvPr>
            <p:ph sz="half" idx="1"/>
          </p:nvPr>
        </p:nvSpPr>
        <p:spPr>
          <a:xfrm>
            <a:off x="6012159" y="1343174"/>
            <a:ext cx="2968407" cy="5248275"/>
          </a:xfrm>
        </p:spPr>
        <p:txBody>
          <a:bodyPr anchor="ctr">
            <a:normAutofit/>
          </a:bodyPr>
          <a:lstStyle/>
          <a:p>
            <a:r>
              <a:rPr lang="zh-CN" altLang="en-US" sz="2000" dirty="0"/>
              <a:t>封装遗留环境的服务</a:t>
            </a:r>
            <a:endParaRPr lang="en-US" altLang="zh-CN" sz="2000" dirty="0"/>
          </a:p>
          <a:p>
            <a:pPr lvl="1"/>
            <a:r>
              <a:rPr lang="zh-CN" altLang="en-US" sz="1800" dirty="0"/>
              <a:t>抽象的程度可能需要依靠底层服务适配器和相应的遗留</a:t>
            </a:r>
            <a:r>
              <a:rPr lang="en-US" altLang="zh-CN" sz="1800" dirty="0"/>
              <a:t>API </a:t>
            </a:r>
            <a:r>
              <a:rPr lang="zh-CN" altLang="en-US" sz="1800" dirty="0"/>
              <a:t>来决定</a:t>
            </a:r>
            <a:endParaRPr lang="en-US" altLang="zh-CN" sz="1800" dirty="0"/>
          </a:p>
          <a:p>
            <a:pPr lvl="1"/>
            <a:r>
              <a:rPr lang="zh-CN" altLang="en-US" sz="1800" dirty="0"/>
              <a:t>访问控制可能会很难实现</a:t>
            </a:r>
            <a:endParaRPr lang="en-US" altLang="zh-CN" sz="1800" dirty="0"/>
          </a:p>
          <a:p>
            <a:r>
              <a:rPr lang="zh-CN" altLang="en-US" sz="2000" dirty="0"/>
              <a:t>封装</a:t>
            </a:r>
            <a:r>
              <a:rPr lang="zh-CN" altLang="en-US" sz="2000" dirty="0" smtClean="0"/>
              <a:t>定制组件的</a:t>
            </a:r>
            <a:r>
              <a:rPr lang="zh-CN" altLang="en-US" sz="2000" dirty="0"/>
              <a:t>服务</a:t>
            </a:r>
            <a:endParaRPr lang="en-US" altLang="zh-CN" sz="2000" dirty="0"/>
          </a:p>
          <a:p>
            <a:pPr lvl="1"/>
            <a:r>
              <a:rPr lang="zh-CN" altLang="en-US" sz="1800" dirty="0"/>
              <a:t>拥有定制的能力使得内容和访问抽象级别能够较好的定义</a:t>
            </a:r>
            <a:endParaRPr lang="en-US" altLang="zh-CN" sz="1800" dirty="0"/>
          </a:p>
          <a:p>
            <a:r>
              <a:rPr lang="zh-CN" altLang="en-US" sz="2000" dirty="0"/>
              <a:t>封装了服务的服务</a:t>
            </a:r>
            <a:endParaRPr lang="en-US" altLang="zh-CN" sz="2000" dirty="0"/>
          </a:p>
          <a:p>
            <a:pPr lvl="1"/>
            <a:r>
              <a:rPr lang="zh-CN" altLang="en-US" sz="1800" dirty="0"/>
              <a:t>除服务本身外，所封装的子服务也对内容和访问抽象级别有所</a:t>
            </a:r>
            <a:r>
              <a:rPr lang="zh-CN" altLang="en-US" sz="1800" dirty="0" smtClean="0"/>
              <a:t>影响</a:t>
            </a:r>
            <a:endParaRPr lang="en-US" altLang="zh-CN" sz="1800" dirty="0"/>
          </a:p>
        </p:txBody>
      </p:sp>
      <p:sp>
        <p:nvSpPr>
          <p:cNvPr id="24579"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E61E98C2-BDE5-4F91-B867-8C4CFCFD9C63}" type="slidenum">
              <a:rPr lang="en-US" altLang="zh-CN" smtClean="0"/>
              <a:pPr/>
              <a:t>19</a:t>
            </a:fld>
            <a:endParaRPr lang="en-US" altLang="zh-CN"/>
          </a:p>
        </p:txBody>
      </p:sp>
      <p:pic>
        <p:nvPicPr>
          <p:cNvPr id="5" name="图片 4"/>
          <p:cNvPicPr>
            <a:picLocks noChangeAspect="1"/>
          </p:cNvPicPr>
          <p:nvPr/>
        </p:nvPicPr>
        <p:blipFill>
          <a:blip r:embed="rId3"/>
          <a:stretch>
            <a:fillRect/>
          </a:stretch>
        </p:blipFill>
        <p:spPr>
          <a:xfrm>
            <a:off x="16078" y="1152825"/>
            <a:ext cx="5996081" cy="5628975"/>
          </a:xfrm>
          <a:prstGeom prst="rect">
            <a:avLst/>
          </a:prstGeom>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r>
              <a:rPr lang="zh-CN" altLang="en-US" smtClean="0"/>
              <a:t>服务抽象与非技术合约文档</a:t>
            </a:r>
          </a:p>
        </p:txBody>
      </p:sp>
      <p:sp>
        <p:nvSpPr>
          <p:cNvPr id="26627" name="内容占位符 2"/>
          <p:cNvSpPr>
            <a:spLocks noGrp="1"/>
          </p:cNvSpPr>
          <p:nvPr>
            <p:ph idx="1"/>
          </p:nvPr>
        </p:nvSpPr>
        <p:spPr/>
        <p:txBody>
          <a:bodyPr/>
          <a:lstStyle/>
          <a:p>
            <a:r>
              <a:rPr lang="zh-CN" altLang="en-US" dirty="0" smtClean="0"/>
              <a:t>除技术服务合约</a:t>
            </a:r>
            <a:r>
              <a:rPr lang="zh-CN" altLang="en-US" dirty="0"/>
              <a:t>内容、源代码</a:t>
            </a:r>
            <a:r>
              <a:rPr lang="zh-CN" altLang="en-US" dirty="0" smtClean="0"/>
              <a:t>和设计规格的</a:t>
            </a:r>
            <a:r>
              <a:rPr lang="zh-CN" altLang="en-US" dirty="0" smtClean="0"/>
              <a:t>访问以外</a:t>
            </a:r>
            <a:r>
              <a:rPr lang="zh-CN" altLang="en-US" dirty="0" smtClean="0"/>
              <a:t>，还需讨论对非技术合约文档的抽象</a:t>
            </a:r>
            <a:endParaRPr lang="en-US" altLang="zh-CN" dirty="0" smtClean="0"/>
          </a:p>
          <a:p>
            <a:r>
              <a:rPr lang="zh-CN" altLang="en-US" dirty="0" smtClean="0"/>
              <a:t>非技术的服务描述（如</a:t>
            </a:r>
            <a:r>
              <a:rPr lang="en-US" altLang="zh-CN" dirty="0" smtClean="0"/>
              <a:t>SLA</a:t>
            </a:r>
            <a:r>
              <a:rPr lang="zh-CN" altLang="en-US" dirty="0" smtClean="0"/>
              <a:t>）为技术合约增加了额外的规则、约束、策略、保证和担保等，这些文档由服务拥有者建立，并应当被服务消费者程序设计人员所知晓</a:t>
            </a:r>
            <a:endParaRPr lang="en-US" altLang="zh-CN" dirty="0" smtClean="0"/>
          </a:p>
          <a:p>
            <a:r>
              <a:rPr lang="zh-CN" altLang="en-US" dirty="0" smtClean="0"/>
              <a:t>如非技术的服务描述</a:t>
            </a:r>
            <a:r>
              <a:rPr lang="zh-CN" altLang="en-US" dirty="0" smtClean="0"/>
              <a:t>过于详细（</a:t>
            </a:r>
            <a:r>
              <a:rPr lang="zh-CN" altLang="en-US" dirty="0" smtClean="0"/>
              <a:t>依赖于当前实现），也会影响到服务</a:t>
            </a:r>
            <a:r>
              <a:rPr lang="zh-CN" altLang="en-US" dirty="0" smtClean="0"/>
              <a:t>的演化</a:t>
            </a:r>
            <a:endParaRPr lang="zh-CN" altLang="en-US" dirty="0" smtClean="0"/>
          </a:p>
        </p:txBody>
      </p:sp>
      <p:sp>
        <p:nvSpPr>
          <p:cNvPr id="2662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E783752C-29D4-4C10-99FD-E26C68E2BEAD}" type="slidenum">
              <a:rPr lang="en-US" altLang="zh-CN" smtClean="0"/>
              <a:pPr/>
              <a:t>20</a:t>
            </a:fld>
            <a:endParaRPr lang="en-US" altLang="zh-CN"/>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r>
              <a:rPr lang="zh-CN" altLang="en-US" dirty="0" smtClean="0"/>
              <a:t>服务抽象与粒度</a:t>
            </a:r>
          </a:p>
        </p:txBody>
      </p:sp>
      <p:sp>
        <p:nvSpPr>
          <p:cNvPr id="27651" name="内容占位符 5"/>
          <p:cNvSpPr>
            <a:spLocks noGrp="1"/>
          </p:cNvSpPr>
          <p:nvPr>
            <p:ph idx="1"/>
          </p:nvPr>
        </p:nvSpPr>
        <p:spPr/>
        <p:txBody>
          <a:bodyPr/>
          <a:lstStyle/>
          <a:p>
            <a:r>
              <a:rPr lang="zh-CN" altLang="en-US" dirty="0" smtClean="0"/>
              <a:t>服务抽象鼓励发布尽可能少的细节，以便在服务随时间而演化的过程中给服务的拥有者最大的自由度，这将导致粗粒度的约束级别</a:t>
            </a:r>
            <a:endParaRPr lang="en-US" altLang="zh-CN" dirty="0" smtClean="0"/>
          </a:p>
          <a:p>
            <a:r>
              <a:rPr lang="zh-CN" altLang="en-US" dirty="0" smtClean="0"/>
              <a:t>在使用策略 </a:t>
            </a:r>
            <a:r>
              <a:rPr lang="en-US" altLang="zh-CN" dirty="0" smtClean="0"/>
              <a:t>(Policy) </a:t>
            </a:r>
            <a:r>
              <a:rPr lang="zh-CN" altLang="en-US" dirty="0" smtClean="0"/>
              <a:t>时，可能导致暴露服务底层的逻辑、行为和参数选择的细节</a:t>
            </a:r>
            <a:endParaRPr lang="en-US" altLang="zh-CN" dirty="0" smtClean="0"/>
          </a:p>
          <a:p>
            <a:r>
              <a:rPr lang="zh-CN" altLang="en-US" dirty="0" smtClean="0"/>
              <a:t>其他的面向服务</a:t>
            </a:r>
            <a:r>
              <a:rPr lang="zh-CN" altLang="en-US" dirty="0"/>
              <a:t>原则（如服务松散耦合和服务自治），</a:t>
            </a:r>
            <a:r>
              <a:rPr lang="zh-CN" altLang="en-US" dirty="0" smtClean="0"/>
              <a:t>也提倡在服务合约</a:t>
            </a:r>
            <a:r>
              <a:rPr lang="zh-CN" altLang="en-US" dirty="0" smtClean="0"/>
              <a:t>中减少约束</a:t>
            </a:r>
            <a:endParaRPr lang="zh-CN" altLang="en-US" dirty="0" smtClean="0"/>
          </a:p>
        </p:txBody>
      </p:sp>
      <p:sp>
        <p:nvSpPr>
          <p:cNvPr id="27652" name="灯片编号占位符 4"/>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1BB58BDD-3D16-4C5E-BAC4-78B89D8498A7}" type="slidenum">
              <a:rPr lang="en-US" altLang="zh-CN" smtClean="0"/>
              <a:pPr/>
              <a:t>21</a:t>
            </a:fld>
            <a:endParaRPr lang="en-US" altLang="zh-CN"/>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lstStyle/>
          <a:p>
            <a:r>
              <a:rPr lang="zh-CN" altLang="en-US" smtClean="0"/>
              <a:t>服务抽象与服务模型</a:t>
            </a:r>
          </a:p>
        </p:txBody>
      </p:sp>
      <p:sp>
        <p:nvSpPr>
          <p:cNvPr id="27651" name="内容占位符 5"/>
          <p:cNvSpPr>
            <a:spLocks noGrp="1"/>
          </p:cNvSpPr>
          <p:nvPr>
            <p:ph idx="1"/>
          </p:nvPr>
        </p:nvSpPr>
        <p:spPr/>
        <p:txBody>
          <a:bodyPr/>
          <a:lstStyle/>
          <a:p>
            <a:pPr>
              <a:lnSpc>
                <a:spcPct val="150000"/>
              </a:lnSpc>
            </a:pPr>
            <a:r>
              <a:rPr lang="zh-CN" altLang="en-US" dirty="0" smtClean="0"/>
              <a:t>以实体为中心的服务与应用服务</a:t>
            </a:r>
            <a:endParaRPr lang="en-US" altLang="zh-CN" dirty="0" smtClean="0"/>
          </a:p>
          <a:p>
            <a:pPr lvl="1">
              <a:lnSpc>
                <a:spcPct val="150000"/>
              </a:lnSpc>
            </a:pPr>
            <a:r>
              <a:rPr lang="zh-CN" altLang="en-US" dirty="0" smtClean="0"/>
              <a:t>抽象程度往往和所封装的定制逻辑、遗留</a:t>
            </a:r>
            <a:r>
              <a:rPr lang="en-US" altLang="zh-CN" dirty="0" smtClean="0"/>
              <a:t>API</a:t>
            </a:r>
            <a:r>
              <a:rPr lang="zh-CN" altLang="en-US" dirty="0" smtClean="0"/>
              <a:t>等紧密相关</a:t>
            </a:r>
            <a:endParaRPr lang="en-US" altLang="zh-CN" dirty="0" smtClean="0"/>
          </a:p>
          <a:p>
            <a:pPr lvl="1">
              <a:lnSpc>
                <a:spcPct val="150000"/>
              </a:lnSpc>
            </a:pPr>
            <a:r>
              <a:rPr lang="zh-CN" altLang="en-US" dirty="0" smtClean="0"/>
              <a:t>需要严格的访问控制，以确保服务合约的寿命和底层逻辑的可复用性</a:t>
            </a:r>
            <a:endParaRPr lang="en-US" altLang="zh-CN" dirty="0" smtClean="0"/>
          </a:p>
          <a:p>
            <a:pPr>
              <a:lnSpc>
                <a:spcPct val="150000"/>
              </a:lnSpc>
            </a:pPr>
            <a:r>
              <a:rPr lang="zh-CN" altLang="en-US" dirty="0" smtClean="0"/>
              <a:t>任务服务与编排任务服务</a:t>
            </a:r>
            <a:endParaRPr lang="en-US" altLang="zh-CN" dirty="0" smtClean="0"/>
          </a:p>
          <a:p>
            <a:pPr lvl="1">
              <a:lnSpc>
                <a:spcPct val="150000"/>
              </a:lnSpc>
            </a:pPr>
            <a:r>
              <a:rPr lang="zh-CN" altLang="en-US" dirty="0" smtClean="0"/>
              <a:t>无法达成过高的抽象级别</a:t>
            </a:r>
          </a:p>
        </p:txBody>
      </p:sp>
      <p:sp>
        <p:nvSpPr>
          <p:cNvPr id="28676" name="灯片编号占位符 4"/>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A7245B3B-AE7D-4B8C-A165-EA6BC9B576EC}" type="slidenum">
              <a:rPr lang="en-US" altLang="zh-CN" smtClean="0"/>
              <a:pPr/>
              <a:t>22</a:t>
            </a:fld>
            <a:endParaRPr lang="en-US" altLang="zh-CN"/>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zh-CN" altLang="en-US" smtClean="0"/>
              <a:t>服务抽象与其他原则 </a:t>
            </a:r>
            <a:r>
              <a:rPr lang="en-US" altLang="zh-CN" smtClean="0"/>
              <a:t>I</a:t>
            </a:r>
            <a:endParaRPr lang="zh-CN" altLang="en-US" smtClean="0"/>
          </a:p>
        </p:txBody>
      </p:sp>
      <p:sp>
        <p:nvSpPr>
          <p:cNvPr id="29699"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1078B7E1-A180-4273-9C37-B4CC136B6EFB}" type="slidenum">
              <a:rPr lang="en-US" altLang="zh-CN" smtClean="0"/>
              <a:pPr/>
              <a:t>23</a:t>
            </a:fld>
            <a:endParaRPr lang="en-US" altLang="zh-CN"/>
          </a:p>
        </p:txBody>
      </p:sp>
      <p:pic>
        <p:nvPicPr>
          <p:cNvPr id="2" name="图片 1"/>
          <p:cNvPicPr>
            <a:picLocks noChangeAspect="1"/>
          </p:cNvPicPr>
          <p:nvPr/>
        </p:nvPicPr>
        <p:blipFill>
          <a:blip r:embed="rId3"/>
          <a:stretch>
            <a:fillRect/>
          </a:stretch>
        </p:blipFill>
        <p:spPr>
          <a:xfrm>
            <a:off x="414337" y="1049872"/>
            <a:ext cx="8239125" cy="5105400"/>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p:txBody>
          <a:bodyPr/>
          <a:lstStyle/>
          <a:p>
            <a:r>
              <a:rPr lang="zh-CN" altLang="en-US" smtClean="0"/>
              <a:t>服务抽象与其他原则 </a:t>
            </a:r>
            <a:r>
              <a:rPr lang="en-US" altLang="zh-CN" smtClean="0"/>
              <a:t>II</a:t>
            </a:r>
            <a:endParaRPr lang="zh-CN" altLang="en-US" smtClean="0"/>
          </a:p>
        </p:txBody>
      </p:sp>
      <p:sp>
        <p:nvSpPr>
          <p:cNvPr id="29700" name="内容占位符 4"/>
          <p:cNvSpPr>
            <a:spLocks noGrp="1"/>
          </p:cNvSpPr>
          <p:nvPr>
            <p:ph idx="1"/>
          </p:nvPr>
        </p:nvSpPr>
        <p:spPr/>
        <p:txBody>
          <a:bodyPr>
            <a:normAutofit fontScale="70000" lnSpcReduction="20000"/>
          </a:bodyPr>
          <a:lstStyle/>
          <a:p>
            <a:pPr>
              <a:lnSpc>
                <a:spcPct val="120000"/>
              </a:lnSpc>
            </a:pPr>
            <a:r>
              <a:rPr lang="zh-CN" altLang="en-US" dirty="0" smtClean="0"/>
              <a:t>服务抽象与标准化服务合约</a:t>
            </a:r>
            <a:endParaRPr lang="en-US" altLang="zh-CN" dirty="0" smtClean="0"/>
          </a:p>
          <a:p>
            <a:pPr lvl="1">
              <a:lnSpc>
                <a:spcPct val="120000"/>
              </a:lnSpc>
            </a:pPr>
            <a:r>
              <a:rPr lang="zh-CN" altLang="en-US" dirty="0" smtClean="0"/>
              <a:t>服务抽象出来并对外界可用</a:t>
            </a:r>
            <a:r>
              <a:rPr lang="zh-CN" altLang="en-US" dirty="0" smtClean="0"/>
              <a:t>的信息就是</a:t>
            </a:r>
            <a:r>
              <a:rPr lang="zh-CN" altLang="en-US" dirty="0" smtClean="0"/>
              <a:t>服务合约，服务抽象原则的应用影响到服务合约</a:t>
            </a:r>
            <a:endParaRPr lang="en-US" altLang="zh-CN" dirty="0" smtClean="0"/>
          </a:p>
          <a:p>
            <a:pPr lvl="1">
              <a:lnSpc>
                <a:spcPct val="120000"/>
              </a:lnSpc>
            </a:pPr>
            <a:r>
              <a:rPr lang="zh-CN" altLang="en-US" dirty="0" smtClean="0"/>
              <a:t>服务合约的设计标准也会影响到功能、技术和逻辑抽象的等级</a:t>
            </a:r>
            <a:endParaRPr lang="en-US" altLang="zh-CN" dirty="0" smtClean="0"/>
          </a:p>
          <a:p>
            <a:pPr>
              <a:lnSpc>
                <a:spcPct val="120000"/>
              </a:lnSpc>
            </a:pPr>
            <a:r>
              <a:rPr lang="zh-CN" altLang="en-US" dirty="0" smtClean="0"/>
              <a:t>服务抽象与服务松散耦合</a:t>
            </a:r>
            <a:endParaRPr lang="en-US" altLang="zh-CN" dirty="0" smtClean="0"/>
          </a:p>
          <a:p>
            <a:pPr lvl="1">
              <a:lnSpc>
                <a:spcPct val="120000"/>
              </a:lnSpc>
            </a:pPr>
            <a:r>
              <a:rPr lang="zh-CN" altLang="en-US" dirty="0" smtClean="0"/>
              <a:t>抽象的程度对可能耦合的程度有直接的关系</a:t>
            </a:r>
            <a:endParaRPr lang="en-US" altLang="zh-CN" dirty="0" smtClean="0"/>
          </a:p>
          <a:p>
            <a:pPr lvl="1">
              <a:lnSpc>
                <a:spcPct val="120000"/>
              </a:lnSpc>
            </a:pPr>
            <a:r>
              <a:rPr lang="zh-CN" altLang="en-US" dirty="0" smtClean="0"/>
              <a:t>少量的高度详细的技术接口约束会导致比大量含糊或</a:t>
            </a:r>
            <a:r>
              <a:rPr lang="zh-CN" altLang="en-US" dirty="0" smtClean="0"/>
              <a:t>开放的数据约束更多</a:t>
            </a:r>
            <a:r>
              <a:rPr lang="zh-CN" altLang="en-US" dirty="0" smtClean="0"/>
              <a:t>的紧密耦合需求</a:t>
            </a:r>
            <a:endParaRPr lang="en-US" altLang="zh-CN" dirty="0" smtClean="0"/>
          </a:p>
          <a:p>
            <a:pPr lvl="2">
              <a:lnSpc>
                <a:spcPct val="120000"/>
              </a:lnSpc>
            </a:pPr>
            <a:r>
              <a:rPr lang="zh-CN" altLang="en-US" dirty="0" smtClean="0"/>
              <a:t>耦合的程度一般由被抽象的信息数量和信息本身的属性的组合来决定</a:t>
            </a:r>
            <a:endParaRPr lang="en-US" altLang="zh-CN" dirty="0" smtClean="0"/>
          </a:p>
          <a:p>
            <a:pPr lvl="2">
              <a:lnSpc>
                <a:spcPct val="120000"/>
              </a:lnSpc>
            </a:pPr>
            <a:r>
              <a:rPr lang="zh-CN" altLang="en-US" dirty="0" smtClean="0"/>
              <a:t>最终由服务合约的粒度加以体现</a:t>
            </a:r>
            <a:endParaRPr lang="en-US" altLang="zh-CN" dirty="0" smtClean="0"/>
          </a:p>
          <a:p>
            <a:pPr>
              <a:lnSpc>
                <a:spcPct val="120000"/>
              </a:lnSpc>
            </a:pPr>
            <a:r>
              <a:rPr lang="zh-CN" altLang="en-US" dirty="0" smtClean="0"/>
              <a:t>服务抽象与其他原则</a:t>
            </a:r>
            <a:endParaRPr lang="en-US" altLang="zh-CN" dirty="0" smtClean="0"/>
          </a:p>
          <a:p>
            <a:pPr lvl="1">
              <a:lnSpc>
                <a:spcPct val="120000"/>
              </a:lnSpc>
            </a:pPr>
            <a:r>
              <a:rPr lang="zh-CN" altLang="en-US" dirty="0" smtClean="0"/>
              <a:t>其他的服务设计原则，如服务可复用性、服务可组合性和服务可发现性等原则都鼓励创建更多的、关于服务的元信息</a:t>
            </a:r>
            <a:endParaRPr lang="en-US" altLang="zh-CN" dirty="0" smtClean="0"/>
          </a:p>
          <a:p>
            <a:pPr lvl="1">
              <a:lnSpc>
                <a:spcPct val="120000"/>
              </a:lnSpc>
            </a:pPr>
            <a:r>
              <a:rPr lang="zh-CN" altLang="en-US" dirty="0" smtClean="0"/>
              <a:t>而服务的抽象原则要求在发布这些元信息前评估其必要程度</a:t>
            </a:r>
            <a:endParaRPr lang="en-US" altLang="zh-CN" dirty="0" smtClean="0"/>
          </a:p>
        </p:txBody>
      </p:sp>
      <p:sp>
        <p:nvSpPr>
          <p:cNvPr id="30724"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1CF41FE2-0CCD-417F-8D5F-9EFAD0A68454}" type="slidenum">
              <a:rPr lang="en-US" altLang="zh-CN" smtClean="0"/>
              <a:pPr/>
              <a:t>24</a:t>
            </a:fld>
            <a:endParaRPr lang="en-US" altLang="zh-CN"/>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zh-CN" altLang="en-US" smtClean="0"/>
              <a:t>服务抽象的相关风险</a:t>
            </a:r>
          </a:p>
        </p:txBody>
      </p:sp>
      <p:sp>
        <p:nvSpPr>
          <p:cNvPr id="32771" name="内容占位符 2"/>
          <p:cNvSpPr>
            <a:spLocks noGrp="1"/>
          </p:cNvSpPr>
          <p:nvPr>
            <p:ph idx="1"/>
          </p:nvPr>
        </p:nvSpPr>
        <p:spPr/>
        <p:txBody>
          <a:bodyPr>
            <a:normAutofit fontScale="77500" lnSpcReduction="20000"/>
          </a:bodyPr>
          <a:lstStyle/>
          <a:p>
            <a:pPr>
              <a:lnSpc>
                <a:spcPct val="120000"/>
              </a:lnSpc>
            </a:pPr>
            <a:r>
              <a:rPr lang="zh-CN" altLang="en-US" dirty="0" smtClean="0"/>
              <a:t>多消费者耦合的需求</a:t>
            </a:r>
            <a:endParaRPr lang="en-US" altLang="zh-CN" dirty="0" smtClean="0"/>
          </a:p>
          <a:p>
            <a:pPr lvl="1">
              <a:lnSpc>
                <a:spcPct val="120000"/>
              </a:lnSpc>
            </a:pPr>
            <a:r>
              <a:rPr lang="zh-CN" altLang="en-US" dirty="0" smtClean="0"/>
              <a:t>不同消费者可能需要不同的技术接口细节，所需的抽象程度也不尽相同</a:t>
            </a:r>
            <a:endParaRPr lang="en-US" altLang="zh-CN" dirty="0" smtClean="0"/>
          </a:p>
          <a:p>
            <a:pPr lvl="1">
              <a:lnSpc>
                <a:spcPct val="120000"/>
              </a:lnSpc>
            </a:pPr>
            <a:r>
              <a:rPr lang="zh-CN" altLang="en-US" dirty="0" smtClean="0"/>
              <a:t>使用合约反规范化，提供不同级别的抽象粒度</a:t>
            </a:r>
            <a:endParaRPr lang="en-US" altLang="zh-CN" dirty="0" smtClean="0"/>
          </a:p>
          <a:p>
            <a:pPr>
              <a:lnSpc>
                <a:spcPct val="120000"/>
              </a:lnSpc>
            </a:pPr>
            <a:r>
              <a:rPr lang="zh-CN" altLang="en-US" dirty="0" smtClean="0"/>
              <a:t>人为误判</a:t>
            </a:r>
            <a:endParaRPr lang="en-US" altLang="zh-CN" dirty="0" smtClean="0"/>
          </a:p>
          <a:p>
            <a:pPr lvl="1">
              <a:lnSpc>
                <a:spcPct val="120000"/>
              </a:lnSpc>
            </a:pPr>
            <a:r>
              <a:rPr lang="zh-CN" altLang="en-US" dirty="0" smtClean="0"/>
              <a:t>过于抽象的服务合约导致曲解或不能充分理解一个服务。从而丧失潜在的复用机会</a:t>
            </a:r>
            <a:endParaRPr lang="en-US" altLang="zh-CN" dirty="0" smtClean="0"/>
          </a:p>
          <a:p>
            <a:pPr lvl="1">
              <a:lnSpc>
                <a:spcPct val="120000"/>
              </a:lnSpc>
            </a:pPr>
            <a:r>
              <a:rPr lang="zh-CN" altLang="en-US" dirty="0" smtClean="0"/>
              <a:t>过于具体的服务合约导致对服务的行为作出与服务实现相关的假设，从而导致实现耦合</a:t>
            </a:r>
            <a:endParaRPr lang="en-US" altLang="zh-CN" dirty="0" smtClean="0"/>
          </a:p>
          <a:p>
            <a:pPr>
              <a:lnSpc>
                <a:spcPct val="120000"/>
              </a:lnSpc>
            </a:pPr>
            <a:r>
              <a:rPr lang="zh-CN" altLang="en-US" dirty="0" smtClean="0"/>
              <a:t>安全和隐私的考虑</a:t>
            </a:r>
            <a:endParaRPr lang="en-US" altLang="zh-CN" dirty="0" smtClean="0"/>
          </a:p>
          <a:p>
            <a:pPr lvl="1">
              <a:lnSpc>
                <a:spcPct val="120000"/>
              </a:lnSpc>
            </a:pPr>
            <a:r>
              <a:rPr lang="zh-CN" altLang="en-US" dirty="0" smtClean="0"/>
              <a:t>服务合约可能暴露私有或者敏感信息</a:t>
            </a:r>
            <a:endParaRPr lang="en-US" altLang="zh-CN" dirty="0" smtClean="0"/>
          </a:p>
          <a:p>
            <a:pPr lvl="2">
              <a:lnSpc>
                <a:spcPct val="120000"/>
              </a:lnSpc>
            </a:pPr>
            <a:r>
              <a:rPr lang="zh-CN" altLang="en-US" dirty="0" smtClean="0"/>
              <a:t>不同的使用环境（组织内部 </a:t>
            </a:r>
            <a:r>
              <a:rPr lang="en-US" altLang="zh-CN" dirty="0" smtClean="0"/>
              <a:t>vs. </a:t>
            </a:r>
            <a:r>
              <a:rPr lang="zh-CN" altLang="en-US" dirty="0" smtClean="0"/>
              <a:t>组织外部）</a:t>
            </a:r>
            <a:endParaRPr lang="en-US" altLang="zh-CN" dirty="0" smtClean="0"/>
          </a:p>
          <a:p>
            <a:pPr lvl="2">
              <a:lnSpc>
                <a:spcPct val="120000"/>
              </a:lnSpc>
            </a:pPr>
            <a:r>
              <a:rPr lang="zh-CN" altLang="en-US" dirty="0" smtClean="0"/>
              <a:t>并发和</a:t>
            </a:r>
            <a:r>
              <a:rPr lang="zh-CN" altLang="en-US" dirty="0" smtClean="0"/>
              <a:t>冗余的服务合约内容以解决这一问题</a:t>
            </a:r>
          </a:p>
        </p:txBody>
      </p:sp>
      <p:sp>
        <p:nvSpPr>
          <p:cNvPr id="3174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FB8D6908-98CA-4AE1-8C96-A827F9E73F74}" type="slidenum">
              <a:rPr lang="en-US" altLang="zh-CN" smtClean="0"/>
              <a:pPr/>
              <a:t>25</a:t>
            </a:fld>
            <a:endParaRPr lang="en-US" altLang="zh-CN"/>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en-US" dirty="0" smtClean="0"/>
              <a:t>案例研究</a:t>
            </a:r>
            <a:r>
              <a:rPr lang="en-US" altLang="zh-CN" dirty="0" smtClean="0"/>
              <a:t>——</a:t>
            </a:r>
            <a:r>
              <a:rPr lang="zh-CN" altLang="en-US" dirty="0" smtClean="0"/>
              <a:t>服务抽象级别 （</a:t>
            </a:r>
            <a:r>
              <a:rPr lang="en-US" altLang="zh-CN" dirty="0" smtClean="0"/>
              <a:t>1/4</a:t>
            </a:r>
            <a:r>
              <a:rPr lang="zh-CN" altLang="en-US" dirty="0" smtClean="0"/>
              <a:t>）</a:t>
            </a:r>
          </a:p>
        </p:txBody>
      </p:sp>
      <p:sp>
        <p:nvSpPr>
          <p:cNvPr id="32771"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02EEE58-BEBA-46EB-93EE-ED635928E4FD}" type="slidenum">
              <a:rPr lang="en-US" altLang="zh-CN" smtClean="0"/>
              <a:pPr/>
              <a:t>26</a:t>
            </a:fld>
            <a:endParaRPr lang="en-US" altLang="zh-CN"/>
          </a:p>
        </p:txBody>
      </p:sp>
      <p:pic>
        <p:nvPicPr>
          <p:cNvPr id="5" name="图片 4"/>
          <p:cNvPicPr>
            <a:picLocks noChangeAspect="1"/>
          </p:cNvPicPr>
          <p:nvPr/>
        </p:nvPicPr>
        <p:blipFill>
          <a:blip r:embed="rId3"/>
          <a:stretch>
            <a:fillRect/>
          </a:stretch>
        </p:blipFill>
        <p:spPr>
          <a:xfrm>
            <a:off x="1115616" y="1844824"/>
            <a:ext cx="6667161" cy="3721019"/>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p:txBody>
          <a:bodyPr/>
          <a:lstStyle/>
          <a:p>
            <a:r>
              <a:rPr lang="zh-CN" altLang="en-US" dirty="0" smtClean="0"/>
              <a:t>案例研究</a:t>
            </a:r>
            <a:r>
              <a:rPr lang="en-US" altLang="zh-CN" dirty="0" smtClean="0"/>
              <a:t>——</a:t>
            </a:r>
            <a:r>
              <a:rPr lang="zh-CN" altLang="en-US" dirty="0" smtClean="0"/>
              <a:t>服务抽象级别 （</a:t>
            </a:r>
            <a:r>
              <a:rPr lang="en-US" altLang="zh-CN" dirty="0" smtClean="0"/>
              <a:t>2/4</a:t>
            </a:r>
            <a:r>
              <a:rPr lang="zh-CN" altLang="en-US" dirty="0" smtClean="0"/>
              <a:t>）</a:t>
            </a:r>
          </a:p>
        </p:txBody>
      </p:sp>
      <p:sp>
        <p:nvSpPr>
          <p:cNvPr id="32771"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02EEE58-BEBA-46EB-93EE-ED635928E4FD}" type="slidenum">
              <a:rPr lang="en-US" altLang="zh-CN" smtClean="0"/>
              <a:pPr/>
              <a:t>27</a:t>
            </a:fld>
            <a:endParaRPr lang="en-US" altLang="zh-CN"/>
          </a:p>
        </p:txBody>
      </p:sp>
      <p:pic>
        <p:nvPicPr>
          <p:cNvPr id="6" name="图片 5"/>
          <p:cNvPicPr>
            <a:picLocks noChangeAspect="1"/>
          </p:cNvPicPr>
          <p:nvPr/>
        </p:nvPicPr>
        <p:blipFill>
          <a:blip r:embed="rId3"/>
          <a:stretch>
            <a:fillRect/>
          </a:stretch>
        </p:blipFill>
        <p:spPr>
          <a:xfrm>
            <a:off x="1187624" y="1628800"/>
            <a:ext cx="6806854" cy="4488398"/>
          </a:xfrm>
          <a:prstGeom prst="rect">
            <a:avLst/>
          </a:prstGeom>
        </p:spPr>
      </p:pic>
    </p:spTree>
    <p:extLst>
      <p:ext uri="{BB962C8B-B14F-4D97-AF65-F5344CB8AC3E}">
        <p14:creationId xmlns:p14="http://schemas.microsoft.com/office/powerpoint/2010/main" val="2700058199"/>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dirty="0" smtClean="0"/>
              <a:t>案例研究</a:t>
            </a:r>
            <a:r>
              <a:rPr lang="en-US" altLang="zh-CN" dirty="0" smtClean="0"/>
              <a:t>——</a:t>
            </a:r>
            <a:r>
              <a:rPr lang="zh-CN" altLang="en-US" dirty="0" smtClean="0"/>
              <a:t>服务抽象级别 （</a:t>
            </a:r>
            <a:r>
              <a:rPr lang="en-US" altLang="zh-CN" dirty="0" smtClean="0"/>
              <a:t>3/4</a:t>
            </a:r>
            <a:r>
              <a:rPr lang="zh-CN" altLang="en-US" dirty="0" smtClean="0"/>
              <a:t>）</a:t>
            </a:r>
          </a:p>
        </p:txBody>
      </p:sp>
      <p:sp>
        <p:nvSpPr>
          <p:cNvPr id="33795"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AD54FC06-1C5D-45CC-8902-DC79A354A02E}" type="slidenum">
              <a:rPr lang="en-US" altLang="zh-CN" smtClean="0"/>
              <a:pPr/>
              <a:t>28</a:t>
            </a:fld>
            <a:endParaRPr lang="en-US" altLang="zh-CN"/>
          </a:p>
        </p:txBody>
      </p:sp>
      <p:pic>
        <p:nvPicPr>
          <p:cNvPr id="6" name="图片 5"/>
          <p:cNvPicPr>
            <a:picLocks noChangeAspect="1"/>
          </p:cNvPicPr>
          <p:nvPr/>
        </p:nvPicPr>
        <p:blipFill>
          <a:blip r:embed="rId3"/>
          <a:stretch>
            <a:fillRect/>
          </a:stretch>
        </p:blipFill>
        <p:spPr>
          <a:xfrm>
            <a:off x="899592" y="1700808"/>
            <a:ext cx="7452692" cy="4151439"/>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p:txBody>
          <a:bodyPr/>
          <a:lstStyle/>
          <a:p>
            <a:r>
              <a:rPr lang="zh-CN" altLang="en-US" dirty="0" smtClean="0"/>
              <a:t>案例研究</a:t>
            </a:r>
            <a:r>
              <a:rPr lang="en-US" altLang="zh-CN" dirty="0" smtClean="0"/>
              <a:t>——</a:t>
            </a:r>
            <a:r>
              <a:rPr lang="zh-CN" altLang="en-US" dirty="0" smtClean="0"/>
              <a:t>服务抽象级别 （</a:t>
            </a:r>
            <a:r>
              <a:rPr lang="en-US" altLang="zh-CN" dirty="0" smtClean="0"/>
              <a:t>4/4</a:t>
            </a:r>
            <a:r>
              <a:rPr lang="zh-CN" altLang="en-US" dirty="0" smtClean="0"/>
              <a:t>）</a:t>
            </a:r>
          </a:p>
        </p:txBody>
      </p:sp>
      <p:sp>
        <p:nvSpPr>
          <p:cNvPr id="33795"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AD54FC06-1C5D-45CC-8902-DC79A354A02E}" type="slidenum">
              <a:rPr lang="en-US" altLang="zh-CN" smtClean="0"/>
              <a:pPr/>
              <a:t>29</a:t>
            </a:fld>
            <a:endParaRPr lang="en-US" altLang="zh-CN"/>
          </a:p>
        </p:txBody>
      </p:sp>
      <p:pic>
        <p:nvPicPr>
          <p:cNvPr id="2" name="图片 1"/>
          <p:cNvPicPr>
            <a:picLocks noChangeAspect="1"/>
          </p:cNvPicPr>
          <p:nvPr/>
        </p:nvPicPr>
        <p:blipFill>
          <a:blip r:embed="rId3"/>
          <a:stretch>
            <a:fillRect/>
          </a:stretch>
        </p:blipFill>
        <p:spPr>
          <a:xfrm>
            <a:off x="604837" y="1412776"/>
            <a:ext cx="7858125" cy="4638675"/>
          </a:xfrm>
          <a:prstGeom prst="rect">
            <a:avLst/>
          </a:prstGeom>
        </p:spPr>
      </p:pic>
    </p:spTree>
    <p:extLst>
      <p:ext uri="{BB962C8B-B14F-4D97-AF65-F5344CB8AC3E}">
        <p14:creationId xmlns:p14="http://schemas.microsoft.com/office/powerpoint/2010/main" val="400656306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251520" y="1057215"/>
            <a:ext cx="3843760" cy="5741516"/>
          </a:xfrm>
          <a:prstGeom prst="rect">
            <a:avLst/>
          </a:prstGeom>
        </p:spPr>
      </p:pic>
      <p:sp>
        <p:nvSpPr>
          <p:cNvPr id="34818" name="标题 1"/>
          <p:cNvSpPr>
            <a:spLocks noGrp="1"/>
          </p:cNvSpPr>
          <p:nvPr>
            <p:ph type="title"/>
          </p:nvPr>
        </p:nvSpPr>
        <p:spPr/>
        <p:txBody>
          <a:bodyPr/>
          <a:lstStyle/>
          <a:p>
            <a:r>
              <a:rPr lang="zh-CN" altLang="en-US" smtClean="0"/>
              <a:t>案例研究</a:t>
            </a:r>
            <a:r>
              <a:rPr lang="en-US" altLang="zh-CN" smtClean="0"/>
              <a:t>——</a:t>
            </a:r>
            <a:r>
              <a:rPr lang="zh-CN" altLang="en-US" smtClean="0"/>
              <a:t>操作级的抽象 </a:t>
            </a:r>
            <a:r>
              <a:rPr lang="en-US" altLang="zh-CN" smtClean="0"/>
              <a:t>I</a:t>
            </a:r>
            <a:endParaRPr lang="zh-CN" altLang="en-US" smtClean="0"/>
          </a:p>
        </p:txBody>
      </p:sp>
      <p:sp>
        <p:nvSpPr>
          <p:cNvPr id="34819" name="内容占位符 2"/>
          <p:cNvSpPr>
            <a:spLocks noGrp="1"/>
          </p:cNvSpPr>
          <p:nvPr>
            <p:ph sz="half" idx="1"/>
          </p:nvPr>
        </p:nvSpPr>
        <p:spPr>
          <a:xfrm>
            <a:off x="4791212" y="1205743"/>
            <a:ext cx="4038600" cy="1647194"/>
          </a:xfrm>
        </p:spPr>
        <p:txBody>
          <a:bodyPr/>
          <a:lstStyle/>
          <a:p>
            <a:r>
              <a:rPr lang="en-US" altLang="zh-CN" dirty="0" smtClean="0"/>
              <a:t>Inventory </a:t>
            </a:r>
            <a:r>
              <a:rPr lang="zh-CN" altLang="en-US" dirty="0" smtClean="0"/>
              <a:t>服务的</a:t>
            </a:r>
            <a:r>
              <a:rPr lang="en-US" altLang="zh-CN" dirty="0" err="1" smtClean="0"/>
              <a:t>GetItem</a:t>
            </a:r>
            <a:r>
              <a:rPr lang="en-US" altLang="zh-CN" dirty="0" smtClean="0"/>
              <a:t> </a:t>
            </a:r>
            <a:r>
              <a:rPr lang="zh-CN" altLang="en-US" dirty="0" smtClean="0"/>
              <a:t>操作</a:t>
            </a:r>
          </a:p>
        </p:txBody>
      </p:sp>
      <p:sp>
        <p:nvSpPr>
          <p:cNvPr id="34820" name="灯片编号占位符 3"/>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2569B190-AF49-40DA-A7E4-7F51887ADB9D}" type="slidenum">
              <a:rPr lang="en-US" altLang="zh-CN" smtClean="0"/>
              <a:pPr/>
              <a:t>30</a:t>
            </a:fld>
            <a:endParaRPr lang="en-US" altLang="zh-CN"/>
          </a:p>
        </p:txBody>
      </p:sp>
      <p:sp>
        <p:nvSpPr>
          <p:cNvPr id="8" name="矩形 7"/>
          <p:cNvSpPr/>
          <p:nvPr/>
        </p:nvSpPr>
        <p:spPr>
          <a:xfrm>
            <a:off x="3505200" y="3927973"/>
            <a:ext cx="5049900" cy="1323439"/>
          </a:xfrm>
          <a:prstGeom prst="rect">
            <a:avLst/>
          </a:prstGeom>
        </p:spPr>
        <p:txBody>
          <a:bodyPr wrap="square">
            <a:spAutoFit/>
          </a:bodyPr>
          <a:lstStyle/>
          <a:p>
            <a:r>
              <a:rPr lang="en-US" altLang="zh-CN" sz="1600" dirty="0"/>
              <a:t>The Inventory service’s </a:t>
            </a:r>
            <a:r>
              <a:rPr lang="en-US" altLang="zh-CN" sz="1600" dirty="0" err="1"/>
              <a:t>GetItem</a:t>
            </a:r>
            <a:r>
              <a:rPr lang="en-US" altLang="zh-CN" sz="1600" dirty="0"/>
              <a:t> operation encapsulates legacy </a:t>
            </a:r>
            <a:r>
              <a:rPr lang="en-US" altLang="zh-CN" sz="1600" dirty="0" smtClean="0"/>
              <a:t>inventory control </a:t>
            </a:r>
            <a:r>
              <a:rPr lang="en-US" altLang="zh-CN" sz="1600" dirty="0"/>
              <a:t>system functionality but expresses it as part of a </a:t>
            </a:r>
            <a:r>
              <a:rPr lang="en-US" altLang="zh-CN" sz="1600" dirty="0" smtClean="0"/>
              <a:t>standardized service </a:t>
            </a:r>
            <a:r>
              <a:rPr lang="en-US" altLang="zh-CN" sz="1600" dirty="0"/>
              <a:t>contract. The shaded area indicates what about the </a:t>
            </a:r>
            <a:r>
              <a:rPr lang="en-US" altLang="zh-CN" sz="1600" dirty="0" smtClean="0"/>
              <a:t>service is </a:t>
            </a:r>
            <a:r>
              <a:rPr lang="en-US" altLang="zh-CN" sz="1600" dirty="0"/>
              <a:t>intentionally hidden.</a:t>
            </a:r>
            <a:endParaRPr lang="zh-CN" altLang="en-US" sz="1600" dirty="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zh-CN" altLang="en-US" smtClean="0"/>
              <a:t>案例研究</a:t>
            </a:r>
            <a:r>
              <a:rPr lang="en-US" altLang="zh-CN" smtClean="0"/>
              <a:t>——</a:t>
            </a:r>
            <a:r>
              <a:rPr lang="zh-CN" altLang="en-US" smtClean="0"/>
              <a:t>操作级的抽象 </a:t>
            </a:r>
            <a:r>
              <a:rPr lang="en-US" altLang="zh-CN" smtClean="0"/>
              <a:t>II</a:t>
            </a:r>
            <a:endParaRPr lang="zh-CN" altLang="en-US" smtClean="0"/>
          </a:p>
        </p:txBody>
      </p:sp>
      <p:sp>
        <p:nvSpPr>
          <p:cNvPr id="35843" name="内容占位符 2"/>
          <p:cNvSpPr>
            <a:spLocks noGrp="1"/>
          </p:cNvSpPr>
          <p:nvPr>
            <p:ph sz="half" idx="1"/>
          </p:nvPr>
        </p:nvSpPr>
        <p:spPr>
          <a:xfrm>
            <a:off x="4717722" y="1484784"/>
            <a:ext cx="4038600" cy="4530725"/>
          </a:xfrm>
        </p:spPr>
        <p:txBody>
          <a:bodyPr/>
          <a:lstStyle/>
          <a:p>
            <a:r>
              <a:rPr lang="en-US" altLang="zh-CN" dirty="0" smtClean="0"/>
              <a:t>Materials </a:t>
            </a:r>
            <a:r>
              <a:rPr lang="zh-CN" altLang="en-US" dirty="0" smtClean="0"/>
              <a:t>服务的</a:t>
            </a:r>
            <a:r>
              <a:rPr lang="en-US" altLang="zh-CN" dirty="0" err="1" smtClean="0"/>
              <a:t>GetPurchased</a:t>
            </a:r>
            <a:r>
              <a:rPr lang="en-US" altLang="zh-CN" dirty="0" smtClean="0"/>
              <a:t> </a:t>
            </a:r>
            <a:r>
              <a:rPr lang="zh-CN" altLang="en-US" dirty="0" smtClean="0"/>
              <a:t>操作</a:t>
            </a:r>
          </a:p>
        </p:txBody>
      </p:sp>
      <p:sp>
        <p:nvSpPr>
          <p:cNvPr id="35844" name="灯片编号占位符 3"/>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1D5F8987-AE7F-4263-B3D7-C7406F985745}" type="slidenum">
              <a:rPr lang="en-US" altLang="zh-CN" smtClean="0"/>
              <a:pPr/>
              <a:t>31</a:t>
            </a:fld>
            <a:endParaRPr lang="en-US" altLang="zh-CN"/>
          </a:p>
        </p:txBody>
      </p:sp>
      <p:pic>
        <p:nvPicPr>
          <p:cNvPr id="6" name="图片 5"/>
          <p:cNvPicPr>
            <a:picLocks noChangeAspect="1"/>
          </p:cNvPicPr>
          <p:nvPr/>
        </p:nvPicPr>
        <p:blipFill>
          <a:blip r:embed="rId3"/>
          <a:stretch>
            <a:fillRect/>
          </a:stretch>
        </p:blipFill>
        <p:spPr>
          <a:xfrm>
            <a:off x="107504" y="2054064"/>
            <a:ext cx="5039661" cy="3961445"/>
          </a:xfrm>
          <a:prstGeom prst="rect">
            <a:avLst/>
          </a:prstGeom>
        </p:spPr>
      </p:pic>
      <p:sp>
        <p:nvSpPr>
          <p:cNvPr id="8" name="矩形 7"/>
          <p:cNvSpPr/>
          <p:nvPr/>
        </p:nvSpPr>
        <p:spPr>
          <a:xfrm>
            <a:off x="4355976" y="4293096"/>
            <a:ext cx="3569096" cy="1569660"/>
          </a:xfrm>
          <a:prstGeom prst="rect">
            <a:avLst/>
          </a:prstGeom>
        </p:spPr>
        <p:txBody>
          <a:bodyPr wrap="square">
            <a:spAutoFit/>
          </a:bodyPr>
          <a:lstStyle/>
          <a:p>
            <a:r>
              <a:rPr lang="en-US" altLang="zh-CN" sz="1600" dirty="0"/>
              <a:t>The </a:t>
            </a:r>
            <a:r>
              <a:rPr lang="en-US" altLang="zh-CN" sz="1600" dirty="0" err="1"/>
              <a:t>GetPurchased</a:t>
            </a:r>
            <a:r>
              <a:rPr lang="en-US" altLang="zh-CN" sz="1600" dirty="0"/>
              <a:t> operation encapsulates logic that invokes the Inventory service’s </a:t>
            </a:r>
            <a:r>
              <a:rPr lang="en-US" altLang="zh-CN" sz="1600" dirty="0" err="1" smtClean="0"/>
              <a:t>GetItem</a:t>
            </a:r>
            <a:r>
              <a:rPr lang="en-US" altLang="zh-CN" sz="1600" dirty="0" smtClean="0"/>
              <a:t> operation</a:t>
            </a:r>
            <a:r>
              <a:rPr lang="en-US" altLang="zh-CN" sz="1600" dirty="0"/>
              <a:t>. However, as indicated by the shaded zone, that interaction is intentionally </a:t>
            </a:r>
            <a:r>
              <a:rPr lang="en-US" altLang="zh-CN" sz="1600" dirty="0" smtClean="0"/>
              <a:t>hidden from </a:t>
            </a:r>
            <a:r>
              <a:rPr lang="en-US" altLang="zh-CN" sz="1600" dirty="0"/>
              <a:t>service consumers.</a:t>
            </a:r>
            <a:endParaRPr lang="zh-CN" altLang="en-US" sz="1600" dirty="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3480665" y="1412776"/>
            <a:ext cx="5537586" cy="4984503"/>
          </a:xfrm>
          <a:prstGeom prst="rect">
            <a:avLst/>
          </a:prstGeom>
        </p:spPr>
      </p:pic>
      <p:sp>
        <p:nvSpPr>
          <p:cNvPr id="36866" name="标题 1"/>
          <p:cNvSpPr>
            <a:spLocks noGrp="1"/>
          </p:cNvSpPr>
          <p:nvPr>
            <p:ph type="title"/>
          </p:nvPr>
        </p:nvSpPr>
        <p:spPr/>
        <p:txBody>
          <a:bodyPr/>
          <a:lstStyle/>
          <a:p>
            <a:r>
              <a:rPr lang="zh-CN" altLang="en-US" smtClean="0"/>
              <a:t>案例研究</a:t>
            </a:r>
            <a:r>
              <a:rPr lang="en-US" altLang="zh-CN" smtClean="0"/>
              <a:t>——</a:t>
            </a:r>
            <a:r>
              <a:rPr lang="zh-CN" altLang="en-US" smtClean="0"/>
              <a:t>操作级的抽象 </a:t>
            </a:r>
            <a:r>
              <a:rPr lang="en-US" altLang="zh-CN" smtClean="0"/>
              <a:t>III</a:t>
            </a:r>
            <a:endParaRPr lang="zh-CN" altLang="en-US" smtClean="0"/>
          </a:p>
        </p:txBody>
      </p:sp>
      <p:sp>
        <p:nvSpPr>
          <p:cNvPr id="36867" name="内容占位符 2"/>
          <p:cNvSpPr>
            <a:spLocks noGrp="1"/>
          </p:cNvSpPr>
          <p:nvPr>
            <p:ph sz="half" idx="1"/>
          </p:nvPr>
        </p:nvSpPr>
        <p:spPr/>
        <p:txBody>
          <a:bodyPr/>
          <a:lstStyle/>
          <a:p>
            <a:r>
              <a:rPr lang="en-US" altLang="zh-CN" dirty="0" smtClean="0"/>
              <a:t>Run Lab Project </a:t>
            </a:r>
            <a:r>
              <a:rPr lang="zh-CN" altLang="en-US" dirty="0" smtClean="0"/>
              <a:t>服务的</a:t>
            </a:r>
            <a:r>
              <a:rPr lang="en-US" altLang="zh-CN" dirty="0" smtClean="0"/>
              <a:t>Start </a:t>
            </a:r>
            <a:r>
              <a:rPr lang="zh-CN" altLang="en-US" dirty="0" smtClean="0"/>
              <a:t>操作</a:t>
            </a:r>
          </a:p>
        </p:txBody>
      </p:sp>
      <p:sp>
        <p:nvSpPr>
          <p:cNvPr id="36868" name="灯片编号占位符 3"/>
          <p:cNvSpPr>
            <a:spLocks noGrp="1"/>
          </p:cNvSpPr>
          <p:nvPr>
            <p:ph type="sldNum" sz="quarter" idx="12"/>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ACBEA60E-885C-4A18-ADA6-F196B11F4627}" type="slidenum">
              <a:rPr lang="en-US" altLang="zh-CN" smtClean="0"/>
              <a:pPr/>
              <a:t>32</a:t>
            </a:fld>
            <a:endParaRPr lang="en-US" altLang="zh-CN"/>
          </a:p>
        </p:txBody>
      </p:sp>
      <p:sp>
        <p:nvSpPr>
          <p:cNvPr id="7" name="矩形 6"/>
          <p:cNvSpPr/>
          <p:nvPr/>
        </p:nvSpPr>
        <p:spPr>
          <a:xfrm>
            <a:off x="304800" y="3705379"/>
            <a:ext cx="3572308" cy="1815882"/>
          </a:xfrm>
          <a:prstGeom prst="rect">
            <a:avLst/>
          </a:prstGeom>
        </p:spPr>
        <p:txBody>
          <a:bodyPr wrap="square">
            <a:spAutoFit/>
          </a:bodyPr>
          <a:lstStyle/>
          <a:p>
            <a:r>
              <a:rPr lang="zh-CN" altLang="en-US" sz="1600" dirty="0"/>
              <a:t>The Start operation kicks off service composition logic that includes the composition of several operations from </a:t>
            </a:r>
            <a:r>
              <a:rPr lang="zh-CN" altLang="en-US" sz="1600" dirty="0" smtClean="0"/>
              <a:t>at least </a:t>
            </a:r>
            <a:r>
              <a:rPr lang="zh-CN" altLang="en-US" sz="1600" dirty="0"/>
              <a:t>two services. In addition to its implementation via a custom component, the composed service operations are </a:t>
            </a:r>
            <a:r>
              <a:rPr lang="zh-CN" altLang="en-US" sz="1600" dirty="0" smtClean="0"/>
              <a:t>not hidden</a:t>
            </a:r>
            <a:endParaRPr lang="zh-CN" altLang="en-US" sz="1600"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zh-CN" altLang="en-US" smtClean="0"/>
              <a:t>服务可复用性</a:t>
            </a:r>
            <a:r>
              <a:rPr lang="en-US" altLang="zh-CN" smtClean="0"/>
              <a:t>(</a:t>
            </a:r>
            <a:r>
              <a:rPr lang="zh-CN" altLang="en-US" smtClean="0"/>
              <a:t>商业与无关设计</a:t>
            </a:r>
            <a:r>
              <a:rPr lang="en-US" altLang="zh-CN" smtClean="0"/>
              <a:t>)</a:t>
            </a:r>
            <a:endParaRPr lang="zh-CN" altLang="en-US" smtClean="0"/>
          </a:p>
        </p:txBody>
      </p:sp>
      <p:sp>
        <p:nvSpPr>
          <p:cNvPr id="37891"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4F2F8877-E3F1-4858-BE6E-D1BCCA6C1D02}" type="slidenum">
              <a:rPr lang="en-US" altLang="zh-CN" smtClean="0"/>
              <a:pPr/>
              <a:t>33</a:t>
            </a:fld>
            <a:endParaRPr lang="en-US" altLang="zh-CN"/>
          </a:p>
        </p:txBody>
      </p:sp>
      <p:pic>
        <p:nvPicPr>
          <p:cNvPr id="5" name="图片 4"/>
          <p:cNvPicPr>
            <a:picLocks noChangeAspect="1"/>
          </p:cNvPicPr>
          <p:nvPr/>
        </p:nvPicPr>
        <p:blipFill>
          <a:blip r:embed="rId3"/>
          <a:stretch>
            <a:fillRect/>
          </a:stretch>
        </p:blipFill>
        <p:spPr>
          <a:xfrm>
            <a:off x="1809750" y="1602839"/>
            <a:ext cx="5524500" cy="3657600"/>
          </a:xfrm>
          <a:prstGeom prst="rect">
            <a:avLst/>
          </a:prstGeom>
        </p:spPr>
      </p:pic>
      <p:sp>
        <p:nvSpPr>
          <p:cNvPr id="7" name="矩形 6"/>
          <p:cNvSpPr/>
          <p:nvPr/>
        </p:nvSpPr>
        <p:spPr>
          <a:xfrm>
            <a:off x="1573610" y="5445224"/>
            <a:ext cx="6192688" cy="584775"/>
          </a:xfrm>
          <a:prstGeom prst="rect">
            <a:avLst/>
          </a:prstGeom>
        </p:spPr>
        <p:txBody>
          <a:bodyPr wrap="square">
            <a:spAutoFit/>
          </a:bodyPr>
          <a:lstStyle/>
          <a:p>
            <a:r>
              <a:rPr lang="en-US" altLang="zh-CN" sz="1600" dirty="0"/>
              <a:t>By advocating repeated reuse, this </a:t>
            </a:r>
            <a:r>
              <a:rPr lang="en-US" altLang="zh-CN" sz="1600" dirty="0" smtClean="0"/>
              <a:t>principle strives </a:t>
            </a:r>
            <a:r>
              <a:rPr lang="en-US" altLang="zh-CN" sz="1600" dirty="0"/>
              <a:t>to get the most possible value out </a:t>
            </a:r>
            <a:r>
              <a:rPr lang="en-US" altLang="zh-CN" sz="1600" dirty="0" smtClean="0"/>
              <a:t>of each </a:t>
            </a:r>
            <a:r>
              <a:rPr lang="en-US" altLang="zh-CN" sz="1600" dirty="0"/>
              <a:t>piece of software</a:t>
            </a:r>
            <a:endParaRPr lang="zh-CN" altLang="en-US" sz="1600" dirty="0"/>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zh-CN" altLang="en-US" smtClean="0"/>
              <a:t>复用</a:t>
            </a:r>
          </a:p>
        </p:txBody>
      </p:sp>
      <p:sp>
        <p:nvSpPr>
          <p:cNvPr id="3" name="内容占位符 2"/>
          <p:cNvSpPr>
            <a:spLocks noGrp="1"/>
          </p:cNvSpPr>
          <p:nvPr>
            <p:ph idx="1"/>
          </p:nvPr>
        </p:nvSpPr>
        <p:spPr/>
        <p:txBody>
          <a:bodyPr/>
          <a:lstStyle/>
          <a:p>
            <a:r>
              <a:rPr lang="zh-CN" altLang="en-US" dirty="0" smtClean="0"/>
              <a:t>复用，让软件不仅仅针对单一目标</a:t>
            </a:r>
            <a:endParaRPr lang="en-US" altLang="zh-CN" dirty="0" smtClean="0"/>
          </a:p>
          <a:p>
            <a:pPr lvl="1"/>
            <a:r>
              <a:rPr lang="zh-CN" altLang="en-US" dirty="0" smtClean="0"/>
              <a:t>单一目的程序（库存计数器）</a:t>
            </a:r>
            <a:endParaRPr lang="en-US" altLang="zh-CN" dirty="0" smtClean="0"/>
          </a:p>
          <a:p>
            <a:pPr lvl="1"/>
            <a:r>
              <a:rPr lang="zh-CN" altLang="en-US" dirty="0" smtClean="0"/>
              <a:t>多目的程序（通用计算器）</a:t>
            </a:r>
            <a:endParaRPr lang="en-US" altLang="zh-CN" dirty="0" smtClean="0"/>
          </a:p>
          <a:p>
            <a:r>
              <a:rPr lang="zh-CN" altLang="en-US" dirty="0" smtClean="0"/>
              <a:t>软件的设计、测试、演化均受其影响</a:t>
            </a:r>
            <a:endParaRPr lang="en-US" altLang="zh-CN" dirty="0" smtClean="0"/>
          </a:p>
          <a:p>
            <a:r>
              <a:rPr lang="zh-CN" altLang="en-US" dirty="0" smtClean="0"/>
              <a:t>泛型的发展是复用层次不断提高的过程</a:t>
            </a:r>
            <a:endParaRPr lang="en-US" altLang="zh-CN" dirty="0" smtClean="0"/>
          </a:p>
          <a:p>
            <a:pPr lvl="1"/>
            <a:r>
              <a:rPr lang="zh-CN" altLang="en-US" dirty="0" smtClean="0"/>
              <a:t>命令式（过程式）</a:t>
            </a:r>
            <a:endParaRPr lang="en-US" altLang="zh-CN" dirty="0" smtClean="0"/>
          </a:p>
          <a:p>
            <a:pPr lvl="1"/>
            <a:r>
              <a:rPr lang="zh-CN" altLang="en-US" dirty="0" smtClean="0"/>
              <a:t>面向对象</a:t>
            </a:r>
            <a:endParaRPr lang="en-US" altLang="zh-CN" dirty="0" smtClean="0"/>
          </a:p>
          <a:p>
            <a:pPr lvl="1"/>
            <a:r>
              <a:rPr lang="zh-CN" altLang="en-US" dirty="0" smtClean="0"/>
              <a:t>基于构件</a:t>
            </a:r>
            <a:endParaRPr lang="en-US" altLang="zh-CN" dirty="0" smtClean="0"/>
          </a:p>
          <a:p>
            <a:pPr lvl="1"/>
            <a:r>
              <a:rPr lang="zh-CN" altLang="en-US" dirty="0" smtClean="0"/>
              <a:t>面向服务</a:t>
            </a:r>
            <a:endParaRPr lang="en-US" altLang="zh-CN" dirty="0" smtClean="0"/>
          </a:p>
        </p:txBody>
      </p:sp>
      <p:sp>
        <p:nvSpPr>
          <p:cNvPr id="3891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AAEECAC-3F0B-43A2-BCAF-3580F73D3EE3}" type="slidenum">
              <a:rPr lang="en-US" altLang="zh-CN" smtClean="0"/>
              <a:pPr/>
              <a:t>34</a:t>
            </a:fld>
            <a:endParaRPr lang="en-US" altLang="zh-CN"/>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zh-CN" altLang="en-US" dirty="0" smtClean="0"/>
              <a:t>面向服务的复用</a:t>
            </a:r>
          </a:p>
        </p:txBody>
      </p:sp>
      <p:sp>
        <p:nvSpPr>
          <p:cNvPr id="4198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EB26728F-D162-4F46-8120-083AEFD8A7E4}" type="slidenum">
              <a:rPr lang="en-US" altLang="zh-CN" smtClean="0"/>
              <a:pPr/>
              <a:t>35</a:t>
            </a:fld>
            <a:endParaRPr lang="en-US" altLang="zh-CN"/>
          </a:p>
        </p:txBody>
      </p:sp>
      <p:sp>
        <p:nvSpPr>
          <p:cNvPr id="4" name="右箭头 3"/>
          <p:cNvSpPr/>
          <p:nvPr/>
        </p:nvSpPr>
        <p:spPr>
          <a:xfrm>
            <a:off x="2924332" y="4930633"/>
            <a:ext cx="3645267" cy="432048"/>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3"/>
          <a:stretch>
            <a:fillRect/>
          </a:stretch>
        </p:blipFill>
        <p:spPr>
          <a:xfrm>
            <a:off x="123982" y="2379737"/>
            <a:ext cx="2800350" cy="3686175"/>
          </a:xfrm>
          <a:prstGeom prst="rect">
            <a:avLst/>
          </a:prstGeom>
        </p:spPr>
      </p:pic>
      <p:pic>
        <p:nvPicPr>
          <p:cNvPr id="8" name="图片 7"/>
          <p:cNvPicPr>
            <a:picLocks noChangeAspect="1"/>
          </p:cNvPicPr>
          <p:nvPr/>
        </p:nvPicPr>
        <p:blipFill>
          <a:blip r:embed="rId4"/>
          <a:stretch>
            <a:fillRect/>
          </a:stretch>
        </p:blipFill>
        <p:spPr>
          <a:xfrm>
            <a:off x="3505200" y="1628800"/>
            <a:ext cx="2272597" cy="3287009"/>
          </a:xfrm>
          <a:prstGeom prst="rect">
            <a:avLst/>
          </a:prstGeom>
        </p:spPr>
      </p:pic>
      <p:pic>
        <p:nvPicPr>
          <p:cNvPr id="9" name="图片 8"/>
          <p:cNvPicPr>
            <a:picLocks noChangeAspect="1"/>
          </p:cNvPicPr>
          <p:nvPr/>
        </p:nvPicPr>
        <p:blipFill>
          <a:blip r:embed="rId5"/>
          <a:stretch>
            <a:fillRect/>
          </a:stretch>
        </p:blipFill>
        <p:spPr>
          <a:xfrm>
            <a:off x="6721577" y="1957829"/>
            <a:ext cx="2305050" cy="410527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标题 5"/>
          <p:cNvSpPr>
            <a:spLocks noGrp="1"/>
          </p:cNvSpPr>
          <p:nvPr>
            <p:ph type="title"/>
          </p:nvPr>
        </p:nvSpPr>
        <p:spPr/>
        <p:txBody>
          <a:bodyPr/>
          <a:lstStyle/>
          <a:p>
            <a:r>
              <a:rPr lang="zh-CN" altLang="en-US" dirty="0" smtClean="0"/>
              <a:t>商业设计中的</a:t>
            </a:r>
            <a:r>
              <a:rPr lang="zh-CN" altLang="en-US" dirty="0" smtClean="0"/>
              <a:t>复用</a:t>
            </a:r>
          </a:p>
        </p:txBody>
      </p:sp>
      <p:sp>
        <p:nvSpPr>
          <p:cNvPr id="7" name="内容占位符 6"/>
          <p:cNvSpPr>
            <a:spLocks noGrp="1"/>
          </p:cNvSpPr>
          <p:nvPr>
            <p:ph idx="1"/>
          </p:nvPr>
        </p:nvSpPr>
        <p:spPr/>
        <p:txBody>
          <a:bodyPr>
            <a:normAutofit fontScale="92500"/>
          </a:bodyPr>
          <a:lstStyle/>
          <a:p>
            <a:pPr>
              <a:lnSpc>
                <a:spcPct val="110000"/>
              </a:lnSpc>
            </a:pPr>
            <a:r>
              <a:rPr lang="zh-CN" altLang="en-US" dirty="0" smtClean="0"/>
              <a:t>无法保证绝对的复用，而是为了特定版本的可复用服务提供最合适的逻辑类型和逻辑数量</a:t>
            </a:r>
            <a:endParaRPr lang="en-US" altLang="zh-CN" dirty="0" smtClean="0"/>
          </a:p>
          <a:p>
            <a:pPr>
              <a:lnSpc>
                <a:spcPct val="110000"/>
              </a:lnSpc>
            </a:pPr>
            <a:r>
              <a:rPr lang="zh-CN" altLang="en-US" dirty="0" smtClean="0"/>
              <a:t>需要考虑：</a:t>
            </a:r>
            <a:endParaRPr lang="en-US" altLang="zh-CN" dirty="0" smtClean="0"/>
          </a:p>
          <a:p>
            <a:pPr lvl="1">
              <a:lnSpc>
                <a:spcPct val="110000"/>
              </a:lnSpc>
            </a:pPr>
            <a:r>
              <a:rPr lang="zh-CN" altLang="en-US" dirty="0" smtClean="0"/>
              <a:t>与组织整体相关的策略目标和愿景的描述</a:t>
            </a:r>
            <a:endParaRPr lang="en-US" altLang="zh-CN" dirty="0" smtClean="0"/>
          </a:p>
          <a:p>
            <a:pPr lvl="1">
              <a:lnSpc>
                <a:spcPct val="110000"/>
              </a:lnSpc>
            </a:pPr>
            <a:r>
              <a:rPr lang="zh-CN" altLang="en-US" dirty="0" smtClean="0"/>
              <a:t>现有模型，比如服务库存蓝图</a:t>
            </a:r>
            <a:endParaRPr lang="en-US" altLang="zh-CN" dirty="0" smtClean="0"/>
          </a:p>
          <a:p>
            <a:pPr lvl="1">
              <a:lnSpc>
                <a:spcPct val="110000"/>
              </a:lnSpc>
            </a:pPr>
            <a:r>
              <a:rPr lang="zh-CN" altLang="en-US" dirty="0" smtClean="0"/>
              <a:t>当前的业务需求和常见的使用场景的定义</a:t>
            </a:r>
            <a:endParaRPr lang="en-US" altLang="zh-CN" dirty="0" smtClean="0"/>
          </a:p>
          <a:p>
            <a:pPr lvl="1">
              <a:lnSpc>
                <a:spcPct val="110000"/>
              </a:lnSpc>
            </a:pPr>
            <a:r>
              <a:rPr lang="zh-CN" altLang="en-US" dirty="0" smtClean="0"/>
              <a:t>一些可以帮助预测未来改变的己知的历史业务模式</a:t>
            </a:r>
            <a:endParaRPr lang="en-US" altLang="zh-CN" dirty="0" smtClean="0"/>
          </a:p>
          <a:p>
            <a:pPr lvl="1">
              <a:lnSpc>
                <a:spcPct val="110000"/>
              </a:lnSpc>
            </a:pPr>
            <a:r>
              <a:rPr lang="zh-CN" altLang="en-US" dirty="0" smtClean="0"/>
              <a:t>任何已知</a:t>
            </a:r>
            <a:r>
              <a:rPr lang="zh-CN" altLang="en-US" dirty="0" smtClean="0"/>
              <a:t>的、可能</a:t>
            </a:r>
            <a:r>
              <a:rPr lang="zh-CN" altLang="en-US" dirty="0" smtClean="0"/>
              <a:t>影响信息技术的公司并购</a:t>
            </a:r>
            <a:endParaRPr lang="en-US" altLang="zh-CN" dirty="0" smtClean="0"/>
          </a:p>
          <a:p>
            <a:pPr lvl="1">
              <a:lnSpc>
                <a:spcPct val="110000"/>
              </a:lnSpc>
            </a:pPr>
            <a:r>
              <a:rPr lang="zh-CN" altLang="en-US" dirty="0" smtClean="0"/>
              <a:t>服务交付需求的紧急性及相关的时间点</a:t>
            </a:r>
            <a:endParaRPr lang="en-US" altLang="zh-CN" dirty="0" smtClean="0"/>
          </a:p>
          <a:p>
            <a:pPr lvl="1">
              <a:lnSpc>
                <a:spcPct val="110000"/>
              </a:lnSpc>
            </a:pPr>
            <a:r>
              <a:rPr lang="zh-CN" altLang="en-US" dirty="0" smtClean="0"/>
              <a:t>现有的遗留环境和任何己知的升级和替换计划</a:t>
            </a:r>
          </a:p>
        </p:txBody>
      </p:sp>
      <p:sp>
        <p:nvSpPr>
          <p:cNvPr id="43012" name="灯片编号占位符 4"/>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9706FB80-5BC6-4A08-8C93-2E5A4132BF47}" type="slidenum">
              <a:rPr lang="en-US" altLang="zh-CN" smtClean="0"/>
              <a:pPr/>
              <a:t>36</a:t>
            </a:fld>
            <a:endParaRPr lang="en-US" altLang="zh-CN" dirty="0"/>
          </a:p>
        </p:txBody>
      </p:sp>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计划中复用的度量</a:t>
            </a:r>
            <a:r>
              <a:rPr lang="en-US" altLang="zh-CN" smtClean="0"/>
              <a:t>——</a:t>
            </a:r>
            <a:r>
              <a:rPr lang="zh-CN" altLang="en-US" smtClean="0"/>
              <a:t>战术上的可复用性</a:t>
            </a:r>
          </a:p>
        </p:txBody>
      </p:sp>
      <p:sp>
        <p:nvSpPr>
          <p:cNvPr id="44035"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FE61BD69-2D90-4D72-9DA5-2561B6A3FD86}" type="slidenum">
              <a:rPr lang="en-US" altLang="zh-CN" smtClean="0"/>
              <a:pPr/>
              <a:t>37</a:t>
            </a:fld>
            <a:endParaRPr lang="en-US" altLang="zh-CN"/>
          </a:p>
        </p:txBody>
      </p:sp>
      <p:pic>
        <p:nvPicPr>
          <p:cNvPr id="6" name="图片 5"/>
          <p:cNvPicPr>
            <a:picLocks noChangeAspect="1"/>
          </p:cNvPicPr>
          <p:nvPr/>
        </p:nvPicPr>
        <p:blipFill>
          <a:blip r:embed="rId3"/>
          <a:stretch>
            <a:fillRect/>
          </a:stretch>
        </p:blipFill>
        <p:spPr>
          <a:xfrm>
            <a:off x="1800225" y="1933575"/>
            <a:ext cx="5543550" cy="2990850"/>
          </a:xfrm>
          <a:prstGeom prst="rect">
            <a:avLst/>
          </a:prstGeom>
        </p:spPr>
      </p:pic>
      <p:sp>
        <p:nvSpPr>
          <p:cNvPr id="8" name="矩形 7"/>
          <p:cNvSpPr/>
          <p:nvPr/>
        </p:nvSpPr>
        <p:spPr>
          <a:xfrm>
            <a:off x="1033696" y="5154166"/>
            <a:ext cx="7000408" cy="1077218"/>
          </a:xfrm>
          <a:prstGeom prst="rect">
            <a:avLst/>
          </a:prstGeom>
        </p:spPr>
        <p:txBody>
          <a:bodyPr wrap="square">
            <a:spAutoFit/>
          </a:bodyPr>
          <a:lstStyle/>
          <a:p>
            <a:r>
              <a:rPr lang="en-US" altLang="zh-CN" sz="1600" dirty="0"/>
              <a:t>A tactical measure of reuse only results </a:t>
            </a:r>
            <a:r>
              <a:rPr lang="en-US" altLang="zh-CN" sz="1600" dirty="0" smtClean="0"/>
              <a:t>in the implementation </a:t>
            </a:r>
            <a:r>
              <a:rPr lang="en-US" altLang="zh-CN" sz="1600" dirty="0"/>
              <a:t>of service </a:t>
            </a:r>
            <a:r>
              <a:rPr lang="en-US" altLang="zh-CN" sz="1600" dirty="0" smtClean="0"/>
              <a:t>capabilities that </a:t>
            </a:r>
            <a:r>
              <a:rPr lang="en-US" altLang="zh-CN" sz="1600" dirty="0"/>
              <a:t>address immediate needs. But </a:t>
            </a:r>
            <a:r>
              <a:rPr lang="en-US" altLang="zh-CN" sz="1600" dirty="0" smtClean="0"/>
              <a:t>the service </a:t>
            </a:r>
            <a:r>
              <a:rPr lang="en-US" altLang="zh-CN" sz="1600" dirty="0"/>
              <a:t>is designed in such a manner </a:t>
            </a:r>
            <a:r>
              <a:rPr lang="en-US" altLang="zh-CN" sz="1600" dirty="0" smtClean="0"/>
              <a:t>that the </a:t>
            </a:r>
            <a:r>
              <a:rPr lang="en-US" altLang="zh-CN" sz="1600" dirty="0"/>
              <a:t>immediate capability is still reusable </a:t>
            </a:r>
            <a:r>
              <a:rPr lang="en-US" altLang="zh-CN" sz="1600" dirty="0" smtClean="0"/>
              <a:t>so that </a:t>
            </a:r>
            <a:r>
              <a:rPr lang="en-US" altLang="zh-CN" sz="1600" dirty="0"/>
              <a:t>the service can be safely extended </a:t>
            </a:r>
            <a:r>
              <a:rPr lang="en-US" altLang="zh-CN" sz="1600" dirty="0" smtClean="0"/>
              <a:t>in the </a:t>
            </a:r>
            <a:r>
              <a:rPr lang="en-US" altLang="zh-CN" sz="1600" dirty="0"/>
              <a:t>future.</a:t>
            </a:r>
            <a:endParaRPr lang="zh-CN" altLang="en-US" sz="1600" dirty="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计划中复用的度量</a:t>
            </a:r>
            <a:r>
              <a:rPr lang="en-US" altLang="zh-CN" smtClean="0"/>
              <a:t>——</a:t>
            </a:r>
            <a:r>
              <a:rPr lang="zh-CN" altLang="en-US" smtClean="0"/>
              <a:t>针对性的可复用性</a:t>
            </a:r>
          </a:p>
        </p:txBody>
      </p:sp>
      <p:sp>
        <p:nvSpPr>
          <p:cNvPr id="45059"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17FE9D80-1C32-4045-8BDA-5A655281510A}" type="slidenum">
              <a:rPr lang="en-US" altLang="zh-CN" smtClean="0"/>
              <a:pPr/>
              <a:t>38</a:t>
            </a:fld>
            <a:endParaRPr lang="en-US" altLang="zh-CN"/>
          </a:p>
        </p:txBody>
      </p:sp>
      <p:pic>
        <p:nvPicPr>
          <p:cNvPr id="6" name="图片 5"/>
          <p:cNvPicPr>
            <a:picLocks noChangeAspect="1"/>
          </p:cNvPicPr>
          <p:nvPr/>
        </p:nvPicPr>
        <p:blipFill>
          <a:blip r:embed="rId3"/>
          <a:stretch>
            <a:fillRect/>
          </a:stretch>
        </p:blipFill>
        <p:spPr>
          <a:xfrm>
            <a:off x="1566862" y="2162175"/>
            <a:ext cx="6010275" cy="2533650"/>
          </a:xfrm>
          <a:prstGeom prst="rect">
            <a:avLst/>
          </a:prstGeom>
        </p:spPr>
      </p:pic>
      <p:sp>
        <p:nvSpPr>
          <p:cNvPr id="8" name="矩形 7"/>
          <p:cNvSpPr/>
          <p:nvPr/>
        </p:nvSpPr>
        <p:spPr>
          <a:xfrm>
            <a:off x="2204862" y="4869160"/>
            <a:ext cx="4734274" cy="1077218"/>
          </a:xfrm>
          <a:prstGeom prst="rect">
            <a:avLst/>
          </a:prstGeom>
        </p:spPr>
        <p:txBody>
          <a:bodyPr wrap="square">
            <a:spAutoFit/>
          </a:bodyPr>
          <a:lstStyle/>
          <a:p>
            <a:r>
              <a:rPr lang="en-US" altLang="zh-CN" sz="1600" dirty="0"/>
              <a:t>A targeted enhancement measure represents a limited scope of reusability </a:t>
            </a:r>
            <a:r>
              <a:rPr lang="en-US" altLang="zh-CN" sz="1600" dirty="0" smtClean="0"/>
              <a:t>that, in </a:t>
            </a:r>
            <a:r>
              <a:rPr lang="en-US" altLang="zh-CN" sz="1600" dirty="0"/>
              <a:t>this case, addresses well known functional requirements anticipated in </a:t>
            </a:r>
            <a:r>
              <a:rPr lang="en-US" altLang="zh-CN" sz="1600" dirty="0" smtClean="0"/>
              <a:t>the near </a:t>
            </a:r>
            <a:r>
              <a:rPr lang="en-US" altLang="zh-CN" sz="1600" dirty="0"/>
              <a:t>future</a:t>
            </a:r>
            <a:endParaRPr lang="zh-CN" altLang="en-US" sz="1600" dirty="0"/>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计划中复用的度量</a:t>
            </a:r>
            <a:r>
              <a:rPr lang="en-US" altLang="zh-CN" smtClean="0"/>
              <a:t>——</a:t>
            </a:r>
            <a:r>
              <a:rPr lang="zh-CN" altLang="en-US" smtClean="0"/>
              <a:t>完全的可复用性</a:t>
            </a:r>
          </a:p>
        </p:txBody>
      </p:sp>
      <p:sp>
        <p:nvSpPr>
          <p:cNvPr id="46083"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A4B62A2B-AC99-40FD-8D6B-C1A536568601}" type="slidenum">
              <a:rPr lang="en-US" altLang="zh-CN" smtClean="0"/>
              <a:pPr/>
              <a:t>39</a:t>
            </a:fld>
            <a:endParaRPr lang="en-US" altLang="zh-CN"/>
          </a:p>
        </p:txBody>
      </p:sp>
      <p:pic>
        <p:nvPicPr>
          <p:cNvPr id="6" name="图片 5"/>
          <p:cNvPicPr>
            <a:picLocks noChangeAspect="1"/>
          </p:cNvPicPr>
          <p:nvPr/>
        </p:nvPicPr>
        <p:blipFill>
          <a:blip r:embed="rId3"/>
          <a:stretch>
            <a:fillRect/>
          </a:stretch>
        </p:blipFill>
        <p:spPr>
          <a:xfrm>
            <a:off x="1790700" y="1776412"/>
            <a:ext cx="5562600" cy="3305175"/>
          </a:xfrm>
          <a:prstGeom prst="rect">
            <a:avLst/>
          </a:prstGeom>
        </p:spPr>
      </p:pic>
      <p:sp>
        <p:nvSpPr>
          <p:cNvPr id="8" name="矩形 7"/>
          <p:cNvSpPr/>
          <p:nvPr/>
        </p:nvSpPr>
        <p:spPr>
          <a:xfrm>
            <a:off x="1448780" y="5423782"/>
            <a:ext cx="6246440" cy="584775"/>
          </a:xfrm>
          <a:prstGeom prst="rect">
            <a:avLst/>
          </a:prstGeom>
        </p:spPr>
        <p:txBody>
          <a:bodyPr wrap="square">
            <a:spAutoFit/>
          </a:bodyPr>
          <a:lstStyle/>
          <a:p>
            <a:r>
              <a:rPr lang="en-US" altLang="zh-CN" sz="1600" dirty="0"/>
              <a:t>The Invoice service is outfitted with a range of established </a:t>
            </a:r>
            <a:r>
              <a:rPr lang="en-US" altLang="zh-CN" sz="1600" dirty="0" smtClean="0"/>
              <a:t>capabilities, all </a:t>
            </a:r>
            <a:r>
              <a:rPr lang="en-US" altLang="zh-CN" sz="1600" dirty="0"/>
              <a:t>of which address known requirements</a:t>
            </a:r>
            <a:endParaRPr lang="zh-CN" altLang="en-US" sz="1600" dirty="0"/>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r>
              <a:rPr lang="zh-CN" altLang="en-US" smtClean="0"/>
              <a:t>实际复用的度量</a:t>
            </a:r>
          </a:p>
        </p:txBody>
      </p:sp>
      <p:sp>
        <p:nvSpPr>
          <p:cNvPr id="3" name="内容占位符 2"/>
          <p:cNvSpPr>
            <a:spLocks noGrp="1"/>
          </p:cNvSpPr>
          <p:nvPr>
            <p:ph idx="1"/>
          </p:nvPr>
        </p:nvSpPr>
        <p:spPr/>
        <p:txBody>
          <a:bodyPr/>
          <a:lstStyle/>
          <a:p>
            <a:pPr>
              <a:lnSpc>
                <a:spcPct val="150000"/>
              </a:lnSpc>
            </a:pPr>
            <a:r>
              <a:rPr lang="zh-CN" altLang="en-US" dirty="0" smtClean="0"/>
              <a:t>根据一个服务在实现之后正在被使用和曾经被使用过的次数</a:t>
            </a:r>
            <a:endParaRPr lang="en-US" altLang="zh-CN" dirty="0" smtClean="0"/>
          </a:p>
          <a:p>
            <a:pPr lvl="1">
              <a:lnSpc>
                <a:spcPct val="150000"/>
              </a:lnSpc>
            </a:pPr>
            <a:r>
              <a:rPr lang="zh-CN" altLang="en-US" dirty="0" smtClean="0"/>
              <a:t>使用了该服务的服务消费者的数量</a:t>
            </a:r>
            <a:endParaRPr lang="en-US" altLang="zh-CN" dirty="0" smtClean="0"/>
          </a:p>
          <a:p>
            <a:pPr lvl="1">
              <a:lnSpc>
                <a:spcPct val="150000"/>
              </a:lnSpc>
            </a:pPr>
            <a:r>
              <a:rPr lang="zh-CN" altLang="en-US" dirty="0" smtClean="0"/>
              <a:t>服务消费者使用该服务的频率</a:t>
            </a:r>
            <a:endParaRPr lang="en-US" altLang="zh-CN" dirty="0" smtClean="0"/>
          </a:p>
        </p:txBody>
      </p:sp>
      <p:sp>
        <p:nvSpPr>
          <p:cNvPr id="4710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B744C7D7-7624-41BC-95BD-D933F38547E6}" type="slidenum">
              <a:rPr lang="en-US" altLang="zh-CN" smtClean="0"/>
              <a:pPr/>
              <a:t>40</a:t>
            </a:fld>
            <a:endParaRPr lang="en-US" altLang="zh-CN"/>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p:txBody>
          <a:bodyPr/>
          <a:lstStyle/>
          <a:p>
            <a:r>
              <a:rPr lang="zh-CN" altLang="en-US" smtClean="0"/>
              <a:t>复用和无关服务</a:t>
            </a:r>
          </a:p>
        </p:txBody>
      </p:sp>
      <p:sp>
        <p:nvSpPr>
          <p:cNvPr id="3" name="内容占位符 2"/>
          <p:cNvSpPr>
            <a:spLocks noGrp="1"/>
          </p:cNvSpPr>
          <p:nvPr>
            <p:ph idx="1"/>
          </p:nvPr>
        </p:nvSpPr>
        <p:spPr/>
        <p:txBody>
          <a:bodyPr/>
          <a:lstStyle/>
          <a:p>
            <a:r>
              <a:rPr lang="zh-CN" altLang="en-US" dirty="0" smtClean="0"/>
              <a:t>无关服务 </a:t>
            </a:r>
            <a:r>
              <a:rPr lang="en-US" altLang="zh-CN" dirty="0" smtClean="0"/>
              <a:t>(agnostic service) </a:t>
            </a:r>
            <a:r>
              <a:rPr lang="zh-CN" altLang="en-US" dirty="0" smtClean="0"/>
              <a:t>与周围环境之间保持中立或者无关</a:t>
            </a:r>
            <a:endParaRPr lang="en-US" altLang="zh-CN" dirty="0" smtClean="0"/>
          </a:p>
          <a:p>
            <a:pPr lvl="1"/>
            <a:r>
              <a:rPr lang="zh-CN" altLang="en-US" dirty="0" smtClean="0"/>
              <a:t>独立于业务流程和专用的技术或应用平台</a:t>
            </a:r>
            <a:endParaRPr lang="en-US" altLang="zh-CN" dirty="0" smtClean="0"/>
          </a:p>
          <a:p>
            <a:pPr lvl="1"/>
            <a:r>
              <a:rPr lang="zh-CN" altLang="en-US" dirty="0" smtClean="0"/>
              <a:t>服务越是无关，它的复用潜能就越大</a:t>
            </a:r>
            <a:endParaRPr lang="en-US" altLang="zh-CN" dirty="0" smtClean="0"/>
          </a:p>
          <a:p>
            <a:r>
              <a:rPr lang="zh-CN" altLang="en-US" dirty="0" smtClean="0"/>
              <a:t>如果</a:t>
            </a:r>
            <a:r>
              <a:rPr lang="en-US" altLang="zh-CN" dirty="0" smtClean="0"/>
              <a:t>…</a:t>
            </a:r>
            <a:r>
              <a:rPr lang="zh-CN" altLang="en-US" dirty="0" smtClean="0"/>
              <a:t>那么服务具有复用潜能</a:t>
            </a:r>
            <a:endParaRPr lang="en-US" altLang="zh-CN" dirty="0" smtClean="0"/>
          </a:p>
          <a:p>
            <a:pPr lvl="1"/>
            <a:r>
              <a:rPr lang="zh-CN" altLang="en-US" dirty="0" smtClean="0"/>
              <a:t>提供了不特定于任何一个业务流程的功能</a:t>
            </a:r>
            <a:endParaRPr lang="en-US" altLang="zh-CN" dirty="0" smtClean="0"/>
          </a:p>
          <a:p>
            <a:pPr lvl="1"/>
            <a:r>
              <a:rPr lang="zh-CN" altLang="en-US" dirty="0" smtClean="0"/>
              <a:t>对多个业务流程是有用的</a:t>
            </a:r>
            <a:endParaRPr lang="en-US" altLang="zh-CN" dirty="0" smtClean="0"/>
          </a:p>
        </p:txBody>
      </p:sp>
      <p:sp>
        <p:nvSpPr>
          <p:cNvPr id="48132"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10C1BF6-391A-4025-B1EC-D53EA0081611}" type="slidenum">
              <a:rPr lang="en-US" altLang="zh-CN" smtClean="0"/>
              <a:pPr/>
              <a:t>41</a:t>
            </a:fld>
            <a:endParaRPr lang="en-US" altLang="zh-CN"/>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p:txBody>
          <a:bodyPr/>
          <a:lstStyle/>
          <a:p>
            <a:r>
              <a:rPr lang="zh-CN" altLang="en-US" smtClean="0"/>
              <a:t>服务库存蓝图</a:t>
            </a:r>
          </a:p>
        </p:txBody>
      </p:sp>
      <p:sp>
        <p:nvSpPr>
          <p:cNvPr id="49155" name="内容占位符 2"/>
          <p:cNvSpPr>
            <a:spLocks noGrp="1"/>
          </p:cNvSpPr>
          <p:nvPr>
            <p:ph idx="1"/>
          </p:nvPr>
        </p:nvSpPr>
        <p:spPr>
          <a:xfrm>
            <a:off x="457200" y="1052513"/>
            <a:ext cx="8229600" cy="1296367"/>
          </a:xfrm>
        </p:spPr>
        <p:txBody>
          <a:bodyPr/>
          <a:lstStyle/>
          <a:p>
            <a:r>
              <a:rPr lang="zh-CN" altLang="en-US" dirty="0" smtClean="0"/>
              <a:t>服务库存蓝图的制定能最大化发现和定义无关服务的机会</a:t>
            </a:r>
          </a:p>
        </p:txBody>
      </p:sp>
      <p:sp>
        <p:nvSpPr>
          <p:cNvPr id="4915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0DBCE9F8-97F4-450E-816C-B84CC2749B3A}" type="slidenum">
              <a:rPr lang="en-US" altLang="zh-CN" smtClean="0"/>
              <a:pPr/>
              <a:t>42</a:t>
            </a:fld>
            <a:endParaRPr lang="en-US" altLang="zh-CN"/>
          </a:p>
        </p:txBody>
      </p:sp>
      <p:pic>
        <p:nvPicPr>
          <p:cNvPr id="5" name="图片 4"/>
          <p:cNvPicPr>
            <a:picLocks noChangeAspect="1"/>
          </p:cNvPicPr>
          <p:nvPr/>
        </p:nvPicPr>
        <p:blipFill>
          <a:blip r:embed="rId3"/>
          <a:stretch>
            <a:fillRect/>
          </a:stretch>
        </p:blipFill>
        <p:spPr>
          <a:xfrm>
            <a:off x="2051719" y="2515701"/>
            <a:ext cx="5143103" cy="2860007"/>
          </a:xfrm>
          <a:prstGeom prst="rect">
            <a:avLst/>
          </a:prstGeom>
        </p:spPr>
      </p:pic>
      <p:sp>
        <p:nvSpPr>
          <p:cNvPr id="7" name="矩形 6"/>
          <p:cNvSpPr/>
          <p:nvPr/>
        </p:nvSpPr>
        <p:spPr>
          <a:xfrm>
            <a:off x="950863" y="5578622"/>
            <a:ext cx="7344816" cy="584775"/>
          </a:xfrm>
          <a:prstGeom prst="rect">
            <a:avLst/>
          </a:prstGeom>
        </p:spPr>
        <p:txBody>
          <a:bodyPr wrap="square">
            <a:spAutoFit/>
          </a:bodyPr>
          <a:lstStyle/>
          <a:p>
            <a:r>
              <a:rPr lang="en-US" altLang="zh-CN" sz="1600" dirty="0"/>
              <a:t>A segment of a service inventory modeled after a service inventory blueprint. The top highlighted row </a:t>
            </a:r>
            <a:r>
              <a:rPr lang="en-US" altLang="zh-CN" sz="1600" dirty="0" smtClean="0"/>
              <a:t>represents a </a:t>
            </a:r>
            <a:r>
              <a:rPr lang="en-US" altLang="zh-CN" sz="1600" dirty="0"/>
              <a:t>layer of non-agnostic task services</a:t>
            </a:r>
            <a:endParaRPr lang="zh-CN" altLang="en-US" sz="1600" dirty="0"/>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304800" y="2301131"/>
            <a:ext cx="5111805" cy="3991718"/>
          </a:xfrm>
          <a:prstGeom prst="rect">
            <a:avLst/>
          </a:prstGeom>
        </p:spPr>
      </p:pic>
      <p:sp>
        <p:nvSpPr>
          <p:cNvPr id="50178" name="标题 1"/>
          <p:cNvSpPr>
            <a:spLocks noGrp="1"/>
          </p:cNvSpPr>
          <p:nvPr>
            <p:ph type="title"/>
          </p:nvPr>
        </p:nvSpPr>
        <p:spPr/>
        <p:txBody>
          <a:bodyPr/>
          <a:lstStyle/>
          <a:p>
            <a:r>
              <a:rPr lang="zh-CN" altLang="en-US" smtClean="0"/>
              <a:t>逻辑集中化</a:t>
            </a:r>
          </a:p>
        </p:txBody>
      </p:sp>
      <p:sp>
        <p:nvSpPr>
          <p:cNvPr id="3" name="内容占位符 2"/>
          <p:cNvSpPr>
            <a:spLocks noGrp="1"/>
          </p:cNvSpPr>
          <p:nvPr>
            <p:ph idx="1"/>
          </p:nvPr>
        </p:nvSpPr>
        <p:spPr>
          <a:xfrm>
            <a:off x="457200" y="1052514"/>
            <a:ext cx="8229600" cy="1080342"/>
          </a:xfrm>
        </p:spPr>
        <p:txBody>
          <a:bodyPr>
            <a:normAutofit/>
          </a:bodyPr>
          <a:lstStyle/>
          <a:p>
            <a:r>
              <a:rPr lang="zh-CN" altLang="en-US" sz="2400" dirty="0" smtClean="0"/>
              <a:t>在一个规范化的服务库存中，每个服务代表了一个独特的功能域，这本质上意味着服务边界之间没有重叠</a:t>
            </a:r>
          </a:p>
        </p:txBody>
      </p:sp>
      <p:sp>
        <p:nvSpPr>
          <p:cNvPr id="50180"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CB1F0947-CE7A-4BCF-BFD9-1001227D402F}" type="slidenum">
              <a:rPr lang="en-US" altLang="zh-CN" smtClean="0"/>
              <a:pPr/>
              <a:t>43</a:t>
            </a:fld>
            <a:endParaRPr lang="en-US" altLang="zh-CN"/>
          </a:p>
        </p:txBody>
      </p:sp>
      <p:sp>
        <p:nvSpPr>
          <p:cNvPr id="5" name="矩形 4"/>
          <p:cNvSpPr/>
          <p:nvPr/>
        </p:nvSpPr>
        <p:spPr>
          <a:xfrm>
            <a:off x="5662464" y="3984525"/>
            <a:ext cx="3024336" cy="2308324"/>
          </a:xfrm>
          <a:prstGeom prst="rect">
            <a:avLst/>
          </a:prstGeom>
        </p:spPr>
        <p:txBody>
          <a:bodyPr wrap="square">
            <a:spAutoFit/>
          </a:bodyPr>
          <a:lstStyle/>
          <a:p>
            <a:r>
              <a:rPr lang="en-US" altLang="zh-CN" sz="1600" dirty="0"/>
              <a:t>Logic Centralization introduces rules as to how solution logic is built in relation to </a:t>
            </a:r>
            <a:r>
              <a:rPr lang="en-US" altLang="zh-CN" sz="1600" dirty="0" smtClean="0"/>
              <a:t>a service </a:t>
            </a:r>
            <a:r>
              <a:rPr lang="en-US" altLang="zh-CN" sz="1600" dirty="0"/>
              <a:t>inventory that acts as a central repository for agnostic services. These </a:t>
            </a:r>
            <a:r>
              <a:rPr lang="en-US" altLang="zh-CN" sz="1600" dirty="0" smtClean="0"/>
              <a:t>rules affect </a:t>
            </a:r>
            <a:r>
              <a:rPr lang="en-US" altLang="zh-CN" sz="1600" dirty="0"/>
              <a:t>project teams regardless of whether logic already exists for the systems </a:t>
            </a:r>
            <a:r>
              <a:rPr lang="en-US" altLang="zh-CN" sz="1600" dirty="0" smtClean="0"/>
              <a:t>they are </a:t>
            </a:r>
            <a:r>
              <a:rPr lang="en-US" altLang="zh-CN" sz="1600" dirty="0"/>
              <a:t>building</a:t>
            </a:r>
            <a:endParaRPr lang="zh-CN" altLang="en-US" sz="1600" dirty="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p:cNvSpPr>
          <p:nvPr>
            <p:ph type="title"/>
          </p:nvPr>
        </p:nvSpPr>
        <p:spPr/>
        <p:txBody>
          <a:bodyPr/>
          <a:lstStyle/>
          <a:p>
            <a:r>
              <a:rPr lang="zh-CN" altLang="en-US" smtClean="0"/>
              <a:t>作为企业标准的逻辑集中化</a:t>
            </a:r>
          </a:p>
        </p:txBody>
      </p:sp>
      <p:sp>
        <p:nvSpPr>
          <p:cNvPr id="3" name="内容占位符 2"/>
          <p:cNvSpPr>
            <a:spLocks noGrp="1"/>
          </p:cNvSpPr>
          <p:nvPr>
            <p:ph idx="1"/>
          </p:nvPr>
        </p:nvSpPr>
        <p:spPr/>
        <p:txBody>
          <a:bodyPr/>
          <a:lstStyle/>
          <a:p>
            <a:r>
              <a:rPr lang="zh-CN" altLang="en-US" dirty="0" smtClean="0"/>
              <a:t>逻辑集中化的风险</a:t>
            </a:r>
            <a:endParaRPr lang="en-US" altLang="zh-CN" dirty="0" smtClean="0"/>
          </a:p>
          <a:p>
            <a:pPr lvl="1"/>
            <a:r>
              <a:rPr lang="zh-CN" altLang="en-US" dirty="0" smtClean="0"/>
              <a:t>项目组没有意识到这样一个服务的存在或这一服务所能提供的功能，因为该服务没有做到充分地可发现或者可解释</a:t>
            </a:r>
            <a:endParaRPr lang="en-US" altLang="zh-CN" dirty="0" smtClean="0"/>
          </a:p>
          <a:p>
            <a:pPr lvl="2"/>
            <a:r>
              <a:rPr lang="zh-CN" altLang="en-US" dirty="0" smtClean="0"/>
              <a:t>使用服务可发现性原则和集中的服务注册</a:t>
            </a:r>
            <a:endParaRPr lang="en-US" altLang="zh-CN" dirty="0" smtClean="0"/>
          </a:p>
          <a:p>
            <a:pPr lvl="1"/>
            <a:r>
              <a:rPr lang="zh-CN" altLang="en-US" dirty="0" smtClean="0"/>
              <a:t>项目组拒绝使用这样一个服务，因为他们认为这样做会加重负担</a:t>
            </a:r>
            <a:endParaRPr lang="en-US" altLang="zh-CN" dirty="0" smtClean="0"/>
          </a:p>
          <a:p>
            <a:pPr lvl="2"/>
            <a:r>
              <a:rPr lang="zh-CN" altLang="en-US" dirty="0" smtClean="0"/>
              <a:t>纳入企业的设计标准</a:t>
            </a:r>
            <a:endParaRPr lang="en-US" altLang="zh-CN" dirty="0" smtClean="0"/>
          </a:p>
          <a:p>
            <a:pPr lvl="2"/>
            <a:r>
              <a:rPr lang="zh-CN" altLang="en-US" dirty="0" smtClean="0"/>
              <a:t>如果项目组所需的一个新的功能落在一个己有的服务的边界之内，那么该功能应被添加到这一服务中</a:t>
            </a:r>
          </a:p>
        </p:txBody>
      </p:sp>
      <p:sp>
        <p:nvSpPr>
          <p:cNvPr id="51204"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81F9A6E2-776E-4590-8168-C7E289300CF4}" type="slidenum">
              <a:rPr lang="en-US" altLang="zh-CN" smtClean="0"/>
              <a:pPr/>
              <a:t>44</a:t>
            </a:fld>
            <a:endParaRPr lang="en-US" altLang="zh-CN"/>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p:txBody>
          <a:bodyPr/>
          <a:lstStyle/>
          <a:p>
            <a:r>
              <a:rPr lang="zh-CN" altLang="en-US" smtClean="0"/>
              <a:t>逻辑集中化与合约集中化 （</a:t>
            </a:r>
            <a:r>
              <a:rPr lang="en-US" altLang="zh-CN" smtClean="0"/>
              <a:t>1/3</a:t>
            </a:r>
            <a:r>
              <a:rPr lang="zh-CN" altLang="en-US" smtClean="0"/>
              <a:t>）</a:t>
            </a:r>
            <a:endParaRPr lang="zh-CN" altLang="en-US" dirty="0" smtClean="0"/>
          </a:p>
        </p:txBody>
      </p:sp>
      <p:sp>
        <p:nvSpPr>
          <p:cNvPr id="52227" name="内容占位符 2"/>
          <p:cNvSpPr>
            <a:spLocks noGrp="1"/>
          </p:cNvSpPr>
          <p:nvPr>
            <p:ph idx="1"/>
          </p:nvPr>
        </p:nvSpPr>
        <p:spPr/>
        <p:txBody>
          <a:bodyPr/>
          <a:lstStyle/>
          <a:p>
            <a:r>
              <a:rPr lang="zh-CN" altLang="en-US" dirty="0" smtClean="0"/>
              <a:t>逻辑集中化要求：设计者建立消费者程序并需要特定功能时，这些消费者程序只调用指定的服务</a:t>
            </a:r>
            <a:endParaRPr lang="en-US" altLang="zh-CN" dirty="0" smtClean="0"/>
          </a:p>
          <a:p>
            <a:pPr lvl="1"/>
            <a:r>
              <a:rPr lang="zh-CN" altLang="en-US" dirty="0" smtClean="0"/>
              <a:t>逻辑集中化不会描述怎样访问这一逻辑</a:t>
            </a:r>
            <a:endParaRPr lang="en-US" altLang="zh-CN" dirty="0" smtClean="0"/>
          </a:p>
          <a:p>
            <a:r>
              <a:rPr lang="zh-CN" altLang="en-US" dirty="0" smtClean="0"/>
              <a:t>合约集中化要求：设计者建立消费者程序时，这些消费者程序仅通过已发布的合约访问一个服务</a:t>
            </a:r>
            <a:endParaRPr lang="en-US" altLang="zh-CN" dirty="0" smtClean="0"/>
          </a:p>
          <a:p>
            <a:pPr lvl="1"/>
            <a:r>
              <a:rPr lang="zh-CN" altLang="en-US" dirty="0" smtClean="0"/>
              <a:t>合约集中化不需要指定为了何种目的应该访问什么服务</a:t>
            </a:r>
            <a:endParaRPr lang="zh-CN" altLang="en-US" dirty="0" smtClean="0"/>
          </a:p>
        </p:txBody>
      </p:sp>
      <p:sp>
        <p:nvSpPr>
          <p:cNvPr id="5222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33429A33-71FF-4C43-8C5F-DCD5255CCB62}" type="slidenum">
              <a:rPr lang="en-US" altLang="zh-CN" smtClean="0"/>
              <a:pPr/>
              <a:t>45</a:t>
            </a:fld>
            <a:endParaRPr lang="en-US" altLang="zh-CN"/>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zh-CN" altLang="en-US" dirty="0" smtClean="0"/>
              <a:t>逻辑集中化与合约集中化 （</a:t>
            </a:r>
            <a:r>
              <a:rPr lang="en-US" altLang="zh-CN" dirty="0" smtClean="0"/>
              <a:t>2/3</a:t>
            </a:r>
            <a:r>
              <a:rPr lang="zh-CN" altLang="en-US" dirty="0" smtClean="0"/>
              <a:t>）</a:t>
            </a:r>
          </a:p>
        </p:txBody>
      </p:sp>
      <p:sp>
        <p:nvSpPr>
          <p:cNvPr id="53251"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18FD4B9-24CE-4EA3-B5FB-414A29FB9186}" type="slidenum">
              <a:rPr lang="en-US" altLang="zh-CN" smtClean="0"/>
              <a:pPr/>
              <a:t>46</a:t>
            </a:fld>
            <a:endParaRPr lang="en-US" altLang="zh-CN"/>
          </a:p>
        </p:txBody>
      </p:sp>
      <p:pic>
        <p:nvPicPr>
          <p:cNvPr id="2" name="图片 1"/>
          <p:cNvPicPr>
            <a:picLocks noChangeAspect="1"/>
          </p:cNvPicPr>
          <p:nvPr/>
        </p:nvPicPr>
        <p:blipFill>
          <a:blip r:embed="rId3"/>
          <a:stretch>
            <a:fillRect/>
          </a:stretch>
        </p:blipFill>
        <p:spPr>
          <a:xfrm>
            <a:off x="1290637" y="1431925"/>
            <a:ext cx="6562725" cy="5029200"/>
          </a:xfrm>
          <a:prstGeom prst="rect">
            <a:avLst/>
          </a:prstGeom>
        </p:spPr>
      </p:pic>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zh-CN" altLang="en-US" dirty="0" smtClean="0"/>
              <a:t>逻辑集中化与合约集中化 （</a:t>
            </a:r>
            <a:r>
              <a:rPr lang="en-US" altLang="zh-CN" dirty="0" smtClean="0"/>
              <a:t>3/3</a:t>
            </a:r>
            <a:r>
              <a:rPr lang="zh-CN" altLang="en-US" dirty="0" smtClean="0"/>
              <a:t>）</a:t>
            </a:r>
          </a:p>
        </p:txBody>
      </p:sp>
      <p:sp>
        <p:nvSpPr>
          <p:cNvPr id="53251"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18FD4B9-24CE-4EA3-B5FB-414A29FB9186}" type="slidenum">
              <a:rPr lang="en-US" altLang="zh-CN" smtClean="0"/>
              <a:pPr/>
              <a:t>47</a:t>
            </a:fld>
            <a:endParaRPr lang="en-US" altLang="zh-CN"/>
          </a:p>
        </p:txBody>
      </p:sp>
      <p:pic>
        <p:nvPicPr>
          <p:cNvPr id="7" name="图片 6"/>
          <p:cNvPicPr>
            <a:picLocks noChangeAspect="1"/>
          </p:cNvPicPr>
          <p:nvPr/>
        </p:nvPicPr>
        <p:blipFill>
          <a:blip r:embed="rId3"/>
          <a:stretch>
            <a:fillRect/>
          </a:stretch>
        </p:blipFill>
        <p:spPr>
          <a:xfrm>
            <a:off x="1214437" y="1988840"/>
            <a:ext cx="6638925" cy="3609975"/>
          </a:xfrm>
          <a:prstGeom prst="rect">
            <a:avLst/>
          </a:prstGeom>
        </p:spPr>
      </p:pic>
    </p:spTree>
    <p:extLst>
      <p:ext uri="{BB962C8B-B14F-4D97-AF65-F5344CB8AC3E}">
        <p14:creationId xmlns:p14="http://schemas.microsoft.com/office/powerpoint/2010/main" val="708732428"/>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zh-CN" altLang="en-US" smtClean="0"/>
              <a:t>其他</a:t>
            </a:r>
            <a:r>
              <a:rPr lang="en-US" altLang="zh-CN" smtClean="0"/>
              <a:t>…</a:t>
            </a:r>
            <a:endParaRPr lang="zh-CN" altLang="en-US" smtClean="0"/>
          </a:p>
        </p:txBody>
      </p:sp>
      <p:sp>
        <p:nvSpPr>
          <p:cNvPr id="58371" name="内容占位符 2"/>
          <p:cNvSpPr>
            <a:spLocks noGrp="1"/>
          </p:cNvSpPr>
          <p:nvPr>
            <p:ph idx="1"/>
          </p:nvPr>
        </p:nvSpPr>
        <p:spPr/>
        <p:txBody>
          <a:bodyPr/>
          <a:lstStyle/>
          <a:p>
            <a:r>
              <a:rPr lang="zh-CN" altLang="en-US" dirty="0" smtClean="0"/>
              <a:t>集中化与</a:t>
            </a:r>
            <a:r>
              <a:rPr lang="en-US" altLang="zh-CN" dirty="0" smtClean="0"/>
              <a:t>Web </a:t>
            </a:r>
            <a:r>
              <a:rPr lang="zh-CN" altLang="en-US" dirty="0" smtClean="0"/>
              <a:t>服务</a:t>
            </a:r>
            <a:endParaRPr lang="en-US" altLang="zh-CN" dirty="0" smtClean="0"/>
          </a:p>
          <a:p>
            <a:pPr lvl="1"/>
            <a:r>
              <a:rPr lang="en-US" altLang="zh-CN" dirty="0" smtClean="0"/>
              <a:t>Web</a:t>
            </a:r>
            <a:r>
              <a:rPr lang="zh-CN" altLang="en-US" dirty="0" smtClean="0"/>
              <a:t>服务的</a:t>
            </a:r>
            <a:r>
              <a:rPr lang="en-US" altLang="zh-CN" dirty="0" smtClean="0"/>
              <a:t>WSDL</a:t>
            </a:r>
            <a:r>
              <a:rPr lang="zh-CN" altLang="en-US" dirty="0" smtClean="0"/>
              <a:t>、</a:t>
            </a:r>
            <a:r>
              <a:rPr lang="en-US" altLang="zh-CN" dirty="0" smtClean="0"/>
              <a:t>XML schema</a:t>
            </a:r>
            <a:r>
              <a:rPr lang="zh-CN" altLang="en-US" dirty="0" smtClean="0"/>
              <a:t>和</a:t>
            </a:r>
            <a:r>
              <a:rPr lang="en-US" altLang="zh-CN" dirty="0" smtClean="0"/>
              <a:t>WS-Policy</a:t>
            </a:r>
            <a:r>
              <a:rPr lang="zh-CN" altLang="en-US" dirty="0" smtClean="0"/>
              <a:t>定义必须正确地表达访问一个正式逻辑体</a:t>
            </a:r>
            <a:r>
              <a:rPr lang="zh-CN" altLang="en-US" dirty="0"/>
              <a:t>（根据逻辑</a:t>
            </a:r>
            <a:r>
              <a:rPr lang="zh-CN" altLang="en-US" dirty="0" smtClean="0"/>
              <a:t>集中化</a:t>
            </a:r>
            <a:r>
              <a:rPr lang="zh-CN" altLang="en-US" dirty="0"/>
              <a:t>）</a:t>
            </a:r>
            <a:r>
              <a:rPr lang="zh-CN" altLang="en-US" dirty="0" smtClean="0"/>
              <a:t>的一个正式访问点</a:t>
            </a:r>
            <a:r>
              <a:rPr lang="zh-CN" altLang="en-US" dirty="0"/>
              <a:t>（</a:t>
            </a:r>
            <a:r>
              <a:rPr lang="zh-CN" altLang="en-US" dirty="0" smtClean="0"/>
              <a:t>根据合约集中化</a:t>
            </a:r>
            <a:r>
              <a:rPr lang="zh-CN" altLang="en-US" dirty="0"/>
              <a:t>）</a:t>
            </a:r>
            <a:endParaRPr lang="en-US" altLang="zh-CN" dirty="0" smtClean="0"/>
          </a:p>
          <a:p>
            <a:r>
              <a:rPr lang="zh-CN" altLang="en-US" dirty="0" smtClean="0"/>
              <a:t>实现逻辑集中化的挑战</a:t>
            </a:r>
            <a:endParaRPr lang="en-US" altLang="zh-CN" dirty="0" smtClean="0"/>
          </a:p>
          <a:p>
            <a:pPr lvl="1"/>
            <a:r>
              <a:rPr lang="zh-CN" altLang="en-US" dirty="0" smtClean="0"/>
              <a:t>实际企业中很难实现逻辑集中化</a:t>
            </a:r>
            <a:endParaRPr lang="en-US" altLang="zh-CN" dirty="0" smtClean="0"/>
          </a:p>
          <a:p>
            <a:pPr lvl="1"/>
            <a:r>
              <a:rPr lang="zh-CN" altLang="en-US" dirty="0" smtClean="0"/>
              <a:t>采用领域库存 </a:t>
            </a:r>
            <a:r>
              <a:rPr lang="en-US" altLang="zh-CN" dirty="0" smtClean="0"/>
              <a:t>(Domain Inventory) </a:t>
            </a:r>
            <a:r>
              <a:rPr lang="zh-CN" altLang="en-US" dirty="0" smtClean="0"/>
              <a:t>模式描述企业的子集，并在领域库存中实现逻辑集中化</a:t>
            </a:r>
            <a:endParaRPr lang="en-US" altLang="zh-CN" dirty="0" smtClean="0"/>
          </a:p>
        </p:txBody>
      </p:sp>
      <p:sp>
        <p:nvSpPr>
          <p:cNvPr id="5427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D96A25AC-29BC-4777-9483-DCC450501D48}" type="slidenum">
              <a:rPr lang="en-US" altLang="zh-CN" smtClean="0"/>
              <a:pPr/>
              <a:t>48</a:t>
            </a:fld>
            <a:endParaRPr lang="en-US" altLang="zh-CN"/>
          </a:p>
        </p:txBody>
      </p:sp>
    </p:spTree>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a:lstStyle/>
          <a:p>
            <a:r>
              <a:rPr lang="zh-CN" altLang="en-US" smtClean="0"/>
              <a:t>服务可复用性与服务设计</a:t>
            </a:r>
          </a:p>
        </p:txBody>
      </p:sp>
      <p:sp>
        <p:nvSpPr>
          <p:cNvPr id="60419" name="内容占位符 2"/>
          <p:cNvSpPr>
            <a:spLocks noGrp="1"/>
          </p:cNvSpPr>
          <p:nvPr>
            <p:ph idx="1"/>
          </p:nvPr>
        </p:nvSpPr>
        <p:spPr/>
        <p:txBody>
          <a:bodyPr/>
          <a:lstStyle/>
          <a:p>
            <a:pPr>
              <a:lnSpc>
                <a:spcPct val="150000"/>
              </a:lnSpc>
            </a:pPr>
            <a:r>
              <a:rPr lang="zh-CN" altLang="en-US" dirty="0" smtClean="0"/>
              <a:t>服务可复用性与服务建模</a:t>
            </a:r>
            <a:endParaRPr lang="en-US" altLang="zh-CN" dirty="0" smtClean="0"/>
          </a:p>
          <a:p>
            <a:pPr lvl="1">
              <a:lnSpc>
                <a:spcPct val="150000"/>
              </a:lnSpc>
            </a:pPr>
            <a:r>
              <a:rPr lang="zh-CN" altLang="en-US" dirty="0" smtClean="0"/>
              <a:t>服务建模中充分考虑服务的可复用性</a:t>
            </a:r>
            <a:endParaRPr lang="en-US" altLang="zh-CN" dirty="0" smtClean="0"/>
          </a:p>
          <a:p>
            <a:pPr>
              <a:lnSpc>
                <a:spcPct val="150000"/>
              </a:lnSpc>
            </a:pPr>
            <a:r>
              <a:rPr lang="zh-CN" altLang="en-US" dirty="0" smtClean="0"/>
              <a:t>服务可复用性与粒度</a:t>
            </a:r>
            <a:endParaRPr lang="en-US" altLang="zh-CN" dirty="0" smtClean="0"/>
          </a:p>
          <a:p>
            <a:pPr lvl="1">
              <a:lnSpc>
                <a:spcPct val="150000"/>
              </a:lnSpc>
            </a:pPr>
            <a:r>
              <a:rPr lang="zh-CN" altLang="en-US" dirty="0" smtClean="0"/>
              <a:t>恰当的粒度促进服务的可复用性</a:t>
            </a:r>
            <a:endParaRPr lang="en-US" altLang="zh-CN" dirty="0" smtClean="0"/>
          </a:p>
          <a:p>
            <a:pPr>
              <a:lnSpc>
                <a:spcPct val="150000"/>
              </a:lnSpc>
            </a:pPr>
            <a:r>
              <a:rPr lang="zh-CN" altLang="en-US" dirty="0" smtClean="0"/>
              <a:t>服务可复用性与服务模型</a:t>
            </a:r>
            <a:endParaRPr lang="en-US" altLang="zh-CN" dirty="0" smtClean="0"/>
          </a:p>
          <a:p>
            <a:pPr lvl="1">
              <a:lnSpc>
                <a:spcPct val="150000"/>
              </a:lnSpc>
            </a:pPr>
            <a:r>
              <a:rPr lang="zh-CN" altLang="en-US" dirty="0" smtClean="0"/>
              <a:t>不同类型的服务要求</a:t>
            </a:r>
            <a:r>
              <a:rPr lang="en-US" altLang="zh-CN" dirty="0" smtClean="0"/>
              <a:t>/</a:t>
            </a:r>
            <a:r>
              <a:rPr lang="zh-CN" altLang="en-US" dirty="0" smtClean="0"/>
              <a:t>期待不同的可复用性</a:t>
            </a:r>
            <a:endParaRPr lang="en-US" altLang="zh-CN" dirty="0" smtClean="0"/>
          </a:p>
        </p:txBody>
      </p:sp>
      <p:sp>
        <p:nvSpPr>
          <p:cNvPr id="55300"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B16153D4-7D60-41C9-B6F9-616F817C91AF}" type="slidenum">
              <a:rPr lang="en-US" altLang="zh-CN" smtClean="0"/>
              <a:pPr/>
              <a:t>49</a:t>
            </a:fld>
            <a:endParaRPr lang="en-US" altLang="zh-CN"/>
          </a:p>
        </p:txBody>
      </p:sp>
    </p:spTree>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zh-CN" altLang="en-US" smtClean="0"/>
              <a:t>服务可复用性与服务建模</a:t>
            </a:r>
          </a:p>
        </p:txBody>
      </p:sp>
      <p:sp>
        <p:nvSpPr>
          <p:cNvPr id="3" name="内容占位符 2"/>
          <p:cNvSpPr>
            <a:spLocks noGrp="1"/>
          </p:cNvSpPr>
          <p:nvPr>
            <p:ph idx="1"/>
          </p:nvPr>
        </p:nvSpPr>
        <p:spPr/>
        <p:txBody>
          <a:bodyPr/>
          <a:lstStyle/>
          <a:p>
            <a:r>
              <a:rPr lang="zh-CN" altLang="en-US" dirty="0" smtClean="0"/>
              <a:t>面向服务分析阶段需要考虑服务的可复用性、服务自治和服务可发现性</a:t>
            </a:r>
            <a:endParaRPr lang="en-US" altLang="zh-CN" dirty="0" smtClean="0"/>
          </a:p>
          <a:p>
            <a:r>
              <a:rPr lang="zh-CN" altLang="en-US" dirty="0" smtClean="0"/>
              <a:t>在服务建模中，需要</a:t>
            </a:r>
            <a:endParaRPr lang="en-US" altLang="zh-CN" dirty="0" smtClean="0"/>
          </a:p>
          <a:p>
            <a:pPr lvl="1"/>
            <a:r>
              <a:rPr lang="zh-CN" altLang="en-US" dirty="0" smtClean="0"/>
              <a:t>精化已有的服务能力候选，使其更加一般化和可复用</a:t>
            </a:r>
            <a:endParaRPr lang="en-US" altLang="zh-CN" dirty="0" smtClean="0"/>
          </a:p>
          <a:p>
            <a:pPr lvl="1"/>
            <a:r>
              <a:rPr lang="zh-CN" altLang="en-US" dirty="0" smtClean="0"/>
              <a:t>定义额外的服务能力候选，这些能力是在构成服务建模过程的基础的业务流程自动化所需之外的</a:t>
            </a:r>
            <a:endParaRPr lang="en-US" altLang="zh-CN" dirty="0" smtClean="0"/>
          </a:p>
        </p:txBody>
      </p:sp>
      <p:sp>
        <p:nvSpPr>
          <p:cNvPr id="56324"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EEE0F643-B942-4C22-83F1-2241607044A7}" type="slidenum">
              <a:rPr lang="en-US" altLang="zh-CN" smtClean="0"/>
              <a:pPr/>
              <a:t>50</a:t>
            </a:fld>
            <a:endParaRPr lang="en-US" altLang="zh-CN"/>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p:cNvSpPr>
          <p:nvPr>
            <p:ph type="title"/>
          </p:nvPr>
        </p:nvSpPr>
        <p:spPr/>
        <p:txBody>
          <a:bodyPr/>
          <a:lstStyle/>
          <a:p>
            <a:r>
              <a:rPr lang="zh-CN" altLang="en-US" smtClean="0"/>
              <a:t>服务可复用性与粒度</a:t>
            </a:r>
          </a:p>
        </p:txBody>
      </p:sp>
      <p:sp>
        <p:nvSpPr>
          <p:cNvPr id="3" name="内容占位符 2"/>
          <p:cNvSpPr>
            <a:spLocks noGrp="1"/>
          </p:cNvSpPr>
          <p:nvPr>
            <p:ph idx="1"/>
          </p:nvPr>
        </p:nvSpPr>
        <p:spPr/>
        <p:txBody>
          <a:bodyPr>
            <a:normAutofit fontScale="77500" lnSpcReduction="20000"/>
          </a:bodyPr>
          <a:lstStyle/>
          <a:p>
            <a:pPr>
              <a:lnSpc>
                <a:spcPct val="120000"/>
              </a:lnSpc>
            </a:pPr>
            <a:r>
              <a:rPr lang="zh-CN" altLang="en-US" dirty="0" smtClean="0"/>
              <a:t>服务粒度</a:t>
            </a:r>
            <a:endParaRPr lang="en-US" altLang="zh-CN" dirty="0" smtClean="0"/>
          </a:p>
          <a:p>
            <a:pPr lvl="1">
              <a:lnSpc>
                <a:spcPct val="120000"/>
              </a:lnSpc>
            </a:pPr>
            <a:r>
              <a:rPr lang="zh-CN" altLang="en-US" dirty="0" smtClean="0"/>
              <a:t>服务可复用性原则倾向于降低服务粒度级别</a:t>
            </a:r>
            <a:endParaRPr lang="en-US" altLang="zh-CN" dirty="0" smtClean="0"/>
          </a:p>
          <a:p>
            <a:pPr>
              <a:lnSpc>
                <a:spcPct val="120000"/>
              </a:lnSpc>
            </a:pPr>
            <a:r>
              <a:rPr lang="zh-CN" altLang="en-US" dirty="0" smtClean="0"/>
              <a:t>能力粒度</a:t>
            </a:r>
            <a:endParaRPr lang="en-US" altLang="zh-CN" dirty="0" smtClean="0"/>
          </a:p>
          <a:p>
            <a:pPr lvl="1">
              <a:lnSpc>
                <a:spcPct val="120000"/>
              </a:lnSpc>
            </a:pPr>
            <a:r>
              <a:rPr lang="zh-CN" altLang="en-US" dirty="0" smtClean="0"/>
              <a:t>粗粒度的能力（多场景）更加可复用，但需要在服务消费者和面向服务方案的整体上强加过多的数据转换和处理需求</a:t>
            </a:r>
            <a:endParaRPr lang="en-US" altLang="zh-CN" dirty="0" smtClean="0"/>
          </a:p>
          <a:p>
            <a:pPr lvl="1">
              <a:lnSpc>
                <a:spcPct val="120000"/>
              </a:lnSpc>
            </a:pPr>
            <a:r>
              <a:rPr lang="zh-CN" altLang="en-US" dirty="0" smtClean="0"/>
              <a:t>服务可复用性原则的运用需要为相似能力定义粗粒度和细粒度的版本</a:t>
            </a:r>
            <a:endParaRPr lang="en-US" altLang="zh-CN" dirty="0" smtClean="0"/>
          </a:p>
          <a:p>
            <a:pPr>
              <a:lnSpc>
                <a:spcPct val="120000"/>
              </a:lnSpc>
            </a:pPr>
            <a:r>
              <a:rPr lang="zh-CN" altLang="en-US" dirty="0" smtClean="0"/>
              <a:t>数据粒度</a:t>
            </a:r>
            <a:endParaRPr lang="en-US" altLang="zh-CN" dirty="0" smtClean="0"/>
          </a:p>
          <a:p>
            <a:pPr lvl="1">
              <a:lnSpc>
                <a:spcPct val="120000"/>
              </a:lnSpc>
            </a:pPr>
            <a:r>
              <a:rPr lang="zh-CN" altLang="en-US" dirty="0" smtClean="0"/>
              <a:t>增加对粗粒度数据交换的要求</a:t>
            </a:r>
          </a:p>
          <a:p>
            <a:pPr>
              <a:lnSpc>
                <a:spcPct val="120000"/>
              </a:lnSpc>
            </a:pPr>
            <a:r>
              <a:rPr lang="zh-CN" altLang="en-US" dirty="0" smtClean="0"/>
              <a:t>约束粒度</a:t>
            </a:r>
            <a:endParaRPr lang="en-US" altLang="zh-CN" dirty="0" smtClean="0"/>
          </a:p>
          <a:p>
            <a:pPr lvl="1">
              <a:lnSpc>
                <a:spcPct val="120000"/>
              </a:lnSpc>
            </a:pPr>
            <a:r>
              <a:rPr lang="zh-CN" altLang="en-US" dirty="0" smtClean="0"/>
              <a:t>为使服务能力尽可能可复用，要求它们尽可能容易被消费者使用。这直接强调了对详细确认逻辑的减少，从而会导致更粗粒度约束的产生</a:t>
            </a:r>
          </a:p>
        </p:txBody>
      </p:sp>
      <p:sp>
        <p:nvSpPr>
          <p:cNvPr id="5734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05B3812D-6CD5-416E-AF0D-97D1314E5517}" type="slidenum">
              <a:rPr lang="en-US" altLang="zh-CN" smtClean="0"/>
              <a:pPr/>
              <a:t>51</a:t>
            </a:fld>
            <a:endParaRPr lang="en-US" altLang="zh-CN"/>
          </a:p>
        </p:txBody>
      </p:sp>
    </p:spTree>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p:txBody>
          <a:bodyPr/>
          <a:lstStyle/>
          <a:p>
            <a:r>
              <a:rPr lang="zh-CN" altLang="en-US" smtClean="0"/>
              <a:t>服务可复用性与服务模型</a:t>
            </a:r>
          </a:p>
        </p:txBody>
      </p:sp>
      <p:sp>
        <p:nvSpPr>
          <p:cNvPr id="58371" name="内容占位符 2"/>
          <p:cNvSpPr>
            <a:spLocks noGrp="1"/>
          </p:cNvSpPr>
          <p:nvPr>
            <p:ph idx="1"/>
          </p:nvPr>
        </p:nvSpPr>
        <p:spPr/>
        <p:txBody>
          <a:bodyPr/>
          <a:lstStyle/>
          <a:p>
            <a:pPr>
              <a:lnSpc>
                <a:spcPct val="150000"/>
              </a:lnSpc>
            </a:pPr>
            <a:r>
              <a:rPr lang="zh-CN" altLang="en-US" dirty="0" smtClean="0"/>
              <a:t>以实体为中心的业务服务和应用服务强调无关性，提供适合封装可复用逻辑的功能上下文</a:t>
            </a:r>
            <a:endParaRPr lang="en-US" altLang="zh-CN" dirty="0" smtClean="0"/>
          </a:p>
          <a:p>
            <a:pPr>
              <a:lnSpc>
                <a:spcPct val="150000"/>
              </a:lnSpc>
            </a:pPr>
            <a:r>
              <a:rPr lang="zh-CN" altLang="en-US" dirty="0" smtClean="0"/>
              <a:t>以任务为核心的业务服务通过将无关服务从处理业务流程的逻辑中解脱出来，同样也支持了可复用性</a:t>
            </a:r>
          </a:p>
        </p:txBody>
      </p:sp>
      <p:sp>
        <p:nvSpPr>
          <p:cNvPr id="58372"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EE94E8D3-1545-4058-9D93-0A1C5AA76AF2}" type="slidenum">
              <a:rPr lang="en-US" altLang="zh-CN" smtClean="0"/>
              <a:pPr/>
              <a:t>52</a:t>
            </a:fld>
            <a:endParaRPr lang="en-US" altLang="zh-CN"/>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zh-CN" altLang="en-US" smtClean="0"/>
              <a:t>服务可复用性与其他原则 </a:t>
            </a:r>
            <a:r>
              <a:rPr lang="en-US" altLang="zh-CN" smtClean="0"/>
              <a:t>I</a:t>
            </a:r>
            <a:endParaRPr lang="zh-CN" altLang="en-US" smtClean="0"/>
          </a:p>
        </p:txBody>
      </p:sp>
      <p:sp>
        <p:nvSpPr>
          <p:cNvPr id="59395"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AF706AC9-919B-4E3D-B9BD-B6657B384053}" type="slidenum">
              <a:rPr lang="en-US" altLang="zh-CN" smtClean="0"/>
              <a:pPr/>
              <a:t>53</a:t>
            </a:fld>
            <a:endParaRPr lang="en-US" altLang="zh-CN"/>
          </a:p>
        </p:txBody>
      </p:sp>
      <p:pic>
        <p:nvPicPr>
          <p:cNvPr id="2" name="图片 1"/>
          <p:cNvPicPr>
            <a:picLocks noChangeAspect="1"/>
          </p:cNvPicPr>
          <p:nvPr/>
        </p:nvPicPr>
        <p:blipFill>
          <a:blip r:embed="rId3"/>
          <a:stretch>
            <a:fillRect/>
          </a:stretch>
        </p:blipFill>
        <p:spPr>
          <a:xfrm>
            <a:off x="1043608" y="1196752"/>
            <a:ext cx="7484888" cy="5111631"/>
          </a:xfrm>
          <a:prstGeom prst="rect">
            <a:avLst/>
          </a:prstGeom>
        </p:spPr>
      </p:pic>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r>
              <a:rPr lang="zh-CN" altLang="en-US" smtClean="0"/>
              <a:t>服务可复用性与其他原则 </a:t>
            </a:r>
            <a:r>
              <a:rPr lang="en-US" altLang="zh-CN" smtClean="0"/>
              <a:t>II</a:t>
            </a:r>
            <a:endParaRPr lang="zh-CN" altLang="en-US" smtClean="0"/>
          </a:p>
        </p:txBody>
      </p:sp>
      <p:sp>
        <p:nvSpPr>
          <p:cNvPr id="65539" name="内容占位符 2"/>
          <p:cNvSpPr>
            <a:spLocks noGrp="1"/>
          </p:cNvSpPr>
          <p:nvPr>
            <p:ph idx="1"/>
          </p:nvPr>
        </p:nvSpPr>
        <p:spPr/>
        <p:txBody>
          <a:bodyPr>
            <a:normAutofit fontScale="85000" lnSpcReduction="20000"/>
          </a:bodyPr>
          <a:lstStyle/>
          <a:p>
            <a:pPr>
              <a:lnSpc>
                <a:spcPct val="120000"/>
              </a:lnSpc>
            </a:pPr>
            <a:r>
              <a:rPr lang="zh-CN" altLang="en-US" dirty="0" smtClean="0"/>
              <a:t>服务可复用性与标准化服务合约</a:t>
            </a:r>
            <a:endParaRPr lang="en-US" altLang="zh-CN" dirty="0" smtClean="0"/>
          </a:p>
          <a:p>
            <a:pPr lvl="1">
              <a:lnSpc>
                <a:spcPct val="120000"/>
              </a:lnSpc>
            </a:pPr>
            <a:r>
              <a:rPr lang="zh-CN" altLang="en-US" dirty="0" smtClean="0"/>
              <a:t>可复用的服务需要足够的灵活性来支持带有不同交互需求的消费者</a:t>
            </a:r>
            <a:endParaRPr lang="en-US" altLang="zh-CN" dirty="0" smtClean="0"/>
          </a:p>
          <a:p>
            <a:pPr lvl="1">
              <a:lnSpc>
                <a:spcPct val="120000"/>
              </a:lnSpc>
            </a:pPr>
            <a:r>
              <a:rPr lang="zh-CN" altLang="en-US" dirty="0" smtClean="0"/>
              <a:t>导致</a:t>
            </a:r>
            <a:r>
              <a:rPr lang="zh-CN" altLang="en-US" smtClean="0"/>
              <a:t>降低</a:t>
            </a:r>
            <a:r>
              <a:rPr lang="zh-CN" altLang="en-US" smtClean="0"/>
              <a:t>合约验证约束</a:t>
            </a:r>
            <a:r>
              <a:rPr lang="zh-CN" altLang="en-US" dirty="0" smtClean="0"/>
              <a:t>（尤其是那些易变的</a:t>
            </a:r>
            <a:r>
              <a:rPr lang="zh-CN" altLang="en-US" dirty="0"/>
              <a:t>）</a:t>
            </a:r>
            <a:r>
              <a:rPr lang="zh-CN" altLang="en-US" dirty="0" smtClean="0"/>
              <a:t>的设计标准</a:t>
            </a:r>
            <a:endParaRPr lang="en-US" altLang="zh-CN" dirty="0" smtClean="0"/>
          </a:p>
          <a:p>
            <a:pPr>
              <a:lnSpc>
                <a:spcPct val="120000"/>
              </a:lnSpc>
            </a:pPr>
            <a:r>
              <a:rPr lang="zh-CN" altLang="en-US" dirty="0" smtClean="0"/>
              <a:t>服务可复用性与服务抽象</a:t>
            </a:r>
            <a:endParaRPr lang="en-US" altLang="zh-CN" dirty="0" smtClean="0"/>
          </a:p>
          <a:p>
            <a:pPr lvl="1">
              <a:lnSpc>
                <a:spcPct val="120000"/>
              </a:lnSpc>
            </a:pPr>
            <a:r>
              <a:rPr lang="zh-CN" altLang="en-US" dirty="0" smtClean="0"/>
              <a:t>合约的自描述性与简洁之间的平衡</a:t>
            </a:r>
            <a:endParaRPr lang="en-US" altLang="zh-CN" dirty="0" smtClean="0"/>
          </a:p>
          <a:p>
            <a:pPr lvl="1">
              <a:lnSpc>
                <a:spcPct val="120000"/>
              </a:lnSpc>
            </a:pPr>
            <a:r>
              <a:rPr lang="zh-CN" altLang="en-US" dirty="0" smtClean="0"/>
              <a:t>元信息的抽象程度反映这一平衡</a:t>
            </a:r>
            <a:endParaRPr lang="en-US" altLang="zh-CN" dirty="0" smtClean="0"/>
          </a:p>
          <a:p>
            <a:pPr>
              <a:lnSpc>
                <a:spcPct val="120000"/>
              </a:lnSpc>
            </a:pPr>
            <a:r>
              <a:rPr lang="zh-CN" altLang="en-US" dirty="0" smtClean="0"/>
              <a:t>服务可复用性与服务松散耦合</a:t>
            </a:r>
            <a:endParaRPr lang="en-US" altLang="zh-CN" dirty="0" smtClean="0"/>
          </a:p>
          <a:p>
            <a:pPr lvl="1">
              <a:lnSpc>
                <a:spcPct val="120000"/>
              </a:lnSpc>
            </a:pPr>
            <a:r>
              <a:rPr lang="zh-CN" altLang="en-US" dirty="0" smtClean="0"/>
              <a:t>一个服务的依赖需求越小，复用它就越简单</a:t>
            </a:r>
            <a:endParaRPr lang="en-US" altLang="zh-CN" dirty="0" smtClean="0"/>
          </a:p>
          <a:p>
            <a:pPr lvl="1">
              <a:lnSpc>
                <a:spcPct val="120000"/>
              </a:lnSpc>
            </a:pPr>
            <a:r>
              <a:rPr lang="zh-CN" altLang="en-US" dirty="0" smtClean="0"/>
              <a:t>当追求服务逻辑的可复用性时，总是有一种减少服务合约约束的趋势</a:t>
            </a:r>
            <a:endParaRPr lang="en-US" altLang="zh-CN" dirty="0" smtClean="0"/>
          </a:p>
        </p:txBody>
      </p:sp>
      <p:sp>
        <p:nvSpPr>
          <p:cNvPr id="60420"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C5A32AFF-367A-4485-90D3-7A01BBE8D440}" type="slidenum">
              <a:rPr lang="en-US" altLang="zh-CN" smtClean="0"/>
              <a:pPr/>
              <a:t>54</a:t>
            </a:fld>
            <a:endParaRPr lang="en-US" altLang="zh-CN"/>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r>
              <a:rPr lang="zh-CN" altLang="en-US" smtClean="0"/>
              <a:t>服务可复用性与其他原则 </a:t>
            </a:r>
            <a:r>
              <a:rPr lang="en-US" altLang="zh-CN" smtClean="0"/>
              <a:t>III</a:t>
            </a:r>
            <a:endParaRPr lang="zh-CN" altLang="en-US" smtClean="0"/>
          </a:p>
        </p:txBody>
      </p:sp>
      <p:sp>
        <p:nvSpPr>
          <p:cNvPr id="66563" name="内容占位符 2"/>
          <p:cNvSpPr>
            <a:spLocks noGrp="1"/>
          </p:cNvSpPr>
          <p:nvPr>
            <p:ph idx="1"/>
          </p:nvPr>
        </p:nvSpPr>
        <p:spPr/>
        <p:txBody>
          <a:bodyPr/>
          <a:lstStyle/>
          <a:p>
            <a:r>
              <a:rPr lang="zh-CN" altLang="en-US" dirty="0" smtClean="0"/>
              <a:t>服务可复用性与其他原则</a:t>
            </a:r>
            <a:endParaRPr lang="en-US" altLang="zh-CN" dirty="0" smtClean="0"/>
          </a:p>
          <a:p>
            <a:pPr lvl="1"/>
            <a:r>
              <a:rPr lang="zh-CN" altLang="en-US" dirty="0" smtClean="0"/>
              <a:t>服务自治</a:t>
            </a:r>
            <a:endParaRPr lang="en-US" altLang="zh-CN" dirty="0" smtClean="0"/>
          </a:p>
          <a:p>
            <a:pPr lvl="2"/>
            <a:r>
              <a:rPr lang="zh-CN" altLang="en-US" dirty="0" smtClean="0"/>
              <a:t>自治是对可复用服务潜在高性能和并行使用的保证</a:t>
            </a:r>
            <a:endParaRPr lang="en-US" altLang="zh-CN" dirty="0" smtClean="0"/>
          </a:p>
          <a:p>
            <a:pPr lvl="1"/>
            <a:r>
              <a:rPr lang="zh-CN" altLang="en-US" dirty="0" smtClean="0"/>
              <a:t>服务无状态</a:t>
            </a:r>
            <a:endParaRPr lang="en-US" altLang="zh-CN" dirty="0" smtClean="0"/>
          </a:p>
          <a:p>
            <a:pPr lvl="2"/>
            <a:r>
              <a:rPr lang="zh-CN" altLang="en-US" dirty="0" smtClean="0"/>
              <a:t>通过最小化状态管理责任，提高一个服务的可用性，从而提高有效扩展的能力</a:t>
            </a:r>
            <a:endParaRPr lang="en-US" altLang="zh-CN" dirty="0" smtClean="0"/>
          </a:p>
          <a:p>
            <a:pPr lvl="1"/>
            <a:r>
              <a:rPr lang="zh-CN" altLang="en-US" dirty="0" smtClean="0"/>
              <a:t>服务可发现性</a:t>
            </a:r>
            <a:endParaRPr lang="en-US" altLang="zh-CN" dirty="0" smtClean="0"/>
          </a:p>
          <a:p>
            <a:pPr lvl="2"/>
            <a:r>
              <a:rPr lang="zh-CN" altLang="en-US" dirty="0" smtClean="0"/>
              <a:t>可复用服务必需可发现</a:t>
            </a:r>
            <a:r>
              <a:rPr lang="zh-CN" altLang="en-US" dirty="0"/>
              <a:t>、</a:t>
            </a:r>
            <a:r>
              <a:rPr lang="zh-CN" altLang="en-US" dirty="0" smtClean="0"/>
              <a:t>可解释</a:t>
            </a:r>
            <a:endParaRPr lang="en-US" altLang="zh-CN" dirty="0" smtClean="0"/>
          </a:p>
          <a:p>
            <a:pPr lvl="1"/>
            <a:r>
              <a:rPr lang="zh-CN" altLang="en-US" dirty="0" smtClean="0"/>
              <a:t>服务可组合性</a:t>
            </a:r>
            <a:endParaRPr lang="en-US" altLang="zh-CN" dirty="0" smtClean="0"/>
          </a:p>
          <a:p>
            <a:pPr lvl="2"/>
            <a:r>
              <a:rPr lang="zh-CN" altLang="en-US" dirty="0" smtClean="0"/>
              <a:t>可组合是复用的一种形式，可复用潜能越大，服务被反复组装的机会就越大</a:t>
            </a:r>
          </a:p>
        </p:txBody>
      </p:sp>
      <p:sp>
        <p:nvSpPr>
          <p:cNvPr id="61444"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4375BFDA-986A-4B4A-AD99-D85155946167}" type="slidenum">
              <a:rPr lang="en-US" altLang="zh-CN" smtClean="0"/>
              <a:pPr/>
              <a:t>55</a:t>
            </a:fld>
            <a:endParaRPr lang="en-US" altLang="zh-CN"/>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标题 1"/>
          <p:cNvSpPr>
            <a:spLocks noGrp="1"/>
          </p:cNvSpPr>
          <p:nvPr>
            <p:ph type="title"/>
          </p:nvPr>
        </p:nvSpPr>
        <p:spPr/>
        <p:txBody>
          <a:bodyPr/>
          <a:lstStyle/>
          <a:p>
            <a:r>
              <a:rPr lang="zh-CN" altLang="en-US" smtClean="0"/>
              <a:t>服务可复用性的相关风险</a:t>
            </a:r>
          </a:p>
        </p:txBody>
      </p:sp>
      <p:sp>
        <p:nvSpPr>
          <p:cNvPr id="62467" name="内容占位符 2"/>
          <p:cNvSpPr>
            <a:spLocks noGrp="1"/>
          </p:cNvSpPr>
          <p:nvPr>
            <p:ph idx="1"/>
          </p:nvPr>
        </p:nvSpPr>
        <p:spPr/>
        <p:txBody>
          <a:bodyPr/>
          <a:lstStyle/>
          <a:p>
            <a:pPr>
              <a:lnSpc>
                <a:spcPct val="150000"/>
              </a:lnSpc>
            </a:pPr>
            <a:r>
              <a:rPr lang="zh-CN" altLang="en-US" dirty="0" smtClean="0"/>
              <a:t>文化上的考虑</a:t>
            </a:r>
            <a:endParaRPr lang="en-US" altLang="zh-CN" dirty="0" smtClean="0"/>
          </a:p>
          <a:p>
            <a:pPr>
              <a:lnSpc>
                <a:spcPct val="150000"/>
              </a:lnSpc>
            </a:pPr>
            <a:r>
              <a:rPr lang="zh-CN" altLang="en-US" dirty="0" smtClean="0"/>
              <a:t>治理上的考虑</a:t>
            </a:r>
            <a:endParaRPr lang="en-US" altLang="zh-CN" dirty="0" smtClean="0"/>
          </a:p>
          <a:p>
            <a:pPr>
              <a:lnSpc>
                <a:spcPct val="150000"/>
              </a:lnSpc>
            </a:pPr>
            <a:r>
              <a:rPr lang="zh-CN" altLang="en-US" dirty="0" smtClean="0"/>
              <a:t>可靠性上的考虑</a:t>
            </a:r>
            <a:endParaRPr lang="en-US" altLang="zh-CN" dirty="0" smtClean="0"/>
          </a:p>
          <a:p>
            <a:pPr>
              <a:lnSpc>
                <a:spcPct val="150000"/>
              </a:lnSpc>
            </a:pPr>
            <a:r>
              <a:rPr lang="zh-CN" altLang="en-US" dirty="0" smtClean="0"/>
              <a:t>安全上的考虑</a:t>
            </a:r>
            <a:endParaRPr lang="en-US" altLang="zh-CN" dirty="0" smtClean="0"/>
          </a:p>
          <a:p>
            <a:pPr>
              <a:lnSpc>
                <a:spcPct val="150000"/>
              </a:lnSpc>
            </a:pPr>
            <a:r>
              <a:rPr lang="zh-CN" altLang="en-US" dirty="0" smtClean="0"/>
              <a:t>商业设计需求上的考虑</a:t>
            </a:r>
            <a:endParaRPr lang="en-US" altLang="zh-CN" dirty="0" smtClean="0"/>
          </a:p>
          <a:p>
            <a:pPr>
              <a:lnSpc>
                <a:spcPct val="150000"/>
              </a:lnSpc>
            </a:pPr>
            <a:r>
              <a:rPr lang="zh-CN" altLang="en-US" dirty="0" smtClean="0"/>
              <a:t>敏捷交付上的考虑</a:t>
            </a:r>
            <a:endParaRPr lang="en-US" altLang="zh-CN" dirty="0" smtClean="0"/>
          </a:p>
        </p:txBody>
      </p:sp>
      <p:sp>
        <p:nvSpPr>
          <p:cNvPr id="6246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8949E625-779B-4CBA-9130-CC1E09809926}" type="slidenum">
              <a:rPr lang="en-US" altLang="zh-CN" smtClean="0"/>
              <a:pPr/>
              <a:t>56</a:t>
            </a:fld>
            <a:endParaRPr lang="en-US" altLang="zh-CN"/>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dirty="0" smtClean="0"/>
              <a:t>文化上的考虑 </a:t>
            </a:r>
            <a:r>
              <a:rPr lang="en-US" altLang="zh-CN" dirty="0" smtClean="0"/>
              <a:t>(1/2)</a:t>
            </a:r>
            <a:endParaRPr lang="zh-CN" altLang="en-US" dirty="0" smtClean="0"/>
          </a:p>
        </p:txBody>
      </p:sp>
      <p:sp>
        <p:nvSpPr>
          <p:cNvPr id="63491"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AC2686C3-3ABB-4933-AB48-EA487AC1E735}" type="slidenum">
              <a:rPr lang="en-US" altLang="zh-CN" smtClean="0"/>
              <a:pPr/>
              <a:t>57</a:t>
            </a:fld>
            <a:endParaRPr lang="en-US" altLang="zh-CN"/>
          </a:p>
        </p:txBody>
      </p:sp>
      <p:pic>
        <p:nvPicPr>
          <p:cNvPr id="2" name="图片 1"/>
          <p:cNvPicPr>
            <a:picLocks noChangeAspect="1"/>
          </p:cNvPicPr>
          <p:nvPr/>
        </p:nvPicPr>
        <p:blipFill>
          <a:blip r:embed="rId3"/>
          <a:stretch>
            <a:fillRect/>
          </a:stretch>
        </p:blipFill>
        <p:spPr>
          <a:xfrm>
            <a:off x="981075" y="1340768"/>
            <a:ext cx="7181850" cy="3762375"/>
          </a:xfrm>
          <a:prstGeom prst="rect">
            <a:avLst/>
          </a:prstGeom>
        </p:spPr>
      </p:pic>
      <p:sp>
        <p:nvSpPr>
          <p:cNvPr id="7" name="矩形 6"/>
          <p:cNvSpPr/>
          <p:nvPr/>
        </p:nvSpPr>
        <p:spPr>
          <a:xfrm>
            <a:off x="1257536" y="5489746"/>
            <a:ext cx="6552728" cy="584775"/>
          </a:xfrm>
          <a:prstGeom prst="rect">
            <a:avLst/>
          </a:prstGeom>
        </p:spPr>
        <p:txBody>
          <a:bodyPr wrap="square">
            <a:spAutoFit/>
          </a:bodyPr>
          <a:lstStyle/>
          <a:p>
            <a:r>
              <a:rPr lang="en-US" altLang="zh-CN" sz="1600" dirty="0"/>
              <a:t>Common cultural concerns that arise when project teams are required to comply with the </a:t>
            </a:r>
            <a:r>
              <a:rPr lang="en-US" altLang="zh-CN" sz="1600" dirty="0" smtClean="0"/>
              <a:t>Logic Centralization </a:t>
            </a:r>
            <a:r>
              <a:rPr lang="en-US" altLang="zh-CN" sz="1600" dirty="0"/>
              <a:t>of specific reusable services</a:t>
            </a:r>
            <a:endParaRPr lang="zh-CN" altLang="en-US" sz="1600" dirty="0"/>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r>
              <a:rPr lang="zh-CN" altLang="en-US" dirty="0" smtClean="0"/>
              <a:t>文化上的考虑 </a:t>
            </a:r>
            <a:r>
              <a:rPr lang="en-US" altLang="zh-CN" dirty="0" smtClean="0"/>
              <a:t>(2/2)</a:t>
            </a:r>
            <a:endParaRPr lang="zh-CN" altLang="en-US" dirty="0" smtClean="0"/>
          </a:p>
        </p:txBody>
      </p:sp>
      <p:sp>
        <p:nvSpPr>
          <p:cNvPr id="63491"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AC2686C3-3ABB-4933-AB48-EA487AC1E735}" type="slidenum">
              <a:rPr lang="en-US" altLang="zh-CN" smtClean="0"/>
              <a:pPr/>
              <a:t>58</a:t>
            </a:fld>
            <a:endParaRPr lang="en-US" altLang="zh-CN"/>
          </a:p>
        </p:txBody>
      </p:sp>
      <p:pic>
        <p:nvPicPr>
          <p:cNvPr id="3" name="图片 2"/>
          <p:cNvPicPr>
            <a:picLocks noChangeAspect="1"/>
          </p:cNvPicPr>
          <p:nvPr/>
        </p:nvPicPr>
        <p:blipFill>
          <a:blip r:embed="rId3"/>
          <a:stretch>
            <a:fillRect/>
          </a:stretch>
        </p:blipFill>
        <p:spPr>
          <a:xfrm>
            <a:off x="1619672" y="1412776"/>
            <a:ext cx="6460839" cy="3874840"/>
          </a:xfrm>
          <a:prstGeom prst="rect">
            <a:avLst/>
          </a:prstGeom>
        </p:spPr>
      </p:pic>
      <p:sp>
        <p:nvSpPr>
          <p:cNvPr id="4" name="矩形 3"/>
          <p:cNvSpPr/>
          <p:nvPr/>
        </p:nvSpPr>
        <p:spPr>
          <a:xfrm>
            <a:off x="1043608" y="5517232"/>
            <a:ext cx="7560840" cy="830997"/>
          </a:xfrm>
          <a:prstGeom prst="rect">
            <a:avLst/>
          </a:prstGeom>
        </p:spPr>
        <p:txBody>
          <a:bodyPr wrap="square">
            <a:spAutoFit/>
          </a:bodyPr>
          <a:lstStyle/>
          <a:p>
            <a:r>
              <a:rPr lang="zh-CN" altLang="en-US" sz="1600" dirty="0"/>
              <a:t>Even if project teams are required to build solution logic that does not yet exist, there are often </a:t>
            </a:r>
            <a:r>
              <a:rPr lang="zh-CN" altLang="en-US" sz="1600" dirty="0" smtClean="0"/>
              <a:t>issues with </a:t>
            </a:r>
            <a:r>
              <a:rPr lang="zh-CN" altLang="en-US" sz="1600" dirty="0"/>
              <a:t>doing so when they are mandated to deliver this logic in the form of a reusable service that will </a:t>
            </a:r>
            <a:r>
              <a:rPr lang="zh-CN" altLang="en-US" sz="1600" dirty="0" smtClean="0"/>
              <a:t>be made </a:t>
            </a:r>
            <a:r>
              <a:rPr lang="zh-CN" altLang="en-US" sz="1600" dirty="0"/>
              <a:t>available to other teams as well</a:t>
            </a:r>
          </a:p>
        </p:txBody>
      </p:sp>
    </p:spTree>
    <p:extLst>
      <p:ext uri="{BB962C8B-B14F-4D97-AF65-F5344CB8AC3E}">
        <p14:creationId xmlns:p14="http://schemas.microsoft.com/office/powerpoint/2010/main" val="824957380"/>
      </p:ext>
    </p:extLst>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r>
              <a:rPr lang="zh-CN" altLang="en-US" smtClean="0"/>
              <a:t>治理上的考虑</a:t>
            </a:r>
          </a:p>
        </p:txBody>
      </p:sp>
      <p:sp>
        <p:nvSpPr>
          <p:cNvPr id="64515" name="内容占位符 2"/>
          <p:cNvSpPr>
            <a:spLocks noGrp="1"/>
          </p:cNvSpPr>
          <p:nvPr>
            <p:ph idx="1"/>
          </p:nvPr>
        </p:nvSpPr>
        <p:spPr>
          <a:xfrm>
            <a:off x="457200" y="1052513"/>
            <a:ext cx="8229600" cy="1872431"/>
          </a:xfrm>
        </p:spPr>
        <p:txBody>
          <a:bodyPr/>
          <a:lstStyle/>
          <a:p>
            <a:r>
              <a:rPr lang="zh-CN" altLang="en-US" dirty="0" smtClean="0"/>
              <a:t>面向服务将相互无关的</a:t>
            </a:r>
            <a:r>
              <a:rPr lang="zh-CN" altLang="en-US" dirty="0"/>
              <a:t>逻辑</a:t>
            </a:r>
            <a:r>
              <a:rPr lang="zh-CN" altLang="en-US" dirty="0" smtClean="0"/>
              <a:t>单元抽象为服务，与业务流程、应用程序或用户基础都没有任何直接联系</a:t>
            </a:r>
            <a:endParaRPr lang="en-US" altLang="zh-CN" dirty="0" smtClean="0"/>
          </a:p>
        </p:txBody>
      </p:sp>
      <p:sp>
        <p:nvSpPr>
          <p:cNvPr id="6451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F5F3A54-E470-42C9-974B-84A88B6F91BA}" type="slidenum">
              <a:rPr lang="en-US" altLang="zh-CN" smtClean="0"/>
              <a:pPr/>
              <a:t>59</a:t>
            </a:fld>
            <a:endParaRPr lang="en-US" altLang="zh-CN"/>
          </a:p>
        </p:txBody>
      </p:sp>
      <p:pic>
        <p:nvPicPr>
          <p:cNvPr id="6" name="图片 5"/>
          <p:cNvPicPr>
            <a:picLocks noChangeAspect="1"/>
          </p:cNvPicPr>
          <p:nvPr/>
        </p:nvPicPr>
        <p:blipFill>
          <a:blip r:embed="rId3"/>
          <a:stretch>
            <a:fillRect/>
          </a:stretch>
        </p:blipFill>
        <p:spPr>
          <a:xfrm>
            <a:off x="1209675" y="3250950"/>
            <a:ext cx="6724650" cy="2638425"/>
          </a:xfrm>
          <a:prstGeom prst="rect">
            <a:avLst/>
          </a:prstGeom>
        </p:spPr>
      </p:pic>
      <p:pic>
        <p:nvPicPr>
          <p:cNvPr id="8" name="图片 7"/>
          <p:cNvPicPr>
            <a:picLocks noChangeAspect="1"/>
          </p:cNvPicPr>
          <p:nvPr/>
        </p:nvPicPr>
        <p:blipFill>
          <a:blip r:embed="rId4"/>
          <a:stretch>
            <a:fillRect/>
          </a:stretch>
        </p:blipFill>
        <p:spPr>
          <a:xfrm>
            <a:off x="308030" y="3287908"/>
            <a:ext cx="8390981" cy="2564507"/>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r>
              <a:rPr lang="zh-CN" altLang="en-US" smtClean="0"/>
              <a:t>其他</a:t>
            </a:r>
            <a:r>
              <a:rPr lang="en-US" altLang="zh-CN" smtClean="0"/>
              <a:t>…</a:t>
            </a:r>
            <a:endParaRPr lang="zh-CN" altLang="en-US" smtClean="0"/>
          </a:p>
        </p:txBody>
      </p:sp>
      <p:sp>
        <p:nvSpPr>
          <p:cNvPr id="72707" name="内容占位符 2"/>
          <p:cNvSpPr>
            <a:spLocks noGrp="1"/>
          </p:cNvSpPr>
          <p:nvPr>
            <p:ph idx="1"/>
          </p:nvPr>
        </p:nvSpPr>
        <p:spPr/>
        <p:txBody>
          <a:bodyPr>
            <a:normAutofit fontScale="77500" lnSpcReduction="20000"/>
          </a:bodyPr>
          <a:lstStyle/>
          <a:p>
            <a:pPr>
              <a:lnSpc>
                <a:spcPct val="120000"/>
              </a:lnSpc>
            </a:pPr>
            <a:r>
              <a:rPr lang="zh-CN" altLang="en-US" dirty="0" smtClean="0"/>
              <a:t>可靠性上的考虑</a:t>
            </a:r>
            <a:endParaRPr lang="en-US" altLang="zh-CN" dirty="0" smtClean="0"/>
          </a:p>
          <a:p>
            <a:pPr lvl="1">
              <a:lnSpc>
                <a:spcPct val="120000"/>
              </a:lnSpc>
            </a:pPr>
            <a:r>
              <a:rPr lang="zh-CN" altLang="en-US" dirty="0" smtClean="0"/>
              <a:t>可复用服务的单点失效会导致多个业务流程的失败</a:t>
            </a:r>
            <a:endParaRPr lang="en-US" altLang="zh-CN" dirty="0" smtClean="0"/>
          </a:p>
          <a:p>
            <a:pPr lvl="1">
              <a:lnSpc>
                <a:spcPct val="120000"/>
              </a:lnSpc>
            </a:pPr>
            <a:r>
              <a:rPr lang="zh-CN" altLang="en-US" dirty="0" smtClean="0"/>
              <a:t>通过对关键服务的多重复用来解决</a:t>
            </a:r>
            <a:endParaRPr lang="en-US" altLang="zh-CN" dirty="0" smtClean="0"/>
          </a:p>
          <a:p>
            <a:pPr>
              <a:lnSpc>
                <a:spcPct val="120000"/>
              </a:lnSpc>
            </a:pPr>
            <a:r>
              <a:rPr lang="zh-CN" altLang="en-US" dirty="0" smtClean="0"/>
              <a:t>安全上的考虑</a:t>
            </a:r>
            <a:endParaRPr lang="en-US" altLang="zh-CN" dirty="0" smtClean="0"/>
          </a:p>
          <a:p>
            <a:pPr lvl="1">
              <a:lnSpc>
                <a:spcPct val="120000"/>
              </a:lnSpc>
            </a:pPr>
            <a:r>
              <a:rPr lang="zh-CN" altLang="en-US" dirty="0" smtClean="0"/>
              <a:t>在不同应用场景中的安全性要求不同</a:t>
            </a:r>
            <a:endParaRPr lang="en-US" altLang="zh-CN" dirty="0" smtClean="0"/>
          </a:p>
          <a:p>
            <a:pPr lvl="1">
              <a:lnSpc>
                <a:spcPct val="120000"/>
              </a:lnSpc>
            </a:pPr>
            <a:r>
              <a:rPr lang="zh-CN" altLang="en-US" dirty="0" smtClean="0"/>
              <a:t>安全级别可能和信息交换的方式直接相关，甚至可能和服务合约所暴露的功能类型相关</a:t>
            </a:r>
            <a:endParaRPr lang="en-US" altLang="zh-CN" dirty="0" smtClean="0"/>
          </a:p>
          <a:p>
            <a:pPr>
              <a:lnSpc>
                <a:spcPct val="120000"/>
              </a:lnSpc>
            </a:pPr>
            <a:r>
              <a:rPr lang="zh-CN" altLang="en-US" dirty="0" smtClean="0"/>
              <a:t>商业设计需求上的考虑</a:t>
            </a:r>
            <a:endParaRPr lang="en-US" altLang="zh-CN" dirty="0" smtClean="0"/>
          </a:p>
          <a:p>
            <a:pPr lvl="1">
              <a:lnSpc>
                <a:spcPct val="120000"/>
              </a:lnSpc>
            </a:pPr>
            <a:r>
              <a:rPr lang="zh-CN" altLang="en-US" dirty="0" smtClean="0"/>
              <a:t>领域专家在进行服务分析和建模阶段中引入的风险和问题</a:t>
            </a:r>
            <a:endParaRPr lang="en-US" altLang="zh-CN" dirty="0" smtClean="0"/>
          </a:p>
          <a:p>
            <a:pPr>
              <a:lnSpc>
                <a:spcPct val="120000"/>
              </a:lnSpc>
            </a:pPr>
            <a:r>
              <a:rPr lang="zh-CN" altLang="en-US" dirty="0" smtClean="0"/>
              <a:t>敏捷交付上的考虑</a:t>
            </a:r>
            <a:endParaRPr lang="en-US" altLang="zh-CN" dirty="0" smtClean="0"/>
          </a:p>
          <a:p>
            <a:pPr lvl="1">
              <a:lnSpc>
                <a:spcPct val="120000"/>
              </a:lnSpc>
            </a:pPr>
            <a:r>
              <a:rPr lang="zh-CN" altLang="en-US" dirty="0" smtClean="0"/>
              <a:t>在需要以敏捷开发方法来解决短期和战术上的业务目标时，提倡服务的可复用性是非常困难的</a:t>
            </a:r>
          </a:p>
        </p:txBody>
      </p:sp>
      <p:sp>
        <p:nvSpPr>
          <p:cNvPr id="65540"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CDF8FBB-5248-440B-8121-3D7866CDDC66}" type="slidenum">
              <a:rPr lang="en-US" altLang="zh-CN" smtClean="0"/>
              <a:pPr/>
              <a:t>60</a:t>
            </a:fld>
            <a:endParaRPr lang="en-US" altLang="zh-CN"/>
          </a:p>
        </p:txBody>
      </p:sp>
    </p:spTree>
  </p:cSld>
  <p:clrMapOvr>
    <a:masterClrMapping/>
  </p:clrMapOvr>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r>
              <a:rPr lang="zh-CN" altLang="en-US" smtClean="0"/>
              <a:t>案例研究</a:t>
            </a:r>
            <a:r>
              <a:rPr lang="en-US" altLang="zh-CN" smtClean="0"/>
              <a:t>——Inventory </a:t>
            </a:r>
            <a:r>
              <a:rPr lang="zh-CN" altLang="en-US" smtClean="0"/>
              <a:t>服务概要</a:t>
            </a:r>
          </a:p>
        </p:txBody>
      </p:sp>
      <p:sp>
        <p:nvSpPr>
          <p:cNvPr id="66563"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8929AFC1-1E64-4BAC-B963-45A70B97CB41}" type="slidenum">
              <a:rPr lang="en-US" altLang="zh-CN" smtClean="0"/>
              <a:pPr/>
              <a:t>61</a:t>
            </a:fld>
            <a:endParaRPr lang="en-US" altLang="zh-CN"/>
          </a:p>
        </p:txBody>
      </p:sp>
      <p:pic>
        <p:nvPicPr>
          <p:cNvPr id="5" name="图片 4"/>
          <p:cNvPicPr>
            <a:picLocks noChangeAspect="1"/>
          </p:cNvPicPr>
          <p:nvPr/>
        </p:nvPicPr>
        <p:blipFill>
          <a:blip r:embed="rId3"/>
          <a:stretch>
            <a:fillRect/>
          </a:stretch>
        </p:blipFill>
        <p:spPr>
          <a:xfrm>
            <a:off x="1259632" y="1844824"/>
            <a:ext cx="6814145" cy="3902047"/>
          </a:xfrm>
          <a:prstGeom prst="rect">
            <a:avLst/>
          </a:prstGeom>
        </p:spPr>
      </p:pic>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p:txBody>
          <a:bodyPr/>
          <a:lstStyle/>
          <a:p>
            <a:r>
              <a:rPr lang="zh-CN" altLang="en-US" smtClean="0"/>
              <a:t>案例研究</a:t>
            </a:r>
            <a:r>
              <a:rPr lang="en-US" altLang="zh-CN" smtClean="0"/>
              <a:t>——</a:t>
            </a:r>
            <a:r>
              <a:rPr lang="zh-CN" altLang="en-US" smtClean="0"/>
              <a:t>评估当前的能力</a:t>
            </a:r>
          </a:p>
        </p:txBody>
      </p:sp>
      <p:sp>
        <p:nvSpPr>
          <p:cNvPr id="74755" name="内容占位符 2"/>
          <p:cNvSpPr>
            <a:spLocks noGrp="1"/>
          </p:cNvSpPr>
          <p:nvPr>
            <p:ph idx="1"/>
          </p:nvPr>
        </p:nvSpPr>
        <p:spPr/>
        <p:txBody>
          <a:bodyPr/>
          <a:lstStyle/>
          <a:p>
            <a:r>
              <a:rPr lang="en-US" altLang="zh-CN" smtClean="0"/>
              <a:t>Run Lab Project </a:t>
            </a:r>
            <a:r>
              <a:rPr lang="zh-CN" altLang="en-US" smtClean="0"/>
              <a:t>服务需要包含以下的一些</a:t>
            </a:r>
            <a:r>
              <a:rPr lang="en-US" altLang="zh-CN" smtClean="0"/>
              <a:t>Inventory </a:t>
            </a:r>
            <a:r>
              <a:rPr lang="zh-CN" altLang="en-US" smtClean="0"/>
              <a:t>服务操作</a:t>
            </a:r>
            <a:r>
              <a:rPr lang="en-US" altLang="zh-CN" smtClean="0"/>
              <a:t>:</a:t>
            </a:r>
          </a:p>
          <a:p>
            <a:pPr lvl="1"/>
            <a:r>
              <a:rPr lang="en-US" altLang="zh-CN" smtClean="0"/>
              <a:t>Getltem</a:t>
            </a:r>
          </a:p>
          <a:p>
            <a:pPr lvl="1"/>
            <a:r>
              <a:rPr lang="en-US" altLang="zh-CN" smtClean="0"/>
              <a:t>GetItemCount</a:t>
            </a:r>
          </a:p>
          <a:p>
            <a:pPr lvl="1"/>
            <a:r>
              <a:rPr lang="en-US" altLang="zh-CN" smtClean="0"/>
              <a:t>Removeltems</a:t>
            </a:r>
          </a:p>
        </p:txBody>
      </p:sp>
      <p:sp>
        <p:nvSpPr>
          <p:cNvPr id="67588"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ED00E088-EF3D-4632-9D1E-22BB0DABA64C}" type="slidenum">
              <a:rPr lang="en-US" altLang="zh-CN" smtClean="0"/>
              <a:pPr/>
              <a:t>62</a:t>
            </a:fld>
            <a:endParaRPr lang="en-US" altLang="zh-CN"/>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案例研究</a:t>
            </a:r>
            <a:r>
              <a:rPr lang="en-US" altLang="zh-CN" smtClean="0"/>
              <a:t>——</a:t>
            </a:r>
            <a:r>
              <a:rPr lang="zh-CN" altLang="en-US" smtClean="0"/>
              <a:t>为针对性的可复用性进行建模</a:t>
            </a:r>
          </a:p>
        </p:txBody>
      </p:sp>
      <p:sp>
        <p:nvSpPr>
          <p:cNvPr id="3" name="内容占位符 2"/>
          <p:cNvSpPr>
            <a:spLocks noGrp="1"/>
          </p:cNvSpPr>
          <p:nvPr>
            <p:ph idx="1"/>
          </p:nvPr>
        </p:nvSpPr>
        <p:spPr/>
        <p:txBody>
          <a:bodyPr/>
          <a:lstStyle/>
          <a:p>
            <a:pPr>
              <a:lnSpc>
                <a:spcPct val="150000"/>
              </a:lnSpc>
            </a:pPr>
            <a:r>
              <a:rPr lang="zh-CN" altLang="en-US" dirty="0" smtClean="0"/>
              <a:t>额外功能</a:t>
            </a:r>
            <a:r>
              <a:rPr lang="en-US" altLang="zh-CN" dirty="0" smtClean="0"/>
              <a:t>:</a:t>
            </a:r>
          </a:p>
          <a:p>
            <a:pPr lvl="1">
              <a:lnSpc>
                <a:spcPct val="150000"/>
              </a:lnSpc>
            </a:pPr>
            <a:r>
              <a:rPr lang="zh-CN" altLang="en-US" dirty="0" smtClean="0"/>
              <a:t>修改一个己有库存项的成本（通常是对提供商的价格变化的反应</a:t>
            </a:r>
            <a:r>
              <a:rPr lang="zh-CN" altLang="en-US" dirty="0"/>
              <a:t>）</a:t>
            </a:r>
            <a:endParaRPr lang="en-US" altLang="zh-CN" dirty="0" smtClean="0"/>
          </a:p>
          <a:p>
            <a:pPr lvl="1">
              <a:lnSpc>
                <a:spcPct val="150000"/>
              </a:lnSpc>
            </a:pPr>
            <a:r>
              <a:rPr lang="zh-CN" altLang="en-US" dirty="0" smtClean="0"/>
              <a:t>生成一种特定类型的库存数量报告，这一报告基于特定的标准总结出数量特别少的所有的库存项。这样的一个报告可以被用作定期重新订购（或者预先订购</a:t>
            </a:r>
            <a:r>
              <a:rPr lang="zh-CN" altLang="en-US" dirty="0"/>
              <a:t>）</a:t>
            </a:r>
            <a:r>
              <a:rPr lang="zh-CN" altLang="en-US" dirty="0" smtClean="0"/>
              <a:t>过程的依据</a:t>
            </a:r>
          </a:p>
        </p:txBody>
      </p:sp>
      <p:sp>
        <p:nvSpPr>
          <p:cNvPr id="68612"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80C395DA-78EA-4405-A8A6-23F535098892}" type="slidenum">
              <a:rPr lang="en-US" altLang="zh-CN" smtClean="0"/>
              <a:pPr/>
              <a:t>63</a:t>
            </a:fld>
            <a:endParaRPr lang="en-US" altLang="zh-CN"/>
          </a:p>
        </p:txBody>
      </p:sp>
    </p:spTree>
  </p:cSld>
  <p:clrMapOvr>
    <a:masterClrMapping/>
  </p:clrMapOvr>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p:cNvSpPr>
            <a:spLocks noGrp="1"/>
          </p:cNvSpPr>
          <p:nvPr>
            <p:ph type="title"/>
          </p:nvPr>
        </p:nvSpPr>
        <p:spPr/>
        <p:txBody>
          <a:bodyPr/>
          <a:lstStyle/>
          <a:p>
            <a:r>
              <a:rPr lang="zh-CN" altLang="en-US" smtClean="0"/>
              <a:t>案例研究</a:t>
            </a:r>
            <a:r>
              <a:rPr lang="en-US" altLang="zh-CN" smtClean="0"/>
              <a:t>——</a:t>
            </a:r>
            <a:r>
              <a:rPr lang="zh-CN" altLang="en-US" smtClean="0"/>
              <a:t>添加操作</a:t>
            </a:r>
          </a:p>
        </p:txBody>
      </p:sp>
      <p:sp>
        <p:nvSpPr>
          <p:cNvPr id="69635" name="内容占位符 2"/>
          <p:cNvSpPr>
            <a:spLocks noGrp="1"/>
          </p:cNvSpPr>
          <p:nvPr>
            <p:ph idx="1"/>
          </p:nvPr>
        </p:nvSpPr>
        <p:spPr/>
        <p:txBody>
          <a:bodyPr/>
          <a:lstStyle/>
          <a:p>
            <a:pPr>
              <a:lnSpc>
                <a:spcPct val="150000"/>
              </a:lnSpc>
            </a:pPr>
            <a:r>
              <a:rPr lang="zh-CN" altLang="en-US" dirty="0" smtClean="0"/>
              <a:t>添加</a:t>
            </a:r>
            <a:r>
              <a:rPr lang="en-US" altLang="zh-CN" dirty="0" err="1" smtClean="0"/>
              <a:t>EditltemRecord</a:t>
            </a:r>
            <a:r>
              <a:rPr lang="en-US" altLang="zh-CN" dirty="0" smtClean="0"/>
              <a:t> </a:t>
            </a:r>
            <a:r>
              <a:rPr lang="zh-CN" altLang="en-US" dirty="0" smtClean="0"/>
              <a:t>操作</a:t>
            </a:r>
            <a:endParaRPr lang="en-US" altLang="zh-CN" dirty="0" smtClean="0"/>
          </a:p>
          <a:p>
            <a:r>
              <a:rPr lang="zh-CN" altLang="en-US" dirty="0" smtClean="0"/>
              <a:t>添加</a:t>
            </a:r>
            <a:r>
              <a:rPr lang="en-US" altLang="zh-CN" dirty="0" err="1" smtClean="0"/>
              <a:t>ReportStockLevels</a:t>
            </a:r>
            <a:r>
              <a:rPr lang="en-US" altLang="zh-CN" dirty="0" smtClean="0"/>
              <a:t> </a:t>
            </a:r>
            <a:r>
              <a:rPr lang="zh-CN" altLang="en-US" dirty="0" smtClean="0"/>
              <a:t>操作</a:t>
            </a:r>
            <a:endParaRPr lang="en-US" altLang="zh-CN" dirty="0" smtClean="0"/>
          </a:p>
          <a:p>
            <a:r>
              <a:rPr lang="zh-CN" altLang="en-US" dirty="0" smtClean="0"/>
              <a:t>添加</a:t>
            </a:r>
            <a:r>
              <a:rPr lang="en-US" altLang="zh-CN" dirty="0" err="1" smtClean="0"/>
              <a:t>AdjustltemsQuantity</a:t>
            </a:r>
            <a:r>
              <a:rPr lang="en-US" altLang="zh-CN" dirty="0" smtClean="0"/>
              <a:t> </a:t>
            </a:r>
            <a:r>
              <a:rPr lang="zh-CN" altLang="en-US" dirty="0" smtClean="0"/>
              <a:t>操作</a:t>
            </a:r>
            <a:endParaRPr lang="en-US" altLang="zh-CN" dirty="0" smtClean="0"/>
          </a:p>
        </p:txBody>
      </p:sp>
      <p:sp>
        <p:nvSpPr>
          <p:cNvPr id="69636"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6EA08FFB-CED8-432A-BAE6-32C84DFFABDA}" type="slidenum">
              <a:rPr lang="en-US" altLang="zh-CN" smtClean="0"/>
              <a:pPr/>
              <a:t>64</a:t>
            </a:fld>
            <a:endParaRPr lang="en-US" altLang="zh-CN"/>
          </a:p>
        </p:txBody>
      </p:sp>
    </p:spTree>
  </p:cSld>
  <p:clrMapOvr>
    <a:masterClrMapping/>
  </p:clrMapOvr>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案例研究</a:t>
            </a:r>
            <a:r>
              <a:rPr lang="en-US" altLang="zh-CN" smtClean="0"/>
              <a:t>——</a:t>
            </a:r>
            <a:r>
              <a:rPr lang="zh-CN" altLang="en-US" smtClean="0"/>
              <a:t>修改后的</a:t>
            </a:r>
            <a:r>
              <a:rPr lang="en-US" altLang="zh-CN" smtClean="0"/>
              <a:t>Inventory </a:t>
            </a:r>
            <a:r>
              <a:rPr lang="zh-CN" altLang="en-US" smtClean="0"/>
              <a:t>服务概要</a:t>
            </a:r>
          </a:p>
        </p:txBody>
      </p:sp>
      <p:sp>
        <p:nvSpPr>
          <p:cNvPr id="70659" name="灯片编号占位符 3"/>
          <p:cNvSpPr>
            <a:spLocks noGrp="1"/>
          </p:cNvSpPr>
          <p:nvPr>
            <p:ph type="sldNum" sz="quarter" idx="10"/>
          </p:nvPr>
        </p:nvSpPr>
        <p:spPr/>
        <p:txBody>
          <a:bodyP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fld id="{B016F385-4BE9-4703-8F95-A4BF547387A8}" type="slidenum">
              <a:rPr lang="en-US" altLang="zh-CN" smtClean="0"/>
              <a:pPr/>
              <a:t>65</a:t>
            </a:fld>
            <a:endParaRPr lang="en-US" altLang="zh-CN"/>
          </a:p>
        </p:txBody>
      </p:sp>
      <p:pic>
        <p:nvPicPr>
          <p:cNvPr id="6" name="图片 5"/>
          <p:cNvPicPr>
            <a:picLocks noChangeAspect="1"/>
          </p:cNvPicPr>
          <p:nvPr/>
        </p:nvPicPr>
        <p:blipFill>
          <a:blip r:embed="rId3"/>
          <a:stretch>
            <a:fillRect/>
          </a:stretch>
        </p:blipFill>
        <p:spPr>
          <a:xfrm>
            <a:off x="1043608" y="1484784"/>
            <a:ext cx="6746899" cy="4674695"/>
          </a:xfrm>
          <a:prstGeom prst="rect">
            <a:avLst/>
          </a:prstGeom>
        </p:spPr>
      </p:pic>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Read More…</a:t>
            </a:r>
            <a:endParaRPr lang="zh-CN" altLang="en-US" dirty="0"/>
          </a:p>
        </p:txBody>
      </p:sp>
      <p:sp>
        <p:nvSpPr>
          <p:cNvPr id="3" name="内容占位符 2"/>
          <p:cNvSpPr>
            <a:spLocks noGrp="1"/>
          </p:cNvSpPr>
          <p:nvPr>
            <p:ph idx="1"/>
          </p:nvPr>
        </p:nvSpPr>
        <p:spPr/>
        <p:txBody>
          <a:bodyPr>
            <a:normAutofit/>
          </a:bodyPr>
          <a:lstStyle/>
          <a:p>
            <a:pPr marL="0" indent="0">
              <a:buNone/>
            </a:pPr>
            <a:endParaRPr lang="en-US" altLang="zh-CN" dirty="0"/>
          </a:p>
          <a:p>
            <a:r>
              <a:rPr lang="zh-CN" altLang="en-US" sz="2800" dirty="0"/>
              <a:t>题名</a:t>
            </a:r>
            <a:r>
              <a:rPr lang="en-US" altLang="zh-CN" sz="2800" dirty="0"/>
              <a:t>/</a:t>
            </a:r>
            <a:r>
              <a:rPr lang="zh-CN" altLang="en-US" sz="2800" dirty="0"/>
              <a:t>责任者</a:t>
            </a:r>
            <a:r>
              <a:rPr lang="en-US" altLang="zh-CN" sz="2800" dirty="0"/>
              <a:t>:SOA</a:t>
            </a:r>
            <a:r>
              <a:rPr lang="zh-CN" altLang="en-US" sz="2800" dirty="0"/>
              <a:t>服务设计原则</a:t>
            </a:r>
            <a:r>
              <a:rPr lang="en-US" altLang="zh-CN" sz="2800" dirty="0"/>
              <a:t>/(</a:t>
            </a:r>
            <a:r>
              <a:rPr lang="zh-CN" altLang="en-US" sz="2800" dirty="0"/>
              <a:t>美</a:t>
            </a:r>
            <a:r>
              <a:rPr lang="en-US" altLang="zh-CN" sz="2800" dirty="0"/>
              <a:t>) Thomas </a:t>
            </a:r>
            <a:r>
              <a:rPr lang="en-US" altLang="zh-CN" sz="2800" dirty="0" err="1"/>
              <a:t>Erl</a:t>
            </a:r>
            <a:r>
              <a:rPr lang="zh-CN" altLang="en-US" sz="2800" dirty="0"/>
              <a:t>著 </a:t>
            </a:r>
            <a:r>
              <a:rPr lang="zh-CN" altLang="en-US" sz="2800" dirty="0" smtClean="0"/>
              <a:t>郭耀译</a:t>
            </a:r>
            <a:endParaRPr lang="en-US" altLang="zh-CN" sz="2800" dirty="0" smtClean="0"/>
          </a:p>
          <a:p>
            <a:r>
              <a:rPr lang="zh-CN" altLang="en-US" sz="2800" dirty="0" smtClean="0"/>
              <a:t>出版</a:t>
            </a:r>
            <a:r>
              <a:rPr lang="zh-CN" altLang="en-US" sz="2800" dirty="0"/>
              <a:t>发行项</a:t>
            </a:r>
            <a:r>
              <a:rPr lang="en-US" altLang="zh-CN" sz="2800" dirty="0" smtClean="0"/>
              <a:t>:</a:t>
            </a:r>
            <a:r>
              <a:rPr lang="zh-CN" altLang="en-US" sz="2800" dirty="0"/>
              <a:t>北京</a:t>
            </a:r>
            <a:r>
              <a:rPr lang="en-US" altLang="zh-CN" sz="2800" dirty="0"/>
              <a:t>:</a:t>
            </a:r>
            <a:r>
              <a:rPr lang="zh-CN" altLang="en-US" sz="2800" dirty="0"/>
              <a:t>人民邮电版社</a:t>
            </a:r>
            <a:r>
              <a:rPr lang="en-US" altLang="zh-CN" sz="2800" dirty="0"/>
              <a:t>,2009 </a:t>
            </a:r>
            <a:endParaRPr lang="en-US" altLang="zh-CN" sz="2800" dirty="0" smtClean="0"/>
          </a:p>
          <a:p>
            <a:r>
              <a:rPr lang="en-US" altLang="zh-CN" sz="2800" dirty="0" smtClean="0"/>
              <a:t>ISBN</a:t>
            </a:r>
            <a:r>
              <a:rPr lang="zh-CN" altLang="en-US" sz="2800" dirty="0" smtClean="0"/>
              <a:t>及定价</a:t>
            </a:r>
            <a:r>
              <a:rPr lang="en-US" altLang="zh-CN" sz="2800" dirty="0" smtClean="0"/>
              <a:t>:</a:t>
            </a:r>
            <a:r>
              <a:rPr lang="en-US" altLang="zh-CN" sz="2800" dirty="0"/>
              <a:t>978-7-115-20492-9/CNY55.00 </a:t>
            </a:r>
            <a:endParaRPr lang="en-US" altLang="zh-CN" sz="2800" dirty="0" smtClean="0"/>
          </a:p>
          <a:p>
            <a:r>
              <a:rPr lang="en-US" altLang="zh-CN" sz="2800" dirty="0" smtClean="0"/>
              <a:t>URL:</a:t>
            </a:r>
            <a:r>
              <a:rPr lang="en-US" altLang="zh-CN" sz="2800" dirty="0" smtClean="0">
                <a:hlinkClick r:id="rId2"/>
              </a:rPr>
              <a:t>http</a:t>
            </a:r>
            <a:r>
              <a:rPr lang="en-US" altLang="zh-CN" sz="2800" dirty="0">
                <a:hlinkClick r:id="rId2"/>
              </a:rPr>
              <a:t>://</a:t>
            </a:r>
            <a:r>
              <a:rPr lang="en-US" altLang="zh-CN" sz="2800" dirty="0" smtClean="0">
                <a:hlinkClick r:id="rId2"/>
              </a:rPr>
              <a:t>calis2.nju.edu.cn:8080/opac/item.php?marc_no=0003465232</a:t>
            </a:r>
            <a:endParaRPr lang="en-US" altLang="zh-CN" sz="2800" dirty="0" smtClean="0"/>
          </a:p>
        </p:txBody>
      </p:sp>
      <p:sp>
        <p:nvSpPr>
          <p:cNvPr id="4" name="灯片编号占位符 3"/>
          <p:cNvSpPr>
            <a:spLocks noGrp="1"/>
          </p:cNvSpPr>
          <p:nvPr>
            <p:ph type="sldNum" sz="quarter" idx="4294967295"/>
          </p:nvPr>
        </p:nvSpPr>
        <p:spPr>
          <a:xfrm>
            <a:off x="3505200" y="6461125"/>
            <a:ext cx="2133600" cy="320675"/>
          </a:xfrm>
          <a:prstGeom prst="rect">
            <a:avLst/>
          </a:prstGeom>
        </p:spPr>
        <p:txBody>
          <a:bodyPr/>
          <a:lstStyle/>
          <a:p>
            <a:pPr>
              <a:defRPr/>
            </a:pPr>
            <a:fld id="{35E2893E-1C56-4F7E-897F-1FA1E5A4D06E}" type="slidenum">
              <a:rPr lang="en-US" altLang="zh-CN" smtClean="0"/>
              <a:pPr>
                <a:defRPr/>
              </a:pPr>
              <a:t>66</a:t>
            </a:fld>
            <a:endParaRPr lang="en-US" altLang="zh-CN" dirty="0"/>
          </a:p>
        </p:txBody>
      </p:sp>
    </p:spTree>
    <p:extLst>
      <p:ext uri="{BB962C8B-B14F-4D97-AF65-F5344CB8AC3E}">
        <p14:creationId xmlns:p14="http://schemas.microsoft.com/office/powerpoint/2010/main" val="10427468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software">
  <a:themeElements>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sampl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163794"/>
        </a:dk1>
        <a:lt1>
          <a:srgbClr val="FFFFFF"/>
        </a:lt1>
        <a:dk2>
          <a:srgbClr val="000000"/>
        </a:dk2>
        <a:lt2>
          <a:srgbClr val="C0C0C0"/>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sample 2">
        <a:dk1>
          <a:srgbClr val="29698D"/>
        </a:dk1>
        <a:lt1>
          <a:srgbClr val="FFFFFF"/>
        </a:lt1>
        <a:dk2>
          <a:srgbClr val="000000"/>
        </a:dk2>
        <a:lt2>
          <a:srgbClr val="A1BABD"/>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
      <a:clrScheme name="sample 3">
        <a:dk1>
          <a:srgbClr val="666699"/>
        </a:dk1>
        <a:lt1>
          <a:srgbClr val="FFFFFF"/>
        </a:lt1>
        <a:dk2>
          <a:srgbClr val="000000"/>
        </a:dk2>
        <a:lt2>
          <a:srgbClr val="C0C0C0"/>
        </a:lt2>
        <a:accent1>
          <a:srgbClr val="72B88E"/>
        </a:accent1>
        <a:accent2>
          <a:srgbClr val="C78DD7"/>
        </a:accent2>
        <a:accent3>
          <a:srgbClr val="FFFFFF"/>
        </a:accent3>
        <a:accent4>
          <a:srgbClr val="565682"/>
        </a:accent4>
        <a:accent5>
          <a:srgbClr val="BCD8C6"/>
        </a:accent5>
        <a:accent6>
          <a:srgbClr val="B47FC3"/>
        </a:accent6>
        <a:hlink>
          <a:srgbClr val="3197BB"/>
        </a:hlink>
        <a:folHlink>
          <a:srgbClr val="878FA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SOSE</Template>
  <TotalTime>14752</TotalTime>
  <Words>3866</Words>
  <Application>Microsoft Office PowerPoint</Application>
  <PresentationFormat>全屏显示(4:3)</PresentationFormat>
  <Paragraphs>468</Paragraphs>
  <Slides>66</Slides>
  <Notes>65</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66</vt:i4>
      </vt:variant>
    </vt:vector>
  </HeadingPairs>
  <TitlesOfParts>
    <vt:vector size="71" baseType="lpstr">
      <vt:lpstr>宋体</vt:lpstr>
      <vt:lpstr>Arial</vt:lpstr>
      <vt:lpstr>Verdana</vt:lpstr>
      <vt:lpstr>Wingdings</vt:lpstr>
      <vt:lpstr>software</vt:lpstr>
      <vt:lpstr>Principles of Service-Oriented Design II Service-Oriented Software Engineering</vt:lpstr>
      <vt:lpstr>服务抽象(信息隐藏与元抽象类型)</vt:lpstr>
      <vt:lpstr>抽象</vt:lpstr>
      <vt:lpstr>服务抽象原则</vt:lpstr>
      <vt:lpstr>服务元信息</vt:lpstr>
      <vt:lpstr>技术信息抽象</vt:lpstr>
      <vt:lpstr>功能抽象</vt:lpstr>
      <vt:lpstr>程序逻辑抽象</vt:lpstr>
      <vt:lpstr>服务质量抽象</vt:lpstr>
      <vt:lpstr>Web 服务影响区域——功能抽象</vt:lpstr>
      <vt:lpstr>Web 服务影响区域——技术信息抽象</vt:lpstr>
      <vt:lpstr>Web 服务影响区域——编程逻辑抽象</vt:lpstr>
      <vt:lpstr>Web 服务影响区域——服务质量抽象</vt:lpstr>
      <vt:lpstr>元抽象类型的实现（1/2）</vt:lpstr>
      <vt:lpstr>元抽象类型的实现（2/2）</vt:lpstr>
      <vt:lpstr>服务抽象度量</vt:lpstr>
      <vt:lpstr>服务抽象与服务设计</vt:lpstr>
      <vt:lpstr>服务抽象 VS. 服务封装</vt:lpstr>
      <vt:lpstr>封装如何影晌抽象</vt:lpstr>
      <vt:lpstr>服务抽象与非技术合约文档</vt:lpstr>
      <vt:lpstr>服务抽象与粒度</vt:lpstr>
      <vt:lpstr>服务抽象与服务模型</vt:lpstr>
      <vt:lpstr>服务抽象与其他原则 I</vt:lpstr>
      <vt:lpstr>服务抽象与其他原则 II</vt:lpstr>
      <vt:lpstr>服务抽象的相关风险</vt:lpstr>
      <vt:lpstr>案例研究——服务抽象级别 （1/4）</vt:lpstr>
      <vt:lpstr>案例研究——服务抽象级别 （2/4）</vt:lpstr>
      <vt:lpstr>案例研究——服务抽象级别 （3/4）</vt:lpstr>
      <vt:lpstr>案例研究——服务抽象级别 （4/4）</vt:lpstr>
      <vt:lpstr>案例研究——操作级的抽象 I</vt:lpstr>
      <vt:lpstr>案例研究——操作级的抽象 II</vt:lpstr>
      <vt:lpstr>案例研究——操作级的抽象 III</vt:lpstr>
      <vt:lpstr>服务可复用性(商业与无关设计)</vt:lpstr>
      <vt:lpstr>复用</vt:lpstr>
      <vt:lpstr>面向服务的复用</vt:lpstr>
      <vt:lpstr>商业设计中的复用</vt:lpstr>
      <vt:lpstr>计划中复用的度量——战术上的可复用性</vt:lpstr>
      <vt:lpstr>计划中复用的度量——针对性的可复用性</vt:lpstr>
      <vt:lpstr>计划中复用的度量——完全的可复用性</vt:lpstr>
      <vt:lpstr>实际复用的度量</vt:lpstr>
      <vt:lpstr>复用和无关服务</vt:lpstr>
      <vt:lpstr>服务库存蓝图</vt:lpstr>
      <vt:lpstr>逻辑集中化</vt:lpstr>
      <vt:lpstr>作为企业标准的逻辑集中化</vt:lpstr>
      <vt:lpstr>逻辑集中化与合约集中化 （1/3）</vt:lpstr>
      <vt:lpstr>逻辑集中化与合约集中化 （2/3）</vt:lpstr>
      <vt:lpstr>逻辑集中化与合约集中化 （3/3）</vt:lpstr>
      <vt:lpstr>其他…</vt:lpstr>
      <vt:lpstr>服务可复用性与服务设计</vt:lpstr>
      <vt:lpstr>服务可复用性与服务建模</vt:lpstr>
      <vt:lpstr>服务可复用性与粒度</vt:lpstr>
      <vt:lpstr>服务可复用性与服务模型</vt:lpstr>
      <vt:lpstr>服务可复用性与其他原则 I</vt:lpstr>
      <vt:lpstr>服务可复用性与其他原则 II</vt:lpstr>
      <vt:lpstr>服务可复用性与其他原则 III</vt:lpstr>
      <vt:lpstr>服务可复用性的相关风险</vt:lpstr>
      <vt:lpstr>文化上的考虑 (1/2)</vt:lpstr>
      <vt:lpstr>文化上的考虑 (2/2)</vt:lpstr>
      <vt:lpstr>治理上的考虑</vt:lpstr>
      <vt:lpstr>其他…</vt:lpstr>
      <vt:lpstr>案例研究——Inventory 服务概要</vt:lpstr>
      <vt:lpstr>案例研究——评估当前的能力</vt:lpstr>
      <vt:lpstr>案例研究——为针对性的可复用性进行建模</vt:lpstr>
      <vt:lpstr>案例研究——添加操作</vt:lpstr>
      <vt:lpstr>案例研究——修改后的Inventory 服务概要</vt:lpstr>
      <vt:lpstr>Read More…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贝佳</dc:creator>
  <cp:lastModifiedBy>bei jia</cp:lastModifiedBy>
  <cp:revision>297</cp:revision>
  <dcterms:created xsi:type="dcterms:W3CDTF">2008-04-16T11:36:22Z</dcterms:created>
  <dcterms:modified xsi:type="dcterms:W3CDTF">2017-11-10T09:42:25Z</dcterms:modified>
</cp:coreProperties>
</file>